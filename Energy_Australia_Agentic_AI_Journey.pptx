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FF3621"/>
          </a:solidFill>
          <a:ln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B3139"/>
                </a:solidFill>
              </a:defRPr>
            </a:pPr>
            <a:r>
              <a:t>Energy Australia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618794"/>
                </a:solidFill>
              </a:defRPr>
            </a:pPr>
            <a:r>
              <a:t>Agentic AI Journey</a:t>
            </a:r>
          </a:p>
          <a:p>
            <a:pPr algn="ctr">
              <a:defRPr sz="3200">
                <a:solidFill>
                  <a:srgbClr val="618794"/>
                </a:solidFill>
              </a:defRPr>
            </a:pPr>
            <a:r>
              <a:t>Transformation Roadmap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B3139"/>
                </a:solidFill>
              </a:defRPr>
            </a:pPr>
            <a:r>
              <a:t>Powered by Databricks Lakehouse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B3139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1200"/>
              </a:spcBef>
              <a:defRPr sz="2400" b="1">
                <a:solidFill>
                  <a:srgbClr val="1B3139"/>
                </a:solidFill>
              </a:defRPr>
            </a:pPr>
            <a:r>
              <a:t>1. Agentic AI Journey Overview</a:t>
            </a:r>
          </a:p>
          <a:p>
            <a:pPr lvl="1">
              <a:defRPr sz="1800">
                <a:solidFill>
                  <a:srgbClr val="618794"/>
                </a:solidFill>
              </a:defRPr>
            </a:pPr>
            <a:r>
              <a:t>   • 4-phase transformation roadmap</a:t>
            </a:r>
          </a:p>
          <a:p>
            <a:pPr lvl="1">
              <a:defRPr sz="1800">
                <a:solidFill>
                  <a:srgbClr val="618794"/>
                </a:solidFill>
              </a:defRPr>
            </a:pPr>
            <a:r>
              <a:t>   • Traditional → Predictive → Augmented → Agentic</a:t>
            </a:r>
          </a:p>
          <a:p/>
          <a:p>
            <a:pPr>
              <a:spcBef>
                <a:spcPts val="1200"/>
              </a:spcBef>
              <a:defRPr sz="2400" b="1">
                <a:solidFill>
                  <a:srgbClr val="1B3139"/>
                </a:solidFill>
              </a:defRPr>
            </a:pPr>
            <a:r>
              <a:t>2. Full Platform Architecture</a:t>
            </a:r>
          </a:p>
          <a:p>
            <a:pPr lvl="1">
              <a:defRPr sz="1800">
                <a:solidFill>
                  <a:srgbClr val="618794"/>
                </a:solidFill>
              </a:defRPr>
            </a:pPr>
            <a:r>
              <a:t>   • End-to-end data and AI platform</a:t>
            </a:r>
          </a:p>
          <a:p>
            <a:pPr lvl="1">
              <a:defRPr sz="1800">
                <a:solidFill>
                  <a:srgbClr val="618794"/>
                </a:solidFill>
              </a:defRPr>
            </a:pPr>
            <a:r>
              <a:t>   • Model Context Protocol (MCP) integration</a:t>
            </a:r>
          </a:p>
          <a:p/>
          <a:p>
            <a:pPr>
              <a:spcBef>
                <a:spcPts val="1200"/>
              </a:spcBef>
              <a:defRPr sz="2400" b="1">
                <a:solidFill>
                  <a:srgbClr val="1B3139"/>
                </a:solidFill>
              </a:defRPr>
            </a:pPr>
            <a:r>
              <a:t>3. Customer Service Agent</a:t>
            </a:r>
          </a:p>
          <a:p>
            <a:pPr lvl="1">
              <a:defRPr sz="1800">
                <a:solidFill>
                  <a:srgbClr val="618794"/>
                </a:solidFill>
              </a:defRPr>
            </a:pPr>
            <a:r>
              <a:t>   • Autonomous customer interactions</a:t>
            </a:r>
          </a:p>
          <a:p>
            <a:pPr lvl="1">
              <a:defRPr sz="1800">
                <a:solidFill>
                  <a:srgbClr val="618794"/>
                </a:solidFill>
              </a:defRPr>
            </a:pPr>
            <a:r>
              <a:t>   • 70% automation rate</a:t>
            </a:r>
          </a:p>
          <a:p/>
          <a:p>
            <a:pPr>
              <a:spcBef>
                <a:spcPts val="1200"/>
              </a:spcBef>
              <a:defRPr sz="2400" b="1">
                <a:solidFill>
                  <a:srgbClr val="1B3139"/>
                </a:solidFill>
              </a:defRPr>
            </a:pPr>
            <a:r>
              <a:t>4. Energy Optimization Agent</a:t>
            </a:r>
          </a:p>
          <a:p>
            <a:pPr lvl="1">
              <a:defRPr sz="1800">
                <a:solidFill>
                  <a:srgbClr val="618794"/>
                </a:solidFill>
              </a:defRPr>
            </a:pPr>
            <a:r>
              <a:t>   • Real-time demand forecasting</a:t>
            </a:r>
          </a:p>
          <a:p>
            <a:pPr lvl="1">
              <a:defRPr sz="1800">
                <a:solidFill>
                  <a:srgbClr val="618794"/>
                </a:solidFill>
              </a:defRPr>
            </a:pPr>
            <a:r>
              <a:t>   • $5M annual savings</a:t>
            </a:r>
          </a:p>
          <a:p/>
          <a:p>
            <a:pPr>
              <a:spcBef>
                <a:spcPts val="1200"/>
              </a:spcBef>
              <a:defRPr sz="2400" b="1">
                <a:solidFill>
                  <a:srgbClr val="1B3139"/>
                </a:solidFill>
              </a:defRPr>
            </a:pPr>
            <a:r>
              <a:t>5. Business Impact &amp; ROI</a:t>
            </a:r>
          </a:p>
          <a:p>
            <a:pPr lvl="1">
              <a:defRPr sz="1800">
                <a:solidFill>
                  <a:srgbClr val="618794"/>
                </a:solidFill>
              </a:defRPr>
            </a:pPr>
            <a:r>
              <a:t>   • $19M annual benefits by 2026</a:t>
            </a:r>
          </a:p>
          <a:p>
            <a:pPr lvl="1">
              <a:defRPr sz="1800">
                <a:solidFill>
                  <a:srgbClr val="618794"/>
                </a:solidFill>
              </a:defRPr>
            </a:pPr>
            <a:r>
              <a:t>   • 180% three-year ROI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3139"/>
                </a:solidFill>
              </a:defRPr>
            </a:pPr>
            <a:r>
              <a:t>Agentic AI Journey - 4 Phase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18794"/>
                </a:solidFill>
              </a:defRPr>
            </a:pPr>
            <a:r>
              <a:t>Traditional → Predictive AI → Augmented AI → Agentic AI</a:t>
            </a:r>
          </a:p>
        </p:txBody>
      </p:sp>
      <p:pic>
        <p:nvPicPr>
          <p:cNvPr id="5" name="Picture 4" descr="ea_agentic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417" y="1280160"/>
            <a:ext cx="572116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139"/>
                </a:solidFill>
              </a:defRPr>
            </a:pPr>
            <a:r>
              <a:t>Journey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Phase 1: Traditional Analytics (Current)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Historical data analysis and static BI reports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Basic ML models with limited deployment</a:t>
            </a: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Phase 2: Predictive AI (Q1-Q2 2025)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Delta Lake unified platform on Azure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MLflow model registry and serving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Demand forecasting and churn prediction</a:t>
            </a: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Phase 3: Augmented AI (Q3-Q4 2025)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Unity Catalog governance and Mosaic AI GenAI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Feature Store and RAG implementation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AI-assisted customer service (human-in-loop)</a:t>
            </a: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Phase 4: Agentic AI (2026)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Fully autonomous AI agents with MCP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- 70% autonomous customer service handling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Real-time energy optimization and grid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3139"/>
                </a:solidFill>
              </a:defRPr>
            </a:pPr>
            <a:r>
              <a:t>Full Agentic AI 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18794"/>
                </a:solidFill>
              </a:defRPr>
            </a:pPr>
            <a:r>
              <a:t>End-to-end platform from data sources to AI agents and applications</a:t>
            </a:r>
          </a:p>
        </p:txBody>
      </p:sp>
      <p:pic>
        <p:nvPicPr>
          <p:cNvPr id="5" name="Picture 4" descr="ea_agentic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29955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139"/>
                </a:solidFill>
              </a:defRPr>
            </a:pPr>
            <a:r>
              <a:t>Platform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Data Sources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Smart Meters (IoT streaming), Customer CRM, Grid Operations, Weather Data</a:t>
            </a: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Databricks Lakehouse Platform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AutoLoader streaming ingestion, Medallion architecture (Bronze/Silver/Gold)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Unity Catalog governance, Delta Lake ACID storage</a:t>
            </a: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AI/ML Platform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Feature Store for centralized features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MLflow for model lifecycle management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Mosaic AI GenAI platform with LLMs</a:t>
            </a: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Agentic AI Layer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Agent Framework with MCP (Model Context Protocol)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Customer Service, Energy Optimization, Grid Management Agents</a:t>
            </a: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Applications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Customer Portal, Operations Dashboard, Mobile 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3139"/>
                </a:solidFill>
              </a:defRPr>
            </a:pPr>
            <a:r>
              <a:t>Customer Service Agent - Autonomous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18794"/>
                </a:solidFill>
              </a:defRPr>
            </a:pPr>
            <a:r>
              <a:t>Intent Understanding → Reasoning → Action Execution with MCP Context</a:t>
            </a:r>
          </a:p>
        </p:txBody>
      </p:sp>
      <p:pic>
        <p:nvPicPr>
          <p:cNvPr id="5" name="Picture 4" descr="ea_customer_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829" y="1280160"/>
            <a:ext cx="17183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139"/>
                </a:solidFill>
              </a:defRPr>
            </a:pPr>
            <a:r>
              <a:t>Customer Service Agent -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Customer Interaction Channels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Web portal, mobile app, phone/IVR with natural language</a:t>
            </a: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Agent Processing Flow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Intent Understanding: What does customer want?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Reasoning &amp; Planning: How to best serve request?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Action Execution: Execute the solution autonomously</a:t>
            </a: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MCP Context Enrichment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Customer profile (demographics, preferences)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Usage history (consumption patterns, anomalies)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Billing data (payment history, current balance)</a:t>
            </a: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Autonomous Outcomes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Energy usage recommendations and insights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Issue resolution (billing questions, outages)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Usage optimization tips and plan adjustments</a:t>
            </a: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Impact: 70% automation rate, 50% faster response, 40% cost reduction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3139"/>
                </a:solidFill>
              </a:defRPr>
            </a:pPr>
            <a:r>
              <a:t>Energy Optimization Agent - Real-Time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18794"/>
                </a:solidFill>
              </a:defRPr>
            </a:pPr>
            <a:r>
              <a:t>Streaming data processing with autonomous demand prediction and grid control</a:t>
            </a:r>
          </a:p>
        </p:txBody>
      </p:sp>
      <p:pic>
        <p:nvPicPr>
          <p:cNvPr id="5" name="Picture 4" descr="ea_optimization_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83" y="1280160"/>
            <a:ext cx="8134233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139"/>
                </a:solidFill>
              </a:defRPr>
            </a:pPr>
            <a:r>
              <a:t>Energy Optimization Agent -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Real-Time Data Streams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Smart meter data (15-min intervals)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Weather forecasts (hourly updates)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Grid load data (real-time SCADA)</a:t>
            </a: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Stream Processing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AutoLoader for incremental ingestion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Structured Streaming for real-time analytics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Delta Live Tables for always-fresh data</a:t>
            </a: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Agent Actions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Demand Prediction: 1-48 hour forecasting with ML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Load Optimization: Grid balancing and peak shaving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Customer Recommendations: Time-of-use pricing, smart scheduling</a:t>
            </a: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Automated Outcomes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Dynamic Pricing: Adjust rates based on demand/supply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Customer Alerts: Notify of high-cost periods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Grid Control: Automated load balancing</a:t>
            </a: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Impact: 30% forecast improvement, $5M annual savings, 15% peak reduction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139"/>
                </a:solidFill>
              </a:defRPr>
            </a:pPr>
            <a:r>
              <a:t>Business Impact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FF3621"/>
                </a:solidFill>
              </a:defRPr>
            </a:pPr>
            <a:r>
              <a:t>Investment (3-Year TCO)</a:t>
            </a:r>
          </a:p>
          <a:p/>
          <a:p>
            <a:pPr>
              <a:defRPr sz="1800">
                <a:solidFill>
                  <a:srgbClr val="1B3139"/>
                </a:solidFill>
              </a:defRPr>
            </a:pPr>
            <a:r>
              <a:t>Year 1: $2.15M</a:t>
            </a:r>
          </a:p>
          <a:p>
            <a:pPr>
              <a:defRPr sz="1800">
                <a:solidFill>
                  <a:srgbClr val="1B3139"/>
                </a:solidFill>
              </a:defRPr>
            </a:pPr>
            <a:r>
              <a:t>  • Databricks Platform: $500K</a:t>
            </a:r>
          </a:p>
          <a:p>
            <a:pPr>
              <a:defRPr sz="1800">
                <a:solidFill>
                  <a:srgbClr val="1B3139"/>
                </a:solidFill>
              </a:defRPr>
            </a:pPr>
            <a:r>
              <a:t>  • Azure Infrastructure: $300K</a:t>
            </a:r>
          </a:p>
          <a:p>
            <a:pPr>
              <a:defRPr sz="1800">
                <a:solidFill>
                  <a:srgbClr val="1B3139"/>
                </a:solidFill>
              </a:defRPr>
            </a:pPr>
            <a:r>
              <a:t>  • Data Engineering: $400K</a:t>
            </a:r>
          </a:p>
          <a:p>
            <a:pPr>
              <a:defRPr sz="1800">
                <a:solidFill>
                  <a:srgbClr val="1B3139"/>
                </a:solidFill>
              </a:defRPr>
            </a:pPr>
            <a:r>
              <a:t>  • ML/AI Development: $600K</a:t>
            </a:r>
          </a:p>
          <a:p/>
          <a:p>
            <a:pPr>
              <a:defRPr sz="1800">
                <a:solidFill>
                  <a:srgbClr val="1B3139"/>
                </a:solidFill>
              </a:defRPr>
            </a:pPr>
            <a:r>
              <a:t>Year 2: $2.25M</a:t>
            </a:r>
          </a:p>
          <a:p>
            <a:pPr>
              <a:defRPr sz="1800">
                <a:solidFill>
                  <a:srgbClr val="1B3139"/>
                </a:solidFill>
              </a:defRPr>
            </a:pPr>
            <a:r>
              <a:t>Year 3: $2.35M</a:t>
            </a:r>
          </a:p>
          <a:p/>
          <a:p>
            <a:pPr>
              <a:defRPr sz="2200" b="1">
                <a:solidFill>
                  <a:srgbClr val="FF3621"/>
                </a:solidFill>
              </a:defRPr>
            </a:pPr>
            <a:r>
              <a:t>Total: $6.75M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3657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FF3621"/>
                </a:solidFill>
              </a:defRPr>
            </a:pPr>
            <a:r>
              <a:t>Annual Benefits (Year 3)</a:t>
            </a:r>
          </a:p>
          <a:p/>
          <a:p>
            <a:pPr>
              <a:defRPr sz="1800">
                <a:solidFill>
                  <a:srgbClr val="1B3139"/>
                </a:solidFill>
              </a:defRPr>
            </a:pPr>
            <a:r>
              <a:t>Customer Service: $6M</a:t>
            </a:r>
          </a:p>
          <a:p>
            <a:pPr>
              <a:defRPr sz="1800">
                <a:solidFill>
                  <a:srgbClr val="1B3139"/>
                </a:solidFill>
              </a:defRPr>
            </a:pPr>
            <a:r>
              <a:t>Energy Optimization: $5M</a:t>
            </a:r>
          </a:p>
          <a:p>
            <a:pPr>
              <a:defRPr sz="1800">
                <a:solidFill>
                  <a:srgbClr val="1B3139"/>
                </a:solidFill>
              </a:defRPr>
            </a:pPr>
            <a:r>
              <a:t>Churn Reduction: $3M</a:t>
            </a:r>
          </a:p>
          <a:p>
            <a:pPr>
              <a:defRPr sz="1800">
                <a:solidFill>
                  <a:srgbClr val="1B3139"/>
                </a:solidFill>
              </a:defRPr>
            </a:pPr>
            <a:r>
              <a:t>Grid Infrastructure: $3M</a:t>
            </a:r>
          </a:p>
          <a:p>
            <a:pPr>
              <a:defRPr sz="1800">
                <a:solidFill>
                  <a:srgbClr val="1B3139"/>
                </a:solidFill>
              </a:defRPr>
            </a:pPr>
            <a:r>
              <a:t>Operational Efficiency: $2M</a:t>
            </a:r>
          </a:p>
          <a:p/>
          <a:p>
            <a:pPr>
              <a:defRPr sz="2200" b="1">
                <a:solidFill>
                  <a:srgbClr val="FF3621"/>
                </a:solidFill>
              </a:defRPr>
            </a:pPr>
            <a:r>
              <a:t>Total: $19M/year</a:t>
            </a:r>
          </a:p>
          <a:p/>
          <a:p>
            <a:pPr>
              <a:defRPr sz="2000" b="1">
                <a:solidFill>
                  <a:srgbClr val="1B3139"/>
                </a:solidFill>
              </a:defRPr>
            </a:pPr>
            <a:r>
              <a:t>ROI Metrics:</a:t>
            </a:r>
          </a:p>
          <a:p>
            <a:pPr>
              <a:defRPr sz="1800">
                <a:solidFill>
                  <a:srgbClr val="618794"/>
                </a:solidFill>
              </a:defRPr>
            </a:pPr>
            <a:r>
              <a:t>  • Payback: 15 months</a:t>
            </a:r>
          </a:p>
          <a:p>
            <a:pPr>
              <a:defRPr sz="1800">
                <a:solidFill>
                  <a:srgbClr val="618794"/>
                </a:solidFill>
              </a:defRPr>
            </a:pPr>
            <a:r>
              <a:t>  • 3-Year ROI: 180%</a:t>
            </a:r>
          </a:p>
          <a:p>
            <a:pPr>
              <a:defRPr sz="1800">
                <a:solidFill>
                  <a:srgbClr val="618794"/>
                </a:solidFill>
              </a:defRPr>
            </a:pPr>
            <a:r>
              <a:t>  • 5-Year NPV: $42M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139"/>
                </a:solidFill>
              </a:defRPr>
            </a:pPr>
            <a:r>
              <a:t>Implementation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Q1 2025: Foundation &amp; Data Platform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Deploy Delta Lake on Azure ADLS Gen2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Implement Medallion architecture (Bronze/Silver/Gold)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Set up MLflow model registry and serving</a:t>
            </a: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Q2 2025: Predictive Models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Build demand forecasting and churn prediction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Deploy customer 360 view and personalization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Production rollout with A/B testing</a:t>
            </a: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Q3-Q4 2025: GenAI &amp; Governance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Deploy Unity Catalog and Mosaic AI platform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Implement RAG and LLM endpoints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Build Feature Store and human-in-loop AI</a:t>
            </a: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</a:p>
          <a:p>
            <a:pPr>
              <a:spcBef>
                <a:spcPts val="800"/>
              </a:spcBef>
              <a:defRPr sz="2000">
                <a:solidFill>
                  <a:srgbClr val="1B3139"/>
                </a:solidFill>
              </a:defRPr>
            </a:pPr>
            <a:r>
              <a:t>• Q1-Q2 2026: Agentic AI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Deploy agent framework with MCP protocol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Launch Customer Service and Energy Optimization agents</a:t>
            </a:r>
          </a:p>
          <a:p>
            <a:pPr lvl="1">
              <a:spcBef>
                <a:spcPts val="800"/>
              </a:spcBef>
              <a:defRPr sz="1800">
                <a:solidFill>
                  <a:srgbClr val="1B3139"/>
                </a:solidFill>
              </a:defRPr>
            </a:pPr>
            <a:r>
              <a:t>  - Full production rollout with monitoring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1B3139"/>
                </a:solidFill>
              </a:defRPr>
            </a:pPr>
            <a:r>
              <a:t>Questions?</a:t>
            </a:r>
          </a:p>
          <a:p>
            <a:br/>
            <a:pPr algn="ctr">
              <a:defRPr sz="2800">
                <a:solidFill>
                  <a:srgbClr val="618794"/>
                </a:solidFill>
              </a:defRPr>
            </a:pPr>
            <a:r>
              <a:t>Ready to transform Energy Australia with Agentic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