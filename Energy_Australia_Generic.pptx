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FF3621"/>
          </a:solidFill>
          <a:ln>
            <a:solidFill>
              <a:srgbClr val="FF36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1B3139"/>
                </a:solidFill>
              </a:defRPr>
            </a:pPr>
            <a:r>
              <a:t>Energy Australia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618794"/>
                </a:solidFill>
              </a:defRPr>
            </a:pPr>
            <a:r>
              <a:t>Agentic AI Journey</a:t>
            </a:r>
          </a:p>
          <a:p>
            <a:pPr algn="ctr">
              <a:defRPr sz="3200">
                <a:solidFill>
                  <a:srgbClr val="618794"/>
                </a:solidFill>
              </a:defRPr>
            </a:pPr>
            <a:r>
              <a:t>Transformation Roadmap 2025-2026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1B3139"/>
                </a:solidFill>
              </a:defRPr>
            </a:pPr>
            <a:r>
              <a:t>Powered by Databricks Lakehouse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B3139"/>
                </a:solidFill>
              </a:defRPr>
            </a:pPr>
            <a:r>
              <a:t>Agentic AI Journey - 4 Phase Transformation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618794"/>
                </a:solidFill>
              </a:defRPr>
            </a:pPr>
            <a:r>
              <a:t>Traditional → Predictive → Augmented → Agentic</a:t>
            </a:r>
          </a:p>
        </p:txBody>
      </p:sp>
      <p:pic>
        <p:nvPicPr>
          <p:cNvPr id="5" name="Picture 4" descr="ea_journey_gener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9539" y="1280160"/>
            <a:ext cx="78492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B3139"/>
                </a:solidFill>
              </a:defRPr>
            </a:pPr>
            <a:r>
              <a:t>Journey Phases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800"/>
              </a:spcBef>
              <a:defRPr sz="2000">
                <a:solidFill>
                  <a:srgbClr val="1B3139"/>
                </a:solidFill>
              </a:defRPr>
            </a:pPr>
            <a:r>
              <a:t>• Phase 1: Traditional Analytics (Current)</a:t>
            </a:r>
          </a:p>
          <a:p>
            <a:pPr lvl="1">
              <a:spcBef>
                <a:spcPts val="800"/>
              </a:spcBef>
              <a:defRPr sz="1800">
                <a:solidFill>
                  <a:srgbClr val="1B3139"/>
                </a:solidFill>
              </a:defRPr>
            </a:pPr>
            <a:r>
              <a:t>  - Historical data, static BI, basic ML</a:t>
            </a:r>
          </a:p>
          <a:p>
            <a:pPr>
              <a:spcBef>
                <a:spcPts val="800"/>
              </a:spcBef>
              <a:defRPr sz="2000">
                <a:solidFill>
                  <a:srgbClr val="1B3139"/>
                </a:solidFill>
              </a:defRPr>
            </a:pPr>
          </a:p>
          <a:p>
            <a:pPr>
              <a:spcBef>
                <a:spcPts val="800"/>
              </a:spcBef>
              <a:defRPr sz="2000">
                <a:solidFill>
                  <a:srgbClr val="1B3139"/>
                </a:solidFill>
              </a:defRPr>
            </a:pPr>
            <a:r>
              <a:t>• Phase 2: Predictive AI (Q1-Q2 2025)</a:t>
            </a:r>
          </a:p>
          <a:p>
            <a:pPr lvl="1">
              <a:spcBef>
                <a:spcPts val="800"/>
              </a:spcBef>
              <a:defRPr sz="1800">
                <a:solidFill>
                  <a:srgbClr val="1B3139"/>
                </a:solidFill>
              </a:defRPr>
            </a:pPr>
            <a:r>
              <a:t>  - Delta Lake, MLflow, demand forecasting</a:t>
            </a:r>
          </a:p>
          <a:p>
            <a:pPr>
              <a:spcBef>
                <a:spcPts val="800"/>
              </a:spcBef>
              <a:defRPr sz="2000">
                <a:solidFill>
                  <a:srgbClr val="1B3139"/>
                </a:solidFill>
              </a:defRPr>
            </a:pPr>
          </a:p>
          <a:p>
            <a:pPr>
              <a:spcBef>
                <a:spcPts val="800"/>
              </a:spcBef>
              <a:defRPr sz="2000">
                <a:solidFill>
                  <a:srgbClr val="1B3139"/>
                </a:solidFill>
              </a:defRPr>
            </a:pPr>
            <a:r>
              <a:t>• Phase 3: Augmented AI (Q3-Q4 2025)</a:t>
            </a:r>
          </a:p>
          <a:p>
            <a:pPr lvl="1">
              <a:spcBef>
                <a:spcPts val="800"/>
              </a:spcBef>
              <a:defRPr sz="1800">
                <a:solidFill>
                  <a:srgbClr val="1B3139"/>
                </a:solidFill>
              </a:defRPr>
            </a:pPr>
            <a:r>
              <a:t>  - Unity Catalog, Mosaic AI, human-in-loop</a:t>
            </a:r>
          </a:p>
          <a:p>
            <a:pPr>
              <a:spcBef>
                <a:spcPts val="800"/>
              </a:spcBef>
              <a:defRPr sz="2000">
                <a:solidFill>
                  <a:srgbClr val="1B3139"/>
                </a:solidFill>
              </a:defRPr>
            </a:pPr>
          </a:p>
          <a:p>
            <a:pPr>
              <a:spcBef>
                <a:spcPts val="800"/>
              </a:spcBef>
              <a:defRPr sz="2000">
                <a:solidFill>
                  <a:srgbClr val="1B3139"/>
                </a:solidFill>
              </a:defRPr>
            </a:pPr>
            <a:r>
              <a:t>• Phase 4: Agentic AI (2026)</a:t>
            </a:r>
          </a:p>
          <a:p>
            <a:pPr lvl="1">
              <a:spcBef>
                <a:spcPts val="800"/>
              </a:spcBef>
              <a:defRPr sz="1800">
                <a:solidFill>
                  <a:srgbClr val="1B3139"/>
                </a:solidFill>
              </a:defRPr>
            </a:pPr>
            <a:r>
              <a:t>  - Autonomous agents with MCP protocol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B3139"/>
                </a:solidFill>
              </a:defRPr>
            </a:pPr>
            <a:r>
              <a:t>Full Agentic AI Platform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618794"/>
                </a:solidFill>
              </a:defRPr>
            </a:pPr>
            <a:r>
              <a:t>End-to-end platform with AI agents</a:t>
            </a:r>
          </a:p>
        </p:txBody>
      </p:sp>
      <p:pic>
        <p:nvPicPr>
          <p:cNvPr id="5" name="Picture 4" descr="ea_architecture_gener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6855" y="1280160"/>
            <a:ext cx="1490289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B3139"/>
                </a:solidFill>
              </a:defRPr>
            </a:pPr>
            <a:r>
              <a:t>Customer Service Agent - Autonomous Support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618794"/>
                </a:solidFill>
              </a:defRPr>
            </a:pPr>
            <a:r>
              <a:t>70% automation rate, 50% faster response</a:t>
            </a:r>
          </a:p>
        </p:txBody>
      </p:sp>
      <p:pic>
        <p:nvPicPr>
          <p:cNvPr id="5" name="Picture 4" descr="ea_customer_service_gener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8229600" cy="130850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B3139"/>
                </a:solidFill>
              </a:defRPr>
            </a:pPr>
            <a:r>
              <a:t>Business Impact &amp; ROI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800"/>
              </a:spcBef>
              <a:defRPr sz="2000">
                <a:solidFill>
                  <a:srgbClr val="1B3139"/>
                </a:solidFill>
              </a:defRPr>
            </a:pPr>
            <a:r>
              <a:t>• Investment: $6.75M over 3 years</a:t>
            </a:r>
          </a:p>
          <a:p>
            <a:pPr>
              <a:spcBef>
                <a:spcPts val="800"/>
              </a:spcBef>
              <a:defRPr sz="2000">
                <a:solidFill>
                  <a:srgbClr val="1B3139"/>
                </a:solidFill>
              </a:defRPr>
            </a:pPr>
          </a:p>
          <a:p>
            <a:pPr>
              <a:spcBef>
                <a:spcPts val="800"/>
              </a:spcBef>
              <a:defRPr sz="2000">
                <a:solidFill>
                  <a:srgbClr val="1B3139"/>
                </a:solidFill>
              </a:defRPr>
            </a:pPr>
            <a:r>
              <a:t>• Annual Benefits (Year 3): $19M</a:t>
            </a:r>
          </a:p>
          <a:p>
            <a:pPr lvl="1">
              <a:spcBef>
                <a:spcPts val="800"/>
              </a:spcBef>
              <a:defRPr sz="1800">
                <a:solidFill>
                  <a:srgbClr val="1B3139"/>
                </a:solidFill>
              </a:defRPr>
            </a:pPr>
            <a:r>
              <a:t>  - Customer service cost reduction: $6M</a:t>
            </a:r>
          </a:p>
          <a:p>
            <a:pPr lvl="1">
              <a:spcBef>
                <a:spcPts val="800"/>
              </a:spcBef>
              <a:defRPr sz="1800">
                <a:solidFill>
                  <a:srgbClr val="1B3139"/>
                </a:solidFill>
              </a:defRPr>
            </a:pPr>
            <a:r>
              <a:t>  - Energy optimization savings: $5M</a:t>
            </a:r>
          </a:p>
          <a:p>
            <a:pPr lvl="1">
              <a:spcBef>
                <a:spcPts val="800"/>
              </a:spcBef>
              <a:defRPr sz="1800">
                <a:solidFill>
                  <a:srgbClr val="1B3139"/>
                </a:solidFill>
              </a:defRPr>
            </a:pPr>
            <a:r>
              <a:t>  - Churn reduction: $3M</a:t>
            </a:r>
          </a:p>
          <a:p>
            <a:pPr lvl="1">
              <a:spcBef>
                <a:spcPts val="800"/>
              </a:spcBef>
              <a:defRPr sz="1800">
                <a:solidFill>
                  <a:srgbClr val="1B3139"/>
                </a:solidFill>
              </a:defRPr>
            </a:pPr>
            <a:r>
              <a:t>  - Grid infrastructure: $3M</a:t>
            </a:r>
          </a:p>
          <a:p>
            <a:pPr>
              <a:spcBef>
                <a:spcPts val="800"/>
              </a:spcBef>
              <a:defRPr sz="2000">
                <a:solidFill>
                  <a:srgbClr val="1B3139"/>
                </a:solidFill>
              </a:defRPr>
            </a:pPr>
          </a:p>
          <a:p>
            <a:pPr>
              <a:spcBef>
                <a:spcPts val="800"/>
              </a:spcBef>
              <a:defRPr sz="2000">
                <a:solidFill>
                  <a:srgbClr val="1B3139"/>
                </a:solidFill>
              </a:defRPr>
            </a:pPr>
            <a:r>
              <a:t>• ROI Metrics:</a:t>
            </a:r>
          </a:p>
          <a:p>
            <a:pPr lvl="1">
              <a:spcBef>
                <a:spcPts val="800"/>
              </a:spcBef>
              <a:defRPr sz="1800">
                <a:solidFill>
                  <a:srgbClr val="1B3139"/>
                </a:solidFill>
              </a:defRPr>
            </a:pPr>
            <a:r>
              <a:t>  - Payback period: 15 months</a:t>
            </a:r>
          </a:p>
          <a:p>
            <a:pPr lvl="1">
              <a:spcBef>
                <a:spcPts val="800"/>
              </a:spcBef>
              <a:defRPr sz="1800">
                <a:solidFill>
                  <a:srgbClr val="1B3139"/>
                </a:solidFill>
              </a:defRPr>
            </a:pPr>
            <a:r>
              <a:t>  - 3-year ROI: 180%</a:t>
            </a:r>
          </a:p>
          <a:p>
            <a:pPr lvl="1">
              <a:spcBef>
                <a:spcPts val="800"/>
              </a:spcBef>
              <a:defRPr sz="1800">
                <a:solidFill>
                  <a:srgbClr val="1B3139"/>
                </a:solidFill>
              </a:defRPr>
            </a:pPr>
            <a:r>
              <a:t>  - 5-year NPV: $42M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