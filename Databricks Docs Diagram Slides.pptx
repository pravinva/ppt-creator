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Lst>
  <p:sldSz cy="6858000" cx="12188950"/>
  <p:notesSz cx="6858000" cy="9144000"/>
  <p:embeddedFontLst>
    <p:embeddedFont>
      <p:font typeface="DM Sans Medium"/>
      <p:regular r:id="rId183"/>
      <p:bold r:id="rId184"/>
      <p:italic r:id="rId185"/>
      <p:boldItalic r:id="rId186"/>
    </p:embeddedFont>
    <p:embeddedFont>
      <p:font typeface="Inter"/>
      <p:regular r:id="rId187"/>
      <p:bold r:id="rId188"/>
      <p:italic r:id="rId189"/>
      <p:boldItalic r:id="rId190"/>
    </p:embeddedFont>
    <p:embeddedFont>
      <p:font typeface="DM Mono Medium"/>
      <p:regular r:id="rId191"/>
      <p:italic r:id="rId192"/>
    </p:embeddedFont>
    <p:embeddedFont>
      <p:font typeface="DM Sans SemiBold"/>
      <p:regular r:id="rId193"/>
      <p:bold r:id="rId194"/>
      <p:italic r:id="rId195"/>
      <p:boldItalic r:id="rId196"/>
    </p:embeddedFont>
    <p:embeddedFont>
      <p:font typeface="Roboto Mono"/>
      <p:regular r:id="rId197"/>
      <p:bold r:id="rId198"/>
      <p:italic r:id="rId199"/>
      <p:boldItalic r:id="rId200"/>
    </p:embeddedFont>
    <p:embeddedFont>
      <p:font typeface="DM Sans"/>
      <p:regular r:id="rId201"/>
      <p:bold r:id="rId202"/>
      <p:italic r:id="rId203"/>
      <p:boldItalic r:id="rId204"/>
    </p:embeddedFont>
    <p:embeddedFont>
      <p:font typeface="Barlow"/>
      <p:regular r:id="rId205"/>
      <p:bold r:id="rId206"/>
      <p:italic r:id="rId207"/>
      <p:boldItalic r:id="rId208"/>
    </p:embeddedFont>
    <p:embeddedFont>
      <p:font typeface="DM Mono"/>
      <p:regular r:id="rId209"/>
      <p:italic r:id="rId2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72D3E9-1960-45D9-88EA-D771365438EB}">
  <a:tblStyle styleId="{4472D3E9-1960-45D9-88EA-D771365438EB}"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font" Target="fonts/Inter-bold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font" Target="fonts/DMSansSemiBold-bold.fntdata"/><Relationship Id="rId43" Type="http://schemas.openxmlformats.org/officeDocument/2006/relationships/slide" Target="slides/slide38.xml"/><Relationship Id="rId193" Type="http://schemas.openxmlformats.org/officeDocument/2006/relationships/font" Target="fonts/DMSansSemiBold-regular.fntdata"/><Relationship Id="rId46" Type="http://schemas.openxmlformats.org/officeDocument/2006/relationships/slide" Target="slides/slide41.xml"/><Relationship Id="rId192" Type="http://schemas.openxmlformats.org/officeDocument/2006/relationships/font" Target="fonts/DMMonoMedium-italic.fntdata"/><Relationship Id="rId45" Type="http://schemas.openxmlformats.org/officeDocument/2006/relationships/slide" Target="slides/slide40.xml"/><Relationship Id="rId191" Type="http://schemas.openxmlformats.org/officeDocument/2006/relationships/font" Target="fonts/DMMonoMedium-regular.fntdata"/><Relationship Id="rId48" Type="http://schemas.openxmlformats.org/officeDocument/2006/relationships/slide" Target="slides/slide43.xml"/><Relationship Id="rId187" Type="http://schemas.openxmlformats.org/officeDocument/2006/relationships/font" Target="fonts/Inter-regular.fntdata"/><Relationship Id="rId47" Type="http://schemas.openxmlformats.org/officeDocument/2006/relationships/slide" Target="slides/slide42.xml"/><Relationship Id="rId186" Type="http://schemas.openxmlformats.org/officeDocument/2006/relationships/font" Target="fonts/DMSansMedium-boldItalic.fntdata"/><Relationship Id="rId185" Type="http://schemas.openxmlformats.org/officeDocument/2006/relationships/font" Target="fonts/DMSansMedium-italic.fntdata"/><Relationship Id="rId49" Type="http://schemas.openxmlformats.org/officeDocument/2006/relationships/slide" Target="slides/slide44.xml"/><Relationship Id="rId184" Type="http://schemas.openxmlformats.org/officeDocument/2006/relationships/font" Target="fonts/DMSansMedium-bold.fntdata"/><Relationship Id="rId189" Type="http://schemas.openxmlformats.org/officeDocument/2006/relationships/font" Target="fonts/Inter-italic.fntdata"/><Relationship Id="rId188" Type="http://schemas.openxmlformats.org/officeDocument/2006/relationships/font" Target="fonts/Inter-bold.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font" Target="fonts/DMSansMedium-regular.fntdata"/><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font" Target="fonts/RobotoMono-bold.fntdata"/><Relationship Id="rId14" Type="http://schemas.openxmlformats.org/officeDocument/2006/relationships/slide" Target="slides/slide9.xml"/><Relationship Id="rId197" Type="http://schemas.openxmlformats.org/officeDocument/2006/relationships/font" Target="fonts/RobotoMono-regular.fntdata"/><Relationship Id="rId17" Type="http://schemas.openxmlformats.org/officeDocument/2006/relationships/slide" Target="slides/slide12.xml"/><Relationship Id="rId196" Type="http://schemas.openxmlformats.org/officeDocument/2006/relationships/font" Target="fonts/DMSansSemiBold-boldItalic.fntdata"/><Relationship Id="rId16" Type="http://schemas.openxmlformats.org/officeDocument/2006/relationships/slide" Target="slides/slide11.xml"/><Relationship Id="rId195" Type="http://schemas.openxmlformats.org/officeDocument/2006/relationships/font" Target="fonts/DMSansSemiBold-italic.fntdata"/><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font" Target="fonts/RobotoMono-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0" Type="http://schemas.openxmlformats.org/officeDocument/2006/relationships/font" Target="fonts/DMMono-italic.fntdata"/><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font" Target="fonts/Barlow-bold.fntdata"/><Relationship Id="rId205" Type="http://schemas.openxmlformats.org/officeDocument/2006/relationships/font" Target="fonts/Barlow-regular.fntdata"/><Relationship Id="rId204" Type="http://schemas.openxmlformats.org/officeDocument/2006/relationships/font" Target="fonts/DMSans-boldItalic.fntdata"/><Relationship Id="rId203" Type="http://schemas.openxmlformats.org/officeDocument/2006/relationships/font" Target="fonts/DMSans-italic.fntdata"/><Relationship Id="rId209" Type="http://schemas.openxmlformats.org/officeDocument/2006/relationships/font" Target="fonts/DMMono-regular.fntdata"/><Relationship Id="rId208" Type="http://schemas.openxmlformats.org/officeDocument/2006/relationships/font" Target="fonts/Barlow-boldItalic.fntdata"/><Relationship Id="rId207" Type="http://schemas.openxmlformats.org/officeDocument/2006/relationships/font" Target="fonts/Barlow-italic.fntdata"/><Relationship Id="rId202" Type="http://schemas.openxmlformats.org/officeDocument/2006/relationships/font" Target="fonts/DMSans-bold.fntdata"/><Relationship Id="rId201" Type="http://schemas.openxmlformats.org/officeDocument/2006/relationships/font" Target="fonts/DMSans-regular.fntdata"/><Relationship Id="rId200"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workflows/jobs/jobs.html" TargetMode="External"/><Relationship Id="rId3" Type="http://schemas.openxmlformats.org/officeDocument/2006/relationships/hyperlink" Target="https://github.com/databricks/docs/pull/9765" TargetMode="Externa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f7b9ec9ce5_0_10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f7b9ec9ce5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63ca4c9f23_0_9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63ca4c9f23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eba5681a0d_1_20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eba5681a0d_1_2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eba5681a0d_1_20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eba5681a0d_1_2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f7b9ea4272_0_3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f7b9ea427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63ca4c9f23_0_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63ca4c9f2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eba5681a0d_1_213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eba5681a0d_1_2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63ca4c9f23_0_2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63ca4c9f2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63ca4c9f23_0_5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63ca4c9f2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63ca4c9f23_0_5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63ca4c9f2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63ca4c9f23_0_4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63ca4c9f2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63ca4c9f23_0_6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63ca4c9f2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63ca4c9f23_0_7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63ca4c9f2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63e8db0924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63e8db09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63ca4c9f23_0_69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63ca4c9f23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eba5681a0d_1_231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eba5681a0d_1_2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eba5681a0d_1_220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eba5681a0d_1_2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eba5681a0d_1_16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eba5681a0d_1_1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eba5681a0d_1_166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eba5681a0d_1_1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eba5681a0d_1_168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eba5681a0d_1_1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eba5681a0d_1_244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eba5681a0d_1_2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eba5681a0d_1_3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eba5681a0d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eba5681a0d_1_192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eba5681a0d_1_1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eba5681a0d_1_187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eba5681a0d_1_1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eba5681a0d_1_1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eba5681a0d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eba5681a0d_1_39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eba5681a0d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eba5681a0d_1_35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eba5681a0d_1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eba5681a0d_1_43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eba5681a0d_1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eba5681a0d_1_47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eba5681a0d_1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eba5681a0d_1_51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eba5681a0d_1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eba5681a0d_1_54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eba5681a0d_1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eba5681a0d_1_5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eba5681a0d_1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eba5681a0d_1_6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eba5681a0d_1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eba5681a0d_1_8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eba5681a0d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eba5681a0d_1_13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eba5681a0d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eba5681a0d_1_1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eba5681a0d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eba5681a0d_1_24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eba5681a0d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eba5681a0d_1_29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eba5681a0d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eba5681a0d_1_66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eba5681a0d_1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eba5681a0d_1_109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eba5681a0d_1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eba5681a0d_1_114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eba5681a0d_1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eba5681a0d_1_121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eba5681a0d_1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eba5681a0d_1_13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eba5681a0d_1_1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eba5681a0d_1_141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eba5681a0d_1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eba5681a0d_1_148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eba5681a0d_1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eba5681a0d_1_159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eba5681a0d_1_1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eba5681a0d_1_71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eba5681a0d_1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eba5681a0d_1_78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eba5681a0d_1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eba5681a0d_1_90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eba5681a0d_1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eba5681a0d_1_99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82" name="Google Shape;1182;geba5681a0d_1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eba5681a0d_1_94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eba5681a0d_1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eba5681a0d_1_84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eba5681a0d_1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263ca4c9f23_0_70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263ca4c9f23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263ca4c9f23_0_854: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263ca4c9f23_0_85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Prior to Unity Catalog Credentials to access cloud storage like S3 or ADLS were defined at the cluster or warehouse or in a passthrough mechanism based on the user’s cloud identity.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Unity Catalog, those Credentials live as first class primitive objects in your Unity metastore. They have ACLs on them like any other object, but they are typically not used by users directly.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you set up a Unity Catalog Metastore for the first time, you will associate a managed data source with that metastore. This managed data source is a container or bucket that will only be read from and written to via Databricks, through Unity Catalog. Along with this managed datasource is a default credential object that will be used for Unity to broker access to this data. I will explain the request path of how Unity Catalog does this in the next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to flesh out these concepts, if you create a table in legacy HMS, and you don’t specify a location for that table, it by default will be stored in DBFS. This is known as a managed table in Hive and the default location in Databricks is DBFS.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Unity, this is very similar, we have a concept of a managed table. that when you create a table without a specified location, it will use the managed data source associated with your metastore to store the table. Managed tables have to be Delta Tables.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is another first class primitive object within Unity called an External Location. An External Location is a combination of two things, a cloud URL and a Credential. It is an object that can have it’s own ACLs on it and allows users to READ/WRITE or CREATE TABLEs inside it. This is how users can get access to arbitrary files in cloud storage.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create a table using a location that belongs to an external location that you have the CREATE TABLE right on, you can now federate this externally defined table to anywhere in your metastore hierarchy. External tables can be delta, parquet, avro, orc, or a number of other supported formats.</a:t>
            </a:r>
            <a:endParaRPr/>
          </a:p>
        </p:txBody>
      </p:sp>
      <p:sp>
        <p:nvSpPr>
          <p:cNvPr id="1284" name="Google Shape;1284;g263ca4c9f23_0_85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263ca4c9f23_0_90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263ca4c9f23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let’s talk a bit about how Lineage actually 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a user submits a job or code, to a cluster or warehouse, every sql select or spark operation eventually results in sequences of Transformations or Actions, like map or read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spark goes off and parallelizes these operations to its worker nodes, it creates something called a LogicalPlan. This is an abstraction of all transformations, in a linked graph form. The metadata of this object get submitted to a lineage service, this runs in the control plane. This service assembles all of these logical plans for all commands together to create lineage graphs that then get boiled down into tabular information about what tables fed into other tables and what columns fed into other columns. This allows you to see things like upstream and downstream consumers of any particular table or column.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then exposed to our UI to see that pretty graph you saw on the previous screen and also exposed through our REST APIs to support integrations with Catalog products like Alation, Collibra, and Microsoft Purview.</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263ca4c9f23_0_70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263ca4c9f23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263ca4c9f23_0_71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91" name="Google Shape;1391;g263ca4c9f23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263ca4c9f23_0_73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263ca4c9f23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263ca4c9f23_0_75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g263ca4c9f23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f7b9ea4272_0_2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f7b9ea427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37b52f0dfd0_0_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3" name="Google Shape;1463;g37b52f0dfd0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33644ad64f4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7" name="Google Shape;1507;g33644ad64f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2a3395bd8f2_0_39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8" name="Google Shape;1528;g2a3395bd8f2_0_3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2db320ee453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9" name="Google Shape;1569;g2db320ee45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2e0de7eb4b7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3" name="Google Shape;1603;g2e0de7eb4b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g274a1ce6c1e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5" name="Google Shape;1635;g274a1ce6c1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g274a1ce6c1e_0_4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8" name="Google Shape;1668;g274a1ce6c1e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274a1ce6c1e_0_8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0" name="Google Shape;1700;g274a1ce6c1e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g2a3395bd8f2_0_43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33" name="Google Shape;1733;g2a3395bd8f2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2a3395bd8f2_0_49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00" name="Google Shape;1800;g2a3395bd8f2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g263138897fc_1_1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g263138897fc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diagram is intended to replace the diagram at the top of the </a:t>
            </a:r>
            <a:r>
              <a:rPr lang="en" u="sng">
                <a:solidFill>
                  <a:schemeClr val="hlink"/>
                </a:solidFill>
                <a:hlinkClick r:id="rId2"/>
              </a:rPr>
              <a:t>jobs article</a:t>
            </a:r>
            <a:r>
              <a:rPr lang="en"/>
              <a:t> and moved to a </a:t>
            </a:r>
            <a:r>
              <a:rPr lang="en" u="sng">
                <a:solidFill>
                  <a:schemeClr val="hlink"/>
                </a:solidFill>
                <a:hlinkClick r:id="rId3"/>
              </a:rPr>
              <a:t>new index page</a:t>
            </a:r>
            <a:r>
              <a:rPr lang="en"/>
              <a:t> for jobs.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Draft of a description for this diagram: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following diagram illustrates a workflow that:</a:t>
            </a:r>
            <a:endParaRPr/>
          </a:p>
          <a:p>
            <a:pPr indent="-298450" lvl="0" marL="457200" rtl="0" algn="l">
              <a:spcBef>
                <a:spcPts val="0"/>
              </a:spcBef>
              <a:spcAft>
                <a:spcPts val="0"/>
              </a:spcAft>
              <a:buSzPts val="1100"/>
              <a:buAutoNum type="arabicPeriod"/>
            </a:pPr>
            <a:r>
              <a:rPr lang="en"/>
              <a:t>Runs a Delta Live Tables pipeline to ingest order data from cloud storage, clean and transform the data for processing, and persist to Delta.</a:t>
            </a:r>
            <a:endParaRPr/>
          </a:p>
          <a:p>
            <a:pPr indent="-298450" lvl="0" marL="457200" rtl="0" algn="l">
              <a:spcBef>
                <a:spcPts val="0"/>
              </a:spcBef>
              <a:spcAft>
                <a:spcPts val="0"/>
              </a:spcAft>
              <a:buSzPts val="1100"/>
              <a:buAutoNum type="arabicPeriod"/>
            </a:pPr>
            <a:r>
              <a:rPr lang="en"/>
              <a:t>Runs another Delta Live Tables pipeline to ingest clickstream data from cloud storage, clean and sessionize the data, and persist to Delta.</a:t>
            </a:r>
            <a:endParaRPr/>
          </a:p>
          <a:p>
            <a:pPr indent="-298450" lvl="0" marL="457200" rtl="0" algn="l">
              <a:spcBef>
                <a:spcPts val="0"/>
              </a:spcBef>
              <a:spcAft>
                <a:spcPts val="0"/>
              </a:spcAft>
              <a:buSzPts val="1100"/>
              <a:buAutoNum type="arabicPeriod"/>
            </a:pPr>
            <a:r>
              <a:rPr lang="en"/>
              <a:t>Joins the order and session data to create a data set for analysis.</a:t>
            </a:r>
            <a:endParaRPr/>
          </a:p>
          <a:p>
            <a:pPr indent="-298450" lvl="0" marL="457200" rtl="0" algn="l">
              <a:spcBef>
                <a:spcPts val="0"/>
              </a:spcBef>
              <a:spcAft>
                <a:spcPts val="0"/>
              </a:spcAft>
              <a:buSzPts val="1100"/>
              <a:buAutoNum type="arabicPeriod"/>
            </a:pPr>
            <a:r>
              <a:rPr lang="en"/>
              <a:t>Extracts features from the prepared data.</a:t>
            </a:r>
            <a:endParaRPr/>
          </a:p>
          <a:p>
            <a:pPr indent="-298450" lvl="0" marL="457200" rtl="0" algn="l">
              <a:spcBef>
                <a:spcPts val="0"/>
              </a:spcBef>
              <a:spcAft>
                <a:spcPts val="0"/>
              </a:spcAft>
              <a:buSzPts val="1100"/>
              <a:buAutoNum type="arabicPeriod"/>
            </a:pPr>
            <a:r>
              <a:rPr lang="en"/>
              <a:t>Performs tasks in parallel to persist the features and train a machine learning model.</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g2a3395bd8f2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66" name="Google Shape;1866;g2a3395bd8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4" name="Shape 1904"/>
        <p:cNvGrpSpPr/>
        <p:nvPr/>
      </p:nvGrpSpPr>
      <p:grpSpPr>
        <a:xfrm>
          <a:off x="0" y="0"/>
          <a:ext cx="0" cy="0"/>
          <a:chOff x="0" y="0"/>
          <a:chExt cx="0" cy="0"/>
        </a:xfrm>
      </p:grpSpPr>
      <p:sp>
        <p:nvSpPr>
          <p:cNvPr id="1905" name="Google Shape;1905;g2a3395bd8f2_0_8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06" name="Google Shape;1906;g2a3395bd8f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g2a3395bd8f2_0_17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45" name="Google Shape;1945;g2a3395bd8f2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g2a3395bd8f2_0_26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84" name="Google Shape;1984;g2a3395bd8f2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1" name="Shape 2021"/>
        <p:cNvGrpSpPr/>
        <p:nvPr/>
      </p:nvGrpSpPr>
      <p:grpSpPr>
        <a:xfrm>
          <a:off x="0" y="0"/>
          <a:ext cx="0" cy="0"/>
          <a:chOff x="0" y="0"/>
          <a:chExt cx="0" cy="0"/>
        </a:xfrm>
      </p:grpSpPr>
      <p:sp>
        <p:nvSpPr>
          <p:cNvPr id="2022" name="Google Shape;2022;g263ca4c9f23_0_992: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p:spPr>
      </p:sp>
      <p:sp>
        <p:nvSpPr>
          <p:cNvPr id="2023" name="Google Shape;2023;g263ca4c9f23_0_9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g263ca4c9f23_0_99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1" name="Shape 2071"/>
        <p:cNvGrpSpPr/>
        <p:nvPr/>
      </p:nvGrpSpPr>
      <p:grpSpPr>
        <a:xfrm>
          <a:off x="0" y="0"/>
          <a:ext cx="0" cy="0"/>
          <a:chOff x="0" y="0"/>
          <a:chExt cx="0" cy="0"/>
        </a:xfrm>
      </p:grpSpPr>
      <p:sp>
        <p:nvSpPr>
          <p:cNvPr id="2072" name="Google Shape;2072;g2b0374a7824_2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73" name="Google Shape;2073;g2b0374a782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0" name="Shape 2100"/>
        <p:cNvGrpSpPr/>
        <p:nvPr/>
      </p:nvGrpSpPr>
      <p:grpSpPr>
        <a:xfrm>
          <a:off x="0" y="0"/>
          <a:ext cx="0" cy="0"/>
          <a:chOff x="0" y="0"/>
          <a:chExt cx="0" cy="0"/>
        </a:xfrm>
      </p:grpSpPr>
      <p:sp>
        <p:nvSpPr>
          <p:cNvPr id="2101" name="Google Shape;2101;g2a8046e7112_0_3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102" name="Google Shape;2102;g2a8046e711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6" name="Shape 2146"/>
        <p:cNvGrpSpPr/>
        <p:nvPr/>
      </p:nvGrpSpPr>
      <p:grpSpPr>
        <a:xfrm>
          <a:off x="0" y="0"/>
          <a:ext cx="0" cy="0"/>
          <a:chOff x="0" y="0"/>
          <a:chExt cx="0" cy="0"/>
        </a:xfrm>
      </p:grpSpPr>
      <p:sp>
        <p:nvSpPr>
          <p:cNvPr id="2147" name="Google Shape;2147;g263ca4c9f23_0_123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148" name="Google Shape;2148;g263ca4c9f23_0_1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g2a8046e7112_0_11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182" name="Google Shape;2182;g2a8046e711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2" name="Shape 2212"/>
        <p:cNvGrpSpPr/>
        <p:nvPr/>
      </p:nvGrpSpPr>
      <p:grpSpPr>
        <a:xfrm>
          <a:off x="0" y="0"/>
          <a:ext cx="0" cy="0"/>
          <a:chOff x="0" y="0"/>
          <a:chExt cx="0" cy="0"/>
        </a:xfrm>
      </p:grpSpPr>
      <p:sp>
        <p:nvSpPr>
          <p:cNvPr id="2213" name="Google Shape;2213;g26f0c5f0d28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214" name="Google Shape;2214;g26f0c5f0d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8" name="Shape 2238"/>
        <p:cNvGrpSpPr/>
        <p:nvPr/>
      </p:nvGrpSpPr>
      <p:grpSpPr>
        <a:xfrm>
          <a:off x="0" y="0"/>
          <a:ext cx="0" cy="0"/>
          <a:chOff x="0" y="0"/>
          <a:chExt cx="0" cy="0"/>
        </a:xfrm>
      </p:grpSpPr>
      <p:sp>
        <p:nvSpPr>
          <p:cNvPr id="2239" name="Google Shape;2239;g2c2784767f0_0_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240" name="Google Shape;2240;g2c2784767f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5" name="Shape 2275"/>
        <p:cNvGrpSpPr/>
        <p:nvPr/>
      </p:nvGrpSpPr>
      <p:grpSpPr>
        <a:xfrm>
          <a:off x="0" y="0"/>
          <a:ext cx="0" cy="0"/>
          <a:chOff x="0" y="0"/>
          <a:chExt cx="0" cy="0"/>
        </a:xfrm>
      </p:grpSpPr>
      <p:sp>
        <p:nvSpPr>
          <p:cNvPr id="2276" name="Google Shape;2276;g2e9c203db27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277" name="Google Shape;2277;g2e9c203db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g2eae994bb5f_0_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316" name="Google Shape;2316;g2eae994bb5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5" name="Shape 2355"/>
        <p:cNvGrpSpPr/>
        <p:nvPr/>
      </p:nvGrpSpPr>
      <p:grpSpPr>
        <a:xfrm>
          <a:off x="0" y="0"/>
          <a:ext cx="0" cy="0"/>
          <a:chOff x="0" y="0"/>
          <a:chExt cx="0" cy="0"/>
        </a:xfrm>
      </p:grpSpPr>
      <p:sp>
        <p:nvSpPr>
          <p:cNvPr id="2356" name="Google Shape;2356;g389ac05b007_1_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357" name="Google Shape;2357;g389ac05b007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9" name="Shape 2389"/>
        <p:cNvGrpSpPr/>
        <p:nvPr/>
      </p:nvGrpSpPr>
      <p:grpSpPr>
        <a:xfrm>
          <a:off x="0" y="0"/>
          <a:ext cx="0" cy="0"/>
          <a:chOff x="0" y="0"/>
          <a:chExt cx="0" cy="0"/>
        </a:xfrm>
      </p:grpSpPr>
      <p:sp>
        <p:nvSpPr>
          <p:cNvPr id="2390" name="Google Shape;2390;g27358303f26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391" name="Google Shape;2391;g27358303f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3" name="Shape 2433"/>
        <p:cNvGrpSpPr/>
        <p:nvPr/>
      </p:nvGrpSpPr>
      <p:grpSpPr>
        <a:xfrm>
          <a:off x="0" y="0"/>
          <a:ext cx="0" cy="0"/>
          <a:chOff x="0" y="0"/>
          <a:chExt cx="0" cy="0"/>
        </a:xfrm>
      </p:grpSpPr>
      <p:sp>
        <p:nvSpPr>
          <p:cNvPr id="2434" name="Google Shape;2434;g27358303f26_0_7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435" name="Google Shape;2435;g27358303f26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4" name="Shape 2484"/>
        <p:cNvGrpSpPr/>
        <p:nvPr/>
      </p:nvGrpSpPr>
      <p:grpSpPr>
        <a:xfrm>
          <a:off x="0" y="0"/>
          <a:ext cx="0" cy="0"/>
          <a:chOff x="0" y="0"/>
          <a:chExt cx="0" cy="0"/>
        </a:xfrm>
      </p:grpSpPr>
      <p:sp>
        <p:nvSpPr>
          <p:cNvPr id="2485" name="Google Shape;2485;g3192d3e5dfe_1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486" name="Google Shape;2486;g3192d3e5df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5" name="Shape 2535"/>
        <p:cNvGrpSpPr/>
        <p:nvPr/>
      </p:nvGrpSpPr>
      <p:grpSpPr>
        <a:xfrm>
          <a:off x="0" y="0"/>
          <a:ext cx="0" cy="0"/>
          <a:chOff x="0" y="0"/>
          <a:chExt cx="0" cy="0"/>
        </a:xfrm>
      </p:grpSpPr>
      <p:sp>
        <p:nvSpPr>
          <p:cNvPr id="2536" name="Google Shape;2536;g27358303f26_0_1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537" name="Google Shape;2537;g27358303f2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9" name="Shape 2599"/>
        <p:cNvGrpSpPr/>
        <p:nvPr/>
      </p:nvGrpSpPr>
      <p:grpSpPr>
        <a:xfrm>
          <a:off x="0" y="0"/>
          <a:ext cx="0" cy="0"/>
          <a:chOff x="0" y="0"/>
          <a:chExt cx="0" cy="0"/>
        </a:xfrm>
      </p:grpSpPr>
      <p:sp>
        <p:nvSpPr>
          <p:cNvPr id="2600" name="Google Shape;2600;g27358303f26_0_26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601" name="Google Shape;2601;g27358303f26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1" name="Shape 2651"/>
        <p:cNvGrpSpPr/>
        <p:nvPr/>
      </p:nvGrpSpPr>
      <p:grpSpPr>
        <a:xfrm>
          <a:off x="0" y="0"/>
          <a:ext cx="0" cy="0"/>
          <a:chOff x="0" y="0"/>
          <a:chExt cx="0" cy="0"/>
        </a:xfrm>
      </p:grpSpPr>
      <p:sp>
        <p:nvSpPr>
          <p:cNvPr id="2652" name="Google Shape;2652;g27358303f26_0_64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653" name="Google Shape;2653;g27358303f26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7" name="Shape 2677"/>
        <p:cNvGrpSpPr/>
        <p:nvPr/>
      </p:nvGrpSpPr>
      <p:grpSpPr>
        <a:xfrm>
          <a:off x="0" y="0"/>
          <a:ext cx="0" cy="0"/>
          <a:chOff x="0" y="0"/>
          <a:chExt cx="0" cy="0"/>
        </a:xfrm>
      </p:grpSpPr>
      <p:sp>
        <p:nvSpPr>
          <p:cNvPr id="2678" name="Google Shape;2678;g2e5099890ba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679" name="Google Shape;2679;g2e5099890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6" name="Shape 2706"/>
        <p:cNvGrpSpPr/>
        <p:nvPr/>
      </p:nvGrpSpPr>
      <p:grpSpPr>
        <a:xfrm>
          <a:off x="0" y="0"/>
          <a:ext cx="0" cy="0"/>
          <a:chOff x="0" y="0"/>
          <a:chExt cx="0" cy="0"/>
        </a:xfrm>
      </p:grpSpPr>
      <p:sp>
        <p:nvSpPr>
          <p:cNvPr id="2707" name="Google Shape;2707;g277008b456f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708" name="Google Shape;2708;g277008b45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4" name="Shape 2814"/>
        <p:cNvGrpSpPr/>
        <p:nvPr/>
      </p:nvGrpSpPr>
      <p:grpSpPr>
        <a:xfrm>
          <a:off x="0" y="0"/>
          <a:ext cx="0" cy="0"/>
          <a:chOff x="0" y="0"/>
          <a:chExt cx="0" cy="0"/>
        </a:xfrm>
      </p:grpSpPr>
      <p:sp>
        <p:nvSpPr>
          <p:cNvPr id="2815" name="Google Shape;2815;g3586a154781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816" name="Google Shape;2816;g3586a1547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3" name="Shape 2843"/>
        <p:cNvGrpSpPr/>
        <p:nvPr/>
      </p:nvGrpSpPr>
      <p:grpSpPr>
        <a:xfrm>
          <a:off x="0" y="0"/>
          <a:ext cx="0" cy="0"/>
          <a:chOff x="0" y="0"/>
          <a:chExt cx="0" cy="0"/>
        </a:xfrm>
      </p:grpSpPr>
      <p:sp>
        <p:nvSpPr>
          <p:cNvPr id="2844" name="Google Shape;2844;g2ef9d5765df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845" name="Google Shape;2845;g2ef9d5765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2" name="Shape 2852"/>
        <p:cNvGrpSpPr/>
        <p:nvPr/>
      </p:nvGrpSpPr>
      <p:grpSpPr>
        <a:xfrm>
          <a:off x="0" y="0"/>
          <a:ext cx="0" cy="0"/>
          <a:chOff x="0" y="0"/>
          <a:chExt cx="0" cy="0"/>
        </a:xfrm>
      </p:grpSpPr>
      <p:sp>
        <p:nvSpPr>
          <p:cNvPr id="2853" name="Google Shape;2853;g27358303f26_0_55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854" name="Google Shape;2854;g27358303f26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2" name="Shape 2892"/>
        <p:cNvGrpSpPr/>
        <p:nvPr/>
      </p:nvGrpSpPr>
      <p:grpSpPr>
        <a:xfrm>
          <a:off x="0" y="0"/>
          <a:ext cx="0" cy="0"/>
          <a:chOff x="0" y="0"/>
          <a:chExt cx="0" cy="0"/>
        </a:xfrm>
      </p:grpSpPr>
      <p:sp>
        <p:nvSpPr>
          <p:cNvPr id="2893" name="Google Shape;2893;g27358303f26_0_36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894" name="Google Shape;2894;g27358303f26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4" name="Shape 2924"/>
        <p:cNvGrpSpPr/>
        <p:nvPr/>
      </p:nvGrpSpPr>
      <p:grpSpPr>
        <a:xfrm>
          <a:off x="0" y="0"/>
          <a:ext cx="0" cy="0"/>
          <a:chOff x="0" y="0"/>
          <a:chExt cx="0" cy="0"/>
        </a:xfrm>
      </p:grpSpPr>
      <p:sp>
        <p:nvSpPr>
          <p:cNvPr id="2925" name="Google Shape;2925;g27358303f26_0_43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926" name="Google Shape;2926;g27358303f26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0" name="Shape 2990"/>
        <p:cNvGrpSpPr/>
        <p:nvPr/>
      </p:nvGrpSpPr>
      <p:grpSpPr>
        <a:xfrm>
          <a:off x="0" y="0"/>
          <a:ext cx="0" cy="0"/>
          <a:chOff x="0" y="0"/>
          <a:chExt cx="0" cy="0"/>
        </a:xfrm>
      </p:grpSpPr>
      <p:sp>
        <p:nvSpPr>
          <p:cNvPr id="2991" name="Google Shape;2991;g2e2b50982af_4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992" name="Google Shape;2992;g2e2b50982af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source/_static/images/dashboards/lakeview-acct-sharing.png</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8" name="Shape 3048"/>
        <p:cNvGrpSpPr/>
        <p:nvPr/>
      </p:nvGrpSpPr>
      <p:grpSpPr>
        <a:xfrm>
          <a:off x="0" y="0"/>
          <a:ext cx="0" cy="0"/>
          <a:chOff x="0" y="0"/>
          <a:chExt cx="0" cy="0"/>
        </a:xfrm>
      </p:grpSpPr>
      <p:sp>
        <p:nvSpPr>
          <p:cNvPr id="3049" name="Google Shape;3049;g2e2b50982af_4_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050" name="Google Shape;3050;g2e2b50982af_4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source/_static/images/dashboards/lakeview-acct-sharing-azure.png</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2" name="Shape 3102"/>
        <p:cNvGrpSpPr/>
        <p:nvPr/>
      </p:nvGrpSpPr>
      <p:grpSpPr>
        <a:xfrm>
          <a:off x="0" y="0"/>
          <a:ext cx="0" cy="0"/>
          <a:chOff x="0" y="0"/>
          <a:chExt cx="0" cy="0"/>
        </a:xfrm>
      </p:grpSpPr>
      <p:sp>
        <p:nvSpPr>
          <p:cNvPr id="3103" name="Google Shape;3103;g2e8efceb9d8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104" name="Google Shape;3104;g2e8efceb9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source/_static/images/dashboards/lakeview-acct-sharing-azure.png</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2" name="Shape 3122"/>
        <p:cNvGrpSpPr/>
        <p:nvPr/>
      </p:nvGrpSpPr>
      <p:grpSpPr>
        <a:xfrm>
          <a:off x="0" y="0"/>
          <a:ext cx="0" cy="0"/>
          <a:chOff x="0" y="0"/>
          <a:chExt cx="0" cy="0"/>
        </a:xfrm>
      </p:grpSpPr>
      <p:sp>
        <p:nvSpPr>
          <p:cNvPr id="3123" name="Google Shape;3123;g2786ee0f35c_1_0: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p:spPr>
      </p:sp>
      <p:sp>
        <p:nvSpPr>
          <p:cNvPr id="3124" name="Google Shape;3124;g2786ee0f35c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g2786ee0f35c_1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9" name="Shape 3159"/>
        <p:cNvGrpSpPr/>
        <p:nvPr/>
      </p:nvGrpSpPr>
      <p:grpSpPr>
        <a:xfrm>
          <a:off x="0" y="0"/>
          <a:ext cx="0" cy="0"/>
          <a:chOff x="0" y="0"/>
          <a:chExt cx="0" cy="0"/>
        </a:xfrm>
      </p:grpSpPr>
      <p:sp>
        <p:nvSpPr>
          <p:cNvPr id="3160" name="Google Shape;3160;g27f9c82a297_0_0: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p:spPr>
      </p:sp>
      <p:sp>
        <p:nvSpPr>
          <p:cNvPr id="3161" name="Google Shape;3161;g27f9c82a297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g27f9c82a297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7" name="Shape 3177"/>
        <p:cNvGrpSpPr/>
        <p:nvPr/>
      </p:nvGrpSpPr>
      <p:grpSpPr>
        <a:xfrm>
          <a:off x="0" y="0"/>
          <a:ext cx="0" cy="0"/>
          <a:chOff x="0" y="0"/>
          <a:chExt cx="0" cy="0"/>
        </a:xfrm>
      </p:grpSpPr>
      <p:sp>
        <p:nvSpPr>
          <p:cNvPr id="3178" name="Google Shape;3178;g2f95f670c14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179" name="Google Shape;3179;g2f95f670c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9" name="Shape 3199"/>
        <p:cNvGrpSpPr/>
        <p:nvPr/>
      </p:nvGrpSpPr>
      <p:grpSpPr>
        <a:xfrm>
          <a:off x="0" y="0"/>
          <a:ext cx="0" cy="0"/>
          <a:chOff x="0" y="0"/>
          <a:chExt cx="0" cy="0"/>
        </a:xfrm>
      </p:grpSpPr>
      <p:sp>
        <p:nvSpPr>
          <p:cNvPr id="3200" name="Google Shape;3200;g2f95f670c14_0_4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201" name="Google Shape;3201;g2f95f670c1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1" name="Shape 3261"/>
        <p:cNvGrpSpPr/>
        <p:nvPr/>
      </p:nvGrpSpPr>
      <p:grpSpPr>
        <a:xfrm>
          <a:off x="0" y="0"/>
          <a:ext cx="0" cy="0"/>
          <a:chOff x="0" y="0"/>
          <a:chExt cx="0" cy="0"/>
        </a:xfrm>
      </p:grpSpPr>
      <p:sp>
        <p:nvSpPr>
          <p:cNvPr id="3262" name="Google Shape;3262;g388ca6baf8b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263" name="Google Shape;3263;g388ca6baf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1" name="Shape 3301"/>
        <p:cNvGrpSpPr/>
        <p:nvPr/>
      </p:nvGrpSpPr>
      <p:grpSpPr>
        <a:xfrm>
          <a:off x="0" y="0"/>
          <a:ext cx="0" cy="0"/>
          <a:chOff x="0" y="0"/>
          <a:chExt cx="0" cy="0"/>
        </a:xfrm>
      </p:grpSpPr>
      <p:sp>
        <p:nvSpPr>
          <p:cNvPr id="3302" name="Google Shape;3302;g3358926f2aa_1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303" name="Google Shape;3303;g3358926f2a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5" name="Shape 3335"/>
        <p:cNvGrpSpPr/>
        <p:nvPr/>
      </p:nvGrpSpPr>
      <p:grpSpPr>
        <a:xfrm>
          <a:off x="0" y="0"/>
          <a:ext cx="0" cy="0"/>
          <a:chOff x="0" y="0"/>
          <a:chExt cx="0" cy="0"/>
        </a:xfrm>
      </p:grpSpPr>
      <p:sp>
        <p:nvSpPr>
          <p:cNvPr id="3336" name="Google Shape;3336;g30ba665859a_1_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337" name="Google Shape;3337;g30ba665859a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7" name="Shape 3367"/>
        <p:cNvGrpSpPr/>
        <p:nvPr/>
      </p:nvGrpSpPr>
      <p:grpSpPr>
        <a:xfrm>
          <a:off x="0" y="0"/>
          <a:ext cx="0" cy="0"/>
          <a:chOff x="0" y="0"/>
          <a:chExt cx="0" cy="0"/>
        </a:xfrm>
      </p:grpSpPr>
      <p:sp>
        <p:nvSpPr>
          <p:cNvPr id="3368" name="Google Shape;3368;g3016347af70_0_38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369" name="Google Shape;3369;g3016347af70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Medallion architecture</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0" name="Shape 3420"/>
        <p:cNvGrpSpPr/>
        <p:nvPr/>
      </p:nvGrpSpPr>
      <p:grpSpPr>
        <a:xfrm>
          <a:off x="0" y="0"/>
          <a:ext cx="0" cy="0"/>
          <a:chOff x="0" y="0"/>
          <a:chExt cx="0" cy="0"/>
        </a:xfrm>
      </p:grpSpPr>
      <p:sp>
        <p:nvSpPr>
          <p:cNvPr id="3421" name="Google Shape;3421;g3016347af70_0_50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22" name="Google Shape;3422;g3016347af70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pipeline</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6" name="Shape 3436"/>
        <p:cNvGrpSpPr/>
        <p:nvPr/>
      </p:nvGrpSpPr>
      <p:grpSpPr>
        <a:xfrm>
          <a:off x="0" y="0"/>
          <a:ext cx="0" cy="0"/>
          <a:chOff x="0" y="0"/>
          <a:chExt cx="0" cy="0"/>
        </a:xfrm>
      </p:grpSpPr>
      <p:sp>
        <p:nvSpPr>
          <p:cNvPr id="3437" name="Google Shape;3437;g3016347af70_0_51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38" name="Google Shape;3438;g3016347af70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Incremental stream processing 1</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8" name="Shape 3448"/>
        <p:cNvGrpSpPr/>
        <p:nvPr/>
      </p:nvGrpSpPr>
      <p:grpSpPr>
        <a:xfrm>
          <a:off x="0" y="0"/>
          <a:ext cx="0" cy="0"/>
          <a:chOff x="0" y="0"/>
          <a:chExt cx="0" cy="0"/>
        </a:xfrm>
      </p:grpSpPr>
      <p:sp>
        <p:nvSpPr>
          <p:cNvPr id="3449" name="Google Shape;3449;g3016347af70_0_52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50" name="Google Shape;3450;g3016347af70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Incremental stream processing 2</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2" name="Shape 3462"/>
        <p:cNvGrpSpPr/>
        <p:nvPr/>
      </p:nvGrpSpPr>
      <p:grpSpPr>
        <a:xfrm>
          <a:off x="0" y="0"/>
          <a:ext cx="0" cy="0"/>
          <a:chOff x="0" y="0"/>
          <a:chExt cx="0" cy="0"/>
        </a:xfrm>
      </p:grpSpPr>
      <p:sp>
        <p:nvSpPr>
          <p:cNvPr id="3463" name="Google Shape;3463;g3016347af70_0_54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64" name="Google Shape;3464;g3016347af70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Batch transformation </a:t>
            </a:r>
            <a:r>
              <a:rPr lang="en">
                <a:solidFill>
                  <a:schemeClr val="dk1"/>
                </a:solidFill>
              </a:rPr>
              <a:t>out-of-order</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2" name="Shape 3482"/>
        <p:cNvGrpSpPr/>
        <p:nvPr/>
      </p:nvGrpSpPr>
      <p:grpSpPr>
        <a:xfrm>
          <a:off x="0" y="0"/>
          <a:ext cx="0" cy="0"/>
          <a:chOff x="0" y="0"/>
          <a:chExt cx="0" cy="0"/>
        </a:xfrm>
      </p:grpSpPr>
      <p:sp>
        <p:nvSpPr>
          <p:cNvPr id="3483" name="Google Shape;3483;g3016347af70_0_55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84" name="Google Shape;3484;g3016347af70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Batch transformation reprocess</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6" name="Shape 3506"/>
        <p:cNvGrpSpPr/>
        <p:nvPr/>
      </p:nvGrpSpPr>
      <p:grpSpPr>
        <a:xfrm>
          <a:off x="0" y="0"/>
          <a:ext cx="0" cy="0"/>
          <a:chOff x="0" y="0"/>
          <a:chExt cx="0" cy="0"/>
        </a:xfrm>
      </p:grpSpPr>
      <p:sp>
        <p:nvSpPr>
          <p:cNvPr id="3507" name="Google Shape;3507;g3016347af70_0_58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08" name="Google Shape;3508;g3016347af70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table</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1" name="Shape 3521"/>
        <p:cNvGrpSpPr/>
        <p:nvPr/>
      </p:nvGrpSpPr>
      <p:grpSpPr>
        <a:xfrm>
          <a:off x="0" y="0"/>
          <a:ext cx="0" cy="0"/>
          <a:chOff x="0" y="0"/>
          <a:chExt cx="0" cy="0"/>
        </a:xfrm>
      </p:grpSpPr>
      <p:sp>
        <p:nvSpPr>
          <p:cNvPr id="3522" name="Google Shape;3522;g3016347af70_0_59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23" name="Google Shape;3523;g3016347af70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regular view</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1" name="Shape 3531"/>
        <p:cNvGrpSpPr/>
        <p:nvPr/>
      </p:nvGrpSpPr>
      <p:grpSpPr>
        <a:xfrm>
          <a:off x="0" y="0"/>
          <a:ext cx="0" cy="0"/>
          <a:chOff x="0" y="0"/>
          <a:chExt cx="0" cy="0"/>
        </a:xfrm>
      </p:grpSpPr>
      <p:sp>
        <p:nvSpPr>
          <p:cNvPr id="3532" name="Google Shape;3532;g3016347af70_0_60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33" name="Google Shape;3533;g3016347af70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materialized view</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5" name="Shape 3545"/>
        <p:cNvGrpSpPr/>
        <p:nvPr/>
      </p:nvGrpSpPr>
      <p:grpSpPr>
        <a:xfrm>
          <a:off x="0" y="0"/>
          <a:ext cx="0" cy="0"/>
          <a:chOff x="0" y="0"/>
          <a:chExt cx="0" cy="0"/>
        </a:xfrm>
      </p:grpSpPr>
      <p:sp>
        <p:nvSpPr>
          <p:cNvPr id="3546" name="Google Shape;3546;g3016347af70_0_61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47" name="Google Shape;3547;g3016347af70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MVs kept up to date.</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2" name="Shape 3562"/>
        <p:cNvGrpSpPr/>
        <p:nvPr/>
      </p:nvGrpSpPr>
      <p:grpSpPr>
        <a:xfrm>
          <a:off x="0" y="0"/>
          <a:ext cx="0" cy="0"/>
          <a:chOff x="0" y="0"/>
          <a:chExt cx="0" cy="0"/>
        </a:xfrm>
      </p:grpSpPr>
      <p:sp>
        <p:nvSpPr>
          <p:cNvPr id="3563" name="Google Shape;3563;g3016347af70_0_63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64" name="Google Shape;3564;g3016347af70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Materialized views.</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2" name="Shape 3572"/>
        <p:cNvGrpSpPr/>
        <p:nvPr/>
      </p:nvGrpSpPr>
      <p:grpSpPr>
        <a:xfrm>
          <a:off x="0" y="0"/>
          <a:ext cx="0" cy="0"/>
          <a:chOff x="0" y="0"/>
          <a:chExt cx="0" cy="0"/>
        </a:xfrm>
      </p:grpSpPr>
      <p:sp>
        <p:nvSpPr>
          <p:cNvPr id="3573" name="Google Shape;3573;g3016347af70_0_64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74" name="Google Shape;3574;g3016347af70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Streaming tables.</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2" name="Shape 3582"/>
        <p:cNvGrpSpPr/>
        <p:nvPr/>
      </p:nvGrpSpPr>
      <p:grpSpPr>
        <a:xfrm>
          <a:off x="0" y="0"/>
          <a:ext cx="0" cy="0"/>
          <a:chOff x="0" y="0"/>
          <a:chExt cx="0" cy="0"/>
        </a:xfrm>
      </p:grpSpPr>
      <p:sp>
        <p:nvSpPr>
          <p:cNvPr id="3583" name="Google Shape;3583;g3016347af70_0_65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84" name="Google Shape;3584;g3016347af70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9" name="Shape 3609"/>
        <p:cNvGrpSpPr/>
        <p:nvPr/>
      </p:nvGrpSpPr>
      <p:grpSpPr>
        <a:xfrm>
          <a:off x="0" y="0"/>
          <a:ext cx="0" cy="0"/>
          <a:chOff x="0" y="0"/>
          <a:chExt cx="0" cy="0"/>
        </a:xfrm>
      </p:grpSpPr>
      <p:sp>
        <p:nvSpPr>
          <p:cNvPr id="3610" name="Google Shape;3610;g314a4d9dd4e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11" name="Google Shape;3611;g314a4d9dd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3" name="Shape 3633"/>
        <p:cNvGrpSpPr/>
        <p:nvPr/>
      </p:nvGrpSpPr>
      <p:grpSpPr>
        <a:xfrm>
          <a:off x="0" y="0"/>
          <a:ext cx="0" cy="0"/>
          <a:chOff x="0" y="0"/>
          <a:chExt cx="0" cy="0"/>
        </a:xfrm>
      </p:grpSpPr>
      <p:sp>
        <p:nvSpPr>
          <p:cNvPr id="3634" name="Google Shape;3634;g31a0cb06421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35" name="Google Shape;3635;g31a0cb064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0" name="Shape 3650"/>
        <p:cNvGrpSpPr/>
        <p:nvPr/>
      </p:nvGrpSpPr>
      <p:grpSpPr>
        <a:xfrm>
          <a:off x="0" y="0"/>
          <a:ext cx="0" cy="0"/>
          <a:chOff x="0" y="0"/>
          <a:chExt cx="0" cy="0"/>
        </a:xfrm>
      </p:grpSpPr>
      <p:sp>
        <p:nvSpPr>
          <p:cNvPr id="3651" name="Google Shape;3651;g31a0cb06421_0_598:notes"/>
          <p:cNvSpPr/>
          <p:nvPr>
            <p:ph idx="2" type="sldImg"/>
          </p:nvPr>
        </p:nvSpPr>
        <p:spPr>
          <a:xfrm>
            <a:off x="382062"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52" name="Google Shape;3652;g31a0cb06421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8.30 mins up to here</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9" name="Shape 3669"/>
        <p:cNvGrpSpPr/>
        <p:nvPr/>
      </p:nvGrpSpPr>
      <p:grpSpPr>
        <a:xfrm>
          <a:off x="0" y="0"/>
          <a:ext cx="0" cy="0"/>
          <a:chOff x="0" y="0"/>
          <a:chExt cx="0" cy="0"/>
        </a:xfrm>
      </p:grpSpPr>
      <p:sp>
        <p:nvSpPr>
          <p:cNvPr id="3670" name="Google Shape;3670;g31a0cb06421_0_1000:notes"/>
          <p:cNvSpPr/>
          <p:nvPr>
            <p:ph idx="2" type="sldImg"/>
          </p:nvPr>
        </p:nvSpPr>
        <p:spPr>
          <a:xfrm>
            <a:off x="382062"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71" name="Google Shape;3671;g31a0cb06421_0_1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8.30 mins up to here</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8" name="Shape 3688"/>
        <p:cNvGrpSpPr/>
        <p:nvPr/>
      </p:nvGrpSpPr>
      <p:grpSpPr>
        <a:xfrm>
          <a:off x="0" y="0"/>
          <a:ext cx="0" cy="0"/>
          <a:chOff x="0" y="0"/>
          <a:chExt cx="0" cy="0"/>
        </a:xfrm>
      </p:grpSpPr>
      <p:sp>
        <p:nvSpPr>
          <p:cNvPr id="3689" name="Google Shape;3689;g31a0cb06421_0_945:notes"/>
          <p:cNvSpPr/>
          <p:nvPr>
            <p:ph idx="2" type="sldImg"/>
          </p:nvPr>
        </p:nvSpPr>
        <p:spPr>
          <a:xfrm>
            <a:off x="382062"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90" name="Google Shape;3690;g31a0cb06421_0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8.30 mins up to here</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5" name="Shape 3705"/>
        <p:cNvGrpSpPr/>
        <p:nvPr/>
      </p:nvGrpSpPr>
      <p:grpSpPr>
        <a:xfrm>
          <a:off x="0" y="0"/>
          <a:ext cx="0" cy="0"/>
          <a:chOff x="0" y="0"/>
          <a:chExt cx="0" cy="0"/>
        </a:xfrm>
      </p:grpSpPr>
      <p:sp>
        <p:nvSpPr>
          <p:cNvPr id="3706" name="Google Shape;3706;g31a0cb06421_0_1024:notes"/>
          <p:cNvSpPr/>
          <p:nvPr>
            <p:ph idx="2" type="sldImg"/>
          </p:nvPr>
        </p:nvSpPr>
        <p:spPr>
          <a:xfrm>
            <a:off x="382062"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707" name="Google Shape;3707;g31a0cb06421_0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8.30 mins up to here</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8" name="Shape 3728"/>
        <p:cNvGrpSpPr/>
        <p:nvPr/>
      </p:nvGrpSpPr>
      <p:grpSpPr>
        <a:xfrm>
          <a:off x="0" y="0"/>
          <a:ext cx="0" cy="0"/>
          <a:chOff x="0" y="0"/>
          <a:chExt cx="0" cy="0"/>
        </a:xfrm>
      </p:grpSpPr>
      <p:sp>
        <p:nvSpPr>
          <p:cNvPr id="3729" name="Google Shape;3729;g31a0cb06421_0_969:notes"/>
          <p:cNvSpPr/>
          <p:nvPr>
            <p:ph idx="2" type="sldImg"/>
          </p:nvPr>
        </p:nvSpPr>
        <p:spPr>
          <a:xfrm>
            <a:off x="382062"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730" name="Google Shape;3730;g31a0cb06421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8.30 mins up to here</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6" name="Shape 3746"/>
        <p:cNvGrpSpPr/>
        <p:nvPr/>
      </p:nvGrpSpPr>
      <p:grpSpPr>
        <a:xfrm>
          <a:off x="0" y="0"/>
          <a:ext cx="0" cy="0"/>
          <a:chOff x="0" y="0"/>
          <a:chExt cx="0" cy="0"/>
        </a:xfrm>
      </p:grpSpPr>
      <p:sp>
        <p:nvSpPr>
          <p:cNvPr id="3747" name="Google Shape;3747;g32be15fc84b_0_7:notes"/>
          <p:cNvSpPr/>
          <p:nvPr>
            <p:ph idx="2" type="sldImg"/>
          </p:nvPr>
        </p:nvSpPr>
        <p:spPr>
          <a:xfrm>
            <a:off x="382062"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748" name="Google Shape;3748;g32be15fc84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8.30 mins up to here</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6" name="Shape 3776"/>
        <p:cNvGrpSpPr/>
        <p:nvPr/>
      </p:nvGrpSpPr>
      <p:grpSpPr>
        <a:xfrm>
          <a:off x="0" y="0"/>
          <a:ext cx="0" cy="0"/>
          <a:chOff x="0" y="0"/>
          <a:chExt cx="0" cy="0"/>
        </a:xfrm>
      </p:grpSpPr>
      <p:sp>
        <p:nvSpPr>
          <p:cNvPr id="3777" name="Google Shape;3777;g328586eccc6_0_24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778" name="Google Shape;3778;g328586eccc6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0" name="Shape 3810"/>
        <p:cNvGrpSpPr/>
        <p:nvPr/>
      </p:nvGrpSpPr>
      <p:grpSpPr>
        <a:xfrm>
          <a:off x="0" y="0"/>
          <a:ext cx="0" cy="0"/>
          <a:chOff x="0" y="0"/>
          <a:chExt cx="0" cy="0"/>
        </a:xfrm>
      </p:grpSpPr>
      <p:sp>
        <p:nvSpPr>
          <p:cNvPr id="3811" name="Google Shape;3811;g322bb2a02ec_0_3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812" name="Google Shape;3812;g322bb2a02e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4" name="Shape 3844"/>
        <p:cNvGrpSpPr/>
        <p:nvPr/>
      </p:nvGrpSpPr>
      <p:grpSpPr>
        <a:xfrm>
          <a:off x="0" y="0"/>
          <a:ext cx="0" cy="0"/>
          <a:chOff x="0" y="0"/>
          <a:chExt cx="0" cy="0"/>
        </a:xfrm>
      </p:grpSpPr>
      <p:sp>
        <p:nvSpPr>
          <p:cNvPr id="3845" name="Google Shape;3845;g33ab23cd006_0_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846" name="Google Shape;3846;g33ab23cd00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5" name="Shape 3895"/>
        <p:cNvGrpSpPr/>
        <p:nvPr/>
      </p:nvGrpSpPr>
      <p:grpSpPr>
        <a:xfrm>
          <a:off x="0" y="0"/>
          <a:ext cx="0" cy="0"/>
          <a:chOff x="0" y="0"/>
          <a:chExt cx="0" cy="0"/>
        </a:xfrm>
      </p:grpSpPr>
      <p:sp>
        <p:nvSpPr>
          <p:cNvPr id="3896" name="Google Shape;3896;g3516f8122d6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897" name="Google Shape;3897;g3516f8122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6" name="Shape 3946"/>
        <p:cNvGrpSpPr/>
        <p:nvPr/>
      </p:nvGrpSpPr>
      <p:grpSpPr>
        <a:xfrm>
          <a:off x="0" y="0"/>
          <a:ext cx="0" cy="0"/>
          <a:chOff x="0" y="0"/>
          <a:chExt cx="0" cy="0"/>
        </a:xfrm>
      </p:grpSpPr>
      <p:sp>
        <p:nvSpPr>
          <p:cNvPr id="3947" name="Google Shape;3947;g3496c0162b5_0_2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948" name="Google Shape;3948;g3496c0162b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6" name="Shape 3986"/>
        <p:cNvGrpSpPr/>
        <p:nvPr/>
      </p:nvGrpSpPr>
      <p:grpSpPr>
        <a:xfrm>
          <a:off x="0" y="0"/>
          <a:ext cx="0" cy="0"/>
          <a:chOff x="0" y="0"/>
          <a:chExt cx="0" cy="0"/>
        </a:xfrm>
      </p:grpSpPr>
      <p:sp>
        <p:nvSpPr>
          <p:cNvPr id="3987" name="Google Shape;3987;g3516f8122d6_0_8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988" name="Google Shape;3988;g3516f8122d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2" name="Shape 4012"/>
        <p:cNvGrpSpPr/>
        <p:nvPr/>
      </p:nvGrpSpPr>
      <p:grpSpPr>
        <a:xfrm>
          <a:off x="0" y="0"/>
          <a:ext cx="0" cy="0"/>
          <a:chOff x="0" y="0"/>
          <a:chExt cx="0" cy="0"/>
        </a:xfrm>
      </p:grpSpPr>
      <p:sp>
        <p:nvSpPr>
          <p:cNvPr id="4013" name="Google Shape;4013;g33da84c1192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014" name="Google Shape;4014;g33da84c11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8" name="Shape 4038"/>
        <p:cNvGrpSpPr/>
        <p:nvPr/>
      </p:nvGrpSpPr>
      <p:grpSpPr>
        <a:xfrm>
          <a:off x="0" y="0"/>
          <a:ext cx="0" cy="0"/>
          <a:chOff x="0" y="0"/>
          <a:chExt cx="0" cy="0"/>
        </a:xfrm>
      </p:grpSpPr>
      <p:sp>
        <p:nvSpPr>
          <p:cNvPr id="4039" name="Google Shape;4039;g33ab835e33c_0_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040" name="Google Shape;4040;g33ab835e33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3" name="Shape 4073"/>
        <p:cNvGrpSpPr/>
        <p:nvPr/>
      </p:nvGrpSpPr>
      <p:grpSpPr>
        <a:xfrm>
          <a:off x="0" y="0"/>
          <a:ext cx="0" cy="0"/>
          <a:chOff x="0" y="0"/>
          <a:chExt cx="0" cy="0"/>
        </a:xfrm>
      </p:grpSpPr>
      <p:sp>
        <p:nvSpPr>
          <p:cNvPr id="4074" name="Google Shape;4074;g33c83eb06fd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075" name="Google Shape;4075;g33c83eb06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9" name="Shape 4119"/>
        <p:cNvGrpSpPr/>
        <p:nvPr/>
      </p:nvGrpSpPr>
      <p:grpSpPr>
        <a:xfrm>
          <a:off x="0" y="0"/>
          <a:ext cx="0" cy="0"/>
          <a:chOff x="0" y="0"/>
          <a:chExt cx="0" cy="0"/>
        </a:xfrm>
      </p:grpSpPr>
      <p:sp>
        <p:nvSpPr>
          <p:cNvPr id="4120" name="Google Shape;4120;g33e7e0159a7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121" name="Google Shape;4121;g33e7e0159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2" name="Shape 4142"/>
        <p:cNvGrpSpPr/>
        <p:nvPr/>
      </p:nvGrpSpPr>
      <p:grpSpPr>
        <a:xfrm>
          <a:off x="0" y="0"/>
          <a:ext cx="0" cy="0"/>
          <a:chOff x="0" y="0"/>
          <a:chExt cx="0" cy="0"/>
        </a:xfrm>
      </p:grpSpPr>
      <p:sp>
        <p:nvSpPr>
          <p:cNvPr id="4143" name="Google Shape;4143;g342d60ff595_0_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144" name="Google Shape;4144;g342d60ff59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1" name="Shape 4181"/>
        <p:cNvGrpSpPr/>
        <p:nvPr/>
      </p:nvGrpSpPr>
      <p:grpSpPr>
        <a:xfrm>
          <a:off x="0" y="0"/>
          <a:ext cx="0" cy="0"/>
          <a:chOff x="0" y="0"/>
          <a:chExt cx="0" cy="0"/>
        </a:xfrm>
      </p:grpSpPr>
      <p:sp>
        <p:nvSpPr>
          <p:cNvPr id="4182" name="Google Shape;4182;g343e15f08a2_1_83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183" name="Google Shape;4183;g343e15f08a2_1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6" name="Shape 4196"/>
        <p:cNvGrpSpPr/>
        <p:nvPr/>
      </p:nvGrpSpPr>
      <p:grpSpPr>
        <a:xfrm>
          <a:off x="0" y="0"/>
          <a:ext cx="0" cy="0"/>
          <a:chOff x="0" y="0"/>
          <a:chExt cx="0" cy="0"/>
        </a:xfrm>
      </p:grpSpPr>
      <p:sp>
        <p:nvSpPr>
          <p:cNvPr id="4197" name="Google Shape;4197;g34707febf5d_0_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198" name="Google Shape;4198;g34707febf5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3" name="Shape 4223"/>
        <p:cNvGrpSpPr/>
        <p:nvPr/>
      </p:nvGrpSpPr>
      <p:grpSpPr>
        <a:xfrm>
          <a:off x="0" y="0"/>
          <a:ext cx="0" cy="0"/>
          <a:chOff x="0" y="0"/>
          <a:chExt cx="0" cy="0"/>
        </a:xfrm>
      </p:grpSpPr>
      <p:sp>
        <p:nvSpPr>
          <p:cNvPr id="4224" name="Google Shape;4224;g348644a6e0f_0_11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225" name="Google Shape;4225;g348644a6e0f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9" name="Shape 4249"/>
        <p:cNvGrpSpPr/>
        <p:nvPr/>
      </p:nvGrpSpPr>
      <p:grpSpPr>
        <a:xfrm>
          <a:off x="0" y="0"/>
          <a:ext cx="0" cy="0"/>
          <a:chOff x="0" y="0"/>
          <a:chExt cx="0" cy="0"/>
        </a:xfrm>
      </p:grpSpPr>
      <p:sp>
        <p:nvSpPr>
          <p:cNvPr id="4250" name="Google Shape;4250;g348644a6e0f_0_15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251" name="Google Shape;4251;g348644a6e0f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9" name="Shape 4259"/>
        <p:cNvGrpSpPr/>
        <p:nvPr/>
      </p:nvGrpSpPr>
      <p:grpSpPr>
        <a:xfrm>
          <a:off x="0" y="0"/>
          <a:ext cx="0" cy="0"/>
          <a:chOff x="0" y="0"/>
          <a:chExt cx="0" cy="0"/>
        </a:xfrm>
      </p:grpSpPr>
      <p:sp>
        <p:nvSpPr>
          <p:cNvPr id="4260" name="Google Shape;4260;g34ea3807fdd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261" name="Google Shape;4261;g34ea3807f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9" name="Shape 4269"/>
        <p:cNvGrpSpPr/>
        <p:nvPr/>
      </p:nvGrpSpPr>
      <p:grpSpPr>
        <a:xfrm>
          <a:off x="0" y="0"/>
          <a:ext cx="0" cy="0"/>
          <a:chOff x="0" y="0"/>
          <a:chExt cx="0" cy="0"/>
        </a:xfrm>
      </p:grpSpPr>
      <p:sp>
        <p:nvSpPr>
          <p:cNvPr id="4270" name="Google Shape;4270;g34ea3807fdd_0_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271" name="Google Shape;4271;g34ea3807fd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1" name="Shape 4281"/>
        <p:cNvGrpSpPr/>
        <p:nvPr/>
      </p:nvGrpSpPr>
      <p:grpSpPr>
        <a:xfrm>
          <a:off x="0" y="0"/>
          <a:ext cx="0" cy="0"/>
          <a:chOff x="0" y="0"/>
          <a:chExt cx="0" cy="0"/>
        </a:xfrm>
      </p:grpSpPr>
      <p:sp>
        <p:nvSpPr>
          <p:cNvPr id="4282" name="Google Shape;4282;g34ca169f001_1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283" name="Google Shape;4283;g34ca169f00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5" name="Shape 4305"/>
        <p:cNvGrpSpPr/>
        <p:nvPr/>
      </p:nvGrpSpPr>
      <p:grpSpPr>
        <a:xfrm>
          <a:off x="0" y="0"/>
          <a:ext cx="0" cy="0"/>
          <a:chOff x="0" y="0"/>
          <a:chExt cx="0" cy="0"/>
        </a:xfrm>
      </p:grpSpPr>
      <p:sp>
        <p:nvSpPr>
          <p:cNvPr id="4306" name="Google Shape;4306;g34ef5befebd_0_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07" name="Google Shape;4307;g34ef5befe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5" name="Shape 4345"/>
        <p:cNvGrpSpPr/>
        <p:nvPr/>
      </p:nvGrpSpPr>
      <p:grpSpPr>
        <a:xfrm>
          <a:off x="0" y="0"/>
          <a:ext cx="0" cy="0"/>
          <a:chOff x="0" y="0"/>
          <a:chExt cx="0" cy="0"/>
        </a:xfrm>
      </p:grpSpPr>
      <p:sp>
        <p:nvSpPr>
          <p:cNvPr id="4346" name="Google Shape;4346;g34de49ba2be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47" name="Google Shape;4347;g34de49ba2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1" name="Shape 4351"/>
        <p:cNvGrpSpPr/>
        <p:nvPr/>
      </p:nvGrpSpPr>
      <p:grpSpPr>
        <a:xfrm>
          <a:off x="0" y="0"/>
          <a:ext cx="0" cy="0"/>
          <a:chOff x="0" y="0"/>
          <a:chExt cx="0" cy="0"/>
        </a:xfrm>
      </p:grpSpPr>
      <p:sp>
        <p:nvSpPr>
          <p:cNvPr id="4352" name="Google Shape;4352;g3516f8122d6_0_29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53" name="Google Shape;4353;g3516f8122d6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7" name="Shape 4377"/>
        <p:cNvGrpSpPr/>
        <p:nvPr/>
      </p:nvGrpSpPr>
      <p:grpSpPr>
        <a:xfrm>
          <a:off x="0" y="0"/>
          <a:ext cx="0" cy="0"/>
          <a:chOff x="0" y="0"/>
          <a:chExt cx="0" cy="0"/>
        </a:xfrm>
      </p:grpSpPr>
      <p:sp>
        <p:nvSpPr>
          <p:cNvPr id="4378" name="Google Shape;4378;g361b8980696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79" name="Google Shape;4379;g361b89806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2" name="Shape 4382"/>
        <p:cNvGrpSpPr/>
        <p:nvPr/>
      </p:nvGrpSpPr>
      <p:grpSpPr>
        <a:xfrm>
          <a:off x="0" y="0"/>
          <a:ext cx="0" cy="0"/>
          <a:chOff x="0" y="0"/>
          <a:chExt cx="0" cy="0"/>
        </a:xfrm>
      </p:grpSpPr>
      <p:sp>
        <p:nvSpPr>
          <p:cNvPr id="4383" name="Google Shape;4383;g3599a89b180_0_2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84" name="Google Shape;4384;g3599a89b18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8" name="Shape 4428"/>
        <p:cNvGrpSpPr/>
        <p:nvPr/>
      </p:nvGrpSpPr>
      <p:grpSpPr>
        <a:xfrm>
          <a:off x="0" y="0"/>
          <a:ext cx="0" cy="0"/>
          <a:chOff x="0" y="0"/>
          <a:chExt cx="0" cy="0"/>
        </a:xfrm>
      </p:grpSpPr>
      <p:sp>
        <p:nvSpPr>
          <p:cNvPr id="4429" name="Google Shape;4429;g3050baa426d_0_35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430" name="Google Shape;4430;g3050baa426d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0" name="Shape 4460"/>
        <p:cNvGrpSpPr/>
        <p:nvPr/>
      </p:nvGrpSpPr>
      <p:grpSpPr>
        <a:xfrm>
          <a:off x="0" y="0"/>
          <a:ext cx="0" cy="0"/>
          <a:chOff x="0" y="0"/>
          <a:chExt cx="0" cy="0"/>
        </a:xfrm>
      </p:grpSpPr>
      <p:sp>
        <p:nvSpPr>
          <p:cNvPr id="4461" name="Google Shape;4461;g3050baa426d_0_46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462" name="Google Shape;4462;g3050baa426d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0" name="Shape 4520"/>
        <p:cNvGrpSpPr/>
        <p:nvPr/>
      </p:nvGrpSpPr>
      <p:grpSpPr>
        <a:xfrm>
          <a:off x="0" y="0"/>
          <a:ext cx="0" cy="0"/>
          <a:chOff x="0" y="0"/>
          <a:chExt cx="0" cy="0"/>
        </a:xfrm>
      </p:grpSpPr>
      <p:sp>
        <p:nvSpPr>
          <p:cNvPr id="4521" name="Google Shape;4521;g36036ed2693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522" name="Google Shape;4522;g36036ed26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6" name="Shape 4536"/>
        <p:cNvGrpSpPr/>
        <p:nvPr/>
      </p:nvGrpSpPr>
      <p:grpSpPr>
        <a:xfrm>
          <a:off x="0" y="0"/>
          <a:ext cx="0" cy="0"/>
          <a:chOff x="0" y="0"/>
          <a:chExt cx="0" cy="0"/>
        </a:xfrm>
      </p:grpSpPr>
      <p:sp>
        <p:nvSpPr>
          <p:cNvPr id="4537" name="Google Shape;4537;g36036ed2693_0_13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538" name="Google Shape;4538;g36036ed269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7" name="Shape 4547"/>
        <p:cNvGrpSpPr/>
        <p:nvPr/>
      </p:nvGrpSpPr>
      <p:grpSpPr>
        <a:xfrm>
          <a:off x="0" y="0"/>
          <a:ext cx="0" cy="0"/>
          <a:chOff x="0" y="0"/>
          <a:chExt cx="0" cy="0"/>
        </a:xfrm>
      </p:grpSpPr>
      <p:sp>
        <p:nvSpPr>
          <p:cNvPr id="4548" name="Google Shape;4548;g36036ed2693_0_1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549" name="Google Shape;4549;g36036ed2693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6" name="Shape 4566"/>
        <p:cNvGrpSpPr/>
        <p:nvPr/>
      </p:nvGrpSpPr>
      <p:grpSpPr>
        <a:xfrm>
          <a:off x="0" y="0"/>
          <a:ext cx="0" cy="0"/>
          <a:chOff x="0" y="0"/>
          <a:chExt cx="0" cy="0"/>
        </a:xfrm>
      </p:grpSpPr>
      <p:sp>
        <p:nvSpPr>
          <p:cNvPr id="4567" name="Google Shape;4567;g36036ed2693_0_19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568" name="Google Shape;4568;g36036ed2693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4" name="Shape 4574"/>
        <p:cNvGrpSpPr/>
        <p:nvPr/>
      </p:nvGrpSpPr>
      <p:grpSpPr>
        <a:xfrm>
          <a:off x="0" y="0"/>
          <a:ext cx="0" cy="0"/>
          <a:chOff x="0" y="0"/>
          <a:chExt cx="0" cy="0"/>
        </a:xfrm>
      </p:grpSpPr>
      <p:sp>
        <p:nvSpPr>
          <p:cNvPr id="4575" name="Google Shape;4575;g366c53a02c6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576" name="Google Shape;4576;g366c53a02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9" name="Shape 4629"/>
        <p:cNvGrpSpPr/>
        <p:nvPr/>
      </p:nvGrpSpPr>
      <p:grpSpPr>
        <a:xfrm>
          <a:off x="0" y="0"/>
          <a:ext cx="0" cy="0"/>
          <a:chOff x="0" y="0"/>
          <a:chExt cx="0" cy="0"/>
        </a:xfrm>
      </p:grpSpPr>
      <p:sp>
        <p:nvSpPr>
          <p:cNvPr id="4630" name="Google Shape;4630;g366c53a02c6_0_12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631" name="Google Shape;4631;g366c53a02c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8" name="Shape 4688"/>
        <p:cNvGrpSpPr/>
        <p:nvPr/>
      </p:nvGrpSpPr>
      <p:grpSpPr>
        <a:xfrm>
          <a:off x="0" y="0"/>
          <a:ext cx="0" cy="0"/>
          <a:chOff x="0" y="0"/>
          <a:chExt cx="0" cy="0"/>
        </a:xfrm>
      </p:grpSpPr>
      <p:sp>
        <p:nvSpPr>
          <p:cNvPr id="4689" name="Google Shape;4689;g366c53a02c6_0_32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690" name="Google Shape;4690;g366c53a02c6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5" name="Shape 4755"/>
        <p:cNvGrpSpPr/>
        <p:nvPr/>
      </p:nvGrpSpPr>
      <p:grpSpPr>
        <a:xfrm>
          <a:off x="0" y="0"/>
          <a:ext cx="0" cy="0"/>
          <a:chOff x="0" y="0"/>
          <a:chExt cx="0" cy="0"/>
        </a:xfrm>
      </p:grpSpPr>
      <p:sp>
        <p:nvSpPr>
          <p:cNvPr id="4756" name="Google Shape;4756;g366c53a02c6_0_19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757" name="Google Shape;4757;g366c53a02c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5" name="Shape 4815"/>
        <p:cNvGrpSpPr/>
        <p:nvPr/>
      </p:nvGrpSpPr>
      <p:grpSpPr>
        <a:xfrm>
          <a:off x="0" y="0"/>
          <a:ext cx="0" cy="0"/>
          <a:chOff x="0" y="0"/>
          <a:chExt cx="0" cy="0"/>
        </a:xfrm>
      </p:grpSpPr>
      <p:sp>
        <p:nvSpPr>
          <p:cNvPr id="4816" name="Google Shape;4816;g375e935a5b3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817" name="Google Shape;4817;g375e935a5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1" name="Shape 4851"/>
        <p:cNvGrpSpPr/>
        <p:nvPr/>
      </p:nvGrpSpPr>
      <p:grpSpPr>
        <a:xfrm>
          <a:off x="0" y="0"/>
          <a:ext cx="0" cy="0"/>
          <a:chOff x="0" y="0"/>
          <a:chExt cx="0" cy="0"/>
        </a:xfrm>
      </p:grpSpPr>
      <p:sp>
        <p:nvSpPr>
          <p:cNvPr id="4852" name="Google Shape;4852;g375e935a5b3_0_12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853" name="Google Shape;4853;g375e935a5b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3" name="Shape 4903"/>
        <p:cNvGrpSpPr/>
        <p:nvPr/>
      </p:nvGrpSpPr>
      <p:grpSpPr>
        <a:xfrm>
          <a:off x="0" y="0"/>
          <a:ext cx="0" cy="0"/>
          <a:chOff x="0" y="0"/>
          <a:chExt cx="0" cy="0"/>
        </a:xfrm>
      </p:grpSpPr>
      <p:sp>
        <p:nvSpPr>
          <p:cNvPr id="4904" name="Google Shape;4904;g375e935a5b3_0_21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905" name="Google Shape;4905;g375e935a5b3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8" name="Shape 4978"/>
        <p:cNvGrpSpPr/>
        <p:nvPr/>
      </p:nvGrpSpPr>
      <p:grpSpPr>
        <a:xfrm>
          <a:off x="0" y="0"/>
          <a:ext cx="0" cy="0"/>
          <a:chOff x="0" y="0"/>
          <a:chExt cx="0" cy="0"/>
        </a:xfrm>
      </p:grpSpPr>
      <p:sp>
        <p:nvSpPr>
          <p:cNvPr id="4979" name="Google Shape;4979;g384a429161f_0_4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980" name="Google Shape;4980;g384a429161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3" name="Shape 5023"/>
        <p:cNvGrpSpPr/>
        <p:nvPr/>
      </p:nvGrpSpPr>
      <p:grpSpPr>
        <a:xfrm>
          <a:off x="0" y="0"/>
          <a:ext cx="0" cy="0"/>
          <a:chOff x="0" y="0"/>
          <a:chExt cx="0" cy="0"/>
        </a:xfrm>
      </p:grpSpPr>
      <p:sp>
        <p:nvSpPr>
          <p:cNvPr id="5024" name="Google Shape;5024;g37b69a3d980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025" name="Google Shape;5025;g37b69a3d9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1" name="Shape 5051"/>
        <p:cNvGrpSpPr/>
        <p:nvPr/>
      </p:nvGrpSpPr>
      <p:grpSpPr>
        <a:xfrm>
          <a:off x="0" y="0"/>
          <a:ext cx="0" cy="0"/>
          <a:chOff x="0" y="0"/>
          <a:chExt cx="0" cy="0"/>
        </a:xfrm>
      </p:grpSpPr>
      <p:sp>
        <p:nvSpPr>
          <p:cNvPr id="5052" name="Google Shape;5052;g37b69a3d980_0_2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053" name="Google Shape;5053;g37b69a3d98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6" name="Shape 5076"/>
        <p:cNvGrpSpPr/>
        <p:nvPr/>
      </p:nvGrpSpPr>
      <p:grpSpPr>
        <a:xfrm>
          <a:off x="0" y="0"/>
          <a:ext cx="0" cy="0"/>
          <a:chOff x="0" y="0"/>
          <a:chExt cx="0" cy="0"/>
        </a:xfrm>
      </p:grpSpPr>
      <p:sp>
        <p:nvSpPr>
          <p:cNvPr id="5077" name="Google Shape;5077;g366c53a02c6_0_26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078" name="Google Shape;5078;g366c53a02c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6" name="Shape 5136"/>
        <p:cNvGrpSpPr/>
        <p:nvPr/>
      </p:nvGrpSpPr>
      <p:grpSpPr>
        <a:xfrm>
          <a:off x="0" y="0"/>
          <a:ext cx="0" cy="0"/>
          <a:chOff x="0" y="0"/>
          <a:chExt cx="0" cy="0"/>
        </a:xfrm>
      </p:grpSpPr>
      <p:sp>
        <p:nvSpPr>
          <p:cNvPr id="5137" name="Google Shape;5137;g398b90fa106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138" name="Google Shape;5138;g398b90fa1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6" name="Shape 5186"/>
        <p:cNvGrpSpPr/>
        <p:nvPr/>
      </p:nvGrpSpPr>
      <p:grpSpPr>
        <a:xfrm>
          <a:off x="0" y="0"/>
          <a:ext cx="0" cy="0"/>
          <a:chOff x="0" y="0"/>
          <a:chExt cx="0" cy="0"/>
        </a:xfrm>
      </p:grpSpPr>
      <p:sp>
        <p:nvSpPr>
          <p:cNvPr id="5187" name="Google Shape;5187;g398b90fa106_0_10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188" name="Google Shape;5188;g398b90fa10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6" name="Shape 5246"/>
        <p:cNvGrpSpPr/>
        <p:nvPr/>
      </p:nvGrpSpPr>
      <p:grpSpPr>
        <a:xfrm>
          <a:off x="0" y="0"/>
          <a:ext cx="0" cy="0"/>
          <a:chOff x="0" y="0"/>
          <a:chExt cx="0" cy="0"/>
        </a:xfrm>
      </p:grpSpPr>
      <p:sp>
        <p:nvSpPr>
          <p:cNvPr id="5247" name="Google Shape;5247;g3693342c2a7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248" name="Google Shape;5248;g3693342c2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4" name="Shape 5254"/>
        <p:cNvGrpSpPr/>
        <p:nvPr/>
      </p:nvGrpSpPr>
      <p:grpSpPr>
        <a:xfrm>
          <a:off x="0" y="0"/>
          <a:ext cx="0" cy="0"/>
          <a:chOff x="0" y="0"/>
          <a:chExt cx="0" cy="0"/>
        </a:xfrm>
      </p:grpSpPr>
      <p:sp>
        <p:nvSpPr>
          <p:cNvPr id="5255" name="Google Shape;5255;g371e3977f5a_0_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256" name="Google Shape;5256;g371e3977f5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0" name="Shape 5280"/>
        <p:cNvGrpSpPr/>
        <p:nvPr/>
      </p:nvGrpSpPr>
      <p:grpSpPr>
        <a:xfrm>
          <a:off x="0" y="0"/>
          <a:ext cx="0" cy="0"/>
          <a:chOff x="0" y="0"/>
          <a:chExt cx="0" cy="0"/>
        </a:xfrm>
      </p:grpSpPr>
      <p:sp>
        <p:nvSpPr>
          <p:cNvPr id="5281" name="Google Shape;5281;g3771f1e4a15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282" name="Google Shape;5282;g3771f1e4a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1" name="Shape 5301"/>
        <p:cNvGrpSpPr/>
        <p:nvPr/>
      </p:nvGrpSpPr>
      <p:grpSpPr>
        <a:xfrm>
          <a:off x="0" y="0"/>
          <a:ext cx="0" cy="0"/>
          <a:chOff x="0" y="0"/>
          <a:chExt cx="0" cy="0"/>
        </a:xfrm>
      </p:grpSpPr>
      <p:sp>
        <p:nvSpPr>
          <p:cNvPr id="5302" name="Google Shape;5302;g364d9c5c291_0_7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303" name="Google Shape;5303;g364d9c5c29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5" name="Shape 5325"/>
        <p:cNvGrpSpPr/>
        <p:nvPr/>
      </p:nvGrpSpPr>
      <p:grpSpPr>
        <a:xfrm>
          <a:off x="0" y="0"/>
          <a:ext cx="0" cy="0"/>
          <a:chOff x="0" y="0"/>
          <a:chExt cx="0" cy="0"/>
        </a:xfrm>
      </p:grpSpPr>
      <p:sp>
        <p:nvSpPr>
          <p:cNvPr id="5326" name="Google Shape;5326;g384aa9250d1_1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327" name="Google Shape;5327;g384aa9250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9" name="Shape 5349"/>
        <p:cNvGrpSpPr/>
        <p:nvPr/>
      </p:nvGrpSpPr>
      <p:grpSpPr>
        <a:xfrm>
          <a:off x="0" y="0"/>
          <a:ext cx="0" cy="0"/>
          <a:chOff x="0" y="0"/>
          <a:chExt cx="0" cy="0"/>
        </a:xfrm>
      </p:grpSpPr>
      <p:sp>
        <p:nvSpPr>
          <p:cNvPr id="5350" name="Google Shape;5350;g39bca7abc4f_4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351" name="Google Shape;5351;g39bca7abc4f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507" y="992767"/>
            <a:ext cx="11358000" cy="27369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p2"/>
          <p:cNvSpPr txBox="1"/>
          <p:nvPr>
            <p:ph idx="1" type="subTitle"/>
          </p:nvPr>
        </p:nvSpPr>
        <p:spPr>
          <a:xfrm>
            <a:off x="415496" y="3778833"/>
            <a:ext cx="11358000" cy="1056900"/>
          </a:xfrm>
          <a:prstGeom prst="rect">
            <a:avLst/>
          </a:prstGeom>
        </p:spPr>
        <p:txBody>
          <a:bodyPr anchorCtr="0" anchor="t" bIns="121875" lIns="121875" spcFirstLastPara="1" rIns="121875" wrap="square" tIns="121875">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496" y="2867800"/>
            <a:ext cx="11358000" cy="1122300"/>
          </a:xfrm>
          <a:prstGeom prst="rect">
            <a:avLst/>
          </a:prstGeom>
        </p:spPr>
        <p:txBody>
          <a:bodyPr anchorCtr="0" anchor="ctr" bIns="121875" lIns="121875" spcFirstLastPara="1" rIns="121875" wrap="square" tIns="12187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3"/>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p4"/>
          <p:cNvSpPr txBox="1"/>
          <p:nvPr>
            <p:ph idx="1" type="body"/>
          </p:nvPr>
        </p:nvSpPr>
        <p:spPr>
          <a:xfrm>
            <a:off x="415496" y="1536633"/>
            <a:ext cx="11358000" cy="4555200"/>
          </a:xfrm>
          <a:prstGeom prst="rect">
            <a:avLst/>
          </a:prstGeom>
        </p:spPr>
        <p:txBody>
          <a:bodyPr anchorCtr="0" anchor="t" bIns="121875" lIns="121875" spcFirstLastPara="1" rIns="121875" wrap="square" tIns="121875">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5"/>
          <p:cNvSpPr txBox="1"/>
          <p:nvPr>
            <p:ph idx="1" type="body"/>
          </p:nvPr>
        </p:nvSpPr>
        <p:spPr>
          <a:xfrm>
            <a:off x="415496" y="1536633"/>
            <a:ext cx="5331900" cy="4555200"/>
          </a:xfrm>
          <a:prstGeom prst="rect">
            <a:avLst/>
          </a:prstGeom>
        </p:spPr>
        <p:txBody>
          <a:bodyPr anchorCtr="0" anchor="t" bIns="121875" lIns="121875" spcFirstLastPara="1" rIns="121875" wrap="square" tIns="121875">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6441588" y="1536633"/>
            <a:ext cx="5331900" cy="4555200"/>
          </a:xfrm>
          <a:prstGeom prst="rect">
            <a:avLst/>
          </a:prstGeom>
        </p:spPr>
        <p:txBody>
          <a:bodyPr anchorCtr="0" anchor="t" bIns="121875" lIns="121875" spcFirstLastPara="1" rIns="121875" wrap="square" tIns="121875">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p6"/>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496" y="740800"/>
            <a:ext cx="3743100" cy="1007700"/>
          </a:xfrm>
          <a:prstGeom prst="rect">
            <a:avLst/>
          </a:prstGeom>
        </p:spPr>
        <p:txBody>
          <a:bodyPr anchorCtr="0" anchor="b" bIns="121875" lIns="121875" spcFirstLastPara="1" rIns="121875" wrap="square" tIns="121875">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p7"/>
          <p:cNvSpPr txBox="1"/>
          <p:nvPr>
            <p:ph idx="1" type="body"/>
          </p:nvPr>
        </p:nvSpPr>
        <p:spPr>
          <a:xfrm>
            <a:off x="415496" y="1852800"/>
            <a:ext cx="3743100" cy="4239300"/>
          </a:xfrm>
          <a:prstGeom prst="rect">
            <a:avLst/>
          </a:prstGeom>
        </p:spPr>
        <p:txBody>
          <a:bodyPr anchorCtr="0" anchor="t" bIns="121875" lIns="121875" spcFirstLastPara="1" rIns="121875" wrap="square" tIns="121875">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503" y="600200"/>
            <a:ext cx="8488200" cy="5454300"/>
          </a:xfrm>
          <a:prstGeom prst="rect">
            <a:avLst/>
          </a:prstGeom>
        </p:spPr>
        <p:txBody>
          <a:bodyPr anchorCtr="0" anchor="ctr" bIns="121875" lIns="121875" spcFirstLastPara="1" rIns="121875" wrap="square" tIns="121875">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p8"/>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3911" y="1644233"/>
            <a:ext cx="5392200" cy="19764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p9"/>
          <p:cNvSpPr txBox="1"/>
          <p:nvPr>
            <p:ph idx="1" type="subTitle"/>
          </p:nvPr>
        </p:nvSpPr>
        <p:spPr>
          <a:xfrm>
            <a:off x="353911" y="3737433"/>
            <a:ext cx="5392200" cy="1646700"/>
          </a:xfrm>
          <a:prstGeom prst="rect">
            <a:avLst/>
          </a:prstGeom>
        </p:spPr>
        <p:txBody>
          <a:bodyPr anchorCtr="0" anchor="t" bIns="121875" lIns="121875" spcFirstLastPara="1" rIns="121875" wrap="square" tIns="12187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4352" y="965433"/>
            <a:ext cx="5114700" cy="4926900"/>
          </a:xfrm>
          <a:prstGeom prst="rect">
            <a:avLst/>
          </a:prstGeom>
        </p:spPr>
        <p:txBody>
          <a:bodyPr anchorCtr="0" anchor="ctr" bIns="121875" lIns="121875" spcFirstLastPara="1" rIns="121875" wrap="square" tIns="121875">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p9"/>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496" y="5640767"/>
            <a:ext cx="7996500" cy="806700"/>
          </a:xfrm>
          <a:prstGeom prst="rect">
            <a:avLst/>
          </a:prstGeom>
        </p:spPr>
        <p:txBody>
          <a:bodyPr anchorCtr="0" anchor="ctr" bIns="121875" lIns="121875" spcFirstLastPara="1" rIns="121875" wrap="square" tIns="121875">
            <a:norm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496" y="1474833"/>
            <a:ext cx="11358000" cy="26181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496" y="4202967"/>
            <a:ext cx="11358000" cy="1734300"/>
          </a:xfrm>
          <a:prstGeom prst="rect">
            <a:avLst/>
          </a:prstGeom>
        </p:spPr>
        <p:txBody>
          <a:bodyPr anchorCtr="0" anchor="t" bIns="121875" lIns="121875" spcFirstLastPara="1" rIns="121875" wrap="square" tIns="121875">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itle Slide A - Dark">
  <p:cSld name="TITLE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lt1"/>
              </a:buClr>
              <a:buSzPts val="5600"/>
              <a:buFont typeface="Arial"/>
              <a:buNone/>
              <a:defRPr sz="5600">
                <a:solidFill>
                  <a:schemeClr val="lt1"/>
                </a:solidFill>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52" name="Google Shape;52;p13"/>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a:lnSpc>
                <a:spcPct val="90000"/>
              </a:lnSpc>
              <a:spcBef>
                <a:spcPts val="1100"/>
              </a:spcBef>
              <a:spcAft>
                <a:spcPts val="0"/>
              </a:spcAft>
              <a:buClr>
                <a:schemeClr val="lt1"/>
              </a:buClr>
              <a:buSzPts val="3200"/>
              <a:buNone/>
              <a:defRPr sz="3200">
                <a:solidFill>
                  <a:schemeClr val="lt1"/>
                </a:solidFill>
              </a:defRPr>
            </a:lvl1pPr>
            <a:lvl2pPr lvl="1" algn="ctr">
              <a:lnSpc>
                <a:spcPct val="90000"/>
              </a:lnSpc>
              <a:spcBef>
                <a:spcPts val="1600"/>
              </a:spcBef>
              <a:spcAft>
                <a:spcPts val="0"/>
              </a:spcAft>
              <a:buClr>
                <a:schemeClr val="dk1"/>
              </a:buClr>
              <a:buSzPts val="2000"/>
              <a:buNone/>
              <a:defRPr sz="2000"/>
            </a:lvl2pPr>
            <a:lvl3pPr lvl="2" algn="ctr">
              <a:lnSpc>
                <a:spcPct val="90000"/>
              </a:lnSpc>
              <a:spcBef>
                <a:spcPts val="1600"/>
              </a:spcBef>
              <a:spcAft>
                <a:spcPts val="0"/>
              </a:spcAft>
              <a:buClr>
                <a:schemeClr val="dk1"/>
              </a:buClr>
              <a:buSzPts val="1900"/>
              <a:buNone/>
              <a:defRPr sz="1900"/>
            </a:lvl3pPr>
            <a:lvl4pPr lvl="3" algn="ctr">
              <a:lnSpc>
                <a:spcPct val="90000"/>
              </a:lnSpc>
              <a:spcBef>
                <a:spcPts val="1600"/>
              </a:spcBef>
              <a:spcAft>
                <a:spcPts val="0"/>
              </a:spcAft>
              <a:buClr>
                <a:schemeClr val="dk1"/>
              </a:buClr>
              <a:buSzPts val="1600"/>
              <a:buNone/>
              <a:defRPr sz="1600"/>
            </a:lvl4pPr>
            <a:lvl5pPr lvl="4" algn="ctr">
              <a:lnSpc>
                <a:spcPct val="90000"/>
              </a:lnSpc>
              <a:spcBef>
                <a:spcPts val="1600"/>
              </a:spcBef>
              <a:spcAft>
                <a:spcPts val="0"/>
              </a:spcAft>
              <a:buClr>
                <a:schemeClr val="dk1"/>
              </a:buClr>
              <a:buSzPts val="1600"/>
              <a:buNone/>
              <a:defRPr sz="1600"/>
            </a:lvl5pPr>
            <a:lvl6pPr lvl="5" algn="ctr">
              <a:lnSpc>
                <a:spcPct val="90000"/>
              </a:lnSpc>
              <a:spcBef>
                <a:spcPts val="1600"/>
              </a:spcBef>
              <a:spcAft>
                <a:spcPts val="0"/>
              </a:spcAft>
              <a:buClr>
                <a:schemeClr val="dk1"/>
              </a:buClr>
              <a:buSzPts val="1600"/>
              <a:buNone/>
              <a:defRPr sz="1600"/>
            </a:lvl6pPr>
            <a:lvl7pPr lvl="6" algn="ctr">
              <a:lnSpc>
                <a:spcPct val="90000"/>
              </a:lnSpc>
              <a:spcBef>
                <a:spcPts val="1600"/>
              </a:spcBef>
              <a:spcAft>
                <a:spcPts val="0"/>
              </a:spcAft>
              <a:buClr>
                <a:schemeClr val="dk1"/>
              </a:buClr>
              <a:buSzPts val="1600"/>
              <a:buNone/>
              <a:defRPr sz="1600"/>
            </a:lvl7pPr>
            <a:lvl8pPr lvl="7" algn="ctr">
              <a:lnSpc>
                <a:spcPct val="90000"/>
              </a:lnSpc>
              <a:spcBef>
                <a:spcPts val="1600"/>
              </a:spcBef>
              <a:spcAft>
                <a:spcPts val="0"/>
              </a:spcAft>
              <a:buClr>
                <a:schemeClr val="dk1"/>
              </a:buClr>
              <a:buSzPts val="1600"/>
              <a:buNone/>
              <a:defRPr sz="1600"/>
            </a:lvl8pPr>
            <a:lvl9pPr lvl="8" algn="ctr">
              <a:lnSpc>
                <a:spcPct val="90000"/>
              </a:lnSpc>
              <a:spcBef>
                <a:spcPts val="1600"/>
              </a:spcBef>
              <a:spcAft>
                <a:spcPts val="1600"/>
              </a:spcAft>
              <a:buClr>
                <a:schemeClr val="dk1"/>
              </a:buClr>
              <a:buSzPts val="1600"/>
              <a:buNone/>
              <a:defRPr sz="1600"/>
            </a:lvl9pPr>
          </a:lstStyle>
          <a:p/>
        </p:txBody>
      </p:sp>
      <p:pic>
        <p:nvPicPr>
          <p:cNvPr id="53" name="Google Shape;53;p13"/>
          <p:cNvPicPr preferRelativeResize="0"/>
          <p:nvPr/>
        </p:nvPicPr>
        <p:blipFill>
          <a:blip r:embed="rId2">
            <a:alphaModFix/>
          </a:blip>
          <a:stretch>
            <a:fillRect/>
          </a:stretch>
        </p:blipFill>
        <p:spPr>
          <a:xfrm>
            <a:off x="761810" y="609606"/>
            <a:ext cx="2558261" cy="406974"/>
          </a:xfrm>
          <a:prstGeom prst="rect">
            <a:avLst/>
          </a:prstGeom>
          <a:noFill/>
          <a:ln>
            <a:noFill/>
          </a:ln>
        </p:spPr>
      </p:pic>
      <p:cxnSp>
        <p:nvCxnSpPr>
          <p:cNvPr id="54" name="Google Shape;54;p13"/>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55" name="Google Shape;55;p13"/>
          <p:cNvSpPr txBox="1"/>
          <p:nvPr>
            <p:ph idx="2" type="subTitle"/>
          </p:nvPr>
        </p:nvSpPr>
        <p:spPr>
          <a:xfrm>
            <a:off x="761809" y="5756000"/>
            <a:ext cx="5262300" cy="492300"/>
          </a:xfrm>
          <a:prstGeom prst="rect">
            <a:avLst/>
          </a:prstGeom>
        </p:spPr>
        <p:txBody>
          <a:bodyPr anchorCtr="0" anchor="t" bIns="121875" lIns="121875" spcFirstLastPara="1" rIns="121875" wrap="square" tIns="121875">
            <a:normAutofit/>
          </a:bodyPr>
          <a:lstStyle>
            <a:lvl1pPr lvl="0">
              <a:spcBef>
                <a:spcPts val="0"/>
              </a:spcBef>
              <a:spcAft>
                <a:spcPts val="0"/>
              </a:spcAft>
              <a:buClr>
                <a:schemeClr val="lt2"/>
              </a:buClr>
              <a:buSzPts val="1600"/>
              <a:buNone/>
              <a:defRPr sz="1600">
                <a:solidFill>
                  <a:schemeClr val="lt2"/>
                </a:solidFill>
              </a:defRPr>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56" name="Google Shape;56;p1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57" name="Google Shape;57;p13"/>
          <p:cNvPicPr preferRelativeResize="0"/>
          <p:nvPr/>
        </p:nvPicPr>
        <p:blipFill>
          <a:blip r:embed="rId3">
            <a:alphaModFix/>
          </a:blip>
          <a:stretch>
            <a:fillRect/>
          </a:stretch>
        </p:blipFill>
        <p:spPr>
          <a:xfrm>
            <a:off x="6537959" y="608138"/>
            <a:ext cx="5650993" cy="564172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ontent B - 2 Column">
  <p:cSld name="OBJECT_2_1_1_1_2_1">
    <p:spTree>
      <p:nvGrpSpPr>
        <p:cNvPr id="58" name="Shape 58"/>
        <p:cNvGrpSpPr/>
        <p:nvPr/>
      </p:nvGrpSpPr>
      <p:grpSpPr>
        <a:xfrm>
          <a:off x="0" y="0"/>
          <a:ext cx="0" cy="0"/>
          <a:chOff x="0" y="0"/>
          <a:chExt cx="0" cy="0"/>
        </a:xfrm>
      </p:grpSpPr>
      <p:sp>
        <p:nvSpPr>
          <p:cNvPr id="59" name="Google Shape;59;p14"/>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37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60" name="Google Shape;60;p14"/>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a:bodyPr>
          <a:lstStyle>
            <a:lvl1pPr lvl="0">
              <a:spcBef>
                <a:spcPts val="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cxnSp>
        <p:nvCxnSpPr>
          <p:cNvPr id="61" name="Google Shape;61;p14"/>
          <p:cNvCxnSpPr/>
          <p:nvPr/>
        </p:nvCxnSpPr>
        <p:spPr>
          <a:xfrm>
            <a:off x="6098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62" name="Google Shape;62;p14"/>
          <p:cNvSpPr txBox="1"/>
          <p:nvPr>
            <p:ph idx="2" type="body"/>
          </p:nvPr>
        </p:nvSpPr>
        <p:spPr>
          <a:xfrm>
            <a:off x="761809" y="2691865"/>
            <a:ext cx="4518900" cy="33672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16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49250" lvl="2" marL="13716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3pPr>
            <a:lvl4pPr indent="-349250" lvl="3" marL="18288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4pPr>
            <a:lvl5pPr indent="-349250" lvl="4" marL="22860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5pPr>
            <a:lvl6pPr indent="-349250" lvl="5" marL="27432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6pPr>
            <a:lvl7pPr indent="-349250" lvl="6" marL="32004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7pPr>
            <a:lvl8pPr indent="-349250" lvl="7" marL="36576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8pPr>
            <a:lvl9pPr indent="-349250" lvl="8" marL="4114800" marR="0" algn="l">
              <a:lnSpc>
                <a:spcPct val="115000"/>
              </a:lnSpc>
              <a:spcBef>
                <a:spcPts val="1600"/>
              </a:spcBef>
              <a:spcAft>
                <a:spcPts val="1600"/>
              </a:spcAft>
              <a:buClr>
                <a:schemeClr val="dk1"/>
              </a:buClr>
              <a:buSzPts val="1900"/>
              <a:buFont typeface="DM Sans"/>
              <a:buChar char="•"/>
              <a:defRPr i="0" u="none" cap="none" strike="noStrike">
                <a:solidFill>
                  <a:schemeClr val="dk1"/>
                </a:solidFill>
                <a:latin typeface="DM Sans"/>
                <a:ea typeface="DM Sans"/>
                <a:cs typeface="DM Sans"/>
                <a:sym typeface="DM Sans"/>
              </a:defRPr>
            </a:lvl9pPr>
          </a:lstStyle>
          <a:p/>
        </p:txBody>
      </p:sp>
      <p:sp>
        <p:nvSpPr>
          <p:cNvPr id="63" name="Google Shape;63;p14"/>
          <p:cNvSpPr txBox="1"/>
          <p:nvPr>
            <p:ph idx="3" type="body"/>
          </p:nvPr>
        </p:nvSpPr>
        <p:spPr>
          <a:xfrm>
            <a:off x="6916469" y="2691865"/>
            <a:ext cx="4518900" cy="33672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16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49250" lvl="2" marL="13716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3pPr>
            <a:lvl4pPr indent="-349250" lvl="3" marL="18288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4pPr>
            <a:lvl5pPr indent="-349250" lvl="4" marL="22860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5pPr>
            <a:lvl6pPr indent="-349250" lvl="5" marL="27432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6pPr>
            <a:lvl7pPr indent="-349250" lvl="6" marL="32004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7pPr>
            <a:lvl8pPr indent="-349250" lvl="7" marL="3657600" marR="0" algn="l">
              <a:lnSpc>
                <a:spcPct val="115000"/>
              </a:lnSpc>
              <a:spcBef>
                <a:spcPts val="1600"/>
              </a:spcBef>
              <a:spcAft>
                <a:spcPts val="0"/>
              </a:spcAft>
              <a:buClr>
                <a:schemeClr val="dk1"/>
              </a:buClr>
              <a:buSzPts val="1900"/>
              <a:buFont typeface="DM Sans"/>
              <a:buChar char="•"/>
              <a:defRPr i="0" u="none" cap="none" strike="noStrike">
                <a:solidFill>
                  <a:schemeClr val="dk1"/>
                </a:solidFill>
                <a:latin typeface="DM Sans"/>
                <a:ea typeface="DM Sans"/>
                <a:cs typeface="DM Sans"/>
                <a:sym typeface="DM Sans"/>
              </a:defRPr>
            </a:lvl8pPr>
            <a:lvl9pPr indent="-349250" lvl="8" marL="4114800" marR="0" algn="l">
              <a:lnSpc>
                <a:spcPct val="115000"/>
              </a:lnSpc>
              <a:spcBef>
                <a:spcPts val="1600"/>
              </a:spcBef>
              <a:spcAft>
                <a:spcPts val="1600"/>
              </a:spcAft>
              <a:buClr>
                <a:schemeClr val="dk1"/>
              </a:buClr>
              <a:buSzPts val="1900"/>
              <a:buFont typeface="DM Sans"/>
              <a:buChar char="•"/>
              <a:defRPr i="0" u="none" cap="none" strike="noStrike">
                <a:solidFill>
                  <a:schemeClr val="dk1"/>
                </a:solidFill>
                <a:latin typeface="DM Sans"/>
                <a:ea typeface="DM Sans"/>
                <a:cs typeface="DM Sans"/>
                <a:sym typeface="DM Sans"/>
              </a:defRPr>
            </a:lvl9pPr>
          </a:lstStyle>
          <a:p/>
        </p:txBody>
      </p:sp>
      <p:sp>
        <p:nvSpPr>
          <p:cNvPr id="64" name="Google Shape;64;p14"/>
          <p:cNvSpPr txBox="1"/>
          <p:nvPr>
            <p:ph idx="4" type="subTitle"/>
          </p:nvPr>
        </p:nvSpPr>
        <p:spPr>
          <a:xfrm>
            <a:off x="795814" y="1970333"/>
            <a:ext cx="4484400" cy="643200"/>
          </a:xfrm>
          <a:prstGeom prst="rect">
            <a:avLst/>
          </a:prstGeom>
        </p:spPr>
        <p:txBody>
          <a:bodyPr anchorCtr="0" anchor="t" bIns="121875" lIns="121875" spcFirstLastPara="1" rIns="121875" wrap="square" tIns="121875">
            <a:normAutofit/>
          </a:bodyPr>
          <a:lstStyle>
            <a:lvl1pPr lvl="0">
              <a:spcBef>
                <a:spcPts val="0"/>
              </a:spcBef>
              <a:spcAft>
                <a:spcPts val="0"/>
              </a:spcAft>
              <a:buClr>
                <a:schemeClr val="dk1"/>
              </a:buClr>
              <a:buSzPts val="2000"/>
              <a:buNone/>
              <a:defRPr b="1" sz="2000"/>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65" name="Google Shape;65;p14"/>
          <p:cNvSpPr txBox="1"/>
          <p:nvPr>
            <p:ph idx="5" type="subTitle"/>
          </p:nvPr>
        </p:nvSpPr>
        <p:spPr>
          <a:xfrm>
            <a:off x="6933565" y="1970333"/>
            <a:ext cx="4485000" cy="643200"/>
          </a:xfrm>
          <a:prstGeom prst="rect">
            <a:avLst/>
          </a:prstGeom>
        </p:spPr>
        <p:txBody>
          <a:bodyPr anchorCtr="0" anchor="t" bIns="121875" lIns="121875" spcFirstLastPara="1" rIns="121875" wrap="square" tIns="121875">
            <a:normAutofit/>
          </a:bodyPr>
          <a:lstStyle>
            <a:lvl1pPr lvl="0">
              <a:spcBef>
                <a:spcPts val="0"/>
              </a:spcBef>
              <a:spcAft>
                <a:spcPts val="0"/>
              </a:spcAft>
              <a:buClr>
                <a:schemeClr val="dk1"/>
              </a:buClr>
              <a:buSzPts val="2000"/>
              <a:buNone/>
              <a:defRPr b="1" sz="2000"/>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66" name="Google Shape;66;p14"/>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1">
  <p:cSld name="OBJECT_2_1_1_2_1_1_1_1_1_1_1_2">
    <p:bg>
      <p:bgPr>
        <a:solidFill>
          <a:schemeClr val="dk1"/>
        </a:solid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a:lnSpc>
                <a:spcPct val="100000"/>
              </a:lnSpc>
              <a:spcBef>
                <a:spcPts val="0"/>
              </a:spcBef>
              <a:spcAft>
                <a:spcPts val="0"/>
              </a:spcAft>
              <a:buClr>
                <a:schemeClr val="lt2"/>
              </a:buClr>
              <a:buSzPts val="6400"/>
              <a:buFont typeface="DM Sans Medium"/>
              <a:buNone/>
              <a:defRPr i="0" sz="6400" u="none" cap="none" strike="noStrike">
                <a:solidFill>
                  <a:schemeClr val="lt2"/>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69" name="Google Shape;69;p15"/>
          <p:cNvSpPr/>
          <p:nvPr/>
        </p:nvSpPr>
        <p:spPr>
          <a:xfrm>
            <a:off x="11225458"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70" name="Google Shape;70;p15"/>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5"/>
          <p:cNvSpPr/>
          <p:nvPr/>
        </p:nvSpPr>
        <p:spPr>
          <a:xfrm>
            <a:off x="10205213" y="0"/>
            <a:ext cx="1989000" cy="19896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72" name="Google Shape;72;p15"/>
          <p:cNvSpPr/>
          <p:nvPr/>
        </p:nvSpPr>
        <p:spPr>
          <a:xfrm rot="10800000">
            <a:off x="10205315" y="4258800"/>
            <a:ext cx="1989000" cy="1989600"/>
          </a:xfrm>
          <a:prstGeom prst="rtTriangl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73" name="Google Shape;73;p15"/>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74" name="Google Shape;74;p15"/>
          <p:cNvSpPr/>
          <p:nvPr/>
        </p:nvSpPr>
        <p:spPr>
          <a:xfrm rot="-5400000">
            <a:off x="11216810" y="3283117"/>
            <a:ext cx="977700" cy="977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solidFill>
                <a:schemeClr val="lt2"/>
              </a:solidFill>
            </a:endParaRPr>
          </a:p>
        </p:txBody>
      </p:sp>
      <p:sp>
        <p:nvSpPr>
          <p:cNvPr id="75" name="Google Shape;75;p15"/>
          <p:cNvSpPr/>
          <p:nvPr/>
        </p:nvSpPr>
        <p:spPr>
          <a:xfrm>
            <a:off x="8239838" y="975600"/>
            <a:ext cx="481200" cy="4812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76" name="Google Shape;76;p15"/>
          <p:cNvSpPr/>
          <p:nvPr/>
        </p:nvSpPr>
        <p:spPr>
          <a:xfrm>
            <a:off x="8868881" y="57672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77" name="Google Shape;77;p15"/>
          <p:cNvSpPr/>
          <p:nvPr/>
        </p:nvSpPr>
        <p:spPr>
          <a:xfrm>
            <a:off x="9968739" y="3046667"/>
            <a:ext cx="236400" cy="236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ntent A - Basic">
  <p:cSld name="OBJECT_1">
    <p:bg>
      <p:bgPr>
        <a:solidFill>
          <a:schemeClr val="lt1"/>
        </a:solidFill>
      </p:bgPr>
    </p:bg>
    <p:spTree>
      <p:nvGrpSpPr>
        <p:cNvPr id="78" name="Shape 78"/>
        <p:cNvGrpSpPr/>
        <p:nvPr/>
      </p:nvGrpSpPr>
      <p:grpSpPr>
        <a:xfrm>
          <a:off x="0" y="0"/>
          <a:ext cx="0" cy="0"/>
          <a:chOff x="0" y="0"/>
          <a:chExt cx="0" cy="0"/>
        </a:xfrm>
      </p:grpSpPr>
      <p:sp>
        <p:nvSpPr>
          <p:cNvPr id="79" name="Google Shape;79;p16"/>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80" name="Google Shape;80;p16"/>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a:bodyPr>
          <a:lstStyle>
            <a:lvl1pPr lvl="0">
              <a:spcBef>
                <a:spcPts val="0"/>
              </a:spcBef>
              <a:spcAft>
                <a:spcPts val="0"/>
              </a:spcAft>
              <a:buSzPts val="2400"/>
              <a:buFont typeface="DM Sans Medium"/>
              <a:buNone/>
              <a:defRPr sz="2400">
                <a:solidFill>
                  <a:schemeClr val="accent1"/>
                </a:solidFill>
                <a:latin typeface="DM Sans Medium"/>
                <a:ea typeface="DM Sans Medium"/>
                <a:cs typeface="DM Sans Medium"/>
                <a:sym typeface="DM Sans Medium"/>
              </a:defRPr>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81" name="Google Shape;81;p16"/>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algn="l">
              <a:lnSpc>
                <a:spcPct val="115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algn="l">
              <a:lnSpc>
                <a:spcPct val="115000"/>
              </a:lnSpc>
              <a:spcBef>
                <a:spcPts val="16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algn="l">
              <a:lnSpc>
                <a:spcPct val="115000"/>
              </a:lnSpc>
              <a:spcBef>
                <a:spcPts val="1600"/>
              </a:spcBef>
              <a:spcAft>
                <a:spcPts val="160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82" name="Google Shape;82;p1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2">
  <p:cSld name="OBJECT_2_1_1_2_1_1_1_1_1_1_1_1_2">
    <p:bg>
      <p:bgPr>
        <a:solidFill>
          <a:schemeClr val="dk1"/>
        </a:solidFill>
      </p:bgPr>
    </p:bg>
    <p:spTree>
      <p:nvGrpSpPr>
        <p:cNvPr id="83" name="Shape 83"/>
        <p:cNvGrpSpPr/>
        <p:nvPr/>
      </p:nvGrpSpPr>
      <p:grpSpPr>
        <a:xfrm>
          <a:off x="0" y="0"/>
          <a:ext cx="0" cy="0"/>
          <a:chOff x="0" y="0"/>
          <a:chExt cx="0" cy="0"/>
        </a:xfrm>
      </p:grpSpPr>
      <p:sp>
        <p:nvSpPr>
          <p:cNvPr id="84" name="Google Shape;84;p17"/>
          <p:cNvSpPr/>
          <p:nvPr/>
        </p:nvSpPr>
        <p:spPr>
          <a:xfrm rot="10800000">
            <a:off x="10359958" y="1989767"/>
            <a:ext cx="865500" cy="8655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85" name="Google Shape;85;p17"/>
          <p:cNvSpPr/>
          <p:nvPr/>
        </p:nvSpPr>
        <p:spPr>
          <a:xfrm rot="10800000">
            <a:off x="10508758" y="1989600"/>
            <a:ext cx="716700" cy="7167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86" name="Google Shape;86;p17"/>
          <p:cNvSpPr/>
          <p:nvPr/>
        </p:nvSpPr>
        <p:spPr>
          <a:xfrm rot="10800000">
            <a:off x="10653025" y="1989633"/>
            <a:ext cx="571800" cy="5721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87" name="Google Shape;87;p17"/>
          <p:cNvCxnSpPr>
            <a:stCxn id="86" idx="2"/>
          </p:cNvCxnSpPr>
          <p:nvPr/>
        </p:nvCxnSpPr>
        <p:spPr>
          <a:xfrm rot="10800000">
            <a:off x="10653025" y="1981383"/>
            <a:ext cx="0" cy="294300"/>
          </a:xfrm>
          <a:prstGeom prst="straightConnector1">
            <a:avLst/>
          </a:prstGeom>
          <a:noFill/>
          <a:ln cap="flat" cmpd="sng" w="9525">
            <a:solidFill>
              <a:schemeClr val="dk2"/>
            </a:solidFill>
            <a:prstDash val="solid"/>
            <a:round/>
            <a:headEnd len="med" w="med" type="none"/>
            <a:tailEnd len="med" w="med" type="none"/>
          </a:ln>
        </p:spPr>
      </p:cxnSp>
      <p:cxnSp>
        <p:nvCxnSpPr>
          <p:cNvPr id="88" name="Google Shape;88;p17"/>
          <p:cNvCxnSpPr>
            <a:stCxn id="84" idx="2"/>
          </p:cNvCxnSpPr>
          <p:nvPr/>
        </p:nvCxnSpPr>
        <p:spPr>
          <a:xfrm rot="10800000">
            <a:off x="10359958" y="1983617"/>
            <a:ext cx="0" cy="438900"/>
          </a:xfrm>
          <a:prstGeom prst="straightConnector1">
            <a:avLst/>
          </a:prstGeom>
          <a:noFill/>
          <a:ln cap="flat" cmpd="sng" w="9525">
            <a:solidFill>
              <a:schemeClr val="dk2"/>
            </a:solidFill>
            <a:prstDash val="solid"/>
            <a:round/>
            <a:headEnd len="med" w="med" type="none"/>
            <a:tailEnd len="med" w="med" type="none"/>
          </a:ln>
        </p:spPr>
      </p:cxnSp>
      <p:cxnSp>
        <p:nvCxnSpPr>
          <p:cNvPr id="89" name="Google Shape;89;p17"/>
          <p:cNvCxnSpPr>
            <a:stCxn id="85" idx="2"/>
          </p:cNvCxnSpPr>
          <p:nvPr/>
        </p:nvCxnSpPr>
        <p:spPr>
          <a:xfrm rot="10800000">
            <a:off x="10508758" y="1983450"/>
            <a:ext cx="0" cy="364500"/>
          </a:xfrm>
          <a:prstGeom prst="straightConnector1">
            <a:avLst/>
          </a:prstGeom>
          <a:noFill/>
          <a:ln cap="flat" cmpd="sng" w="9525">
            <a:solidFill>
              <a:schemeClr val="dk2"/>
            </a:solidFill>
            <a:prstDash val="solid"/>
            <a:round/>
            <a:headEnd len="med" w="med" type="none"/>
            <a:tailEnd len="med" w="med" type="none"/>
          </a:ln>
        </p:spPr>
      </p:cxnSp>
      <p:cxnSp>
        <p:nvCxnSpPr>
          <p:cNvPr id="90" name="Google Shape;90;p17"/>
          <p:cNvCxnSpPr>
            <a:stCxn id="86" idx="0"/>
          </p:cNvCxnSpPr>
          <p:nvPr/>
        </p:nvCxnSpPr>
        <p:spPr>
          <a:xfrm>
            <a:off x="10938925" y="2561733"/>
            <a:ext cx="325800" cy="0"/>
          </a:xfrm>
          <a:prstGeom prst="straightConnector1">
            <a:avLst/>
          </a:prstGeom>
          <a:noFill/>
          <a:ln cap="flat" cmpd="sng" w="9525">
            <a:solidFill>
              <a:schemeClr val="dk2"/>
            </a:solidFill>
            <a:prstDash val="solid"/>
            <a:round/>
            <a:headEnd len="med" w="med" type="none"/>
            <a:tailEnd len="med" w="med" type="none"/>
          </a:ln>
        </p:spPr>
      </p:cxnSp>
      <p:cxnSp>
        <p:nvCxnSpPr>
          <p:cNvPr id="91" name="Google Shape;91;p17"/>
          <p:cNvCxnSpPr>
            <a:stCxn id="85" idx="0"/>
          </p:cNvCxnSpPr>
          <p:nvPr/>
        </p:nvCxnSpPr>
        <p:spPr>
          <a:xfrm>
            <a:off x="10867108" y="2706300"/>
            <a:ext cx="475500" cy="0"/>
          </a:xfrm>
          <a:prstGeom prst="straightConnector1">
            <a:avLst/>
          </a:prstGeom>
          <a:noFill/>
          <a:ln cap="flat" cmpd="sng" w="9525">
            <a:solidFill>
              <a:schemeClr val="dk2"/>
            </a:solidFill>
            <a:prstDash val="solid"/>
            <a:round/>
            <a:headEnd len="med" w="med" type="none"/>
            <a:tailEnd len="med" w="med" type="none"/>
          </a:ln>
        </p:spPr>
      </p:cxnSp>
      <p:cxnSp>
        <p:nvCxnSpPr>
          <p:cNvPr id="92" name="Google Shape;92;p17"/>
          <p:cNvCxnSpPr>
            <a:stCxn id="84" idx="0"/>
          </p:cNvCxnSpPr>
          <p:nvPr/>
        </p:nvCxnSpPr>
        <p:spPr>
          <a:xfrm>
            <a:off x="10792708" y="2855267"/>
            <a:ext cx="456600" cy="0"/>
          </a:xfrm>
          <a:prstGeom prst="straightConnector1">
            <a:avLst/>
          </a:prstGeom>
          <a:noFill/>
          <a:ln cap="flat" cmpd="sng" w="9525">
            <a:solidFill>
              <a:schemeClr val="dk2"/>
            </a:solidFill>
            <a:prstDash val="solid"/>
            <a:round/>
            <a:headEnd len="med" w="med" type="none"/>
            <a:tailEnd len="med" w="med" type="none"/>
          </a:ln>
        </p:spPr>
      </p:cxnSp>
      <p:sp>
        <p:nvSpPr>
          <p:cNvPr id="93" name="Google Shape;93;p17"/>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94" name="Google Shape;94;p17"/>
          <p:cNvSpPr/>
          <p:nvPr/>
        </p:nvSpPr>
        <p:spPr>
          <a:xfrm>
            <a:off x="10250102"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95" name="Google Shape;95;p1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7"/>
          <p:cNvSpPr/>
          <p:nvPr/>
        </p:nvSpPr>
        <p:spPr>
          <a:xfrm>
            <a:off x="10205213" y="42588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97" name="Google Shape;97;p17"/>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98" name="Google Shape;98;p17"/>
          <p:cNvSpPr/>
          <p:nvPr/>
        </p:nvSpPr>
        <p:spPr>
          <a:xfrm>
            <a:off x="11225458" y="1989733"/>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99" name="Google Shape;99;p17"/>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00" name="Google Shape;100;p17"/>
          <p:cNvSpPr/>
          <p:nvPr/>
        </p:nvSpPr>
        <p:spPr>
          <a:xfrm>
            <a:off x="9724133" y="5767200"/>
            <a:ext cx="481200" cy="481200"/>
          </a:xfrm>
          <a:prstGeom prst="rect">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01" name="Google Shape;101;p17"/>
          <p:cNvSpPr/>
          <p:nvPr/>
        </p:nvSpPr>
        <p:spPr>
          <a:xfrm>
            <a:off x="8868881" y="4944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02" name="Google Shape;102;p17"/>
          <p:cNvSpPr/>
          <p:nvPr/>
        </p:nvSpPr>
        <p:spPr>
          <a:xfrm>
            <a:off x="10199848" y="42588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Content A - Basic White 1">
  <p:cSld name="OBJECT_1_1">
    <p:bg>
      <p:bgPr>
        <a:solidFill>
          <a:srgbClr val="FFFFFF"/>
        </a:solidFill>
      </p:bgPr>
    </p:bg>
    <p:spTree>
      <p:nvGrpSpPr>
        <p:cNvPr id="103" name="Shape 103"/>
        <p:cNvGrpSpPr/>
        <p:nvPr/>
      </p:nvGrpSpPr>
      <p:grpSpPr>
        <a:xfrm>
          <a:off x="0" y="0"/>
          <a:ext cx="0" cy="0"/>
          <a:chOff x="0" y="0"/>
          <a:chExt cx="0" cy="0"/>
        </a:xfrm>
      </p:grpSpPr>
      <p:sp>
        <p:nvSpPr>
          <p:cNvPr id="104" name="Google Shape;104;p18"/>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37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05" name="Google Shape;105;p18"/>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a:bodyPr>
          <a:lstStyle>
            <a:lvl1pPr lvl="0">
              <a:spcBef>
                <a:spcPts val="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0"/>
              </a:spcBef>
              <a:spcAft>
                <a:spcPts val="0"/>
              </a:spcAft>
              <a:buSzPts val="1900"/>
              <a:buNone/>
              <a:defRPr/>
            </a:lvl2pPr>
            <a:lvl3pPr lvl="2">
              <a:spcBef>
                <a:spcPts val="0"/>
              </a:spcBef>
              <a:spcAft>
                <a:spcPts val="0"/>
              </a:spcAft>
              <a:buSzPts val="1900"/>
              <a:buNone/>
              <a:defRPr/>
            </a:lvl3pPr>
            <a:lvl4pPr lvl="3">
              <a:spcBef>
                <a:spcPts val="0"/>
              </a:spcBef>
              <a:spcAft>
                <a:spcPts val="0"/>
              </a:spcAft>
              <a:buSzPts val="1900"/>
              <a:buNone/>
              <a:defRPr/>
            </a:lvl4pPr>
            <a:lvl5pPr lvl="4">
              <a:spcBef>
                <a:spcPts val="0"/>
              </a:spcBef>
              <a:spcAft>
                <a:spcPts val="0"/>
              </a:spcAft>
              <a:buSzPts val="1900"/>
              <a:buNone/>
              <a:defRPr/>
            </a:lvl5pPr>
            <a:lvl6pPr lvl="5">
              <a:spcBef>
                <a:spcPts val="0"/>
              </a:spcBef>
              <a:spcAft>
                <a:spcPts val="0"/>
              </a:spcAft>
              <a:buSzPts val="1900"/>
              <a:buNone/>
              <a:defRPr/>
            </a:lvl6pPr>
            <a:lvl7pPr lvl="6">
              <a:spcBef>
                <a:spcPts val="0"/>
              </a:spcBef>
              <a:spcAft>
                <a:spcPts val="0"/>
              </a:spcAft>
              <a:buSzPts val="1900"/>
              <a:buNone/>
              <a:defRPr/>
            </a:lvl7pPr>
            <a:lvl8pPr lvl="7">
              <a:spcBef>
                <a:spcPts val="0"/>
              </a:spcBef>
              <a:spcAft>
                <a:spcPts val="0"/>
              </a:spcAft>
              <a:buSzPts val="1900"/>
              <a:buNone/>
              <a:defRPr/>
            </a:lvl8pPr>
            <a:lvl9pPr lvl="8">
              <a:spcBef>
                <a:spcPts val="0"/>
              </a:spcBef>
              <a:spcAft>
                <a:spcPts val="0"/>
              </a:spcAft>
              <a:buSzPts val="1900"/>
              <a:buNone/>
              <a:defRPr/>
            </a:lvl9pPr>
          </a:lstStyle>
          <a:p/>
        </p:txBody>
      </p:sp>
      <p:sp>
        <p:nvSpPr>
          <p:cNvPr id="106" name="Google Shape;106;p18"/>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algn="l">
              <a:lnSpc>
                <a:spcPct val="115000"/>
              </a:lnSpc>
              <a:spcBef>
                <a:spcPts val="1100"/>
              </a:spcBef>
              <a:spcAft>
                <a:spcPts val="0"/>
              </a:spcAft>
              <a:buClr>
                <a:schemeClr val="accent1"/>
              </a:buClr>
              <a:buSzPts val="2400"/>
              <a:buFont typeface="DM Sans"/>
              <a:buChar char="•"/>
              <a:defRPr i="0" u="none" cap="none" strike="noStrike">
                <a:solidFill>
                  <a:schemeClr val="dk1"/>
                </a:solidFill>
                <a:latin typeface="DM Sans"/>
                <a:ea typeface="DM Sans"/>
                <a:cs typeface="DM Sans"/>
                <a:sym typeface="DM Sans"/>
              </a:defRPr>
            </a:lvl1pPr>
            <a:lvl2pPr indent="-349250" lvl="1" marL="914400" marR="0" algn="l">
              <a:lnSpc>
                <a:spcPct val="115000"/>
              </a:lnSpc>
              <a:spcBef>
                <a:spcPts val="1600"/>
              </a:spcBef>
              <a:spcAft>
                <a:spcPts val="0"/>
              </a:spcAft>
              <a:buClr>
                <a:schemeClr val="accent4"/>
              </a:buClr>
              <a:buSzPts val="1900"/>
              <a:buFont typeface="DM Sans"/>
              <a:buChar char="•"/>
              <a:defRPr i="0" u="none" cap="none" strike="noStrike">
                <a:solidFill>
                  <a:schemeClr val="dk1"/>
                </a:solidFill>
                <a:latin typeface="DM Sans"/>
                <a:ea typeface="DM Sans"/>
                <a:cs typeface="DM Sans"/>
                <a:sym typeface="DM Sans"/>
              </a:defRPr>
            </a:lvl2pPr>
            <a:lvl3pPr indent="-330200" lvl="2" marL="13716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algn="l">
              <a:lnSpc>
                <a:spcPct val="115000"/>
              </a:lnSpc>
              <a:spcBef>
                <a:spcPts val="16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algn="l">
              <a:lnSpc>
                <a:spcPct val="115000"/>
              </a:lnSpc>
              <a:spcBef>
                <a:spcPts val="1600"/>
              </a:spcBef>
              <a:spcAft>
                <a:spcPts val="160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107" name="Google Shape;107;p1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ntent A - Basic 1">
  <p:cSld name="OBJECT_1_2">
    <p:bg>
      <p:bgPr>
        <a:solidFill>
          <a:schemeClr val="lt1"/>
        </a:solidFill>
      </p:bgPr>
    </p:bg>
    <p:spTree>
      <p:nvGrpSpPr>
        <p:cNvPr id="108" name="Shape 108"/>
        <p:cNvGrpSpPr/>
        <p:nvPr/>
      </p:nvGrpSpPr>
      <p:grpSpPr>
        <a:xfrm>
          <a:off x="0" y="0"/>
          <a:ext cx="0" cy="0"/>
          <a:chOff x="0" y="0"/>
          <a:chExt cx="0" cy="0"/>
        </a:xfrm>
      </p:grpSpPr>
      <p:sp>
        <p:nvSpPr>
          <p:cNvPr id="109" name="Google Shape;109;p19"/>
          <p:cNvSpPr txBox="1"/>
          <p:nvPr>
            <p:ph type="title"/>
          </p:nvPr>
        </p:nvSpPr>
        <p:spPr>
          <a:xfrm>
            <a:off x="749253"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algn="l">
              <a:lnSpc>
                <a:spcPct val="100000"/>
              </a:lnSpc>
              <a:spcBef>
                <a:spcPts val="0"/>
              </a:spcBef>
              <a:spcAft>
                <a:spcPts val="0"/>
              </a:spcAft>
              <a:buSzPts val="1500"/>
              <a:buNone/>
              <a:defRPr sz="1900"/>
            </a:lvl2pPr>
            <a:lvl3pPr lvl="2" algn="l">
              <a:lnSpc>
                <a:spcPct val="100000"/>
              </a:lnSpc>
              <a:spcBef>
                <a:spcPts val="0"/>
              </a:spcBef>
              <a:spcAft>
                <a:spcPts val="0"/>
              </a:spcAft>
              <a:buSzPts val="1500"/>
              <a:buNone/>
              <a:defRPr sz="1900"/>
            </a:lvl3pPr>
            <a:lvl4pPr lvl="3" algn="l">
              <a:lnSpc>
                <a:spcPct val="100000"/>
              </a:lnSpc>
              <a:spcBef>
                <a:spcPts val="0"/>
              </a:spcBef>
              <a:spcAft>
                <a:spcPts val="0"/>
              </a:spcAft>
              <a:buSzPts val="1500"/>
              <a:buNone/>
              <a:defRPr sz="1900"/>
            </a:lvl4pPr>
            <a:lvl5pPr lvl="4" algn="l">
              <a:lnSpc>
                <a:spcPct val="100000"/>
              </a:lnSpc>
              <a:spcBef>
                <a:spcPts val="0"/>
              </a:spcBef>
              <a:spcAft>
                <a:spcPts val="0"/>
              </a:spcAft>
              <a:buSzPts val="1500"/>
              <a:buNone/>
              <a:defRPr sz="1900"/>
            </a:lvl5pPr>
            <a:lvl6pPr lvl="5" algn="l">
              <a:lnSpc>
                <a:spcPct val="100000"/>
              </a:lnSpc>
              <a:spcBef>
                <a:spcPts val="0"/>
              </a:spcBef>
              <a:spcAft>
                <a:spcPts val="0"/>
              </a:spcAft>
              <a:buSzPts val="1500"/>
              <a:buNone/>
              <a:defRPr sz="1900"/>
            </a:lvl6pPr>
            <a:lvl7pPr lvl="6" algn="l">
              <a:lnSpc>
                <a:spcPct val="100000"/>
              </a:lnSpc>
              <a:spcBef>
                <a:spcPts val="0"/>
              </a:spcBef>
              <a:spcAft>
                <a:spcPts val="0"/>
              </a:spcAft>
              <a:buSzPts val="1500"/>
              <a:buNone/>
              <a:defRPr sz="1900"/>
            </a:lvl7pPr>
            <a:lvl8pPr lvl="7" algn="l">
              <a:lnSpc>
                <a:spcPct val="100000"/>
              </a:lnSpc>
              <a:spcBef>
                <a:spcPts val="0"/>
              </a:spcBef>
              <a:spcAft>
                <a:spcPts val="0"/>
              </a:spcAft>
              <a:buSzPts val="1500"/>
              <a:buNone/>
              <a:defRPr sz="1900"/>
            </a:lvl8pPr>
            <a:lvl9pPr lvl="8" algn="l">
              <a:lnSpc>
                <a:spcPct val="100000"/>
              </a:lnSpc>
              <a:spcBef>
                <a:spcPts val="0"/>
              </a:spcBef>
              <a:spcAft>
                <a:spcPts val="0"/>
              </a:spcAft>
              <a:buSzPts val="1500"/>
              <a:buNone/>
              <a:defRPr sz="1900"/>
            </a:lvl9pPr>
          </a:lstStyle>
          <a:p/>
        </p:txBody>
      </p:sp>
      <p:sp>
        <p:nvSpPr>
          <p:cNvPr id="110" name="Google Shape;110;p19"/>
          <p:cNvSpPr txBox="1"/>
          <p:nvPr>
            <p:ph idx="1" type="subTitle"/>
          </p:nvPr>
        </p:nvSpPr>
        <p:spPr>
          <a:xfrm>
            <a:off x="764817" y="1174701"/>
            <a:ext cx="10659300" cy="583500"/>
          </a:xfrm>
          <a:prstGeom prst="rect">
            <a:avLst/>
          </a:prstGeom>
          <a:noFill/>
          <a:ln>
            <a:noFill/>
          </a:ln>
        </p:spPr>
        <p:txBody>
          <a:bodyPr anchorCtr="0" anchor="t" bIns="0" lIns="0" spcFirstLastPara="1" rIns="0" wrap="square" tIns="0">
            <a:noAutofit/>
          </a:bodyPr>
          <a:lstStyle>
            <a:lvl1pPr lvl="0" algn="l">
              <a:lnSpc>
                <a:spcPct val="90000"/>
              </a:lnSpc>
              <a:spcBef>
                <a:spcPts val="1100"/>
              </a:spcBef>
              <a:spcAft>
                <a:spcPts val="0"/>
              </a:spcAft>
              <a:buSzPts val="2400"/>
              <a:buFont typeface="DM Sans Medium"/>
              <a:buNone/>
              <a:defRPr sz="2400">
                <a:solidFill>
                  <a:schemeClr val="accent1"/>
                </a:solidFill>
                <a:latin typeface="DM Sans Medium"/>
                <a:ea typeface="DM Sans Medium"/>
                <a:cs typeface="DM Sans Medium"/>
                <a:sym typeface="DM Sans Medium"/>
              </a:defRPr>
            </a:lvl1pPr>
            <a:lvl2pPr lvl="1" algn="l">
              <a:lnSpc>
                <a:spcPct val="90000"/>
              </a:lnSpc>
              <a:spcBef>
                <a:spcPts val="500"/>
              </a:spcBef>
              <a:spcAft>
                <a:spcPts val="0"/>
              </a:spcAft>
              <a:buSzPts val="2000"/>
              <a:buNone/>
              <a:defRPr/>
            </a:lvl2pPr>
            <a:lvl3pPr lvl="2" algn="l">
              <a:lnSpc>
                <a:spcPct val="90000"/>
              </a:lnSpc>
              <a:spcBef>
                <a:spcPts val="500"/>
              </a:spcBef>
              <a:spcAft>
                <a:spcPts val="0"/>
              </a:spcAft>
              <a:buSzPts val="1600"/>
              <a:buNone/>
              <a:defRPr/>
            </a:lvl3pPr>
            <a:lvl4pPr lvl="3" algn="l">
              <a:lnSpc>
                <a:spcPct val="90000"/>
              </a:lnSpc>
              <a:spcBef>
                <a:spcPts val="500"/>
              </a:spcBef>
              <a:spcAft>
                <a:spcPts val="0"/>
              </a:spcAft>
              <a:buSzPts val="1600"/>
              <a:buNone/>
              <a:defRPr/>
            </a:lvl4pPr>
            <a:lvl5pPr lvl="4" algn="l">
              <a:lnSpc>
                <a:spcPct val="90000"/>
              </a:lnSpc>
              <a:spcBef>
                <a:spcPts val="500"/>
              </a:spcBef>
              <a:spcAft>
                <a:spcPts val="0"/>
              </a:spcAft>
              <a:buSzPts val="1600"/>
              <a:buNone/>
              <a:defRPr/>
            </a:lvl5pPr>
            <a:lvl6pPr lvl="5" algn="l">
              <a:lnSpc>
                <a:spcPct val="90000"/>
              </a:lnSpc>
              <a:spcBef>
                <a:spcPts val="500"/>
              </a:spcBef>
              <a:spcAft>
                <a:spcPts val="0"/>
              </a:spcAft>
              <a:buSzPts val="1600"/>
              <a:buNone/>
              <a:defRPr/>
            </a:lvl6pPr>
            <a:lvl7pPr lvl="6" algn="l">
              <a:lnSpc>
                <a:spcPct val="90000"/>
              </a:lnSpc>
              <a:spcBef>
                <a:spcPts val="500"/>
              </a:spcBef>
              <a:spcAft>
                <a:spcPts val="0"/>
              </a:spcAft>
              <a:buSzPts val="1600"/>
              <a:buNone/>
              <a:defRPr/>
            </a:lvl7pPr>
            <a:lvl8pPr lvl="7" algn="l">
              <a:lnSpc>
                <a:spcPct val="90000"/>
              </a:lnSpc>
              <a:spcBef>
                <a:spcPts val="500"/>
              </a:spcBef>
              <a:spcAft>
                <a:spcPts val="0"/>
              </a:spcAft>
              <a:buSzPts val="1600"/>
              <a:buNone/>
              <a:defRPr/>
            </a:lvl8pPr>
            <a:lvl9pPr lvl="8" algn="l">
              <a:lnSpc>
                <a:spcPct val="90000"/>
              </a:lnSpc>
              <a:spcBef>
                <a:spcPts val="500"/>
              </a:spcBef>
              <a:spcAft>
                <a:spcPts val="0"/>
              </a:spcAft>
              <a:buSzPts val="1600"/>
              <a:buNone/>
              <a:defRPr/>
            </a:lvl9pPr>
          </a:lstStyle>
          <a:p/>
        </p:txBody>
      </p:sp>
      <p:sp>
        <p:nvSpPr>
          <p:cNvPr id="111" name="Google Shape;111;p19"/>
          <p:cNvSpPr txBox="1"/>
          <p:nvPr>
            <p:ph idx="2" type="body"/>
          </p:nvPr>
        </p:nvSpPr>
        <p:spPr>
          <a:xfrm>
            <a:off x="761817" y="1988833"/>
            <a:ext cx="10659300" cy="4149900"/>
          </a:xfrm>
          <a:prstGeom prst="rect">
            <a:avLst/>
          </a:prstGeom>
          <a:noFill/>
          <a:ln>
            <a:noFill/>
          </a:ln>
        </p:spPr>
        <p:txBody>
          <a:bodyPr anchorCtr="0" anchor="t" bIns="0" lIns="0" spcFirstLastPara="1" rIns="0" wrap="square" tIns="0">
            <a:noAutofit/>
          </a:bodyPr>
          <a:lstStyle>
            <a:lvl1pPr indent="-381000" lvl="0" marL="457200" marR="0" algn="l">
              <a:lnSpc>
                <a:spcPct val="115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algn="l">
              <a:lnSpc>
                <a:spcPct val="115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112" name="Google Shape;112;p19"/>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113" name="Shape 113"/>
        <p:cNvGrpSpPr/>
        <p:nvPr/>
      </p:nvGrpSpPr>
      <p:grpSpPr>
        <a:xfrm>
          <a:off x="0" y="0"/>
          <a:ext cx="0" cy="0"/>
          <a:chOff x="0" y="0"/>
          <a:chExt cx="0" cy="0"/>
        </a:xfrm>
      </p:grpSpPr>
      <p:sp>
        <p:nvSpPr>
          <p:cNvPr id="114" name="Google Shape;114;p20"/>
          <p:cNvSpPr txBox="1"/>
          <p:nvPr>
            <p:ph type="ctrTitle"/>
          </p:nvPr>
        </p:nvSpPr>
        <p:spPr>
          <a:xfrm>
            <a:off x="415507" y="992767"/>
            <a:ext cx="11358000" cy="27369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5" name="Google Shape;115;p20"/>
          <p:cNvSpPr txBox="1"/>
          <p:nvPr>
            <p:ph idx="1" type="subTitle"/>
          </p:nvPr>
        </p:nvSpPr>
        <p:spPr>
          <a:xfrm>
            <a:off x="415496" y="3778833"/>
            <a:ext cx="11358000" cy="1056900"/>
          </a:xfrm>
          <a:prstGeom prst="rect">
            <a:avLst/>
          </a:prstGeom>
        </p:spPr>
        <p:txBody>
          <a:bodyPr anchorCtr="0" anchor="t" bIns="121875" lIns="121875" spcFirstLastPara="1" rIns="121875" wrap="square" tIns="121875">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16" name="Google Shape;116;p20"/>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lnSpcReduction="10000"/>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496" y="593367"/>
            <a:ext cx="11358000" cy="763500"/>
          </a:xfrm>
          <a:prstGeom prst="rect">
            <a:avLst/>
          </a:prstGeom>
          <a:noFill/>
          <a:ln>
            <a:noFill/>
          </a:ln>
        </p:spPr>
        <p:txBody>
          <a:bodyPr anchorCtr="0" anchor="t" bIns="121875" lIns="121875" spcFirstLastPara="1" rIns="121875" wrap="square" tIns="121875">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496" y="1536633"/>
            <a:ext cx="11358000" cy="4555200"/>
          </a:xfrm>
          <a:prstGeom prst="rect">
            <a:avLst/>
          </a:prstGeom>
          <a:noFill/>
          <a:ln>
            <a:noFill/>
          </a:ln>
        </p:spPr>
        <p:txBody>
          <a:bodyPr anchorCtr="0" anchor="t" bIns="121875" lIns="121875" spcFirstLastPara="1" rIns="121875" wrap="square" tIns="121875">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3784" y="6217622"/>
            <a:ext cx="731400" cy="524700"/>
          </a:xfrm>
          <a:prstGeom prst="rect">
            <a:avLst/>
          </a:prstGeom>
          <a:noFill/>
          <a:ln>
            <a:noFill/>
          </a:ln>
        </p:spPr>
        <p:txBody>
          <a:bodyPr anchorCtr="0" anchor="ctr" bIns="121875" lIns="121875" spcFirstLastPara="1" rIns="121875" wrap="square" tIns="121875">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hyperlink" Target="https://drive.google.com/open?id=1t-p4ykPOs5J1C77EPoyZQ9fIM8kZfQX0&amp;authuser=andrew.pons%40databricks.com&amp;usp=drive_f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image" Target="../media/image21.png"/><Relationship Id="rId7" Type="http://schemas.openxmlformats.org/officeDocument/2006/relationships/image" Target="../media/image16.png"/><Relationship Id="rId8" Type="http://schemas.openxmlformats.org/officeDocument/2006/relationships/image" Target="../media/image2.png"/></Relationships>
</file>

<file path=ppt/slides/_rels/slide19.xml.rels><?xml version="1.0" encoding="UTF-8" standalone="yes"?><Relationships xmlns="http://schemas.openxmlformats.org/package/2006/relationships"><Relationship Id="rId10" Type="http://schemas.openxmlformats.org/officeDocument/2006/relationships/image" Target="../media/image11.png"/><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9.png"/><Relationship Id="rId5" Type="http://schemas.openxmlformats.org/officeDocument/2006/relationships/image" Target="../media/image4.png"/><Relationship Id="rId6" Type="http://schemas.openxmlformats.org/officeDocument/2006/relationships/image" Target="../media/image20.png"/><Relationship Id="rId7" Type="http://schemas.openxmlformats.org/officeDocument/2006/relationships/image" Target="../media/image12.png"/><Relationship Id="rId8" Type="http://schemas.openxmlformats.org/officeDocument/2006/relationships/image" Target="../media/image15.png"/></Relationships>
</file>

<file path=ppt/slides/_rels/slide20.xml.rels><?xml version="1.0" encoding="UTF-8" standalone="yes"?><Relationships xmlns="http://schemas.openxmlformats.org/package/2006/relationships"><Relationship Id="rId20" Type="http://schemas.openxmlformats.org/officeDocument/2006/relationships/image" Target="../media/image42.png"/><Relationship Id="rId11" Type="http://schemas.openxmlformats.org/officeDocument/2006/relationships/image" Target="../media/image55.png"/><Relationship Id="rId10" Type="http://schemas.openxmlformats.org/officeDocument/2006/relationships/image" Target="../media/image22.png"/><Relationship Id="rId21" Type="http://schemas.openxmlformats.org/officeDocument/2006/relationships/image" Target="../media/image31.png"/><Relationship Id="rId13" Type="http://schemas.openxmlformats.org/officeDocument/2006/relationships/image" Target="../media/image32.png"/><Relationship Id="rId12" Type="http://schemas.openxmlformats.org/officeDocument/2006/relationships/image" Target="../media/image35.png"/><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25.png"/><Relationship Id="rId9" Type="http://schemas.openxmlformats.org/officeDocument/2006/relationships/image" Target="../media/image13.png"/><Relationship Id="rId15" Type="http://schemas.openxmlformats.org/officeDocument/2006/relationships/image" Target="../media/image33.png"/><Relationship Id="rId14" Type="http://schemas.openxmlformats.org/officeDocument/2006/relationships/image" Target="../media/image40.png"/><Relationship Id="rId17" Type="http://schemas.openxmlformats.org/officeDocument/2006/relationships/image" Target="../media/image38.png"/><Relationship Id="rId16" Type="http://schemas.openxmlformats.org/officeDocument/2006/relationships/image" Target="../media/image37.png"/><Relationship Id="rId5" Type="http://schemas.openxmlformats.org/officeDocument/2006/relationships/image" Target="../media/image23.png"/><Relationship Id="rId19" Type="http://schemas.openxmlformats.org/officeDocument/2006/relationships/image" Target="../media/image29.png"/><Relationship Id="rId6" Type="http://schemas.openxmlformats.org/officeDocument/2006/relationships/image" Target="../media/image18.png"/><Relationship Id="rId18" Type="http://schemas.openxmlformats.org/officeDocument/2006/relationships/image" Target="../media/image28.png"/><Relationship Id="rId7" Type="http://schemas.openxmlformats.org/officeDocument/2006/relationships/image" Target="../media/image8.png"/><Relationship Id="rId8"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1" Type="http://schemas.openxmlformats.org/officeDocument/2006/relationships/image" Target="../media/image57.gif"/><Relationship Id="rId10" Type="http://schemas.openxmlformats.org/officeDocument/2006/relationships/image" Target="../media/image45.gif"/><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87.png"/><Relationship Id="rId4" Type="http://schemas.openxmlformats.org/officeDocument/2006/relationships/image" Target="../media/image27.png"/><Relationship Id="rId9" Type="http://schemas.openxmlformats.org/officeDocument/2006/relationships/image" Target="../media/image36.gif"/><Relationship Id="rId5" Type="http://schemas.openxmlformats.org/officeDocument/2006/relationships/image" Target="../media/image34.png"/><Relationship Id="rId6" Type="http://schemas.openxmlformats.org/officeDocument/2006/relationships/image" Target="../media/image41.png"/><Relationship Id="rId7" Type="http://schemas.openxmlformats.org/officeDocument/2006/relationships/image" Target="../media/image39.png"/><Relationship Id="rId8" Type="http://schemas.openxmlformats.org/officeDocument/2006/relationships/image" Target="../media/image43.png"/></Relationships>
</file>

<file path=ppt/slides/_rels/slide23.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60.png"/><Relationship Id="rId13" Type="http://schemas.openxmlformats.org/officeDocument/2006/relationships/image" Target="../media/image64.png"/><Relationship Id="rId12" Type="http://schemas.openxmlformats.org/officeDocument/2006/relationships/image" Target="../media/image49.png"/><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51.png"/><Relationship Id="rId9" Type="http://schemas.openxmlformats.org/officeDocument/2006/relationships/image" Target="../media/image56.png"/><Relationship Id="rId15" Type="http://schemas.openxmlformats.org/officeDocument/2006/relationships/image" Target="../media/image59.png"/><Relationship Id="rId14" Type="http://schemas.openxmlformats.org/officeDocument/2006/relationships/image" Target="../media/image44.png"/><Relationship Id="rId16" Type="http://schemas.openxmlformats.org/officeDocument/2006/relationships/image" Target="../media/image71.png"/><Relationship Id="rId5" Type="http://schemas.openxmlformats.org/officeDocument/2006/relationships/image" Target="../media/image53.png"/><Relationship Id="rId6" Type="http://schemas.openxmlformats.org/officeDocument/2006/relationships/image" Target="../media/image50.png"/><Relationship Id="rId7" Type="http://schemas.openxmlformats.org/officeDocument/2006/relationships/image" Target="../media/image65.png"/><Relationship Id="rId8" Type="http://schemas.openxmlformats.org/officeDocument/2006/relationships/image" Target="../media/image54.png"/></Relationships>
</file>

<file path=ppt/slides/_rels/slide24.xml.rels><?xml version="1.0" encoding="UTF-8" standalone="yes"?><Relationships xmlns="http://schemas.openxmlformats.org/package/2006/relationships"><Relationship Id="rId20" Type="http://schemas.openxmlformats.org/officeDocument/2006/relationships/image" Target="../media/image84.png"/><Relationship Id="rId11" Type="http://schemas.openxmlformats.org/officeDocument/2006/relationships/image" Target="../media/image63.png"/><Relationship Id="rId10" Type="http://schemas.openxmlformats.org/officeDocument/2006/relationships/image" Target="../media/image72.png"/><Relationship Id="rId13" Type="http://schemas.openxmlformats.org/officeDocument/2006/relationships/image" Target="../media/image66.png"/><Relationship Id="rId12" Type="http://schemas.openxmlformats.org/officeDocument/2006/relationships/image" Target="../media/image76.png"/><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52.png"/><Relationship Id="rId4" Type="http://schemas.openxmlformats.org/officeDocument/2006/relationships/image" Target="../media/image48.png"/><Relationship Id="rId9" Type="http://schemas.openxmlformats.org/officeDocument/2006/relationships/image" Target="../media/image67.png"/><Relationship Id="rId15" Type="http://schemas.openxmlformats.org/officeDocument/2006/relationships/image" Target="../media/image70.png"/><Relationship Id="rId14" Type="http://schemas.openxmlformats.org/officeDocument/2006/relationships/image" Target="../media/image83.png"/><Relationship Id="rId17" Type="http://schemas.openxmlformats.org/officeDocument/2006/relationships/image" Target="../media/image69.png"/><Relationship Id="rId16" Type="http://schemas.openxmlformats.org/officeDocument/2006/relationships/image" Target="../media/image75.png"/><Relationship Id="rId5" Type="http://schemas.openxmlformats.org/officeDocument/2006/relationships/image" Target="../media/image46.png"/><Relationship Id="rId19" Type="http://schemas.openxmlformats.org/officeDocument/2006/relationships/image" Target="../media/image68.png"/><Relationship Id="rId6" Type="http://schemas.openxmlformats.org/officeDocument/2006/relationships/image" Target="../media/image61.png"/><Relationship Id="rId18" Type="http://schemas.openxmlformats.org/officeDocument/2006/relationships/image" Target="../media/image81.png"/><Relationship Id="rId7" Type="http://schemas.openxmlformats.org/officeDocument/2006/relationships/image" Target="../media/image58.png"/><Relationship Id="rId8" Type="http://schemas.openxmlformats.org/officeDocument/2006/relationships/image" Target="../media/image62.png"/></Relationships>
</file>

<file path=ppt/slides/_rels/slide25.xml.rels><?xml version="1.0" encoding="UTF-8" standalone="yes"?><Relationships xmlns="http://schemas.openxmlformats.org/package/2006/relationships"><Relationship Id="rId11" Type="http://schemas.openxmlformats.org/officeDocument/2006/relationships/image" Target="../media/image82.png"/><Relationship Id="rId10" Type="http://schemas.openxmlformats.org/officeDocument/2006/relationships/image" Target="../media/image95.png"/><Relationship Id="rId13" Type="http://schemas.openxmlformats.org/officeDocument/2006/relationships/image" Target="../media/image94.png"/><Relationship Id="rId12" Type="http://schemas.openxmlformats.org/officeDocument/2006/relationships/image" Target="../media/image74.png"/><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77.png"/><Relationship Id="rId14" Type="http://schemas.openxmlformats.org/officeDocument/2006/relationships/image" Target="../media/image93.png"/><Relationship Id="rId5" Type="http://schemas.openxmlformats.org/officeDocument/2006/relationships/image" Target="../media/image80.png"/><Relationship Id="rId6" Type="http://schemas.openxmlformats.org/officeDocument/2006/relationships/image" Target="../media/image73.png"/><Relationship Id="rId7" Type="http://schemas.openxmlformats.org/officeDocument/2006/relationships/image" Target="../media/image91.png"/><Relationship Id="rId8" Type="http://schemas.openxmlformats.org/officeDocument/2006/relationships/image" Target="../media/image88.png"/></Relationships>
</file>

<file path=ppt/slides/_rels/slide26.xml.rels><?xml version="1.0" encoding="UTF-8" standalone="yes"?><Relationships xmlns="http://schemas.openxmlformats.org/package/2006/relationships"><Relationship Id="rId11" Type="http://schemas.openxmlformats.org/officeDocument/2006/relationships/image" Target="../media/image108.png"/><Relationship Id="rId10" Type="http://schemas.openxmlformats.org/officeDocument/2006/relationships/image" Target="../media/image90.png"/><Relationship Id="rId13" Type="http://schemas.openxmlformats.org/officeDocument/2006/relationships/image" Target="../media/image107.png"/><Relationship Id="rId12" Type="http://schemas.openxmlformats.org/officeDocument/2006/relationships/image" Target="../media/image98.png"/><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86.png"/><Relationship Id="rId4" Type="http://schemas.openxmlformats.org/officeDocument/2006/relationships/image" Target="../media/image89.png"/><Relationship Id="rId9" Type="http://schemas.openxmlformats.org/officeDocument/2006/relationships/image" Target="../media/image96.png"/><Relationship Id="rId14" Type="http://schemas.openxmlformats.org/officeDocument/2006/relationships/image" Target="../media/image106.png"/><Relationship Id="rId5" Type="http://schemas.openxmlformats.org/officeDocument/2006/relationships/image" Target="../media/image92.png"/><Relationship Id="rId6" Type="http://schemas.openxmlformats.org/officeDocument/2006/relationships/image" Target="../media/image110.png"/><Relationship Id="rId7" Type="http://schemas.openxmlformats.org/officeDocument/2006/relationships/image" Target="../media/image85.png"/><Relationship Id="rId8" Type="http://schemas.openxmlformats.org/officeDocument/2006/relationships/image" Target="../media/image112.png"/></Relationships>
</file>

<file path=ppt/slides/_rels/slide27.xml.rels><?xml version="1.0" encoding="UTF-8" standalone="yes"?><Relationships xmlns="http://schemas.openxmlformats.org/package/2006/relationships"><Relationship Id="rId11" Type="http://schemas.openxmlformats.org/officeDocument/2006/relationships/image" Target="../media/image99.png"/><Relationship Id="rId10" Type="http://schemas.openxmlformats.org/officeDocument/2006/relationships/image" Target="../media/image105.png"/><Relationship Id="rId13" Type="http://schemas.openxmlformats.org/officeDocument/2006/relationships/image" Target="../media/image111.png"/><Relationship Id="rId12" Type="http://schemas.openxmlformats.org/officeDocument/2006/relationships/image" Target="../media/image119.png"/><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100.png"/><Relationship Id="rId4" Type="http://schemas.openxmlformats.org/officeDocument/2006/relationships/image" Target="../media/image97.png"/><Relationship Id="rId9" Type="http://schemas.openxmlformats.org/officeDocument/2006/relationships/image" Target="../media/image115.png"/><Relationship Id="rId14" Type="http://schemas.openxmlformats.org/officeDocument/2006/relationships/image" Target="../media/image103.png"/><Relationship Id="rId5" Type="http://schemas.openxmlformats.org/officeDocument/2006/relationships/image" Target="../media/image109.png"/><Relationship Id="rId6" Type="http://schemas.openxmlformats.org/officeDocument/2006/relationships/image" Target="../media/image102.png"/><Relationship Id="rId7" Type="http://schemas.openxmlformats.org/officeDocument/2006/relationships/image" Target="../media/image135.png"/><Relationship Id="rId8" Type="http://schemas.openxmlformats.org/officeDocument/2006/relationships/image" Target="../media/image104.png"/></Relationships>
</file>

<file path=ppt/slides/_rels/slide28.xml.rels><?xml version="1.0" encoding="UTF-8" standalone="yes"?><Relationships xmlns="http://schemas.openxmlformats.org/package/2006/relationships"><Relationship Id="rId11" Type="http://schemas.openxmlformats.org/officeDocument/2006/relationships/image" Target="../media/image123.png"/><Relationship Id="rId10" Type="http://schemas.openxmlformats.org/officeDocument/2006/relationships/image" Target="../media/image120.png"/><Relationship Id="rId13" Type="http://schemas.openxmlformats.org/officeDocument/2006/relationships/image" Target="../media/image118.png"/><Relationship Id="rId12" Type="http://schemas.openxmlformats.org/officeDocument/2006/relationships/image" Target="../media/image139.png"/><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117.png"/><Relationship Id="rId4" Type="http://schemas.openxmlformats.org/officeDocument/2006/relationships/image" Target="../media/image101.png"/><Relationship Id="rId9" Type="http://schemas.openxmlformats.org/officeDocument/2006/relationships/image" Target="../media/image127.png"/><Relationship Id="rId14" Type="http://schemas.openxmlformats.org/officeDocument/2006/relationships/image" Target="../media/image124.png"/><Relationship Id="rId5" Type="http://schemas.openxmlformats.org/officeDocument/2006/relationships/image" Target="../media/image113.png"/><Relationship Id="rId6" Type="http://schemas.openxmlformats.org/officeDocument/2006/relationships/image" Target="../media/image116.png"/><Relationship Id="rId7" Type="http://schemas.openxmlformats.org/officeDocument/2006/relationships/image" Target="../media/image114.png"/><Relationship Id="rId8" Type="http://schemas.openxmlformats.org/officeDocument/2006/relationships/image" Target="../media/image126.png"/></Relationships>
</file>

<file path=ppt/slides/_rels/slide29.xml.rels><?xml version="1.0" encoding="UTF-8" standalone="yes"?><Relationships xmlns="http://schemas.openxmlformats.org/package/2006/relationships"><Relationship Id="rId11" Type="http://schemas.openxmlformats.org/officeDocument/2006/relationships/image" Target="../media/image131.png"/><Relationship Id="rId10" Type="http://schemas.openxmlformats.org/officeDocument/2006/relationships/image" Target="../media/image121.png"/><Relationship Id="rId13" Type="http://schemas.openxmlformats.org/officeDocument/2006/relationships/image" Target="../media/image160.png"/><Relationship Id="rId12" Type="http://schemas.openxmlformats.org/officeDocument/2006/relationships/image" Target="../media/image137.png"/><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125.png"/><Relationship Id="rId4" Type="http://schemas.openxmlformats.org/officeDocument/2006/relationships/image" Target="../media/image133.png"/><Relationship Id="rId9" Type="http://schemas.openxmlformats.org/officeDocument/2006/relationships/image" Target="../media/image129.png"/><Relationship Id="rId14" Type="http://schemas.openxmlformats.org/officeDocument/2006/relationships/image" Target="../media/image149.png"/><Relationship Id="rId5" Type="http://schemas.openxmlformats.org/officeDocument/2006/relationships/image" Target="../media/image132.png"/><Relationship Id="rId6" Type="http://schemas.openxmlformats.org/officeDocument/2006/relationships/image" Target="../media/image122.png"/><Relationship Id="rId7" Type="http://schemas.openxmlformats.org/officeDocument/2006/relationships/image" Target="../media/image156.png"/><Relationship Id="rId8" Type="http://schemas.openxmlformats.org/officeDocument/2006/relationships/image" Target="../media/image141.png"/></Relationships>
</file>

<file path=ppt/slides/_rels/slide30.xml.rels><?xml version="1.0" encoding="UTF-8" standalone="yes"?><Relationships xmlns="http://schemas.openxmlformats.org/package/2006/relationships"><Relationship Id="rId11" Type="http://schemas.openxmlformats.org/officeDocument/2006/relationships/image" Target="../media/image144.png"/><Relationship Id="rId10" Type="http://schemas.openxmlformats.org/officeDocument/2006/relationships/image" Target="../media/image146.png"/><Relationship Id="rId13" Type="http://schemas.openxmlformats.org/officeDocument/2006/relationships/image" Target="../media/image143.png"/><Relationship Id="rId12" Type="http://schemas.openxmlformats.org/officeDocument/2006/relationships/image" Target="../media/image153.png"/><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138.png"/><Relationship Id="rId4" Type="http://schemas.openxmlformats.org/officeDocument/2006/relationships/image" Target="../media/image128.png"/><Relationship Id="rId9" Type="http://schemas.openxmlformats.org/officeDocument/2006/relationships/image" Target="../media/image130.png"/><Relationship Id="rId14" Type="http://schemas.openxmlformats.org/officeDocument/2006/relationships/image" Target="../media/image142.png"/><Relationship Id="rId5" Type="http://schemas.openxmlformats.org/officeDocument/2006/relationships/image" Target="../media/image145.png"/><Relationship Id="rId6" Type="http://schemas.openxmlformats.org/officeDocument/2006/relationships/image" Target="../media/image136.png"/><Relationship Id="rId7" Type="http://schemas.openxmlformats.org/officeDocument/2006/relationships/image" Target="../media/image134.png"/><Relationship Id="rId8" Type="http://schemas.openxmlformats.org/officeDocument/2006/relationships/image" Target="../media/image140.png"/></Relationships>
</file>

<file path=ppt/slides/_rels/slide31.xml.rels><?xml version="1.0" encoding="UTF-8" standalone="yes"?><Relationships xmlns="http://schemas.openxmlformats.org/package/2006/relationships"><Relationship Id="rId11" Type="http://schemas.openxmlformats.org/officeDocument/2006/relationships/image" Target="../media/image151.png"/><Relationship Id="rId10" Type="http://schemas.openxmlformats.org/officeDocument/2006/relationships/image" Target="../media/image162.png"/><Relationship Id="rId13" Type="http://schemas.openxmlformats.org/officeDocument/2006/relationships/image" Target="../media/image158.png"/><Relationship Id="rId12" Type="http://schemas.openxmlformats.org/officeDocument/2006/relationships/image" Target="../media/image164.png"/><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152.png"/><Relationship Id="rId4" Type="http://schemas.openxmlformats.org/officeDocument/2006/relationships/image" Target="../media/image147.png"/><Relationship Id="rId9" Type="http://schemas.openxmlformats.org/officeDocument/2006/relationships/image" Target="../media/image161.png"/><Relationship Id="rId14" Type="http://schemas.openxmlformats.org/officeDocument/2006/relationships/image" Target="../media/image169.png"/><Relationship Id="rId5" Type="http://schemas.openxmlformats.org/officeDocument/2006/relationships/image" Target="../media/image178.png"/><Relationship Id="rId6" Type="http://schemas.openxmlformats.org/officeDocument/2006/relationships/image" Target="../media/image155.png"/><Relationship Id="rId7" Type="http://schemas.openxmlformats.org/officeDocument/2006/relationships/image" Target="../media/image150.png"/><Relationship Id="rId8" Type="http://schemas.openxmlformats.org/officeDocument/2006/relationships/image" Target="../media/image148.png"/></Relationships>
</file>

<file path=ppt/slides/_rels/slide32.xml.rels><?xml version="1.0" encoding="UTF-8" standalone="yes"?><Relationships xmlns="http://schemas.openxmlformats.org/package/2006/relationships"><Relationship Id="rId11" Type="http://schemas.openxmlformats.org/officeDocument/2006/relationships/image" Target="../media/image154.png"/><Relationship Id="rId10" Type="http://schemas.openxmlformats.org/officeDocument/2006/relationships/image" Target="../media/image172.png"/><Relationship Id="rId13" Type="http://schemas.openxmlformats.org/officeDocument/2006/relationships/image" Target="../media/image157.png"/><Relationship Id="rId12" Type="http://schemas.openxmlformats.org/officeDocument/2006/relationships/image" Target="../media/image174.png"/><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165.png"/><Relationship Id="rId4" Type="http://schemas.openxmlformats.org/officeDocument/2006/relationships/image" Target="../media/image171.png"/><Relationship Id="rId9" Type="http://schemas.openxmlformats.org/officeDocument/2006/relationships/image" Target="../media/image182.png"/><Relationship Id="rId14" Type="http://schemas.openxmlformats.org/officeDocument/2006/relationships/image" Target="../media/image167.png"/><Relationship Id="rId5" Type="http://schemas.openxmlformats.org/officeDocument/2006/relationships/image" Target="../media/image181.png"/><Relationship Id="rId6" Type="http://schemas.openxmlformats.org/officeDocument/2006/relationships/image" Target="../media/image163.png"/><Relationship Id="rId7" Type="http://schemas.openxmlformats.org/officeDocument/2006/relationships/image" Target="../media/image166.png"/><Relationship Id="rId8" Type="http://schemas.openxmlformats.org/officeDocument/2006/relationships/image" Target="../media/image159.png"/></Relationships>
</file>

<file path=ppt/slides/_rels/slide33.xml.rels><?xml version="1.0" encoding="UTF-8" standalone="yes"?><Relationships xmlns="http://schemas.openxmlformats.org/package/2006/relationships"><Relationship Id="rId11" Type="http://schemas.openxmlformats.org/officeDocument/2006/relationships/image" Target="../media/image195.png"/><Relationship Id="rId10" Type="http://schemas.openxmlformats.org/officeDocument/2006/relationships/image" Target="../media/image185.png"/><Relationship Id="rId13" Type="http://schemas.openxmlformats.org/officeDocument/2006/relationships/image" Target="../media/image189.png"/><Relationship Id="rId12" Type="http://schemas.openxmlformats.org/officeDocument/2006/relationships/image" Target="../media/image192.png"/><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183.png"/><Relationship Id="rId4" Type="http://schemas.openxmlformats.org/officeDocument/2006/relationships/image" Target="../media/image177.png"/><Relationship Id="rId9" Type="http://schemas.openxmlformats.org/officeDocument/2006/relationships/image" Target="../media/image173.png"/><Relationship Id="rId14" Type="http://schemas.openxmlformats.org/officeDocument/2006/relationships/image" Target="../media/image193.png"/><Relationship Id="rId5" Type="http://schemas.openxmlformats.org/officeDocument/2006/relationships/image" Target="../media/image170.png"/><Relationship Id="rId6" Type="http://schemas.openxmlformats.org/officeDocument/2006/relationships/image" Target="../media/image184.png"/><Relationship Id="rId7" Type="http://schemas.openxmlformats.org/officeDocument/2006/relationships/image" Target="../media/image168.png"/><Relationship Id="rId8" Type="http://schemas.openxmlformats.org/officeDocument/2006/relationships/image" Target="../media/image175.png"/></Relationships>
</file>

<file path=ppt/slides/_rels/slide34.xml.rels><?xml version="1.0" encoding="UTF-8" standalone="yes"?><Relationships xmlns="http://schemas.openxmlformats.org/package/2006/relationships"><Relationship Id="rId20" Type="http://schemas.openxmlformats.org/officeDocument/2006/relationships/image" Target="../media/image208.png"/><Relationship Id="rId11" Type="http://schemas.openxmlformats.org/officeDocument/2006/relationships/image" Target="../media/image194.png"/><Relationship Id="rId10" Type="http://schemas.openxmlformats.org/officeDocument/2006/relationships/image" Target="../media/image190.png"/><Relationship Id="rId13" Type="http://schemas.openxmlformats.org/officeDocument/2006/relationships/image" Target="../media/image187.png"/><Relationship Id="rId12" Type="http://schemas.openxmlformats.org/officeDocument/2006/relationships/image" Target="../media/image186.png"/><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176.png"/><Relationship Id="rId4" Type="http://schemas.openxmlformats.org/officeDocument/2006/relationships/image" Target="../media/image191.png"/><Relationship Id="rId9" Type="http://schemas.openxmlformats.org/officeDocument/2006/relationships/image" Target="../media/image180.png"/><Relationship Id="rId15" Type="http://schemas.openxmlformats.org/officeDocument/2006/relationships/image" Target="../media/image188.png"/><Relationship Id="rId14" Type="http://schemas.openxmlformats.org/officeDocument/2006/relationships/image" Target="../media/image198.png"/><Relationship Id="rId17" Type="http://schemas.openxmlformats.org/officeDocument/2006/relationships/image" Target="../media/image223.png"/><Relationship Id="rId16" Type="http://schemas.openxmlformats.org/officeDocument/2006/relationships/image" Target="../media/image202.png"/><Relationship Id="rId5" Type="http://schemas.openxmlformats.org/officeDocument/2006/relationships/image" Target="../media/image197.png"/><Relationship Id="rId19" Type="http://schemas.openxmlformats.org/officeDocument/2006/relationships/image" Target="../media/image199.png"/><Relationship Id="rId6" Type="http://schemas.openxmlformats.org/officeDocument/2006/relationships/image" Target="../media/image205.png"/><Relationship Id="rId18" Type="http://schemas.openxmlformats.org/officeDocument/2006/relationships/image" Target="../media/image204.png"/><Relationship Id="rId7" Type="http://schemas.openxmlformats.org/officeDocument/2006/relationships/image" Target="../media/image200.png"/><Relationship Id="rId8" Type="http://schemas.openxmlformats.org/officeDocument/2006/relationships/image" Target="../media/image179.png"/></Relationships>
</file>

<file path=ppt/slides/_rels/slide35.xml.rels><?xml version="1.0" encoding="UTF-8" standalone="yes"?><Relationships xmlns="http://schemas.openxmlformats.org/package/2006/relationships"><Relationship Id="rId20" Type="http://schemas.openxmlformats.org/officeDocument/2006/relationships/image" Target="../media/image218.png"/><Relationship Id="rId11" Type="http://schemas.openxmlformats.org/officeDocument/2006/relationships/image" Target="../media/image219.png"/><Relationship Id="rId10" Type="http://schemas.openxmlformats.org/officeDocument/2006/relationships/image" Target="../media/image196.png"/><Relationship Id="rId13" Type="http://schemas.openxmlformats.org/officeDocument/2006/relationships/image" Target="../media/image212.png"/><Relationship Id="rId12" Type="http://schemas.openxmlformats.org/officeDocument/2006/relationships/image" Target="../media/image234.png"/><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207.png"/><Relationship Id="rId4" Type="http://schemas.openxmlformats.org/officeDocument/2006/relationships/image" Target="../media/image201.png"/><Relationship Id="rId9" Type="http://schemas.openxmlformats.org/officeDocument/2006/relationships/image" Target="../media/image213.png"/><Relationship Id="rId15" Type="http://schemas.openxmlformats.org/officeDocument/2006/relationships/image" Target="../media/image220.png"/><Relationship Id="rId14" Type="http://schemas.openxmlformats.org/officeDocument/2006/relationships/image" Target="../media/image229.png"/><Relationship Id="rId17" Type="http://schemas.openxmlformats.org/officeDocument/2006/relationships/image" Target="../media/image203.png"/><Relationship Id="rId16" Type="http://schemas.openxmlformats.org/officeDocument/2006/relationships/image" Target="../media/image210.png"/><Relationship Id="rId5" Type="http://schemas.openxmlformats.org/officeDocument/2006/relationships/image" Target="../media/image211.png"/><Relationship Id="rId19" Type="http://schemas.openxmlformats.org/officeDocument/2006/relationships/image" Target="../media/image227.png"/><Relationship Id="rId6" Type="http://schemas.openxmlformats.org/officeDocument/2006/relationships/image" Target="../media/image209.png"/><Relationship Id="rId18" Type="http://schemas.openxmlformats.org/officeDocument/2006/relationships/image" Target="../media/image214.png"/><Relationship Id="rId7" Type="http://schemas.openxmlformats.org/officeDocument/2006/relationships/image" Target="../media/image215.png"/><Relationship Id="rId8" Type="http://schemas.openxmlformats.org/officeDocument/2006/relationships/image" Target="../media/image206.png"/></Relationships>
</file>

<file path=ppt/slides/_rels/slide36.xml.rels><?xml version="1.0" encoding="UTF-8" standalone="yes"?><Relationships xmlns="http://schemas.openxmlformats.org/package/2006/relationships"><Relationship Id="rId20" Type="http://schemas.openxmlformats.org/officeDocument/2006/relationships/image" Target="../media/image243.png"/><Relationship Id="rId11" Type="http://schemas.openxmlformats.org/officeDocument/2006/relationships/image" Target="../media/image241.png"/><Relationship Id="rId10" Type="http://schemas.openxmlformats.org/officeDocument/2006/relationships/image" Target="../media/image233.png"/><Relationship Id="rId13" Type="http://schemas.openxmlformats.org/officeDocument/2006/relationships/image" Target="../media/image225.png"/><Relationship Id="rId12" Type="http://schemas.openxmlformats.org/officeDocument/2006/relationships/image" Target="../media/image226.png"/><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228.png"/><Relationship Id="rId4" Type="http://schemas.openxmlformats.org/officeDocument/2006/relationships/image" Target="../media/image221.png"/><Relationship Id="rId9" Type="http://schemas.openxmlformats.org/officeDocument/2006/relationships/image" Target="../media/image216.png"/><Relationship Id="rId15" Type="http://schemas.openxmlformats.org/officeDocument/2006/relationships/image" Target="../media/image235.png"/><Relationship Id="rId14" Type="http://schemas.openxmlformats.org/officeDocument/2006/relationships/image" Target="../media/image231.png"/><Relationship Id="rId17" Type="http://schemas.openxmlformats.org/officeDocument/2006/relationships/image" Target="../media/image249.png"/><Relationship Id="rId16" Type="http://schemas.openxmlformats.org/officeDocument/2006/relationships/image" Target="../media/image261.png"/><Relationship Id="rId5" Type="http://schemas.openxmlformats.org/officeDocument/2006/relationships/image" Target="../media/image232.png"/><Relationship Id="rId19" Type="http://schemas.openxmlformats.org/officeDocument/2006/relationships/image" Target="../media/image239.png"/><Relationship Id="rId6" Type="http://schemas.openxmlformats.org/officeDocument/2006/relationships/image" Target="../media/image217.png"/><Relationship Id="rId18" Type="http://schemas.openxmlformats.org/officeDocument/2006/relationships/image" Target="../media/image230.png"/><Relationship Id="rId7" Type="http://schemas.openxmlformats.org/officeDocument/2006/relationships/image" Target="../media/image224.png"/><Relationship Id="rId8" Type="http://schemas.openxmlformats.org/officeDocument/2006/relationships/image" Target="../media/image222.png"/></Relationships>
</file>

<file path=ppt/slides/_rels/slide37.xml.rels><?xml version="1.0" encoding="UTF-8" standalone="yes"?><Relationships xmlns="http://schemas.openxmlformats.org/package/2006/relationships"><Relationship Id="rId20" Type="http://schemas.openxmlformats.org/officeDocument/2006/relationships/image" Target="../media/image256.png"/><Relationship Id="rId11" Type="http://schemas.openxmlformats.org/officeDocument/2006/relationships/image" Target="../media/image255.png"/><Relationship Id="rId10" Type="http://schemas.openxmlformats.org/officeDocument/2006/relationships/image" Target="../media/image237.png"/><Relationship Id="rId13" Type="http://schemas.openxmlformats.org/officeDocument/2006/relationships/image" Target="../media/image254.png"/><Relationship Id="rId12" Type="http://schemas.openxmlformats.org/officeDocument/2006/relationships/image" Target="../media/image269.png"/><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248.png"/><Relationship Id="rId4" Type="http://schemas.openxmlformats.org/officeDocument/2006/relationships/image" Target="../media/image236.png"/><Relationship Id="rId9" Type="http://schemas.openxmlformats.org/officeDocument/2006/relationships/image" Target="../media/image238.png"/><Relationship Id="rId15" Type="http://schemas.openxmlformats.org/officeDocument/2006/relationships/image" Target="../media/image247.png"/><Relationship Id="rId14" Type="http://schemas.openxmlformats.org/officeDocument/2006/relationships/image" Target="../media/image252.png"/><Relationship Id="rId17" Type="http://schemas.openxmlformats.org/officeDocument/2006/relationships/image" Target="../media/image258.png"/><Relationship Id="rId16" Type="http://schemas.openxmlformats.org/officeDocument/2006/relationships/image" Target="../media/image250.png"/><Relationship Id="rId5" Type="http://schemas.openxmlformats.org/officeDocument/2006/relationships/image" Target="../media/image242.png"/><Relationship Id="rId19" Type="http://schemas.openxmlformats.org/officeDocument/2006/relationships/image" Target="../media/image257.png"/><Relationship Id="rId6" Type="http://schemas.openxmlformats.org/officeDocument/2006/relationships/image" Target="../media/image244.png"/><Relationship Id="rId18" Type="http://schemas.openxmlformats.org/officeDocument/2006/relationships/image" Target="../media/image253.png"/><Relationship Id="rId7" Type="http://schemas.openxmlformats.org/officeDocument/2006/relationships/image" Target="../media/image245.png"/><Relationship Id="rId8" Type="http://schemas.openxmlformats.org/officeDocument/2006/relationships/image" Target="../media/image240.png"/></Relationships>
</file>

<file path=ppt/slides/_rels/slide38.xml.rels><?xml version="1.0" encoding="UTF-8" standalone="yes"?><Relationships xmlns="http://schemas.openxmlformats.org/package/2006/relationships"><Relationship Id="rId20" Type="http://schemas.openxmlformats.org/officeDocument/2006/relationships/image" Target="../media/image279.png"/><Relationship Id="rId11" Type="http://schemas.openxmlformats.org/officeDocument/2006/relationships/image" Target="../media/image266.png"/><Relationship Id="rId22" Type="http://schemas.openxmlformats.org/officeDocument/2006/relationships/image" Target="../media/image287.png"/><Relationship Id="rId10" Type="http://schemas.openxmlformats.org/officeDocument/2006/relationships/image" Target="../media/image276.png"/><Relationship Id="rId21" Type="http://schemas.openxmlformats.org/officeDocument/2006/relationships/image" Target="../media/image263.png"/><Relationship Id="rId13" Type="http://schemas.openxmlformats.org/officeDocument/2006/relationships/image" Target="../media/image273.png"/><Relationship Id="rId12" Type="http://schemas.openxmlformats.org/officeDocument/2006/relationships/image" Target="../media/image268.png"/><Relationship Id="rId23" Type="http://schemas.openxmlformats.org/officeDocument/2006/relationships/image" Target="../media/image278.png"/><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259.png"/><Relationship Id="rId4" Type="http://schemas.openxmlformats.org/officeDocument/2006/relationships/image" Target="../media/image246.png"/><Relationship Id="rId9" Type="http://schemas.openxmlformats.org/officeDocument/2006/relationships/image" Target="../media/image267.png"/><Relationship Id="rId15" Type="http://schemas.openxmlformats.org/officeDocument/2006/relationships/image" Target="../media/image274.png"/><Relationship Id="rId14" Type="http://schemas.openxmlformats.org/officeDocument/2006/relationships/image" Target="../media/image277.png"/><Relationship Id="rId17" Type="http://schemas.openxmlformats.org/officeDocument/2006/relationships/image" Target="../media/image260.png"/><Relationship Id="rId16" Type="http://schemas.openxmlformats.org/officeDocument/2006/relationships/image" Target="../media/image272.png"/><Relationship Id="rId5" Type="http://schemas.openxmlformats.org/officeDocument/2006/relationships/image" Target="../media/image264.png"/><Relationship Id="rId19" Type="http://schemas.openxmlformats.org/officeDocument/2006/relationships/image" Target="../media/image270.png"/><Relationship Id="rId6" Type="http://schemas.openxmlformats.org/officeDocument/2006/relationships/image" Target="../media/image251.png"/><Relationship Id="rId18" Type="http://schemas.openxmlformats.org/officeDocument/2006/relationships/image" Target="../media/image298.png"/><Relationship Id="rId7" Type="http://schemas.openxmlformats.org/officeDocument/2006/relationships/image" Target="../media/image262.png"/><Relationship Id="rId8" Type="http://schemas.openxmlformats.org/officeDocument/2006/relationships/image" Target="../media/image265.png"/></Relationships>
</file>

<file path=ppt/slides/_rels/slide39.xml.rels><?xml version="1.0" encoding="UTF-8" standalone="yes"?><Relationships xmlns="http://schemas.openxmlformats.org/package/2006/relationships"><Relationship Id="rId20" Type="http://schemas.openxmlformats.org/officeDocument/2006/relationships/image" Target="../media/image302.png"/><Relationship Id="rId11" Type="http://schemas.openxmlformats.org/officeDocument/2006/relationships/image" Target="../media/image275.png"/><Relationship Id="rId22" Type="http://schemas.openxmlformats.org/officeDocument/2006/relationships/image" Target="../media/image294.png"/><Relationship Id="rId10" Type="http://schemas.openxmlformats.org/officeDocument/2006/relationships/image" Target="../media/image291.png"/><Relationship Id="rId21" Type="http://schemas.openxmlformats.org/officeDocument/2006/relationships/image" Target="../media/image304.png"/><Relationship Id="rId13" Type="http://schemas.openxmlformats.org/officeDocument/2006/relationships/image" Target="../media/image292.png"/><Relationship Id="rId12" Type="http://schemas.openxmlformats.org/officeDocument/2006/relationships/image" Target="../media/image299.png"/><Relationship Id="rId23" Type="http://schemas.openxmlformats.org/officeDocument/2006/relationships/image" Target="../media/image311.png"/><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271.png"/><Relationship Id="rId4" Type="http://schemas.openxmlformats.org/officeDocument/2006/relationships/image" Target="../media/image281.png"/><Relationship Id="rId9" Type="http://schemas.openxmlformats.org/officeDocument/2006/relationships/image" Target="../media/image283.png"/><Relationship Id="rId15" Type="http://schemas.openxmlformats.org/officeDocument/2006/relationships/image" Target="../media/image286.png"/><Relationship Id="rId14" Type="http://schemas.openxmlformats.org/officeDocument/2006/relationships/image" Target="../media/image284.png"/><Relationship Id="rId17" Type="http://schemas.openxmlformats.org/officeDocument/2006/relationships/image" Target="../media/image296.png"/><Relationship Id="rId16" Type="http://schemas.openxmlformats.org/officeDocument/2006/relationships/image" Target="../media/image289.png"/><Relationship Id="rId5" Type="http://schemas.openxmlformats.org/officeDocument/2006/relationships/image" Target="../media/image285.png"/><Relationship Id="rId19" Type="http://schemas.openxmlformats.org/officeDocument/2006/relationships/image" Target="../media/image282.png"/><Relationship Id="rId6" Type="http://schemas.openxmlformats.org/officeDocument/2006/relationships/image" Target="../media/image280.png"/><Relationship Id="rId18" Type="http://schemas.openxmlformats.org/officeDocument/2006/relationships/image" Target="../media/image297.png"/><Relationship Id="rId7" Type="http://schemas.openxmlformats.org/officeDocument/2006/relationships/image" Target="../media/image290.png"/><Relationship Id="rId8" Type="http://schemas.openxmlformats.org/officeDocument/2006/relationships/image" Target="../media/image288.png"/></Relationships>
</file>

<file path=ppt/slides/_rels/slide40.xml.rels><?xml version="1.0" encoding="UTF-8" standalone="yes"?><Relationships xmlns="http://schemas.openxmlformats.org/package/2006/relationships"><Relationship Id="rId20" Type="http://schemas.openxmlformats.org/officeDocument/2006/relationships/image" Target="../media/image303.png"/><Relationship Id="rId11" Type="http://schemas.openxmlformats.org/officeDocument/2006/relationships/image" Target="../media/image310.png"/><Relationship Id="rId22" Type="http://schemas.openxmlformats.org/officeDocument/2006/relationships/image" Target="../media/image314.png"/><Relationship Id="rId10" Type="http://schemas.openxmlformats.org/officeDocument/2006/relationships/image" Target="../media/image305.png"/><Relationship Id="rId21" Type="http://schemas.openxmlformats.org/officeDocument/2006/relationships/image" Target="../media/image313.png"/><Relationship Id="rId13" Type="http://schemas.openxmlformats.org/officeDocument/2006/relationships/image" Target="../media/image309.png"/><Relationship Id="rId12" Type="http://schemas.openxmlformats.org/officeDocument/2006/relationships/image" Target="../media/image295.png"/><Relationship Id="rId23" Type="http://schemas.openxmlformats.org/officeDocument/2006/relationships/image" Target="../media/image321.png"/><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300.png"/><Relationship Id="rId4" Type="http://schemas.openxmlformats.org/officeDocument/2006/relationships/image" Target="../media/image293.png"/><Relationship Id="rId9" Type="http://schemas.openxmlformats.org/officeDocument/2006/relationships/image" Target="../media/image308.png"/><Relationship Id="rId15" Type="http://schemas.openxmlformats.org/officeDocument/2006/relationships/image" Target="../media/image312.png"/><Relationship Id="rId14" Type="http://schemas.openxmlformats.org/officeDocument/2006/relationships/image" Target="../media/image301.png"/><Relationship Id="rId17" Type="http://schemas.openxmlformats.org/officeDocument/2006/relationships/image" Target="../media/image322.png"/><Relationship Id="rId16" Type="http://schemas.openxmlformats.org/officeDocument/2006/relationships/image" Target="../media/image317.png"/><Relationship Id="rId5" Type="http://schemas.openxmlformats.org/officeDocument/2006/relationships/image" Target="../media/image318.png"/><Relationship Id="rId19" Type="http://schemas.openxmlformats.org/officeDocument/2006/relationships/image" Target="../media/image323.png"/><Relationship Id="rId6" Type="http://schemas.openxmlformats.org/officeDocument/2006/relationships/image" Target="../media/image340.png"/><Relationship Id="rId18" Type="http://schemas.openxmlformats.org/officeDocument/2006/relationships/image" Target="../media/image316.png"/><Relationship Id="rId7" Type="http://schemas.openxmlformats.org/officeDocument/2006/relationships/image" Target="../media/image307.png"/><Relationship Id="rId8" Type="http://schemas.openxmlformats.org/officeDocument/2006/relationships/image" Target="../media/image306.png"/></Relationships>
</file>

<file path=ppt/slides/_rels/slide41.xml.rels><?xml version="1.0" encoding="UTF-8" standalone="yes"?><Relationships xmlns="http://schemas.openxmlformats.org/package/2006/relationships"><Relationship Id="rId20" Type="http://schemas.openxmlformats.org/officeDocument/2006/relationships/image" Target="../media/image333.png"/><Relationship Id="rId11" Type="http://schemas.openxmlformats.org/officeDocument/2006/relationships/image" Target="../media/image338.png"/><Relationship Id="rId22" Type="http://schemas.openxmlformats.org/officeDocument/2006/relationships/image" Target="../media/image343.png"/><Relationship Id="rId10" Type="http://schemas.openxmlformats.org/officeDocument/2006/relationships/image" Target="../media/image337.png"/><Relationship Id="rId21" Type="http://schemas.openxmlformats.org/officeDocument/2006/relationships/image" Target="../media/image332.png"/><Relationship Id="rId13" Type="http://schemas.openxmlformats.org/officeDocument/2006/relationships/image" Target="../media/image324.png"/><Relationship Id="rId12" Type="http://schemas.openxmlformats.org/officeDocument/2006/relationships/image" Target="../media/image328.png"/><Relationship Id="rId23" Type="http://schemas.openxmlformats.org/officeDocument/2006/relationships/image" Target="../media/image336.png"/><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320.png"/><Relationship Id="rId4" Type="http://schemas.openxmlformats.org/officeDocument/2006/relationships/image" Target="../media/image326.png"/><Relationship Id="rId9" Type="http://schemas.openxmlformats.org/officeDocument/2006/relationships/image" Target="../media/image335.png"/><Relationship Id="rId15" Type="http://schemas.openxmlformats.org/officeDocument/2006/relationships/image" Target="../media/image334.png"/><Relationship Id="rId14" Type="http://schemas.openxmlformats.org/officeDocument/2006/relationships/image" Target="../media/image327.png"/><Relationship Id="rId17" Type="http://schemas.openxmlformats.org/officeDocument/2006/relationships/image" Target="../media/image341.png"/><Relationship Id="rId16" Type="http://schemas.openxmlformats.org/officeDocument/2006/relationships/image" Target="../media/image358.png"/><Relationship Id="rId5" Type="http://schemas.openxmlformats.org/officeDocument/2006/relationships/image" Target="../media/image319.png"/><Relationship Id="rId19" Type="http://schemas.openxmlformats.org/officeDocument/2006/relationships/image" Target="../media/image330.png"/><Relationship Id="rId6" Type="http://schemas.openxmlformats.org/officeDocument/2006/relationships/image" Target="../media/image315.png"/><Relationship Id="rId18" Type="http://schemas.openxmlformats.org/officeDocument/2006/relationships/image" Target="../media/image329.png"/><Relationship Id="rId7" Type="http://schemas.openxmlformats.org/officeDocument/2006/relationships/image" Target="../media/image331.png"/><Relationship Id="rId8" Type="http://schemas.openxmlformats.org/officeDocument/2006/relationships/image" Target="../media/image325.png"/></Relationships>
</file>

<file path=ppt/slides/_rels/slide42.xml.rels><?xml version="1.0" encoding="UTF-8" standalone="yes"?><Relationships xmlns="http://schemas.openxmlformats.org/package/2006/relationships"><Relationship Id="rId20" Type="http://schemas.openxmlformats.org/officeDocument/2006/relationships/image" Target="../media/image359.png"/><Relationship Id="rId11" Type="http://schemas.openxmlformats.org/officeDocument/2006/relationships/image" Target="../media/image350.png"/><Relationship Id="rId22" Type="http://schemas.openxmlformats.org/officeDocument/2006/relationships/image" Target="../media/image362.png"/><Relationship Id="rId10" Type="http://schemas.openxmlformats.org/officeDocument/2006/relationships/image" Target="../media/image345.png"/><Relationship Id="rId21" Type="http://schemas.openxmlformats.org/officeDocument/2006/relationships/image" Target="../media/image360.png"/><Relationship Id="rId13" Type="http://schemas.openxmlformats.org/officeDocument/2006/relationships/image" Target="../media/image347.png"/><Relationship Id="rId12" Type="http://schemas.openxmlformats.org/officeDocument/2006/relationships/image" Target="../media/image349.png"/><Relationship Id="rId23" Type="http://schemas.openxmlformats.org/officeDocument/2006/relationships/image" Target="../media/image352.png"/><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342.png"/><Relationship Id="rId4" Type="http://schemas.openxmlformats.org/officeDocument/2006/relationships/image" Target="../media/image353.png"/><Relationship Id="rId9" Type="http://schemas.openxmlformats.org/officeDocument/2006/relationships/image" Target="../media/image348.png"/><Relationship Id="rId15" Type="http://schemas.openxmlformats.org/officeDocument/2006/relationships/image" Target="../media/image354.png"/><Relationship Id="rId14" Type="http://schemas.openxmlformats.org/officeDocument/2006/relationships/image" Target="../media/image356.png"/><Relationship Id="rId17" Type="http://schemas.openxmlformats.org/officeDocument/2006/relationships/image" Target="../media/image355.png"/><Relationship Id="rId16" Type="http://schemas.openxmlformats.org/officeDocument/2006/relationships/image" Target="../media/image357.png"/><Relationship Id="rId5" Type="http://schemas.openxmlformats.org/officeDocument/2006/relationships/image" Target="../media/image346.png"/><Relationship Id="rId19" Type="http://schemas.openxmlformats.org/officeDocument/2006/relationships/image" Target="../media/image383.png"/><Relationship Id="rId6" Type="http://schemas.openxmlformats.org/officeDocument/2006/relationships/image" Target="../media/image339.png"/><Relationship Id="rId18" Type="http://schemas.openxmlformats.org/officeDocument/2006/relationships/image" Target="../media/image361.png"/><Relationship Id="rId7" Type="http://schemas.openxmlformats.org/officeDocument/2006/relationships/image" Target="../media/image344.png"/><Relationship Id="rId8" Type="http://schemas.openxmlformats.org/officeDocument/2006/relationships/image" Target="../media/image351.png"/></Relationships>
</file>

<file path=ppt/slides/_rels/slide43.xml.rels><?xml version="1.0" encoding="UTF-8" standalone="yes"?><Relationships xmlns="http://schemas.openxmlformats.org/package/2006/relationships"><Relationship Id="rId20" Type="http://schemas.openxmlformats.org/officeDocument/2006/relationships/image" Target="../media/image377.png"/><Relationship Id="rId11" Type="http://schemas.openxmlformats.org/officeDocument/2006/relationships/image" Target="../media/image370.png"/><Relationship Id="rId22" Type="http://schemas.openxmlformats.org/officeDocument/2006/relationships/image" Target="../media/image379.png"/><Relationship Id="rId10" Type="http://schemas.openxmlformats.org/officeDocument/2006/relationships/image" Target="../media/image376.png"/><Relationship Id="rId21" Type="http://schemas.openxmlformats.org/officeDocument/2006/relationships/image" Target="../media/image374.png"/><Relationship Id="rId13" Type="http://schemas.openxmlformats.org/officeDocument/2006/relationships/image" Target="../media/image372.png"/><Relationship Id="rId12" Type="http://schemas.openxmlformats.org/officeDocument/2006/relationships/image" Target="../media/image368.png"/><Relationship Id="rId23" Type="http://schemas.openxmlformats.org/officeDocument/2006/relationships/image" Target="../media/image388.png"/><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373.png"/><Relationship Id="rId4" Type="http://schemas.openxmlformats.org/officeDocument/2006/relationships/image" Target="../media/image366.png"/><Relationship Id="rId9" Type="http://schemas.openxmlformats.org/officeDocument/2006/relationships/image" Target="../media/image369.png"/><Relationship Id="rId15" Type="http://schemas.openxmlformats.org/officeDocument/2006/relationships/image" Target="../media/image363.png"/><Relationship Id="rId14" Type="http://schemas.openxmlformats.org/officeDocument/2006/relationships/image" Target="../media/image375.png"/><Relationship Id="rId17" Type="http://schemas.openxmlformats.org/officeDocument/2006/relationships/image" Target="../media/image389.png"/><Relationship Id="rId16" Type="http://schemas.openxmlformats.org/officeDocument/2006/relationships/image" Target="../media/image382.png"/><Relationship Id="rId5" Type="http://schemas.openxmlformats.org/officeDocument/2006/relationships/image" Target="../media/image371.png"/><Relationship Id="rId19" Type="http://schemas.openxmlformats.org/officeDocument/2006/relationships/image" Target="../media/image381.png"/><Relationship Id="rId6" Type="http://schemas.openxmlformats.org/officeDocument/2006/relationships/image" Target="../media/image364.png"/><Relationship Id="rId18" Type="http://schemas.openxmlformats.org/officeDocument/2006/relationships/image" Target="../media/image378.png"/><Relationship Id="rId7" Type="http://schemas.openxmlformats.org/officeDocument/2006/relationships/image" Target="../media/image367.png"/><Relationship Id="rId8" Type="http://schemas.openxmlformats.org/officeDocument/2006/relationships/image" Target="../media/image365.png"/></Relationships>
</file>

<file path=ppt/slides/_rels/slide44.xml.rels><?xml version="1.0" encoding="UTF-8" standalone="yes"?><Relationships xmlns="http://schemas.openxmlformats.org/package/2006/relationships"><Relationship Id="rId20" Type="http://schemas.openxmlformats.org/officeDocument/2006/relationships/image" Target="../media/image414.png"/><Relationship Id="rId11" Type="http://schemas.openxmlformats.org/officeDocument/2006/relationships/image" Target="../media/image386.png"/><Relationship Id="rId22" Type="http://schemas.openxmlformats.org/officeDocument/2006/relationships/image" Target="../media/image400.png"/><Relationship Id="rId10" Type="http://schemas.openxmlformats.org/officeDocument/2006/relationships/image" Target="../media/image392.png"/><Relationship Id="rId21" Type="http://schemas.openxmlformats.org/officeDocument/2006/relationships/image" Target="../media/image391.png"/><Relationship Id="rId13" Type="http://schemas.openxmlformats.org/officeDocument/2006/relationships/image" Target="../media/image399.png"/><Relationship Id="rId12" Type="http://schemas.openxmlformats.org/officeDocument/2006/relationships/image" Target="../media/image412.png"/><Relationship Id="rId23" Type="http://schemas.openxmlformats.org/officeDocument/2006/relationships/image" Target="../media/image407.png"/><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387.png"/><Relationship Id="rId4" Type="http://schemas.openxmlformats.org/officeDocument/2006/relationships/image" Target="../media/image395.png"/><Relationship Id="rId9" Type="http://schemas.openxmlformats.org/officeDocument/2006/relationships/image" Target="../media/image398.png"/><Relationship Id="rId15" Type="http://schemas.openxmlformats.org/officeDocument/2006/relationships/image" Target="../media/image384.png"/><Relationship Id="rId14" Type="http://schemas.openxmlformats.org/officeDocument/2006/relationships/image" Target="../media/image396.png"/><Relationship Id="rId17" Type="http://schemas.openxmlformats.org/officeDocument/2006/relationships/image" Target="../media/image401.png"/><Relationship Id="rId16" Type="http://schemas.openxmlformats.org/officeDocument/2006/relationships/image" Target="../media/image385.png"/><Relationship Id="rId5" Type="http://schemas.openxmlformats.org/officeDocument/2006/relationships/image" Target="../media/image390.png"/><Relationship Id="rId19" Type="http://schemas.openxmlformats.org/officeDocument/2006/relationships/image" Target="../media/image397.png"/><Relationship Id="rId6" Type="http://schemas.openxmlformats.org/officeDocument/2006/relationships/image" Target="../media/image403.png"/><Relationship Id="rId18" Type="http://schemas.openxmlformats.org/officeDocument/2006/relationships/image" Target="../media/image394.png"/><Relationship Id="rId7" Type="http://schemas.openxmlformats.org/officeDocument/2006/relationships/image" Target="../media/image380.png"/><Relationship Id="rId8" Type="http://schemas.openxmlformats.org/officeDocument/2006/relationships/image" Target="../media/image393.png"/></Relationships>
</file>

<file path=ppt/slides/_rels/slide45.xml.rels><?xml version="1.0" encoding="UTF-8" standalone="yes"?><Relationships xmlns="http://schemas.openxmlformats.org/package/2006/relationships"><Relationship Id="rId20" Type="http://schemas.openxmlformats.org/officeDocument/2006/relationships/image" Target="../media/image427.png"/><Relationship Id="rId11" Type="http://schemas.openxmlformats.org/officeDocument/2006/relationships/image" Target="../media/image402.png"/><Relationship Id="rId22" Type="http://schemas.openxmlformats.org/officeDocument/2006/relationships/image" Target="../media/image420.png"/><Relationship Id="rId10" Type="http://schemas.openxmlformats.org/officeDocument/2006/relationships/image" Target="../media/image413.png"/><Relationship Id="rId21" Type="http://schemas.openxmlformats.org/officeDocument/2006/relationships/image" Target="../media/image430.png"/><Relationship Id="rId13" Type="http://schemas.openxmlformats.org/officeDocument/2006/relationships/image" Target="../media/image410.png"/><Relationship Id="rId12" Type="http://schemas.openxmlformats.org/officeDocument/2006/relationships/image" Target="../media/image409.png"/><Relationship Id="rId23" Type="http://schemas.openxmlformats.org/officeDocument/2006/relationships/image" Target="../media/image429.png"/><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408.png"/><Relationship Id="rId4" Type="http://schemas.openxmlformats.org/officeDocument/2006/relationships/image" Target="../media/image404.png"/><Relationship Id="rId9" Type="http://schemas.openxmlformats.org/officeDocument/2006/relationships/image" Target="../media/image418.png"/><Relationship Id="rId15" Type="http://schemas.openxmlformats.org/officeDocument/2006/relationships/image" Target="../media/image419.png"/><Relationship Id="rId14" Type="http://schemas.openxmlformats.org/officeDocument/2006/relationships/image" Target="../media/image415.png"/><Relationship Id="rId17" Type="http://schemas.openxmlformats.org/officeDocument/2006/relationships/image" Target="../media/image426.png"/><Relationship Id="rId16" Type="http://schemas.openxmlformats.org/officeDocument/2006/relationships/image" Target="../media/image416.png"/><Relationship Id="rId5" Type="http://schemas.openxmlformats.org/officeDocument/2006/relationships/image" Target="../media/image411.png"/><Relationship Id="rId19" Type="http://schemas.openxmlformats.org/officeDocument/2006/relationships/image" Target="../media/image432.png"/><Relationship Id="rId6" Type="http://schemas.openxmlformats.org/officeDocument/2006/relationships/image" Target="../media/image406.png"/><Relationship Id="rId18" Type="http://schemas.openxmlformats.org/officeDocument/2006/relationships/image" Target="../media/image433.png"/><Relationship Id="rId7" Type="http://schemas.openxmlformats.org/officeDocument/2006/relationships/image" Target="../media/image423.png"/><Relationship Id="rId8" Type="http://schemas.openxmlformats.org/officeDocument/2006/relationships/image" Target="../media/image405.png"/></Relationships>
</file>

<file path=ppt/slides/_rels/slide46.xml.rels><?xml version="1.0" encoding="UTF-8" standalone="yes"?><Relationships xmlns="http://schemas.openxmlformats.org/package/2006/relationships"><Relationship Id="rId20" Type="http://schemas.openxmlformats.org/officeDocument/2006/relationships/image" Target="../media/image462.png"/><Relationship Id="rId11" Type="http://schemas.openxmlformats.org/officeDocument/2006/relationships/image" Target="../media/image434.png"/><Relationship Id="rId10" Type="http://schemas.openxmlformats.org/officeDocument/2006/relationships/image" Target="../media/image436.png"/><Relationship Id="rId13" Type="http://schemas.openxmlformats.org/officeDocument/2006/relationships/image" Target="../media/image422.png"/><Relationship Id="rId12" Type="http://schemas.openxmlformats.org/officeDocument/2006/relationships/image" Target="../media/image428.png"/><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417.png"/><Relationship Id="rId4" Type="http://schemas.openxmlformats.org/officeDocument/2006/relationships/image" Target="../media/image424.png"/><Relationship Id="rId9" Type="http://schemas.openxmlformats.org/officeDocument/2006/relationships/image" Target="../media/image421.png"/><Relationship Id="rId15" Type="http://schemas.openxmlformats.org/officeDocument/2006/relationships/image" Target="../media/image435.png"/><Relationship Id="rId14" Type="http://schemas.openxmlformats.org/officeDocument/2006/relationships/image" Target="../media/image441.png"/><Relationship Id="rId17" Type="http://schemas.openxmlformats.org/officeDocument/2006/relationships/image" Target="../media/image439.png"/><Relationship Id="rId16" Type="http://schemas.openxmlformats.org/officeDocument/2006/relationships/image" Target="../media/image450.png"/><Relationship Id="rId5" Type="http://schemas.openxmlformats.org/officeDocument/2006/relationships/image" Target="../media/image440.png"/><Relationship Id="rId19" Type="http://schemas.openxmlformats.org/officeDocument/2006/relationships/image" Target="../media/image442.png"/><Relationship Id="rId6" Type="http://schemas.openxmlformats.org/officeDocument/2006/relationships/image" Target="../media/image447.png"/><Relationship Id="rId18" Type="http://schemas.openxmlformats.org/officeDocument/2006/relationships/image" Target="../media/image445.png"/><Relationship Id="rId7" Type="http://schemas.openxmlformats.org/officeDocument/2006/relationships/image" Target="../media/image431.png"/><Relationship Id="rId8" Type="http://schemas.openxmlformats.org/officeDocument/2006/relationships/image" Target="../media/image425.png"/></Relationships>
</file>

<file path=ppt/slides/_rels/slide47.xml.rels><?xml version="1.0" encoding="UTF-8" standalone="yes"?><Relationships xmlns="http://schemas.openxmlformats.org/package/2006/relationships"><Relationship Id="rId20" Type="http://schemas.openxmlformats.org/officeDocument/2006/relationships/image" Target="../media/image459.png"/><Relationship Id="rId11" Type="http://schemas.openxmlformats.org/officeDocument/2006/relationships/image" Target="../media/image460.png"/><Relationship Id="rId10" Type="http://schemas.openxmlformats.org/officeDocument/2006/relationships/image" Target="../media/image455.png"/><Relationship Id="rId13" Type="http://schemas.openxmlformats.org/officeDocument/2006/relationships/image" Target="../media/image444.png"/><Relationship Id="rId12" Type="http://schemas.openxmlformats.org/officeDocument/2006/relationships/image" Target="../media/image457.png"/><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448.png"/><Relationship Id="rId4" Type="http://schemas.openxmlformats.org/officeDocument/2006/relationships/image" Target="../media/image449.png"/><Relationship Id="rId9" Type="http://schemas.openxmlformats.org/officeDocument/2006/relationships/image" Target="../media/image443.png"/><Relationship Id="rId15" Type="http://schemas.openxmlformats.org/officeDocument/2006/relationships/image" Target="../media/image463.png"/><Relationship Id="rId14" Type="http://schemas.openxmlformats.org/officeDocument/2006/relationships/image" Target="../media/image437.png"/><Relationship Id="rId17" Type="http://schemas.openxmlformats.org/officeDocument/2006/relationships/image" Target="../media/image456.png"/><Relationship Id="rId16" Type="http://schemas.openxmlformats.org/officeDocument/2006/relationships/image" Target="../media/image453.png"/><Relationship Id="rId5" Type="http://schemas.openxmlformats.org/officeDocument/2006/relationships/image" Target="../media/image468.png"/><Relationship Id="rId19" Type="http://schemas.openxmlformats.org/officeDocument/2006/relationships/image" Target="../media/image451.png"/><Relationship Id="rId6" Type="http://schemas.openxmlformats.org/officeDocument/2006/relationships/image" Target="../media/image446.png"/><Relationship Id="rId18" Type="http://schemas.openxmlformats.org/officeDocument/2006/relationships/image" Target="../media/image454.png"/><Relationship Id="rId7" Type="http://schemas.openxmlformats.org/officeDocument/2006/relationships/image" Target="../media/image438.png"/><Relationship Id="rId8" Type="http://schemas.openxmlformats.org/officeDocument/2006/relationships/image" Target="../media/image452.png"/></Relationships>
</file>

<file path=ppt/slides/_rels/slide48.xml.rels><?xml version="1.0" encoding="UTF-8" standalone="yes"?><Relationships xmlns="http://schemas.openxmlformats.org/package/2006/relationships"><Relationship Id="rId20" Type="http://schemas.openxmlformats.org/officeDocument/2006/relationships/image" Target="../media/image484.png"/><Relationship Id="rId11" Type="http://schemas.openxmlformats.org/officeDocument/2006/relationships/image" Target="../media/image480.png"/><Relationship Id="rId22" Type="http://schemas.openxmlformats.org/officeDocument/2006/relationships/image" Target="../media/image482.png"/><Relationship Id="rId10" Type="http://schemas.openxmlformats.org/officeDocument/2006/relationships/image" Target="../media/image465.png"/><Relationship Id="rId21" Type="http://schemas.openxmlformats.org/officeDocument/2006/relationships/image" Target="../media/image473.png"/><Relationship Id="rId13" Type="http://schemas.openxmlformats.org/officeDocument/2006/relationships/image" Target="../media/image477.png"/><Relationship Id="rId12" Type="http://schemas.openxmlformats.org/officeDocument/2006/relationships/image" Target="../media/image469.png"/><Relationship Id="rId23" Type="http://schemas.openxmlformats.org/officeDocument/2006/relationships/image" Target="../media/image483.png"/><Relationship Id="rId1" Type="http://schemas.openxmlformats.org/officeDocument/2006/relationships/slideLayout" Target="../slideLayouts/slideLayout15.xml"/><Relationship Id="rId2" Type="http://schemas.openxmlformats.org/officeDocument/2006/relationships/notesSlide" Target="../notesSlides/notesSlide48.xml"/><Relationship Id="rId3" Type="http://schemas.openxmlformats.org/officeDocument/2006/relationships/image" Target="../media/image467.png"/><Relationship Id="rId4" Type="http://schemas.openxmlformats.org/officeDocument/2006/relationships/image" Target="../media/image458.png"/><Relationship Id="rId9" Type="http://schemas.openxmlformats.org/officeDocument/2006/relationships/image" Target="../media/image466.png"/><Relationship Id="rId15" Type="http://schemas.openxmlformats.org/officeDocument/2006/relationships/image" Target="../media/image470.png"/><Relationship Id="rId14" Type="http://schemas.openxmlformats.org/officeDocument/2006/relationships/image" Target="../media/image479.png"/><Relationship Id="rId17" Type="http://schemas.openxmlformats.org/officeDocument/2006/relationships/image" Target="../media/image511.png"/><Relationship Id="rId16" Type="http://schemas.openxmlformats.org/officeDocument/2006/relationships/image" Target="../media/image472.png"/><Relationship Id="rId5" Type="http://schemas.openxmlformats.org/officeDocument/2006/relationships/image" Target="../media/image461.png"/><Relationship Id="rId19" Type="http://schemas.openxmlformats.org/officeDocument/2006/relationships/image" Target="../media/image481.png"/><Relationship Id="rId6" Type="http://schemas.openxmlformats.org/officeDocument/2006/relationships/image" Target="../media/image475.png"/><Relationship Id="rId18" Type="http://schemas.openxmlformats.org/officeDocument/2006/relationships/image" Target="../media/image474.png"/><Relationship Id="rId7" Type="http://schemas.openxmlformats.org/officeDocument/2006/relationships/image" Target="../media/image464.png"/><Relationship Id="rId8" Type="http://schemas.openxmlformats.org/officeDocument/2006/relationships/image" Target="../media/image471.png"/></Relationships>
</file>

<file path=ppt/slides/_rels/slide49.xml.rels><?xml version="1.0" encoding="UTF-8" standalone="yes"?><Relationships xmlns="http://schemas.openxmlformats.org/package/2006/relationships"><Relationship Id="rId20" Type="http://schemas.openxmlformats.org/officeDocument/2006/relationships/image" Target="../media/image509.png"/><Relationship Id="rId11" Type="http://schemas.openxmlformats.org/officeDocument/2006/relationships/image" Target="../media/image487.png"/><Relationship Id="rId22" Type="http://schemas.openxmlformats.org/officeDocument/2006/relationships/image" Target="../media/image500.png"/><Relationship Id="rId10" Type="http://schemas.openxmlformats.org/officeDocument/2006/relationships/image" Target="../media/image489.png"/><Relationship Id="rId21" Type="http://schemas.openxmlformats.org/officeDocument/2006/relationships/image" Target="../media/image502.png"/><Relationship Id="rId13" Type="http://schemas.openxmlformats.org/officeDocument/2006/relationships/image" Target="../media/image504.png"/><Relationship Id="rId12" Type="http://schemas.openxmlformats.org/officeDocument/2006/relationships/image" Target="../media/image490.png"/><Relationship Id="rId23" Type="http://schemas.openxmlformats.org/officeDocument/2006/relationships/image" Target="../media/image497.png"/><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488.png"/><Relationship Id="rId4" Type="http://schemas.openxmlformats.org/officeDocument/2006/relationships/image" Target="../media/image478.png"/><Relationship Id="rId9" Type="http://schemas.openxmlformats.org/officeDocument/2006/relationships/image" Target="../media/image494.png"/><Relationship Id="rId15" Type="http://schemas.openxmlformats.org/officeDocument/2006/relationships/image" Target="../media/image496.png"/><Relationship Id="rId14" Type="http://schemas.openxmlformats.org/officeDocument/2006/relationships/image" Target="../media/image495.png"/><Relationship Id="rId17" Type="http://schemas.openxmlformats.org/officeDocument/2006/relationships/image" Target="../media/image485.png"/><Relationship Id="rId16" Type="http://schemas.openxmlformats.org/officeDocument/2006/relationships/image" Target="../media/image501.png"/><Relationship Id="rId5" Type="http://schemas.openxmlformats.org/officeDocument/2006/relationships/image" Target="../media/image476.png"/><Relationship Id="rId19" Type="http://schemas.openxmlformats.org/officeDocument/2006/relationships/image" Target="../media/image486.png"/><Relationship Id="rId6" Type="http://schemas.openxmlformats.org/officeDocument/2006/relationships/image" Target="../media/image499.png"/><Relationship Id="rId18" Type="http://schemas.openxmlformats.org/officeDocument/2006/relationships/image" Target="../media/image491.png"/><Relationship Id="rId7" Type="http://schemas.openxmlformats.org/officeDocument/2006/relationships/image" Target="../media/image492.png"/><Relationship Id="rId8" Type="http://schemas.openxmlformats.org/officeDocument/2006/relationships/image" Target="../media/image493.png"/></Relationships>
</file>

<file path=ppt/slides/_rels/slide50.xml.rels><?xml version="1.0" encoding="UTF-8" standalone="yes"?><Relationships xmlns="http://schemas.openxmlformats.org/package/2006/relationships"><Relationship Id="rId20" Type="http://schemas.openxmlformats.org/officeDocument/2006/relationships/image" Target="../media/image516.png"/><Relationship Id="rId11" Type="http://schemas.openxmlformats.org/officeDocument/2006/relationships/image" Target="../media/image505.png"/><Relationship Id="rId22" Type="http://schemas.openxmlformats.org/officeDocument/2006/relationships/image" Target="../media/image519.png"/><Relationship Id="rId10" Type="http://schemas.openxmlformats.org/officeDocument/2006/relationships/image" Target="../media/image503.png"/><Relationship Id="rId21" Type="http://schemas.openxmlformats.org/officeDocument/2006/relationships/image" Target="../media/image527.png"/><Relationship Id="rId13" Type="http://schemas.openxmlformats.org/officeDocument/2006/relationships/image" Target="../media/image528.png"/><Relationship Id="rId12" Type="http://schemas.openxmlformats.org/officeDocument/2006/relationships/image" Target="../media/image518.png"/><Relationship Id="rId23" Type="http://schemas.openxmlformats.org/officeDocument/2006/relationships/image" Target="../media/image512.png"/><Relationship Id="rId1" Type="http://schemas.openxmlformats.org/officeDocument/2006/relationships/slideLayout" Target="../slideLayouts/slideLayout15.xml"/><Relationship Id="rId2" Type="http://schemas.openxmlformats.org/officeDocument/2006/relationships/notesSlide" Target="../notesSlides/notesSlide50.xml"/><Relationship Id="rId3" Type="http://schemas.openxmlformats.org/officeDocument/2006/relationships/image" Target="../media/image507.png"/><Relationship Id="rId4" Type="http://schemas.openxmlformats.org/officeDocument/2006/relationships/image" Target="../media/image510.png"/><Relationship Id="rId9" Type="http://schemas.openxmlformats.org/officeDocument/2006/relationships/image" Target="../media/image531.png"/><Relationship Id="rId15" Type="http://schemas.openxmlformats.org/officeDocument/2006/relationships/image" Target="../media/image520.png"/><Relationship Id="rId14" Type="http://schemas.openxmlformats.org/officeDocument/2006/relationships/image" Target="../media/image517.png"/><Relationship Id="rId17" Type="http://schemas.openxmlformats.org/officeDocument/2006/relationships/image" Target="../media/image515.png"/><Relationship Id="rId16" Type="http://schemas.openxmlformats.org/officeDocument/2006/relationships/image" Target="../media/image521.png"/><Relationship Id="rId5" Type="http://schemas.openxmlformats.org/officeDocument/2006/relationships/image" Target="../media/image498.png"/><Relationship Id="rId19" Type="http://schemas.openxmlformats.org/officeDocument/2006/relationships/image" Target="../media/image523.png"/><Relationship Id="rId6" Type="http://schemas.openxmlformats.org/officeDocument/2006/relationships/image" Target="../media/image508.png"/><Relationship Id="rId18" Type="http://schemas.openxmlformats.org/officeDocument/2006/relationships/image" Target="../media/image513.png"/><Relationship Id="rId7" Type="http://schemas.openxmlformats.org/officeDocument/2006/relationships/image" Target="../media/image506.png"/><Relationship Id="rId8" Type="http://schemas.openxmlformats.org/officeDocument/2006/relationships/image" Target="../media/image514.png"/></Relationships>
</file>

<file path=ppt/slides/_rels/slide51.xml.rels><?xml version="1.0" encoding="UTF-8" standalone="yes"?><Relationships xmlns="http://schemas.openxmlformats.org/package/2006/relationships"><Relationship Id="rId11" Type="http://schemas.openxmlformats.org/officeDocument/2006/relationships/image" Target="../media/image537.png"/><Relationship Id="rId10" Type="http://schemas.openxmlformats.org/officeDocument/2006/relationships/image" Target="../media/image534.png"/><Relationship Id="rId13" Type="http://schemas.openxmlformats.org/officeDocument/2006/relationships/image" Target="../media/image522.png"/><Relationship Id="rId12" Type="http://schemas.openxmlformats.org/officeDocument/2006/relationships/image" Target="../media/image530.png"/><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image" Target="../media/image525.png"/><Relationship Id="rId4" Type="http://schemas.openxmlformats.org/officeDocument/2006/relationships/image" Target="../media/image526.png"/><Relationship Id="rId9" Type="http://schemas.openxmlformats.org/officeDocument/2006/relationships/image" Target="../media/image535.png"/><Relationship Id="rId14" Type="http://schemas.openxmlformats.org/officeDocument/2006/relationships/image" Target="../media/image542.png"/><Relationship Id="rId5" Type="http://schemas.openxmlformats.org/officeDocument/2006/relationships/image" Target="../media/image529.png"/><Relationship Id="rId6" Type="http://schemas.openxmlformats.org/officeDocument/2006/relationships/image" Target="../media/image539.png"/><Relationship Id="rId7" Type="http://schemas.openxmlformats.org/officeDocument/2006/relationships/image" Target="../media/image549.png"/><Relationship Id="rId8" Type="http://schemas.openxmlformats.org/officeDocument/2006/relationships/image" Target="../media/image532.png"/></Relationships>
</file>

<file path=ppt/slides/_rels/slide52.xml.rels><?xml version="1.0" encoding="UTF-8" standalone="yes"?><Relationships xmlns="http://schemas.openxmlformats.org/package/2006/relationships"><Relationship Id="rId20" Type="http://schemas.openxmlformats.org/officeDocument/2006/relationships/image" Target="../media/image567.png"/><Relationship Id="rId22" Type="http://schemas.openxmlformats.org/officeDocument/2006/relationships/image" Target="../media/image557.png"/><Relationship Id="rId21" Type="http://schemas.openxmlformats.org/officeDocument/2006/relationships/image" Target="../media/image570.png"/><Relationship Id="rId24" Type="http://schemas.openxmlformats.org/officeDocument/2006/relationships/image" Target="../media/image556.png"/><Relationship Id="rId23" Type="http://schemas.openxmlformats.org/officeDocument/2006/relationships/image" Target="../media/image559.png"/><Relationship Id="rId1" Type="http://schemas.openxmlformats.org/officeDocument/2006/relationships/slideLayout" Target="../slideLayouts/slideLayout15.xml"/><Relationship Id="rId2" Type="http://schemas.openxmlformats.org/officeDocument/2006/relationships/notesSlide" Target="../notesSlides/notesSlide52.xml"/><Relationship Id="rId3" Type="http://schemas.openxmlformats.org/officeDocument/2006/relationships/image" Target="../media/image540.png"/><Relationship Id="rId4" Type="http://schemas.openxmlformats.org/officeDocument/2006/relationships/image" Target="../media/image524.png"/><Relationship Id="rId9" Type="http://schemas.openxmlformats.org/officeDocument/2006/relationships/image" Target="../media/image543.png"/><Relationship Id="rId26" Type="http://schemas.openxmlformats.org/officeDocument/2006/relationships/image" Target="../media/image558.png"/><Relationship Id="rId25" Type="http://schemas.openxmlformats.org/officeDocument/2006/relationships/image" Target="../media/image580.png"/><Relationship Id="rId28" Type="http://schemas.openxmlformats.org/officeDocument/2006/relationships/image" Target="../media/image560.png"/><Relationship Id="rId27" Type="http://schemas.openxmlformats.org/officeDocument/2006/relationships/image" Target="../media/image561.png"/><Relationship Id="rId5" Type="http://schemas.openxmlformats.org/officeDocument/2006/relationships/image" Target="../media/image533.png"/><Relationship Id="rId6" Type="http://schemas.openxmlformats.org/officeDocument/2006/relationships/image" Target="../media/image551.png"/><Relationship Id="rId29" Type="http://schemas.openxmlformats.org/officeDocument/2006/relationships/image" Target="../media/image555.png"/><Relationship Id="rId7" Type="http://schemas.openxmlformats.org/officeDocument/2006/relationships/image" Target="../media/image536.png"/><Relationship Id="rId8" Type="http://schemas.openxmlformats.org/officeDocument/2006/relationships/image" Target="../media/image538.png"/><Relationship Id="rId31" Type="http://schemas.openxmlformats.org/officeDocument/2006/relationships/image" Target="../media/image575.png"/><Relationship Id="rId30" Type="http://schemas.openxmlformats.org/officeDocument/2006/relationships/image" Target="../media/image550.png"/><Relationship Id="rId11" Type="http://schemas.openxmlformats.org/officeDocument/2006/relationships/image" Target="../media/image546.png"/><Relationship Id="rId10" Type="http://schemas.openxmlformats.org/officeDocument/2006/relationships/image" Target="../media/image571.png"/><Relationship Id="rId32" Type="http://schemas.openxmlformats.org/officeDocument/2006/relationships/image" Target="../media/image564.png"/><Relationship Id="rId13" Type="http://schemas.openxmlformats.org/officeDocument/2006/relationships/image" Target="../media/image544.png"/><Relationship Id="rId12" Type="http://schemas.openxmlformats.org/officeDocument/2006/relationships/image" Target="../media/image547.png"/><Relationship Id="rId15" Type="http://schemas.openxmlformats.org/officeDocument/2006/relationships/image" Target="../media/image554.png"/><Relationship Id="rId14" Type="http://schemas.openxmlformats.org/officeDocument/2006/relationships/image" Target="../media/image553.png"/><Relationship Id="rId17" Type="http://schemas.openxmlformats.org/officeDocument/2006/relationships/image" Target="../media/image545.png"/><Relationship Id="rId16" Type="http://schemas.openxmlformats.org/officeDocument/2006/relationships/image" Target="../media/image548.png"/><Relationship Id="rId19" Type="http://schemas.openxmlformats.org/officeDocument/2006/relationships/image" Target="../media/image541.png"/><Relationship Id="rId18" Type="http://schemas.openxmlformats.org/officeDocument/2006/relationships/image" Target="../media/image56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4.xml"/><Relationship Id="rId3" Type="http://schemas.openxmlformats.org/officeDocument/2006/relationships/image" Target="../media/image422.png"/><Relationship Id="rId4" Type="http://schemas.openxmlformats.org/officeDocument/2006/relationships/image" Target="../media/image689.png"/><Relationship Id="rId9" Type="http://schemas.openxmlformats.org/officeDocument/2006/relationships/image" Target="../media/image565.png"/><Relationship Id="rId5" Type="http://schemas.openxmlformats.org/officeDocument/2006/relationships/image" Target="../media/image68.png"/><Relationship Id="rId6" Type="http://schemas.openxmlformats.org/officeDocument/2006/relationships/image" Target="../media/image172.png"/><Relationship Id="rId7" Type="http://schemas.openxmlformats.org/officeDocument/2006/relationships/image" Target="../media/image482.png"/><Relationship Id="rId8" Type="http://schemas.openxmlformats.org/officeDocument/2006/relationships/image" Target="../media/image56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5.xml"/><Relationship Id="rId3" Type="http://schemas.openxmlformats.org/officeDocument/2006/relationships/image" Target="../media/image708.png"/><Relationship Id="rId4" Type="http://schemas.openxmlformats.org/officeDocument/2006/relationships/image" Target="../media/image631.png"/><Relationship Id="rId9" Type="http://schemas.openxmlformats.org/officeDocument/2006/relationships/image" Target="../media/image574.png"/><Relationship Id="rId5" Type="http://schemas.openxmlformats.org/officeDocument/2006/relationships/image" Target="../media/image617.png"/><Relationship Id="rId6" Type="http://schemas.openxmlformats.org/officeDocument/2006/relationships/image" Target="../media/image226.png"/><Relationship Id="rId7" Type="http://schemas.openxmlformats.org/officeDocument/2006/relationships/image" Target="../media/image568.jpg"/><Relationship Id="rId8" Type="http://schemas.openxmlformats.org/officeDocument/2006/relationships/image" Target="../media/image57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9.xml"/><Relationship Id="rId3" Type="http://schemas.openxmlformats.org/officeDocument/2006/relationships/image" Target="../media/image56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 Id="rId3" Type="http://schemas.openxmlformats.org/officeDocument/2006/relationships/image" Target="../media/image8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537.png"/><Relationship Id="rId4" Type="http://schemas.openxmlformats.org/officeDocument/2006/relationships/image" Target="../media/image491.png"/><Relationship Id="rId5" Type="http://schemas.openxmlformats.org/officeDocument/2006/relationships/image" Target="../media/image328.png"/><Relationship Id="rId6" Type="http://schemas.openxmlformats.org/officeDocument/2006/relationships/image" Target="../media/image522.png"/><Relationship Id="rId7" Type="http://schemas.openxmlformats.org/officeDocument/2006/relationships/image" Target="../media/image120.png"/><Relationship Id="rId8" Type="http://schemas.openxmlformats.org/officeDocument/2006/relationships/image" Target="../media/image51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6.xml"/><Relationship Id="rId3" Type="http://schemas.openxmlformats.org/officeDocument/2006/relationships/image" Target="../media/image565.png"/><Relationship Id="rId4" Type="http://schemas.openxmlformats.org/officeDocument/2006/relationships/image" Target="../media/image48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7.xml"/><Relationship Id="rId3" Type="http://schemas.openxmlformats.org/officeDocument/2006/relationships/image" Target="../media/image53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8.xml"/><Relationship Id="rId3" Type="http://schemas.openxmlformats.org/officeDocument/2006/relationships/image" Target="../media/image512.png"/><Relationship Id="rId4" Type="http://schemas.openxmlformats.org/officeDocument/2006/relationships/image" Target="../media/image582.png"/><Relationship Id="rId5" Type="http://schemas.openxmlformats.org/officeDocument/2006/relationships/image" Target="../media/image585.png"/><Relationship Id="rId6" Type="http://schemas.openxmlformats.org/officeDocument/2006/relationships/image" Target="../media/image120.png"/><Relationship Id="rId7" Type="http://schemas.openxmlformats.org/officeDocument/2006/relationships/image" Target="../media/image328.png"/><Relationship Id="rId8" Type="http://schemas.openxmlformats.org/officeDocument/2006/relationships/image" Target="../media/image38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9.xml"/><Relationship Id="rId3" Type="http://schemas.openxmlformats.org/officeDocument/2006/relationships/image" Target="../media/image512.png"/><Relationship Id="rId4" Type="http://schemas.openxmlformats.org/officeDocument/2006/relationships/image" Target="../media/image582.png"/><Relationship Id="rId5" Type="http://schemas.openxmlformats.org/officeDocument/2006/relationships/image" Target="../media/image585.png"/><Relationship Id="rId6" Type="http://schemas.openxmlformats.org/officeDocument/2006/relationships/image" Target="../media/image32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0.xml"/><Relationship Id="rId3" Type="http://schemas.openxmlformats.org/officeDocument/2006/relationships/image" Target="../media/image512.png"/><Relationship Id="rId4" Type="http://schemas.openxmlformats.org/officeDocument/2006/relationships/image" Target="../media/image585.png"/><Relationship Id="rId5" Type="http://schemas.openxmlformats.org/officeDocument/2006/relationships/image" Target="../media/image582.png"/><Relationship Id="rId6" Type="http://schemas.openxmlformats.org/officeDocument/2006/relationships/image" Target="../media/image32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1.xml"/><Relationship Id="rId3" Type="http://schemas.openxmlformats.org/officeDocument/2006/relationships/image" Target="../media/image61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2.xml"/><Relationship Id="rId3" Type="http://schemas.openxmlformats.org/officeDocument/2006/relationships/image" Target="../media/image512.png"/><Relationship Id="rId4" Type="http://schemas.openxmlformats.org/officeDocument/2006/relationships/image" Target="../media/image582.png"/><Relationship Id="rId5" Type="http://schemas.openxmlformats.org/officeDocument/2006/relationships/image" Target="../media/image120.png"/><Relationship Id="rId6" Type="http://schemas.openxmlformats.org/officeDocument/2006/relationships/image" Target="../media/image328.png"/><Relationship Id="rId7" Type="http://schemas.openxmlformats.org/officeDocument/2006/relationships/image" Target="../media/image38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3.xml"/><Relationship Id="rId3" Type="http://schemas.openxmlformats.org/officeDocument/2006/relationships/image" Target="../media/image512.png"/><Relationship Id="rId4" Type="http://schemas.openxmlformats.org/officeDocument/2006/relationships/image" Target="../media/image582.png"/><Relationship Id="rId5" Type="http://schemas.openxmlformats.org/officeDocument/2006/relationships/image" Target="../media/image120.png"/><Relationship Id="rId6" Type="http://schemas.openxmlformats.org/officeDocument/2006/relationships/image" Target="../media/image328.png"/><Relationship Id="rId7" Type="http://schemas.openxmlformats.org/officeDocument/2006/relationships/image" Target="../media/image38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4.xml"/><Relationship Id="rId3" Type="http://schemas.openxmlformats.org/officeDocument/2006/relationships/image" Target="../media/image512.png"/><Relationship Id="rId4" Type="http://schemas.openxmlformats.org/officeDocument/2006/relationships/image" Target="../media/image582.png"/><Relationship Id="rId5" Type="http://schemas.openxmlformats.org/officeDocument/2006/relationships/image" Target="../media/image120.png"/><Relationship Id="rId6" Type="http://schemas.openxmlformats.org/officeDocument/2006/relationships/image" Target="../media/image328.png"/><Relationship Id="rId7" Type="http://schemas.openxmlformats.org/officeDocument/2006/relationships/image" Target="../media/image38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5.xml"/><Relationship Id="rId3" Type="http://schemas.openxmlformats.org/officeDocument/2006/relationships/image" Target="../media/image512.png"/><Relationship Id="rId4" Type="http://schemas.openxmlformats.org/officeDocument/2006/relationships/image" Target="../media/image582.png"/><Relationship Id="rId5" Type="http://schemas.openxmlformats.org/officeDocument/2006/relationships/image" Target="../media/image32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6.xml"/><Relationship Id="rId3" Type="http://schemas.openxmlformats.org/officeDocument/2006/relationships/image" Target="../media/image90.png"/><Relationship Id="rId4" Type="http://schemas.openxmlformats.org/officeDocument/2006/relationships/image" Target="../media/image141.png"/><Relationship Id="rId9" Type="http://schemas.openxmlformats.org/officeDocument/2006/relationships/image" Target="../media/image483.png"/><Relationship Id="rId5" Type="http://schemas.openxmlformats.org/officeDocument/2006/relationships/image" Target="../media/image168.png"/><Relationship Id="rId6" Type="http://schemas.openxmlformats.org/officeDocument/2006/relationships/image" Target="../media/image185.png"/><Relationship Id="rId7" Type="http://schemas.openxmlformats.org/officeDocument/2006/relationships/image" Target="../media/image190.png"/><Relationship Id="rId8" Type="http://schemas.openxmlformats.org/officeDocument/2006/relationships/image" Target="../media/image23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7.xml"/><Relationship Id="rId3" Type="http://schemas.openxmlformats.org/officeDocument/2006/relationships/image" Target="../media/image90.png"/><Relationship Id="rId4" Type="http://schemas.openxmlformats.org/officeDocument/2006/relationships/image" Target="../media/image141.png"/><Relationship Id="rId9" Type="http://schemas.openxmlformats.org/officeDocument/2006/relationships/image" Target="../media/image233.png"/><Relationship Id="rId5" Type="http://schemas.openxmlformats.org/officeDocument/2006/relationships/image" Target="../media/image168.png"/><Relationship Id="rId6" Type="http://schemas.openxmlformats.org/officeDocument/2006/relationships/image" Target="../media/image185.png"/><Relationship Id="rId7" Type="http://schemas.openxmlformats.org/officeDocument/2006/relationships/image" Target="../media/image190.png"/><Relationship Id="rId8" Type="http://schemas.openxmlformats.org/officeDocument/2006/relationships/image" Target="../media/image48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8.xml"/><Relationship Id="rId3" Type="http://schemas.openxmlformats.org/officeDocument/2006/relationships/image" Target="../media/image90.png"/><Relationship Id="rId4" Type="http://schemas.openxmlformats.org/officeDocument/2006/relationships/image" Target="../media/image141.png"/><Relationship Id="rId9" Type="http://schemas.openxmlformats.org/officeDocument/2006/relationships/image" Target="../media/image168.png"/><Relationship Id="rId5" Type="http://schemas.openxmlformats.org/officeDocument/2006/relationships/image" Target="../media/image185.png"/><Relationship Id="rId6" Type="http://schemas.openxmlformats.org/officeDocument/2006/relationships/image" Target="../media/image190.png"/><Relationship Id="rId7" Type="http://schemas.openxmlformats.org/officeDocument/2006/relationships/image" Target="../media/image483.png"/><Relationship Id="rId8" Type="http://schemas.openxmlformats.org/officeDocument/2006/relationships/image" Target="../media/image23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9.xml"/><Relationship Id="rId3" Type="http://schemas.openxmlformats.org/officeDocument/2006/relationships/image" Target="../media/image422.png"/><Relationship Id="rId4" Type="http://schemas.openxmlformats.org/officeDocument/2006/relationships/image" Target="../media/image312.png"/><Relationship Id="rId5" Type="http://schemas.openxmlformats.org/officeDocument/2006/relationships/image" Target="../media/image631.png"/><Relationship Id="rId6" Type="http://schemas.openxmlformats.org/officeDocument/2006/relationships/image" Target="../media/image485.png"/><Relationship Id="rId7" Type="http://schemas.openxmlformats.org/officeDocument/2006/relationships/image" Target="../media/image156.png"/><Relationship Id="rId8" Type="http://schemas.openxmlformats.org/officeDocument/2006/relationships/image" Target="../media/image58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0.xml"/><Relationship Id="rId3" Type="http://schemas.openxmlformats.org/officeDocument/2006/relationships/image" Target="../media/image156.png"/><Relationship Id="rId4" Type="http://schemas.openxmlformats.org/officeDocument/2006/relationships/image" Target="../media/image485.png"/><Relationship Id="rId5" Type="http://schemas.openxmlformats.org/officeDocument/2006/relationships/image" Target="../media/image328.png"/><Relationship Id="rId6" Type="http://schemas.openxmlformats.org/officeDocument/2006/relationships/image" Target="../media/image63.png"/><Relationship Id="rId7" Type="http://schemas.openxmlformats.org/officeDocument/2006/relationships/image" Target="../media/image43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3.xml"/><Relationship Id="rId3" Type="http://schemas.openxmlformats.org/officeDocument/2006/relationships/image" Target="../media/image422.png"/><Relationship Id="rId4" Type="http://schemas.openxmlformats.org/officeDocument/2006/relationships/image" Target="../media/image312.png"/><Relationship Id="rId5" Type="http://schemas.openxmlformats.org/officeDocument/2006/relationships/image" Target="../media/image628.png"/><Relationship Id="rId6" Type="http://schemas.openxmlformats.org/officeDocument/2006/relationships/image" Target="../media/image127.png"/><Relationship Id="rId7" Type="http://schemas.openxmlformats.org/officeDocument/2006/relationships/image" Target="../media/image65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4.xml"/><Relationship Id="rId3" Type="http://schemas.openxmlformats.org/officeDocument/2006/relationships/image" Target="../media/image127.png"/><Relationship Id="rId4" Type="http://schemas.openxmlformats.org/officeDocument/2006/relationships/image" Target="../media/image31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9.xml"/><Relationship Id="rId3" Type="http://schemas.openxmlformats.org/officeDocument/2006/relationships/image" Target="../media/image630.png"/><Relationship Id="rId4" Type="http://schemas.openxmlformats.org/officeDocument/2006/relationships/image" Target="../media/image636.png"/><Relationship Id="rId9" Type="http://schemas.openxmlformats.org/officeDocument/2006/relationships/image" Target="../media/image633.png"/><Relationship Id="rId5" Type="http://schemas.openxmlformats.org/officeDocument/2006/relationships/image" Target="../media/image657.png"/><Relationship Id="rId6" Type="http://schemas.openxmlformats.org/officeDocument/2006/relationships/image" Target="../media/image634.png"/><Relationship Id="rId7" Type="http://schemas.openxmlformats.org/officeDocument/2006/relationships/image" Target="../media/image431.png"/><Relationship Id="rId8" Type="http://schemas.openxmlformats.org/officeDocument/2006/relationships/image" Target="../media/image639.png"/><Relationship Id="rId10" Type="http://schemas.openxmlformats.org/officeDocument/2006/relationships/image" Target="../media/image63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0.xml"/><Relationship Id="rId3" Type="http://schemas.openxmlformats.org/officeDocument/2006/relationships/image" Target="../media/image636.png"/><Relationship Id="rId4" Type="http://schemas.openxmlformats.org/officeDocument/2006/relationships/image" Target="../media/image431.png"/><Relationship Id="rId5" Type="http://schemas.openxmlformats.org/officeDocument/2006/relationships/image" Target="../media/image639.png"/><Relationship Id="rId6" Type="http://schemas.openxmlformats.org/officeDocument/2006/relationships/image" Target="../media/image633.png"/><Relationship Id="rId7" Type="http://schemas.openxmlformats.org/officeDocument/2006/relationships/image" Target="../media/image63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1.xml"/><Relationship Id="rId3" Type="http://schemas.openxmlformats.org/officeDocument/2006/relationships/hyperlink" Target="https://docs.google.com/drawings/d/1-EroXSICIHYmAg-NkXE9yyaW3Pk9XvZL1hO2ZcoixGM/edit"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2.xml"/><Relationship Id="rId3" Type="http://schemas.openxmlformats.org/officeDocument/2006/relationships/image" Target="../media/image471.png"/><Relationship Id="rId4" Type="http://schemas.openxmlformats.org/officeDocument/2006/relationships/image" Target="../media/image506.png"/><Relationship Id="rId5" Type="http://schemas.openxmlformats.org/officeDocument/2006/relationships/image" Target="../media/image52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3.xml"/><Relationship Id="rId3" Type="http://schemas.openxmlformats.org/officeDocument/2006/relationships/image" Target="../media/image65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4.xml"/><Relationship Id="rId3" Type="http://schemas.openxmlformats.org/officeDocument/2006/relationships/image" Target="../media/image656.png"/><Relationship Id="rId4" Type="http://schemas.openxmlformats.org/officeDocument/2006/relationships/image" Target="../media/image659.png"/><Relationship Id="rId5" Type="http://schemas.openxmlformats.org/officeDocument/2006/relationships/image" Target="../media/image517.png"/></Relationships>
</file>

<file path=ppt/slides/_rels/slide105.xml.rels><?xml version="1.0" encoding="UTF-8" standalone="yes"?><Relationships xmlns="http://schemas.openxmlformats.org/package/2006/relationships"><Relationship Id="rId20" Type="http://schemas.openxmlformats.org/officeDocument/2006/relationships/image" Target="../media/image666.png"/><Relationship Id="rId21" Type="http://schemas.openxmlformats.org/officeDocument/2006/relationships/image" Target="../media/image670.png"/><Relationship Id="rId1" Type="http://schemas.openxmlformats.org/officeDocument/2006/relationships/slideLayout" Target="../slideLayouts/slideLayout17.xml"/><Relationship Id="rId2" Type="http://schemas.openxmlformats.org/officeDocument/2006/relationships/notesSlide" Target="../notesSlides/notesSlide105.xml"/><Relationship Id="rId3" Type="http://schemas.openxmlformats.org/officeDocument/2006/relationships/image" Target="../media/image464.png"/><Relationship Id="rId4" Type="http://schemas.openxmlformats.org/officeDocument/2006/relationships/image" Target="../media/image184.png"/><Relationship Id="rId9" Type="http://schemas.openxmlformats.org/officeDocument/2006/relationships/image" Target="../media/image183.png"/><Relationship Id="rId5" Type="http://schemas.openxmlformats.org/officeDocument/2006/relationships/image" Target="../media/image393.png"/><Relationship Id="rId6" Type="http://schemas.openxmlformats.org/officeDocument/2006/relationships/image" Target="../media/image465.png"/><Relationship Id="rId7" Type="http://schemas.openxmlformats.org/officeDocument/2006/relationships/image" Target="../media/image480.png"/><Relationship Id="rId8" Type="http://schemas.openxmlformats.org/officeDocument/2006/relationships/image" Target="../media/image472.png"/><Relationship Id="rId11" Type="http://schemas.openxmlformats.org/officeDocument/2006/relationships/image" Target="../media/image353.png"/><Relationship Id="rId10" Type="http://schemas.openxmlformats.org/officeDocument/2006/relationships/image" Target="../media/image163.png"/><Relationship Id="rId13" Type="http://schemas.openxmlformats.org/officeDocument/2006/relationships/image" Target="../media/image190.png"/><Relationship Id="rId12" Type="http://schemas.openxmlformats.org/officeDocument/2006/relationships/image" Target="../media/image79.png"/><Relationship Id="rId15" Type="http://schemas.openxmlformats.org/officeDocument/2006/relationships/image" Target="../media/image668.png"/><Relationship Id="rId14" Type="http://schemas.openxmlformats.org/officeDocument/2006/relationships/image" Target="../media/image656.png"/><Relationship Id="rId17" Type="http://schemas.openxmlformats.org/officeDocument/2006/relationships/image" Target="../media/image617.png"/><Relationship Id="rId16" Type="http://schemas.openxmlformats.org/officeDocument/2006/relationships/image" Target="../media/image659.png"/><Relationship Id="rId19" Type="http://schemas.openxmlformats.org/officeDocument/2006/relationships/image" Target="../media/image664.png"/><Relationship Id="rId18" Type="http://schemas.openxmlformats.org/officeDocument/2006/relationships/image" Target="../media/image23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6.xml"/><Relationship Id="rId3" Type="http://schemas.openxmlformats.org/officeDocument/2006/relationships/image" Target="../media/image464.png"/><Relationship Id="rId4" Type="http://schemas.openxmlformats.org/officeDocument/2006/relationships/image" Target="../media/image184.png"/><Relationship Id="rId9" Type="http://schemas.openxmlformats.org/officeDocument/2006/relationships/image" Target="../media/image656.png"/><Relationship Id="rId5" Type="http://schemas.openxmlformats.org/officeDocument/2006/relationships/image" Target="../media/image393.png"/><Relationship Id="rId6" Type="http://schemas.openxmlformats.org/officeDocument/2006/relationships/image" Target="../media/image163.png"/><Relationship Id="rId7" Type="http://schemas.openxmlformats.org/officeDocument/2006/relationships/image" Target="../media/image353.png"/><Relationship Id="rId8" Type="http://schemas.openxmlformats.org/officeDocument/2006/relationships/image" Target="../media/image79.png"/><Relationship Id="rId11" Type="http://schemas.openxmlformats.org/officeDocument/2006/relationships/image" Target="../media/image659.png"/><Relationship Id="rId10" Type="http://schemas.openxmlformats.org/officeDocument/2006/relationships/image" Target="../media/image668.png"/><Relationship Id="rId12" Type="http://schemas.openxmlformats.org/officeDocument/2006/relationships/image" Target="../media/image67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7.xml"/><Relationship Id="rId3" Type="http://schemas.openxmlformats.org/officeDocument/2006/relationships/image" Target="../media/image62.png"/><Relationship Id="rId4" Type="http://schemas.openxmlformats.org/officeDocument/2006/relationships/image" Target="../media/image50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8.xml"/><Relationship Id="rId3" Type="http://schemas.openxmlformats.org/officeDocument/2006/relationships/image" Target="../media/image472.png"/><Relationship Id="rId4" Type="http://schemas.openxmlformats.org/officeDocument/2006/relationships/image" Target="../media/image431.png"/><Relationship Id="rId5" Type="http://schemas.openxmlformats.org/officeDocument/2006/relationships/image" Target="../media/image18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2.xml"/><Relationship Id="rId3" Type="http://schemas.openxmlformats.org/officeDocument/2006/relationships/image" Target="../media/image17.png"/><Relationship Id="rId4" Type="http://schemas.openxmlformats.org/officeDocument/2006/relationships/image" Target="../media/image671.png"/><Relationship Id="rId5" Type="http://schemas.openxmlformats.org/officeDocument/2006/relationships/image" Target="../media/image15.png"/><Relationship Id="rId6" Type="http://schemas.openxmlformats.org/officeDocument/2006/relationships/image" Target="../media/image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3.xml"/><Relationship Id="rId3" Type="http://schemas.openxmlformats.org/officeDocument/2006/relationships/image" Target="../media/image688.png"/><Relationship Id="rId4" Type="http://schemas.openxmlformats.org/officeDocument/2006/relationships/image" Target="../media/image665.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9.xml"/><Relationship Id="rId3" Type="http://schemas.openxmlformats.org/officeDocument/2006/relationships/image" Target="../media/image68.png"/><Relationship Id="rId4" Type="http://schemas.openxmlformats.org/officeDocument/2006/relationships/image" Target="../media/image662.png"/><Relationship Id="rId5" Type="http://schemas.openxmlformats.org/officeDocument/2006/relationships/image" Target="../media/image120.png"/><Relationship Id="rId6" Type="http://schemas.openxmlformats.org/officeDocument/2006/relationships/image" Target="../media/image71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2.xml"/><Relationship Id="rId3" Type="http://schemas.openxmlformats.org/officeDocument/2006/relationships/image" Target="../media/image90.png"/><Relationship Id="rId4" Type="http://schemas.openxmlformats.org/officeDocument/2006/relationships/image" Target="../media/image141.png"/><Relationship Id="rId9" Type="http://schemas.openxmlformats.org/officeDocument/2006/relationships/image" Target="../media/image168.png"/><Relationship Id="rId5" Type="http://schemas.openxmlformats.org/officeDocument/2006/relationships/image" Target="../media/image185.png"/><Relationship Id="rId6" Type="http://schemas.openxmlformats.org/officeDocument/2006/relationships/image" Target="../media/image190.png"/><Relationship Id="rId7" Type="http://schemas.openxmlformats.org/officeDocument/2006/relationships/image" Target="../media/image483.png"/><Relationship Id="rId8" Type="http://schemas.openxmlformats.org/officeDocument/2006/relationships/image" Target="../media/image23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3.xml"/><Relationship Id="rId3" Type="http://schemas.openxmlformats.org/officeDocument/2006/relationships/image" Target="../media/image90.png"/><Relationship Id="rId4" Type="http://schemas.openxmlformats.org/officeDocument/2006/relationships/image" Target="../media/image141.png"/><Relationship Id="rId9" Type="http://schemas.openxmlformats.org/officeDocument/2006/relationships/image" Target="../media/image168.png"/><Relationship Id="rId5" Type="http://schemas.openxmlformats.org/officeDocument/2006/relationships/image" Target="../media/image185.png"/><Relationship Id="rId6" Type="http://schemas.openxmlformats.org/officeDocument/2006/relationships/image" Target="../media/image190.png"/><Relationship Id="rId7" Type="http://schemas.openxmlformats.org/officeDocument/2006/relationships/image" Target="../media/image483.png"/><Relationship Id="rId8" Type="http://schemas.openxmlformats.org/officeDocument/2006/relationships/image" Target="../media/image23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4.xml"/><Relationship Id="rId3" Type="http://schemas.openxmlformats.org/officeDocument/2006/relationships/image" Target="../media/image582.png"/><Relationship Id="rId4" Type="http://schemas.openxmlformats.org/officeDocument/2006/relationships/image" Target="../media/image117.png"/><Relationship Id="rId5" Type="http://schemas.openxmlformats.org/officeDocument/2006/relationships/image" Target="../media/image101.png"/><Relationship Id="rId6" Type="http://schemas.openxmlformats.org/officeDocument/2006/relationships/image" Target="../media/image156.png"/><Relationship Id="rId7" Type="http://schemas.openxmlformats.org/officeDocument/2006/relationships/image" Target="../media/image485.png"/><Relationship Id="rId8" Type="http://schemas.openxmlformats.org/officeDocument/2006/relationships/image" Target="../media/image42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5.xml"/><Relationship Id="rId3" Type="http://schemas.openxmlformats.org/officeDocument/2006/relationships/image" Target="../media/image582.png"/><Relationship Id="rId4" Type="http://schemas.openxmlformats.org/officeDocument/2006/relationships/image" Target="../media/image117.png"/><Relationship Id="rId5" Type="http://schemas.openxmlformats.org/officeDocument/2006/relationships/image" Target="../media/image101.png"/><Relationship Id="rId6" Type="http://schemas.openxmlformats.org/officeDocument/2006/relationships/image" Target="../media/image42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6.xml"/><Relationship Id="rId3" Type="http://schemas.openxmlformats.org/officeDocument/2006/relationships/image" Target="../media/image58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7.xml"/><Relationship Id="rId3" Type="http://schemas.openxmlformats.org/officeDocument/2006/relationships/image" Target="../media/image632.png"/><Relationship Id="rId4" Type="http://schemas.openxmlformats.org/officeDocument/2006/relationships/image" Target="../media/image48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8.xml"/><Relationship Id="rId3" Type="http://schemas.openxmlformats.org/officeDocument/2006/relationships/image" Target="../media/image632.png"/><Relationship Id="rId4" Type="http://schemas.openxmlformats.org/officeDocument/2006/relationships/image" Target="../media/image485.png"/><Relationship Id="rId5" Type="http://schemas.openxmlformats.org/officeDocument/2006/relationships/image" Target="../media/image482.png"/><Relationship Id="rId6" Type="http://schemas.openxmlformats.org/officeDocument/2006/relationships/image" Target="../media/image68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312.png"/><Relationship Id="rId4" Type="http://schemas.openxmlformats.org/officeDocument/2006/relationships/image" Target="../media/image628.png"/><Relationship Id="rId5" Type="http://schemas.openxmlformats.org/officeDocument/2006/relationships/image" Target="../media/image63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67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9.xml"/><Relationship Id="rId3" Type="http://schemas.openxmlformats.org/officeDocument/2006/relationships/image" Target="../media/image677.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0.xml"/><Relationship Id="rId3" Type="http://schemas.openxmlformats.org/officeDocument/2006/relationships/image" Target="../media/image422.png"/><Relationship Id="rId4" Type="http://schemas.openxmlformats.org/officeDocument/2006/relationships/image" Target="../media/image156.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1.xml"/><Relationship Id="rId3" Type="http://schemas.openxmlformats.org/officeDocument/2006/relationships/image" Target="../media/image69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2.xml"/><Relationship Id="rId3" Type="http://schemas.openxmlformats.org/officeDocument/2006/relationships/image" Target="../media/image172.png"/><Relationship Id="rId4" Type="http://schemas.openxmlformats.org/officeDocument/2006/relationships/image" Target="../media/image482.png"/><Relationship Id="rId5" Type="http://schemas.openxmlformats.org/officeDocument/2006/relationships/image" Target="../media/image63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3.xml"/><Relationship Id="rId3" Type="http://schemas.openxmlformats.org/officeDocument/2006/relationships/image" Target="../media/image67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4.xml"/><Relationship Id="rId3" Type="http://schemas.openxmlformats.org/officeDocument/2006/relationships/image" Target="../media/image67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8.xml"/><Relationship Id="rId3" Type="http://schemas.openxmlformats.org/officeDocument/2006/relationships/image" Target="../media/image67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9.xml"/><Relationship Id="rId3" Type="http://schemas.openxmlformats.org/officeDocument/2006/relationships/image" Target="../media/image680.png"/><Relationship Id="rId4" Type="http://schemas.openxmlformats.org/officeDocument/2006/relationships/image" Target="../media/image673.png"/><Relationship Id="rId9" Type="http://schemas.openxmlformats.org/officeDocument/2006/relationships/image" Target="../media/image679.png"/><Relationship Id="rId5" Type="http://schemas.openxmlformats.org/officeDocument/2006/relationships/image" Target="../media/image582.png"/><Relationship Id="rId6" Type="http://schemas.openxmlformats.org/officeDocument/2006/relationships/image" Target="../media/image512.png"/><Relationship Id="rId7" Type="http://schemas.openxmlformats.org/officeDocument/2006/relationships/image" Target="../media/image662.png"/><Relationship Id="rId8" Type="http://schemas.openxmlformats.org/officeDocument/2006/relationships/image" Target="../media/image672.png"/><Relationship Id="rId11" Type="http://schemas.openxmlformats.org/officeDocument/2006/relationships/image" Target="../media/image692.png"/><Relationship Id="rId10" Type="http://schemas.openxmlformats.org/officeDocument/2006/relationships/image" Target="../media/image68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0.xml"/><Relationship Id="rId3" Type="http://schemas.openxmlformats.org/officeDocument/2006/relationships/image" Target="../media/image673.png"/><Relationship Id="rId4" Type="http://schemas.openxmlformats.org/officeDocument/2006/relationships/image" Target="../media/image582.png"/><Relationship Id="rId9" Type="http://schemas.openxmlformats.org/officeDocument/2006/relationships/image" Target="../media/image681.png"/><Relationship Id="rId5" Type="http://schemas.openxmlformats.org/officeDocument/2006/relationships/image" Target="../media/image512.png"/><Relationship Id="rId6" Type="http://schemas.openxmlformats.org/officeDocument/2006/relationships/image" Target="../media/image662.png"/><Relationship Id="rId7" Type="http://schemas.openxmlformats.org/officeDocument/2006/relationships/image" Target="../media/image672.png"/><Relationship Id="rId8" Type="http://schemas.openxmlformats.org/officeDocument/2006/relationships/image" Target="../media/image679.png"/><Relationship Id="rId11" Type="http://schemas.openxmlformats.org/officeDocument/2006/relationships/image" Target="../media/image682.png"/><Relationship Id="rId10" Type="http://schemas.openxmlformats.org/officeDocument/2006/relationships/image" Target="../media/image692.png"/><Relationship Id="rId13" Type="http://schemas.openxmlformats.org/officeDocument/2006/relationships/image" Target="../media/image683.png"/><Relationship Id="rId12" Type="http://schemas.openxmlformats.org/officeDocument/2006/relationships/image" Target="../media/image686.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1.xml"/><Relationship Id="rId3" Type="http://schemas.openxmlformats.org/officeDocument/2006/relationships/image" Target="../media/image582.png"/><Relationship Id="rId4" Type="http://schemas.openxmlformats.org/officeDocument/2006/relationships/image" Target="../media/image682.png"/><Relationship Id="rId9" Type="http://schemas.openxmlformats.org/officeDocument/2006/relationships/image" Target="../media/image512.png"/><Relationship Id="rId5" Type="http://schemas.openxmlformats.org/officeDocument/2006/relationships/image" Target="../media/image683.png"/><Relationship Id="rId6" Type="http://schemas.openxmlformats.org/officeDocument/2006/relationships/image" Target="../media/image673.png"/><Relationship Id="rId7" Type="http://schemas.openxmlformats.org/officeDocument/2006/relationships/image" Target="../media/image685.png"/><Relationship Id="rId8" Type="http://schemas.openxmlformats.org/officeDocument/2006/relationships/image" Target="../media/image684.png"/><Relationship Id="rId11" Type="http://schemas.openxmlformats.org/officeDocument/2006/relationships/image" Target="../media/image672.png"/><Relationship Id="rId10" Type="http://schemas.openxmlformats.org/officeDocument/2006/relationships/image" Target="../media/image662.png"/><Relationship Id="rId13" Type="http://schemas.openxmlformats.org/officeDocument/2006/relationships/image" Target="../media/image681.png"/><Relationship Id="rId12" Type="http://schemas.openxmlformats.org/officeDocument/2006/relationships/image" Target="../media/image679.png"/><Relationship Id="rId15" Type="http://schemas.openxmlformats.org/officeDocument/2006/relationships/image" Target="../media/image686.png"/><Relationship Id="rId14" Type="http://schemas.openxmlformats.org/officeDocument/2006/relationships/image" Target="../media/image69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2.xml"/><Relationship Id="rId3" Type="http://schemas.openxmlformats.org/officeDocument/2006/relationships/image" Target="../media/image582.png"/><Relationship Id="rId4" Type="http://schemas.openxmlformats.org/officeDocument/2006/relationships/image" Target="../media/image512.png"/><Relationship Id="rId9" Type="http://schemas.openxmlformats.org/officeDocument/2006/relationships/image" Target="../media/image692.png"/><Relationship Id="rId5" Type="http://schemas.openxmlformats.org/officeDocument/2006/relationships/image" Target="../media/image662.png"/><Relationship Id="rId6" Type="http://schemas.openxmlformats.org/officeDocument/2006/relationships/image" Target="../media/image672.png"/><Relationship Id="rId7" Type="http://schemas.openxmlformats.org/officeDocument/2006/relationships/image" Target="../media/image679.png"/><Relationship Id="rId8" Type="http://schemas.openxmlformats.org/officeDocument/2006/relationships/image" Target="../media/image681.png"/><Relationship Id="rId11" Type="http://schemas.openxmlformats.org/officeDocument/2006/relationships/image" Target="../media/image693.png"/><Relationship Id="rId10" Type="http://schemas.openxmlformats.org/officeDocument/2006/relationships/image" Target="../media/image686.png"/><Relationship Id="rId13" Type="http://schemas.openxmlformats.org/officeDocument/2006/relationships/image" Target="../media/image695.png"/><Relationship Id="rId12" Type="http://schemas.openxmlformats.org/officeDocument/2006/relationships/image" Target="../media/image696.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3.xml"/><Relationship Id="rId3" Type="http://schemas.openxmlformats.org/officeDocument/2006/relationships/image" Target="../media/image582.png"/><Relationship Id="rId4" Type="http://schemas.openxmlformats.org/officeDocument/2006/relationships/image" Target="../media/image694.png"/><Relationship Id="rId5" Type="http://schemas.openxmlformats.org/officeDocument/2006/relationships/image" Target="../media/image707.png"/><Relationship Id="rId6" Type="http://schemas.openxmlformats.org/officeDocument/2006/relationships/image" Target="../media/image695.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4.xml"/><Relationship Id="rId3" Type="http://schemas.openxmlformats.org/officeDocument/2006/relationships/image" Target="../media/image695.png"/><Relationship Id="rId4" Type="http://schemas.openxmlformats.org/officeDocument/2006/relationships/image" Target="../media/image697.png"/><Relationship Id="rId9" Type="http://schemas.openxmlformats.org/officeDocument/2006/relationships/image" Target="../media/image672.png"/><Relationship Id="rId5" Type="http://schemas.openxmlformats.org/officeDocument/2006/relationships/image" Target="../media/image512.png"/><Relationship Id="rId6" Type="http://schemas.openxmlformats.org/officeDocument/2006/relationships/image" Target="../media/image662.png"/><Relationship Id="rId7" Type="http://schemas.openxmlformats.org/officeDocument/2006/relationships/image" Target="../media/image679.png"/><Relationship Id="rId8" Type="http://schemas.openxmlformats.org/officeDocument/2006/relationships/image" Target="../media/image681.png"/><Relationship Id="rId11" Type="http://schemas.openxmlformats.org/officeDocument/2006/relationships/image" Target="../media/image699.png"/><Relationship Id="rId10" Type="http://schemas.openxmlformats.org/officeDocument/2006/relationships/image" Target="../media/image582.png"/><Relationship Id="rId12" Type="http://schemas.openxmlformats.org/officeDocument/2006/relationships/image" Target="../media/image707.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5.xml"/><Relationship Id="rId3" Type="http://schemas.openxmlformats.org/officeDocument/2006/relationships/image" Target="../media/image695.png"/><Relationship Id="rId4" Type="http://schemas.openxmlformats.org/officeDocument/2006/relationships/image" Target="../media/image512.png"/><Relationship Id="rId9" Type="http://schemas.openxmlformats.org/officeDocument/2006/relationships/image" Target="../media/image679.png"/><Relationship Id="rId5" Type="http://schemas.openxmlformats.org/officeDocument/2006/relationships/image" Target="../media/image681.png"/><Relationship Id="rId6" Type="http://schemas.openxmlformats.org/officeDocument/2006/relationships/image" Target="../media/image672.png"/><Relationship Id="rId7" Type="http://schemas.openxmlformats.org/officeDocument/2006/relationships/image" Target="../media/image697.png"/><Relationship Id="rId8" Type="http://schemas.openxmlformats.org/officeDocument/2006/relationships/image" Target="../media/image662.png"/><Relationship Id="rId11" Type="http://schemas.openxmlformats.org/officeDocument/2006/relationships/image" Target="../media/image707.png"/><Relationship Id="rId10" Type="http://schemas.openxmlformats.org/officeDocument/2006/relationships/image" Target="../media/image699.png"/><Relationship Id="rId13" Type="http://schemas.openxmlformats.org/officeDocument/2006/relationships/image" Target="../media/image694.png"/><Relationship Id="rId12" Type="http://schemas.openxmlformats.org/officeDocument/2006/relationships/image" Target="../media/image58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6.xml"/><Relationship Id="rId3" Type="http://schemas.openxmlformats.org/officeDocument/2006/relationships/image" Target="../media/image710.png"/><Relationship Id="rId4" Type="http://schemas.openxmlformats.org/officeDocument/2006/relationships/image" Target="../media/image711.png"/><Relationship Id="rId9" Type="http://schemas.openxmlformats.org/officeDocument/2006/relationships/image" Target="../media/image712.png"/><Relationship Id="rId5" Type="http://schemas.openxmlformats.org/officeDocument/2006/relationships/image" Target="../media/image330.png"/><Relationship Id="rId6" Type="http://schemas.openxmlformats.org/officeDocument/2006/relationships/image" Target="../media/image413.png"/><Relationship Id="rId7" Type="http://schemas.openxmlformats.org/officeDocument/2006/relationships/image" Target="../media/image295.png"/><Relationship Id="rId8" Type="http://schemas.openxmlformats.org/officeDocument/2006/relationships/image" Target="../media/image713.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7.xml"/><Relationship Id="rId3" Type="http://schemas.openxmlformats.org/officeDocument/2006/relationships/image" Target="../media/image312.png"/><Relationship Id="rId4" Type="http://schemas.openxmlformats.org/officeDocument/2006/relationships/image" Target="../media/image156.png"/><Relationship Id="rId5" Type="http://schemas.openxmlformats.org/officeDocument/2006/relationships/image" Target="../media/image42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8.xml"/><Relationship Id="rId3" Type="http://schemas.openxmlformats.org/officeDocument/2006/relationships/image" Target="../media/image156.png"/><Relationship Id="rId4" Type="http://schemas.openxmlformats.org/officeDocument/2006/relationships/image" Target="../media/image422.png"/><Relationship Id="rId5" Type="http://schemas.openxmlformats.org/officeDocument/2006/relationships/image" Target="../media/image31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9.xml"/><Relationship Id="rId3" Type="http://schemas.openxmlformats.org/officeDocument/2006/relationships/image" Target="../media/image582.png"/><Relationship Id="rId4" Type="http://schemas.openxmlformats.org/officeDocument/2006/relationships/image" Target="../media/image512.png"/><Relationship Id="rId9" Type="http://schemas.openxmlformats.org/officeDocument/2006/relationships/image" Target="../media/image692.png"/><Relationship Id="rId5" Type="http://schemas.openxmlformats.org/officeDocument/2006/relationships/image" Target="../media/image662.png"/><Relationship Id="rId6" Type="http://schemas.openxmlformats.org/officeDocument/2006/relationships/image" Target="../media/image672.png"/><Relationship Id="rId7" Type="http://schemas.openxmlformats.org/officeDocument/2006/relationships/image" Target="../media/image679.png"/><Relationship Id="rId8" Type="http://schemas.openxmlformats.org/officeDocument/2006/relationships/image" Target="../media/image681.png"/><Relationship Id="rId11" Type="http://schemas.openxmlformats.org/officeDocument/2006/relationships/image" Target="../media/image693.png"/><Relationship Id="rId10" Type="http://schemas.openxmlformats.org/officeDocument/2006/relationships/image" Target="../media/image686.png"/><Relationship Id="rId13" Type="http://schemas.openxmlformats.org/officeDocument/2006/relationships/image" Target="../media/image695.png"/><Relationship Id="rId12" Type="http://schemas.openxmlformats.org/officeDocument/2006/relationships/image" Target="../media/image696.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0.xml"/><Relationship Id="rId3" Type="http://schemas.openxmlformats.org/officeDocument/2006/relationships/image" Target="../media/image704.png"/><Relationship Id="rId4" Type="http://schemas.openxmlformats.org/officeDocument/2006/relationships/image" Target="../media/image703.png"/><Relationship Id="rId5" Type="http://schemas.openxmlformats.org/officeDocument/2006/relationships/image" Target="../media/image706.png"/><Relationship Id="rId6" Type="http://schemas.openxmlformats.org/officeDocument/2006/relationships/image" Target="../media/image14.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1.xml"/><Relationship Id="rId3" Type="http://schemas.openxmlformats.org/officeDocument/2006/relationships/image" Target="../media/image704.png"/><Relationship Id="rId4" Type="http://schemas.openxmlformats.org/officeDocument/2006/relationships/image" Target="../media/image703.png"/><Relationship Id="rId5" Type="http://schemas.openxmlformats.org/officeDocument/2006/relationships/image" Target="../media/image706.png"/><Relationship Id="rId6" Type="http://schemas.openxmlformats.org/officeDocument/2006/relationships/image" Target="../media/image1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2.xml"/><Relationship Id="rId3" Type="http://schemas.openxmlformats.org/officeDocument/2006/relationships/image" Target="../media/image719.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3.xml"/><Relationship Id="rId3" Type="http://schemas.openxmlformats.org/officeDocument/2006/relationships/image" Target="../media/image15.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4.xml"/><Relationship Id="rId3" Type="http://schemas.openxmlformats.org/officeDocument/2006/relationships/image" Target="../media/image15.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5.xml"/><Relationship Id="rId3" Type="http://schemas.openxmlformats.org/officeDocument/2006/relationships/image" Target="../media/image172.png"/><Relationship Id="rId4" Type="http://schemas.openxmlformats.org/officeDocument/2006/relationships/image" Target="../media/image48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6.xml"/><Relationship Id="rId3" Type="http://schemas.openxmlformats.org/officeDocument/2006/relationships/image" Target="../media/image582.png"/><Relationship Id="rId4" Type="http://schemas.openxmlformats.org/officeDocument/2006/relationships/image" Target="../media/image527.png"/><Relationship Id="rId5" Type="http://schemas.openxmlformats.org/officeDocument/2006/relationships/image" Target="../media/image709.png"/><Relationship Id="rId6" Type="http://schemas.openxmlformats.org/officeDocument/2006/relationships/image" Target="../media/image715.png"/><Relationship Id="rId7" Type="http://schemas.openxmlformats.org/officeDocument/2006/relationships/image" Target="../media/image71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7.xml"/><Relationship Id="rId3" Type="http://schemas.openxmlformats.org/officeDocument/2006/relationships/image" Target="../media/image716.png"/><Relationship Id="rId4" Type="http://schemas.openxmlformats.org/officeDocument/2006/relationships/image" Target="../media/image226.png"/><Relationship Id="rId5" Type="http://schemas.openxmlformats.org/officeDocument/2006/relationships/image" Target="../media/image7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Doc team diagram</a:t>
            </a:r>
            <a:r>
              <a:rPr lang="en"/>
              <a:t>s</a:t>
            </a:r>
            <a:endParaRPr/>
          </a:p>
        </p:txBody>
      </p:sp>
      <p:sp>
        <p:nvSpPr>
          <p:cNvPr id="122" name="Google Shape;122;p21"/>
          <p:cNvSpPr txBox="1"/>
          <p:nvPr>
            <p:ph idx="1" type="subTitle"/>
          </p:nvPr>
        </p:nvSpPr>
        <p:spPr>
          <a:xfrm>
            <a:off x="761800" y="3835400"/>
            <a:ext cx="6170100" cy="1566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diagram designs</a:t>
            </a:r>
            <a:endParaRPr/>
          </a:p>
          <a:p>
            <a:pPr indent="0" lvl="0" marL="0" rtl="0" algn="l">
              <a:spcBef>
                <a:spcPts val="1600"/>
              </a:spcBef>
              <a:spcAft>
                <a:spcPts val="1600"/>
              </a:spcAft>
              <a:buNone/>
            </a:pPr>
            <a:r>
              <a:rPr lang="en" sz="2300">
                <a:solidFill>
                  <a:schemeClr val="dk2"/>
                </a:solidFill>
              </a:rPr>
              <a:t>go/doc-diagrams</a:t>
            </a:r>
            <a:endParaRPr sz="2300">
              <a:solidFill>
                <a:schemeClr val="dk2"/>
              </a:solidFill>
            </a:endParaRPr>
          </a:p>
        </p:txBody>
      </p:sp>
      <p:sp>
        <p:nvSpPr>
          <p:cNvPr id="123" name="Google Shape;123;p21"/>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2" type="subTitle"/>
          </p:nvPr>
        </p:nvSpPr>
        <p:spPr>
          <a:xfrm>
            <a:off x="761809" y="5756000"/>
            <a:ext cx="5262300" cy="492300"/>
          </a:xfrm>
          <a:prstGeom prst="rect">
            <a:avLst/>
          </a:prstGeom>
        </p:spPr>
        <p:txBody>
          <a:bodyPr anchorCtr="0" anchor="t" bIns="121875" lIns="121875" spcFirstLastPara="1" rIns="121875" wrap="square" tIns="121875">
            <a:normAutofit fontScale="47500" lnSpcReduction="10000"/>
          </a:bodyPr>
          <a:lstStyle/>
          <a:p>
            <a:pPr indent="0" lvl="0" marL="0" rtl="0" algn="l">
              <a:spcBef>
                <a:spcPts val="0"/>
              </a:spcBef>
              <a:spcAft>
                <a:spcPts val="1600"/>
              </a:spcAft>
              <a:buNone/>
            </a:pPr>
            <a:r>
              <a:rPr b="1" lang="en"/>
              <a:t>Leif Brown</a:t>
            </a:r>
            <a:br>
              <a:rPr lang="en"/>
            </a:br>
            <a:r>
              <a:rPr lang="en"/>
              <a:t>Last updated Dec 2023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a:t>‹#›</a:t>
            </a:fld>
            <a:endParaRPr/>
          </a:p>
        </p:txBody>
      </p:sp>
      <p:sp>
        <p:nvSpPr>
          <p:cNvPr id="130" name="Google Shape;130;p2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Diagram-making flow</a:t>
            </a:r>
            <a:endParaRPr/>
          </a:p>
        </p:txBody>
      </p:sp>
      <p:sp>
        <p:nvSpPr>
          <p:cNvPr id="131" name="Google Shape;131;p22"/>
          <p:cNvSpPr txBox="1"/>
          <p:nvPr>
            <p:ph idx="2" type="body"/>
          </p:nvPr>
        </p:nvSpPr>
        <p:spPr>
          <a:xfrm>
            <a:off x="749250" y="2045450"/>
            <a:ext cx="4518900" cy="1842300"/>
          </a:xfrm>
          <a:prstGeom prst="rect">
            <a:avLst/>
          </a:prstGeom>
        </p:spPr>
        <p:txBody>
          <a:bodyPr anchorCtr="0" anchor="t" bIns="0" lIns="0" spcFirstLastPara="1" rIns="0" wrap="square" tIns="0">
            <a:noAutofit/>
          </a:bodyPr>
          <a:lstStyle/>
          <a:p>
            <a:pPr indent="-342900" lvl="0" marL="457200" rtl="0" algn="l">
              <a:lnSpc>
                <a:spcPct val="115000"/>
              </a:lnSpc>
              <a:spcBef>
                <a:spcPts val="1100"/>
              </a:spcBef>
              <a:spcAft>
                <a:spcPts val="0"/>
              </a:spcAft>
              <a:buSzPts val="1800"/>
              <a:buChar char="•"/>
            </a:pPr>
            <a:r>
              <a:rPr lang="en" sz="1800"/>
              <a:t>Copy this deck and save it as your own.</a:t>
            </a:r>
            <a:endParaRPr sz="1800"/>
          </a:p>
          <a:p>
            <a:pPr indent="-342900" lvl="0" marL="457200" rtl="0" algn="l">
              <a:lnSpc>
                <a:spcPct val="115000"/>
              </a:lnSpc>
              <a:spcBef>
                <a:spcPts val="0"/>
              </a:spcBef>
              <a:spcAft>
                <a:spcPts val="0"/>
              </a:spcAft>
              <a:buSzPts val="1800"/>
              <a:buChar char="•"/>
            </a:pPr>
            <a:r>
              <a:rPr lang="en" sz="1800"/>
              <a:t>Add a new slide or select an existing slide in your deck and either overwrite it or duplicate it.</a:t>
            </a:r>
            <a:endParaRPr sz="1800"/>
          </a:p>
          <a:p>
            <a:pPr indent="0" lvl="0" marL="0" rtl="0" algn="l">
              <a:lnSpc>
                <a:spcPct val="115000"/>
              </a:lnSpc>
              <a:spcBef>
                <a:spcPts val="1600"/>
              </a:spcBef>
              <a:spcAft>
                <a:spcPts val="1600"/>
              </a:spcAft>
              <a:buNone/>
            </a:pPr>
            <a:r>
              <a:t/>
            </a:r>
            <a:endParaRPr/>
          </a:p>
        </p:txBody>
      </p:sp>
      <p:sp>
        <p:nvSpPr>
          <p:cNvPr id="132" name="Google Shape;132;p22"/>
          <p:cNvSpPr txBox="1"/>
          <p:nvPr>
            <p:ph idx="3" type="body"/>
          </p:nvPr>
        </p:nvSpPr>
        <p:spPr>
          <a:xfrm>
            <a:off x="6916625" y="1997000"/>
            <a:ext cx="4518900" cy="4476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When you’re happy with your diagram:</a:t>
            </a:r>
            <a:endParaRPr/>
          </a:p>
          <a:p>
            <a:pPr indent="-342900" lvl="0" marL="457200" rtl="0" algn="l">
              <a:spcBef>
                <a:spcPts val="1600"/>
              </a:spcBef>
              <a:spcAft>
                <a:spcPts val="0"/>
              </a:spcAft>
              <a:buSzPts val="1800"/>
              <a:buAutoNum type="arabicPeriod"/>
            </a:pPr>
            <a:r>
              <a:rPr lang="en" sz="1800"/>
              <a:t>At the top of the slide, add a descriptive title and the anticipated </a:t>
            </a:r>
            <a:r>
              <a:rPr i="1" lang="en" sz="1800"/>
              <a:t>path/to/filename.png</a:t>
            </a:r>
            <a:r>
              <a:rPr lang="en" sz="1800"/>
              <a:t> in the docs repo</a:t>
            </a:r>
            <a:endParaRPr sz="1800"/>
          </a:p>
          <a:p>
            <a:pPr indent="-342900" lvl="0" marL="457200" rtl="0" algn="l">
              <a:spcBef>
                <a:spcPts val="0"/>
              </a:spcBef>
              <a:spcAft>
                <a:spcPts val="0"/>
              </a:spcAft>
              <a:buSzPts val="1800"/>
              <a:buAutoNum type="arabicPeriod"/>
            </a:pPr>
            <a:r>
              <a:rPr lang="en" sz="1800"/>
              <a:t>Copy and paste the slide to the bottom of this deck</a:t>
            </a:r>
            <a:endParaRPr sz="1800"/>
          </a:p>
          <a:p>
            <a:pPr indent="-355600" lvl="0" marL="457200" rtl="0" algn="l">
              <a:spcBef>
                <a:spcPts val="0"/>
              </a:spcBef>
              <a:spcAft>
                <a:spcPts val="0"/>
              </a:spcAft>
              <a:buSzPts val="2000"/>
              <a:buAutoNum type="arabicPeriod"/>
            </a:pPr>
            <a:r>
              <a:rPr lang="en" sz="1800"/>
              <a:t>Download the slide as a .png </a:t>
            </a:r>
            <a:r>
              <a:rPr b="1" lang="en" sz="1600"/>
              <a:t>(File &gt; Download &gt; PNG image)</a:t>
            </a:r>
            <a:endParaRPr b="1" sz="1600"/>
          </a:p>
          <a:p>
            <a:pPr indent="-342900" lvl="0" marL="457200" rtl="0" algn="l">
              <a:spcBef>
                <a:spcPts val="0"/>
              </a:spcBef>
              <a:spcAft>
                <a:spcPts val="0"/>
              </a:spcAft>
              <a:buSzPts val="1800"/>
              <a:buAutoNum type="arabicPeriod"/>
            </a:pPr>
            <a:r>
              <a:rPr lang="en" sz="1800"/>
              <a:t>Crop out extraneous space or footers using Snagit or your favorite tool</a:t>
            </a:r>
            <a:endParaRPr sz="1800"/>
          </a:p>
          <a:p>
            <a:pPr indent="-342900" lvl="0" marL="457200" rtl="0" algn="l">
              <a:spcBef>
                <a:spcPts val="0"/>
              </a:spcBef>
              <a:spcAft>
                <a:spcPts val="0"/>
              </a:spcAft>
              <a:buSzPts val="1800"/>
              <a:buAutoNum type="arabicPeriod"/>
            </a:pPr>
            <a:r>
              <a:rPr lang="en" sz="1800"/>
              <a:t>Add the file to an appropriate folder in /source/_static/images</a:t>
            </a:r>
            <a:endParaRPr sz="1800"/>
          </a:p>
          <a:p>
            <a:pPr indent="0" lvl="0" marL="457200" rtl="0" algn="l">
              <a:spcBef>
                <a:spcPts val="1600"/>
              </a:spcBef>
              <a:spcAft>
                <a:spcPts val="0"/>
              </a:spcAft>
              <a:buNone/>
            </a:pPr>
            <a:r>
              <a:t/>
            </a:r>
            <a:endParaRPr sz="1800"/>
          </a:p>
          <a:p>
            <a:pPr indent="0" lvl="0" marL="0" rtl="0" algn="l">
              <a:spcBef>
                <a:spcPts val="1600"/>
              </a:spcBef>
              <a:spcAft>
                <a:spcPts val="1600"/>
              </a:spcAft>
              <a:buNone/>
            </a:pPr>
            <a:r>
              <a:t/>
            </a:r>
            <a:endParaRPr sz="1800"/>
          </a:p>
        </p:txBody>
      </p:sp>
      <p:sp>
        <p:nvSpPr>
          <p:cNvPr id="133" name="Google Shape;133;p22"/>
          <p:cNvSpPr txBox="1"/>
          <p:nvPr>
            <p:ph idx="5" type="subTitle"/>
          </p:nvPr>
        </p:nvSpPr>
        <p:spPr>
          <a:xfrm>
            <a:off x="6933575" y="1513128"/>
            <a:ext cx="4485000" cy="416700"/>
          </a:xfrm>
          <a:prstGeom prst="rect">
            <a:avLst/>
          </a:prstGeom>
        </p:spPr>
        <p:txBody>
          <a:bodyPr anchorCtr="0" anchor="t" bIns="121875" lIns="121875" spcFirstLastPara="1" rIns="121875" wrap="square" tIns="121875">
            <a:normAutofit fontScale="55000"/>
          </a:bodyPr>
          <a:lstStyle/>
          <a:p>
            <a:pPr indent="0" lvl="0" marL="0" rtl="0" algn="l">
              <a:spcBef>
                <a:spcPts val="0"/>
              </a:spcBef>
              <a:spcAft>
                <a:spcPts val="1600"/>
              </a:spcAft>
              <a:buNone/>
            </a:pPr>
            <a:r>
              <a:rPr lang="en"/>
              <a:t>2. Save the slide</a:t>
            </a:r>
            <a:endParaRPr/>
          </a:p>
        </p:txBody>
      </p:sp>
      <p:sp>
        <p:nvSpPr>
          <p:cNvPr id="134" name="Google Shape;134;p22"/>
          <p:cNvSpPr txBox="1"/>
          <p:nvPr/>
        </p:nvSpPr>
        <p:spPr>
          <a:xfrm>
            <a:off x="622600" y="1437263"/>
            <a:ext cx="3000000" cy="492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1100"/>
              </a:spcBef>
              <a:spcAft>
                <a:spcPts val="0"/>
              </a:spcAft>
              <a:buClr>
                <a:schemeClr val="accent1"/>
              </a:buClr>
              <a:buSzPts val="2000"/>
              <a:buFont typeface="DM Sans"/>
              <a:buAutoNum type="arabicPeriod"/>
            </a:pPr>
            <a:r>
              <a:rPr b="1" lang="en" sz="2000">
                <a:solidFill>
                  <a:schemeClr val="dk1"/>
                </a:solidFill>
                <a:latin typeface="DM Sans"/>
                <a:ea typeface="DM Sans"/>
                <a:cs typeface="DM Sans"/>
                <a:sym typeface="DM Sans"/>
              </a:rPr>
              <a:t>Create a slide.</a:t>
            </a:r>
            <a:endParaRPr b="1"/>
          </a:p>
        </p:txBody>
      </p:sp>
      <p:grpSp>
        <p:nvGrpSpPr>
          <p:cNvPr id="135" name="Google Shape;135;p22"/>
          <p:cNvGrpSpPr/>
          <p:nvPr/>
        </p:nvGrpSpPr>
        <p:grpSpPr>
          <a:xfrm>
            <a:off x="693500" y="3811550"/>
            <a:ext cx="4737600" cy="2436900"/>
            <a:chOff x="693500" y="3811550"/>
            <a:chExt cx="4737600" cy="2436900"/>
          </a:xfrm>
        </p:grpSpPr>
        <p:sp>
          <p:nvSpPr>
            <p:cNvPr id="136" name="Google Shape;136;p22"/>
            <p:cNvSpPr/>
            <p:nvPr/>
          </p:nvSpPr>
          <p:spPr>
            <a:xfrm>
              <a:off x="693500" y="3811550"/>
              <a:ext cx="4737600" cy="24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7" name="Google Shape;137;p22"/>
            <p:cNvSpPr txBox="1"/>
            <p:nvPr/>
          </p:nvSpPr>
          <p:spPr>
            <a:xfrm>
              <a:off x="761800" y="3811550"/>
              <a:ext cx="4669200" cy="200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b="1" lang="en" sz="1600">
                  <a:solidFill>
                    <a:schemeClr val="dk1"/>
                  </a:solidFill>
                  <a:latin typeface="DM Sans"/>
                  <a:ea typeface="DM Sans"/>
                  <a:cs typeface="DM Sans"/>
                  <a:sym typeface="DM Sans"/>
                </a:rPr>
                <a:t>Tip:</a:t>
              </a:r>
              <a:endParaRPr b="1" sz="1600">
                <a:solidFill>
                  <a:schemeClr val="dk1"/>
                </a:solidFill>
                <a:latin typeface="DM Sans"/>
                <a:ea typeface="DM Sans"/>
                <a:cs typeface="DM Sans"/>
                <a:sym typeface="DM Sans"/>
              </a:endParaRPr>
            </a:p>
            <a:p>
              <a:pPr indent="0" lvl="0" marL="0" rtl="0" algn="l">
                <a:lnSpc>
                  <a:spcPct val="115000"/>
                </a:lnSpc>
                <a:spcBef>
                  <a:spcPts val="1100"/>
                </a:spcBef>
                <a:spcAft>
                  <a:spcPts val="0"/>
                </a:spcAft>
                <a:buNone/>
              </a:pPr>
              <a:r>
                <a:rPr lang="en" sz="1600">
                  <a:solidFill>
                    <a:schemeClr val="dk1"/>
                  </a:solidFill>
                  <a:latin typeface="DM Sans"/>
                  <a:ea typeface="DM Sans"/>
                  <a:cs typeface="DM Sans"/>
                  <a:sym typeface="DM Sans"/>
                </a:rPr>
                <a:t>Look for existing diagrams that get close to telling the story you want and copy from them shamelessly.</a:t>
              </a:r>
              <a:endParaRPr sz="1600">
                <a:solidFill>
                  <a:schemeClr val="dk1"/>
                </a:solidFill>
                <a:latin typeface="DM Sans"/>
                <a:ea typeface="DM Sans"/>
                <a:cs typeface="DM Sans"/>
                <a:sym typeface="DM Sans"/>
              </a:endParaRPr>
            </a:p>
            <a:p>
              <a:pPr indent="0" lvl="0" marL="0" rtl="0" algn="l">
                <a:lnSpc>
                  <a:spcPct val="115000"/>
                </a:lnSpc>
                <a:spcBef>
                  <a:spcPts val="1100"/>
                </a:spcBef>
                <a:spcAft>
                  <a:spcPts val="0"/>
                </a:spcAft>
                <a:buNone/>
              </a:pPr>
              <a:r>
                <a:rPr lang="en" sz="1600">
                  <a:solidFill>
                    <a:schemeClr val="dk1"/>
                  </a:solidFill>
                  <a:latin typeface="DM Sans"/>
                  <a:ea typeface="DM Sans"/>
                  <a:cs typeface="DM Sans"/>
                  <a:sym typeface="DM Sans"/>
                </a:rPr>
                <a:t>If you copy a slide from another deck, use “Match styles in this presentation” when you paste it.</a:t>
              </a:r>
              <a:endParaRPr sz="2000">
                <a:solidFill>
                  <a:schemeClr val="dk1"/>
                </a:solidFill>
                <a:latin typeface="DM Sans"/>
                <a:ea typeface="DM Sans"/>
                <a:cs typeface="DM Sans"/>
                <a:sym typeface="DM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a:t>‹#›</a:t>
            </a:fld>
            <a:endParaRPr/>
          </a:p>
        </p:txBody>
      </p:sp>
      <p:sp>
        <p:nvSpPr>
          <p:cNvPr id="143" name="Google Shape;143;p23"/>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Diagramming best practices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p:nvPr/>
        </p:nvSpPr>
        <p:spPr>
          <a:xfrm>
            <a:off x="6730625" y="2584900"/>
            <a:ext cx="4276500" cy="277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700">
                <a:solidFill>
                  <a:schemeClr val="dk1"/>
                </a:solidFill>
                <a:latin typeface="DM Sans"/>
                <a:ea typeface="DM Sans"/>
                <a:cs typeface="DM Sans"/>
                <a:sym typeface="DM Sans"/>
              </a:rPr>
              <a:t>Tip:</a:t>
            </a:r>
            <a:endParaRPr b="1" sz="1700">
              <a:solidFill>
                <a:schemeClr val="dk1"/>
              </a:solidFill>
              <a:latin typeface="DM Sans"/>
              <a:ea typeface="DM Sans"/>
              <a:cs typeface="DM Sans"/>
              <a:sym typeface="DM Sans"/>
            </a:endParaRPr>
          </a:p>
          <a:p>
            <a:pPr indent="-336550" lvl="0" marL="457200" rtl="0" algn="l">
              <a:lnSpc>
                <a:spcPct val="115000"/>
              </a:lnSpc>
              <a:spcBef>
                <a:spcPts val="1100"/>
              </a:spcBef>
              <a:spcAft>
                <a:spcPts val="0"/>
              </a:spcAft>
              <a:buClr>
                <a:schemeClr val="accent1"/>
              </a:buClr>
              <a:buSzPts val="1700"/>
              <a:buFont typeface="DM Sans"/>
              <a:buChar char="•"/>
            </a:pPr>
            <a:r>
              <a:rPr lang="en" sz="1700">
                <a:solidFill>
                  <a:schemeClr val="dk1"/>
                </a:solidFill>
                <a:latin typeface="DM Sans"/>
                <a:ea typeface="DM Sans"/>
                <a:cs typeface="DM Sans"/>
                <a:sym typeface="DM Sans"/>
              </a:rPr>
              <a:t>If you don’t see DM Sans or DM Mono in your font menu, add them by selecting “More fonts” and searching for “dm.”</a:t>
            </a:r>
            <a:endParaRPr sz="1700">
              <a:solidFill>
                <a:schemeClr val="dk1"/>
              </a:solidFill>
              <a:latin typeface="DM Sans"/>
              <a:ea typeface="DM Sans"/>
              <a:cs typeface="DM Sans"/>
              <a:sym typeface="DM Sans"/>
            </a:endParaRPr>
          </a:p>
          <a:p>
            <a:pPr indent="-336550" lvl="0" marL="457200" rtl="0" algn="l">
              <a:lnSpc>
                <a:spcPct val="115000"/>
              </a:lnSpc>
              <a:spcBef>
                <a:spcPts val="0"/>
              </a:spcBef>
              <a:spcAft>
                <a:spcPts val="0"/>
              </a:spcAft>
              <a:buClr>
                <a:schemeClr val="accent1"/>
              </a:buClr>
              <a:buSzPts val="1700"/>
              <a:buFont typeface="DM Sans"/>
              <a:buChar char="•"/>
            </a:pPr>
            <a:r>
              <a:rPr lang="en" sz="1700">
                <a:solidFill>
                  <a:schemeClr val="dk1"/>
                </a:solidFill>
                <a:latin typeface="DM Sans"/>
                <a:ea typeface="DM Sans"/>
                <a:cs typeface="DM Sans"/>
                <a:sym typeface="DM Sans"/>
              </a:rPr>
              <a:t>To use the fonts in Powerpoint, </a:t>
            </a:r>
            <a:r>
              <a:rPr lang="en" sz="1700" u="sng">
                <a:solidFill>
                  <a:schemeClr val="hlink"/>
                </a:solidFill>
                <a:latin typeface="DM Sans"/>
                <a:ea typeface="DM Sans"/>
                <a:cs typeface="DM Sans"/>
                <a:sym typeface="DM Sans"/>
                <a:hlinkClick r:id="rId3"/>
              </a:rPr>
              <a:t>download the font files</a:t>
            </a:r>
            <a:r>
              <a:rPr lang="en" sz="1700">
                <a:solidFill>
                  <a:schemeClr val="dk1"/>
                </a:solidFill>
                <a:latin typeface="DM Sans"/>
                <a:ea typeface="DM Sans"/>
                <a:cs typeface="DM Sans"/>
                <a:sym typeface="DM Sans"/>
              </a:rPr>
              <a:t> and install them to your local machine.</a:t>
            </a:r>
            <a:endParaRPr>
              <a:latin typeface="DM Sans"/>
              <a:ea typeface="DM Sans"/>
              <a:cs typeface="DM Sans"/>
              <a:sym typeface="DM Sans"/>
            </a:endParaRPr>
          </a:p>
        </p:txBody>
      </p:sp>
      <p:sp>
        <p:nvSpPr>
          <p:cNvPr id="149" name="Google Shape;149;p24"/>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a:t>‹#›</a:t>
            </a:fld>
            <a:endParaRPr/>
          </a:p>
        </p:txBody>
      </p:sp>
      <p:sp>
        <p:nvSpPr>
          <p:cNvPr id="150" name="Google Shape;150;p2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a:ea typeface="DM Sans"/>
                <a:cs typeface="DM Sans"/>
                <a:sym typeface="DM Sans"/>
              </a:rPr>
              <a:t>Font</a:t>
            </a:r>
            <a:endParaRPr>
              <a:latin typeface="DM Sans"/>
              <a:ea typeface="DM Sans"/>
              <a:cs typeface="DM Sans"/>
              <a:sym typeface="DM Sans"/>
            </a:endParaRPr>
          </a:p>
        </p:txBody>
      </p:sp>
      <p:sp>
        <p:nvSpPr>
          <p:cNvPr id="151" name="Google Shape;151;p24"/>
          <p:cNvSpPr txBox="1"/>
          <p:nvPr>
            <p:ph idx="2" type="body"/>
          </p:nvPr>
        </p:nvSpPr>
        <p:spPr>
          <a:xfrm>
            <a:off x="609450" y="1869600"/>
            <a:ext cx="5262300" cy="43788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SzPts val="2000"/>
              <a:buChar char="•"/>
            </a:pPr>
            <a:r>
              <a:rPr lang="en" sz="2000"/>
              <a:t>Use DM Sans, normal weight</a:t>
            </a:r>
            <a:endParaRPr sz="2000"/>
          </a:p>
          <a:p>
            <a:pPr indent="-355600" lvl="0" marL="457200" rtl="0" algn="l">
              <a:spcBef>
                <a:spcPts val="0"/>
              </a:spcBef>
              <a:spcAft>
                <a:spcPts val="0"/>
              </a:spcAft>
              <a:buSzPts val="2000"/>
              <a:buChar char="•"/>
            </a:pPr>
            <a:r>
              <a:rPr lang="en" sz="2000"/>
              <a:t>Use DM Mono for code snippets</a:t>
            </a:r>
            <a:endParaRPr sz="2000"/>
          </a:p>
          <a:p>
            <a:pPr indent="-355600" lvl="0" marL="457200" rtl="0" algn="l">
              <a:spcBef>
                <a:spcPts val="0"/>
              </a:spcBef>
              <a:spcAft>
                <a:spcPts val="0"/>
              </a:spcAft>
              <a:buSzPts val="2000"/>
              <a:buChar char="•"/>
            </a:pPr>
            <a:r>
              <a:rPr lang="en" sz="2000"/>
              <a:t>Use the darkest “Databricks theme” color (near-black) for most labels; other colors to imply meaning or relationships</a:t>
            </a:r>
            <a:endParaRPr sz="2000"/>
          </a:p>
          <a:p>
            <a:pPr indent="-355600" lvl="0" marL="457200" rtl="0" algn="l">
              <a:spcBef>
                <a:spcPts val="0"/>
              </a:spcBef>
              <a:spcAft>
                <a:spcPts val="0"/>
              </a:spcAft>
              <a:buSzPts val="2000"/>
              <a:buChar char="•"/>
            </a:pPr>
            <a:r>
              <a:rPr lang="en" sz="2000"/>
              <a:t>Stick to sizes 10 - 16</a:t>
            </a:r>
            <a:endParaRPr sz="2000"/>
          </a:p>
          <a:p>
            <a:pPr indent="-355600" lvl="0" marL="457200" rtl="0" algn="l">
              <a:spcBef>
                <a:spcPts val="0"/>
              </a:spcBef>
              <a:spcAft>
                <a:spcPts val="0"/>
              </a:spcAft>
              <a:buSzPts val="2000"/>
              <a:buChar char="•"/>
            </a:pPr>
            <a:r>
              <a:rPr lang="en" sz="2000"/>
              <a:t>Make sure that the smallest font is readable when the diagram is rendered on the doc site.</a:t>
            </a:r>
            <a:endParaRPr sz="2000"/>
          </a:p>
          <a:p>
            <a:pPr indent="0" lvl="0" marL="457200" rtl="0" algn="l">
              <a:spcBef>
                <a:spcPts val="1600"/>
              </a:spcBef>
              <a:spcAft>
                <a:spcPts val="1600"/>
              </a:spcAft>
              <a:buNone/>
            </a:pPr>
            <a:r>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57" name="Google Shape;157;p2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a:ea typeface="DM Sans"/>
                <a:cs typeface="DM Sans"/>
                <a:sym typeface="DM Sans"/>
              </a:rPr>
              <a:t>Size</a:t>
            </a:r>
            <a:endParaRPr>
              <a:latin typeface="DM Sans"/>
              <a:ea typeface="DM Sans"/>
              <a:cs typeface="DM Sans"/>
              <a:sym typeface="DM Sans"/>
            </a:endParaRPr>
          </a:p>
        </p:txBody>
      </p:sp>
      <p:sp>
        <p:nvSpPr>
          <p:cNvPr id="158" name="Google Shape;158;p25"/>
          <p:cNvSpPr txBox="1"/>
          <p:nvPr>
            <p:ph idx="2" type="body"/>
          </p:nvPr>
        </p:nvSpPr>
        <p:spPr>
          <a:xfrm>
            <a:off x="761809" y="1836433"/>
            <a:ext cx="5262300" cy="41499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SzPts val="2000"/>
              <a:buChar char="•"/>
            </a:pPr>
            <a:r>
              <a:rPr lang="en" sz="2000"/>
              <a:t>No wider or taller than 1000px</a:t>
            </a:r>
            <a:endParaRPr sz="2000"/>
          </a:p>
          <a:p>
            <a:pPr indent="-355600" lvl="0" marL="457200" rtl="0" algn="l">
              <a:spcBef>
                <a:spcPts val="0"/>
              </a:spcBef>
              <a:spcAft>
                <a:spcPts val="0"/>
              </a:spcAft>
              <a:buSzPts val="2000"/>
              <a:buChar char="•"/>
            </a:pPr>
            <a:r>
              <a:rPr lang="en" sz="2000"/>
              <a:t>Scale: Font size of the main font should render on the page at roughly the same size as the article body font.</a:t>
            </a:r>
            <a:endParaRPr sz="2000"/>
          </a:p>
          <a:p>
            <a:pPr indent="-355600" lvl="0" marL="457200" rtl="0" algn="l">
              <a:spcBef>
                <a:spcPts val="0"/>
              </a:spcBef>
              <a:spcAft>
                <a:spcPts val="0"/>
              </a:spcAft>
              <a:buSzPts val="2000"/>
              <a:buChar char="•"/>
            </a:pPr>
            <a:r>
              <a:rPr lang="en" sz="2000"/>
              <a:t>Scale should be the same throughout a given article</a:t>
            </a:r>
            <a:endParaRPr sz="2000"/>
          </a:p>
          <a:p>
            <a:pPr indent="-355600" lvl="0" marL="457200" rtl="0" algn="l">
              <a:spcBef>
                <a:spcPts val="0"/>
              </a:spcBef>
              <a:spcAft>
                <a:spcPts val="0"/>
              </a:spcAft>
              <a:buSzPts val="2000"/>
              <a:buChar char="•"/>
            </a:pPr>
            <a:r>
              <a:rPr lang="en" sz="2000"/>
              <a:t>Similar or related diagrams should be the same width in a given article</a:t>
            </a:r>
            <a:endParaRPr/>
          </a:p>
          <a:p>
            <a:pPr indent="0" lvl="0" marL="457200" rtl="0" algn="l">
              <a:lnSpc>
                <a:spcPct val="115000"/>
              </a:lnSpc>
              <a:spcBef>
                <a:spcPts val="1600"/>
              </a:spcBef>
              <a:spcAft>
                <a:spcPts val="1600"/>
              </a:spcAft>
              <a:buNone/>
            </a:pPr>
            <a:r>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64" name="Google Shape;164;p2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a:ea typeface="DM Sans"/>
                <a:cs typeface="DM Sans"/>
                <a:sym typeface="DM Sans"/>
              </a:rPr>
              <a:t>Background and fill</a:t>
            </a:r>
            <a:endParaRPr>
              <a:latin typeface="DM Sans"/>
              <a:ea typeface="DM Sans"/>
              <a:cs typeface="DM Sans"/>
              <a:sym typeface="DM Sans"/>
            </a:endParaRPr>
          </a:p>
        </p:txBody>
      </p:sp>
      <p:sp>
        <p:nvSpPr>
          <p:cNvPr id="165" name="Google Shape;165;p26"/>
          <p:cNvSpPr txBox="1"/>
          <p:nvPr>
            <p:ph idx="2" type="body"/>
          </p:nvPr>
        </p:nvSpPr>
        <p:spPr>
          <a:xfrm>
            <a:off x="761809" y="1836433"/>
            <a:ext cx="5262300" cy="41499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SzPts val="2000"/>
              <a:buChar char="•"/>
            </a:pPr>
            <a:r>
              <a:rPr lang="en" sz="2000"/>
              <a:t>Background is always white, never transparent </a:t>
            </a:r>
            <a:endParaRPr sz="2000"/>
          </a:p>
          <a:p>
            <a:pPr indent="-355600" lvl="0" marL="457200" rtl="0" algn="l">
              <a:spcBef>
                <a:spcPts val="0"/>
              </a:spcBef>
              <a:spcAft>
                <a:spcPts val="0"/>
              </a:spcAft>
              <a:buSzPts val="2000"/>
              <a:buChar char="•"/>
            </a:pPr>
            <a:r>
              <a:rPr lang="en" sz="2000"/>
              <a:t>Shape fill should never be transparent</a:t>
            </a:r>
            <a:endParaRPr sz="2000"/>
          </a:p>
          <a:p>
            <a:pPr indent="0" lvl="0" marL="0" rtl="0" algn="l">
              <a:spcBef>
                <a:spcPts val="1600"/>
              </a:spcBef>
              <a:spcAft>
                <a:spcPts val="0"/>
              </a:spcAft>
              <a:buNone/>
            </a:pPr>
            <a:r>
              <a:rPr lang="en" sz="2000"/>
              <a:t>T</a:t>
            </a:r>
            <a:r>
              <a:rPr lang="en" sz="2000"/>
              <a:t>ransparent backgrounds and fill render diagrams unreadable in dark mode.</a:t>
            </a:r>
            <a:endParaRPr sz="2000"/>
          </a:p>
          <a:p>
            <a:pPr indent="0" lvl="0" marL="0" rtl="0" algn="l">
              <a:spcBef>
                <a:spcPts val="1600"/>
              </a:spcBef>
              <a:spcAft>
                <a:spcPts val="0"/>
              </a:spcAft>
              <a:buNone/>
            </a:pPr>
            <a:r>
              <a:t/>
            </a:r>
            <a:endParaRPr sz="2000"/>
          </a:p>
          <a:p>
            <a:pPr indent="0" lvl="0" marL="0" rtl="0" algn="l">
              <a:spcBef>
                <a:spcPts val="1600"/>
              </a:spcBef>
              <a:spcAft>
                <a:spcPts val="0"/>
              </a:spcAft>
              <a:buNone/>
            </a:pPr>
            <a:r>
              <a:t/>
            </a:r>
            <a:endParaRPr/>
          </a:p>
          <a:p>
            <a:pPr indent="0" lvl="0" marL="457200" rtl="0" algn="l">
              <a:lnSpc>
                <a:spcPct val="115000"/>
              </a:lnSpc>
              <a:spcBef>
                <a:spcPts val="1600"/>
              </a:spcBef>
              <a:spcAft>
                <a:spcPts val="1600"/>
              </a:spcAft>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71" name="Google Shape;171;p2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a:ea typeface="DM Sans"/>
                <a:cs typeface="DM Sans"/>
                <a:sym typeface="DM Sans"/>
              </a:rPr>
              <a:t>Colors</a:t>
            </a:r>
            <a:endParaRPr>
              <a:latin typeface="DM Sans"/>
              <a:ea typeface="DM Sans"/>
              <a:cs typeface="DM Sans"/>
              <a:sym typeface="DM Sans"/>
            </a:endParaRPr>
          </a:p>
        </p:txBody>
      </p:sp>
      <p:sp>
        <p:nvSpPr>
          <p:cNvPr id="172" name="Google Shape;172;p27"/>
          <p:cNvSpPr txBox="1"/>
          <p:nvPr>
            <p:ph idx="2" type="body"/>
          </p:nvPr>
        </p:nvSpPr>
        <p:spPr>
          <a:xfrm>
            <a:off x="761809" y="1836433"/>
            <a:ext cx="5262300" cy="4149900"/>
          </a:xfrm>
          <a:prstGeom prst="rect">
            <a:avLst/>
          </a:prstGeom>
        </p:spPr>
        <p:txBody>
          <a:bodyPr anchorCtr="0" anchor="t" bIns="0" lIns="0" spcFirstLastPara="1" rIns="0" wrap="square" tIns="0">
            <a:noAutofit/>
          </a:bodyPr>
          <a:lstStyle/>
          <a:p>
            <a:pPr indent="-349250" lvl="0" marL="457200" rtl="0" algn="l">
              <a:spcBef>
                <a:spcPts val="1100"/>
              </a:spcBef>
              <a:spcAft>
                <a:spcPts val="0"/>
              </a:spcAft>
              <a:buSzPts val="1900"/>
              <a:buChar char="•"/>
            </a:pPr>
            <a:r>
              <a:rPr lang="en" sz="1900"/>
              <a:t>Use the Databricks Theme colors for borders, lines, and fill (but avoid the bright blue); “custom colors” are also OK if you feel you need them.</a:t>
            </a:r>
            <a:endParaRPr sz="1900"/>
          </a:p>
          <a:p>
            <a:pPr indent="-349250" lvl="0" marL="457200" rtl="0" algn="l">
              <a:spcBef>
                <a:spcPts val="0"/>
              </a:spcBef>
              <a:spcAft>
                <a:spcPts val="0"/>
              </a:spcAft>
              <a:buSzPts val="1900"/>
              <a:buChar char="•"/>
            </a:pPr>
            <a:r>
              <a:rPr lang="en" sz="1900"/>
              <a:t>Light feeling</a:t>
            </a:r>
            <a:endParaRPr sz="1900"/>
          </a:p>
          <a:p>
            <a:pPr indent="-349250" lvl="0" marL="457200" rtl="0" algn="l">
              <a:spcBef>
                <a:spcPts val="0"/>
              </a:spcBef>
              <a:spcAft>
                <a:spcPts val="0"/>
              </a:spcAft>
              <a:buSzPts val="1900"/>
              <a:buChar char="•"/>
            </a:pPr>
            <a:r>
              <a:rPr lang="en" sz="1900"/>
              <a:t>Use color and transparency to tell your story (group related objects, de-emphasize some object, etc) but don’t overdo it.</a:t>
            </a:r>
            <a:endParaRPr sz="1900"/>
          </a:p>
          <a:p>
            <a:pPr indent="0" lvl="0" marL="0" rtl="0" algn="l">
              <a:spcBef>
                <a:spcPts val="1600"/>
              </a:spcBef>
              <a:spcAft>
                <a:spcPts val="0"/>
              </a:spcAft>
              <a:buNone/>
            </a:pPr>
            <a:r>
              <a:t/>
            </a:r>
            <a:endParaRPr sz="1600"/>
          </a:p>
          <a:p>
            <a:pPr indent="0" lvl="0" marL="0" rtl="0" algn="l">
              <a:lnSpc>
                <a:spcPct val="115000"/>
              </a:lnSpc>
              <a:spcBef>
                <a:spcPts val="1600"/>
              </a:spcBef>
              <a:spcAft>
                <a:spcPts val="1600"/>
              </a:spcAft>
              <a:buNone/>
            </a:pPr>
            <a:r>
              <a:t/>
            </a:r>
            <a:endParaRPr/>
          </a:p>
        </p:txBody>
      </p:sp>
      <p:sp>
        <p:nvSpPr>
          <p:cNvPr id="173" name="Google Shape;173;p27"/>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174" name="Google Shape;174;p27"/>
          <p:cNvPicPr preferRelativeResize="0"/>
          <p:nvPr/>
        </p:nvPicPr>
        <p:blipFill>
          <a:blip r:embed="rId3">
            <a:alphaModFix/>
          </a:blip>
          <a:stretch>
            <a:fillRect/>
          </a:stretch>
        </p:blipFill>
        <p:spPr>
          <a:xfrm>
            <a:off x="7090909" y="1271497"/>
            <a:ext cx="2447925" cy="4619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80" name="Google Shape;180;p2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a:ea typeface="DM Sans"/>
                <a:cs typeface="DM Sans"/>
                <a:sym typeface="DM Sans"/>
              </a:rPr>
              <a:t>Shapes</a:t>
            </a:r>
            <a:endParaRPr>
              <a:latin typeface="DM Sans"/>
              <a:ea typeface="DM Sans"/>
              <a:cs typeface="DM Sans"/>
              <a:sym typeface="DM Sans"/>
            </a:endParaRPr>
          </a:p>
        </p:txBody>
      </p:sp>
      <p:sp>
        <p:nvSpPr>
          <p:cNvPr id="181" name="Google Shape;181;p28"/>
          <p:cNvSpPr txBox="1"/>
          <p:nvPr>
            <p:ph idx="2" type="body"/>
          </p:nvPr>
        </p:nvSpPr>
        <p:spPr>
          <a:xfrm>
            <a:off x="761809" y="1836433"/>
            <a:ext cx="5262300" cy="41499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SzPts val="2000"/>
              <a:buChar char="•"/>
            </a:pPr>
            <a:r>
              <a:rPr lang="en" sz="2000"/>
              <a:t>S</a:t>
            </a:r>
            <a:r>
              <a:rPr lang="en" sz="2000"/>
              <a:t>imple shapes, mostly rectangles</a:t>
            </a:r>
            <a:endParaRPr sz="2000"/>
          </a:p>
          <a:p>
            <a:pPr indent="-355600" lvl="0" marL="457200" rtl="0" algn="l">
              <a:spcBef>
                <a:spcPts val="0"/>
              </a:spcBef>
              <a:spcAft>
                <a:spcPts val="0"/>
              </a:spcAft>
              <a:buSzPts val="2000"/>
              <a:buChar char="•"/>
            </a:pPr>
            <a:r>
              <a:rPr lang="en" sz="2000"/>
              <a:t>Same-sized shapes for similar concepts/objects/terms</a:t>
            </a:r>
            <a:endParaRPr sz="2000"/>
          </a:p>
          <a:p>
            <a:pPr indent="-355600" lvl="0" marL="457200" rtl="0" algn="l">
              <a:spcBef>
                <a:spcPts val="0"/>
              </a:spcBef>
              <a:spcAft>
                <a:spcPts val="0"/>
              </a:spcAft>
              <a:buSzPts val="2000"/>
              <a:buChar char="•"/>
            </a:pPr>
            <a:r>
              <a:rPr lang="en" sz="2000"/>
              <a:t>Dotted lines or filled shapes to group objects</a:t>
            </a:r>
            <a:endParaRPr sz="2000"/>
          </a:p>
          <a:p>
            <a:pPr indent="-355600" lvl="0" marL="457200" rtl="0" algn="l">
              <a:spcBef>
                <a:spcPts val="0"/>
              </a:spcBef>
              <a:spcAft>
                <a:spcPts val="0"/>
              </a:spcAft>
              <a:buSzPts val="2000"/>
              <a:buChar char="•"/>
            </a:pPr>
            <a:r>
              <a:rPr lang="en" sz="2000"/>
              <a:t>Dotted lines or more transparent shapes/borders/fill to de-emphasize objects</a:t>
            </a:r>
            <a:endParaRPr sz="2300"/>
          </a:p>
          <a:p>
            <a:pPr indent="0" lvl="0" marL="0" rtl="0" algn="l">
              <a:spcBef>
                <a:spcPts val="1600"/>
              </a:spcBef>
              <a:spcAft>
                <a:spcPts val="0"/>
              </a:spcAft>
              <a:buNone/>
            </a:pPr>
            <a:r>
              <a:t/>
            </a:r>
            <a:endParaRPr sz="1600"/>
          </a:p>
          <a:p>
            <a:pPr indent="0" lvl="0" marL="0" rtl="0" algn="l">
              <a:lnSpc>
                <a:spcPct val="115000"/>
              </a:lnSpc>
              <a:spcBef>
                <a:spcPts val="1600"/>
              </a:spcBef>
              <a:spcAft>
                <a:spcPts val="1600"/>
              </a:spcAft>
              <a:buNone/>
            </a:pPr>
            <a:r>
              <a:t/>
            </a:r>
            <a:endParaRPr/>
          </a:p>
        </p:txBody>
      </p:sp>
      <p:sp>
        <p:nvSpPr>
          <p:cNvPr id="182" name="Google Shape;182;p28"/>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88" name="Google Shape;188;p2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a:ea typeface="DM Sans"/>
                <a:cs typeface="DM Sans"/>
                <a:sym typeface="DM Sans"/>
              </a:rPr>
              <a:t>Flow</a:t>
            </a:r>
            <a:endParaRPr>
              <a:latin typeface="DM Sans"/>
              <a:ea typeface="DM Sans"/>
              <a:cs typeface="DM Sans"/>
              <a:sym typeface="DM Sans"/>
            </a:endParaRPr>
          </a:p>
        </p:txBody>
      </p:sp>
      <p:sp>
        <p:nvSpPr>
          <p:cNvPr id="189" name="Google Shape;189;p29"/>
          <p:cNvSpPr txBox="1"/>
          <p:nvPr>
            <p:ph idx="2" type="body"/>
          </p:nvPr>
        </p:nvSpPr>
        <p:spPr>
          <a:xfrm>
            <a:off x="761809" y="1836433"/>
            <a:ext cx="5262300" cy="41499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Clr>
                <a:schemeClr val="dk1"/>
              </a:buClr>
              <a:buSzPts val="2000"/>
              <a:buChar char="•"/>
            </a:pPr>
            <a:r>
              <a:rPr lang="en" sz="2000"/>
              <a:t>Left-to-right flow works well with the slide format</a:t>
            </a:r>
            <a:endParaRPr sz="2000"/>
          </a:p>
          <a:p>
            <a:pPr indent="-355600" lvl="0" marL="457200" rtl="0" algn="l">
              <a:spcBef>
                <a:spcPts val="0"/>
              </a:spcBef>
              <a:spcAft>
                <a:spcPts val="0"/>
              </a:spcAft>
              <a:buClr>
                <a:schemeClr val="dk1"/>
              </a:buClr>
              <a:buSzPts val="2000"/>
              <a:buChar char="•"/>
            </a:pPr>
            <a:r>
              <a:rPr lang="en" sz="2000"/>
              <a:t>Top-down also works well for shorter flows</a:t>
            </a:r>
            <a:endParaRPr sz="2000"/>
          </a:p>
          <a:p>
            <a:pPr indent="-355600" lvl="0" marL="457200" rtl="0" algn="l">
              <a:spcBef>
                <a:spcPts val="0"/>
              </a:spcBef>
              <a:spcAft>
                <a:spcPts val="0"/>
              </a:spcAft>
              <a:buClr>
                <a:schemeClr val="dk1"/>
              </a:buClr>
              <a:buSzPts val="2000"/>
              <a:buChar char="•"/>
            </a:pPr>
            <a:r>
              <a:rPr lang="en" sz="2000"/>
              <a:t>Use 1px connectors. </a:t>
            </a:r>
            <a:endParaRPr sz="2000"/>
          </a:p>
          <a:p>
            <a:pPr indent="-355600" lvl="0" marL="457200" rtl="0" algn="l">
              <a:spcBef>
                <a:spcPts val="0"/>
              </a:spcBef>
              <a:spcAft>
                <a:spcPts val="0"/>
              </a:spcAft>
              <a:buClr>
                <a:schemeClr val="dk1"/>
              </a:buClr>
              <a:buSzPts val="2000"/>
              <a:buChar char="•"/>
            </a:pPr>
            <a:r>
              <a:rPr lang="en" sz="2000"/>
              <a:t>If there is an implied flow, use arrow endpoints</a:t>
            </a:r>
            <a:endParaRPr/>
          </a:p>
          <a:p>
            <a:pPr indent="0" lvl="0" marL="0" rtl="0" algn="l">
              <a:spcBef>
                <a:spcPts val="1600"/>
              </a:spcBef>
              <a:spcAft>
                <a:spcPts val="0"/>
              </a:spcAft>
              <a:buNone/>
            </a:pPr>
            <a:r>
              <a:t/>
            </a:r>
            <a:endParaRPr sz="1600"/>
          </a:p>
          <a:p>
            <a:pPr indent="0" lvl="0" marL="0" rtl="0" algn="l">
              <a:lnSpc>
                <a:spcPct val="115000"/>
              </a:lnSpc>
              <a:spcBef>
                <a:spcPts val="1600"/>
              </a:spcBef>
              <a:spcAft>
                <a:spcPts val="1600"/>
              </a:spcAft>
              <a:buNone/>
            </a:pPr>
            <a:r>
              <a:t/>
            </a:r>
            <a:endParaRPr/>
          </a:p>
        </p:txBody>
      </p:sp>
      <p:sp>
        <p:nvSpPr>
          <p:cNvPr id="190" name="Google Shape;190;p29"/>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96" name="Google Shape;196;p3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lnSpc>
                <a:spcPct val="115000"/>
              </a:lnSpc>
              <a:spcBef>
                <a:spcPts val="1100"/>
              </a:spcBef>
              <a:spcAft>
                <a:spcPts val="0"/>
              </a:spcAft>
              <a:buNone/>
            </a:pPr>
            <a:r>
              <a:rPr lang="en">
                <a:latin typeface="DM Sans"/>
                <a:ea typeface="DM Sans"/>
                <a:cs typeface="DM Sans"/>
                <a:sym typeface="DM Sans"/>
              </a:rPr>
              <a:t>C</a:t>
            </a:r>
            <a:r>
              <a:rPr lang="en">
                <a:latin typeface="DM Sans"/>
                <a:ea typeface="DM Sans"/>
                <a:cs typeface="DM Sans"/>
                <a:sym typeface="DM Sans"/>
              </a:rPr>
              <a:t>onnections</a:t>
            </a:r>
            <a:endParaRPr>
              <a:latin typeface="DM Sans"/>
              <a:ea typeface="DM Sans"/>
              <a:cs typeface="DM Sans"/>
              <a:sym typeface="DM Sans"/>
            </a:endParaRPr>
          </a:p>
        </p:txBody>
      </p:sp>
      <p:sp>
        <p:nvSpPr>
          <p:cNvPr id="197" name="Google Shape;197;p30"/>
          <p:cNvSpPr txBox="1"/>
          <p:nvPr>
            <p:ph idx="2" type="body"/>
          </p:nvPr>
        </p:nvSpPr>
        <p:spPr>
          <a:xfrm>
            <a:off x="609459" y="1847058"/>
            <a:ext cx="5262300" cy="41499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SzPts val="2000"/>
              <a:buChar char="•"/>
            </a:pPr>
            <a:r>
              <a:rPr lang="en" sz="2000"/>
              <a:t>Use 1px connectors to imply connection or flow</a:t>
            </a:r>
            <a:endParaRPr sz="2000"/>
          </a:p>
          <a:p>
            <a:pPr indent="-355600" lvl="0" marL="457200" rtl="0" algn="l">
              <a:spcBef>
                <a:spcPts val="0"/>
              </a:spcBef>
              <a:spcAft>
                <a:spcPts val="0"/>
              </a:spcAft>
              <a:buSzPts val="2000"/>
              <a:buChar char="•"/>
            </a:pPr>
            <a:r>
              <a:rPr lang="en" sz="2000"/>
              <a:t>If you are showing flow, use arrow endpoints; otherwise don’t</a:t>
            </a:r>
            <a:endParaRPr sz="2000"/>
          </a:p>
          <a:p>
            <a:pPr indent="-355600" lvl="0" marL="457200" rtl="0" algn="l">
              <a:spcBef>
                <a:spcPts val="0"/>
              </a:spcBef>
              <a:spcAft>
                <a:spcPts val="0"/>
              </a:spcAft>
              <a:buSzPts val="2000"/>
              <a:buChar char="•"/>
            </a:pPr>
            <a:r>
              <a:rPr lang="en" sz="2000"/>
              <a:t>Use the purple targets </a:t>
            </a:r>
            <a:r>
              <a:rPr lang="en" sz="2000"/>
              <a:t>when you connect shapes</a:t>
            </a:r>
            <a:endParaRPr sz="2000"/>
          </a:p>
          <a:p>
            <a:pPr indent="0" lvl="0" marL="457200" rtl="0" algn="l">
              <a:spcBef>
                <a:spcPts val="1600"/>
              </a:spcBef>
              <a:spcAft>
                <a:spcPts val="0"/>
              </a:spcAft>
              <a:buNone/>
            </a:pPr>
            <a:r>
              <a:t/>
            </a:r>
            <a:endParaRPr sz="2000"/>
          </a:p>
          <a:p>
            <a:pPr indent="0" lvl="0" marL="0" rtl="0" algn="l">
              <a:spcBef>
                <a:spcPts val="1600"/>
              </a:spcBef>
              <a:spcAft>
                <a:spcPts val="0"/>
              </a:spcAft>
              <a:buNone/>
            </a:pPr>
            <a:r>
              <a:t/>
            </a:r>
            <a:endParaRPr sz="1600"/>
          </a:p>
          <a:p>
            <a:pPr indent="0" lvl="0" marL="0" rtl="0" algn="l">
              <a:lnSpc>
                <a:spcPct val="115000"/>
              </a:lnSpc>
              <a:spcBef>
                <a:spcPts val="1600"/>
              </a:spcBef>
              <a:spcAft>
                <a:spcPts val="1600"/>
              </a:spcAft>
              <a:buNone/>
            </a:pPr>
            <a:r>
              <a:t/>
            </a:r>
            <a:endParaRPr/>
          </a:p>
        </p:txBody>
      </p:sp>
      <p:sp>
        <p:nvSpPr>
          <p:cNvPr id="198" name="Google Shape;198;p30"/>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04" name="Google Shape;204;p3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a:ea typeface="DM Sans"/>
                <a:cs typeface="DM Sans"/>
                <a:sym typeface="DM Sans"/>
              </a:rPr>
              <a:t>Icons</a:t>
            </a:r>
            <a:endParaRPr>
              <a:latin typeface="DM Sans"/>
              <a:ea typeface="DM Sans"/>
              <a:cs typeface="DM Sans"/>
              <a:sym typeface="DM Sans"/>
            </a:endParaRPr>
          </a:p>
        </p:txBody>
      </p:sp>
      <p:sp>
        <p:nvSpPr>
          <p:cNvPr id="205" name="Google Shape;205;p31"/>
          <p:cNvSpPr txBox="1"/>
          <p:nvPr>
            <p:ph idx="2" type="body"/>
          </p:nvPr>
        </p:nvSpPr>
        <p:spPr>
          <a:xfrm>
            <a:off x="688934" y="1407608"/>
            <a:ext cx="5262300" cy="41499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SzPts val="2000"/>
              <a:buChar char="•"/>
            </a:pPr>
            <a:r>
              <a:rPr lang="en" sz="2000"/>
              <a:t>Try to use the icons available in the corporate slide deck template, duplicated in this slide deck, below</a:t>
            </a:r>
            <a:endParaRPr sz="2000"/>
          </a:p>
          <a:p>
            <a:pPr indent="-355600" lvl="0" marL="457200" rtl="0" algn="l">
              <a:spcBef>
                <a:spcPts val="0"/>
              </a:spcBef>
              <a:spcAft>
                <a:spcPts val="0"/>
              </a:spcAft>
              <a:buSzPts val="2000"/>
              <a:buChar char="•"/>
            </a:pPr>
            <a:r>
              <a:rPr lang="en" sz="2000"/>
              <a:t>These are very marketectury. If you need different icons, you can borrow from the internet or other slide decks, but …</a:t>
            </a:r>
            <a:endParaRPr sz="2000"/>
          </a:p>
          <a:p>
            <a:pPr indent="-355600" lvl="0" marL="457200" rtl="0" algn="l">
              <a:spcBef>
                <a:spcPts val="0"/>
              </a:spcBef>
              <a:spcAft>
                <a:spcPts val="0"/>
              </a:spcAft>
              <a:buSzPts val="2000"/>
              <a:buChar char="•"/>
            </a:pPr>
            <a:r>
              <a:rPr lang="en" sz="2000"/>
              <a:t>All icons in a diagram should use the same line weight</a:t>
            </a:r>
            <a:endParaRPr sz="2000"/>
          </a:p>
          <a:p>
            <a:pPr indent="-355600" lvl="0" marL="457200" rtl="0" algn="l">
              <a:spcBef>
                <a:spcPts val="0"/>
              </a:spcBef>
              <a:spcAft>
                <a:spcPts val="0"/>
              </a:spcAft>
              <a:buSzPts val="2000"/>
              <a:buChar char="•"/>
            </a:pPr>
            <a:r>
              <a:rPr lang="en" sz="2000"/>
              <a:t>All icons should be roughly the same size, unless you are suggesting hierarchy or have another good reason to vary size</a:t>
            </a:r>
            <a:endParaRPr sz="2000"/>
          </a:p>
          <a:p>
            <a:pPr indent="-355600" lvl="0" marL="457200" rtl="0" algn="l">
              <a:spcBef>
                <a:spcPts val="0"/>
              </a:spcBef>
              <a:spcAft>
                <a:spcPts val="0"/>
              </a:spcAft>
              <a:buSzPts val="2000"/>
              <a:buChar char="•"/>
            </a:pPr>
            <a:r>
              <a:rPr lang="en" sz="2000"/>
              <a:t>If you don’t see an icon you need, talk to Leif </a:t>
            </a:r>
            <a:endParaRPr sz="2000"/>
          </a:p>
          <a:p>
            <a:pPr indent="0" lvl="0" marL="0" rtl="0" algn="l">
              <a:spcBef>
                <a:spcPts val="1600"/>
              </a:spcBef>
              <a:spcAft>
                <a:spcPts val="0"/>
              </a:spcAft>
              <a:buNone/>
            </a:pPr>
            <a:r>
              <a:t/>
            </a:r>
            <a:endParaRPr sz="1600"/>
          </a:p>
          <a:p>
            <a:pPr indent="0" lvl="0" marL="0" rtl="0" algn="l">
              <a:lnSpc>
                <a:spcPct val="115000"/>
              </a:lnSpc>
              <a:spcBef>
                <a:spcPts val="1600"/>
              </a:spcBef>
              <a:spcAft>
                <a:spcPts val="1600"/>
              </a:spcAft>
              <a:buNone/>
            </a:pPr>
            <a:r>
              <a:t/>
            </a:r>
            <a:endParaRPr/>
          </a:p>
        </p:txBody>
      </p:sp>
      <p:sp>
        <p:nvSpPr>
          <p:cNvPr id="206" name="Google Shape;206;p31"/>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12" name="Google Shape;212;p3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lnSpc>
                <a:spcPct val="115000"/>
              </a:lnSpc>
              <a:spcBef>
                <a:spcPts val="1100"/>
              </a:spcBef>
              <a:spcAft>
                <a:spcPts val="0"/>
              </a:spcAft>
              <a:buNone/>
            </a:pPr>
            <a:r>
              <a:rPr lang="en">
                <a:latin typeface="DM Sans"/>
                <a:ea typeface="DM Sans"/>
                <a:cs typeface="DM Sans"/>
                <a:sym typeface="DM Sans"/>
              </a:rPr>
              <a:t>Alignment and grouping</a:t>
            </a:r>
            <a:endParaRPr>
              <a:latin typeface="DM Sans"/>
              <a:ea typeface="DM Sans"/>
              <a:cs typeface="DM Sans"/>
              <a:sym typeface="DM Sans"/>
            </a:endParaRPr>
          </a:p>
        </p:txBody>
      </p:sp>
      <p:sp>
        <p:nvSpPr>
          <p:cNvPr id="213" name="Google Shape;213;p32"/>
          <p:cNvSpPr txBox="1"/>
          <p:nvPr>
            <p:ph idx="2" type="body"/>
          </p:nvPr>
        </p:nvSpPr>
        <p:spPr>
          <a:xfrm>
            <a:off x="761809" y="1836433"/>
            <a:ext cx="5262300" cy="41499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SzPts val="2000"/>
              <a:buChar char="•"/>
            </a:pPr>
            <a:r>
              <a:rPr lang="en" sz="2000"/>
              <a:t>Align shapes vertically and horizontally.</a:t>
            </a:r>
            <a:endParaRPr sz="2000"/>
          </a:p>
          <a:p>
            <a:pPr indent="-355600" lvl="0" marL="457200" rtl="0" algn="l">
              <a:spcBef>
                <a:spcPts val="0"/>
              </a:spcBef>
              <a:spcAft>
                <a:spcPts val="0"/>
              </a:spcAft>
              <a:buSzPts val="2000"/>
              <a:buChar char="•"/>
            </a:pPr>
            <a:r>
              <a:rPr lang="en" sz="2000"/>
              <a:t>Use the centering and alignment tools </a:t>
            </a:r>
            <a:r>
              <a:rPr lang="en" sz="2000"/>
              <a:t>available</a:t>
            </a:r>
            <a:r>
              <a:rPr lang="en" sz="2000"/>
              <a:t> with Slides to help</a:t>
            </a:r>
            <a:endParaRPr sz="2000"/>
          </a:p>
          <a:p>
            <a:pPr indent="-355600" lvl="0" marL="457200" rtl="0" algn="l">
              <a:spcBef>
                <a:spcPts val="0"/>
              </a:spcBef>
              <a:spcAft>
                <a:spcPts val="0"/>
              </a:spcAft>
              <a:buSzPts val="2000"/>
              <a:buChar char="•"/>
            </a:pPr>
            <a:r>
              <a:rPr lang="en" sz="2000"/>
              <a:t>Use the grouping tool to group objects that you want to move around as a unit (Right-click &gt; group)</a:t>
            </a:r>
            <a:endParaRPr sz="2000"/>
          </a:p>
          <a:p>
            <a:pPr indent="-355600" lvl="0" marL="457200" rtl="0" algn="l">
              <a:spcBef>
                <a:spcPts val="0"/>
              </a:spcBef>
              <a:spcAft>
                <a:spcPts val="0"/>
              </a:spcAft>
              <a:buSzPts val="2000"/>
              <a:buChar char="•"/>
            </a:pPr>
            <a:r>
              <a:rPr lang="en" sz="2000"/>
              <a:t>Use borders or filled shapes to group objects visually</a:t>
            </a:r>
            <a:endParaRPr sz="2000"/>
          </a:p>
          <a:p>
            <a:pPr indent="-355600" lvl="0" marL="457200" rtl="0" algn="l">
              <a:spcBef>
                <a:spcPts val="0"/>
              </a:spcBef>
              <a:spcAft>
                <a:spcPts val="0"/>
              </a:spcAft>
              <a:buSzPts val="2000"/>
              <a:buChar char="•"/>
            </a:pPr>
            <a:r>
              <a:rPr lang="en" sz="2000"/>
              <a:t>Dotted-line borders can be a subtle way to visually group objects</a:t>
            </a:r>
            <a:endParaRPr sz="2000"/>
          </a:p>
          <a:p>
            <a:pPr indent="0" lvl="0" marL="0" rtl="0" algn="l">
              <a:spcBef>
                <a:spcPts val="1600"/>
              </a:spcBef>
              <a:spcAft>
                <a:spcPts val="0"/>
              </a:spcAft>
              <a:buNone/>
            </a:pPr>
            <a:r>
              <a:t/>
            </a:r>
            <a:endParaRPr sz="2000"/>
          </a:p>
          <a:p>
            <a:pPr indent="0" lvl="0" marL="0" rtl="0" algn="l">
              <a:lnSpc>
                <a:spcPct val="115000"/>
              </a:lnSpc>
              <a:spcBef>
                <a:spcPts val="1600"/>
              </a:spcBef>
              <a:spcAft>
                <a:spcPts val="1600"/>
              </a:spcAft>
              <a:buNone/>
            </a:pPr>
            <a:r>
              <a:t/>
            </a:r>
            <a:endParaRPr/>
          </a:p>
        </p:txBody>
      </p:sp>
      <p:sp>
        <p:nvSpPr>
          <p:cNvPr id="214" name="Google Shape;214;p32"/>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20" name="Google Shape;220;p3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lnSpc>
                <a:spcPct val="115000"/>
              </a:lnSpc>
              <a:spcBef>
                <a:spcPts val="1100"/>
              </a:spcBef>
              <a:spcAft>
                <a:spcPts val="0"/>
              </a:spcAft>
              <a:buNone/>
            </a:pPr>
            <a:r>
              <a:rPr lang="en">
                <a:latin typeface="DM Sans"/>
                <a:ea typeface="DM Sans"/>
                <a:cs typeface="DM Sans"/>
                <a:sym typeface="DM Sans"/>
              </a:rPr>
              <a:t>Titles</a:t>
            </a:r>
            <a:endParaRPr>
              <a:latin typeface="DM Sans"/>
              <a:ea typeface="DM Sans"/>
              <a:cs typeface="DM Sans"/>
              <a:sym typeface="DM Sans"/>
            </a:endParaRPr>
          </a:p>
        </p:txBody>
      </p:sp>
      <p:sp>
        <p:nvSpPr>
          <p:cNvPr id="221" name="Google Shape;221;p33"/>
          <p:cNvSpPr txBox="1"/>
          <p:nvPr>
            <p:ph idx="2" type="body"/>
          </p:nvPr>
        </p:nvSpPr>
        <p:spPr>
          <a:xfrm>
            <a:off x="761809" y="1836433"/>
            <a:ext cx="52623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sz="2000"/>
              <a:t>Don’t use titles in the diagram itself</a:t>
            </a:r>
            <a:endParaRPr sz="2000"/>
          </a:p>
          <a:p>
            <a:pPr indent="0" lvl="0" marL="0" rtl="0" algn="l">
              <a:spcBef>
                <a:spcPts val="1600"/>
              </a:spcBef>
              <a:spcAft>
                <a:spcPts val="0"/>
              </a:spcAft>
              <a:buNone/>
            </a:pPr>
            <a:r>
              <a:t/>
            </a:r>
            <a:endParaRPr sz="1600"/>
          </a:p>
          <a:p>
            <a:pPr indent="0" lvl="0" marL="0" rtl="0" algn="l">
              <a:lnSpc>
                <a:spcPct val="115000"/>
              </a:lnSpc>
              <a:spcBef>
                <a:spcPts val="1600"/>
              </a:spcBef>
              <a:spcAft>
                <a:spcPts val="1600"/>
              </a:spcAft>
              <a:buNone/>
            </a:pPr>
            <a:r>
              <a:t/>
            </a:r>
            <a:endParaRPr/>
          </a:p>
        </p:txBody>
      </p:sp>
      <p:sp>
        <p:nvSpPr>
          <p:cNvPr id="222" name="Google Shape;222;p33"/>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28" name="Google Shape;228;p3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lnSpc>
                <a:spcPct val="115000"/>
              </a:lnSpc>
              <a:spcBef>
                <a:spcPts val="1100"/>
              </a:spcBef>
              <a:spcAft>
                <a:spcPts val="0"/>
              </a:spcAft>
              <a:buNone/>
            </a:pPr>
            <a:r>
              <a:rPr lang="en">
                <a:latin typeface="DM Sans"/>
                <a:ea typeface="DM Sans"/>
                <a:cs typeface="DM Sans"/>
                <a:sym typeface="DM Sans"/>
              </a:rPr>
              <a:t>Working with Powerpoint</a:t>
            </a:r>
            <a:endParaRPr>
              <a:latin typeface="DM Sans"/>
              <a:ea typeface="DM Sans"/>
              <a:cs typeface="DM Sans"/>
              <a:sym typeface="DM Sans"/>
            </a:endParaRPr>
          </a:p>
        </p:txBody>
      </p:sp>
      <p:sp>
        <p:nvSpPr>
          <p:cNvPr id="229" name="Google Shape;229;p34"/>
          <p:cNvSpPr txBox="1"/>
          <p:nvPr>
            <p:ph idx="2" type="body"/>
          </p:nvPr>
        </p:nvSpPr>
        <p:spPr>
          <a:xfrm>
            <a:off x="761809" y="1836433"/>
            <a:ext cx="5262300" cy="4149900"/>
          </a:xfrm>
          <a:prstGeom prst="rect">
            <a:avLst/>
          </a:prstGeom>
        </p:spPr>
        <p:txBody>
          <a:bodyPr anchorCtr="0" anchor="t" bIns="0" lIns="0" spcFirstLastPara="1" rIns="0" wrap="square" tIns="0">
            <a:noAutofit/>
          </a:bodyPr>
          <a:lstStyle/>
          <a:p>
            <a:pPr indent="-355600" lvl="0" marL="457200" rtl="0" algn="l">
              <a:spcBef>
                <a:spcPts val="1100"/>
              </a:spcBef>
              <a:spcAft>
                <a:spcPts val="0"/>
              </a:spcAft>
              <a:buSzPts val="2000"/>
              <a:buChar char="•"/>
            </a:pPr>
            <a:r>
              <a:rPr lang="en" sz="2000"/>
              <a:t>If you prefer to work in Powerpoint, you must import fonts and colors to your Powerpoint deck.</a:t>
            </a:r>
            <a:endParaRPr sz="2000"/>
          </a:p>
          <a:p>
            <a:pPr indent="-355600" lvl="0" marL="457200" rtl="0" algn="l">
              <a:spcBef>
                <a:spcPts val="0"/>
              </a:spcBef>
              <a:spcAft>
                <a:spcPts val="0"/>
              </a:spcAft>
              <a:buSzPts val="2000"/>
              <a:buChar char="•"/>
            </a:pPr>
            <a:r>
              <a:rPr lang="en" sz="2000"/>
              <a:t>When you export and import slides between Powerpoint and Google Slides, formatting can often change slightly: always review the slide after it crosses a platform boundary.</a:t>
            </a:r>
            <a:endParaRPr sz="2000"/>
          </a:p>
          <a:p>
            <a:pPr indent="0" lvl="0" marL="0" rtl="0" algn="l">
              <a:spcBef>
                <a:spcPts val="1600"/>
              </a:spcBef>
              <a:spcAft>
                <a:spcPts val="0"/>
              </a:spcAft>
              <a:buNone/>
            </a:pPr>
            <a:r>
              <a:t/>
            </a:r>
            <a:endParaRPr sz="1600"/>
          </a:p>
          <a:p>
            <a:pPr indent="0" lvl="0" marL="0" rtl="0" algn="l">
              <a:lnSpc>
                <a:spcPct val="115000"/>
              </a:lnSpc>
              <a:spcBef>
                <a:spcPts val="1600"/>
              </a:spcBef>
              <a:spcAft>
                <a:spcPts val="1600"/>
              </a:spcAft>
              <a:buNone/>
            </a:pPr>
            <a:r>
              <a:t/>
            </a:r>
            <a:endParaRPr/>
          </a:p>
        </p:txBody>
      </p:sp>
      <p:sp>
        <p:nvSpPr>
          <p:cNvPr id="230" name="Google Shape;230;p34"/>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36" name="Google Shape;236;p3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a:ea typeface="DM Sans"/>
                <a:cs typeface="DM Sans"/>
                <a:sym typeface="DM Sans"/>
              </a:rPr>
              <a:t>Other resources</a:t>
            </a:r>
            <a:endParaRPr>
              <a:latin typeface="DM Sans"/>
              <a:ea typeface="DM Sans"/>
              <a:cs typeface="DM Sans"/>
              <a:sym typeface="DM Sans"/>
            </a:endParaRPr>
          </a:p>
        </p:txBody>
      </p:sp>
      <p:sp>
        <p:nvSpPr>
          <p:cNvPr id="237" name="Google Shape;237;p35"/>
          <p:cNvSpPr txBox="1"/>
          <p:nvPr>
            <p:ph idx="2" type="body"/>
          </p:nvPr>
        </p:nvSpPr>
        <p:spPr>
          <a:xfrm>
            <a:off x="696700" y="2045450"/>
            <a:ext cx="4714800" cy="34500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sz="1800"/>
              <a:t>Search these assets for diagrams that tell the story you want to tell or that can function as good templates:</a:t>
            </a:r>
            <a:endParaRPr sz="1800"/>
          </a:p>
          <a:p>
            <a:pPr indent="-342900" lvl="0" marL="457200" rtl="0" algn="l">
              <a:spcBef>
                <a:spcPts val="1600"/>
              </a:spcBef>
              <a:spcAft>
                <a:spcPts val="0"/>
              </a:spcAft>
              <a:buSzPts val="1800"/>
              <a:buChar char="-"/>
            </a:pPr>
            <a:r>
              <a:rPr b="1" lang="en" sz="1800"/>
              <a:t>Blogs</a:t>
            </a:r>
            <a:endParaRPr b="1" sz="1800"/>
          </a:p>
          <a:p>
            <a:pPr indent="-342900" lvl="0" marL="457200" rtl="0" algn="l">
              <a:spcBef>
                <a:spcPts val="0"/>
              </a:spcBef>
              <a:spcAft>
                <a:spcPts val="0"/>
              </a:spcAft>
              <a:buSzPts val="1800"/>
              <a:buChar char="-"/>
            </a:pPr>
            <a:r>
              <a:rPr b="1" lang="en" sz="1800"/>
              <a:t>Databricks Academy slides/videos</a:t>
            </a:r>
            <a:endParaRPr b="1" sz="1800"/>
          </a:p>
          <a:p>
            <a:pPr indent="-342900" lvl="0" marL="457200" rtl="0" algn="l">
              <a:spcBef>
                <a:spcPts val="0"/>
              </a:spcBef>
              <a:spcAft>
                <a:spcPts val="0"/>
              </a:spcAft>
              <a:buSzPts val="1800"/>
              <a:buChar char="-"/>
            </a:pPr>
            <a:r>
              <a:rPr b="1" lang="en" sz="1800"/>
              <a:t>Slide decks </a:t>
            </a:r>
            <a:r>
              <a:rPr lang="en" sz="1800"/>
              <a:t>(PM/PMktg/Field have lots)</a:t>
            </a:r>
            <a:endParaRPr sz="1800"/>
          </a:p>
          <a:p>
            <a:pPr indent="0" lvl="0" marL="0" rtl="0" algn="l">
              <a:spcBef>
                <a:spcPts val="1600"/>
              </a:spcBef>
              <a:spcAft>
                <a:spcPts val="0"/>
              </a:spcAft>
              <a:buNone/>
            </a:pPr>
            <a:r>
              <a:rPr lang="en" sz="1800"/>
              <a:t>If you can’t find the original Slides source, ask the authors or curriculum developers of the content you want to borrow from.</a:t>
            </a:r>
            <a:endParaRPr sz="1800"/>
          </a:p>
          <a:p>
            <a:pPr indent="0" lvl="0" marL="0" rtl="0" algn="l">
              <a:lnSpc>
                <a:spcPct val="115000"/>
              </a:lnSpc>
              <a:spcBef>
                <a:spcPts val="1600"/>
              </a:spcBef>
              <a:spcAft>
                <a:spcPts val="1600"/>
              </a:spcAft>
              <a:buNone/>
            </a:pPr>
            <a:r>
              <a:t/>
            </a:r>
            <a:endParaRPr/>
          </a:p>
        </p:txBody>
      </p:sp>
      <p:sp>
        <p:nvSpPr>
          <p:cNvPr id="238" name="Google Shape;238;p35"/>
          <p:cNvSpPr txBox="1"/>
          <p:nvPr>
            <p:ph idx="5" type="subTitle"/>
          </p:nvPr>
        </p:nvSpPr>
        <p:spPr>
          <a:xfrm>
            <a:off x="6933575" y="1544628"/>
            <a:ext cx="4485000" cy="416700"/>
          </a:xfrm>
          <a:prstGeom prst="rect">
            <a:avLst/>
          </a:prstGeom>
        </p:spPr>
        <p:txBody>
          <a:bodyPr anchorCtr="0" anchor="t" bIns="121875" lIns="121875" spcFirstLastPara="1" rIns="121875" wrap="square" tIns="121875">
            <a:normAutofit fontScale="62500"/>
          </a:bodyPr>
          <a:lstStyle/>
          <a:p>
            <a:pPr indent="0" lvl="0" marL="0" rtl="0" algn="l">
              <a:spcBef>
                <a:spcPts val="0"/>
              </a:spcBef>
              <a:spcAft>
                <a:spcPts val="1600"/>
              </a:spcAft>
              <a:buNone/>
            </a:pPr>
            <a:r>
              <a:rPr lang="en" sz="1800"/>
              <a:t>Review the corporate slide deck</a:t>
            </a:r>
            <a:endParaRPr sz="1800"/>
          </a:p>
        </p:txBody>
      </p:sp>
      <p:sp>
        <p:nvSpPr>
          <p:cNvPr id="239" name="Google Shape;239;p35"/>
          <p:cNvSpPr txBox="1"/>
          <p:nvPr/>
        </p:nvSpPr>
        <p:spPr>
          <a:xfrm>
            <a:off x="622600" y="1437275"/>
            <a:ext cx="5303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100"/>
              </a:spcBef>
              <a:spcAft>
                <a:spcPts val="0"/>
              </a:spcAft>
              <a:buNone/>
            </a:pPr>
            <a:r>
              <a:rPr b="1" lang="en" sz="1800">
                <a:solidFill>
                  <a:schemeClr val="dk1"/>
                </a:solidFill>
                <a:latin typeface="DM Sans"/>
                <a:ea typeface="DM Sans"/>
                <a:cs typeface="DM Sans"/>
                <a:sym typeface="DM Sans"/>
              </a:rPr>
              <a:t>Borrow  other people’s diagrams to save time</a:t>
            </a:r>
            <a:endParaRPr b="1" sz="1200">
              <a:solidFill>
                <a:schemeClr val="dk1"/>
              </a:solidFill>
            </a:endParaRPr>
          </a:p>
        </p:txBody>
      </p:sp>
      <p:sp>
        <p:nvSpPr>
          <p:cNvPr id="240" name="Google Shape;240;p35"/>
          <p:cNvSpPr txBox="1"/>
          <p:nvPr>
            <p:ph idx="1" type="subTitle"/>
          </p:nvPr>
        </p:nvSpPr>
        <p:spPr>
          <a:xfrm>
            <a:off x="6916625" y="2045450"/>
            <a:ext cx="4518900" cy="3114000"/>
          </a:xfrm>
          <a:prstGeom prst="rect">
            <a:avLst/>
          </a:prstGeom>
        </p:spPr>
        <p:txBody>
          <a:bodyPr anchorCtr="0" anchor="t" bIns="121875" lIns="121875" spcFirstLastPara="1" rIns="121875" wrap="square" tIns="121875">
            <a:normAutofit/>
          </a:bodyPr>
          <a:lstStyle/>
          <a:p>
            <a:pPr indent="0" lvl="0" marL="0" rtl="0" algn="l">
              <a:lnSpc>
                <a:spcPct val="115000"/>
              </a:lnSpc>
              <a:spcBef>
                <a:spcPts val="0"/>
              </a:spcBef>
              <a:spcAft>
                <a:spcPts val="0"/>
              </a:spcAft>
              <a:buNone/>
            </a:pPr>
            <a:r>
              <a:rPr lang="en" sz="1800"/>
              <a:t>The </a:t>
            </a:r>
            <a:r>
              <a:rPr b="1" lang="en" sz="1800"/>
              <a:t>Corporate Slide Deck</a:t>
            </a:r>
            <a:r>
              <a:rPr lang="en" sz="1800"/>
              <a:t> has the latest colors and icons. It also discusses good general design guidelines.</a:t>
            </a:r>
            <a:endParaRPr sz="1800"/>
          </a:p>
          <a:p>
            <a:pPr indent="0" lvl="0" marL="0" rtl="0" algn="l">
              <a:lnSpc>
                <a:spcPct val="115000"/>
              </a:lnSpc>
              <a:spcBef>
                <a:spcPts val="1600"/>
              </a:spcBef>
              <a:spcAft>
                <a:spcPts val="0"/>
              </a:spcAft>
              <a:buNone/>
            </a:pPr>
            <a:r>
              <a:rPr lang="en" sz="1800"/>
              <a:t>You’ll find it at the top of your Google Slides homepage.</a:t>
            </a:r>
            <a:endParaRPr sz="1800"/>
          </a:p>
          <a:p>
            <a:pPr indent="0" lvl="0" marL="0" rtl="0" algn="l">
              <a:lnSpc>
                <a:spcPct val="115000"/>
              </a:lnSpc>
              <a:spcBef>
                <a:spcPts val="1600"/>
              </a:spcBef>
              <a:spcAft>
                <a:spcPts val="1600"/>
              </a:spcAft>
              <a:buNone/>
            </a:pPr>
            <a:r>
              <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46" name="Google Shape;246;p3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Color</a:t>
            </a:r>
            <a:r>
              <a:rPr lang="en"/>
              <a:t> guidance</a:t>
            </a:r>
            <a:endParaRPr/>
          </a:p>
        </p:txBody>
      </p:sp>
      <p:sp>
        <p:nvSpPr>
          <p:cNvPr id="247" name="Google Shape;247;p36"/>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Keep it on brand</a:t>
            </a:r>
            <a:endParaRPr/>
          </a:p>
        </p:txBody>
      </p:sp>
      <p:sp>
        <p:nvSpPr>
          <p:cNvPr id="248" name="Google Shape;248;p36"/>
          <p:cNvSpPr txBox="1"/>
          <p:nvPr>
            <p:ph idx="2" type="body"/>
          </p:nvPr>
        </p:nvSpPr>
        <p:spPr>
          <a:xfrm>
            <a:off x="761809" y="1988833"/>
            <a:ext cx="3447000" cy="41499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1600"/>
              </a:spcAft>
              <a:buNone/>
            </a:pPr>
            <a:r>
              <a:rPr lang="en" sz="1600"/>
              <a:t>When customizing charts or adding other visual elements, do your best to stay within our defined brand color palette. This will ensure that all your content looks great together and doesn’t clash with the  slide template design. </a:t>
            </a:r>
            <a:endParaRPr sz="1600"/>
          </a:p>
        </p:txBody>
      </p:sp>
      <p:sp>
        <p:nvSpPr>
          <p:cNvPr id="249" name="Google Shape;249;p36"/>
          <p:cNvSpPr/>
          <p:nvPr/>
        </p:nvSpPr>
        <p:spPr>
          <a:xfrm>
            <a:off x="5280645" y="4118642"/>
            <a:ext cx="1228800" cy="710100"/>
          </a:xfrm>
          <a:prstGeom prst="rect">
            <a:avLst/>
          </a:prstGeom>
          <a:solidFill>
            <a:schemeClr val="accent5"/>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618794</a:t>
            </a:r>
            <a:endParaRPr sz="1100">
              <a:latin typeface="DM Mono"/>
              <a:ea typeface="DM Mono"/>
              <a:cs typeface="DM Mono"/>
              <a:sym typeface="DM Mono"/>
            </a:endParaRPr>
          </a:p>
        </p:txBody>
      </p:sp>
      <p:sp>
        <p:nvSpPr>
          <p:cNvPr id="250" name="Google Shape;250;p36"/>
          <p:cNvSpPr/>
          <p:nvPr/>
        </p:nvSpPr>
        <p:spPr>
          <a:xfrm>
            <a:off x="6509210" y="4118642"/>
            <a:ext cx="1228800" cy="710100"/>
          </a:xfrm>
          <a:prstGeom prst="rect">
            <a:avLst/>
          </a:prstGeom>
          <a:solidFill>
            <a:srgbClr val="FF5F4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FF5F46</a:t>
            </a:r>
            <a:endParaRPr sz="1100">
              <a:latin typeface="DM Mono"/>
              <a:ea typeface="DM Mono"/>
              <a:cs typeface="DM Mono"/>
              <a:sym typeface="DM Mono"/>
            </a:endParaRPr>
          </a:p>
        </p:txBody>
      </p:sp>
      <p:sp>
        <p:nvSpPr>
          <p:cNvPr id="251" name="Google Shape;251;p36"/>
          <p:cNvSpPr/>
          <p:nvPr/>
        </p:nvSpPr>
        <p:spPr>
          <a:xfrm>
            <a:off x="7737997" y="4118642"/>
            <a:ext cx="1228800" cy="710100"/>
          </a:xfrm>
          <a:prstGeom prst="rect">
            <a:avLst/>
          </a:prstGeom>
          <a:solidFill>
            <a:srgbClr val="FCBA33"/>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FCBA33</a:t>
            </a:r>
            <a:endParaRPr sz="1100">
              <a:latin typeface="DM Mono"/>
              <a:ea typeface="DM Mono"/>
              <a:cs typeface="DM Mono"/>
              <a:sym typeface="DM Mono"/>
            </a:endParaRPr>
          </a:p>
        </p:txBody>
      </p:sp>
      <p:sp>
        <p:nvSpPr>
          <p:cNvPr id="252" name="Google Shape;252;p36"/>
          <p:cNvSpPr/>
          <p:nvPr/>
        </p:nvSpPr>
        <p:spPr>
          <a:xfrm>
            <a:off x="8966785" y="4118642"/>
            <a:ext cx="1228800" cy="710100"/>
          </a:xfrm>
          <a:prstGeom prst="rect">
            <a:avLst/>
          </a:prstGeom>
          <a:solidFill>
            <a:srgbClr val="42BA9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42BA91</a:t>
            </a:r>
            <a:endParaRPr sz="1100">
              <a:latin typeface="DM Mono"/>
              <a:ea typeface="DM Mono"/>
              <a:cs typeface="DM Mono"/>
              <a:sym typeface="DM Mono"/>
            </a:endParaRPr>
          </a:p>
        </p:txBody>
      </p:sp>
      <p:sp>
        <p:nvSpPr>
          <p:cNvPr id="253" name="Google Shape;253;p36"/>
          <p:cNvSpPr/>
          <p:nvPr/>
        </p:nvSpPr>
        <p:spPr>
          <a:xfrm>
            <a:off x="10195349" y="4118642"/>
            <a:ext cx="1228800" cy="710100"/>
          </a:xfrm>
          <a:prstGeom prst="rect">
            <a:avLst/>
          </a:prstGeom>
          <a:solidFill>
            <a:srgbClr val="AB4057"/>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AB4057</a:t>
            </a:r>
            <a:endParaRPr sz="1100">
              <a:solidFill>
                <a:schemeClr val="lt1"/>
              </a:solidFill>
              <a:latin typeface="DM Mono"/>
              <a:ea typeface="DM Mono"/>
              <a:cs typeface="DM Mono"/>
              <a:sym typeface="DM Mono"/>
            </a:endParaRPr>
          </a:p>
        </p:txBody>
      </p:sp>
      <p:sp>
        <p:nvSpPr>
          <p:cNvPr id="254" name="Google Shape;254;p36"/>
          <p:cNvSpPr/>
          <p:nvPr/>
        </p:nvSpPr>
        <p:spPr>
          <a:xfrm>
            <a:off x="5280645" y="4828547"/>
            <a:ext cx="1228800" cy="710100"/>
          </a:xfrm>
          <a:prstGeom prst="rect">
            <a:avLst/>
          </a:prstGeom>
          <a:solidFill>
            <a:srgbClr val="A0ACBE"/>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A0ACBE</a:t>
            </a:r>
            <a:endParaRPr sz="1100">
              <a:latin typeface="DM Mono"/>
              <a:ea typeface="DM Mono"/>
              <a:cs typeface="DM Mono"/>
              <a:sym typeface="DM Mono"/>
            </a:endParaRPr>
          </a:p>
        </p:txBody>
      </p:sp>
      <p:sp>
        <p:nvSpPr>
          <p:cNvPr id="255" name="Google Shape;255;p36"/>
          <p:cNvSpPr/>
          <p:nvPr/>
        </p:nvSpPr>
        <p:spPr>
          <a:xfrm>
            <a:off x="5280645" y="5538453"/>
            <a:ext cx="1228800" cy="710100"/>
          </a:xfrm>
          <a:prstGeom prst="rect">
            <a:avLst/>
          </a:prstGeom>
          <a:solidFill>
            <a:srgbClr val="C4CCD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C4CCD6</a:t>
            </a:r>
            <a:endParaRPr sz="1100">
              <a:latin typeface="DM Mono"/>
              <a:ea typeface="DM Mono"/>
              <a:cs typeface="DM Mono"/>
              <a:sym typeface="DM Mono"/>
            </a:endParaRPr>
          </a:p>
        </p:txBody>
      </p:sp>
      <p:sp>
        <p:nvSpPr>
          <p:cNvPr id="256" name="Google Shape;256;p36"/>
          <p:cNvSpPr/>
          <p:nvPr/>
        </p:nvSpPr>
        <p:spPr>
          <a:xfrm>
            <a:off x="6509210" y="4828547"/>
            <a:ext cx="1228800" cy="710100"/>
          </a:xfrm>
          <a:prstGeom prst="rect">
            <a:avLst/>
          </a:prstGeom>
          <a:solidFill>
            <a:srgbClr val="FF9E94"/>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FF9E94</a:t>
            </a:r>
            <a:endParaRPr sz="1100">
              <a:latin typeface="DM Mono"/>
              <a:ea typeface="DM Mono"/>
              <a:cs typeface="DM Mono"/>
              <a:sym typeface="DM Mono"/>
            </a:endParaRPr>
          </a:p>
        </p:txBody>
      </p:sp>
      <p:sp>
        <p:nvSpPr>
          <p:cNvPr id="257" name="Google Shape;257;p36"/>
          <p:cNvSpPr/>
          <p:nvPr/>
        </p:nvSpPr>
        <p:spPr>
          <a:xfrm>
            <a:off x="6509210" y="5538453"/>
            <a:ext cx="1228800" cy="710100"/>
          </a:xfrm>
          <a:prstGeom prst="rect">
            <a:avLst/>
          </a:prstGeom>
          <a:solidFill>
            <a:srgbClr val="FABFBA"/>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FABFBA</a:t>
            </a:r>
            <a:endParaRPr sz="1100">
              <a:latin typeface="DM Mono"/>
              <a:ea typeface="DM Mono"/>
              <a:cs typeface="DM Mono"/>
              <a:sym typeface="DM Mono"/>
            </a:endParaRPr>
          </a:p>
        </p:txBody>
      </p:sp>
      <p:sp>
        <p:nvSpPr>
          <p:cNvPr id="258" name="Google Shape;258;p36"/>
          <p:cNvSpPr/>
          <p:nvPr/>
        </p:nvSpPr>
        <p:spPr>
          <a:xfrm>
            <a:off x="7737997" y="4828547"/>
            <a:ext cx="1228800" cy="710100"/>
          </a:xfrm>
          <a:prstGeom prst="rect">
            <a:avLst/>
          </a:prstGeom>
          <a:solidFill>
            <a:srgbClr val="FFCC6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FFCC66</a:t>
            </a:r>
            <a:endParaRPr sz="1100">
              <a:latin typeface="DM Mono"/>
              <a:ea typeface="DM Mono"/>
              <a:cs typeface="DM Mono"/>
              <a:sym typeface="DM Mono"/>
            </a:endParaRPr>
          </a:p>
        </p:txBody>
      </p:sp>
      <p:sp>
        <p:nvSpPr>
          <p:cNvPr id="259" name="Google Shape;259;p36"/>
          <p:cNvSpPr/>
          <p:nvPr/>
        </p:nvSpPr>
        <p:spPr>
          <a:xfrm>
            <a:off x="7737997" y="5538453"/>
            <a:ext cx="1228800" cy="710100"/>
          </a:xfrm>
          <a:prstGeom prst="rect">
            <a:avLst/>
          </a:prstGeom>
          <a:solidFill>
            <a:srgbClr val="FFDB9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FFDB96</a:t>
            </a:r>
            <a:endParaRPr sz="1100">
              <a:latin typeface="DM Mono"/>
              <a:ea typeface="DM Mono"/>
              <a:cs typeface="DM Mono"/>
              <a:sym typeface="DM Mono"/>
            </a:endParaRPr>
          </a:p>
        </p:txBody>
      </p:sp>
      <p:sp>
        <p:nvSpPr>
          <p:cNvPr id="260" name="Google Shape;260;p36"/>
          <p:cNvSpPr/>
          <p:nvPr/>
        </p:nvSpPr>
        <p:spPr>
          <a:xfrm>
            <a:off x="8966785" y="4828547"/>
            <a:ext cx="1228800" cy="710100"/>
          </a:xfrm>
          <a:prstGeom prst="rect">
            <a:avLst/>
          </a:prstGeom>
          <a:solidFill>
            <a:srgbClr val="70C4AB"/>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70C4AB</a:t>
            </a:r>
            <a:endParaRPr sz="1100">
              <a:latin typeface="DM Mono"/>
              <a:ea typeface="DM Mono"/>
              <a:cs typeface="DM Mono"/>
              <a:sym typeface="DM Mono"/>
            </a:endParaRPr>
          </a:p>
        </p:txBody>
      </p:sp>
      <p:sp>
        <p:nvSpPr>
          <p:cNvPr id="261" name="Google Shape;261;p36"/>
          <p:cNvSpPr/>
          <p:nvPr/>
        </p:nvSpPr>
        <p:spPr>
          <a:xfrm>
            <a:off x="8966785" y="5538453"/>
            <a:ext cx="1228800" cy="710100"/>
          </a:xfrm>
          <a:prstGeom prst="rect">
            <a:avLst/>
          </a:prstGeom>
          <a:solidFill>
            <a:srgbClr val="9ED6C4"/>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9ED6C4</a:t>
            </a:r>
            <a:endParaRPr sz="1100">
              <a:latin typeface="DM Mono"/>
              <a:ea typeface="DM Mono"/>
              <a:cs typeface="DM Mono"/>
              <a:sym typeface="DM Mono"/>
            </a:endParaRPr>
          </a:p>
        </p:txBody>
      </p:sp>
      <p:sp>
        <p:nvSpPr>
          <p:cNvPr id="262" name="Google Shape;262;p36"/>
          <p:cNvSpPr/>
          <p:nvPr/>
        </p:nvSpPr>
        <p:spPr>
          <a:xfrm>
            <a:off x="10195349" y="4828547"/>
            <a:ext cx="1228800" cy="710100"/>
          </a:xfrm>
          <a:prstGeom prst="rect">
            <a:avLst/>
          </a:prstGeom>
          <a:solidFill>
            <a:srgbClr val="BF7080"/>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BF7080</a:t>
            </a:r>
            <a:endParaRPr sz="1100">
              <a:latin typeface="DM Mono"/>
              <a:ea typeface="DM Mono"/>
              <a:cs typeface="DM Mono"/>
              <a:sym typeface="DM Mono"/>
            </a:endParaRPr>
          </a:p>
        </p:txBody>
      </p:sp>
      <p:sp>
        <p:nvSpPr>
          <p:cNvPr id="263" name="Google Shape;263;p36"/>
          <p:cNvSpPr/>
          <p:nvPr/>
        </p:nvSpPr>
        <p:spPr>
          <a:xfrm>
            <a:off x="10195349" y="5538453"/>
            <a:ext cx="1228800" cy="710100"/>
          </a:xfrm>
          <a:prstGeom prst="rect">
            <a:avLst/>
          </a:prstGeom>
          <a:solidFill>
            <a:srgbClr val="D69EA8"/>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D69EA8</a:t>
            </a:r>
            <a:endParaRPr sz="1100">
              <a:latin typeface="DM Mono"/>
              <a:ea typeface="DM Mono"/>
              <a:cs typeface="DM Mono"/>
              <a:sym typeface="DM Mono"/>
            </a:endParaRPr>
          </a:p>
        </p:txBody>
      </p:sp>
      <p:sp>
        <p:nvSpPr>
          <p:cNvPr id="264" name="Google Shape;264;p36"/>
          <p:cNvSpPr/>
          <p:nvPr/>
        </p:nvSpPr>
        <p:spPr>
          <a:xfrm>
            <a:off x="5280645" y="1988833"/>
            <a:ext cx="1228800" cy="710100"/>
          </a:xfrm>
          <a:prstGeom prst="rect">
            <a:avLst/>
          </a:prstGeom>
          <a:solidFill>
            <a:schemeClr val="dk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1B3139</a:t>
            </a:r>
            <a:endParaRPr sz="1100">
              <a:solidFill>
                <a:schemeClr val="lt1"/>
              </a:solidFill>
              <a:latin typeface="DM Mono"/>
              <a:ea typeface="DM Mono"/>
              <a:cs typeface="DM Mono"/>
              <a:sym typeface="DM Mono"/>
            </a:endParaRPr>
          </a:p>
          <a:p>
            <a:pPr indent="0" lvl="0" marL="0" rtl="0" algn="l">
              <a:spcBef>
                <a:spcPts val="0"/>
              </a:spcBef>
              <a:spcAft>
                <a:spcPts val="0"/>
              </a:spcAft>
              <a:buNone/>
            </a:pPr>
            <a:r>
              <a:t/>
            </a:r>
            <a:endParaRPr sz="1100">
              <a:solidFill>
                <a:schemeClr val="lt1"/>
              </a:solidFill>
              <a:latin typeface="DM Mono"/>
              <a:ea typeface="DM Mono"/>
              <a:cs typeface="DM Mono"/>
              <a:sym typeface="DM Mono"/>
            </a:endParaRPr>
          </a:p>
        </p:txBody>
      </p:sp>
      <p:sp>
        <p:nvSpPr>
          <p:cNvPr id="265" name="Google Shape;265;p36"/>
          <p:cNvSpPr/>
          <p:nvPr/>
        </p:nvSpPr>
        <p:spPr>
          <a:xfrm>
            <a:off x="6509210" y="1988833"/>
            <a:ext cx="1228800" cy="710100"/>
          </a:xfrm>
          <a:prstGeom prst="rect">
            <a:avLst/>
          </a:prstGeom>
          <a:solidFill>
            <a:srgbClr val="801C17"/>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801C17</a:t>
            </a:r>
            <a:endParaRPr sz="1100">
              <a:solidFill>
                <a:schemeClr val="lt1"/>
              </a:solidFill>
              <a:latin typeface="DM Mono"/>
              <a:ea typeface="DM Mono"/>
              <a:cs typeface="DM Mono"/>
              <a:sym typeface="DM Mono"/>
            </a:endParaRPr>
          </a:p>
        </p:txBody>
      </p:sp>
      <p:sp>
        <p:nvSpPr>
          <p:cNvPr id="266" name="Google Shape;266;p36"/>
          <p:cNvSpPr/>
          <p:nvPr/>
        </p:nvSpPr>
        <p:spPr>
          <a:xfrm>
            <a:off x="7737997" y="1988833"/>
            <a:ext cx="1228800" cy="710100"/>
          </a:xfrm>
          <a:prstGeom prst="rect">
            <a:avLst/>
          </a:prstGeom>
          <a:solidFill>
            <a:srgbClr val="7D5319"/>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7D5319</a:t>
            </a:r>
            <a:endParaRPr sz="1100">
              <a:solidFill>
                <a:schemeClr val="lt1"/>
              </a:solidFill>
              <a:latin typeface="DM Mono"/>
              <a:ea typeface="DM Mono"/>
              <a:cs typeface="DM Mono"/>
              <a:sym typeface="DM Mono"/>
            </a:endParaRPr>
          </a:p>
        </p:txBody>
      </p:sp>
      <p:sp>
        <p:nvSpPr>
          <p:cNvPr id="267" name="Google Shape;267;p36"/>
          <p:cNvSpPr/>
          <p:nvPr/>
        </p:nvSpPr>
        <p:spPr>
          <a:xfrm>
            <a:off x="8966785" y="1988833"/>
            <a:ext cx="1228800" cy="710100"/>
          </a:xfrm>
          <a:prstGeom prst="rect">
            <a:avLst/>
          </a:prstGeom>
          <a:solidFill>
            <a:srgbClr val="095A35"/>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095A35</a:t>
            </a:r>
            <a:endParaRPr sz="1100">
              <a:solidFill>
                <a:schemeClr val="lt1"/>
              </a:solidFill>
              <a:latin typeface="DM Mono"/>
              <a:ea typeface="DM Mono"/>
              <a:cs typeface="DM Mono"/>
              <a:sym typeface="DM Mono"/>
            </a:endParaRPr>
          </a:p>
        </p:txBody>
      </p:sp>
      <p:sp>
        <p:nvSpPr>
          <p:cNvPr id="268" name="Google Shape;268;p36"/>
          <p:cNvSpPr/>
          <p:nvPr/>
        </p:nvSpPr>
        <p:spPr>
          <a:xfrm>
            <a:off x="10195349" y="1988833"/>
            <a:ext cx="1228800" cy="710100"/>
          </a:xfrm>
          <a:prstGeom prst="rect">
            <a:avLst/>
          </a:prstGeom>
          <a:solidFill>
            <a:srgbClr val="4A121A"/>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4A121A</a:t>
            </a:r>
            <a:endParaRPr sz="1100">
              <a:solidFill>
                <a:schemeClr val="lt1"/>
              </a:solidFill>
              <a:latin typeface="DM Mono"/>
              <a:ea typeface="DM Mono"/>
              <a:cs typeface="DM Mono"/>
              <a:sym typeface="DM Mono"/>
            </a:endParaRPr>
          </a:p>
        </p:txBody>
      </p:sp>
      <p:sp>
        <p:nvSpPr>
          <p:cNvPr id="269" name="Google Shape;269;p36"/>
          <p:cNvSpPr/>
          <p:nvPr/>
        </p:nvSpPr>
        <p:spPr>
          <a:xfrm>
            <a:off x="5280645" y="2698739"/>
            <a:ext cx="1228800" cy="710100"/>
          </a:xfrm>
          <a:prstGeom prst="rect">
            <a:avLst/>
          </a:prstGeom>
          <a:solidFill>
            <a:srgbClr val="143D4A"/>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143D4A</a:t>
            </a:r>
            <a:endParaRPr sz="1100">
              <a:solidFill>
                <a:schemeClr val="lt1"/>
              </a:solidFill>
              <a:latin typeface="DM Mono"/>
              <a:ea typeface="DM Mono"/>
              <a:cs typeface="DM Mono"/>
              <a:sym typeface="DM Mono"/>
            </a:endParaRPr>
          </a:p>
        </p:txBody>
      </p:sp>
      <p:sp>
        <p:nvSpPr>
          <p:cNvPr id="270" name="Google Shape;270;p36"/>
          <p:cNvSpPr/>
          <p:nvPr/>
        </p:nvSpPr>
        <p:spPr>
          <a:xfrm>
            <a:off x="5280645" y="3408644"/>
            <a:ext cx="1228800" cy="710100"/>
          </a:xfrm>
          <a:prstGeom prst="rect">
            <a:avLst/>
          </a:prstGeom>
          <a:solidFill>
            <a:srgbClr val="1B5162"/>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1B5162</a:t>
            </a:r>
            <a:endParaRPr sz="1100">
              <a:solidFill>
                <a:schemeClr val="lt1"/>
              </a:solidFill>
              <a:latin typeface="DM Mono"/>
              <a:ea typeface="DM Mono"/>
              <a:cs typeface="DM Mono"/>
              <a:sym typeface="DM Mono"/>
            </a:endParaRPr>
          </a:p>
        </p:txBody>
      </p:sp>
      <p:sp>
        <p:nvSpPr>
          <p:cNvPr id="271" name="Google Shape;271;p36"/>
          <p:cNvSpPr/>
          <p:nvPr/>
        </p:nvSpPr>
        <p:spPr>
          <a:xfrm>
            <a:off x="6509210" y="2698739"/>
            <a:ext cx="1228800" cy="710100"/>
          </a:xfrm>
          <a:prstGeom prst="rect">
            <a:avLst/>
          </a:prstGeom>
          <a:solidFill>
            <a:srgbClr val="BD2B2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BD2B26</a:t>
            </a:r>
            <a:endParaRPr sz="1100">
              <a:solidFill>
                <a:schemeClr val="lt1"/>
              </a:solidFill>
              <a:latin typeface="DM Mono"/>
              <a:ea typeface="DM Mono"/>
              <a:cs typeface="DM Mono"/>
              <a:sym typeface="DM Mono"/>
            </a:endParaRPr>
          </a:p>
        </p:txBody>
      </p:sp>
      <p:sp>
        <p:nvSpPr>
          <p:cNvPr id="272" name="Google Shape;272;p36"/>
          <p:cNvSpPr/>
          <p:nvPr/>
        </p:nvSpPr>
        <p:spPr>
          <a:xfrm>
            <a:off x="6509210" y="3408644"/>
            <a:ext cx="1228800" cy="710100"/>
          </a:xfrm>
          <a:prstGeom prst="rect">
            <a:avLst/>
          </a:prstGeom>
          <a:solidFill>
            <a:srgbClr val="FF362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FF3621</a:t>
            </a:r>
            <a:endParaRPr sz="1100">
              <a:latin typeface="DM Mono"/>
              <a:ea typeface="DM Mono"/>
              <a:cs typeface="DM Mono"/>
              <a:sym typeface="DM Mono"/>
            </a:endParaRPr>
          </a:p>
        </p:txBody>
      </p:sp>
      <p:sp>
        <p:nvSpPr>
          <p:cNvPr id="273" name="Google Shape;273;p36"/>
          <p:cNvSpPr/>
          <p:nvPr/>
        </p:nvSpPr>
        <p:spPr>
          <a:xfrm>
            <a:off x="7737997" y="2698739"/>
            <a:ext cx="1228800" cy="710100"/>
          </a:xfrm>
          <a:prstGeom prst="rect">
            <a:avLst/>
          </a:prstGeom>
          <a:solidFill>
            <a:srgbClr val="BD802B"/>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BD802B</a:t>
            </a:r>
            <a:endParaRPr sz="1100">
              <a:solidFill>
                <a:schemeClr val="lt1"/>
              </a:solidFill>
              <a:latin typeface="DM Mono"/>
              <a:ea typeface="DM Mono"/>
              <a:cs typeface="DM Mono"/>
              <a:sym typeface="DM Mono"/>
            </a:endParaRPr>
          </a:p>
        </p:txBody>
      </p:sp>
      <p:sp>
        <p:nvSpPr>
          <p:cNvPr id="274" name="Google Shape;274;p36"/>
          <p:cNvSpPr/>
          <p:nvPr/>
        </p:nvSpPr>
        <p:spPr>
          <a:xfrm>
            <a:off x="7737997" y="3408644"/>
            <a:ext cx="1228800" cy="710100"/>
          </a:xfrm>
          <a:prstGeom prst="rect">
            <a:avLst/>
          </a:prstGeom>
          <a:solidFill>
            <a:srgbClr val="FFAB00"/>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FFAB00</a:t>
            </a:r>
            <a:endParaRPr sz="1100">
              <a:latin typeface="DM Mono"/>
              <a:ea typeface="DM Mono"/>
              <a:cs typeface="DM Mono"/>
              <a:sym typeface="DM Mono"/>
            </a:endParaRPr>
          </a:p>
        </p:txBody>
      </p:sp>
      <p:sp>
        <p:nvSpPr>
          <p:cNvPr id="275" name="Google Shape;275;p36"/>
          <p:cNvSpPr/>
          <p:nvPr/>
        </p:nvSpPr>
        <p:spPr>
          <a:xfrm>
            <a:off x="8966785" y="2698739"/>
            <a:ext cx="1228800" cy="710100"/>
          </a:xfrm>
          <a:prstGeom prst="rect">
            <a:avLst/>
          </a:prstGeom>
          <a:solidFill>
            <a:srgbClr val="00875C"/>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00875C</a:t>
            </a:r>
            <a:endParaRPr sz="1100">
              <a:solidFill>
                <a:schemeClr val="lt1"/>
              </a:solidFill>
              <a:latin typeface="DM Mono"/>
              <a:ea typeface="DM Mono"/>
              <a:cs typeface="DM Mono"/>
              <a:sym typeface="DM Mono"/>
            </a:endParaRPr>
          </a:p>
        </p:txBody>
      </p:sp>
      <p:sp>
        <p:nvSpPr>
          <p:cNvPr id="276" name="Google Shape;276;p36"/>
          <p:cNvSpPr/>
          <p:nvPr/>
        </p:nvSpPr>
        <p:spPr>
          <a:xfrm>
            <a:off x="8966785" y="3408644"/>
            <a:ext cx="1228800" cy="710100"/>
          </a:xfrm>
          <a:prstGeom prst="rect">
            <a:avLst/>
          </a:prstGeom>
          <a:solidFill>
            <a:srgbClr val="00A972"/>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00A972</a:t>
            </a:r>
            <a:endParaRPr sz="1100">
              <a:latin typeface="DM Mono"/>
              <a:ea typeface="DM Mono"/>
              <a:cs typeface="DM Mono"/>
              <a:sym typeface="DM Mono"/>
            </a:endParaRPr>
          </a:p>
        </p:txBody>
      </p:sp>
      <p:sp>
        <p:nvSpPr>
          <p:cNvPr id="277" name="Google Shape;277;p36"/>
          <p:cNvSpPr/>
          <p:nvPr/>
        </p:nvSpPr>
        <p:spPr>
          <a:xfrm>
            <a:off x="10195349" y="2698739"/>
            <a:ext cx="1228800" cy="710100"/>
          </a:xfrm>
          <a:prstGeom prst="rect">
            <a:avLst/>
          </a:prstGeom>
          <a:solidFill>
            <a:srgbClr val="730D2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730D21</a:t>
            </a:r>
            <a:endParaRPr sz="1100">
              <a:solidFill>
                <a:schemeClr val="lt1"/>
              </a:solidFill>
              <a:latin typeface="DM Mono"/>
              <a:ea typeface="DM Mono"/>
              <a:cs typeface="DM Mono"/>
              <a:sym typeface="DM Mono"/>
            </a:endParaRPr>
          </a:p>
        </p:txBody>
      </p:sp>
      <p:sp>
        <p:nvSpPr>
          <p:cNvPr id="278" name="Google Shape;278;p36"/>
          <p:cNvSpPr/>
          <p:nvPr/>
        </p:nvSpPr>
        <p:spPr>
          <a:xfrm>
            <a:off x="10195349" y="3408644"/>
            <a:ext cx="1228800" cy="710100"/>
          </a:xfrm>
          <a:prstGeom prst="rect">
            <a:avLst/>
          </a:prstGeom>
          <a:solidFill>
            <a:schemeClr val="accent3"/>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98102A</a:t>
            </a:r>
            <a:endParaRPr sz="1100">
              <a:solidFill>
                <a:schemeClr val="lt1"/>
              </a:solidFill>
              <a:latin typeface="DM Mono"/>
              <a:ea typeface="DM Mono"/>
              <a:cs typeface="DM Mono"/>
              <a:sym typeface="DM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84" name="Google Shape;284;p37"/>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Resources: Logos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90" name="Google Shape;290;p3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Logos</a:t>
            </a:r>
            <a:endParaRPr/>
          </a:p>
        </p:txBody>
      </p:sp>
      <p:sp>
        <p:nvSpPr>
          <p:cNvPr id="291" name="Google Shape;291;p38"/>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Databricks Logos</a:t>
            </a:r>
            <a:endParaRPr/>
          </a:p>
        </p:txBody>
      </p:sp>
      <p:sp>
        <p:nvSpPr>
          <p:cNvPr id="292" name="Google Shape;292;p38"/>
          <p:cNvSpPr/>
          <p:nvPr/>
        </p:nvSpPr>
        <p:spPr>
          <a:xfrm>
            <a:off x="6164725" y="1913849"/>
            <a:ext cx="5262300" cy="3943500"/>
          </a:xfrm>
          <a:prstGeom prst="rect">
            <a:avLst/>
          </a:prstGeom>
          <a:solidFill>
            <a:srgbClr val="1B30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038"/>
              </a:buClr>
              <a:buSzPts val="1500"/>
              <a:buFont typeface="Calibri"/>
              <a:buNone/>
            </a:pPr>
            <a:r>
              <a:t/>
            </a:r>
            <a:endParaRPr b="0" i="0" sz="1500" u="none" cap="none" strike="noStrike">
              <a:solidFill>
                <a:srgbClr val="FFFFFF"/>
              </a:solidFill>
              <a:latin typeface="Barlow"/>
              <a:ea typeface="Barlow"/>
              <a:cs typeface="Barlow"/>
              <a:sym typeface="Barlow"/>
            </a:endParaRPr>
          </a:p>
        </p:txBody>
      </p:sp>
      <p:pic>
        <p:nvPicPr>
          <p:cNvPr id="293" name="Google Shape;293;p38"/>
          <p:cNvPicPr preferRelativeResize="0"/>
          <p:nvPr/>
        </p:nvPicPr>
        <p:blipFill rotWithShape="1">
          <a:blip r:embed="rId3">
            <a:alphaModFix/>
          </a:blip>
          <a:srcRect b="0" l="0" r="0" t="0"/>
          <a:stretch/>
        </p:blipFill>
        <p:spPr>
          <a:xfrm>
            <a:off x="1675981" y="2341755"/>
            <a:ext cx="3444006" cy="541748"/>
          </a:xfrm>
          <a:prstGeom prst="rect">
            <a:avLst/>
          </a:prstGeom>
          <a:noFill/>
          <a:ln>
            <a:noFill/>
          </a:ln>
        </p:spPr>
      </p:pic>
      <p:pic>
        <p:nvPicPr>
          <p:cNvPr id="294" name="Google Shape;294;p38"/>
          <p:cNvPicPr preferRelativeResize="0"/>
          <p:nvPr/>
        </p:nvPicPr>
        <p:blipFill rotWithShape="1">
          <a:blip r:embed="rId4">
            <a:alphaModFix/>
          </a:blip>
          <a:srcRect b="0" l="0" r="0" t="0"/>
          <a:stretch/>
        </p:blipFill>
        <p:spPr>
          <a:xfrm>
            <a:off x="7073861" y="2341738"/>
            <a:ext cx="3444006" cy="541759"/>
          </a:xfrm>
          <a:prstGeom prst="rect">
            <a:avLst/>
          </a:prstGeom>
          <a:noFill/>
          <a:ln>
            <a:noFill/>
          </a:ln>
        </p:spPr>
      </p:pic>
      <p:pic>
        <p:nvPicPr>
          <p:cNvPr id="295" name="Google Shape;295;p38"/>
          <p:cNvPicPr preferRelativeResize="0"/>
          <p:nvPr/>
        </p:nvPicPr>
        <p:blipFill rotWithShape="1">
          <a:blip r:embed="rId5">
            <a:alphaModFix/>
          </a:blip>
          <a:srcRect b="0" l="0" r="0" t="0"/>
          <a:stretch/>
        </p:blipFill>
        <p:spPr>
          <a:xfrm>
            <a:off x="1675981" y="3453861"/>
            <a:ext cx="3444006" cy="541748"/>
          </a:xfrm>
          <a:prstGeom prst="rect">
            <a:avLst/>
          </a:prstGeom>
          <a:noFill/>
          <a:ln>
            <a:noFill/>
          </a:ln>
        </p:spPr>
      </p:pic>
      <p:pic>
        <p:nvPicPr>
          <p:cNvPr id="296" name="Google Shape;296;p38"/>
          <p:cNvPicPr preferRelativeResize="0"/>
          <p:nvPr/>
        </p:nvPicPr>
        <p:blipFill rotWithShape="1">
          <a:blip r:embed="rId6">
            <a:alphaModFix/>
          </a:blip>
          <a:srcRect b="0" l="0" r="0" t="0"/>
          <a:stretch/>
        </p:blipFill>
        <p:spPr>
          <a:xfrm>
            <a:off x="7073861" y="3453870"/>
            <a:ext cx="3444006" cy="541759"/>
          </a:xfrm>
          <a:prstGeom prst="rect">
            <a:avLst/>
          </a:prstGeom>
          <a:noFill/>
          <a:ln>
            <a:noFill/>
          </a:ln>
        </p:spPr>
      </p:pic>
      <p:pic>
        <p:nvPicPr>
          <p:cNvPr id="297" name="Google Shape;297;p38"/>
          <p:cNvPicPr preferRelativeResize="0"/>
          <p:nvPr/>
        </p:nvPicPr>
        <p:blipFill>
          <a:blip r:embed="rId7">
            <a:alphaModFix/>
          </a:blip>
          <a:stretch>
            <a:fillRect/>
          </a:stretch>
        </p:blipFill>
        <p:spPr>
          <a:xfrm>
            <a:off x="3468030" y="4650051"/>
            <a:ext cx="742175" cy="799150"/>
          </a:xfrm>
          <a:prstGeom prst="rect">
            <a:avLst/>
          </a:prstGeom>
          <a:noFill/>
          <a:ln>
            <a:noFill/>
          </a:ln>
        </p:spPr>
      </p:pic>
      <p:pic>
        <p:nvPicPr>
          <p:cNvPr id="298" name="Google Shape;298;p38"/>
          <p:cNvPicPr preferRelativeResize="0"/>
          <p:nvPr/>
        </p:nvPicPr>
        <p:blipFill>
          <a:blip r:embed="rId8">
            <a:alphaModFix/>
          </a:blip>
          <a:stretch>
            <a:fillRect/>
          </a:stretch>
        </p:blipFill>
        <p:spPr>
          <a:xfrm>
            <a:off x="7073843" y="4650060"/>
            <a:ext cx="742175" cy="799140"/>
          </a:xfrm>
          <a:prstGeom prst="rect">
            <a:avLst/>
          </a:prstGeom>
          <a:noFill/>
          <a:ln>
            <a:noFill/>
          </a:ln>
        </p:spPr>
      </p:pic>
      <p:pic>
        <p:nvPicPr>
          <p:cNvPr id="299" name="Google Shape;299;p38"/>
          <p:cNvPicPr preferRelativeResize="0"/>
          <p:nvPr/>
        </p:nvPicPr>
        <p:blipFill>
          <a:blip r:embed="rId9">
            <a:alphaModFix/>
          </a:blip>
          <a:stretch>
            <a:fillRect/>
          </a:stretch>
        </p:blipFill>
        <p:spPr>
          <a:xfrm>
            <a:off x="8868873" y="4650050"/>
            <a:ext cx="742175" cy="799150"/>
          </a:xfrm>
          <a:prstGeom prst="rect">
            <a:avLst/>
          </a:prstGeom>
          <a:noFill/>
          <a:ln>
            <a:noFill/>
          </a:ln>
        </p:spPr>
      </p:pic>
      <p:pic>
        <p:nvPicPr>
          <p:cNvPr id="300" name="Google Shape;300;p38"/>
          <p:cNvPicPr preferRelativeResize="0"/>
          <p:nvPr/>
        </p:nvPicPr>
        <p:blipFill>
          <a:blip r:embed="rId8">
            <a:alphaModFix/>
          </a:blip>
          <a:stretch>
            <a:fillRect/>
          </a:stretch>
        </p:blipFill>
        <p:spPr>
          <a:xfrm>
            <a:off x="1675968" y="4650060"/>
            <a:ext cx="742175" cy="7991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06" name="Google Shape;306;p3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Logos</a:t>
            </a:r>
            <a:endParaRPr/>
          </a:p>
        </p:txBody>
      </p:sp>
      <p:sp>
        <p:nvSpPr>
          <p:cNvPr id="307" name="Google Shape;307;p39"/>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Open Source</a:t>
            </a:r>
            <a:r>
              <a:rPr lang="en"/>
              <a:t> Logos</a:t>
            </a:r>
            <a:endParaRPr/>
          </a:p>
        </p:txBody>
      </p:sp>
      <p:sp>
        <p:nvSpPr>
          <p:cNvPr id="308" name="Google Shape;308;p39"/>
          <p:cNvSpPr/>
          <p:nvPr/>
        </p:nvSpPr>
        <p:spPr>
          <a:xfrm>
            <a:off x="6164724" y="2204633"/>
            <a:ext cx="5262300" cy="3652800"/>
          </a:xfrm>
          <a:prstGeom prst="rect">
            <a:avLst/>
          </a:prstGeom>
          <a:solidFill>
            <a:srgbClr val="1B30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038"/>
              </a:buClr>
              <a:buSzPts val="1500"/>
              <a:buFont typeface="Calibri"/>
              <a:buNone/>
            </a:pPr>
            <a:r>
              <a:t/>
            </a:r>
            <a:endParaRPr b="0" i="0" sz="1500" u="none" cap="none" strike="noStrike">
              <a:solidFill>
                <a:srgbClr val="FFFFFF"/>
              </a:solidFill>
              <a:latin typeface="Barlow"/>
              <a:ea typeface="Barlow"/>
              <a:cs typeface="Barlow"/>
              <a:sym typeface="Barlow"/>
            </a:endParaRPr>
          </a:p>
        </p:txBody>
      </p:sp>
      <p:pic>
        <p:nvPicPr>
          <p:cNvPr id="309" name="Google Shape;309;p39"/>
          <p:cNvPicPr preferRelativeResize="0"/>
          <p:nvPr/>
        </p:nvPicPr>
        <p:blipFill rotWithShape="1">
          <a:blip r:embed="rId3">
            <a:alphaModFix/>
          </a:blip>
          <a:srcRect b="0" l="0" r="0" t="0"/>
          <a:stretch/>
        </p:blipFill>
        <p:spPr>
          <a:xfrm>
            <a:off x="7498075" y="2747520"/>
            <a:ext cx="1307234" cy="678920"/>
          </a:xfrm>
          <a:prstGeom prst="rect">
            <a:avLst/>
          </a:prstGeom>
          <a:noFill/>
          <a:ln>
            <a:noFill/>
          </a:ln>
        </p:spPr>
      </p:pic>
      <p:pic>
        <p:nvPicPr>
          <p:cNvPr id="310" name="Google Shape;310;p39"/>
          <p:cNvPicPr preferRelativeResize="0"/>
          <p:nvPr/>
        </p:nvPicPr>
        <p:blipFill rotWithShape="1">
          <a:blip r:embed="rId4">
            <a:alphaModFix/>
          </a:blip>
          <a:srcRect b="0" l="0" r="0" t="0"/>
          <a:stretch/>
        </p:blipFill>
        <p:spPr>
          <a:xfrm>
            <a:off x="1651577" y="2823400"/>
            <a:ext cx="1315576" cy="683253"/>
          </a:xfrm>
          <a:prstGeom prst="rect">
            <a:avLst/>
          </a:prstGeom>
          <a:noFill/>
          <a:ln>
            <a:noFill/>
          </a:ln>
        </p:spPr>
      </p:pic>
      <p:pic>
        <p:nvPicPr>
          <p:cNvPr id="311" name="Google Shape;311;p39"/>
          <p:cNvPicPr preferRelativeResize="0"/>
          <p:nvPr/>
        </p:nvPicPr>
        <p:blipFill rotWithShape="1">
          <a:blip r:embed="rId5">
            <a:alphaModFix/>
          </a:blip>
          <a:srcRect b="0" l="0" r="0" t="0"/>
          <a:stretch/>
        </p:blipFill>
        <p:spPr>
          <a:xfrm>
            <a:off x="1609231" y="4332695"/>
            <a:ext cx="1400271" cy="511180"/>
          </a:xfrm>
          <a:prstGeom prst="rect">
            <a:avLst/>
          </a:prstGeom>
          <a:noFill/>
          <a:ln>
            <a:noFill/>
          </a:ln>
        </p:spPr>
      </p:pic>
      <p:pic>
        <p:nvPicPr>
          <p:cNvPr id="312" name="Google Shape;312;p39"/>
          <p:cNvPicPr preferRelativeResize="0"/>
          <p:nvPr/>
        </p:nvPicPr>
        <p:blipFill rotWithShape="1">
          <a:blip r:embed="rId6">
            <a:alphaModFix/>
          </a:blip>
          <a:srcRect b="0" l="0" r="0" t="0"/>
          <a:stretch/>
        </p:blipFill>
        <p:spPr>
          <a:xfrm>
            <a:off x="7452551" y="4358954"/>
            <a:ext cx="1398284" cy="509188"/>
          </a:xfrm>
          <a:prstGeom prst="rect">
            <a:avLst/>
          </a:prstGeom>
          <a:noFill/>
          <a:ln>
            <a:noFill/>
          </a:ln>
        </p:spPr>
      </p:pic>
      <p:pic>
        <p:nvPicPr>
          <p:cNvPr id="313" name="Google Shape;313;p39"/>
          <p:cNvPicPr preferRelativeResize="0"/>
          <p:nvPr/>
        </p:nvPicPr>
        <p:blipFill rotWithShape="1">
          <a:blip r:embed="rId7">
            <a:alphaModFix/>
          </a:blip>
          <a:srcRect b="0" l="0" r="0" t="0"/>
          <a:stretch/>
        </p:blipFill>
        <p:spPr>
          <a:xfrm>
            <a:off x="9164752" y="2797234"/>
            <a:ext cx="873957" cy="678921"/>
          </a:xfrm>
          <a:prstGeom prst="rect">
            <a:avLst/>
          </a:prstGeom>
          <a:noFill/>
          <a:ln>
            <a:noFill/>
          </a:ln>
        </p:spPr>
      </p:pic>
      <p:pic>
        <p:nvPicPr>
          <p:cNvPr id="314" name="Google Shape;314;p39"/>
          <p:cNvPicPr preferRelativeResize="0"/>
          <p:nvPr/>
        </p:nvPicPr>
        <p:blipFill rotWithShape="1">
          <a:blip r:embed="rId8">
            <a:alphaModFix/>
          </a:blip>
          <a:srcRect b="0" l="0" r="0" t="0"/>
          <a:stretch/>
        </p:blipFill>
        <p:spPr>
          <a:xfrm>
            <a:off x="3401273" y="2747534"/>
            <a:ext cx="873957" cy="678921"/>
          </a:xfrm>
          <a:prstGeom prst="rect">
            <a:avLst/>
          </a:prstGeom>
          <a:noFill/>
          <a:ln>
            <a:noFill/>
          </a:ln>
        </p:spPr>
      </p:pic>
      <p:pic>
        <p:nvPicPr>
          <p:cNvPr id="315" name="Google Shape;315;p39"/>
          <p:cNvPicPr preferRelativeResize="0"/>
          <p:nvPr/>
        </p:nvPicPr>
        <p:blipFill rotWithShape="1">
          <a:blip r:embed="rId9">
            <a:alphaModFix/>
          </a:blip>
          <a:srcRect b="0" l="0" r="0" t="0"/>
          <a:stretch/>
        </p:blipFill>
        <p:spPr>
          <a:xfrm>
            <a:off x="9064282" y="4058557"/>
            <a:ext cx="1074892" cy="964967"/>
          </a:xfrm>
          <a:prstGeom prst="rect">
            <a:avLst/>
          </a:prstGeom>
          <a:noFill/>
          <a:ln>
            <a:noFill/>
          </a:ln>
        </p:spPr>
      </p:pic>
      <p:pic>
        <p:nvPicPr>
          <p:cNvPr id="316" name="Google Shape;316;p39"/>
          <p:cNvPicPr preferRelativeResize="0"/>
          <p:nvPr/>
        </p:nvPicPr>
        <p:blipFill rotWithShape="1">
          <a:blip r:embed="rId10">
            <a:alphaModFix/>
          </a:blip>
          <a:srcRect b="0" l="0" r="0" t="0"/>
          <a:stretch/>
        </p:blipFill>
        <p:spPr>
          <a:xfrm>
            <a:off x="3302164" y="4105748"/>
            <a:ext cx="1072177" cy="96496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22" name="Google Shape;322;p4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Logos</a:t>
            </a:r>
            <a:endParaRPr/>
          </a:p>
        </p:txBody>
      </p:sp>
      <p:sp>
        <p:nvSpPr>
          <p:cNvPr id="323" name="Google Shape;323;p40"/>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Partner</a:t>
            </a:r>
            <a:r>
              <a:rPr lang="en"/>
              <a:t> Logos</a:t>
            </a:r>
            <a:endParaRPr/>
          </a:p>
        </p:txBody>
      </p:sp>
      <p:pic>
        <p:nvPicPr>
          <p:cNvPr descr="A picture containing flower&#10;&#10;Description automatically generated" id="324" name="Google Shape;324;p40"/>
          <p:cNvPicPr preferRelativeResize="0"/>
          <p:nvPr/>
        </p:nvPicPr>
        <p:blipFill rotWithShape="1">
          <a:blip r:embed="rId3">
            <a:alphaModFix/>
          </a:blip>
          <a:srcRect b="0" l="0" r="0" t="0"/>
          <a:stretch/>
        </p:blipFill>
        <p:spPr>
          <a:xfrm>
            <a:off x="764801" y="5046515"/>
            <a:ext cx="982991" cy="587825"/>
          </a:xfrm>
          <a:prstGeom prst="rect">
            <a:avLst/>
          </a:prstGeom>
          <a:noFill/>
          <a:ln>
            <a:noFill/>
          </a:ln>
        </p:spPr>
      </p:pic>
      <p:pic>
        <p:nvPicPr>
          <p:cNvPr descr="A picture containing drawing, sign&#10;&#10;Description automatically generated" id="325" name="Google Shape;325;p40"/>
          <p:cNvPicPr preferRelativeResize="0"/>
          <p:nvPr/>
        </p:nvPicPr>
        <p:blipFill rotWithShape="1">
          <a:blip r:embed="rId4">
            <a:alphaModFix/>
          </a:blip>
          <a:srcRect b="0" l="0" r="0" t="0"/>
          <a:stretch/>
        </p:blipFill>
        <p:spPr>
          <a:xfrm>
            <a:off x="9685161" y="2703081"/>
            <a:ext cx="1671875" cy="321517"/>
          </a:xfrm>
          <a:prstGeom prst="rect">
            <a:avLst/>
          </a:prstGeom>
          <a:noFill/>
          <a:ln>
            <a:noFill/>
          </a:ln>
        </p:spPr>
      </p:pic>
      <p:pic>
        <p:nvPicPr>
          <p:cNvPr descr="A picture containing room, drawing&#10;&#10;Description automatically generated" id="326" name="Google Shape;326;p40"/>
          <p:cNvPicPr preferRelativeResize="0"/>
          <p:nvPr/>
        </p:nvPicPr>
        <p:blipFill rotWithShape="1">
          <a:blip r:embed="rId5">
            <a:alphaModFix/>
          </a:blip>
          <a:srcRect b="0" l="0" r="0" t="0"/>
          <a:stretch/>
        </p:blipFill>
        <p:spPr>
          <a:xfrm>
            <a:off x="2592877" y="5413871"/>
            <a:ext cx="1671875" cy="200919"/>
          </a:xfrm>
          <a:prstGeom prst="rect">
            <a:avLst/>
          </a:prstGeom>
          <a:noFill/>
          <a:ln>
            <a:noFill/>
          </a:ln>
        </p:spPr>
      </p:pic>
      <p:pic>
        <p:nvPicPr>
          <p:cNvPr descr="A picture containing light, hat, drawing&#10;&#10;Description automatically generated" id="327" name="Google Shape;327;p40"/>
          <p:cNvPicPr preferRelativeResize="0"/>
          <p:nvPr/>
        </p:nvPicPr>
        <p:blipFill rotWithShape="1">
          <a:blip r:embed="rId6">
            <a:alphaModFix/>
          </a:blip>
          <a:srcRect b="0" l="0" r="0" t="0"/>
          <a:stretch/>
        </p:blipFill>
        <p:spPr>
          <a:xfrm>
            <a:off x="5091725" y="2643076"/>
            <a:ext cx="1169625" cy="454847"/>
          </a:xfrm>
          <a:prstGeom prst="rect">
            <a:avLst/>
          </a:prstGeom>
          <a:noFill/>
          <a:ln>
            <a:noFill/>
          </a:ln>
        </p:spPr>
      </p:pic>
      <p:pic>
        <p:nvPicPr>
          <p:cNvPr descr="A close up of a sign&#10;&#10;Description automatically generated" id="328" name="Google Shape;328;p40"/>
          <p:cNvPicPr preferRelativeResize="0"/>
          <p:nvPr/>
        </p:nvPicPr>
        <p:blipFill rotWithShape="1">
          <a:blip r:embed="rId7">
            <a:alphaModFix/>
          </a:blip>
          <a:srcRect b="0" l="0" r="0" t="0"/>
          <a:stretch/>
        </p:blipFill>
        <p:spPr>
          <a:xfrm>
            <a:off x="7381210" y="3313792"/>
            <a:ext cx="1324857" cy="370214"/>
          </a:xfrm>
          <a:prstGeom prst="rect">
            <a:avLst/>
          </a:prstGeom>
          <a:noFill/>
          <a:ln>
            <a:noFill/>
          </a:ln>
        </p:spPr>
      </p:pic>
      <p:pic>
        <p:nvPicPr>
          <p:cNvPr descr="A picture containing fish&#10;&#10;Description automatically generated" id="329" name="Google Shape;329;p40"/>
          <p:cNvPicPr preferRelativeResize="0"/>
          <p:nvPr/>
        </p:nvPicPr>
        <p:blipFill rotWithShape="1">
          <a:blip r:embed="rId8">
            <a:alphaModFix/>
          </a:blip>
          <a:srcRect b="0" l="0" r="0" t="0"/>
          <a:stretch/>
        </p:blipFill>
        <p:spPr>
          <a:xfrm>
            <a:off x="7276580" y="4783106"/>
            <a:ext cx="1534127" cy="833516"/>
          </a:xfrm>
          <a:prstGeom prst="rect">
            <a:avLst/>
          </a:prstGeom>
          <a:noFill/>
          <a:ln>
            <a:noFill/>
          </a:ln>
        </p:spPr>
      </p:pic>
      <p:pic>
        <p:nvPicPr>
          <p:cNvPr descr="A picture containing light, table&#10;&#10;Description automatically generated" id="330" name="Google Shape;330;p40"/>
          <p:cNvPicPr preferRelativeResize="0"/>
          <p:nvPr/>
        </p:nvPicPr>
        <p:blipFill rotWithShape="1">
          <a:blip r:embed="rId9">
            <a:alphaModFix/>
          </a:blip>
          <a:srcRect b="0" l="0" r="0" t="0"/>
          <a:stretch/>
        </p:blipFill>
        <p:spPr>
          <a:xfrm>
            <a:off x="9721674" y="5309037"/>
            <a:ext cx="1671876" cy="410614"/>
          </a:xfrm>
          <a:prstGeom prst="rect">
            <a:avLst/>
          </a:prstGeom>
          <a:noFill/>
          <a:ln>
            <a:noFill/>
          </a:ln>
        </p:spPr>
      </p:pic>
      <p:pic>
        <p:nvPicPr>
          <p:cNvPr descr="A picture containing drawing, food&#10;&#10;Description automatically generated" id="331" name="Google Shape;331;p40"/>
          <p:cNvPicPr preferRelativeResize="0"/>
          <p:nvPr/>
        </p:nvPicPr>
        <p:blipFill rotWithShape="1">
          <a:blip r:embed="rId10">
            <a:alphaModFix/>
          </a:blip>
          <a:srcRect b="0" l="0" r="0" t="0"/>
          <a:stretch/>
        </p:blipFill>
        <p:spPr>
          <a:xfrm>
            <a:off x="2591097" y="4473168"/>
            <a:ext cx="1675475" cy="239594"/>
          </a:xfrm>
          <a:prstGeom prst="rect">
            <a:avLst/>
          </a:prstGeom>
          <a:noFill/>
          <a:ln>
            <a:noFill/>
          </a:ln>
        </p:spPr>
      </p:pic>
      <p:pic>
        <p:nvPicPr>
          <p:cNvPr id="332" name="Google Shape;332;p40"/>
          <p:cNvPicPr preferRelativeResize="0"/>
          <p:nvPr/>
        </p:nvPicPr>
        <p:blipFill rotWithShape="1">
          <a:blip r:embed="rId11">
            <a:alphaModFix/>
          </a:blip>
          <a:srcRect b="18071" l="9029" r="9029" t="18071"/>
          <a:stretch/>
        </p:blipFill>
        <p:spPr>
          <a:xfrm>
            <a:off x="4943638" y="4227375"/>
            <a:ext cx="1534124" cy="546300"/>
          </a:xfrm>
          <a:prstGeom prst="rect">
            <a:avLst/>
          </a:prstGeom>
          <a:noFill/>
          <a:ln>
            <a:noFill/>
          </a:ln>
        </p:spPr>
      </p:pic>
      <p:pic>
        <p:nvPicPr>
          <p:cNvPr id="333" name="Google Shape;333;p40"/>
          <p:cNvPicPr preferRelativeResize="0"/>
          <p:nvPr/>
        </p:nvPicPr>
        <p:blipFill>
          <a:blip r:embed="rId12">
            <a:alphaModFix/>
          </a:blip>
          <a:stretch>
            <a:fillRect/>
          </a:stretch>
        </p:blipFill>
        <p:spPr>
          <a:xfrm>
            <a:off x="2592897" y="2707016"/>
            <a:ext cx="1671875" cy="293067"/>
          </a:xfrm>
          <a:prstGeom prst="rect">
            <a:avLst/>
          </a:prstGeom>
          <a:noFill/>
          <a:ln>
            <a:noFill/>
          </a:ln>
        </p:spPr>
      </p:pic>
      <p:pic>
        <p:nvPicPr>
          <p:cNvPr id="334" name="Google Shape;334;p40"/>
          <p:cNvPicPr preferRelativeResize="0"/>
          <p:nvPr/>
        </p:nvPicPr>
        <p:blipFill>
          <a:blip r:embed="rId13">
            <a:alphaModFix/>
          </a:blip>
          <a:stretch>
            <a:fillRect/>
          </a:stretch>
        </p:blipFill>
        <p:spPr>
          <a:xfrm>
            <a:off x="844669" y="2643081"/>
            <a:ext cx="823260" cy="662909"/>
          </a:xfrm>
          <a:prstGeom prst="rect">
            <a:avLst/>
          </a:prstGeom>
          <a:noFill/>
          <a:ln>
            <a:noFill/>
          </a:ln>
        </p:spPr>
      </p:pic>
      <p:pic>
        <p:nvPicPr>
          <p:cNvPr id="335" name="Google Shape;335;p40"/>
          <p:cNvPicPr preferRelativeResize="0"/>
          <p:nvPr/>
        </p:nvPicPr>
        <p:blipFill>
          <a:blip r:embed="rId14">
            <a:alphaModFix/>
          </a:blip>
          <a:stretch>
            <a:fillRect/>
          </a:stretch>
        </p:blipFill>
        <p:spPr>
          <a:xfrm>
            <a:off x="854107" y="3774064"/>
            <a:ext cx="804377" cy="804376"/>
          </a:xfrm>
          <a:prstGeom prst="rect">
            <a:avLst/>
          </a:prstGeom>
          <a:noFill/>
          <a:ln>
            <a:noFill/>
          </a:ln>
        </p:spPr>
      </p:pic>
      <p:pic>
        <p:nvPicPr>
          <p:cNvPr id="336" name="Google Shape;336;p40"/>
          <p:cNvPicPr preferRelativeResize="0"/>
          <p:nvPr/>
        </p:nvPicPr>
        <p:blipFill>
          <a:blip r:embed="rId15">
            <a:alphaModFix/>
          </a:blip>
          <a:stretch>
            <a:fillRect/>
          </a:stretch>
        </p:blipFill>
        <p:spPr>
          <a:xfrm>
            <a:off x="9804184" y="3492296"/>
            <a:ext cx="1589367" cy="354375"/>
          </a:xfrm>
          <a:prstGeom prst="rect">
            <a:avLst/>
          </a:prstGeom>
          <a:noFill/>
          <a:ln>
            <a:noFill/>
          </a:ln>
        </p:spPr>
      </p:pic>
      <p:pic>
        <p:nvPicPr>
          <p:cNvPr id="337" name="Google Shape;337;p40"/>
          <p:cNvPicPr preferRelativeResize="0"/>
          <p:nvPr/>
        </p:nvPicPr>
        <p:blipFill>
          <a:blip r:embed="rId16">
            <a:alphaModFix/>
          </a:blip>
          <a:stretch>
            <a:fillRect/>
          </a:stretch>
        </p:blipFill>
        <p:spPr>
          <a:xfrm>
            <a:off x="9762924" y="4314363"/>
            <a:ext cx="1671877" cy="354394"/>
          </a:xfrm>
          <a:prstGeom prst="rect">
            <a:avLst/>
          </a:prstGeom>
          <a:noFill/>
          <a:ln>
            <a:noFill/>
          </a:ln>
        </p:spPr>
      </p:pic>
      <p:pic>
        <p:nvPicPr>
          <p:cNvPr id="338" name="Google Shape;338;p40"/>
          <p:cNvPicPr preferRelativeResize="0"/>
          <p:nvPr/>
        </p:nvPicPr>
        <p:blipFill>
          <a:blip r:embed="rId17">
            <a:alphaModFix/>
          </a:blip>
          <a:stretch>
            <a:fillRect/>
          </a:stretch>
        </p:blipFill>
        <p:spPr>
          <a:xfrm>
            <a:off x="4940137" y="5201845"/>
            <a:ext cx="1534125" cy="449880"/>
          </a:xfrm>
          <a:prstGeom prst="rect">
            <a:avLst/>
          </a:prstGeom>
          <a:noFill/>
          <a:ln>
            <a:noFill/>
          </a:ln>
        </p:spPr>
      </p:pic>
      <p:pic>
        <p:nvPicPr>
          <p:cNvPr id="339" name="Google Shape;339;p40"/>
          <p:cNvPicPr preferRelativeResize="0"/>
          <p:nvPr/>
        </p:nvPicPr>
        <p:blipFill>
          <a:blip r:embed="rId18">
            <a:alphaModFix/>
          </a:blip>
          <a:stretch>
            <a:fillRect/>
          </a:stretch>
        </p:blipFill>
        <p:spPr>
          <a:xfrm>
            <a:off x="7381191" y="4001321"/>
            <a:ext cx="1324875" cy="464458"/>
          </a:xfrm>
          <a:prstGeom prst="rect">
            <a:avLst/>
          </a:prstGeom>
          <a:noFill/>
          <a:ln>
            <a:noFill/>
          </a:ln>
        </p:spPr>
      </p:pic>
      <p:pic>
        <p:nvPicPr>
          <p:cNvPr id="340" name="Google Shape;340;p40"/>
          <p:cNvPicPr preferRelativeResize="0"/>
          <p:nvPr/>
        </p:nvPicPr>
        <p:blipFill>
          <a:blip r:embed="rId19">
            <a:alphaModFix/>
          </a:blip>
          <a:stretch>
            <a:fillRect/>
          </a:stretch>
        </p:blipFill>
        <p:spPr>
          <a:xfrm>
            <a:off x="4950962" y="3429000"/>
            <a:ext cx="1451157" cy="370200"/>
          </a:xfrm>
          <a:prstGeom prst="rect">
            <a:avLst/>
          </a:prstGeom>
          <a:noFill/>
          <a:ln>
            <a:noFill/>
          </a:ln>
        </p:spPr>
      </p:pic>
      <p:pic>
        <p:nvPicPr>
          <p:cNvPr id="341" name="Google Shape;341;p40"/>
          <p:cNvPicPr preferRelativeResize="0"/>
          <p:nvPr/>
        </p:nvPicPr>
        <p:blipFill>
          <a:blip r:embed="rId20">
            <a:alphaModFix/>
          </a:blip>
          <a:stretch>
            <a:fillRect/>
          </a:stretch>
        </p:blipFill>
        <p:spPr>
          <a:xfrm>
            <a:off x="2561725" y="3463463"/>
            <a:ext cx="1675475" cy="546312"/>
          </a:xfrm>
          <a:prstGeom prst="rect">
            <a:avLst/>
          </a:prstGeom>
          <a:noFill/>
          <a:ln>
            <a:noFill/>
          </a:ln>
        </p:spPr>
      </p:pic>
      <p:pic>
        <p:nvPicPr>
          <p:cNvPr id="342" name="Google Shape;342;p40"/>
          <p:cNvPicPr preferRelativeResize="0"/>
          <p:nvPr/>
        </p:nvPicPr>
        <p:blipFill>
          <a:blip r:embed="rId21">
            <a:alphaModFix/>
          </a:blip>
          <a:stretch>
            <a:fillRect/>
          </a:stretch>
        </p:blipFill>
        <p:spPr>
          <a:xfrm>
            <a:off x="7174092" y="2760246"/>
            <a:ext cx="1739084" cy="186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1"/>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48" name="Google Shape;348;p41"/>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Resources: Icons and illustrations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54" name="Google Shape;354;p4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355" name="Google Shape;355;p42"/>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High Level Icons</a:t>
            </a:r>
            <a:endParaRPr/>
          </a:p>
        </p:txBody>
      </p:sp>
      <p:pic>
        <p:nvPicPr>
          <p:cNvPr id="356" name="Google Shape;356;p42"/>
          <p:cNvPicPr preferRelativeResize="0"/>
          <p:nvPr/>
        </p:nvPicPr>
        <p:blipFill>
          <a:blip r:embed="rId3">
            <a:alphaModFix/>
          </a:blip>
          <a:stretch>
            <a:fillRect/>
          </a:stretch>
        </p:blipFill>
        <p:spPr>
          <a:xfrm>
            <a:off x="4398350" y="4067416"/>
            <a:ext cx="1589351" cy="1589355"/>
          </a:xfrm>
          <a:prstGeom prst="rect">
            <a:avLst/>
          </a:prstGeom>
          <a:noFill/>
          <a:ln>
            <a:noFill/>
          </a:ln>
        </p:spPr>
      </p:pic>
      <p:pic>
        <p:nvPicPr>
          <p:cNvPr id="357" name="Google Shape;357;p42"/>
          <p:cNvPicPr preferRelativeResize="0"/>
          <p:nvPr/>
        </p:nvPicPr>
        <p:blipFill>
          <a:blip r:embed="rId4">
            <a:alphaModFix/>
          </a:blip>
          <a:stretch>
            <a:fillRect/>
          </a:stretch>
        </p:blipFill>
        <p:spPr>
          <a:xfrm>
            <a:off x="2581571" y="4067401"/>
            <a:ext cx="1589351" cy="1589355"/>
          </a:xfrm>
          <a:prstGeom prst="rect">
            <a:avLst/>
          </a:prstGeom>
          <a:noFill/>
          <a:ln>
            <a:noFill/>
          </a:ln>
        </p:spPr>
      </p:pic>
      <p:pic>
        <p:nvPicPr>
          <p:cNvPr id="358" name="Google Shape;358;p42"/>
          <p:cNvPicPr preferRelativeResize="0"/>
          <p:nvPr/>
        </p:nvPicPr>
        <p:blipFill>
          <a:blip r:embed="rId5">
            <a:alphaModFix/>
          </a:blip>
          <a:stretch>
            <a:fillRect/>
          </a:stretch>
        </p:blipFill>
        <p:spPr>
          <a:xfrm>
            <a:off x="9848686" y="4067401"/>
            <a:ext cx="1589351" cy="1589355"/>
          </a:xfrm>
          <a:prstGeom prst="rect">
            <a:avLst/>
          </a:prstGeom>
          <a:noFill/>
          <a:ln>
            <a:noFill/>
          </a:ln>
        </p:spPr>
      </p:pic>
      <p:pic>
        <p:nvPicPr>
          <p:cNvPr id="359" name="Google Shape;359;p42"/>
          <p:cNvPicPr preferRelativeResize="0"/>
          <p:nvPr/>
        </p:nvPicPr>
        <p:blipFill>
          <a:blip r:embed="rId6">
            <a:alphaModFix/>
          </a:blip>
          <a:stretch>
            <a:fillRect/>
          </a:stretch>
        </p:blipFill>
        <p:spPr>
          <a:xfrm>
            <a:off x="764792" y="4067401"/>
            <a:ext cx="1589351" cy="1589355"/>
          </a:xfrm>
          <a:prstGeom prst="rect">
            <a:avLst/>
          </a:prstGeom>
          <a:noFill/>
          <a:ln>
            <a:noFill/>
          </a:ln>
        </p:spPr>
      </p:pic>
      <p:pic>
        <p:nvPicPr>
          <p:cNvPr id="360" name="Google Shape;360;p42"/>
          <p:cNvPicPr preferRelativeResize="0"/>
          <p:nvPr/>
        </p:nvPicPr>
        <p:blipFill>
          <a:blip r:embed="rId7">
            <a:alphaModFix/>
          </a:blip>
          <a:stretch>
            <a:fillRect/>
          </a:stretch>
        </p:blipFill>
        <p:spPr>
          <a:xfrm>
            <a:off x="8031907" y="4067401"/>
            <a:ext cx="1589351" cy="1589355"/>
          </a:xfrm>
          <a:prstGeom prst="rect">
            <a:avLst/>
          </a:prstGeom>
          <a:noFill/>
          <a:ln>
            <a:noFill/>
          </a:ln>
        </p:spPr>
      </p:pic>
      <p:pic>
        <p:nvPicPr>
          <p:cNvPr id="361" name="Google Shape;361;p42"/>
          <p:cNvPicPr preferRelativeResize="0"/>
          <p:nvPr/>
        </p:nvPicPr>
        <p:blipFill>
          <a:blip r:embed="rId8">
            <a:alphaModFix/>
          </a:blip>
          <a:stretch>
            <a:fillRect/>
          </a:stretch>
        </p:blipFill>
        <p:spPr>
          <a:xfrm>
            <a:off x="6215128" y="4067401"/>
            <a:ext cx="1589351" cy="1589355"/>
          </a:xfrm>
          <a:prstGeom prst="rect">
            <a:avLst/>
          </a:prstGeom>
          <a:noFill/>
          <a:ln>
            <a:noFill/>
          </a:ln>
        </p:spPr>
      </p:pic>
      <p:sp>
        <p:nvSpPr>
          <p:cNvPr id="362" name="Google Shape;362;p42"/>
          <p:cNvSpPr/>
          <p:nvPr/>
        </p:nvSpPr>
        <p:spPr>
          <a:xfrm>
            <a:off x="764808" y="5758967"/>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Simple</a:t>
            </a:r>
            <a:endParaRPr i="0" sz="1100" u="none" cap="none" strike="noStrike">
              <a:solidFill>
                <a:srgbClr val="3A3838"/>
              </a:solidFill>
              <a:latin typeface="DM Sans"/>
              <a:ea typeface="DM Sans"/>
              <a:cs typeface="DM Sans"/>
              <a:sym typeface="DM Sans"/>
            </a:endParaRPr>
          </a:p>
        </p:txBody>
      </p:sp>
      <p:sp>
        <p:nvSpPr>
          <p:cNvPr id="363" name="Google Shape;363;p42"/>
          <p:cNvSpPr/>
          <p:nvPr/>
        </p:nvSpPr>
        <p:spPr>
          <a:xfrm>
            <a:off x="2581587" y="5758967"/>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Open</a:t>
            </a:r>
            <a:endParaRPr i="0" sz="1100" u="none" cap="none" strike="noStrike">
              <a:solidFill>
                <a:srgbClr val="3A3838"/>
              </a:solidFill>
              <a:latin typeface="DM Sans"/>
              <a:ea typeface="DM Sans"/>
              <a:cs typeface="DM Sans"/>
              <a:sym typeface="DM Sans"/>
            </a:endParaRPr>
          </a:p>
        </p:txBody>
      </p:sp>
      <p:sp>
        <p:nvSpPr>
          <p:cNvPr id="364" name="Google Shape;364;p42"/>
          <p:cNvSpPr/>
          <p:nvPr/>
        </p:nvSpPr>
        <p:spPr>
          <a:xfrm>
            <a:off x="4398366" y="5758967"/>
            <a:ext cx="14217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Collaborative</a:t>
            </a:r>
            <a:endParaRPr i="0" sz="1100" u="none" cap="none" strike="noStrike">
              <a:solidFill>
                <a:srgbClr val="3A3838"/>
              </a:solidFill>
              <a:latin typeface="DM Sans"/>
              <a:ea typeface="DM Sans"/>
              <a:cs typeface="DM Sans"/>
              <a:sym typeface="DM Sans"/>
            </a:endParaRPr>
          </a:p>
        </p:txBody>
      </p:sp>
      <p:sp>
        <p:nvSpPr>
          <p:cNvPr id="365" name="Google Shape;365;p42"/>
          <p:cNvSpPr/>
          <p:nvPr/>
        </p:nvSpPr>
        <p:spPr>
          <a:xfrm>
            <a:off x="6215145" y="5758967"/>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Training</a:t>
            </a:r>
            <a:endParaRPr i="0" sz="1100" u="none" cap="none" strike="noStrike">
              <a:solidFill>
                <a:srgbClr val="3A3838"/>
              </a:solidFill>
              <a:latin typeface="DM Sans"/>
              <a:ea typeface="DM Sans"/>
              <a:cs typeface="DM Sans"/>
              <a:sym typeface="DM Sans"/>
            </a:endParaRPr>
          </a:p>
        </p:txBody>
      </p:sp>
      <p:sp>
        <p:nvSpPr>
          <p:cNvPr id="366" name="Google Shape;366;p42"/>
          <p:cNvSpPr/>
          <p:nvPr/>
        </p:nvSpPr>
        <p:spPr>
          <a:xfrm>
            <a:off x="8031923" y="5758967"/>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Support</a:t>
            </a:r>
            <a:endParaRPr i="0" sz="1100" u="none" cap="none" strike="noStrike">
              <a:solidFill>
                <a:srgbClr val="3A3838"/>
              </a:solidFill>
              <a:latin typeface="DM Sans"/>
              <a:ea typeface="DM Sans"/>
              <a:cs typeface="DM Sans"/>
              <a:sym typeface="DM Sans"/>
            </a:endParaRPr>
          </a:p>
        </p:txBody>
      </p:sp>
      <p:sp>
        <p:nvSpPr>
          <p:cNvPr id="367" name="Google Shape;367;p42"/>
          <p:cNvSpPr/>
          <p:nvPr/>
        </p:nvSpPr>
        <p:spPr>
          <a:xfrm>
            <a:off x="9848702" y="5758967"/>
            <a:ext cx="15891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Professional</a:t>
            </a:r>
            <a:r>
              <a:rPr lang="en" sz="1100">
                <a:solidFill>
                  <a:srgbClr val="3A3838"/>
                </a:solidFill>
                <a:latin typeface="DM Sans"/>
                <a:ea typeface="DM Sans"/>
                <a:cs typeface="DM Sans"/>
                <a:sym typeface="DM Sans"/>
              </a:rPr>
              <a:t> Services</a:t>
            </a:r>
            <a:endParaRPr i="0" sz="1100" u="none" cap="none" strike="noStrike">
              <a:solidFill>
                <a:srgbClr val="3A3838"/>
              </a:solidFill>
              <a:latin typeface="DM Sans"/>
              <a:ea typeface="DM Sans"/>
              <a:cs typeface="DM Sans"/>
              <a:sym typeface="DM Sans"/>
            </a:endParaRPr>
          </a:p>
        </p:txBody>
      </p:sp>
      <p:pic>
        <p:nvPicPr>
          <p:cNvPr id="368" name="Google Shape;368;p42"/>
          <p:cNvPicPr preferRelativeResize="0"/>
          <p:nvPr/>
        </p:nvPicPr>
        <p:blipFill>
          <a:blip r:embed="rId9">
            <a:alphaModFix/>
          </a:blip>
          <a:stretch>
            <a:fillRect/>
          </a:stretch>
        </p:blipFill>
        <p:spPr>
          <a:xfrm>
            <a:off x="4396617" y="1925613"/>
            <a:ext cx="1591056" cy="1591056"/>
          </a:xfrm>
          <a:prstGeom prst="rect">
            <a:avLst/>
          </a:prstGeom>
          <a:noFill/>
          <a:ln>
            <a:noFill/>
          </a:ln>
        </p:spPr>
      </p:pic>
      <p:pic>
        <p:nvPicPr>
          <p:cNvPr id="369" name="Google Shape;369;p42"/>
          <p:cNvPicPr preferRelativeResize="0"/>
          <p:nvPr/>
        </p:nvPicPr>
        <p:blipFill>
          <a:blip r:embed="rId10">
            <a:alphaModFix/>
          </a:blip>
          <a:stretch>
            <a:fillRect/>
          </a:stretch>
        </p:blipFill>
        <p:spPr>
          <a:xfrm>
            <a:off x="2580720" y="1925632"/>
            <a:ext cx="1591056" cy="1591056"/>
          </a:xfrm>
          <a:prstGeom prst="rect">
            <a:avLst/>
          </a:prstGeom>
          <a:noFill/>
          <a:ln>
            <a:noFill/>
          </a:ln>
        </p:spPr>
      </p:pic>
      <p:pic>
        <p:nvPicPr>
          <p:cNvPr id="370" name="Google Shape;370;p42"/>
          <p:cNvPicPr preferRelativeResize="0"/>
          <p:nvPr/>
        </p:nvPicPr>
        <p:blipFill>
          <a:blip r:embed="rId11">
            <a:alphaModFix/>
          </a:blip>
          <a:stretch>
            <a:fillRect/>
          </a:stretch>
        </p:blipFill>
        <p:spPr>
          <a:xfrm>
            <a:off x="764808" y="1932163"/>
            <a:ext cx="1591056" cy="159105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76" name="Google Shape;376;p4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377" name="Google Shape;377;p43"/>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Industry Icons</a:t>
            </a:r>
            <a:endParaRPr/>
          </a:p>
        </p:txBody>
      </p:sp>
      <p:pic>
        <p:nvPicPr>
          <p:cNvPr id="378" name="Google Shape;378;p43"/>
          <p:cNvPicPr preferRelativeResize="0"/>
          <p:nvPr/>
        </p:nvPicPr>
        <p:blipFill>
          <a:blip r:embed="rId3">
            <a:alphaModFix/>
          </a:blip>
          <a:stretch>
            <a:fillRect/>
          </a:stretch>
        </p:blipFill>
        <p:spPr>
          <a:xfrm>
            <a:off x="767191" y="2189804"/>
            <a:ext cx="1034036" cy="1034038"/>
          </a:xfrm>
          <a:prstGeom prst="rect">
            <a:avLst/>
          </a:prstGeom>
          <a:noFill/>
          <a:ln>
            <a:noFill/>
          </a:ln>
        </p:spPr>
      </p:pic>
      <p:pic>
        <p:nvPicPr>
          <p:cNvPr id="379" name="Google Shape;379;p43"/>
          <p:cNvPicPr preferRelativeResize="0"/>
          <p:nvPr/>
        </p:nvPicPr>
        <p:blipFill>
          <a:blip r:embed="rId4">
            <a:alphaModFix/>
          </a:blip>
          <a:stretch>
            <a:fillRect/>
          </a:stretch>
        </p:blipFill>
        <p:spPr>
          <a:xfrm>
            <a:off x="2347276" y="2189804"/>
            <a:ext cx="1034036" cy="1034038"/>
          </a:xfrm>
          <a:prstGeom prst="rect">
            <a:avLst/>
          </a:prstGeom>
          <a:noFill/>
          <a:ln>
            <a:noFill/>
          </a:ln>
        </p:spPr>
      </p:pic>
      <p:pic>
        <p:nvPicPr>
          <p:cNvPr id="380" name="Google Shape;380;p43"/>
          <p:cNvPicPr preferRelativeResize="0"/>
          <p:nvPr/>
        </p:nvPicPr>
        <p:blipFill>
          <a:blip r:embed="rId5">
            <a:alphaModFix/>
          </a:blip>
          <a:stretch>
            <a:fillRect/>
          </a:stretch>
        </p:blipFill>
        <p:spPr>
          <a:xfrm>
            <a:off x="3954586" y="2189804"/>
            <a:ext cx="1034036" cy="1034038"/>
          </a:xfrm>
          <a:prstGeom prst="rect">
            <a:avLst/>
          </a:prstGeom>
          <a:noFill/>
          <a:ln>
            <a:noFill/>
          </a:ln>
        </p:spPr>
      </p:pic>
      <p:pic>
        <p:nvPicPr>
          <p:cNvPr id="381" name="Google Shape;381;p43"/>
          <p:cNvPicPr preferRelativeResize="0"/>
          <p:nvPr/>
        </p:nvPicPr>
        <p:blipFill>
          <a:blip r:embed="rId6">
            <a:alphaModFix/>
          </a:blip>
          <a:stretch>
            <a:fillRect/>
          </a:stretch>
        </p:blipFill>
        <p:spPr>
          <a:xfrm>
            <a:off x="5561897" y="2189804"/>
            <a:ext cx="1034036" cy="1034038"/>
          </a:xfrm>
          <a:prstGeom prst="rect">
            <a:avLst/>
          </a:prstGeom>
          <a:noFill/>
          <a:ln>
            <a:noFill/>
          </a:ln>
        </p:spPr>
      </p:pic>
      <p:pic>
        <p:nvPicPr>
          <p:cNvPr id="382" name="Google Shape;382;p43"/>
          <p:cNvPicPr preferRelativeResize="0"/>
          <p:nvPr/>
        </p:nvPicPr>
        <p:blipFill>
          <a:blip r:embed="rId7">
            <a:alphaModFix/>
          </a:blip>
          <a:stretch>
            <a:fillRect/>
          </a:stretch>
        </p:blipFill>
        <p:spPr>
          <a:xfrm>
            <a:off x="7169208" y="2189804"/>
            <a:ext cx="1034036" cy="1034038"/>
          </a:xfrm>
          <a:prstGeom prst="rect">
            <a:avLst/>
          </a:prstGeom>
          <a:noFill/>
          <a:ln>
            <a:noFill/>
          </a:ln>
        </p:spPr>
      </p:pic>
      <p:pic>
        <p:nvPicPr>
          <p:cNvPr id="383" name="Google Shape;383;p43"/>
          <p:cNvPicPr preferRelativeResize="0"/>
          <p:nvPr/>
        </p:nvPicPr>
        <p:blipFill>
          <a:blip r:embed="rId8">
            <a:alphaModFix/>
          </a:blip>
          <a:stretch>
            <a:fillRect/>
          </a:stretch>
        </p:blipFill>
        <p:spPr>
          <a:xfrm>
            <a:off x="8776519" y="2189804"/>
            <a:ext cx="1034036" cy="1034038"/>
          </a:xfrm>
          <a:prstGeom prst="rect">
            <a:avLst/>
          </a:prstGeom>
          <a:noFill/>
          <a:ln>
            <a:noFill/>
          </a:ln>
        </p:spPr>
      </p:pic>
      <p:pic>
        <p:nvPicPr>
          <p:cNvPr id="384" name="Google Shape;384;p43"/>
          <p:cNvPicPr preferRelativeResize="0"/>
          <p:nvPr/>
        </p:nvPicPr>
        <p:blipFill>
          <a:blip r:embed="rId9">
            <a:alphaModFix/>
          </a:blip>
          <a:stretch>
            <a:fillRect/>
          </a:stretch>
        </p:blipFill>
        <p:spPr>
          <a:xfrm>
            <a:off x="10383829" y="2189804"/>
            <a:ext cx="1034036" cy="1034038"/>
          </a:xfrm>
          <a:prstGeom prst="rect">
            <a:avLst/>
          </a:prstGeom>
          <a:noFill/>
          <a:ln>
            <a:noFill/>
          </a:ln>
        </p:spPr>
      </p:pic>
      <p:pic>
        <p:nvPicPr>
          <p:cNvPr id="385" name="Google Shape;385;p43"/>
          <p:cNvPicPr preferRelativeResize="0"/>
          <p:nvPr/>
        </p:nvPicPr>
        <p:blipFill>
          <a:blip r:embed="rId10">
            <a:alphaModFix/>
          </a:blip>
          <a:stretch>
            <a:fillRect/>
          </a:stretch>
        </p:blipFill>
        <p:spPr>
          <a:xfrm>
            <a:off x="764792" y="4378163"/>
            <a:ext cx="1038823" cy="1034038"/>
          </a:xfrm>
          <a:prstGeom prst="rect">
            <a:avLst/>
          </a:prstGeom>
          <a:noFill/>
          <a:ln>
            <a:noFill/>
          </a:ln>
        </p:spPr>
      </p:pic>
      <p:pic>
        <p:nvPicPr>
          <p:cNvPr id="386" name="Google Shape;386;p43"/>
          <p:cNvPicPr preferRelativeResize="0"/>
          <p:nvPr/>
        </p:nvPicPr>
        <p:blipFill>
          <a:blip r:embed="rId11">
            <a:alphaModFix/>
          </a:blip>
          <a:stretch>
            <a:fillRect/>
          </a:stretch>
        </p:blipFill>
        <p:spPr>
          <a:xfrm>
            <a:off x="2347274" y="4378163"/>
            <a:ext cx="1034036" cy="1034038"/>
          </a:xfrm>
          <a:prstGeom prst="rect">
            <a:avLst/>
          </a:prstGeom>
          <a:noFill/>
          <a:ln>
            <a:noFill/>
          </a:ln>
        </p:spPr>
      </p:pic>
      <p:pic>
        <p:nvPicPr>
          <p:cNvPr id="387" name="Google Shape;387;p43"/>
          <p:cNvPicPr preferRelativeResize="0"/>
          <p:nvPr/>
        </p:nvPicPr>
        <p:blipFill>
          <a:blip r:embed="rId12">
            <a:alphaModFix/>
          </a:blip>
          <a:stretch>
            <a:fillRect/>
          </a:stretch>
        </p:blipFill>
        <p:spPr>
          <a:xfrm>
            <a:off x="3954588" y="4378163"/>
            <a:ext cx="1034036" cy="1034038"/>
          </a:xfrm>
          <a:prstGeom prst="rect">
            <a:avLst/>
          </a:prstGeom>
          <a:noFill/>
          <a:ln>
            <a:noFill/>
          </a:ln>
        </p:spPr>
      </p:pic>
      <p:pic>
        <p:nvPicPr>
          <p:cNvPr id="388" name="Google Shape;388;p43"/>
          <p:cNvPicPr preferRelativeResize="0"/>
          <p:nvPr/>
        </p:nvPicPr>
        <p:blipFill>
          <a:blip r:embed="rId13">
            <a:alphaModFix/>
          </a:blip>
          <a:stretch>
            <a:fillRect/>
          </a:stretch>
        </p:blipFill>
        <p:spPr>
          <a:xfrm>
            <a:off x="5561886" y="4378163"/>
            <a:ext cx="1034036" cy="1034038"/>
          </a:xfrm>
          <a:prstGeom prst="rect">
            <a:avLst/>
          </a:prstGeom>
          <a:noFill/>
          <a:ln>
            <a:noFill/>
          </a:ln>
        </p:spPr>
      </p:pic>
      <p:pic>
        <p:nvPicPr>
          <p:cNvPr id="389" name="Google Shape;389;p43"/>
          <p:cNvPicPr preferRelativeResize="0"/>
          <p:nvPr/>
        </p:nvPicPr>
        <p:blipFill>
          <a:blip r:embed="rId14">
            <a:alphaModFix/>
          </a:blip>
          <a:stretch>
            <a:fillRect/>
          </a:stretch>
        </p:blipFill>
        <p:spPr>
          <a:xfrm>
            <a:off x="7169184" y="4378179"/>
            <a:ext cx="1034036" cy="1034038"/>
          </a:xfrm>
          <a:prstGeom prst="rect">
            <a:avLst/>
          </a:prstGeom>
          <a:noFill/>
          <a:ln>
            <a:noFill/>
          </a:ln>
        </p:spPr>
      </p:pic>
      <p:pic>
        <p:nvPicPr>
          <p:cNvPr id="390" name="Google Shape;390;p43"/>
          <p:cNvPicPr preferRelativeResize="0"/>
          <p:nvPr/>
        </p:nvPicPr>
        <p:blipFill>
          <a:blip r:embed="rId15">
            <a:alphaModFix/>
          </a:blip>
          <a:stretch>
            <a:fillRect/>
          </a:stretch>
        </p:blipFill>
        <p:spPr>
          <a:xfrm>
            <a:off x="8776465" y="4378163"/>
            <a:ext cx="1034036" cy="1034038"/>
          </a:xfrm>
          <a:prstGeom prst="rect">
            <a:avLst/>
          </a:prstGeom>
          <a:noFill/>
          <a:ln>
            <a:noFill/>
          </a:ln>
        </p:spPr>
      </p:pic>
      <p:pic>
        <p:nvPicPr>
          <p:cNvPr id="391" name="Google Shape;391;p43"/>
          <p:cNvPicPr preferRelativeResize="0"/>
          <p:nvPr/>
        </p:nvPicPr>
        <p:blipFill>
          <a:blip r:embed="rId16">
            <a:alphaModFix/>
          </a:blip>
          <a:stretch>
            <a:fillRect/>
          </a:stretch>
        </p:blipFill>
        <p:spPr>
          <a:xfrm>
            <a:off x="10383763" y="4378163"/>
            <a:ext cx="1034036" cy="1034038"/>
          </a:xfrm>
          <a:prstGeom prst="rect">
            <a:avLst/>
          </a:prstGeom>
          <a:noFill/>
          <a:ln>
            <a:noFill/>
          </a:ln>
        </p:spPr>
      </p:pic>
      <p:sp>
        <p:nvSpPr>
          <p:cNvPr id="392" name="Google Shape;392;p43"/>
          <p:cNvSpPr/>
          <p:nvPr/>
        </p:nvSpPr>
        <p:spPr>
          <a:xfrm>
            <a:off x="750945"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Advertising and marketing technology</a:t>
            </a:r>
            <a:endParaRPr i="0" sz="1100" u="none" cap="none" strike="noStrike">
              <a:solidFill>
                <a:schemeClr val="dk1"/>
              </a:solidFill>
              <a:latin typeface="DM Sans"/>
              <a:ea typeface="DM Sans"/>
              <a:cs typeface="DM Sans"/>
              <a:sym typeface="DM Sans"/>
            </a:endParaRPr>
          </a:p>
        </p:txBody>
      </p:sp>
      <p:sp>
        <p:nvSpPr>
          <p:cNvPr id="393" name="Google Shape;393;p43"/>
          <p:cNvSpPr/>
          <p:nvPr/>
        </p:nvSpPr>
        <p:spPr>
          <a:xfrm>
            <a:off x="2347279"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Communication service providers</a:t>
            </a:r>
            <a:endParaRPr i="0" sz="1100" u="none" cap="none" strike="noStrike">
              <a:solidFill>
                <a:schemeClr val="dk1"/>
              </a:solidFill>
              <a:latin typeface="DM Sans"/>
              <a:ea typeface="DM Sans"/>
              <a:cs typeface="DM Sans"/>
              <a:sym typeface="DM Sans"/>
            </a:endParaRPr>
          </a:p>
        </p:txBody>
      </p:sp>
      <p:sp>
        <p:nvSpPr>
          <p:cNvPr id="394" name="Google Shape;394;p43"/>
          <p:cNvSpPr/>
          <p:nvPr/>
        </p:nvSpPr>
        <p:spPr>
          <a:xfrm>
            <a:off x="3943613"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Education</a:t>
            </a:r>
            <a:endParaRPr i="0" sz="1100" u="none" cap="none" strike="noStrike">
              <a:solidFill>
                <a:schemeClr val="dk1"/>
              </a:solidFill>
              <a:latin typeface="DM Sans"/>
              <a:ea typeface="DM Sans"/>
              <a:cs typeface="DM Sans"/>
              <a:sym typeface="DM Sans"/>
            </a:endParaRPr>
          </a:p>
        </p:txBody>
      </p:sp>
      <p:sp>
        <p:nvSpPr>
          <p:cNvPr id="395" name="Google Shape;395;p43"/>
          <p:cNvSpPr/>
          <p:nvPr/>
        </p:nvSpPr>
        <p:spPr>
          <a:xfrm>
            <a:off x="5561908"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Energy and utilities</a:t>
            </a:r>
            <a:endParaRPr i="0" sz="1100" u="none" cap="none" strike="noStrike">
              <a:solidFill>
                <a:schemeClr val="dk1"/>
              </a:solidFill>
              <a:latin typeface="DM Sans"/>
              <a:ea typeface="DM Sans"/>
              <a:cs typeface="DM Sans"/>
              <a:sym typeface="DM Sans"/>
            </a:endParaRPr>
          </a:p>
        </p:txBody>
      </p:sp>
      <p:sp>
        <p:nvSpPr>
          <p:cNvPr id="396" name="Google Shape;396;p43"/>
          <p:cNvSpPr/>
          <p:nvPr/>
        </p:nvSpPr>
        <p:spPr>
          <a:xfrm>
            <a:off x="7180203"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Enterprise technologyand software</a:t>
            </a:r>
            <a:endParaRPr i="0" sz="1100" u="none" cap="none" strike="noStrike">
              <a:solidFill>
                <a:schemeClr val="dk1"/>
              </a:solidFill>
              <a:latin typeface="DM Sans"/>
              <a:ea typeface="DM Sans"/>
              <a:cs typeface="DM Sans"/>
              <a:sym typeface="DM Sans"/>
            </a:endParaRPr>
          </a:p>
        </p:txBody>
      </p:sp>
      <p:sp>
        <p:nvSpPr>
          <p:cNvPr id="397" name="Google Shape;397;p43"/>
          <p:cNvSpPr/>
          <p:nvPr/>
        </p:nvSpPr>
        <p:spPr>
          <a:xfrm>
            <a:off x="8798498"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Federal government</a:t>
            </a:r>
            <a:endParaRPr i="0" sz="1100" u="none" cap="none" strike="noStrike">
              <a:solidFill>
                <a:schemeClr val="dk1"/>
              </a:solidFill>
              <a:latin typeface="DM Sans"/>
              <a:ea typeface="DM Sans"/>
              <a:cs typeface="DM Sans"/>
              <a:sym typeface="DM Sans"/>
            </a:endParaRPr>
          </a:p>
        </p:txBody>
      </p:sp>
      <p:sp>
        <p:nvSpPr>
          <p:cNvPr id="398" name="Google Shape;398;p43"/>
          <p:cNvSpPr/>
          <p:nvPr/>
        </p:nvSpPr>
        <p:spPr>
          <a:xfrm>
            <a:off x="10372871"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Financial services</a:t>
            </a:r>
            <a:endParaRPr i="0" sz="1100" u="none" cap="none" strike="noStrike">
              <a:solidFill>
                <a:schemeClr val="dk1"/>
              </a:solidFill>
              <a:latin typeface="DM Sans"/>
              <a:ea typeface="DM Sans"/>
              <a:cs typeface="DM Sans"/>
              <a:sym typeface="DM Sans"/>
            </a:endParaRPr>
          </a:p>
        </p:txBody>
      </p:sp>
      <p:sp>
        <p:nvSpPr>
          <p:cNvPr id="399" name="Google Shape;399;p43"/>
          <p:cNvSpPr/>
          <p:nvPr/>
        </p:nvSpPr>
        <p:spPr>
          <a:xfrm>
            <a:off x="750945"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Gaming</a:t>
            </a:r>
            <a:endParaRPr i="0" sz="1100" u="none" cap="none" strike="noStrike">
              <a:solidFill>
                <a:schemeClr val="dk1"/>
              </a:solidFill>
              <a:latin typeface="DM Sans"/>
              <a:ea typeface="DM Sans"/>
              <a:cs typeface="DM Sans"/>
              <a:sym typeface="DM Sans"/>
            </a:endParaRPr>
          </a:p>
        </p:txBody>
      </p:sp>
      <p:sp>
        <p:nvSpPr>
          <p:cNvPr id="400" name="Google Shape;400;p43"/>
          <p:cNvSpPr/>
          <p:nvPr/>
        </p:nvSpPr>
        <p:spPr>
          <a:xfrm>
            <a:off x="2347279"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Healthcare</a:t>
            </a:r>
            <a:endParaRPr i="0" sz="1100" u="none" cap="none" strike="noStrike">
              <a:solidFill>
                <a:schemeClr val="dk1"/>
              </a:solidFill>
              <a:latin typeface="DM Sans"/>
              <a:ea typeface="DM Sans"/>
              <a:cs typeface="DM Sans"/>
              <a:sym typeface="DM Sans"/>
            </a:endParaRPr>
          </a:p>
        </p:txBody>
      </p:sp>
      <p:sp>
        <p:nvSpPr>
          <p:cNvPr id="401" name="Google Shape;401;p43"/>
          <p:cNvSpPr/>
          <p:nvPr/>
        </p:nvSpPr>
        <p:spPr>
          <a:xfrm>
            <a:off x="3943613"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Life sciences</a:t>
            </a:r>
            <a:endParaRPr i="0" sz="1100" u="none" cap="none" strike="noStrike">
              <a:solidFill>
                <a:schemeClr val="dk1"/>
              </a:solidFill>
              <a:latin typeface="DM Sans"/>
              <a:ea typeface="DM Sans"/>
              <a:cs typeface="DM Sans"/>
              <a:sym typeface="DM Sans"/>
            </a:endParaRPr>
          </a:p>
        </p:txBody>
      </p:sp>
      <p:sp>
        <p:nvSpPr>
          <p:cNvPr id="402" name="Google Shape;402;p43"/>
          <p:cNvSpPr/>
          <p:nvPr/>
        </p:nvSpPr>
        <p:spPr>
          <a:xfrm>
            <a:off x="5561908"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Manufacturing</a:t>
            </a:r>
            <a:endParaRPr i="0" sz="1100" u="none" cap="none" strike="noStrike">
              <a:solidFill>
                <a:schemeClr val="dk1"/>
              </a:solidFill>
              <a:latin typeface="DM Sans"/>
              <a:ea typeface="DM Sans"/>
              <a:cs typeface="DM Sans"/>
              <a:sym typeface="DM Sans"/>
            </a:endParaRPr>
          </a:p>
        </p:txBody>
      </p:sp>
      <p:sp>
        <p:nvSpPr>
          <p:cNvPr id="403" name="Google Shape;403;p43"/>
          <p:cNvSpPr/>
          <p:nvPr/>
        </p:nvSpPr>
        <p:spPr>
          <a:xfrm>
            <a:off x="7180203"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Media and entertainment</a:t>
            </a:r>
            <a:endParaRPr i="0" sz="1100" u="none" cap="none" strike="noStrike">
              <a:solidFill>
                <a:schemeClr val="dk1"/>
              </a:solidFill>
              <a:latin typeface="DM Sans"/>
              <a:ea typeface="DM Sans"/>
              <a:cs typeface="DM Sans"/>
              <a:sym typeface="DM Sans"/>
            </a:endParaRPr>
          </a:p>
        </p:txBody>
      </p:sp>
      <p:sp>
        <p:nvSpPr>
          <p:cNvPr id="404" name="Google Shape;404;p43"/>
          <p:cNvSpPr/>
          <p:nvPr/>
        </p:nvSpPr>
        <p:spPr>
          <a:xfrm>
            <a:off x="8798498"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Retail and consumer goods</a:t>
            </a:r>
            <a:endParaRPr i="0" sz="1100" u="none" cap="none" strike="noStrike">
              <a:solidFill>
                <a:schemeClr val="dk1"/>
              </a:solidFill>
              <a:latin typeface="DM Sans"/>
              <a:ea typeface="DM Sans"/>
              <a:cs typeface="DM Sans"/>
              <a:sym typeface="DM Sans"/>
            </a:endParaRPr>
          </a:p>
        </p:txBody>
      </p:sp>
      <p:sp>
        <p:nvSpPr>
          <p:cNvPr id="405" name="Google Shape;405;p43"/>
          <p:cNvSpPr/>
          <p:nvPr/>
        </p:nvSpPr>
        <p:spPr>
          <a:xfrm>
            <a:off x="10372871"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State and local government</a:t>
            </a:r>
            <a:endParaRPr i="0" sz="1100" u="none" cap="none" strike="noStrike">
              <a:solidFill>
                <a:schemeClr val="dk1"/>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4"/>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11" name="Google Shape;411;p4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412" name="Google Shape;412;p44"/>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Platform</a:t>
            </a:r>
            <a:endParaRPr/>
          </a:p>
        </p:txBody>
      </p:sp>
      <p:pic>
        <p:nvPicPr>
          <p:cNvPr id="413" name="Google Shape;413;p44"/>
          <p:cNvPicPr preferRelativeResize="0"/>
          <p:nvPr/>
        </p:nvPicPr>
        <p:blipFill rotWithShape="1">
          <a:blip r:embed="rId3">
            <a:alphaModFix/>
          </a:blip>
          <a:srcRect b="0" l="0" r="0" t="0"/>
          <a:stretch/>
        </p:blipFill>
        <p:spPr>
          <a:xfrm>
            <a:off x="9781417" y="3428989"/>
            <a:ext cx="755776" cy="755790"/>
          </a:xfrm>
          <a:prstGeom prst="rect">
            <a:avLst/>
          </a:prstGeom>
          <a:noFill/>
          <a:ln>
            <a:noFill/>
          </a:ln>
        </p:spPr>
      </p:pic>
      <p:pic>
        <p:nvPicPr>
          <p:cNvPr id="414" name="Google Shape;414;p44"/>
          <p:cNvPicPr preferRelativeResize="0"/>
          <p:nvPr/>
        </p:nvPicPr>
        <p:blipFill rotWithShape="1">
          <a:blip r:embed="rId4">
            <a:alphaModFix/>
          </a:blip>
          <a:srcRect b="0" l="0" r="0" t="0"/>
          <a:stretch/>
        </p:blipFill>
        <p:spPr>
          <a:xfrm>
            <a:off x="9781417" y="4324791"/>
            <a:ext cx="755776" cy="755790"/>
          </a:xfrm>
          <a:prstGeom prst="rect">
            <a:avLst/>
          </a:prstGeom>
          <a:noFill/>
          <a:ln>
            <a:noFill/>
          </a:ln>
        </p:spPr>
      </p:pic>
      <p:sp>
        <p:nvSpPr>
          <p:cNvPr id="415" name="Google Shape;415;p44"/>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Analytics</a:t>
            </a:r>
            <a:endParaRPr i="0" sz="1100" u="none" cap="none" strike="noStrike">
              <a:solidFill>
                <a:srgbClr val="3A3838"/>
              </a:solidFill>
              <a:latin typeface="DM Sans"/>
              <a:ea typeface="DM Sans"/>
              <a:cs typeface="DM Sans"/>
              <a:sym typeface="DM Sans"/>
            </a:endParaRPr>
          </a:p>
        </p:txBody>
      </p:sp>
      <p:sp>
        <p:nvSpPr>
          <p:cNvPr id="416" name="Google Shape;416;p44"/>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Business Insights</a:t>
            </a:r>
            <a:endParaRPr i="0" sz="1100" u="none" cap="none" strike="noStrike">
              <a:solidFill>
                <a:srgbClr val="3A3838"/>
              </a:solidFill>
              <a:latin typeface="DM Sans"/>
              <a:ea typeface="DM Sans"/>
              <a:cs typeface="DM Sans"/>
              <a:sym typeface="DM Sans"/>
            </a:endParaRPr>
          </a:p>
        </p:txBody>
      </p:sp>
      <p:sp>
        <p:nvSpPr>
          <p:cNvPr id="417" name="Google Shape;417;p44"/>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Collaborative Data Science</a:t>
            </a:r>
            <a:endParaRPr i="0" sz="1100" u="none" cap="none" strike="noStrike">
              <a:solidFill>
                <a:srgbClr val="3A3838"/>
              </a:solidFill>
              <a:latin typeface="DM Sans"/>
              <a:ea typeface="DM Sans"/>
              <a:cs typeface="DM Sans"/>
              <a:sym typeface="DM Sans"/>
            </a:endParaRPr>
          </a:p>
        </p:txBody>
      </p:sp>
      <p:sp>
        <p:nvSpPr>
          <p:cNvPr id="418" name="Google Shape;418;p44"/>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Data Pipelines</a:t>
            </a:r>
            <a:endParaRPr i="0" sz="1100" u="none" cap="none" strike="noStrike">
              <a:solidFill>
                <a:srgbClr val="3A3838"/>
              </a:solidFill>
              <a:latin typeface="DM Sans"/>
              <a:ea typeface="DM Sans"/>
              <a:cs typeface="DM Sans"/>
              <a:sym typeface="DM Sans"/>
            </a:endParaRPr>
          </a:p>
        </p:txBody>
      </p:sp>
      <p:sp>
        <p:nvSpPr>
          <p:cNvPr id="419" name="Google Shape;419;p44"/>
          <p:cNvSpPr/>
          <p:nvPr/>
        </p:nvSpPr>
        <p:spPr>
          <a:xfrm>
            <a:off x="781461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Enterprise Security</a:t>
            </a:r>
            <a:endParaRPr i="0" sz="1100" u="none" cap="none" strike="noStrike">
              <a:solidFill>
                <a:srgbClr val="3A3838"/>
              </a:solidFill>
              <a:latin typeface="DM Sans"/>
              <a:ea typeface="DM Sans"/>
              <a:cs typeface="DM Sans"/>
              <a:sym typeface="DM Sans"/>
            </a:endParaRPr>
          </a:p>
        </p:txBody>
      </p:sp>
      <p:sp>
        <p:nvSpPr>
          <p:cNvPr id="420" name="Google Shape;420;p44"/>
          <p:cNvSpPr/>
          <p:nvPr/>
        </p:nvSpPr>
        <p:spPr>
          <a:xfrm>
            <a:off x="9627226" y="2595333"/>
            <a:ext cx="10380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Full Lifecycle ML</a:t>
            </a:r>
            <a:endParaRPr i="0" sz="1100" u="none" cap="none" strike="noStrike">
              <a:solidFill>
                <a:srgbClr val="1B3038"/>
              </a:solidFill>
              <a:latin typeface="DM Sans"/>
              <a:ea typeface="DM Sans"/>
              <a:cs typeface="DM Sans"/>
              <a:sym typeface="DM Sans"/>
            </a:endParaRPr>
          </a:p>
        </p:txBody>
      </p:sp>
      <p:pic>
        <p:nvPicPr>
          <p:cNvPr id="421" name="Google Shape;421;p44"/>
          <p:cNvPicPr preferRelativeResize="0"/>
          <p:nvPr/>
        </p:nvPicPr>
        <p:blipFill rotWithShape="1">
          <a:blip r:embed="rId5">
            <a:alphaModFix/>
          </a:blip>
          <a:srcRect b="0" l="0" r="0" t="0"/>
          <a:stretch/>
        </p:blipFill>
        <p:spPr>
          <a:xfrm>
            <a:off x="767840" y="3436956"/>
            <a:ext cx="755777" cy="755792"/>
          </a:xfrm>
          <a:prstGeom prst="rect">
            <a:avLst/>
          </a:prstGeom>
          <a:noFill/>
          <a:ln>
            <a:noFill/>
          </a:ln>
        </p:spPr>
      </p:pic>
      <p:pic>
        <p:nvPicPr>
          <p:cNvPr id="422" name="Google Shape;422;p44"/>
          <p:cNvPicPr preferRelativeResize="0"/>
          <p:nvPr/>
        </p:nvPicPr>
        <p:blipFill>
          <a:blip r:embed="rId6">
            <a:alphaModFix/>
          </a:blip>
          <a:stretch>
            <a:fillRect/>
          </a:stretch>
        </p:blipFill>
        <p:spPr>
          <a:xfrm>
            <a:off x="2570556" y="3436956"/>
            <a:ext cx="755776" cy="755792"/>
          </a:xfrm>
          <a:prstGeom prst="rect">
            <a:avLst/>
          </a:prstGeom>
          <a:noFill/>
          <a:ln>
            <a:noFill/>
          </a:ln>
        </p:spPr>
      </p:pic>
      <p:pic>
        <p:nvPicPr>
          <p:cNvPr id="423" name="Google Shape;423;p44"/>
          <p:cNvPicPr preferRelativeResize="0"/>
          <p:nvPr/>
        </p:nvPicPr>
        <p:blipFill rotWithShape="1">
          <a:blip r:embed="rId7">
            <a:alphaModFix/>
          </a:blip>
          <a:srcRect b="0" l="0" r="0" t="0"/>
          <a:stretch/>
        </p:blipFill>
        <p:spPr>
          <a:xfrm>
            <a:off x="4373273" y="3432973"/>
            <a:ext cx="755776" cy="755792"/>
          </a:xfrm>
          <a:prstGeom prst="rect">
            <a:avLst/>
          </a:prstGeom>
          <a:noFill/>
          <a:ln>
            <a:noFill/>
          </a:ln>
        </p:spPr>
      </p:pic>
      <p:pic>
        <p:nvPicPr>
          <p:cNvPr id="424" name="Google Shape;424;p44"/>
          <p:cNvPicPr preferRelativeResize="0"/>
          <p:nvPr/>
        </p:nvPicPr>
        <p:blipFill rotWithShape="1">
          <a:blip r:embed="rId8">
            <a:alphaModFix/>
          </a:blip>
          <a:srcRect b="0" l="0" r="0" t="0"/>
          <a:stretch/>
        </p:blipFill>
        <p:spPr>
          <a:xfrm>
            <a:off x="6175989" y="3490181"/>
            <a:ext cx="755777" cy="755763"/>
          </a:xfrm>
          <a:prstGeom prst="rect">
            <a:avLst/>
          </a:prstGeom>
          <a:noFill/>
          <a:ln>
            <a:noFill/>
          </a:ln>
        </p:spPr>
      </p:pic>
      <p:pic>
        <p:nvPicPr>
          <p:cNvPr id="425" name="Google Shape;425;p44"/>
          <p:cNvPicPr preferRelativeResize="0"/>
          <p:nvPr/>
        </p:nvPicPr>
        <p:blipFill rotWithShape="1">
          <a:blip r:embed="rId9">
            <a:alphaModFix/>
          </a:blip>
          <a:srcRect b="0" l="0" r="0" t="0"/>
          <a:stretch/>
        </p:blipFill>
        <p:spPr>
          <a:xfrm>
            <a:off x="7978706" y="3433031"/>
            <a:ext cx="755776" cy="755763"/>
          </a:xfrm>
          <a:prstGeom prst="rect">
            <a:avLst/>
          </a:prstGeom>
          <a:noFill/>
          <a:ln>
            <a:noFill/>
          </a:ln>
        </p:spPr>
      </p:pic>
      <p:pic>
        <p:nvPicPr>
          <p:cNvPr id="426" name="Google Shape;426;p44"/>
          <p:cNvPicPr preferRelativeResize="0"/>
          <p:nvPr/>
        </p:nvPicPr>
        <p:blipFill rotWithShape="1">
          <a:blip r:embed="rId10">
            <a:alphaModFix/>
          </a:blip>
          <a:srcRect b="0" l="0" r="0" t="0"/>
          <a:stretch/>
        </p:blipFill>
        <p:spPr>
          <a:xfrm>
            <a:off x="767840" y="4313090"/>
            <a:ext cx="755777" cy="755792"/>
          </a:xfrm>
          <a:prstGeom prst="rect">
            <a:avLst/>
          </a:prstGeom>
          <a:noFill/>
          <a:ln>
            <a:noFill/>
          </a:ln>
        </p:spPr>
      </p:pic>
      <p:pic>
        <p:nvPicPr>
          <p:cNvPr id="427" name="Google Shape;427;p44"/>
          <p:cNvPicPr preferRelativeResize="0"/>
          <p:nvPr/>
        </p:nvPicPr>
        <p:blipFill rotWithShape="1">
          <a:blip r:embed="rId11">
            <a:alphaModFix/>
          </a:blip>
          <a:srcRect b="0" l="0" r="0" t="0"/>
          <a:stretch/>
        </p:blipFill>
        <p:spPr>
          <a:xfrm>
            <a:off x="2570556" y="4313090"/>
            <a:ext cx="755776" cy="755792"/>
          </a:xfrm>
          <a:prstGeom prst="rect">
            <a:avLst/>
          </a:prstGeom>
          <a:noFill/>
          <a:ln>
            <a:noFill/>
          </a:ln>
        </p:spPr>
      </p:pic>
      <p:pic>
        <p:nvPicPr>
          <p:cNvPr id="428" name="Google Shape;428;p44"/>
          <p:cNvPicPr preferRelativeResize="0"/>
          <p:nvPr/>
        </p:nvPicPr>
        <p:blipFill rotWithShape="1">
          <a:blip r:embed="rId12">
            <a:alphaModFix/>
          </a:blip>
          <a:srcRect b="0" l="0" r="0" t="0"/>
          <a:stretch/>
        </p:blipFill>
        <p:spPr>
          <a:xfrm>
            <a:off x="4373273" y="4309106"/>
            <a:ext cx="755776" cy="755792"/>
          </a:xfrm>
          <a:prstGeom prst="rect">
            <a:avLst/>
          </a:prstGeom>
          <a:noFill/>
          <a:ln>
            <a:noFill/>
          </a:ln>
        </p:spPr>
      </p:pic>
      <p:pic>
        <p:nvPicPr>
          <p:cNvPr id="429" name="Google Shape;429;p44"/>
          <p:cNvPicPr preferRelativeResize="0"/>
          <p:nvPr/>
        </p:nvPicPr>
        <p:blipFill rotWithShape="1">
          <a:blip r:embed="rId13">
            <a:alphaModFix/>
          </a:blip>
          <a:srcRect b="0" l="0" r="0" t="0"/>
          <a:stretch/>
        </p:blipFill>
        <p:spPr>
          <a:xfrm>
            <a:off x="6175989" y="4366283"/>
            <a:ext cx="755777" cy="755763"/>
          </a:xfrm>
          <a:prstGeom prst="rect">
            <a:avLst/>
          </a:prstGeom>
          <a:noFill/>
          <a:ln>
            <a:noFill/>
          </a:ln>
        </p:spPr>
      </p:pic>
      <p:pic>
        <p:nvPicPr>
          <p:cNvPr id="430" name="Google Shape;430;p44"/>
          <p:cNvPicPr preferRelativeResize="0"/>
          <p:nvPr/>
        </p:nvPicPr>
        <p:blipFill rotWithShape="1">
          <a:blip r:embed="rId14">
            <a:alphaModFix/>
          </a:blip>
          <a:srcRect b="0" l="0" r="0" t="0"/>
          <a:stretch/>
        </p:blipFill>
        <p:spPr>
          <a:xfrm>
            <a:off x="7978706" y="4309133"/>
            <a:ext cx="755776" cy="755763"/>
          </a:xfrm>
          <a:prstGeom prst="rect">
            <a:avLst/>
          </a:prstGeom>
          <a:noFill/>
          <a:ln>
            <a:noFill/>
          </a:ln>
        </p:spPr>
      </p:pic>
      <p:pic>
        <p:nvPicPr>
          <p:cNvPr id="431" name="Google Shape;431;p44"/>
          <p:cNvPicPr preferRelativeResize="0"/>
          <p:nvPr/>
        </p:nvPicPr>
        <p:blipFill rotWithShape="1">
          <a:blip r:embed="rId15">
            <a:alphaModFix/>
          </a:blip>
          <a:srcRect b="0" l="0" r="0" t="0"/>
          <a:stretch/>
        </p:blipFill>
        <p:spPr>
          <a:xfrm>
            <a:off x="767840" y="5197188"/>
            <a:ext cx="755777" cy="755792"/>
          </a:xfrm>
          <a:prstGeom prst="rect">
            <a:avLst/>
          </a:prstGeom>
          <a:noFill/>
          <a:ln>
            <a:noFill/>
          </a:ln>
        </p:spPr>
      </p:pic>
      <p:pic>
        <p:nvPicPr>
          <p:cNvPr id="432" name="Google Shape;432;p44"/>
          <p:cNvPicPr preferRelativeResize="0"/>
          <p:nvPr/>
        </p:nvPicPr>
        <p:blipFill rotWithShape="1">
          <a:blip r:embed="rId16">
            <a:alphaModFix/>
          </a:blip>
          <a:srcRect b="0" l="0" r="0" t="0"/>
          <a:stretch/>
        </p:blipFill>
        <p:spPr>
          <a:xfrm>
            <a:off x="2570556" y="5197188"/>
            <a:ext cx="755776" cy="755792"/>
          </a:xfrm>
          <a:prstGeom prst="rect">
            <a:avLst/>
          </a:prstGeom>
          <a:noFill/>
          <a:ln>
            <a:noFill/>
          </a:ln>
        </p:spPr>
      </p:pic>
      <p:pic>
        <p:nvPicPr>
          <p:cNvPr id="433" name="Google Shape;433;p44"/>
          <p:cNvPicPr preferRelativeResize="0"/>
          <p:nvPr/>
        </p:nvPicPr>
        <p:blipFill rotWithShape="1">
          <a:blip r:embed="rId17">
            <a:alphaModFix/>
          </a:blip>
          <a:srcRect b="0" l="0" r="0" t="0"/>
          <a:stretch/>
        </p:blipFill>
        <p:spPr>
          <a:xfrm>
            <a:off x="4373273" y="5193204"/>
            <a:ext cx="755776" cy="755792"/>
          </a:xfrm>
          <a:prstGeom prst="rect">
            <a:avLst/>
          </a:prstGeom>
          <a:noFill/>
          <a:ln>
            <a:noFill/>
          </a:ln>
        </p:spPr>
      </p:pic>
      <p:pic>
        <p:nvPicPr>
          <p:cNvPr id="434" name="Google Shape;434;p44"/>
          <p:cNvPicPr preferRelativeResize="0"/>
          <p:nvPr/>
        </p:nvPicPr>
        <p:blipFill rotWithShape="1">
          <a:blip r:embed="rId18">
            <a:alphaModFix/>
          </a:blip>
          <a:srcRect b="0" l="0" r="0" t="0"/>
          <a:stretch/>
        </p:blipFill>
        <p:spPr>
          <a:xfrm>
            <a:off x="6175989" y="5250349"/>
            <a:ext cx="755777" cy="755763"/>
          </a:xfrm>
          <a:prstGeom prst="rect">
            <a:avLst/>
          </a:prstGeom>
          <a:noFill/>
          <a:ln>
            <a:noFill/>
          </a:ln>
        </p:spPr>
      </p:pic>
      <p:pic>
        <p:nvPicPr>
          <p:cNvPr id="435" name="Google Shape;435;p44"/>
          <p:cNvPicPr preferRelativeResize="0"/>
          <p:nvPr/>
        </p:nvPicPr>
        <p:blipFill rotWithShape="1">
          <a:blip r:embed="rId19">
            <a:alphaModFix/>
          </a:blip>
          <a:srcRect b="0" l="0" r="0" t="0"/>
          <a:stretch/>
        </p:blipFill>
        <p:spPr>
          <a:xfrm>
            <a:off x="7978706" y="5193199"/>
            <a:ext cx="755776" cy="755763"/>
          </a:xfrm>
          <a:prstGeom prst="rect">
            <a:avLst/>
          </a:prstGeom>
          <a:noFill/>
          <a:ln>
            <a:noFill/>
          </a:ln>
        </p:spPr>
      </p:pic>
      <p:pic>
        <p:nvPicPr>
          <p:cNvPr id="436" name="Google Shape;436;p44"/>
          <p:cNvPicPr preferRelativeResize="0"/>
          <p:nvPr/>
        </p:nvPicPr>
        <p:blipFill rotWithShape="1">
          <a:blip r:embed="rId20">
            <a:alphaModFix/>
          </a:blip>
          <a:srcRect b="0" l="0" r="0" t="0"/>
          <a:stretch/>
        </p:blipFill>
        <p:spPr>
          <a:xfrm>
            <a:off x="9781417" y="5189222"/>
            <a:ext cx="755779" cy="75579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5"/>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42" name="Google Shape;442;p4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443" name="Google Shape;443;p45"/>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Platform (Cont.)</a:t>
            </a:r>
            <a:endParaRPr/>
          </a:p>
        </p:txBody>
      </p:sp>
      <p:pic>
        <p:nvPicPr>
          <p:cNvPr id="444" name="Google Shape;444;p45"/>
          <p:cNvPicPr preferRelativeResize="0"/>
          <p:nvPr/>
        </p:nvPicPr>
        <p:blipFill rotWithShape="1">
          <a:blip r:embed="rId3">
            <a:alphaModFix/>
          </a:blip>
          <a:srcRect b="0" l="0" r="0" t="0"/>
          <a:stretch/>
        </p:blipFill>
        <p:spPr>
          <a:xfrm>
            <a:off x="2561729" y="3433818"/>
            <a:ext cx="758809" cy="758797"/>
          </a:xfrm>
          <a:prstGeom prst="rect">
            <a:avLst/>
          </a:prstGeom>
          <a:noFill/>
          <a:ln>
            <a:noFill/>
          </a:ln>
        </p:spPr>
      </p:pic>
      <p:pic>
        <p:nvPicPr>
          <p:cNvPr id="445" name="Google Shape;445;p45"/>
          <p:cNvPicPr preferRelativeResize="0"/>
          <p:nvPr/>
        </p:nvPicPr>
        <p:blipFill rotWithShape="1">
          <a:blip r:embed="rId4">
            <a:alphaModFix/>
          </a:blip>
          <a:srcRect b="0" l="0" r="0" t="0"/>
          <a:stretch/>
        </p:blipFill>
        <p:spPr>
          <a:xfrm>
            <a:off x="4358643" y="3438569"/>
            <a:ext cx="758810" cy="758821"/>
          </a:xfrm>
          <a:prstGeom prst="rect">
            <a:avLst/>
          </a:prstGeom>
          <a:noFill/>
          <a:ln>
            <a:noFill/>
          </a:ln>
        </p:spPr>
      </p:pic>
      <p:pic>
        <p:nvPicPr>
          <p:cNvPr id="446" name="Google Shape;446;p45"/>
          <p:cNvPicPr preferRelativeResize="0"/>
          <p:nvPr/>
        </p:nvPicPr>
        <p:blipFill rotWithShape="1">
          <a:blip r:embed="rId5">
            <a:alphaModFix/>
          </a:blip>
          <a:srcRect b="0" l="0" r="0" t="0"/>
          <a:stretch/>
        </p:blipFill>
        <p:spPr>
          <a:xfrm>
            <a:off x="6155556" y="3443352"/>
            <a:ext cx="758810" cy="758821"/>
          </a:xfrm>
          <a:prstGeom prst="rect">
            <a:avLst/>
          </a:prstGeom>
          <a:noFill/>
          <a:ln>
            <a:noFill/>
          </a:ln>
        </p:spPr>
      </p:pic>
      <p:pic>
        <p:nvPicPr>
          <p:cNvPr id="447" name="Google Shape;447;p45"/>
          <p:cNvPicPr preferRelativeResize="0"/>
          <p:nvPr/>
        </p:nvPicPr>
        <p:blipFill rotWithShape="1">
          <a:blip r:embed="rId6">
            <a:alphaModFix/>
          </a:blip>
          <a:srcRect b="0" l="0" r="0" t="0"/>
          <a:stretch/>
        </p:blipFill>
        <p:spPr>
          <a:xfrm>
            <a:off x="2561729" y="4333185"/>
            <a:ext cx="758809" cy="758797"/>
          </a:xfrm>
          <a:prstGeom prst="rect">
            <a:avLst/>
          </a:prstGeom>
          <a:noFill/>
          <a:ln>
            <a:noFill/>
          </a:ln>
        </p:spPr>
      </p:pic>
      <p:pic>
        <p:nvPicPr>
          <p:cNvPr id="448" name="Google Shape;448;p45"/>
          <p:cNvPicPr preferRelativeResize="0"/>
          <p:nvPr/>
        </p:nvPicPr>
        <p:blipFill rotWithShape="1">
          <a:blip r:embed="rId7">
            <a:alphaModFix/>
          </a:blip>
          <a:srcRect b="0" l="0" r="0" t="0"/>
          <a:stretch/>
        </p:blipFill>
        <p:spPr>
          <a:xfrm>
            <a:off x="4358643" y="4337965"/>
            <a:ext cx="758810" cy="758821"/>
          </a:xfrm>
          <a:prstGeom prst="rect">
            <a:avLst/>
          </a:prstGeom>
          <a:noFill/>
          <a:ln>
            <a:noFill/>
          </a:ln>
        </p:spPr>
      </p:pic>
      <p:pic>
        <p:nvPicPr>
          <p:cNvPr id="449" name="Google Shape;449;p45"/>
          <p:cNvPicPr preferRelativeResize="0"/>
          <p:nvPr/>
        </p:nvPicPr>
        <p:blipFill rotWithShape="1">
          <a:blip r:embed="rId8">
            <a:alphaModFix/>
          </a:blip>
          <a:srcRect b="0" l="0" r="0" t="0"/>
          <a:stretch/>
        </p:blipFill>
        <p:spPr>
          <a:xfrm>
            <a:off x="6155556" y="4342748"/>
            <a:ext cx="758810" cy="758821"/>
          </a:xfrm>
          <a:prstGeom prst="rect">
            <a:avLst/>
          </a:prstGeom>
          <a:noFill/>
          <a:ln>
            <a:noFill/>
          </a:ln>
        </p:spPr>
      </p:pic>
      <p:pic>
        <p:nvPicPr>
          <p:cNvPr id="450" name="Google Shape;450;p45"/>
          <p:cNvPicPr preferRelativeResize="0"/>
          <p:nvPr/>
        </p:nvPicPr>
        <p:blipFill rotWithShape="1">
          <a:blip r:embed="rId9">
            <a:alphaModFix/>
          </a:blip>
          <a:srcRect b="0" l="0" r="0" t="0"/>
          <a:stretch/>
        </p:blipFill>
        <p:spPr>
          <a:xfrm>
            <a:off x="2561729" y="5222962"/>
            <a:ext cx="758809" cy="758797"/>
          </a:xfrm>
          <a:prstGeom prst="rect">
            <a:avLst/>
          </a:prstGeom>
          <a:noFill/>
          <a:ln>
            <a:noFill/>
          </a:ln>
        </p:spPr>
      </p:pic>
      <p:pic>
        <p:nvPicPr>
          <p:cNvPr id="451" name="Google Shape;451;p45"/>
          <p:cNvPicPr preferRelativeResize="0"/>
          <p:nvPr/>
        </p:nvPicPr>
        <p:blipFill rotWithShape="1">
          <a:blip r:embed="rId10">
            <a:alphaModFix/>
          </a:blip>
          <a:srcRect b="0" l="0" r="0" t="0"/>
          <a:stretch/>
        </p:blipFill>
        <p:spPr>
          <a:xfrm>
            <a:off x="4358643" y="5227771"/>
            <a:ext cx="758810" cy="758821"/>
          </a:xfrm>
          <a:prstGeom prst="rect">
            <a:avLst/>
          </a:prstGeom>
          <a:noFill/>
          <a:ln>
            <a:noFill/>
          </a:ln>
        </p:spPr>
      </p:pic>
      <p:pic>
        <p:nvPicPr>
          <p:cNvPr id="452" name="Google Shape;452;p45"/>
          <p:cNvPicPr preferRelativeResize="0"/>
          <p:nvPr/>
        </p:nvPicPr>
        <p:blipFill rotWithShape="1">
          <a:blip r:embed="rId11">
            <a:alphaModFix/>
          </a:blip>
          <a:srcRect b="0" l="0" r="0" t="0"/>
          <a:stretch/>
        </p:blipFill>
        <p:spPr>
          <a:xfrm>
            <a:off x="6155556" y="5232554"/>
            <a:ext cx="758810" cy="758821"/>
          </a:xfrm>
          <a:prstGeom prst="rect">
            <a:avLst/>
          </a:prstGeom>
          <a:noFill/>
          <a:ln>
            <a:noFill/>
          </a:ln>
        </p:spPr>
      </p:pic>
      <p:pic>
        <p:nvPicPr>
          <p:cNvPr id="453" name="Google Shape;453;p45"/>
          <p:cNvPicPr preferRelativeResize="0"/>
          <p:nvPr/>
        </p:nvPicPr>
        <p:blipFill rotWithShape="1">
          <a:blip r:embed="rId12">
            <a:alphaModFix/>
          </a:blip>
          <a:srcRect b="0" l="0" r="0" t="0"/>
          <a:stretch/>
        </p:blipFill>
        <p:spPr>
          <a:xfrm>
            <a:off x="764808" y="3428985"/>
            <a:ext cx="758810" cy="758821"/>
          </a:xfrm>
          <a:prstGeom prst="rect">
            <a:avLst/>
          </a:prstGeom>
          <a:noFill/>
          <a:ln>
            <a:noFill/>
          </a:ln>
        </p:spPr>
      </p:pic>
      <p:pic>
        <p:nvPicPr>
          <p:cNvPr id="454" name="Google Shape;454;p45"/>
          <p:cNvPicPr preferRelativeResize="0"/>
          <p:nvPr/>
        </p:nvPicPr>
        <p:blipFill rotWithShape="1">
          <a:blip r:embed="rId13">
            <a:alphaModFix/>
          </a:blip>
          <a:srcRect b="0" l="0" r="0" t="0"/>
          <a:stretch/>
        </p:blipFill>
        <p:spPr>
          <a:xfrm>
            <a:off x="764808" y="4328381"/>
            <a:ext cx="758810" cy="758821"/>
          </a:xfrm>
          <a:prstGeom prst="rect">
            <a:avLst/>
          </a:prstGeom>
          <a:noFill/>
          <a:ln>
            <a:noFill/>
          </a:ln>
        </p:spPr>
      </p:pic>
      <p:pic>
        <p:nvPicPr>
          <p:cNvPr id="455" name="Google Shape;455;p45"/>
          <p:cNvPicPr preferRelativeResize="0"/>
          <p:nvPr/>
        </p:nvPicPr>
        <p:blipFill rotWithShape="1">
          <a:blip r:embed="rId14">
            <a:alphaModFix/>
          </a:blip>
          <a:srcRect b="0" l="0" r="0" t="0"/>
          <a:stretch/>
        </p:blipFill>
        <p:spPr>
          <a:xfrm>
            <a:off x="764808" y="5218188"/>
            <a:ext cx="758810" cy="758821"/>
          </a:xfrm>
          <a:prstGeom prst="rect">
            <a:avLst/>
          </a:prstGeom>
          <a:noFill/>
          <a:ln>
            <a:noFill/>
          </a:ln>
        </p:spPr>
      </p:pic>
      <p:sp>
        <p:nvSpPr>
          <p:cNvPr id="456" name="Google Shape;456;p45"/>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Analytics</a:t>
            </a:r>
            <a:endParaRPr i="0" sz="1100" u="none" cap="none" strike="noStrike">
              <a:solidFill>
                <a:srgbClr val="3A3838"/>
              </a:solidFill>
              <a:latin typeface="DM Sans"/>
              <a:ea typeface="DM Sans"/>
              <a:cs typeface="DM Sans"/>
              <a:sym typeface="DM Sans"/>
            </a:endParaRPr>
          </a:p>
        </p:txBody>
      </p:sp>
      <p:sp>
        <p:nvSpPr>
          <p:cNvPr id="457" name="Google Shape;457;p45"/>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Business Insights</a:t>
            </a:r>
            <a:endParaRPr i="0" sz="1100" u="none" cap="none" strike="noStrike">
              <a:solidFill>
                <a:srgbClr val="3A3838"/>
              </a:solidFill>
              <a:latin typeface="DM Sans"/>
              <a:ea typeface="DM Sans"/>
              <a:cs typeface="DM Sans"/>
              <a:sym typeface="DM Sans"/>
            </a:endParaRPr>
          </a:p>
        </p:txBody>
      </p:sp>
      <p:sp>
        <p:nvSpPr>
          <p:cNvPr id="458" name="Google Shape;458;p45"/>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Collaborative Data Science</a:t>
            </a:r>
            <a:endParaRPr i="0" sz="1100" u="none" cap="none" strike="noStrike">
              <a:solidFill>
                <a:srgbClr val="3A3838"/>
              </a:solidFill>
              <a:latin typeface="DM Sans"/>
              <a:ea typeface="DM Sans"/>
              <a:cs typeface="DM Sans"/>
              <a:sym typeface="DM Sans"/>
            </a:endParaRPr>
          </a:p>
        </p:txBody>
      </p:sp>
      <p:sp>
        <p:nvSpPr>
          <p:cNvPr id="459" name="Google Shape;459;p45"/>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Data Pipelines</a:t>
            </a:r>
            <a:endParaRPr i="0" sz="1100" u="none" cap="none" strike="noStrike">
              <a:solidFill>
                <a:srgbClr val="3A3838"/>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65" name="Google Shape;465;p4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466" name="Google Shape;466;p46"/>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Feature</a:t>
            </a:r>
            <a:endParaRPr/>
          </a:p>
        </p:txBody>
      </p:sp>
      <p:sp>
        <p:nvSpPr>
          <p:cNvPr id="467" name="Google Shape;467;p46"/>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Accelerator-Aware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Scheduler</a:t>
            </a:r>
            <a:endParaRPr sz="1400">
              <a:solidFill>
                <a:srgbClr val="3A3838"/>
              </a:solidFill>
              <a:latin typeface="DM Sans"/>
              <a:ea typeface="DM Sans"/>
              <a:cs typeface="DM Sans"/>
              <a:sym typeface="DM Sans"/>
            </a:endParaRPr>
          </a:p>
        </p:txBody>
      </p:sp>
      <p:sp>
        <p:nvSpPr>
          <p:cNvPr id="468" name="Google Shape;468;p46"/>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Built-in Functions</a:t>
            </a:r>
            <a:endParaRPr i="0" sz="1100" u="none" cap="none" strike="noStrike">
              <a:solidFill>
                <a:srgbClr val="3A3838"/>
              </a:solidFill>
              <a:latin typeface="DM Sans"/>
              <a:ea typeface="DM Sans"/>
              <a:cs typeface="DM Sans"/>
              <a:sym typeface="DM Sans"/>
            </a:endParaRPr>
          </a:p>
        </p:txBody>
      </p:sp>
      <p:sp>
        <p:nvSpPr>
          <p:cNvPr id="469" name="Google Shape;469;p46"/>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JDK 11 Support</a:t>
            </a:r>
            <a:endParaRPr i="0" sz="1100" u="none" cap="none" strike="noStrike">
              <a:solidFill>
                <a:srgbClr val="3A3838"/>
              </a:solidFill>
              <a:latin typeface="DM Sans"/>
              <a:ea typeface="DM Sans"/>
              <a:cs typeface="DM Sans"/>
              <a:sym typeface="DM Sans"/>
            </a:endParaRPr>
          </a:p>
        </p:txBody>
      </p:sp>
      <p:sp>
        <p:nvSpPr>
          <p:cNvPr id="470" name="Google Shape;470;p46"/>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Join Hints</a:t>
            </a:r>
            <a:endParaRPr i="0" sz="1100" u="none" cap="none" strike="noStrike">
              <a:solidFill>
                <a:srgbClr val="3A3838"/>
              </a:solidFill>
              <a:latin typeface="DM Sans"/>
              <a:ea typeface="DM Sans"/>
              <a:cs typeface="DM Sans"/>
              <a:sym typeface="DM Sans"/>
            </a:endParaRPr>
          </a:p>
        </p:txBody>
      </p:sp>
      <p:pic>
        <p:nvPicPr>
          <p:cNvPr id="471" name="Google Shape;471;p46"/>
          <p:cNvPicPr preferRelativeResize="0"/>
          <p:nvPr/>
        </p:nvPicPr>
        <p:blipFill rotWithShape="1">
          <a:blip r:embed="rId3">
            <a:alphaModFix/>
          </a:blip>
          <a:srcRect b="0" l="0" r="0" t="0"/>
          <a:stretch/>
        </p:blipFill>
        <p:spPr>
          <a:xfrm>
            <a:off x="764808" y="3428988"/>
            <a:ext cx="782185" cy="782188"/>
          </a:xfrm>
          <a:prstGeom prst="rect">
            <a:avLst/>
          </a:prstGeom>
          <a:noFill/>
          <a:ln>
            <a:noFill/>
          </a:ln>
        </p:spPr>
      </p:pic>
      <p:pic>
        <p:nvPicPr>
          <p:cNvPr id="472" name="Google Shape;472;p46"/>
          <p:cNvPicPr preferRelativeResize="0"/>
          <p:nvPr/>
        </p:nvPicPr>
        <p:blipFill rotWithShape="1">
          <a:blip r:embed="rId4">
            <a:alphaModFix/>
          </a:blip>
          <a:srcRect b="0" l="0" r="0" t="0"/>
          <a:stretch/>
        </p:blipFill>
        <p:spPr>
          <a:xfrm>
            <a:off x="2557847" y="3428988"/>
            <a:ext cx="782185" cy="782188"/>
          </a:xfrm>
          <a:prstGeom prst="rect">
            <a:avLst/>
          </a:prstGeom>
          <a:noFill/>
          <a:ln>
            <a:noFill/>
          </a:ln>
        </p:spPr>
      </p:pic>
      <p:pic>
        <p:nvPicPr>
          <p:cNvPr id="473" name="Google Shape;473;p46"/>
          <p:cNvPicPr preferRelativeResize="0"/>
          <p:nvPr/>
        </p:nvPicPr>
        <p:blipFill rotWithShape="1">
          <a:blip r:embed="rId5">
            <a:alphaModFix/>
          </a:blip>
          <a:srcRect b="0" l="0" r="0" t="0"/>
          <a:stretch/>
        </p:blipFill>
        <p:spPr>
          <a:xfrm>
            <a:off x="4350914" y="3428988"/>
            <a:ext cx="782185" cy="782188"/>
          </a:xfrm>
          <a:prstGeom prst="rect">
            <a:avLst/>
          </a:prstGeom>
          <a:noFill/>
          <a:ln>
            <a:noFill/>
          </a:ln>
        </p:spPr>
      </p:pic>
      <p:pic>
        <p:nvPicPr>
          <p:cNvPr id="474" name="Google Shape;474;p46"/>
          <p:cNvPicPr preferRelativeResize="0"/>
          <p:nvPr/>
        </p:nvPicPr>
        <p:blipFill rotWithShape="1">
          <a:blip r:embed="rId6">
            <a:alphaModFix/>
          </a:blip>
          <a:srcRect b="0" l="0" r="0" t="0"/>
          <a:stretch/>
        </p:blipFill>
        <p:spPr>
          <a:xfrm>
            <a:off x="6166392" y="3428988"/>
            <a:ext cx="782185" cy="782188"/>
          </a:xfrm>
          <a:prstGeom prst="rect">
            <a:avLst/>
          </a:prstGeom>
          <a:noFill/>
          <a:ln>
            <a:noFill/>
          </a:ln>
        </p:spPr>
      </p:pic>
      <p:pic>
        <p:nvPicPr>
          <p:cNvPr id="475" name="Google Shape;475;p46"/>
          <p:cNvPicPr preferRelativeResize="0"/>
          <p:nvPr/>
        </p:nvPicPr>
        <p:blipFill rotWithShape="1">
          <a:blip r:embed="rId7">
            <a:alphaModFix/>
          </a:blip>
          <a:srcRect b="0" l="0" r="0" t="0"/>
          <a:stretch/>
        </p:blipFill>
        <p:spPr>
          <a:xfrm>
            <a:off x="764808" y="4325447"/>
            <a:ext cx="782185" cy="782188"/>
          </a:xfrm>
          <a:prstGeom prst="rect">
            <a:avLst/>
          </a:prstGeom>
          <a:noFill/>
          <a:ln>
            <a:noFill/>
          </a:ln>
        </p:spPr>
      </p:pic>
      <p:pic>
        <p:nvPicPr>
          <p:cNvPr id="476" name="Google Shape;476;p46"/>
          <p:cNvPicPr preferRelativeResize="0"/>
          <p:nvPr/>
        </p:nvPicPr>
        <p:blipFill rotWithShape="1">
          <a:blip r:embed="rId8">
            <a:alphaModFix/>
          </a:blip>
          <a:srcRect b="0" l="0" r="0" t="0"/>
          <a:stretch/>
        </p:blipFill>
        <p:spPr>
          <a:xfrm>
            <a:off x="2557848" y="4325447"/>
            <a:ext cx="782185" cy="782188"/>
          </a:xfrm>
          <a:prstGeom prst="rect">
            <a:avLst/>
          </a:prstGeom>
          <a:noFill/>
          <a:ln>
            <a:noFill/>
          </a:ln>
        </p:spPr>
      </p:pic>
      <p:pic>
        <p:nvPicPr>
          <p:cNvPr id="477" name="Google Shape;477;p46"/>
          <p:cNvPicPr preferRelativeResize="0"/>
          <p:nvPr/>
        </p:nvPicPr>
        <p:blipFill rotWithShape="1">
          <a:blip r:embed="rId9">
            <a:alphaModFix/>
          </a:blip>
          <a:srcRect b="0" l="0" r="0" t="0"/>
          <a:stretch/>
        </p:blipFill>
        <p:spPr>
          <a:xfrm>
            <a:off x="4350915" y="4325447"/>
            <a:ext cx="782185" cy="782188"/>
          </a:xfrm>
          <a:prstGeom prst="rect">
            <a:avLst/>
          </a:prstGeom>
          <a:noFill/>
          <a:ln>
            <a:noFill/>
          </a:ln>
        </p:spPr>
      </p:pic>
      <p:pic>
        <p:nvPicPr>
          <p:cNvPr id="478" name="Google Shape;478;p46"/>
          <p:cNvPicPr preferRelativeResize="0"/>
          <p:nvPr/>
        </p:nvPicPr>
        <p:blipFill rotWithShape="1">
          <a:blip r:embed="rId10">
            <a:alphaModFix/>
          </a:blip>
          <a:srcRect b="0" l="0" r="0" t="0"/>
          <a:stretch/>
        </p:blipFill>
        <p:spPr>
          <a:xfrm>
            <a:off x="6166393" y="4325447"/>
            <a:ext cx="782185" cy="782188"/>
          </a:xfrm>
          <a:prstGeom prst="rect">
            <a:avLst/>
          </a:prstGeom>
          <a:noFill/>
          <a:ln>
            <a:noFill/>
          </a:ln>
        </p:spPr>
      </p:pic>
      <p:pic>
        <p:nvPicPr>
          <p:cNvPr id="479" name="Google Shape;479;p46"/>
          <p:cNvPicPr preferRelativeResize="0"/>
          <p:nvPr/>
        </p:nvPicPr>
        <p:blipFill rotWithShape="1">
          <a:blip r:embed="rId11">
            <a:alphaModFix/>
          </a:blip>
          <a:srcRect b="0" l="0" r="0" t="0"/>
          <a:stretch/>
        </p:blipFill>
        <p:spPr>
          <a:xfrm>
            <a:off x="764808" y="5215815"/>
            <a:ext cx="782185" cy="782188"/>
          </a:xfrm>
          <a:prstGeom prst="rect">
            <a:avLst/>
          </a:prstGeom>
          <a:noFill/>
          <a:ln>
            <a:noFill/>
          </a:ln>
        </p:spPr>
      </p:pic>
      <p:pic>
        <p:nvPicPr>
          <p:cNvPr id="480" name="Google Shape;480;p46"/>
          <p:cNvPicPr preferRelativeResize="0"/>
          <p:nvPr/>
        </p:nvPicPr>
        <p:blipFill rotWithShape="1">
          <a:blip r:embed="rId12">
            <a:alphaModFix/>
          </a:blip>
          <a:srcRect b="0" l="0" r="0" t="0"/>
          <a:stretch/>
        </p:blipFill>
        <p:spPr>
          <a:xfrm>
            <a:off x="2557848" y="5215815"/>
            <a:ext cx="782185" cy="782188"/>
          </a:xfrm>
          <a:prstGeom prst="rect">
            <a:avLst/>
          </a:prstGeom>
          <a:noFill/>
          <a:ln>
            <a:noFill/>
          </a:ln>
        </p:spPr>
      </p:pic>
      <p:pic>
        <p:nvPicPr>
          <p:cNvPr id="481" name="Google Shape;481;p46"/>
          <p:cNvPicPr preferRelativeResize="0"/>
          <p:nvPr/>
        </p:nvPicPr>
        <p:blipFill rotWithShape="1">
          <a:blip r:embed="rId13">
            <a:alphaModFix/>
          </a:blip>
          <a:srcRect b="0" l="0" r="0" t="0"/>
          <a:stretch/>
        </p:blipFill>
        <p:spPr>
          <a:xfrm>
            <a:off x="4350915" y="5215815"/>
            <a:ext cx="782185" cy="782188"/>
          </a:xfrm>
          <a:prstGeom prst="rect">
            <a:avLst/>
          </a:prstGeom>
          <a:noFill/>
          <a:ln>
            <a:noFill/>
          </a:ln>
        </p:spPr>
      </p:pic>
      <p:pic>
        <p:nvPicPr>
          <p:cNvPr id="482" name="Google Shape;482;p46"/>
          <p:cNvPicPr preferRelativeResize="0"/>
          <p:nvPr/>
        </p:nvPicPr>
        <p:blipFill rotWithShape="1">
          <a:blip r:embed="rId14">
            <a:alphaModFix/>
          </a:blip>
          <a:srcRect b="0" l="0" r="0" t="0"/>
          <a:stretch/>
        </p:blipFill>
        <p:spPr>
          <a:xfrm>
            <a:off x="6166393" y="5215815"/>
            <a:ext cx="782185" cy="78218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88" name="Google Shape;488;p4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489" name="Google Shape;489;p47"/>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Monitoring</a:t>
            </a:r>
            <a:endParaRPr/>
          </a:p>
        </p:txBody>
      </p:sp>
      <p:sp>
        <p:nvSpPr>
          <p:cNvPr id="490" name="Google Shape;490;p47"/>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Event Log Rollover</a:t>
            </a:r>
            <a:endParaRPr sz="1400">
              <a:solidFill>
                <a:srgbClr val="3A3838"/>
              </a:solidFill>
              <a:latin typeface="DM Sans"/>
              <a:ea typeface="DM Sans"/>
              <a:cs typeface="DM Sans"/>
              <a:sym typeface="DM Sans"/>
            </a:endParaRPr>
          </a:p>
        </p:txBody>
      </p:sp>
      <p:sp>
        <p:nvSpPr>
          <p:cNvPr id="491" name="Google Shape;491;p47"/>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JDBC Tab in SHS</a:t>
            </a:r>
            <a:endParaRPr i="0" sz="1100" u="none" cap="none" strike="noStrike">
              <a:solidFill>
                <a:srgbClr val="3A3838"/>
              </a:solidFill>
              <a:latin typeface="DM Sans"/>
              <a:ea typeface="DM Sans"/>
              <a:cs typeface="DM Sans"/>
              <a:sym typeface="DM Sans"/>
            </a:endParaRPr>
          </a:p>
        </p:txBody>
      </p:sp>
      <p:sp>
        <p:nvSpPr>
          <p:cNvPr id="492" name="Google Shape;492;p47"/>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Observable Metrics</a:t>
            </a:r>
            <a:endParaRPr i="0" sz="1100" u="none" cap="none" strike="noStrike">
              <a:solidFill>
                <a:srgbClr val="3A3838"/>
              </a:solidFill>
              <a:latin typeface="DM Sans"/>
              <a:ea typeface="DM Sans"/>
              <a:cs typeface="DM Sans"/>
              <a:sym typeface="DM Sans"/>
            </a:endParaRPr>
          </a:p>
        </p:txBody>
      </p:sp>
      <p:sp>
        <p:nvSpPr>
          <p:cNvPr id="493" name="Google Shape;493;p47"/>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Structured Streaming UI</a:t>
            </a:r>
            <a:endParaRPr i="0" sz="1100" u="none" cap="none" strike="noStrike">
              <a:solidFill>
                <a:srgbClr val="3A3838"/>
              </a:solidFill>
              <a:latin typeface="DM Sans"/>
              <a:ea typeface="DM Sans"/>
              <a:cs typeface="DM Sans"/>
              <a:sym typeface="DM Sans"/>
            </a:endParaRPr>
          </a:p>
        </p:txBody>
      </p:sp>
      <p:pic>
        <p:nvPicPr>
          <p:cNvPr id="494" name="Google Shape;494;p47"/>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495" name="Google Shape;495;p47"/>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496" name="Google Shape;496;p47"/>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497" name="Google Shape;497;p47"/>
          <p:cNvPicPr preferRelativeResize="0"/>
          <p:nvPr/>
        </p:nvPicPr>
        <p:blipFill rotWithShape="1">
          <a:blip r:embed="rId6">
            <a:alphaModFix/>
          </a:blip>
          <a:srcRect b="0" l="0" r="0" t="0"/>
          <a:stretch/>
        </p:blipFill>
        <p:spPr>
          <a:xfrm>
            <a:off x="6166406" y="3428995"/>
            <a:ext cx="782185" cy="782185"/>
          </a:xfrm>
          <a:prstGeom prst="rect">
            <a:avLst/>
          </a:prstGeom>
          <a:noFill/>
          <a:ln>
            <a:noFill/>
          </a:ln>
        </p:spPr>
      </p:pic>
      <p:pic>
        <p:nvPicPr>
          <p:cNvPr id="498" name="Google Shape;498;p47"/>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499" name="Google Shape;499;p47"/>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500" name="Google Shape;500;p47"/>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501" name="Google Shape;501;p47"/>
          <p:cNvPicPr preferRelativeResize="0"/>
          <p:nvPr/>
        </p:nvPicPr>
        <p:blipFill rotWithShape="1">
          <a:blip r:embed="rId10">
            <a:alphaModFix/>
          </a:blip>
          <a:srcRect b="0" l="0" r="0" t="0"/>
          <a:stretch/>
        </p:blipFill>
        <p:spPr>
          <a:xfrm>
            <a:off x="6166407" y="4325450"/>
            <a:ext cx="782185" cy="782185"/>
          </a:xfrm>
          <a:prstGeom prst="rect">
            <a:avLst/>
          </a:prstGeom>
          <a:noFill/>
          <a:ln>
            <a:noFill/>
          </a:ln>
        </p:spPr>
      </p:pic>
      <p:pic>
        <p:nvPicPr>
          <p:cNvPr id="502" name="Google Shape;502;p47"/>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503" name="Google Shape;503;p47"/>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504" name="Google Shape;504;p47"/>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505" name="Google Shape;505;p47"/>
          <p:cNvPicPr preferRelativeResize="0"/>
          <p:nvPr/>
        </p:nvPicPr>
        <p:blipFill rotWithShape="1">
          <a:blip r:embed="rId14">
            <a:alphaModFix/>
          </a:blip>
          <a:srcRect b="0" l="0" r="0" t="0"/>
          <a:stretch/>
        </p:blipFill>
        <p:spPr>
          <a:xfrm>
            <a:off x="6166407" y="5215813"/>
            <a:ext cx="782185" cy="78218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511" name="Google Shape;511;p4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512" name="Google Shape;512;p48"/>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Connectors</a:t>
            </a:r>
            <a:endParaRPr/>
          </a:p>
        </p:txBody>
      </p:sp>
      <p:sp>
        <p:nvSpPr>
          <p:cNvPr id="513" name="Google Shape;513;p48"/>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CSV Filter Pushdown</a:t>
            </a:r>
            <a:endParaRPr sz="1400">
              <a:solidFill>
                <a:srgbClr val="3A3838"/>
              </a:solidFill>
              <a:latin typeface="DM Sans"/>
              <a:ea typeface="DM Sans"/>
              <a:cs typeface="DM Sans"/>
              <a:sym typeface="DM Sans"/>
            </a:endParaRPr>
          </a:p>
        </p:txBody>
      </p:sp>
      <p:sp>
        <p:nvSpPr>
          <p:cNvPr id="514" name="Google Shape;514;p48"/>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New Binary Data Source</a:t>
            </a:r>
            <a:endParaRPr i="0" sz="1100" u="none" cap="none" strike="noStrike">
              <a:solidFill>
                <a:srgbClr val="3A3838"/>
              </a:solidFill>
              <a:latin typeface="DM Sans"/>
              <a:ea typeface="DM Sans"/>
              <a:cs typeface="DM Sans"/>
              <a:sym typeface="DM Sans"/>
            </a:endParaRPr>
          </a:p>
        </p:txBody>
      </p:sp>
      <p:sp>
        <p:nvSpPr>
          <p:cNvPr id="515" name="Google Shape;515;p48"/>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New NOOP Data Source</a:t>
            </a:r>
            <a:endParaRPr i="0" sz="1100" u="none" cap="none" strike="noStrike">
              <a:solidFill>
                <a:srgbClr val="3A3838"/>
              </a:solidFill>
              <a:latin typeface="DM Sans"/>
              <a:ea typeface="DM Sans"/>
              <a:cs typeface="DM Sans"/>
              <a:sym typeface="DM Sans"/>
            </a:endParaRPr>
          </a:p>
        </p:txBody>
      </p:sp>
      <p:sp>
        <p:nvSpPr>
          <p:cNvPr id="516" name="Google Shape;516;p48"/>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Parquet-ORC- Nested Column Pruning</a:t>
            </a:r>
            <a:endParaRPr i="0" sz="1100" u="none" cap="none" strike="noStrike">
              <a:solidFill>
                <a:srgbClr val="3A3838"/>
              </a:solidFill>
              <a:latin typeface="DM Sans"/>
              <a:ea typeface="DM Sans"/>
              <a:cs typeface="DM Sans"/>
              <a:sym typeface="DM Sans"/>
            </a:endParaRPr>
          </a:p>
        </p:txBody>
      </p:sp>
      <p:pic>
        <p:nvPicPr>
          <p:cNvPr id="517" name="Google Shape;517;p48"/>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518" name="Google Shape;518;p48"/>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519" name="Google Shape;519;p48"/>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520" name="Google Shape;520;p48"/>
          <p:cNvPicPr preferRelativeResize="0"/>
          <p:nvPr/>
        </p:nvPicPr>
        <p:blipFill rotWithShape="1">
          <a:blip r:embed="rId6">
            <a:alphaModFix/>
          </a:blip>
          <a:srcRect b="0" l="0" r="0" t="0"/>
          <a:stretch/>
        </p:blipFill>
        <p:spPr>
          <a:xfrm>
            <a:off x="6166406" y="3428995"/>
            <a:ext cx="782185" cy="782185"/>
          </a:xfrm>
          <a:prstGeom prst="rect">
            <a:avLst/>
          </a:prstGeom>
          <a:noFill/>
          <a:ln>
            <a:noFill/>
          </a:ln>
        </p:spPr>
      </p:pic>
      <p:pic>
        <p:nvPicPr>
          <p:cNvPr id="521" name="Google Shape;521;p48"/>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522" name="Google Shape;522;p48"/>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523" name="Google Shape;523;p48"/>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524" name="Google Shape;524;p48"/>
          <p:cNvPicPr preferRelativeResize="0"/>
          <p:nvPr/>
        </p:nvPicPr>
        <p:blipFill rotWithShape="1">
          <a:blip r:embed="rId10">
            <a:alphaModFix/>
          </a:blip>
          <a:srcRect b="0" l="0" r="0" t="0"/>
          <a:stretch/>
        </p:blipFill>
        <p:spPr>
          <a:xfrm>
            <a:off x="6166407" y="4325450"/>
            <a:ext cx="782185" cy="782185"/>
          </a:xfrm>
          <a:prstGeom prst="rect">
            <a:avLst/>
          </a:prstGeom>
          <a:noFill/>
          <a:ln>
            <a:noFill/>
          </a:ln>
        </p:spPr>
      </p:pic>
      <p:pic>
        <p:nvPicPr>
          <p:cNvPr id="525" name="Google Shape;525;p48"/>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526" name="Google Shape;526;p48"/>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527" name="Google Shape;527;p48"/>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528" name="Google Shape;528;p48"/>
          <p:cNvPicPr preferRelativeResize="0"/>
          <p:nvPr/>
        </p:nvPicPr>
        <p:blipFill rotWithShape="1">
          <a:blip r:embed="rId14">
            <a:alphaModFix/>
          </a:blip>
          <a:srcRect b="0" l="0" r="0" t="0"/>
          <a:stretch/>
        </p:blipFill>
        <p:spPr>
          <a:xfrm>
            <a:off x="6166407" y="5215813"/>
            <a:ext cx="782185" cy="78218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534" name="Google Shape;534;p4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535" name="Google Shape;535;p49"/>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Performance</a:t>
            </a:r>
            <a:endParaRPr/>
          </a:p>
        </p:txBody>
      </p:sp>
      <p:sp>
        <p:nvSpPr>
          <p:cNvPr id="536" name="Google Shape;536;p49"/>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Adaptive Query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Execution</a:t>
            </a:r>
            <a:endParaRPr sz="1400">
              <a:solidFill>
                <a:srgbClr val="3A3838"/>
              </a:solidFill>
              <a:latin typeface="DM Sans"/>
              <a:ea typeface="DM Sans"/>
              <a:cs typeface="DM Sans"/>
              <a:sym typeface="DM Sans"/>
            </a:endParaRPr>
          </a:p>
        </p:txBody>
      </p:sp>
      <p:sp>
        <p:nvSpPr>
          <p:cNvPr id="537" name="Google Shape;537;p49"/>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Dynamic Partition Pruning</a:t>
            </a:r>
            <a:endParaRPr sz="1400">
              <a:solidFill>
                <a:srgbClr val="3A3838"/>
              </a:solidFill>
              <a:latin typeface="DM Sans"/>
              <a:ea typeface="DM Sans"/>
              <a:cs typeface="DM Sans"/>
              <a:sym typeface="DM Sans"/>
            </a:endParaRPr>
          </a:p>
        </p:txBody>
      </p:sp>
      <p:sp>
        <p:nvSpPr>
          <p:cNvPr id="538" name="Google Shape;538;p49"/>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40% Compiler Time Reduction</a:t>
            </a:r>
            <a:endParaRPr sz="1400">
              <a:solidFill>
                <a:srgbClr val="3A3838"/>
              </a:solidFill>
              <a:latin typeface="DM Sans"/>
              <a:ea typeface="DM Sans"/>
              <a:cs typeface="DM Sans"/>
              <a:sym typeface="DM Sans"/>
            </a:endParaRPr>
          </a:p>
        </p:txBody>
      </p:sp>
      <p:sp>
        <p:nvSpPr>
          <p:cNvPr id="539" name="Google Shape;539;p49"/>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Cache Sync Reduction</a:t>
            </a:r>
            <a:endParaRPr sz="1400">
              <a:solidFill>
                <a:srgbClr val="3A3838"/>
              </a:solidFill>
              <a:latin typeface="DM Sans"/>
              <a:ea typeface="DM Sans"/>
              <a:cs typeface="DM Sans"/>
              <a:sym typeface="DM Sans"/>
            </a:endParaRPr>
          </a:p>
        </p:txBody>
      </p:sp>
      <p:pic>
        <p:nvPicPr>
          <p:cNvPr id="540" name="Google Shape;540;p49"/>
          <p:cNvPicPr preferRelativeResize="0"/>
          <p:nvPr/>
        </p:nvPicPr>
        <p:blipFill rotWithShape="1">
          <a:blip r:embed="rId3">
            <a:alphaModFix/>
          </a:blip>
          <a:srcRect b="0" l="0" r="0" t="0"/>
          <a:stretch/>
        </p:blipFill>
        <p:spPr>
          <a:xfrm>
            <a:off x="764806" y="3429002"/>
            <a:ext cx="782185" cy="782185"/>
          </a:xfrm>
          <a:prstGeom prst="rect">
            <a:avLst/>
          </a:prstGeom>
          <a:noFill/>
          <a:ln>
            <a:noFill/>
          </a:ln>
        </p:spPr>
      </p:pic>
      <p:pic>
        <p:nvPicPr>
          <p:cNvPr id="541" name="Google Shape;541;p49"/>
          <p:cNvPicPr preferRelativeResize="0"/>
          <p:nvPr/>
        </p:nvPicPr>
        <p:blipFill rotWithShape="1">
          <a:blip r:embed="rId4">
            <a:alphaModFix/>
          </a:blip>
          <a:srcRect b="0" l="0" r="0" t="0"/>
          <a:stretch/>
        </p:blipFill>
        <p:spPr>
          <a:xfrm>
            <a:off x="2557861" y="3429002"/>
            <a:ext cx="782185" cy="782185"/>
          </a:xfrm>
          <a:prstGeom prst="rect">
            <a:avLst/>
          </a:prstGeom>
          <a:noFill/>
          <a:ln>
            <a:noFill/>
          </a:ln>
        </p:spPr>
      </p:pic>
      <p:pic>
        <p:nvPicPr>
          <p:cNvPr id="542" name="Google Shape;542;p49"/>
          <p:cNvPicPr preferRelativeResize="0"/>
          <p:nvPr/>
        </p:nvPicPr>
        <p:blipFill rotWithShape="1">
          <a:blip r:embed="rId5">
            <a:alphaModFix/>
          </a:blip>
          <a:srcRect b="0" l="0" r="0" t="0"/>
          <a:stretch/>
        </p:blipFill>
        <p:spPr>
          <a:xfrm>
            <a:off x="4350928" y="3429002"/>
            <a:ext cx="782185" cy="782185"/>
          </a:xfrm>
          <a:prstGeom prst="rect">
            <a:avLst/>
          </a:prstGeom>
          <a:noFill/>
          <a:ln>
            <a:noFill/>
          </a:ln>
        </p:spPr>
      </p:pic>
      <p:pic>
        <p:nvPicPr>
          <p:cNvPr id="543" name="Google Shape;543;p49"/>
          <p:cNvPicPr preferRelativeResize="0"/>
          <p:nvPr/>
        </p:nvPicPr>
        <p:blipFill rotWithShape="1">
          <a:blip r:embed="rId6">
            <a:alphaModFix/>
          </a:blip>
          <a:srcRect b="0" l="0" r="0" t="0"/>
          <a:stretch/>
        </p:blipFill>
        <p:spPr>
          <a:xfrm>
            <a:off x="6166373" y="3429002"/>
            <a:ext cx="782185" cy="782185"/>
          </a:xfrm>
          <a:prstGeom prst="rect">
            <a:avLst/>
          </a:prstGeom>
          <a:noFill/>
          <a:ln>
            <a:noFill/>
          </a:ln>
        </p:spPr>
      </p:pic>
      <p:pic>
        <p:nvPicPr>
          <p:cNvPr id="544" name="Google Shape;544;p49"/>
          <p:cNvPicPr preferRelativeResize="0"/>
          <p:nvPr/>
        </p:nvPicPr>
        <p:blipFill rotWithShape="1">
          <a:blip r:embed="rId7">
            <a:alphaModFix/>
          </a:blip>
          <a:srcRect b="0" l="0" r="0" t="0"/>
          <a:stretch/>
        </p:blipFill>
        <p:spPr>
          <a:xfrm>
            <a:off x="764806" y="4325456"/>
            <a:ext cx="782185" cy="782185"/>
          </a:xfrm>
          <a:prstGeom prst="rect">
            <a:avLst/>
          </a:prstGeom>
          <a:noFill/>
          <a:ln>
            <a:noFill/>
          </a:ln>
        </p:spPr>
      </p:pic>
      <p:pic>
        <p:nvPicPr>
          <p:cNvPr id="545" name="Google Shape;545;p49"/>
          <p:cNvPicPr preferRelativeResize="0"/>
          <p:nvPr/>
        </p:nvPicPr>
        <p:blipFill rotWithShape="1">
          <a:blip r:embed="rId8">
            <a:alphaModFix/>
          </a:blip>
          <a:srcRect b="0" l="0" r="0" t="0"/>
          <a:stretch/>
        </p:blipFill>
        <p:spPr>
          <a:xfrm>
            <a:off x="2557862" y="4325456"/>
            <a:ext cx="782185" cy="782185"/>
          </a:xfrm>
          <a:prstGeom prst="rect">
            <a:avLst/>
          </a:prstGeom>
          <a:noFill/>
          <a:ln>
            <a:noFill/>
          </a:ln>
        </p:spPr>
      </p:pic>
      <p:pic>
        <p:nvPicPr>
          <p:cNvPr id="546" name="Google Shape;546;p49"/>
          <p:cNvPicPr preferRelativeResize="0"/>
          <p:nvPr/>
        </p:nvPicPr>
        <p:blipFill rotWithShape="1">
          <a:blip r:embed="rId9">
            <a:alphaModFix/>
          </a:blip>
          <a:srcRect b="0" l="0" r="0" t="0"/>
          <a:stretch/>
        </p:blipFill>
        <p:spPr>
          <a:xfrm>
            <a:off x="4350929" y="4325456"/>
            <a:ext cx="782185" cy="782185"/>
          </a:xfrm>
          <a:prstGeom prst="rect">
            <a:avLst/>
          </a:prstGeom>
          <a:noFill/>
          <a:ln>
            <a:noFill/>
          </a:ln>
        </p:spPr>
      </p:pic>
      <p:pic>
        <p:nvPicPr>
          <p:cNvPr id="547" name="Google Shape;547;p49"/>
          <p:cNvPicPr preferRelativeResize="0"/>
          <p:nvPr/>
        </p:nvPicPr>
        <p:blipFill rotWithShape="1">
          <a:blip r:embed="rId10">
            <a:alphaModFix/>
          </a:blip>
          <a:srcRect b="0" l="0" r="0" t="0"/>
          <a:stretch/>
        </p:blipFill>
        <p:spPr>
          <a:xfrm>
            <a:off x="6166374" y="4325456"/>
            <a:ext cx="782185" cy="782185"/>
          </a:xfrm>
          <a:prstGeom prst="rect">
            <a:avLst/>
          </a:prstGeom>
          <a:noFill/>
          <a:ln>
            <a:noFill/>
          </a:ln>
        </p:spPr>
      </p:pic>
      <p:pic>
        <p:nvPicPr>
          <p:cNvPr id="548" name="Google Shape;548;p49"/>
          <p:cNvPicPr preferRelativeResize="0"/>
          <p:nvPr/>
        </p:nvPicPr>
        <p:blipFill rotWithShape="1">
          <a:blip r:embed="rId11">
            <a:alphaModFix/>
          </a:blip>
          <a:srcRect b="0" l="0" r="0" t="0"/>
          <a:stretch/>
        </p:blipFill>
        <p:spPr>
          <a:xfrm>
            <a:off x="764806" y="5238046"/>
            <a:ext cx="782185" cy="782185"/>
          </a:xfrm>
          <a:prstGeom prst="rect">
            <a:avLst/>
          </a:prstGeom>
          <a:noFill/>
          <a:ln>
            <a:noFill/>
          </a:ln>
        </p:spPr>
      </p:pic>
      <p:pic>
        <p:nvPicPr>
          <p:cNvPr id="549" name="Google Shape;549;p49"/>
          <p:cNvPicPr preferRelativeResize="0"/>
          <p:nvPr/>
        </p:nvPicPr>
        <p:blipFill rotWithShape="1">
          <a:blip r:embed="rId12">
            <a:alphaModFix/>
          </a:blip>
          <a:srcRect b="0" l="0" r="0" t="0"/>
          <a:stretch/>
        </p:blipFill>
        <p:spPr>
          <a:xfrm>
            <a:off x="2557862" y="5238046"/>
            <a:ext cx="782185" cy="782185"/>
          </a:xfrm>
          <a:prstGeom prst="rect">
            <a:avLst/>
          </a:prstGeom>
          <a:noFill/>
          <a:ln>
            <a:noFill/>
          </a:ln>
        </p:spPr>
      </p:pic>
      <p:pic>
        <p:nvPicPr>
          <p:cNvPr id="550" name="Google Shape;550;p49"/>
          <p:cNvPicPr preferRelativeResize="0"/>
          <p:nvPr/>
        </p:nvPicPr>
        <p:blipFill rotWithShape="1">
          <a:blip r:embed="rId13">
            <a:alphaModFix/>
          </a:blip>
          <a:srcRect b="0" l="0" r="0" t="0"/>
          <a:stretch/>
        </p:blipFill>
        <p:spPr>
          <a:xfrm>
            <a:off x="4350929" y="5238046"/>
            <a:ext cx="782185" cy="782185"/>
          </a:xfrm>
          <a:prstGeom prst="rect">
            <a:avLst/>
          </a:prstGeom>
          <a:noFill/>
          <a:ln>
            <a:noFill/>
          </a:ln>
        </p:spPr>
      </p:pic>
      <p:pic>
        <p:nvPicPr>
          <p:cNvPr id="551" name="Google Shape;551;p49"/>
          <p:cNvPicPr preferRelativeResize="0"/>
          <p:nvPr/>
        </p:nvPicPr>
        <p:blipFill rotWithShape="1">
          <a:blip r:embed="rId14">
            <a:alphaModFix/>
          </a:blip>
          <a:srcRect b="0" l="0" r="0" t="0"/>
          <a:stretch/>
        </p:blipFill>
        <p:spPr>
          <a:xfrm>
            <a:off x="6166374" y="5238046"/>
            <a:ext cx="782185" cy="78218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557" name="Google Shape;557;p5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558" name="Google Shape;558;p50"/>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SQL Compatibility</a:t>
            </a:r>
            <a:endParaRPr/>
          </a:p>
        </p:txBody>
      </p:sp>
      <p:sp>
        <p:nvSpPr>
          <p:cNvPr id="559" name="Google Shape;559;p50"/>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Overflow Checking</a:t>
            </a:r>
            <a:endParaRPr sz="1400">
              <a:solidFill>
                <a:srgbClr val="3A3838"/>
              </a:solidFill>
              <a:latin typeface="DM Sans"/>
              <a:ea typeface="DM Sans"/>
              <a:cs typeface="DM Sans"/>
              <a:sym typeface="DM Sans"/>
            </a:endParaRPr>
          </a:p>
        </p:txBody>
      </p:sp>
      <p:sp>
        <p:nvSpPr>
          <p:cNvPr id="560" name="Google Shape;560;p50"/>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Proleptic Gregorian Calendar</a:t>
            </a:r>
            <a:endParaRPr sz="1400">
              <a:solidFill>
                <a:srgbClr val="3A3838"/>
              </a:solidFill>
              <a:latin typeface="DM Sans"/>
              <a:ea typeface="DM Sans"/>
              <a:cs typeface="DM Sans"/>
              <a:sym typeface="DM Sans"/>
            </a:endParaRPr>
          </a:p>
        </p:txBody>
      </p:sp>
      <p:sp>
        <p:nvSpPr>
          <p:cNvPr id="561" name="Google Shape;561;p50"/>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Reserved Keywords in Parser</a:t>
            </a:r>
            <a:endParaRPr sz="1400">
              <a:solidFill>
                <a:srgbClr val="3A3838"/>
              </a:solidFill>
              <a:latin typeface="DM Sans"/>
              <a:ea typeface="DM Sans"/>
              <a:cs typeface="DM Sans"/>
              <a:sym typeface="DM Sans"/>
            </a:endParaRPr>
          </a:p>
        </p:txBody>
      </p:sp>
      <p:sp>
        <p:nvSpPr>
          <p:cNvPr id="562" name="Google Shape;562;p50"/>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Store Assignment in INSERT</a:t>
            </a:r>
            <a:endParaRPr sz="1400">
              <a:solidFill>
                <a:srgbClr val="3A3838"/>
              </a:solidFill>
              <a:latin typeface="DM Sans"/>
              <a:ea typeface="DM Sans"/>
              <a:cs typeface="DM Sans"/>
              <a:sym typeface="DM Sans"/>
            </a:endParaRPr>
          </a:p>
        </p:txBody>
      </p:sp>
      <p:pic>
        <p:nvPicPr>
          <p:cNvPr id="563" name="Google Shape;563;p50"/>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564" name="Google Shape;564;p50"/>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565" name="Google Shape;565;p50"/>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566" name="Google Shape;566;p50"/>
          <p:cNvPicPr preferRelativeResize="0"/>
          <p:nvPr/>
        </p:nvPicPr>
        <p:blipFill rotWithShape="1">
          <a:blip r:embed="rId6">
            <a:alphaModFix/>
          </a:blip>
          <a:srcRect b="0" l="0" r="0" t="0"/>
          <a:stretch/>
        </p:blipFill>
        <p:spPr>
          <a:xfrm>
            <a:off x="6166373" y="3428995"/>
            <a:ext cx="782185" cy="782185"/>
          </a:xfrm>
          <a:prstGeom prst="rect">
            <a:avLst/>
          </a:prstGeom>
          <a:noFill/>
          <a:ln>
            <a:noFill/>
          </a:ln>
        </p:spPr>
      </p:pic>
      <p:pic>
        <p:nvPicPr>
          <p:cNvPr id="567" name="Google Shape;567;p50"/>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568" name="Google Shape;568;p50"/>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569" name="Google Shape;569;p50"/>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570" name="Google Shape;570;p50"/>
          <p:cNvPicPr preferRelativeResize="0"/>
          <p:nvPr/>
        </p:nvPicPr>
        <p:blipFill rotWithShape="1">
          <a:blip r:embed="rId10">
            <a:alphaModFix/>
          </a:blip>
          <a:srcRect b="0" l="0" r="0" t="0"/>
          <a:stretch/>
        </p:blipFill>
        <p:spPr>
          <a:xfrm>
            <a:off x="6166374" y="4325450"/>
            <a:ext cx="782185" cy="782185"/>
          </a:xfrm>
          <a:prstGeom prst="rect">
            <a:avLst/>
          </a:prstGeom>
          <a:noFill/>
          <a:ln>
            <a:noFill/>
          </a:ln>
        </p:spPr>
      </p:pic>
      <p:pic>
        <p:nvPicPr>
          <p:cNvPr id="571" name="Google Shape;571;p50"/>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572" name="Google Shape;572;p50"/>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573" name="Google Shape;573;p50"/>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574" name="Google Shape;574;p50"/>
          <p:cNvPicPr preferRelativeResize="0"/>
          <p:nvPr/>
        </p:nvPicPr>
        <p:blipFill rotWithShape="1">
          <a:blip r:embed="rId14">
            <a:alphaModFix/>
          </a:blip>
          <a:srcRect b="0" l="0" r="0" t="0"/>
          <a:stretch/>
        </p:blipFill>
        <p:spPr>
          <a:xfrm>
            <a:off x="6166374" y="5215813"/>
            <a:ext cx="782185" cy="78218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1"/>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580" name="Google Shape;580;p5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581" name="Google Shape;581;p51"/>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PySpark and SparkR</a:t>
            </a:r>
            <a:endParaRPr/>
          </a:p>
        </p:txBody>
      </p:sp>
      <p:sp>
        <p:nvSpPr>
          <p:cNvPr id="582" name="Google Shape;582;p51"/>
          <p:cNvSpPr/>
          <p:nvPr/>
        </p:nvSpPr>
        <p:spPr>
          <a:xfrm>
            <a:off x="416329" y="2595333"/>
            <a:ext cx="14529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Eager Execution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 R Shell</a:t>
            </a:r>
            <a:endParaRPr sz="1400">
              <a:solidFill>
                <a:srgbClr val="3A3838"/>
              </a:solidFill>
              <a:latin typeface="DM Sans"/>
              <a:ea typeface="DM Sans"/>
              <a:cs typeface="DM Sans"/>
              <a:sym typeface="DM Sans"/>
            </a:endParaRPr>
          </a:p>
        </p:txBody>
      </p:sp>
      <p:sp>
        <p:nvSpPr>
          <p:cNvPr id="583" name="Google Shape;583;p51"/>
          <p:cNvSpPr/>
          <p:nvPr/>
        </p:nvSpPr>
        <p:spPr>
          <a:xfrm>
            <a:off x="2157993"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New Pandas UDF</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Using Type Hints</a:t>
            </a:r>
            <a:endParaRPr sz="1400">
              <a:solidFill>
                <a:srgbClr val="3A3838"/>
              </a:solidFill>
              <a:latin typeface="DM Sans"/>
              <a:ea typeface="DM Sans"/>
              <a:cs typeface="DM Sans"/>
              <a:sym typeface="DM Sans"/>
            </a:endParaRPr>
          </a:p>
          <a:p>
            <a:pPr indent="0" lvl="0" marL="0" marR="0" rtl="0" algn="l">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584" name="Google Shape;584;p51"/>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Pandas UDF</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Enhancements</a:t>
            </a:r>
            <a:endParaRPr sz="1400">
              <a:solidFill>
                <a:srgbClr val="3A3838"/>
              </a:solidFill>
              <a:latin typeface="DM Sans"/>
              <a:ea typeface="DM Sans"/>
              <a:cs typeface="DM Sans"/>
              <a:sym typeface="DM Sans"/>
            </a:endParaRPr>
          </a:p>
        </p:txBody>
      </p:sp>
      <p:sp>
        <p:nvSpPr>
          <p:cNvPr id="585" name="Google Shape;585;p51"/>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Vectorization in SparkR</a:t>
            </a:r>
            <a:endParaRPr sz="1400">
              <a:solidFill>
                <a:srgbClr val="3A3838"/>
              </a:solidFill>
              <a:latin typeface="DM Sans"/>
              <a:ea typeface="DM Sans"/>
              <a:cs typeface="DM Sans"/>
              <a:sym typeface="DM Sans"/>
            </a:endParaRPr>
          </a:p>
        </p:txBody>
      </p:sp>
      <p:pic>
        <p:nvPicPr>
          <p:cNvPr id="586" name="Google Shape;586;p51"/>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587" name="Google Shape;587;p51"/>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588" name="Google Shape;588;p51"/>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589" name="Google Shape;589;p51"/>
          <p:cNvPicPr preferRelativeResize="0"/>
          <p:nvPr/>
        </p:nvPicPr>
        <p:blipFill rotWithShape="1">
          <a:blip r:embed="rId6">
            <a:alphaModFix/>
          </a:blip>
          <a:srcRect b="0" l="0" r="0" t="0"/>
          <a:stretch/>
        </p:blipFill>
        <p:spPr>
          <a:xfrm>
            <a:off x="6166373" y="3428995"/>
            <a:ext cx="782185" cy="782185"/>
          </a:xfrm>
          <a:prstGeom prst="rect">
            <a:avLst/>
          </a:prstGeom>
          <a:noFill/>
          <a:ln>
            <a:noFill/>
          </a:ln>
        </p:spPr>
      </p:pic>
      <p:pic>
        <p:nvPicPr>
          <p:cNvPr id="590" name="Google Shape;590;p51"/>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591" name="Google Shape;591;p51"/>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592" name="Google Shape;592;p51"/>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593" name="Google Shape;593;p51"/>
          <p:cNvPicPr preferRelativeResize="0"/>
          <p:nvPr/>
        </p:nvPicPr>
        <p:blipFill rotWithShape="1">
          <a:blip r:embed="rId10">
            <a:alphaModFix/>
          </a:blip>
          <a:srcRect b="0" l="0" r="0" t="0"/>
          <a:stretch/>
        </p:blipFill>
        <p:spPr>
          <a:xfrm>
            <a:off x="6166374" y="4325450"/>
            <a:ext cx="782185" cy="782185"/>
          </a:xfrm>
          <a:prstGeom prst="rect">
            <a:avLst/>
          </a:prstGeom>
          <a:noFill/>
          <a:ln>
            <a:noFill/>
          </a:ln>
        </p:spPr>
      </p:pic>
      <p:pic>
        <p:nvPicPr>
          <p:cNvPr id="594" name="Google Shape;594;p51"/>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595" name="Google Shape;595;p51"/>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596" name="Google Shape;596;p51"/>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597" name="Google Shape;597;p51"/>
          <p:cNvPicPr preferRelativeResize="0"/>
          <p:nvPr/>
        </p:nvPicPr>
        <p:blipFill rotWithShape="1">
          <a:blip r:embed="rId14">
            <a:alphaModFix/>
          </a:blip>
          <a:srcRect b="0" l="0" r="0" t="0"/>
          <a:stretch/>
        </p:blipFill>
        <p:spPr>
          <a:xfrm>
            <a:off x="6166374" y="5215813"/>
            <a:ext cx="782185" cy="78218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603" name="Google Shape;603;p5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604" name="Google Shape;604;p52"/>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Extensibility &amp; Document</a:t>
            </a:r>
            <a:endParaRPr/>
          </a:p>
        </p:txBody>
      </p:sp>
      <p:sp>
        <p:nvSpPr>
          <p:cNvPr id="605" name="Google Shape;605;p52"/>
          <p:cNvSpPr/>
          <p:nvPr/>
        </p:nvSpPr>
        <p:spPr>
          <a:xfrm>
            <a:off x="416329" y="2595333"/>
            <a:ext cx="14529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Extensibility &amp; Document</a:t>
            </a:r>
            <a:endParaRPr sz="1400">
              <a:solidFill>
                <a:srgbClr val="3A3838"/>
              </a:solidFill>
              <a:latin typeface="DM Sans"/>
              <a:ea typeface="DM Sans"/>
              <a:cs typeface="DM Sans"/>
              <a:sym typeface="DM Sans"/>
            </a:endParaRPr>
          </a:p>
        </p:txBody>
      </p:sp>
      <p:sp>
        <p:nvSpPr>
          <p:cNvPr id="606" name="Google Shape;606;p52"/>
          <p:cNvSpPr/>
          <p:nvPr/>
        </p:nvSpPr>
        <p:spPr>
          <a:xfrm>
            <a:off x="2157993" y="2595333"/>
            <a:ext cx="15687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None/>
            </a:pPr>
            <a:r>
              <a:rPr lang="en" sz="1400">
                <a:solidFill>
                  <a:srgbClr val="3A3838"/>
                </a:solidFill>
                <a:latin typeface="DM Sans"/>
                <a:ea typeface="DM Sans"/>
                <a:cs typeface="DM Sans"/>
                <a:sym typeface="DM Sans"/>
              </a:rPr>
              <a:t>Hadoop 3 Support</a:t>
            </a:r>
            <a:endParaRPr sz="1400">
              <a:solidFill>
                <a:srgbClr val="3A3838"/>
              </a:solidFill>
              <a:latin typeface="DM Sans"/>
              <a:ea typeface="DM Sans"/>
              <a:cs typeface="DM Sans"/>
              <a:sym typeface="DM Sans"/>
            </a:endParaRPr>
          </a:p>
        </p:txBody>
      </p:sp>
      <p:sp>
        <p:nvSpPr>
          <p:cNvPr id="607" name="Google Shape;607;p52"/>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Hadoop 3 Support</a:t>
            </a:r>
            <a:endParaRPr sz="1400">
              <a:solidFill>
                <a:srgbClr val="3A3838"/>
              </a:solidFill>
              <a:latin typeface="DM Sans"/>
              <a:ea typeface="DM Sans"/>
              <a:cs typeface="DM Sans"/>
              <a:sym typeface="DM Sans"/>
            </a:endParaRPr>
          </a:p>
        </p:txBody>
      </p:sp>
      <p:sp>
        <p:nvSpPr>
          <p:cNvPr id="608" name="Google Shape;608;p52"/>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SQL Reference</a:t>
            </a:r>
            <a:endParaRPr sz="1400">
              <a:solidFill>
                <a:srgbClr val="3A3838"/>
              </a:solidFill>
              <a:latin typeface="DM Sans"/>
              <a:ea typeface="DM Sans"/>
              <a:cs typeface="DM Sans"/>
              <a:sym typeface="DM Sans"/>
            </a:endParaRPr>
          </a:p>
        </p:txBody>
      </p:sp>
      <p:pic>
        <p:nvPicPr>
          <p:cNvPr id="609" name="Google Shape;609;p52"/>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610" name="Google Shape;610;p52"/>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611" name="Google Shape;611;p52"/>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612" name="Google Shape;612;p52"/>
          <p:cNvPicPr preferRelativeResize="0"/>
          <p:nvPr/>
        </p:nvPicPr>
        <p:blipFill rotWithShape="1">
          <a:blip r:embed="rId6">
            <a:alphaModFix/>
          </a:blip>
          <a:srcRect b="0" l="0" r="0" t="0"/>
          <a:stretch/>
        </p:blipFill>
        <p:spPr>
          <a:xfrm>
            <a:off x="6166373" y="3428995"/>
            <a:ext cx="782185" cy="782185"/>
          </a:xfrm>
          <a:prstGeom prst="rect">
            <a:avLst/>
          </a:prstGeom>
          <a:noFill/>
          <a:ln>
            <a:noFill/>
          </a:ln>
        </p:spPr>
      </p:pic>
      <p:pic>
        <p:nvPicPr>
          <p:cNvPr id="613" name="Google Shape;613;p52"/>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614" name="Google Shape;614;p52"/>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615" name="Google Shape;615;p52"/>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616" name="Google Shape;616;p52"/>
          <p:cNvPicPr preferRelativeResize="0"/>
          <p:nvPr/>
        </p:nvPicPr>
        <p:blipFill rotWithShape="1">
          <a:blip r:embed="rId10">
            <a:alphaModFix/>
          </a:blip>
          <a:srcRect b="0" l="0" r="0" t="0"/>
          <a:stretch/>
        </p:blipFill>
        <p:spPr>
          <a:xfrm>
            <a:off x="6166374" y="4325450"/>
            <a:ext cx="782185" cy="782185"/>
          </a:xfrm>
          <a:prstGeom prst="rect">
            <a:avLst/>
          </a:prstGeom>
          <a:noFill/>
          <a:ln>
            <a:noFill/>
          </a:ln>
        </p:spPr>
      </p:pic>
      <p:pic>
        <p:nvPicPr>
          <p:cNvPr id="617" name="Google Shape;617;p52"/>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618" name="Google Shape;618;p52"/>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619" name="Google Shape;619;p52"/>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620" name="Google Shape;620;p52"/>
          <p:cNvPicPr preferRelativeResize="0"/>
          <p:nvPr/>
        </p:nvPicPr>
        <p:blipFill rotWithShape="1">
          <a:blip r:embed="rId14">
            <a:alphaModFix/>
          </a:blip>
          <a:srcRect b="0" l="0" r="0" t="0"/>
          <a:stretch/>
        </p:blipFill>
        <p:spPr>
          <a:xfrm>
            <a:off x="6166374" y="5215813"/>
            <a:ext cx="782185" cy="78218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626" name="Google Shape;626;p5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627" name="Google Shape;627;p53"/>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Usability and Stability</a:t>
            </a:r>
            <a:endParaRPr/>
          </a:p>
        </p:txBody>
      </p:sp>
      <p:sp>
        <p:nvSpPr>
          <p:cNvPr id="628" name="Google Shape;628;p53"/>
          <p:cNvSpPr/>
          <p:nvPr/>
        </p:nvSpPr>
        <p:spPr>
          <a:xfrm>
            <a:off x="416329" y="2595333"/>
            <a:ext cx="14529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Describe Query</a:t>
            </a:r>
            <a:endParaRPr sz="1400">
              <a:solidFill>
                <a:srgbClr val="3A3838"/>
              </a:solidFill>
              <a:latin typeface="DM Sans"/>
              <a:ea typeface="DM Sans"/>
              <a:cs typeface="DM Sans"/>
              <a:sym typeface="DM Sans"/>
            </a:endParaRPr>
          </a:p>
        </p:txBody>
      </p:sp>
      <p:sp>
        <p:nvSpPr>
          <p:cNvPr id="629" name="Google Shape;629;p53"/>
          <p:cNvSpPr/>
          <p:nvPr/>
        </p:nvSpPr>
        <p:spPr>
          <a:xfrm>
            <a:off x="2157993"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Dump Plan</a:t>
            </a:r>
            <a:endParaRPr sz="1400">
              <a:solidFill>
                <a:srgbClr val="3A3838"/>
              </a:solidFill>
              <a:latin typeface="DM Sans"/>
              <a:ea typeface="DM Sans"/>
              <a:cs typeface="DM Sans"/>
              <a:sym typeface="DM Sans"/>
            </a:endParaRPr>
          </a:p>
        </p:txBody>
      </p:sp>
      <p:sp>
        <p:nvSpPr>
          <p:cNvPr id="630" name="Google Shape;630;p53"/>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Explain Formatted</a:t>
            </a:r>
            <a:endParaRPr sz="1400">
              <a:solidFill>
                <a:srgbClr val="3A3838"/>
              </a:solidFill>
              <a:latin typeface="DM Sans"/>
              <a:ea typeface="DM Sans"/>
              <a:cs typeface="DM Sans"/>
              <a:sym typeface="DM Sans"/>
            </a:endParaRPr>
          </a:p>
        </p:txBody>
      </p:sp>
      <p:sp>
        <p:nvSpPr>
          <p:cNvPr id="631" name="Google Shape;631;p53"/>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Test Coverage</a:t>
            </a:r>
            <a:endParaRPr sz="1400">
              <a:solidFill>
                <a:srgbClr val="3A3838"/>
              </a:solidFill>
              <a:latin typeface="DM Sans"/>
              <a:ea typeface="DM Sans"/>
              <a:cs typeface="DM Sans"/>
              <a:sym typeface="DM Sans"/>
            </a:endParaRPr>
          </a:p>
        </p:txBody>
      </p:sp>
      <p:pic>
        <p:nvPicPr>
          <p:cNvPr id="632" name="Google Shape;632;p53"/>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633" name="Google Shape;633;p53"/>
          <p:cNvPicPr preferRelativeResize="0"/>
          <p:nvPr/>
        </p:nvPicPr>
        <p:blipFill rotWithShape="1">
          <a:blip r:embed="rId4">
            <a:alphaModFix/>
          </a:blip>
          <a:srcRect b="0" l="0" r="0" t="0"/>
          <a:stretch/>
        </p:blipFill>
        <p:spPr>
          <a:xfrm>
            <a:off x="2569558" y="3428995"/>
            <a:ext cx="782185" cy="782185"/>
          </a:xfrm>
          <a:prstGeom prst="rect">
            <a:avLst/>
          </a:prstGeom>
          <a:noFill/>
          <a:ln>
            <a:noFill/>
          </a:ln>
        </p:spPr>
      </p:pic>
      <p:pic>
        <p:nvPicPr>
          <p:cNvPr id="634" name="Google Shape;634;p53"/>
          <p:cNvPicPr preferRelativeResize="0"/>
          <p:nvPr/>
        </p:nvPicPr>
        <p:blipFill rotWithShape="1">
          <a:blip r:embed="rId5">
            <a:alphaModFix/>
          </a:blip>
          <a:srcRect b="0" l="0" r="0" t="0"/>
          <a:stretch/>
        </p:blipFill>
        <p:spPr>
          <a:xfrm>
            <a:off x="4374339" y="3428995"/>
            <a:ext cx="782185" cy="782185"/>
          </a:xfrm>
          <a:prstGeom prst="rect">
            <a:avLst/>
          </a:prstGeom>
          <a:noFill/>
          <a:ln>
            <a:noFill/>
          </a:ln>
        </p:spPr>
      </p:pic>
      <p:pic>
        <p:nvPicPr>
          <p:cNvPr id="635" name="Google Shape;635;p53"/>
          <p:cNvPicPr preferRelativeResize="0"/>
          <p:nvPr/>
        </p:nvPicPr>
        <p:blipFill rotWithShape="1">
          <a:blip r:embed="rId6">
            <a:alphaModFix/>
          </a:blip>
          <a:srcRect b="0" l="0" r="0" t="0"/>
          <a:stretch/>
        </p:blipFill>
        <p:spPr>
          <a:xfrm>
            <a:off x="6166373" y="3505195"/>
            <a:ext cx="782185" cy="782185"/>
          </a:xfrm>
          <a:prstGeom prst="rect">
            <a:avLst/>
          </a:prstGeom>
          <a:noFill/>
          <a:ln>
            <a:noFill/>
          </a:ln>
        </p:spPr>
      </p:pic>
      <p:pic>
        <p:nvPicPr>
          <p:cNvPr id="636" name="Google Shape;636;p53"/>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637" name="Google Shape;637;p53"/>
          <p:cNvPicPr preferRelativeResize="0"/>
          <p:nvPr/>
        </p:nvPicPr>
        <p:blipFill rotWithShape="1">
          <a:blip r:embed="rId8">
            <a:alphaModFix/>
          </a:blip>
          <a:srcRect b="0" l="0" r="0" t="0"/>
          <a:stretch/>
        </p:blipFill>
        <p:spPr>
          <a:xfrm>
            <a:off x="2569559" y="4325450"/>
            <a:ext cx="782185" cy="782185"/>
          </a:xfrm>
          <a:prstGeom prst="rect">
            <a:avLst/>
          </a:prstGeom>
          <a:noFill/>
          <a:ln>
            <a:noFill/>
          </a:ln>
        </p:spPr>
      </p:pic>
      <p:pic>
        <p:nvPicPr>
          <p:cNvPr id="638" name="Google Shape;638;p53"/>
          <p:cNvPicPr preferRelativeResize="0"/>
          <p:nvPr/>
        </p:nvPicPr>
        <p:blipFill rotWithShape="1">
          <a:blip r:embed="rId9">
            <a:alphaModFix/>
          </a:blip>
          <a:srcRect b="0" l="0" r="0" t="0"/>
          <a:stretch/>
        </p:blipFill>
        <p:spPr>
          <a:xfrm>
            <a:off x="4374340" y="4325450"/>
            <a:ext cx="782185" cy="782185"/>
          </a:xfrm>
          <a:prstGeom prst="rect">
            <a:avLst/>
          </a:prstGeom>
          <a:noFill/>
          <a:ln>
            <a:noFill/>
          </a:ln>
        </p:spPr>
      </p:pic>
      <p:pic>
        <p:nvPicPr>
          <p:cNvPr id="639" name="Google Shape;639;p53"/>
          <p:cNvPicPr preferRelativeResize="0"/>
          <p:nvPr/>
        </p:nvPicPr>
        <p:blipFill rotWithShape="1">
          <a:blip r:embed="rId10">
            <a:alphaModFix/>
          </a:blip>
          <a:srcRect b="0" l="0" r="0" t="0"/>
          <a:stretch/>
        </p:blipFill>
        <p:spPr>
          <a:xfrm>
            <a:off x="6166374" y="4325450"/>
            <a:ext cx="782185" cy="782185"/>
          </a:xfrm>
          <a:prstGeom prst="rect">
            <a:avLst/>
          </a:prstGeom>
          <a:noFill/>
          <a:ln>
            <a:noFill/>
          </a:ln>
        </p:spPr>
      </p:pic>
      <p:pic>
        <p:nvPicPr>
          <p:cNvPr id="640" name="Google Shape;640;p53"/>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641" name="Google Shape;641;p53"/>
          <p:cNvPicPr preferRelativeResize="0"/>
          <p:nvPr/>
        </p:nvPicPr>
        <p:blipFill rotWithShape="1">
          <a:blip r:embed="rId12">
            <a:alphaModFix/>
          </a:blip>
          <a:srcRect b="0" l="0" r="0" t="0"/>
          <a:stretch/>
        </p:blipFill>
        <p:spPr>
          <a:xfrm>
            <a:off x="2569559" y="5215813"/>
            <a:ext cx="782185" cy="782185"/>
          </a:xfrm>
          <a:prstGeom prst="rect">
            <a:avLst/>
          </a:prstGeom>
          <a:noFill/>
          <a:ln>
            <a:noFill/>
          </a:ln>
        </p:spPr>
      </p:pic>
      <p:pic>
        <p:nvPicPr>
          <p:cNvPr id="642" name="Google Shape;642;p53"/>
          <p:cNvPicPr preferRelativeResize="0"/>
          <p:nvPr/>
        </p:nvPicPr>
        <p:blipFill rotWithShape="1">
          <a:blip r:embed="rId13">
            <a:alphaModFix/>
          </a:blip>
          <a:srcRect b="0" l="0" r="0" t="0"/>
          <a:stretch/>
        </p:blipFill>
        <p:spPr>
          <a:xfrm>
            <a:off x="4374340" y="5215813"/>
            <a:ext cx="782185" cy="782185"/>
          </a:xfrm>
          <a:prstGeom prst="rect">
            <a:avLst/>
          </a:prstGeom>
          <a:noFill/>
          <a:ln>
            <a:noFill/>
          </a:ln>
        </p:spPr>
      </p:pic>
      <p:pic>
        <p:nvPicPr>
          <p:cNvPr id="643" name="Google Shape;643;p53"/>
          <p:cNvPicPr preferRelativeResize="0"/>
          <p:nvPr/>
        </p:nvPicPr>
        <p:blipFill rotWithShape="1">
          <a:blip r:embed="rId14">
            <a:alphaModFix/>
          </a:blip>
          <a:srcRect b="0" l="0" r="0" t="0"/>
          <a:stretch/>
        </p:blipFill>
        <p:spPr>
          <a:xfrm>
            <a:off x="6166374" y="5215813"/>
            <a:ext cx="782185" cy="78218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4"/>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649" name="Google Shape;649;p5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650" name="Google Shape;650;p54"/>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Financial Services</a:t>
            </a:r>
            <a:endParaRPr/>
          </a:p>
        </p:txBody>
      </p:sp>
      <p:sp>
        <p:nvSpPr>
          <p:cNvPr id="651" name="Google Shape;651;p54"/>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Credit Analysis</a:t>
            </a:r>
            <a:endParaRPr sz="1400">
              <a:solidFill>
                <a:srgbClr val="3A3838"/>
              </a:solidFill>
              <a:latin typeface="DM Sans"/>
              <a:ea typeface="DM Sans"/>
              <a:cs typeface="DM Sans"/>
              <a:sym typeface="DM Sans"/>
            </a:endParaRPr>
          </a:p>
        </p:txBody>
      </p:sp>
      <p:sp>
        <p:nvSpPr>
          <p:cNvPr id="652" name="Google Shape;652;p54"/>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Customer Analysis</a:t>
            </a:r>
            <a:endParaRPr sz="1400">
              <a:solidFill>
                <a:srgbClr val="3A3838"/>
              </a:solidFill>
              <a:latin typeface="DM Sans"/>
              <a:ea typeface="DM Sans"/>
              <a:cs typeface="DM Sans"/>
              <a:sym typeface="DM Sans"/>
            </a:endParaRPr>
          </a:p>
        </p:txBody>
      </p:sp>
      <p:sp>
        <p:nvSpPr>
          <p:cNvPr id="653" name="Google Shape;653;p54"/>
          <p:cNvSpPr/>
          <p:nvPr/>
        </p:nvSpPr>
        <p:spPr>
          <a:xfrm>
            <a:off x="4203382" y="2595333"/>
            <a:ext cx="1077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Financial Modeling</a:t>
            </a:r>
            <a:endParaRPr sz="1400">
              <a:solidFill>
                <a:srgbClr val="3A3838"/>
              </a:solidFill>
              <a:latin typeface="DM Sans"/>
              <a:ea typeface="DM Sans"/>
              <a:cs typeface="DM Sans"/>
              <a:sym typeface="DM Sans"/>
            </a:endParaRPr>
          </a:p>
        </p:txBody>
      </p:sp>
      <p:sp>
        <p:nvSpPr>
          <p:cNvPr id="654" name="Google Shape;654;p54"/>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Clr>
                <a:srgbClr val="3A3838"/>
              </a:buClr>
              <a:buSzPts val="1400"/>
              <a:buFont typeface="Barlow"/>
              <a:buNone/>
            </a:pPr>
            <a:r>
              <a:rPr lang="en" sz="1400">
                <a:solidFill>
                  <a:srgbClr val="3A3838"/>
                </a:solidFill>
                <a:latin typeface="Barlow"/>
                <a:ea typeface="Barlow"/>
                <a:cs typeface="Barlow"/>
                <a:sym typeface="Barlow"/>
              </a:rPr>
              <a:t>Financial Services</a:t>
            </a:r>
            <a:endParaRPr sz="1400">
              <a:solidFill>
                <a:srgbClr val="3A3838"/>
              </a:solidFill>
              <a:latin typeface="DM Sans"/>
              <a:ea typeface="DM Sans"/>
              <a:cs typeface="DM Sans"/>
              <a:sym typeface="DM Sans"/>
            </a:endParaRPr>
          </a:p>
        </p:txBody>
      </p:sp>
      <p:pic>
        <p:nvPicPr>
          <p:cNvPr id="655" name="Google Shape;655;p54"/>
          <p:cNvPicPr preferRelativeResize="0"/>
          <p:nvPr/>
        </p:nvPicPr>
        <p:blipFill rotWithShape="1">
          <a:blip r:embed="rId3">
            <a:alphaModFix/>
          </a:blip>
          <a:srcRect b="0" l="0" r="0" t="0"/>
          <a:stretch/>
        </p:blipFill>
        <p:spPr>
          <a:xfrm>
            <a:off x="764806" y="3429015"/>
            <a:ext cx="747009" cy="747007"/>
          </a:xfrm>
          <a:prstGeom prst="rect">
            <a:avLst/>
          </a:prstGeom>
          <a:noFill/>
          <a:ln>
            <a:noFill/>
          </a:ln>
        </p:spPr>
      </p:pic>
      <p:pic>
        <p:nvPicPr>
          <p:cNvPr id="656" name="Google Shape;656;p54"/>
          <p:cNvPicPr preferRelativeResize="0"/>
          <p:nvPr/>
        </p:nvPicPr>
        <p:blipFill rotWithShape="1">
          <a:blip r:embed="rId4">
            <a:alphaModFix/>
          </a:blip>
          <a:srcRect b="0" l="0" r="0" t="0"/>
          <a:stretch/>
        </p:blipFill>
        <p:spPr>
          <a:xfrm>
            <a:off x="2568895" y="3429015"/>
            <a:ext cx="747009" cy="747007"/>
          </a:xfrm>
          <a:prstGeom prst="rect">
            <a:avLst/>
          </a:prstGeom>
          <a:noFill/>
          <a:ln>
            <a:noFill/>
          </a:ln>
        </p:spPr>
      </p:pic>
      <p:pic>
        <p:nvPicPr>
          <p:cNvPr id="657" name="Google Shape;657;p54"/>
          <p:cNvPicPr preferRelativeResize="0"/>
          <p:nvPr/>
        </p:nvPicPr>
        <p:blipFill rotWithShape="1">
          <a:blip r:embed="rId5">
            <a:alphaModFix/>
          </a:blip>
          <a:srcRect b="0" l="0" r="0" t="0"/>
          <a:stretch/>
        </p:blipFill>
        <p:spPr>
          <a:xfrm>
            <a:off x="4372984" y="3429015"/>
            <a:ext cx="747009" cy="747007"/>
          </a:xfrm>
          <a:prstGeom prst="rect">
            <a:avLst/>
          </a:prstGeom>
          <a:noFill/>
          <a:ln>
            <a:noFill/>
          </a:ln>
        </p:spPr>
      </p:pic>
      <p:pic>
        <p:nvPicPr>
          <p:cNvPr id="658" name="Google Shape;658;p54"/>
          <p:cNvPicPr preferRelativeResize="0"/>
          <p:nvPr/>
        </p:nvPicPr>
        <p:blipFill rotWithShape="1">
          <a:blip r:embed="rId6">
            <a:alphaModFix/>
          </a:blip>
          <a:srcRect b="0" l="0" r="0" t="0"/>
          <a:stretch/>
        </p:blipFill>
        <p:spPr>
          <a:xfrm>
            <a:off x="6177041" y="3429015"/>
            <a:ext cx="747009" cy="747007"/>
          </a:xfrm>
          <a:prstGeom prst="rect">
            <a:avLst/>
          </a:prstGeom>
          <a:noFill/>
          <a:ln>
            <a:noFill/>
          </a:ln>
        </p:spPr>
      </p:pic>
      <p:pic>
        <p:nvPicPr>
          <p:cNvPr id="659" name="Google Shape;659;p54"/>
          <p:cNvPicPr preferRelativeResize="0"/>
          <p:nvPr/>
        </p:nvPicPr>
        <p:blipFill rotWithShape="1">
          <a:blip r:embed="rId7">
            <a:alphaModFix/>
          </a:blip>
          <a:srcRect b="0" l="0" r="0" t="0"/>
          <a:stretch/>
        </p:blipFill>
        <p:spPr>
          <a:xfrm>
            <a:off x="7981097" y="3429015"/>
            <a:ext cx="747009" cy="747007"/>
          </a:xfrm>
          <a:prstGeom prst="rect">
            <a:avLst/>
          </a:prstGeom>
          <a:noFill/>
          <a:ln>
            <a:noFill/>
          </a:ln>
        </p:spPr>
      </p:pic>
      <p:pic>
        <p:nvPicPr>
          <p:cNvPr id="660" name="Google Shape;660;p54"/>
          <p:cNvPicPr preferRelativeResize="0"/>
          <p:nvPr/>
        </p:nvPicPr>
        <p:blipFill rotWithShape="1">
          <a:blip r:embed="rId8">
            <a:alphaModFix/>
          </a:blip>
          <a:srcRect b="0" l="0" r="0" t="0"/>
          <a:stretch/>
        </p:blipFill>
        <p:spPr>
          <a:xfrm>
            <a:off x="9785186" y="3429015"/>
            <a:ext cx="747009" cy="747007"/>
          </a:xfrm>
          <a:prstGeom prst="rect">
            <a:avLst/>
          </a:prstGeom>
          <a:noFill/>
          <a:ln>
            <a:noFill/>
          </a:ln>
        </p:spPr>
      </p:pic>
      <p:pic>
        <p:nvPicPr>
          <p:cNvPr id="661" name="Google Shape;661;p54"/>
          <p:cNvPicPr preferRelativeResize="0"/>
          <p:nvPr/>
        </p:nvPicPr>
        <p:blipFill rotWithShape="1">
          <a:blip r:embed="rId9">
            <a:alphaModFix/>
          </a:blip>
          <a:srcRect b="0" l="0" r="0" t="0"/>
          <a:stretch/>
        </p:blipFill>
        <p:spPr>
          <a:xfrm>
            <a:off x="764806" y="4292841"/>
            <a:ext cx="747009" cy="747007"/>
          </a:xfrm>
          <a:prstGeom prst="rect">
            <a:avLst/>
          </a:prstGeom>
          <a:noFill/>
          <a:ln>
            <a:noFill/>
          </a:ln>
        </p:spPr>
      </p:pic>
      <p:pic>
        <p:nvPicPr>
          <p:cNvPr id="662" name="Google Shape;662;p54"/>
          <p:cNvPicPr preferRelativeResize="0"/>
          <p:nvPr/>
        </p:nvPicPr>
        <p:blipFill rotWithShape="1">
          <a:blip r:embed="rId10">
            <a:alphaModFix/>
          </a:blip>
          <a:srcRect b="0" l="0" r="0" t="0"/>
          <a:stretch/>
        </p:blipFill>
        <p:spPr>
          <a:xfrm>
            <a:off x="2568895" y="4292841"/>
            <a:ext cx="747009" cy="747007"/>
          </a:xfrm>
          <a:prstGeom prst="rect">
            <a:avLst/>
          </a:prstGeom>
          <a:noFill/>
          <a:ln>
            <a:noFill/>
          </a:ln>
        </p:spPr>
      </p:pic>
      <p:pic>
        <p:nvPicPr>
          <p:cNvPr id="663" name="Google Shape;663;p54"/>
          <p:cNvPicPr preferRelativeResize="0"/>
          <p:nvPr/>
        </p:nvPicPr>
        <p:blipFill rotWithShape="1">
          <a:blip r:embed="rId11">
            <a:alphaModFix/>
          </a:blip>
          <a:srcRect b="0" l="0" r="0" t="0"/>
          <a:stretch/>
        </p:blipFill>
        <p:spPr>
          <a:xfrm>
            <a:off x="4372984" y="4292841"/>
            <a:ext cx="747009" cy="747007"/>
          </a:xfrm>
          <a:prstGeom prst="rect">
            <a:avLst/>
          </a:prstGeom>
          <a:noFill/>
          <a:ln>
            <a:noFill/>
          </a:ln>
        </p:spPr>
      </p:pic>
      <p:pic>
        <p:nvPicPr>
          <p:cNvPr id="664" name="Google Shape;664;p54"/>
          <p:cNvPicPr preferRelativeResize="0"/>
          <p:nvPr/>
        </p:nvPicPr>
        <p:blipFill rotWithShape="1">
          <a:blip r:embed="rId12">
            <a:alphaModFix/>
          </a:blip>
          <a:srcRect b="0" l="0" r="0" t="0"/>
          <a:stretch/>
        </p:blipFill>
        <p:spPr>
          <a:xfrm>
            <a:off x="6177041" y="4292841"/>
            <a:ext cx="747009" cy="747007"/>
          </a:xfrm>
          <a:prstGeom prst="rect">
            <a:avLst/>
          </a:prstGeom>
          <a:noFill/>
          <a:ln>
            <a:noFill/>
          </a:ln>
        </p:spPr>
      </p:pic>
      <p:pic>
        <p:nvPicPr>
          <p:cNvPr id="665" name="Google Shape;665;p54"/>
          <p:cNvPicPr preferRelativeResize="0"/>
          <p:nvPr/>
        </p:nvPicPr>
        <p:blipFill rotWithShape="1">
          <a:blip r:embed="rId13">
            <a:alphaModFix/>
          </a:blip>
          <a:srcRect b="0" l="0" r="0" t="0"/>
          <a:stretch/>
        </p:blipFill>
        <p:spPr>
          <a:xfrm>
            <a:off x="7981097" y="4292841"/>
            <a:ext cx="747009" cy="747007"/>
          </a:xfrm>
          <a:prstGeom prst="rect">
            <a:avLst/>
          </a:prstGeom>
          <a:noFill/>
          <a:ln>
            <a:noFill/>
          </a:ln>
        </p:spPr>
      </p:pic>
      <p:pic>
        <p:nvPicPr>
          <p:cNvPr id="666" name="Google Shape;666;p54"/>
          <p:cNvPicPr preferRelativeResize="0"/>
          <p:nvPr/>
        </p:nvPicPr>
        <p:blipFill rotWithShape="1">
          <a:blip r:embed="rId14">
            <a:alphaModFix/>
          </a:blip>
          <a:srcRect b="0" l="0" r="0" t="0"/>
          <a:stretch/>
        </p:blipFill>
        <p:spPr>
          <a:xfrm>
            <a:off x="9785186" y="4292841"/>
            <a:ext cx="747009" cy="747007"/>
          </a:xfrm>
          <a:prstGeom prst="rect">
            <a:avLst/>
          </a:prstGeom>
          <a:noFill/>
          <a:ln>
            <a:noFill/>
          </a:ln>
        </p:spPr>
      </p:pic>
      <p:pic>
        <p:nvPicPr>
          <p:cNvPr id="667" name="Google Shape;667;p54"/>
          <p:cNvPicPr preferRelativeResize="0"/>
          <p:nvPr/>
        </p:nvPicPr>
        <p:blipFill rotWithShape="1">
          <a:blip r:embed="rId15">
            <a:alphaModFix/>
          </a:blip>
          <a:srcRect b="0" l="0" r="0" t="0"/>
          <a:stretch/>
        </p:blipFill>
        <p:spPr>
          <a:xfrm>
            <a:off x="764806" y="5157337"/>
            <a:ext cx="747009" cy="747007"/>
          </a:xfrm>
          <a:prstGeom prst="rect">
            <a:avLst/>
          </a:prstGeom>
          <a:noFill/>
          <a:ln>
            <a:noFill/>
          </a:ln>
        </p:spPr>
      </p:pic>
      <p:pic>
        <p:nvPicPr>
          <p:cNvPr id="668" name="Google Shape;668;p54"/>
          <p:cNvPicPr preferRelativeResize="0"/>
          <p:nvPr/>
        </p:nvPicPr>
        <p:blipFill rotWithShape="1">
          <a:blip r:embed="rId16">
            <a:alphaModFix/>
          </a:blip>
          <a:srcRect b="0" l="0" r="0" t="0"/>
          <a:stretch/>
        </p:blipFill>
        <p:spPr>
          <a:xfrm>
            <a:off x="2568895" y="5157337"/>
            <a:ext cx="747009" cy="747007"/>
          </a:xfrm>
          <a:prstGeom prst="rect">
            <a:avLst/>
          </a:prstGeom>
          <a:noFill/>
          <a:ln>
            <a:noFill/>
          </a:ln>
        </p:spPr>
      </p:pic>
      <p:pic>
        <p:nvPicPr>
          <p:cNvPr id="669" name="Google Shape;669;p54"/>
          <p:cNvPicPr preferRelativeResize="0"/>
          <p:nvPr/>
        </p:nvPicPr>
        <p:blipFill rotWithShape="1">
          <a:blip r:embed="rId17">
            <a:alphaModFix/>
          </a:blip>
          <a:srcRect b="0" l="0" r="0" t="0"/>
          <a:stretch/>
        </p:blipFill>
        <p:spPr>
          <a:xfrm>
            <a:off x="4372984" y="5157337"/>
            <a:ext cx="747009" cy="747007"/>
          </a:xfrm>
          <a:prstGeom prst="rect">
            <a:avLst/>
          </a:prstGeom>
          <a:noFill/>
          <a:ln>
            <a:noFill/>
          </a:ln>
        </p:spPr>
      </p:pic>
      <p:pic>
        <p:nvPicPr>
          <p:cNvPr id="670" name="Google Shape;670;p54"/>
          <p:cNvPicPr preferRelativeResize="0"/>
          <p:nvPr/>
        </p:nvPicPr>
        <p:blipFill rotWithShape="1">
          <a:blip r:embed="rId18">
            <a:alphaModFix/>
          </a:blip>
          <a:srcRect b="0" l="0" r="0" t="0"/>
          <a:stretch/>
        </p:blipFill>
        <p:spPr>
          <a:xfrm>
            <a:off x="6177041" y="5157337"/>
            <a:ext cx="747009" cy="747007"/>
          </a:xfrm>
          <a:prstGeom prst="rect">
            <a:avLst/>
          </a:prstGeom>
          <a:noFill/>
          <a:ln>
            <a:noFill/>
          </a:ln>
        </p:spPr>
      </p:pic>
      <p:pic>
        <p:nvPicPr>
          <p:cNvPr id="671" name="Google Shape;671;p54"/>
          <p:cNvPicPr preferRelativeResize="0"/>
          <p:nvPr/>
        </p:nvPicPr>
        <p:blipFill rotWithShape="1">
          <a:blip r:embed="rId19">
            <a:alphaModFix/>
          </a:blip>
          <a:srcRect b="0" l="0" r="0" t="0"/>
          <a:stretch/>
        </p:blipFill>
        <p:spPr>
          <a:xfrm>
            <a:off x="7981097" y="5157337"/>
            <a:ext cx="747009" cy="747007"/>
          </a:xfrm>
          <a:prstGeom prst="rect">
            <a:avLst/>
          </a:prstGeom>
          <a:noFill/>
          <a:ln>
            <a:noFill/>
          </a:ln>
        </p:spPr>
      </p:pic>
      <p:pic>
        <p:nvPicPr>
          <p:cNvPr id="672" name="Google Shape;672;p54"/>
          <p:cNvPicPr preferRelativeResize="0"/>
          <p:nvPr/>
        </p:nvPicPr>
        <p:blipFill rotWithShape="1">
          <a:blip r:embed="rId20">
            <a:alphaModFix/>
          </a:blip>
          <a:srcRect b="0" l="0" r="0" t="0"/>
          <a:stretch/>
        </p:blipFill>
        <p:spPr>
          <a:xfrm>
            <a:off x="9785186" y="5157337"/>
            <a:ext cx="747009" cy="747007"/>
          </a:xfrm>
          <a:prstGeom prst="rect">
            <a:avLst/>
          </a:prstGeom>
          <a:noFill/>
          <a:ln>
            <a:noFill/>
          </a:ln>
        </p:spPr>
      </p:pic>
      <p:sp>
        <p:nvSpPr>
          <p:cNvPr id="673" name="Google Shape;673;p54"/>
          <p:cNvSpPr/>
          <p:nvPr/>
        </p:nvSpPr>
        <p:spPr>
          <a:xfrm>
            <a:off x="780804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Marketing Analysis</a:t>
            </a:r>
            <a:endParaRPr sz="1400">
              <a:solidFill>
                <a:srgbClr val="3A3838"/>
              </a:solidFill>
              <a:latin typeface="DM Sans"/>
              <a:ea typeface="DM Sans"/>
              <a:cs typeface="DM Sans"/>
              <a:sym typeface="DM Sans"/>
            </a:endParaRPr>
          </a:p>
        </p:txBody>
      </p:sp>
      <p:sp>
        <p:nvSpPr>
          <p:cNvPr id="674" name="Google Shape;674;p54"/>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Risk/Fraud Detection</a:t>
            </a:r>
            <a:endParaRPr i="0" sz="1100" u="none" cap="none" strike="noStrike">
              <a:solidFill>
                <a:srgbClr val="3A3838"/>
              </a:solidFill>
              <a:latin typeface="DM Sans"/>
              <a:ea typeface="DM Sans"/>
              <a:cs typeface="DM Sans"/>
              <a:sym typeface="DM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5"/>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680" name="Google Shape;680;p5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681" name="Google Shape;681;p55"/>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Healthcare and Life Sciences</a:t>
            </a:r>
            <a:endParaRPr/>
          </a:p>
        </p:txBody>
      </p:sp>
      <p:sp>
        <p:nvSpPr>
          <p:cNvPr id="682" name="Google Shape;682;p55"/>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Clinical Data</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683" name="Google Shape;683;p55"/>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Genomics</a:t>
            </a:r>
            <a:endParaRPr sz="1400">
              <a:solidFill>
                <a:srgbClr val="3A3838"/>
              </a:solidFill>
              <a:latin typeface="DM Sans"/>
              <a:ea typeface="DM Sans"/>
              <a:cs typeface="DM Sans"/>
              <a:sym typeface="DM Sans"/>
            </a:endParaRPr>
          </a:p>
        </p:txBody>
      </p:sp>
      <p:sp>
        <p:nvSpPr>
          <p:cNvPr id="684" name="Google Shape;684;p55"/>
          <p:cNvSpPr/>
          <p:nvPr/>
        </p:nvSpPr>
        <p:spPr>
          <a:xfrm>
            <a:off x="4203382" y="2595333"/>
            <a:ext cx="1077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Healthcare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685" name="Google Shape;685;p55"/>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None/>
            </a:pPr>
            <a:r>
              <a:rPr lang="en" sz="1400">
                <a:solidFill>
                  <a:srgbClr val="3A3838"/>
                </a:solidFill>
                <a:latin typeface="Barlow"/>
                <a:ea typeface="Barlow"/>
                <a:cs typeface="Barlow"/>
                <a:sym typeface="Barlow"/>
              </a:rPr>
              <a:t>Medical Imaging</a:t>
            </a:r>
            <a:endParaRPr sz="1400">
              <a:solidFill>
                <a:srgbClr val="3A3838"/>
              </a:solidFill>
              <a:latin typeface="Barlow"/>
              <a:ea typeface="Barlow"/>
              <a:cs typeface="Barlow"/>
              <a:sym typeface="Barlow"/>
            </a:endParaRPr>
          </a:p>
          <a:p>
            <a:pPr indent="0" lvl="0" marL="0" rtl="0" algn="ctr">
              <a:spcBef>
                <a:spcPts val="0"/>
              </a:spcBef>
              <a:spcAft>
                <a:spcPts val="0"/>
              </a:spcAft>
              <a:buNone/>
            </a:pPr>
            <a:r>
              <a:t/>
            </a:r>
            <a:endParaRPr sz="1400">
              <a:solidFill>
                <a:srgbClr val="3A3838"/>
              </a:solidFill>
              <a:latin typeface="Barlow"/>
              <a:ea typeface="Barlow"/>
              <a:cs typeface="Barlow"/>
              <a:sym typeface="Barlow"/>
            </a:endParaRPr>
          </a:p>
          <a:p>
            <a:pPr indent="0" lvl="0" marL="0" rtl="0" algn="ctr">
              <a:spcBef>
                <a:spcPts val="0"/>
              </a:spcBef>
              <a:spcAft>
                <a:spcPts val="0"/>
              </a:spcAft>
              <a:buClr>
                <a:srgbClr val="3A3838"/>
              </a:buClr>
              <a:buSzPts val="1400"/>
              <a:buFont typeface="Barlow"/>
              <a:buNone/>
            </a:pPr>
            <a:r>
              <a:t/>
            </a:r>
            <a:endParaRPr sz="1400">
              <a:solidFill>
                <a:srgbClr val="3A3838"/>
              </a:solidFill>
              <a:latin typeface="Barlow"/>
              <a:ea typeface="Barlow"/>
              <a:cs typeface="Barlow"/>
              <a:sym typeface="Barlow"/>
            </a:endParaRPr>
          </a:p>
        </p:txBody>
      </p:sp>
      <p:sp>
        <p:nvSpPr>
          <p:cNvPr id="686" name="Google Shape;686;p55"/>
          <p:cNvSpPr/>
          <p:nvPr/>
        </p:nvSpPr>
        <p:spPr>
          <a:xfrm>
            <a:off x="780804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Medical IoT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687" name="Google Shape;687;p55"/>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Social Medicine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pic>
        <p:nvPicPr>
          <p:cNvPr id="688" name="Google Shape;688;p55"/>
          <p:cNvPicPr preferRelativeResize="0"/>
          <p:nvPr/>
        </p:nvPicPr>
        <p:blipFill rotWithShape="1">
          <a:blip r:embed="rId3">
            <a:alphaModFix/>
          </a:blip>
          <a:srcRect b="0" l="0" r="0" t="0"/>
          <a:stretch/>
        </p:blipFill>
        <p:spPr>
          <a:xfrm>
            <a:off x="764812" y="3429005"/>
            <a:ext cx="748172" cy="748168"/>
          </a:xfrm>
          <a:prstGeom prst="rect">
            <a:avLst/>
          </a:prstGeom>
          <a:noFill/>
          <a:ln>
            <a:noFill/>
          </a:ln>
        </p:spPr>
      </p:pic>
      <p:pic>
        <p:nvPicPr>
          <p:cNvPr id="689" name="Google Shape;689;p55"/>
          <p:cNvPicPr preferRelativeResize="0"/>
          <p:nvPr/>
        </p:nvPicPr>
        <p:blipFill rotWithShape="1">
          <a:blip r:embed="rId4">
            <a:alphaModFix/>
          </a:blip>
          <a:srcRect b="0" l="0" r="0" t="0"/>
          <a:stretch/>
        </p:blipFill>
        <p:spPr>
          <a:xfrm>
            <a:off x="2565425" y="3429005"/>
            <a:ext cx="748172" cy="748168"/>
          </a:xfrm>
          <a:prstGeom prst="rect">
            <a:avLst/>
          </a:prstGeom>
          <a:noFill/>
          <a:ln>
            <a:noFill/>
          </a:ln>
        </p:spPr>
      </p:pic>
      <p:pic>
        <p:nvPicPr>
          <p:cNvPr id="690" name="Google Shape;690;p55"/>
          <p:cNvPicPr preferRelativeResize="0"/>
          <p:nvPr/>
        </p:nvPicPr>
        <p:blipFill rotWithShape="1">
          <a:blip r:embed="rId5">
            <a:alphaModFix/>
          </a:blip>
          <a:srcRect b="0" l="0" r="0" t="0"/>
          <a:stretch/>
        </p:blipFill>
        <p:spPr>
          <a:xfrm>
            <a:off x="4366031" y="3429005"/>
            <a:ext cx="748171" cy="748168"/>
          </a:xfrm>
          <a:prstGeom prst="rect">
            <a:avLst/>
          </a:prstGeom>
          <a:noFill/>
          <a:ln>
            <a:noFill/>
          </a:ln>
        </p:spPr>
      </p:pic>
      <p:pic>
        <p:nvPicPr>
          <p:cNvPr id="691" name="Google Shape;691;p55"/>
          <p:cNvPicPr preferRelativeResize="0"/>
          <p:nvPr/>
        </p:nvPicPr>
        <p:blipFill rotWithShape="1">
          <a:blip r:embed="rId6">
            <a:alphaModFix/>
          </a:blip>
          <a:srcRect b="0" l="0" r="0" t="0"/>
          <a:stretch/>
        </p:blipFill>
        <p:spPr>
          <a:xfrm>
            <a:off x="6146826" y="3429005"/>
            <a:ext cx="748172" cy="748168"/>
          </a:xfrm>
          <a:prstGeom prst="rect">
            <a:avLst/>
          </a:prstGeom>
          <a:noFill/>
          <a:ln>
            <a:noFill/>
          </a:ln>
        </p:spPr>
      </p:pic>
      <p:pic>
        <p:nvPicPr>
          <p:cNvPr id="692" name="Google Shape;692;p55"/>
          <p:cNvPicPr preferRelativeResize="0"/>
          <p:nvPr/>
        </p:nvPicPr>
        <p:blipFill rotWithShape="1">
          <a:blip r:embed="rId7">
            <a:alphaModFix/>
          </a:blip>
          <a:srcRect b="0" l="0" r="0" t="0"/>
          <a:stretch/>
        </p:blipFill>
        <p:spPr>
          <a:xfrm>
            <a:off x="7967227" y="3429005"/>
            <a:ext cx="748171" cy="748168"/>
          </a:xfrm>
          <a:prstGeom prst="rect">
            <a:avLst/>
          </a:prstGeom>
          <a:noFill/>
          <a:ln>
            <a:noFill/>
          </a:ln>
        </p:spPr>
      </p:pic>
      <p:pic>
        <p:nvPicPr>
          <p:cNvPr id="693" name="Google Shape;693;p55"/>
          <p:cNvPicPr preferRelativeResize="0"/>
          <p:nvPr/>
        </p:nvPicPr>
        <p:blipFill rotWithShape="1">
          <a:blip r:embed="rId8">
            <a:alphaModFix/>
          </a:blip>
          <a:srcRect b="0" l="0" r="0" t="0"/>
          <a:stretch/>
        </p:blipFill>
        <p:spPr>
          <a:xfrm>
            <a:off x="9787629" y="3429005"/>
            <a:ext cx="748171" cy="748168"/>
          </a:xfrm>
          <a:prstGeom prst="rect">
            <a:avLst/>
          </a:prstGeom>
          <a:noFill/>
          <a:ln>
            <a:noFill/>
          </a:ln>
        </p:spPr>
      </p:pic>
      <p:pic>
        <p:nvPicPr>
          <p:cNvPr id="694" name="Google Shape;694;p55"/>
          <p:cNvPicPr preferRelativeResize="0"/>
          <p:nvPr/>
        </p:nvPicPr>
        <p:blipFill rotWithShape="1">
          <a:blip r:embed="rId9">
            <a:alphaModFix/>
          </a:blip>
          <a:srcRect b="0" l="0" r="0" t="0"/>
          <a:stretch/>
        </p:blipFill>
        <p:spPr>
          <a:xfrm>
            <a:off x="764812" y="4294176"/>
            <a:ext cx="748172" cy="748168"/>
          </a:xfrm>
          <a:prstGeom prst="rect">
            <a:avLst/>
          </a:prstGeom>
          <a:noFill/>
          <a:ln>
            <a:noFill/>
          </a:ln>
        </p:spPr>
      </p:pic>
      <p:pic>
        <p:nvPicPr>
          <p:cNvPr id="695" name="Google Shape;695;p55"/>
          <p:cNvPicPr preferRelativeResize="0"/>
          <p:nvPr/>
        </p:nvPicPr>
        <p:blipFill rotWithShape="1">
          <a:blip r:embed="rId10">
            <a:alphaModFix/>
          </a:blip>
          <a:srcRect b="0" l="0" r="0" t="0"/>
          <a:stretch/>
        </p:blipFill>
        <p:spPr>
          <a:xfrm>
            <a:off x="2565425" y="4294176"/>
            <a:ext cx="748172" cy="748168"/>
          </a:xfrm>
          <a:prstGeom prst="rect">
            <a:avLst/>
          </a:prstGeom>
          <a:noFill/>
          <a:ln>
            <a:noFill/>
          </a:ln>
        </p:spPr>
      </p:pic>
      <p:pic>
        <p:nvPicPr>
          <p:cNvPr id="696" name="Google Shape;696;p55"/>
          <p:cNvPicPr preferRelativeResize="0"/>
          <p:nvPr/>
        </p:nvPicPr>
        <p:blipFill rotWithShape="1">
          <a:blip r:embed="rId11">
            <a:alphaModFix/>
          </a:blip>
          <a:srcRect b="0" l="0" r="0" t="0"/>
          <a:stretch/>
        </p:blipFill>
        <p:spPr>
          <a:xfrm>
            <a:off x="4366031" y="4294176"/>
            <a:ext cx="748171" cy="748168"/>
          </a:xfrm>
          <a:prstGeom prst="rect">
            <a:avLst/>
          </a:prstGeom>
          <a:noFill/>
          <a:ln>
            <a:noFill/>
          </a:ln>
        </p:spPr>
      </p:pic>
      <p:pic>
        <p:nvPicPr>
          <p:cNvPr id="697" name="Google Shape;697;p55"/>
          <p:cNvPicPr preferRelativeResize="0"/>
          <p:nvPr/>
        </p:nvPicPr>
        <p:blipFill rotWithShape="1">
          <a:blip r:embed="rId12">
            <a:alphaModFix/>
          </a:blip>
          <a:srcRect b="0" l="0" r="0" t="0"/>
          <a:stretch/>
        </p:blipFill>
        <p:spPr>
          <a:xfrm>
            <a:off x="6146826" y="4294176"/>
            <a:ext cx="748172" cy="748168"/>
          </a:xfrm>
          <a:prstGeom prst="rect">
            <a:avLst/>
          </a:prstGeom>
          <a:noFill/>
          <a:ln>
            <a:noFill/>
          </a:ln>
        </p:spPr>
      </p:pic>
      <p:pic>
        <p:nvPicPr>
          <p:cNvPr id="698" name="Google Shape;698;p55"/>
          <p:cNvPicPr preferRelativeResize="0"/>
          <p:nvPr/>
        </p:nvPicPr>
        <p:blipFill rotWithShape="1">
          <a:blip r:embed="rId13">
            <a:alphaModFix/>
          </a:blip>
          <a:srcRect b="0" l="0" r="0" t="0"/>
          <a:stretch/>
        </p:blipFill>
        <p:spPr>
          <a:xfrm>
            <a:off x="7967227" y="4294176"/>
            <a:ext cx="748171" cy="748168"/>
          </a:xfrm>
          <a:prstGeom prst="rect">
            <a:avLst/>
          </a:prstGeom>
          <a:noFill/>
          <a:ln>
            <a:noFill/>
          </a:ln>
        </p:spPr>
      </p:pic>
      <p:pic>
        <p:nvPicPr>
          <p:cNvPr id="699" name="Google Shape;699;p55"/>
          <p:cNvPicPr preferRelativeResize="0"/>
          <p:nvPr/>
        </p:nvPicPr>
        <p:blipFill rotWithShape="1">
          <a:blip r:embed="rId14">
            <a:alphaModFix/>
          </a:blip>
          <a:srcRect b="0" l="0" r="0" t="0"/>
          <a:stretch/>
        </p:blipFill>
        <p:spPr>
          <a:xfrm>
            <a:off x="9787629" y="4294176"/>
            <a:ext cx="748171" cy="748168"/>
          </a:xfrm>
          <a:prstGeom prst="rect">
            <a:avLst/>
          </a:prstGeom>
          <a:noFill/>
          <a:ln>
            <a:noFill/>
          </a:ln>
        </p:spPr>
      </p:pic>
      <p:pic>
        <p:nvPicPr>
          <p:cNvPr id="700" name="Google Shape;700;p55"/>
          <p:cNvPicPr preferRelativeResize="0"/>
          <p:nvPr/>
        </p:nvPicPr>
        <p:blipFill rotWithShape="1">
          <a:blip r:embed="rId15">
            <a:alphaModFix/>
          </a:blip>
          <a:srcRect b="0" l="0" r="0" t="0"/>
          <a:stretch/>
        </p:blipFill>
        <p:spPr>
          <a:xfrm>
            <a:off x="764812" y="5164740"/>
            <a:ext cx="748172" cy="748168"/>
          </a:xfrm>
          <a:prstGeom prst="rect">
            <a:avLst/>
          </a:prstGeom>
          <a:noFill/>
          <a:ln>
            <a:noFill/>
          </a:ln>
        </p:spPr>
      </p:pic>
      <p:pic>
        <p:nvPicPr>
          <p:cNvPr id="701" name="Google Shape;701;p55"/>
          <p:cNvPicPr preferRelativeResize="0"/>
          <p:nvPr/>
        </p:nvPicPr>
        <p:blipFill rotWithShape="1">
          <a:blip r:embed="rId16">
            <a:alphaModFix/>
          </a:blip>
          <a:srcRect b="0" l="0" r="0" t="0"/>
          <a:stretch/>
        </p:blipFill>
        <p:spPr>
          <a:xfrm>
            <a:off x="2565425" y="5164740"/>
            <a:ext cx="748172" cy="748168"/>
          </a:xfrm>
          <a:prstGeom prst="rect">
            <a:avLst/>
          </a:prstGeom>
          <a:noFill/>
          <a:ln>
            <a:noFill/>
          </a:ln>
        </p:spPr>
      </p:pic>
      <p:pic>
        <p:nvPicPr>
          <p:cNvPr id="702" name="Google Shape;702;p55"/>
          <p:cNvPicPr preferRelativeResize="0"/>
          <p:nvPr/>
        </p:nvPicPr>
        <p:blipFill rotWithShape="1">
          <a:blip r:embed="rId17">
            <a:alphaModFix/>
          </a:blip>
          <a:srcRect b="0" l="0" r="0" t="0"/>
          <a:stretch/>
        </p:blipFill>
        <p:spPr>
          <a:xfrm>
            <a:off x="4366031" y="5164740"/>
            <a:ext cx="748171" cy="748168"/>
          </a:xfrm>
          <a:prstGeom prst="rect">
            <a:avLst/>
          </a:prstGeom>
          <a:noFill/>
          <a:ln>
            <a:noFill/>
          </a:ln>
        </p:spPr>
      </p:pic>
      <p:pic>
        <p:nvPicPr>
          <p:cNvPr id="703" name="Google Shape;703;p55"/>
          <p:cNvPicPr preferRelativeResize="0"/>
          <p:nvPr/>
        </p:nvPicPr>
        <p:blipFill rotWithShape="1">
          <a:blip r:embed="rId18">
            <a:alphaModFix/>
          </a:blip>
          <a:srcRect b="0" l="0" r="0" t="0"/>
          <a:stretch/>
        </p:blipFill>
        <p:spPr>
          <a:xfrm>
            <a:off x="6146826" y="5164740"/>
            <a:ext cx="748172" cy="748168"/>
          </a:xfrm>
          <a:prstGeom prst="rect">
            <a:avLst/>
          </a:prstGeom>
          <a:noFill/>
          <a:ln>
            <a:noFill/>
          </a:ln>
        </p:spPr>
      </p:pic>
      <p:pic>
        <p:nvPicPr>
          <p:cNvPr id="704" name="Google Shape;704;p55"/>
          <p:cNvPicPr preferRelativeResize="0"/>
          <p:nvPr/>
        </p:nvPicPr>
        <p:blipFill rotWithShape="1">
          <a:blip r:embed="rId19">
            <a:alphaModFix/>
          </a:blip>
          <a:srcRect b="0" l="0" r="0" t="0"/>
          <a:stretch/>
        </p:blipFill>
        <p:spPr>
          <a:xfrm>
            <a:off x="7967227" y="5164740"/>
            <a:ext cx="748171" cy="748168"/>
          </a:xfrm>
          <a:prstGeom prst="rect">
            <a:avLst/>
          </a:prstGeom>
          <a:noFill/>
          <a:ln>
            <a:noFill/>
          </a:ln>
        </p:spPr>
      </p:pic>
      <p:pic>
        <p:nvPicPr>
          <p:cNvPr id="705" name="Google Shape;705;p55"/>
          <p:cNvPicPr preferRelativeResize="0"/>
          <p:nvPr/>
        </p:nvPicPr>
        <p:blipFill rotWithShape="1">
          <a:blip r:embed="rId20">
            <a:alphaModFix/>
          </a:blip>
          <a:srcRect b="0" l="0" r="0" t="0"/>
          <a:stretch/>
        </p:blipFill>
        <p:spPr>
          <a:xfrm>
            <a:off x="9787629" y="5164740"/>
            <a:ext cx="748171" cy="74816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711" name="Google Shape;711;p5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712" name="Google Shape;712;p56"/>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Media and Entertainment</a:t>
            </a:r>
            <a:endParaRPr/>
          </a:p>
        </p:txBody>
      </p:sp>
      <p:sp>
        <p:nvSpPr>
          <p:cNvPr id="713" name="Google Shape;713;p56"/>
          <p:cNvSpPr/>
          <p:nvPr/>
        </p:nvSpPr>
        <p:spPr>
          <a:xfrm>
            <a:off x="496076" y="2595333"/>
            <a:ext cx="1293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Personalization</a:t>
            </a:r>
            <a:endParaRPr sz="1400">
              <a:solidFill>
                <a:srgbClr val="3A3838"/>
              </a:solidFill>
              <a:latin typeface="DM Sans"/>
              <a:ea typeface="DM Sans"/>
              <a:cs typeface="DM Sans"/>
              <a:sym typeface="DM Sans"/>
            </a:endParaRPr>
          </a:p>
        </p:txBody>
      </p:sp>
      <p:sp>
        <p:nvSpPr>
          <p:cNvPr id="714" name="Google Shape;714;p56"/>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Churn Prevention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715" name="Google Shape;715;p56"/>
          <p:cNvSpPr/>
          <p:nvPr/>
        </p:nvSpPr>
        <p:spPr>
          <a:xfrm>
            <a:off x="4010663" y="2595333"/>
            <a:ext cx="146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Media Entertainment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716" name="Google Shape;716;p56"/>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None/>
            </a:pPr>
            <a:r>
              <a:rPr lang="en" sz="1400">
                <a:solidFill>
                  <a:srgbClr val="3A3838"/>
                </a:solidFill>
                <a:latin typeface="Barlow"/>
                <a:ea typeface="Barlow"/>
                <a:cs typeface="Barlow"/>
                <a:sym typeface="Barlow"/>
              </a:rPr>
              <a:t>Predictive Analytics</a:t>
            </a:r>
            <a:endParaRPr sz="1400">
              <a:solidFill>
                <a:srgbClr val="3A3838"/>
              </a:solidFill>
              <a:latin typeface="Barlow"/>
              <a:ea typeface="Barlow"/>
              <a:cs typeface="Barlow"/>
              <a:sym typeface="Barlow"/>
            </a:endParaRPr>
          </a:p>
          <a:p>
            <a:pPr indent="0" lvl="0" marL="0" rtl="0" algn="ctr">
              <a:spcBef>
                <a:spcPts val="0"/>
              </a:spcBef>
              <a:spcAft>
                <a:spcPts val="0"/>
              </a:spcAft>
              <a:buNone/>
            </a:pPr>
            <a:r>
              <a:t/>
            </a:r>
            <a:endParaRPr sz="1400">
              <a:solidFill>
                <a:srgbClr val="3A3838"/>
              </a:solidFill>
              <a:latin typeface="Barlow"/>
              <a:ea typeface="Barlow"/>
              <a:cs typeface="Barlow"/>
              <a:sym typeface="Barlow"/>
            </a:endParaRPr>
          </a:p>
          <a:p>
            <a:pPr indent="0" lvl="0" marL="0" rtl="0" algn="ctr">
              <a:spcBef>
                <a:spcPts val="0"/>
              </a:spcBef>
              <a:spcAft>
                <a:spcPts val="0"/>
              </a:spcAft>
              <a:buClr>
                <a:srgbClr val="3A3838"/>
              </a:buClr>
              <a:buSzPts val="1400"/>
              <a:buFont typeface="Barlow"/>
              <a:buNone/>
            </a:pPr>
            <a:r>
              <a:t/>
            </a:r>
            <a:endParaRPr sz="1400">
              <a:solidFill>
                <a:srgbClr val="3A3838"/>
              </a:solidFill>
              <a:latin typeface="Barlow"/>
              <a:ea typeface="Barlow"/>
              <a:cs typeface="Barlow"/>
              <a:sym typeface="Barlow"/>
            </a:endParaRPr>
          </a:p>
        </p:txBody>
      </p:sp>
      <p:sp>
        <p:nvSpPr>
          <p:cNvPr id="717" name="Google Shape;717;p56"/>
          <p:cNvSpPr/>
          <p:nvPr/>
        </p:nvSpPr>
        <p:spPr>
          <a:xfrm>
            <a:off x="7443471" y="2595333"/>
            <a:ext cx="1795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Recommendations</a:t>
            </a:r>
            <a:endParaRPr sz="1400">
              <a:solidFill>
                <a:srgbClr val="3A3838"/>
              </a:solidFill>
              <a:latin typeface="DM Sans"/>
              <a:ea typeface="DM Sans"/>
              <a:cs typeface="DM Sans"/>
              <a:sym typeface="DM Sans"/>
            </a:endParaRPr>
          </a:p>
        </p:txBody>
      </p:sp>
      <p:sp>
        <p:nvSpPr>
          <p:cNvPr id="718" name="Google Shape;718;p56"/>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Sentiment Analytics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pic>
        <p:nvPicPr>
          <p:cNvPr id="719" name="Google Shape;719;p56"/>
          <p:cNvPicPr preferRelativeResize="0"/>
          <p:nvPr/>
        </p:nvPicPr>
        <p:blipFill rotWithShape="1">
          <a:blip r:embed="rId3">
            <a:alphaModFix/>
          </a:blip>
          <a:srcRect b="0" l="0" r="0" t="0"/>
          <a:stretch/>
        </p:blipFill>
        <p:spPr>
          <a:xfrm>
            <a:off x="764812" y="3429002"/>
            <a:ext cx="740916" cy="740916"/>
          </a:xfrm>
          <a:prstGeom prst="rect">
            <a:avLst/>
          </a:prstGeom>
          <a:noFill/>
          <a:ln>
            <a:noFill/>
          </a:ln>
        </p:spPr>
      </p:pic>
      <p:pic>
        <p:nvPicPr>
          <p:cNvPr id="720" name="Google Shape;720;p56"/>
          <p:cNvPicPr preferRelativeResize="0"/>
          <p:nvPr/>
        </p:nvPicPr>
        <p:blipFill rotWithShape="1">
          <a:blip r:embed="rId4">
            <a:alphaModFix/>
          </a:blip>
          <a:srcRect b="0" l="0" r="0" t="0"/>
          <a:stretch/>
        </p:blipFill>
        <p:spPr>
          <a:xfrm>
            <a:off x="2569584" y="3429002"/>
            <a:ext cx="740916" cy="740916"/>
          </a:xfrm>
          <a:prstGeom prst="rect">
            <a:avLst/>
          </a:prstGeom>
          <a:noFill/>
          <a:ln>
            <a:noFill/>
          </a:ln>
        </p:spPr>
      </p:pic>
      <p:pic>
        <p:nvPicPr>
          <p:cNvPr id="721" name="Google Shape;721;p56"/>
          <p:cNvPicPr preferRelativeResize="0"/>
          <p:nvPr/>
        </p:nvPicPr>
        <p:blipFill rotWithShape="1">
          <a:blip r:embed="rId5">
            <a:alphaModFix/>
          </a:blip>
          <a:srcRect b="0" l="0" r="0" t="0"/>
          <a:stretch/>
        </p:blipFill>
        <p:spPr>
          <a:xfrm>
            <a:off x="4374355" y="3429002"/>
            <a:ext cx="740916" cy="740916"/>
          </a:xfrm>
          <a:prstGeom prst="rect">
            <a:avLst/>
          </a:prstGeom>
          <a:noFill/>
          <a:ln>
            <a:noFill/>
          </a:ln>
        </p:spPr>
      </p:pic>
      <p:pic>
        <p:nvPicPr>
          <p:cNvPr id="722" name="Google Shape;722;p56"/>
          <p:cNvPicPr preferRelativeResize="0"/>
          <p:nvPr/>
        </p:nvPicPr>
        <p:blipFill rotWithShape="1">
          <a:blip r:embed="rId6">
            <a:alphaModFix/>
          </a:blip>
          <a:srcRect b="0" l="0" r="0" t="0"/>
          <a:stretch/>
        </p:blipFill>
        <p:spPr>
          <a:xfrm>
            <a:off x="6161848" y="3429002"/>
            <a:ext cx="740916" cy="740916"/>
          </a:xfrm>
          <a:prstGeom prst="rect">
            <a:avLst/>
          </a:prstGeom>
          <a:noFill/>
          <a:ln>
            <a:noFill/>
          </a:ln>
        </p:spPr>
      </p:pic>
      <p:pic>
        <p:nvPicPr>
          <p:cNvPr id="723" name="Google Shape;723;p56"/>
          <p:cNvPicPr preferRelativeResize="0"/>
          <p:nvPr/>
        </p:nvPicPr>
        <p:blipFill rotWithShape="1">
          <a:blip r:embed="rId7">
            <a:alphaModFix/>
          </a:blip>
          <a:srcRect b="0" l="0" r="0" t="0"/>
          <a:stretch/>
        </p:blipFill>
        <p:spPr>
          <a:xfrm>
            <a:off x="7970851" y="3429002"/>
            <a:ext cx="740916" cy="740916"/>
          </a:xfrm>
          <a:prstGeom prst="rect">
            <a:avLst/>
          </a:prstGeom>
          <a:noFill/>
          <a:ln>
            <a:noFill/>
          </a:ln>
        </p:spPr>
      </p:pic>
      <p:pic>
        <p:nvPicPr>
          <p:cNvPr id="724" name="Google Shape;724;p56"/>
          <p:cNvPicPr preferRelativeResize="0"/>
          <p:nvPr/>
        </p:nvPicPr>
        <p:blipFill rotWithShape="1">
          <a:blip r:embed="rId8">
            <a:alphaModFix/>
          </a:blip>
          <a:srcRect b="0" l="0" r="0" t="0"/>
          <a:stretch/>
        </p:blipFill>
        <p:spPr>
          <a:xfrm>
            <a:off x="9779822" y="3429002"/>
            <a:ext cx="740916" cy="740916"/>
          </a:xfrm>
          <a:prstGeom prst="rect">
            <a:avLst/>
          </a:prstGeom>
          <a:noFill/>
          <a:ln>
            <a:noFill/>
          </a:ln>
        </p:spPr>
      </p:pic>
      <p:pic>
        <p:nvPicPr>
          <p:cNvPr id="725" name="Google Shape;725;p56"/>
          <p:cNvPicPr preferRelativeResize="0"/>
          <p:nvPr/>
        </p:nvPicPr>
        <p:blipFill rotWithShape="1">
          <a:blip r:embed="rId9">
            <a:alphaModFix/>
          </a:blip>
          <a:srcRect b="0" l="0" r="0" t="0"/>
          <a:stretch/>
        </p:blipFill>
        <p:spPr>
          <a:xfrm>
            <a:off x="764812" y="4364655"/>
            <a:ext cx="740916" cy="740916"/>
          </a:xfrm>
          <a:prstGeom prst="rect">
            <a:avLst/>
          </a:prstGeom>
          <a:noFill/>
          <a:ln>
            <a:noFill/>
          </a:ln>
        </p:spPr>
      </p:pic>
      <p:pic>
        <p:nvPicPr>
          <p:cNvPr id="726" name="Google Shape;726;p56"/>
          <p:cNvPicPr preferRelativeResize="0"/>
          <p:nvPr/>
        </p:nvPicPr>
        <p:blipFill rotWithShape="1">
          <a:blip r:embed="rId10">
            <a:alphaModFix/>
          </a:blip>
          <a:srcRect b="0" l="0" r="0" t="0"/>
          <a:stretch/>
        </p:blipFill>
        <p:spPr>
          <a:xfrm>
            <a:off x="2569584" y="4364655"/>
            <a:ext cx="740916" cy="740916"/>
          </a:xfrm>
          <a:prstGeom prst="rect">
            <a:avLst/>
          </a:prstGeom>
          <a:noFill/>
          <a:ln>
            <a:noFill/>
          </a:ln>
        </p:spPr>
      </p:pic>
      <p:pic>
        <p:nvPicPr>
          <p:cNvPr id="727" name="Google Shape;727;p56"/>
          <p:cNvPicPr preferRelativeResize="0"/>
          <p:nvPr/>
        </p:nvPicPr>
        <p:blipFill rotWithShape="1">
          <a:blip r:embed="rId11">
            <a:alphaModFix/>
          </a:blip>
          <a:srcRect b="0" l="0" r="0" t="0"/>
          <a:stretch/>
        </p:blipFill>
        <p:spPr>
          <a:xfrm>
            <a:off x="4374355" y="4364655"/>
            <a:ext cx="740916" cy="740916"/>
          </a:xfrm>
          <a:prstGeom prst="rect">
            <a:avLst/>
          </a:prstGeom>
          <a:noFill/>
          <a:ln>
            <a:noFill/>
          </a:ln>
        </p:spPr>
      </p:pic>
      <p:pic>
        <p:nvPicPr>
          <p:cNvPr id="728" name="Google Shape;728;p56"/>
          <p:cNvPicPr preferRelativeResize="0"/>
          <p:nvPr/>
        </p:nvPicPr>
        <p:blipFill rotWithShape="1">
          <a:blip r:embed="rId12">
            <a:alphaModFix/>
          </a:blip>
          <a:srcRect b="0" l="0" r="0" t="0"/>
          <a:stretch/>
        </p:blipFill>
        <p:spPr>
          <a:xfrm>
            <a:off x="6161848" y="4364655"/>
            <a:ext cx="740916" cy="740916"/>
          </a:xfrm>
          <a:prstGeom prst="rect">
            <a:avLst/>
          </a:prstGeom>
          <a:noFill/>
          <a:ln>
            <a:noFill/>
          </a:ln>
        </p:spPr>
      </p:pic>
      <p:pic>
        <p:nvPicPr>
          <p:cNvPr id="729" name="Google Shape;729;p56"/>
          <p:cNvPicPr preferRelativeResize="0"/>
          <p:nvPr/>
        </p:nvPicPr>
        <p:blipFill rotWithShape="1">
          <a:blip r:embed="rId13">
            <a:alphaModFix/>
          </a:blip>
          <a:srcRect b="0" l="0" r="0" t="0"/>
          <a:stretch/>
        </p:blipFill>
        <p:spPr>
          <a:xfrm>
            <a:off x="7970851" y="4364655"/>
            <a:ext cx="740916" cy="740916"/>
          </a:xfrm>
          <a:prstGeom prst="rect">
            <a:avLst/>
          </a:prstGeom>
          <a:noFill/>
          <a:ln>
            <a:noFill/>
          </a:ln>
        </p:spPr>
      </p:pic>
      <p:pic>
        <p:nvPicPr>
          <p:cNvPr id="730" name="Google Shape;730;p56"/>
          <p:cNvPicPr preferRelativeResize="0"/>
          <p:nvPr/>
        </p:nvPicPr>
        <p:blipFill rotWithShape="1">
          <a:blip r:embed="rId14">
            <a:alphaModFix/>
          </a:blip>
          <a:srcRect b="0" l="0" r="0" t="0"/>
          <a:stretch/>
        </p:blipFill>
        <p:spPr>
          <a:xfrm>
            <a:off x="9779822" y="4364655"/>
            <a:ext cx="740916" cy="740916"/>
          </a:xfrm>
          <a:prstGeom prst="rect">
            <a:avLst/>
          </a:prstGeom>
          <a:noFill/>
          <a:ln>
            <a:noFill/>
          </a:ln>
        </p:spPr>
      </p:pic>
      <p:pic>
        <p:nvPicPr>
          <p:cNvPr id="731" name="Google Shape;731;p56"/>
          <p:cNvPicPr preferRelativeResize="0"/>
          <p:nvPr/>
        </p:nvPicPr>
        <p:blipFill rotWithShape="1">
          <a:blip r:embed="rId15">
            <a:alphaModFix/>
          </a:blip>
          <a:srcRect b="0" l="0" r="0" t="0"/>
          <a:stretch/>
        </p:blipFill>
        <p:spPr>
          <a:xfrm>
            <a:off x="764812" y="5292259"/>
            <a:ext cx="740916" cy="740916"/>
          </a:xfrm>
          <a:prstGeom prst="rect">
            <a:avLst/>
          </a:prstGeom>
          <a:noFill/>
          <a:ln>
            <a:noFill/>
          </a:ln>
        </p:spPr>
      </p:pic>
      <p:pic>
        <p:nvPicPr>
          <p:cNvPr id="732" name="Google Shape;732;p56"/>
          <p:cNvPicPr preferRelativeResize="0"/>
          <p:nvPr/>
        </p:nvPicPr>
        <p:blipFill rotWithShape="1">
          <a:blip r:embed="rId16">
            <a:alphaModFix/>
          </a:blip>
          <a:srcRect b="0" l="0" r="0" t="0"/>
          <a:stretch/>
        </p:blipFill>
        <p:spPr>
          <a:xfrm>
            <a:off x="2569584" y="5292259"/>
            <a:ext cx="740916" cy="740916"/>
          </a:xfrm>
          <a:prstGeom prst="rect">
            <a:avLst/>
          </a:prstGeom>
          <a:noFill/>
          <a:ln>
            <a:noFill/>
          </a:ln>
        </p:spPr>
      </p:pic>
      <p:pic>
        <p:nvPicPr>
          <p:cNvPr id="733" name="Google Shape;733;p56"/>
          <p:cNvPicPr preferRelativeResize="0"/>
          <p:nvPr/>
        </p:nvPicPr>
        <p:blipFill rotWithShape="1">
          <a:blip r:embed="rId17">
            <a:alphaModFix/>
          </a:blip>
          <a:srcRect b="0" l="0" r="0" t="0"/>
          <a:stretch/>
        </p:blipFill>
        <p:spPr>
          <a:xfrm>
            <a:off x="4374355" y="5292259"/>
            <a:ext cx="740916" cy="740916"/>
          </a:xfrm>
          <a:prstGeom prst="rect">
            <a:avLst/>
          </a:prstGeom>
          <a:noFill/>
          <a:ln>
            <a:noFill/>
          </a:ln>
        </p:spPr>
      </p:pic>
      <p:pic>
        <p:nvPicPr>
          <p:cNvPr id="734" name="Google Shape;734;p56"/>
          <p:cNvPicPr preferRelativeResize="0"/>
          <p:nvPr/>
        </p:nvPicPr>
        <p:blipFill rotWithShape="1">
          <a:blip r:embed="rId18">
            <a:alphaModFix/>
          </a:blip>
          <a:srcRect b="0" l="0" r="0" t="0"/>
          <a:stretch/>
        </p:blipFill>
        <p:spPr>
          <a:xfrm>
            <a:off x="6161848" y="5292259"/>
            <a:ext cx="740916" cy="740916"/>
          </a:xfrm>
          <a:prstGeom prst="rect">
            <a:avLst/>
          </a:prstGeom>
          <a:noFill/>
          <a:ln>
            <a:noFill/>
          </a:ln>
        </p:spPr>
      </p:pic>
      <p:pic>
        <p:nvPicPr>
          <p:cNvPr id="735" name="Google Shape;735;p56"/>
          <p:cNvPicPr preferRelativeResize="0"/>
          <p:nvPr/>
        </p:nvPicPr>
        <p:blipFill rotWithShape="1">
          <a:blip r:embed="rId19">
            <a:alphaModFix/>
          </a:blip>
          <a:srcRect b="0" l="0" r="0" t="0"/>
          <a:stretch/>
        </p:blipFill>
        <p:spPr>
          <a:xfrm>
            <a:off x="7970851" y="5292259"/>
            <a:ext cx="740916" cy="740916"/>
          </a:xfrm>
          <a:prstGeom prst="rect">
            <a:avLst/>
          </a:prstGeom>
          <a:noFill/>
          <a:ln>
            <a:noFill/>
          </a:ln>
        </p:spPr>
      </p:pic>
      <p:pic>
        <p:nvPicPr>
          <p:cNvPr id="736" name="Google Shape;736;p56"/>
          <p:cNvPicPr preferRelativeResize="0"/>
          <p:nvPr/>
        </p:nvPicPr>
        <p:blipFill rotWithShape="1">
          <a:blip r:embed="rId20">
            <a:alphaModFix/>
          </a:blip>
          <a:srcRect b="0" l="0" r="0" t="0"/>
          <a:stretch/>
        </p:blipFill>
        <p:spPr>
          <a:xfrm>
            <a:off x="9779822" y="5292259"/>
            <a:ext cx="740916" cy="74091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5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742" name="Google Shape;742;p57"/>
          <p:cNvSpPr txBox="1"/>
          <p:nvPr>
            <p:ph type="title"/>
          </p:nvPr>
        </p:nvSpPr>
        <p:spPr>
          <a:xfrm>
            <a:off x="764820" y="609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743" name="Google Shape;743;p57"/>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Retail / CPG</a:t>
            </a:r>
            <a:endParaRPr/>
          </a:p>
        </p:txBody>
      </p:sp>
      <p:sp>
        <p:nvSpPr>
          <p:cNvPr id="744" name="Google Shape;744;p57"/>
          <p:cNvSpPr/>
          <p:nvPr/>
        </p:nvSpPr>
        <p:spPr>
          <a:xfrm>
            <a:off x="496076" y="2595333"/>
            <a:ext cx="1293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Driven Inventory</a:t>
            </a:r>
            <a:endParaRPr sz="1400">
              <a:solidFill>
                <a:srgbClr val="3A3838"/>
              </a:solidFill>
              <a:latin typeface="DM Sans"/>
              <a:ea typeface="DM Sans"/>
              <a:cs typeface="DM Sans"/>
              <a:sym typeface="DM Sans"/>
            </a:endParaRPr>
          </a:p>
        </p:txBody>
      </p:sp>
      <p:sp>
        <p:nvSpPr>
          <p:cNvPr id="745" name="Google Shape;745;p57"/>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Direct to Consumer</a:t>
            </a:r>
            <a:endParaRPr sz="1400">
              <a:solidFill>
                <a:srgbClr val="3A3838"/>
              </a:solidFill>
              <a:latin typeface="DM Sans"/>
              <a:ea typeface="DM Sans"/>
              <a:cs typeface="DM Sans"/>
              <a:sym typeface="DM Sans"/>
            </a:endParaRPr>
          </a:p>
        </p:txBody>
      </p:sp>
      <p:sp>
        <p:nvSpPr>
          <p:cNvPr id="746" name="Google Shape;746;p57"/>
          <p:cNvSpPr/>
          <p:nvPr/>
        </p:nvSpPr>
        <p:spPr>
          <a:xfrm>
            <a:off x="4010663" y="2595333"/>
            <a:ext cx="146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Personalized Offers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747" name="Google Shape;747;p57"/>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None/>
            </a:pPr>
            <a:r>
              <a:rPr lang="en" sz="1400">
                <a:solidFill>
                  <a:srgbClr val="3A3838"/>
                </a:solidFill>
                <a:latin typeface="Barlow"/>
                <a:ea typeface="Barlow"/>
                <a:cs typeface="Barlow"/>
                <a:sym typeface="Barlow"/>
              </a:rPr>
              <a:t>Real-time Pricing</a:t>
            </a:r>
            <a:endParaRPr sz="1400">
              <a:solidFill>
                <a:srgbClr val="3A3838"/>
              </a:solidFill>
              <a:latin typeface="Barlow"/>
              <a:ea typeface="Barlow"/>
              <a:cs typeface="Barlow"/>
              <a:sym typeface="Barlow"/>
            </a:endParaRPr>
          </a:p>
          <a:p>
            <a:pPr indent="0" lvl="0" marL="0" rtl="0" algn="l">
              <a:spcBef>
                <a:spcPts val="0"/>
              </a:spcBef>
              <a:spcAft>
                <a:spcPts val="0"/>
              </a:spcAft>
              <a:buClr>
                <a:srgbClr val="3A3838"/>
              </a:buClr>
              <a:buSzPts val="1400"/>
              <a:buFont typeface="Barlow"/>
              <a:buNone/>
            </a:pPr>
            <a:r>
              <a:t/>
            </a:r>
            <a:endParaRPr sz="1400">
              <a:solidFill>
                <a:srgbClr val="3A3838"/>
              </a:solidFill>
              <a:latin typeface="Barlow"/>
              <a:ea typeface="Barlow"/>
              <a:cs typeface="Barlow"/>
              <a:sym typeface="Barlow"/>
            </a:endParaRPr>
          </a:p>
        </p:txBody>
      </p:sp>
      <p:sp>
        <p:nvSpPr>
          <p:cNvPr id="748" name="Google Shape;748;p57"/>
          <p:cNvSpPr/>
          <p:nvPr/>
        </p:nvSpPr>
        <p:spPr>
          <a:xfrm>
            <a:off x="7443471" y="2595333"/>
            <a:ext cx="1795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Retail CPG</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749" name="Google Shape;749;p57"/>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Store Design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pic>
        <p:nvPicPr>
          <p:cNvPr id="750" name="Google Shape;750;p57"/>
          <p:cNvPicPr preferRelativeResize="0"/>
          <p:nvPr/>
        </p:nvPicPr>
        <p:blipFill rotWithShape="1">
          <a:blip r:embed="rId3">
            <a:alphaModFix/>
          </a:blip>
          <a:srcRect b="0" l="0" r="0" t="0"/>
          <a:stretch/>
        </p:blipFill>
        <p:spPr>
          <a:xfrm>
            <a:off x="764804" y="3429000"/>
            <a:ext cx="741742" cy="741736"/>
          </a:xfrm>
          <a:prstGeom prst="rect">
            <a:avLst/>
          </a:prstGeom>
          <a:noFill/>
          <a:ln>
            <a:noFill/>
          </a:ln>
        </p:spPr>
      </p:pic>
      <p:pic>
        <p:nvPicPr>
          <p:cNvPr id="751" name="Google Shape;751;p57"/>
          <p:cNvPicPr preferRelativeResize="0"/>
          <p:nvPr/>
        </p:nvPicPr>
        <p:blipFill rotWithShape="1">
          <a:blip r:embed="rId4">
            <a:alphaModFix/>
          </a:blip>
          <a:srcRect b="0" l="0" r="0" t="0"/>
          <a:stretch/>
        </p:blipFill>
        <p:spPr>
          <a:xfrm>
            <a:off x="2566188" y="3429000"/>
            <a:ext cx="741742" cy="741736"/>
          </a:xfrm>
          <a:prstGeom prst="rect">
            <a:avLst/>
          </a:prstGeom>
          <a:noFill/>
          <a:ln>
            <a:noFill/>
          </a:ln>
        </p:spPr>
      </p:pic>
      <p:pic>
        <p:nvPicPr>
          <p:cNvPr id="752" name="Google Shape;752;p57"/>
          <p:cNvPicPr preferRelativeResize="0"/>
          <p:nvPr/>
        </p:nvPicPr>
        <p:blipFill rotWithShape="1">
          <a:blip r:embed="rId5">
            <a:alphaModFix/>
          </a:blip>
          <a:srcRect b="0" l="0" r="0" t="0"/>
          <a:stretch/>
        </p:blipFill>
        <p:spPr>
          <a:xfrm>
            <a:off x="4367588" y="3429000"/>
            <a:ext cx="741743" cy="741736"/>
          </a:xfrm>
          <a:prstGeom prst="rect">
            <a:avLst/>
          </a:prstGeom>
          <a:noFill/>
          <a:ln>
            <a:noFill/>
          </a:ln>
        </p:spPr>
      </p:pic>
      <p:pic>
        <p:nvPicPr>
          <p:cNvPr id="753" name="Google Shape;753;p57"/>
          <p:cNvPicPr preferRelativeResize="0"/>
          <p:nvPr/>
        </p:nvPicPr>
        <p:blipFill rotWithShape="1">
          <a:blip r:embed="rId6">
            <a:alphaModFix/>
          </a:blip>
          <a:srcRect b="0" l="0" r="0" t="0"/>
          <a:stretch/>
        </p:blipFill>
        <p:spPr>
          <a:xfrm>
            <a:off x="6160924" y="3429000"/>
            <a:ext cx="741743" cy="741736"/>
          </a:xfrm>
          <a:prstGeom prst="rect">
            <a:avLst/>
          </a:prstGeom>
          <a:noFill/>
          <a:ln>
            <a:noFill/>
          </a:ln>
        </p:spPr>
      </p:pic>
      <p:pic>
        <p:nvPicPr>
          <p:cNvPr id="754" name="Google Shape;754;p57"/>
          <p:cNvPicPr preferRelativeResize="0"/>
          <p:nvPr/>
        </p:nvPicPr>
        <p:blipFill rotWithShape="1">
          <a:blip r:embed="rId7">
            <a:alphaModFix/>
          </a:blip>
          <a:srcRect b="0" l="0" r="0" t="0"/>
          <a:stretch/>
        </p:blipFill>
        <p:spPr>
          <a:xfrm>
            <a:off x="7970372" y="3429000"/>
            <a:ext cx="741743" cy="741736"/>
          </a:xfrm>
          <a:prstGeom prst="rect">
            <a:avLst/>
          </a:prstGeom>
          <a:noFill/>
          <a:ln>
            <a:noFill/>
          </a:ln>
        </p:spPr>
      </p:pic>
      <p:pic>
        <p:nvPicPr>
          <p:cNvPr id="755" name="Google Shape;755;p57"/>
          <p:cNvPicPr preferRelativeResize="0"/>
          <p:nvPr/>
        </p:nvPicPr>
        <p:blipFill rotWithShape="1">
          <a:blip r:embed="rId8">
            <a:alphaModFix/>
          </a:blip>
          <a:srcRect b="0" l="0" r="0" t="0"/>
          <a:stretch/>
        </p:blipFill>
        <p:spPr>
          <a:xfrm>
            <a:off x="9779821" y="3429000"/>
            <a:ext cx="741743" cy="741736"/>
          </a:xfrm>
          <a:prstGeom prst="rect">
            <a:avLst/>
          </a:prstGeom>
          <a:noFill/>
          <a:ln>
            <a:noFill/>
          </a:ln>
        </p:spPr>
      </p:pic>
      <p:pic>
        <p:nvPicPr>
          <p:cNvPr id="756" name="Google Shape;756;p57"/>
          <p:cNvPicPr preferRelativeResize="0"/>
          <p:nvPr/>
        </p:nvPicPr>
        <p:blipFill rotWithShape="1">
          <a:blip r:embed="rId9">
            <a:alphaModFix/>
          </a:blip>
          <a:srcRect b="0" l="0" r="0" t="0"/>
          <a:stretch/>
        </p:blipFill>
        <p:spPr>
          <a:xfrm>
            <a:off x="764804" y="4286732"/>
            <a:ext cx="741742" cy="741736"/>
          </a:xfrm>
          <a:prstGeom prst="rect">
            <a:avLst/>
          </a:prstGeom>
          <a:noFill/>
          <a:ln>
            <a:noFill/>
          </a:ln>
        </p:spPr>
      </p:pic>
      <p:pic>
        <p:nvPicPr>
          <p:cNvPr id="757" name="Google Shape;757;p57"/>
          <p:cNvPicPr preferRelativeResize="0"/>
          <p:nvPr/>
        </p:nvPicPr>
        <p:blipFill rotWithShape="1">
          <a:blip r:embed="rId10">
            <a:alphaModFix/>
          </a:blip>
          <a:srcRect b="0" l="0" r="0" t="0"/>
          <a:stretch/>
        </p:blipFill>
        <p:spPr>
          <a:xfrm>
            <a:off x="2566188" y="4286732"/>
            <a:ext cx="741742" cy="741736"/>
          </a:xfrm>
          <a:prstGeom prst="rect">
            <a:avLst/>
          </a:prstGeom>
          <a:noFill/>
          <a:ln>
            <a:noFill/>
          </a:ln>
        </p:spPr>
      </p:pic>
      <p:pic>
        <p:nvPicPr>
          <p:cNvPr id="758" name="Google Shape;758;p57"/>
          <p:cNvPicPr preferRelativeResize="0"/>
          <p:nvPr/>
        </p:nvPicPr>
        <p:blipFill rotWithShape="1">
          <a:blip r:embed="rId11">
            <a:alphaModFix/>
          </a:blip>
          <a:srcRect b="0" l="0" r="0" t="0"/>
          <a:stretch/>
        </p:blipFill>
        <p:spPr>
          <a:xfrm>
            <a:off x="4367588" y="4286732"/>
            <a:ext cx="741743" cy="741736"/>
          </a:xfrm>
          <a:prstGeom prst="rect">
            <a:avLst/>
          </a:prstGeom>
          <a:noFill/>
          <a:ln>
            <a:noFill/>
          </a:ln>
        </p:spPr>
      </p:pic>
      <p:pic>
        <p:nvPicPr>
          <p:cNvPr id="759" name="Google Shape;759;p57"/>
          <p:cNvPicPr preferRelativeResize="0"/>
          <p:nvPr/>
        </p:nvPicPr>
        <p:blipFill rotWithShape="1">
          <a:blip r:embed="rId12">
            <a:alphaModFix/>
          </a:blip>
          <a:srcRect b="0" l="0" r="0" t="0"/>
          <a:stretch/>
        </p:blipFill>
        <p:spPr>
          <a:xfrm>
            <a:off x="6160924" y="4286732"/>
            <a:ext cx="741743" cy="741736"/>
          </a:xfrm>
          <a:prstGeom prst="rect">
            <a:avLst/>
          </a:prstGeom>
          <a:noFill/>
          <a:ln>
            <a:noFill/>
          </a:ln>
        </p:spPr>
      </p:pic>
      <p:pic>
        <p:nvPicPr>
          <p:cNvPr id="760" name="Google Shape;760;p57"/>
          <p:cNvPicPr preferRelativeResize="0"/>
          <p:nvPr/>
        </p:nvPicPr>
        <p:blipFill rotWithShape="1">
          <a:blip r:embed="rId13">
            <a:alphaModFix/>
          </a:blip>
          <a:srcRect b="0" l="0" r="0" t="0"/>
          <a:stretch/>
        </p:blipFill>
        <p:spPr>
          <a:xfrm>
            <a:off x="7970372" y="4286732"/>
            <a:ext cx="741743" cy="741736"/>
          </a:xfrm>
          <a:prstGeom prst="rect">
            <a:avLst/>
          </a:prstGeom>
          <a:noFill/>
          <a:ln>
            <a:noFill/>
          </a:ln>
        </p:spPr>
      </p:pic>
      <p:pic>
        <p:nvPicPr>
          <p:cNvPr id="761" name="Google Shape;761;p57"/>
          <p:cNvPicPr preferRelativeResize="0"/>
          <p:nvPr/>
        </p:nvPicPr>
        <p:blipFill rotWithShape="1">
          <a:blip r:embed="rId14">
            <a:alphaModFix/>
          </a:blip>
          <a:srcRect b="0" l="0" r="0" t="0"/>
          <a:stretch/>
        </p:blipFill>
        <p:spPr>
          <a:xfrm>
            <a:off x="9779821" y="4286732"/>
            <a:ext cx="741743" cy="741736"/>
          </a:xfrm>
          <a:prstGeom prst="rect">
            <a:avLst/>
          </a:prstGeom>
          <a:noFill/>
          <a:ln>
            <a:noFill/>
          </a:ln>
        </p:spPr>
      </p:pic>
      <p:pic>
        <p:nvPicPr>
          <p:cNvPr id="762" name="Google Shape;762;p57"/>
          <p:cNvPicPr preferRelativeResize="0"/>
          <p:nvPr/>
        </p:nvPicPr>
        <p:blipFill rotWithShape="1">
          <a:blip r:embed="rId15">
            <a:alphaModFix/>
          </a:blip>
          <a:srcRect b="0" l="0" r="0" t="0"/>
          <a:stretch/>
        </p:blipFill>
        <p:spPr>
          <a:xfrm>
            <a:off x="764804" y="5141783"/>
            <a:ext cx="741742" cy="741736"/>
          </a:xfrm>
          <a:prstGeom prst="rect">
            <a:avLst/>
          </a:prstGeom>
          <a:noFill/>
          <a:ln>
            <a:noFill/>
          </a:ln>
        </p:spPr>
      </p:pic>
      <p:pic>
        <p:nvPicPr>
          <p:cNvPr id="763" name="Google Shape;763;p57"/>
          <p:cNvPicPr preferRelativeResize="0"/>
          <p:nvPr/>
        </p:nvPicPr>
        <p:blipFill rotWithShape="1">
          <a:blip r:embed="rId16">
            <a:alphaModFix/>
          </a:blip>
          <a:srcRect b="0" l="0" r="0" t="0"/>
          <a:stretch/>
        </p:blipFill>
        <p:spPr>
          <a:xfrm>
            <a:off x="2566188" y="5141783"/>
            <a:ext cx="741742" cy="741736"/>
          </a:xfrm>
          <a:prstGeom prst="rect">
            <a:avLst/>
          </a:prstGeom>
          <a:noFill/>
          <a:ln>
            <a:noFill/>
          </a:ln>
        </p:spPr>
      </p:pic>
      <p:pic>
        <p:nvPicPr>
          <p:cNvPr id="764" name="Google Shape;764;p57"/>
          <p:cNvPicPr preferRelativeResize="0"/>
          <p:nvPr/>
        </p:nvPicPr>
        <p:blipFill rotWithShape="1">
          <a:blip r:embed="rId17">
            <a:alphaModFix/>
          </a:blip>
          <a:srcRect b="0" l="0" r="0" t="0"/>
          <a:stretch/>
        </p:blipFill>
        <p:spPr>
          <a:xfrm>
            <a:off x="4367588" y="5141783"/>
            <a:ext cx="741743" cy="741736"/>
          </a:xfrm>
          <a:prstGeom prst="rect">
            <a:avLst/>
          </a:prstGeom>
          <a:noFill/>
          <a:ln>
            <a:noFill/>
          </a:ln>
        </p:spPr>
      </p:pic>
      <p:pic>
        <p:nvPicPr>
          <p:cNvPr id="765" name="Google Shape;765;p57"/>
          <p:cNvPicPr preferRelativeResize="0"/>
          <p:nvPr/>
        </p:nvPicPr>
        <p:blipFill rotWithShape="1">
          <a:blip r:embed="rId18">
            <a:alphaModFix/>
          </a:blip>
          <a:srcRect b="0" l="0" r="0" t="0"/>
          <a:stretch/>
        </p:blipFill>
        <p:spPr>
          <a:xfrm>
            <a:off x="6160924" y="5141783"/>
            <a:ext cx="741743" cy="741736"/>
          </a:xfrm>
          <a:prstGeom prst="rect">
            <a:avLst/>
          </a:prstGeom>
          <a:noFill/>
          <a:ln>
            <a:noFill/>
          </a:ln>
        </p:spPr>
      </p:pic>
      <p:pic>
        <p:nvPicPr>
          <p:cNvPr id="766" name="Google Shape;766;p57"/>
          <p:cNvPicPr preferRelativeResize="0"/>
          <p:nvPr/>
        </p:nvPicPr>
        <p:blipFill rotWithShape="1">
          <a:blip r:embed="rId19">
            <a:alphaModFix/>
          </a:blip>
          <a:srcRect b="0" l="0" r="0" t="0"/>
          <a:stretch/>
        </p:blipFill>
        <p:spPr>
          <a:xfrm>
            <a:off x="7970372" y="5141783"/>
            <a:ext cx="741743" cy="741736"/>
          </a:xfrm>
          <a:prstGeom prst="rect">
            <a:avLst/>
          </a:prstGeom>
          <a:noFill/>
          <a:ln>
            <a:noFill/>
          </a:ln>
        </p:spPr>
      </p:pic>
      <p:pic>
        <p:nvPicPr>
          <p:cNvPr id="767" name="Google Shape;767;p57"/>
          <p:cNvPicPr preferRelativeResize="0"/>
          <p:nvPr/>
        </p:nvPicPr>
        <p:blipFill rotWithShape="1">
          <a:blip r:embed="rId20">
            <a:alphaModFix/>
          </a:blip>
          <a:srcRect b="0" l="0" r="0" t="0"/>
          <a:stretch/>
        </p:blipFill>
        <p:spPr>
          <a:xfrm>
            <a:off x="9779821" y="5141783"/>
            <a:ext cx="741743" cy="74173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5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773" name="Google Shape;773;p5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774" name="Google Shape;774;p58"/>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Public Sector</a:t>
            </a:r>
            <a:endParaRPr/>
          </a:p>
        </p:txBody>
      </p:sp>
      <p:pic>
        <p:nvPicPr>
          <p:cNvPr id="775" name="Google Shape;775;p58"/>
          <p:cNvPicPr preferRelativeResize="0"/>
          <p:nvPr/>
        </p:nvPicPr>
        <p:blipFill rotWithShape="1">
          <a:blip r:embed="rId3">
            <a:alphaModFix/>
          </a:blip>
          <a:srcRect b="0" l="0" r="0" t="0"/>
          <a:stretch/>
        </p:blipFill>
        <p:spPr>
          <a:xfrm>
            <a:off x="764806" y="3428990"/>
            <a:ext cx="744459" cy="744459"/>
          </a:xfrm>
          <a:prstGeom prst="rect">
            <a:avLst/>
          </a:prstGeom>
          <a:noFill/>
          <a:ln>
            <a:noFill/>
          </a:ln>
        </p:spPr>
      </p:pic>
      <p:pic>
        <p:nvPicPr>
          <p:cNvPr id="776" name="Google Shape;776;p58"/>
          <p:cNvPicPr preferRelativeResize="0"/>
          <p:nvPr/>
        </p:nvPicPr>
        <p:blipFill rotWithShape="1">
          <a:blip r:embed="rId4">
            <a:alphaModFix/>
          </a:blip>
          <a:srcRect b="0" l="0" r="0" t="0"/>
          <a:stretch/>
        </p:blipFill>
        <p:spPr>
          <a:xfrm>
            <a:off x="2414891" y="3428990"/>
            <a:ext cx="744459" cy="744459"/>
          </a:xfrm>
          <a:prstGeom prst="rect">
            <a:avLst/>
          </a:prstGeom>
          <a:noFill/>
          <a:ln>
            <a:noFill/>
          </a:ln>
        </p:spPr>
      </p:pic>
      <p:pic>
        <p:nvPicPr>
          <p:cNvPr id="777" name="Google Shape;777;p58"/>
          <p:cNvPicPr preferRelativeResize="0"/>
          <p:nvPr/>
        </p:nvPicPr>
        <p:blipFill rotWithShape="1">
          <a:blip r:embed="rId5">
            <a:alphaModFix/>
          </a:blip>
          <a:srcRect b="0" l="0" r="0" t="0"/>
          <a:stretch/>
        </p:blipFill>
        <p:spPr>
          <a:xfrm>
            <a:off x="4064975" y="3428990"/>
            <a:ext cx="744459" cy="744459"/>
          </a:xfrm>
          <a:prstGeom prst="rect">
            <a:avLst/>
          </a:prstGeom>
          <a:noFill/>
          <a:ln>
            <a:noFill/>
          </a:ln>
        </p:spPr>
      </p:pic>
      <p:pic>
        <p:nvPicPr>
          <p:cNvPr id="778" name="Google Shape;778;p58"/>
          <p:cNvPicPr preferRelativeResize="0"/>
          <p:nvPr/>
        </p:nvPicPr>
        <p:blipFill rotWithShape="1">
          <a:blip r:embed="rId6">
            <a:alphaModFix/>
          </a:blip>
          <a:srcRect b="0" l="0" r="0" t="0"/>
          <a:stretch/>
        </p:blipFill>
        <p:spPr>
          <a:xfrm>
            <a:off x="5715060" y="3428990"/>
            <a:ext cx="744459" cy="744459"/>
          </a:xfrm>
          <a:prstGeom prst="rect">
            <a:avLst/>
          </a:prstGeom>
          <a:noFill/>
          <a:ln>
            <a:noFill/>
          </a:ln>
        </p:spPr>
      </p:pic>
      <p:pic>
        <p:nvPicPr>
          <p:cNvPr id="779" name="Google Shape;779;p58"/>
          <p:cNvPicPr preferRelativeResize="0"/>
          <p:nvPr/>
        </p:nvPicPr>
        <p:blipFill rotWithShape="1">
          <a:blip r:embed="rId7">
            <a:alphaModFix/>
          </a:blip>
          <a:srcRect b="0" l="0" r="0" t="0"/>
          <a:stretch/>
        </p:blipFill>
        <p:spPr>
          <a:xfrm>
            <a:off x="7365145" y="3428990"/>
            <a:ext cx="744459" cy="744459"/>
          </a:xfrm>
          <a:prstGeom prst="rect">
            <a:avLst/>
          </a:prstGeom>
          <a:noFill/>
          <a:ln>
            <a:noFill/>
          </a:ln>
        </p:spPr>
      </p:pic>
      <p:pic>
        <p:nvPicPr>
          <p:cNvPr id="780" name="Google Shape;780;p58"/>
          <p:cNvPicPr preferRelativeResize="0"/>
          <p:nvPr/>
        </p:nvPicPr>
        <p:blipFill rotWithShape="1">
          <a:blip r:embed="rId8">
            <a:alphaModFix/>
          </a:blip>
          <a:srcRect b="0" l="0" r="0" t="0"/>
          <a:stretch/>
        </p:blipFill>
        <p:spPr>
          <a:xfrm>
            <a:off x="9015230" y="3428990"/>
            <a:ext cx="744459" cy="744459"/>
          </a:xfrm>
          <a:prstGeom prst="rect">
            <a:avLst/>
          </a:prstGeom>
          <a:noFill/>
          <a:ln>
            <a:noFill/>
          </a:ln>
        </p:spPr>
      </p:pic>
      <p:pic>
        <p:nvPicPr>
          <p:cNvPr id="781" name="Google Shape;781;p58"/>
          <p:cNvPicPr preferRelativeResize="0"/>
          <p:nvPr/>
        </p:nvPicPr>
        <p:blipFill rotWithShape="1">
          <a:blip r:embed="rId9">
            <a:alphaModFix/>
          </a:blip>
          <a:srcRect b="0" l="0" r="0" t="0"/>
          <a:stretch/>
        </p:blipFill>
        <p:spPr>
          <a:xfrm>
            <a:off x="10665315" y="3428990"/>
            <a:ext cx="744459" cy="744459"/>
          </a:xfrm>
          <a:prstGeom prst="rect">
            <a:avLst/>
          </a:prstGeom>
          <a:noFill/>
          <a:ln>
            <a:noFill/>
          </a:ln>
        </p:spPr>
      </p:pic>
      <p:pic>
        <p:nvPicPr>
          <p:cNvPr id="782" name="Google Shape;782;p58"/>
          <p:cNvPicPr preferRelativeResize="0"/>
          <p:nvPr/>
        </p:nvPicPr>
        <p:blipFill rotWithShape="1">
          <a:blip r:embed="rId10">
            <a:alphaModFix/>
          </a:blip>
          <a:srcRect b="0" l="0" r="0" t="0"/>
          <a:stretch/>
        </p:blipFill>
        <p:spPr>
          <a:xfrm>
            <a:off x="764806" y="4289870"/>
            <a:ext cx="744459" cy="744459"/>
          </a:xfrm>
          <a:prstGeom prst="rect">
            <a:avLst/>
          </a:prstGeom>
          <a:noFill/>
          <a:ln>
            <a:noFill/>
          </a:ln>
        </p:spPr>
      </p:pic>
      <p:pic>
        <p:nvPicPr>
          <p:cNvPr id="783" name="Google Shape;783;p58"/>
          <p:cNvPicPr preferRelativeResize="0"/>
          <p:nvPr/>
        </p:nvPicPr>
        <p:blipFill rotWithShape="1">
          <a:blip r:embed="rId11">
            <a:alphaModFix/>
          </a:blip>
          <a:srcRect b="0" l="0" r="0" t="0"/>
          <a:stretch/>
        </p:blipFill>
        <p:spPr>
          <a:xfrm>
            <a:off x="2414891" y="4289870"/>
            <a:ext cx="744459" cy="744459"/>
          </a:xfrm>
          <a:prstGeom prst="rect">
            <a:avLst/>
          </a:prstGeom>
          <a:noFill/>
          <a:ln>
            <a:noFill/>
          </a:ln>
        </p:spPr>
      </p:pic>
      <p:pic>
        <p:nvPicPr>
          <p:cNvPr id="784" name="Google Shape;784;p58"/>
          <p:cNvPicPr preferRelativeResize="0"/>
          <p:nvPr/>
        </p:nvPicPr>
        <p:blipFill rotWithShape="1">
          <a:blip r:embed="rId12">
            <a:alphaModFix/>
          </a:blip>
          <a:srcRect b="0" l="0" r="0" t="0"/>
          <a:stretch/>
        </p:blipFill>
        <p:spPr>
          <a:xfrm>
            <a:off x="4064975" y="4289870"/>
            <a:ext cx="744459" cy="744459"/>
          </a:xfrm>
          <a:prstGeom prst="rect">
            <a:avLst/>
          </a:prstGeom>
          <a:noFill/>
          <a:ln>
            <a:noFill/>
          </a:ln>
        </p:spPr>
      </p:pic>
      <p:pic>
        <p:nvPicPr>
          <p:cNvPr id="785" name="Google Shape;785;p58"/>
          <p:cNvPicPr preferRelativeResize="0"/>
          <p:nvPr/>
        </p:nvPicPr>
        <p:blipFill rotWithShape="1">
          <a:blip r:embed="rId13">
            <a:alphaModFix/>
          </a:blip>
          <a:srcRect b="0" l="0" r="0" t="0"/>
          <a:stretch/>
        </p:blipFill>
        <p:spPr>
          <a:xfrm>
            <a:off x="5715060" y="4289870"/>
            <a:ext cx="744459" cy="744459"/>
          </a:xfrm>
          <a:prstGeom prst="rect">
            <a:avLst/>
          </a:prstGeom>
          <a:noFill/>
          <a:ln>
            <a:noFill/>
          </a:ln>
        </p:spPr>
      </p:pic>
      <p:pic>
        <p:nvPicPr>
          <p:cNvPr id="786" name="Google Shape;786;p58"/>
          <p:cNvPicPr preferRelativeResize="0"/>
          <p:nvPr/>
        </p:nvPicPr>
        <p:blipFill rotWithShape="1">
          <a:blip r:embed="rId14">
            <a:alphaModFix/>
          </a:blip>
          <a:srcRect b="0" l="0" r="0" t="0"/>
          <a:stretch/>
        </p:blipFill>
        <p:spPr>
          <a:xfrm>
            <a:off x="7365145" y="4289870"/>
            <a:ext cx="744459" cy="744459"/>
          </a:xfrm>
          <a:prstGeom prst="rect">
            <a:avLst/>
          </a:prstGeom>
          <a:noFill/>
          <a:ln>
            <a:noFill/>
          </a:ln>
        </p:spPr>
      </p:pic>
      <p:pic>
        <p:nvPicPr>
          <p:cNvPr id="787" name="Google Shape;787;p58"/>
          <p:cNvPicPr preferRelativeResize="0"/>
          <p:nvPr/>
        </p:nvPicPr>
        <p:blipFill rotWithShape="1">
          <a:blip r:embed="rId15">
            <a:alphaModFix/>
          </a:blip>
          <a:srcRect b="0" l="0" r="0" t="0"/>
          <a:stretch/>
        </p:blipFill>
        <p:spPr>
          <a:xfrm>
            <a:off x="9015230" y="4289870"/>
            <a:ext cx="744459" cy="744459"/>
          </a:xfrm>
          <a:prstGeom prst="rect">
            <a:avLst/>
          </a:prstGeom>
          <a:noFill/>
          <a:ln>
            <a:noFill/>
          </a:ln>
        </p:spPr>
      </p:pic>
      <p:pic>
        <p:nvPicPr>
          <p:cNvPr id="788" name="Google Shape;788;p58"/>
          <p:cNvPicPr preferRelativeResize="0"/>
          <p:nvPr/>
        </p:nvPicPr>
        <p:blipFill rotWithShape="1">
          <a:blip r:embed="rId16">
            <a:alphaModFix/>
          </a:blip>
          <a:srcRect b="0" l="0" r="0" t="0"/>
          <a:stretch/>
        </p:blipFill>
        <p:spPr>
          <a:xfrm>
            <a:off x="10665315" y="4289870"/>
            <a:ext cx="744459" cy="744459"/>
          </a:xfrm>
          <a:prstGeom prst="rect">
            <a:avLst/>
          </a:prstGeom>
          <a:noFill/>
          <a:ln>
            <a:noFill/>
          </a:ln>
        </p:spPr>
      </p:pic>
      <p:pic>
        <p:nvPicPr>
          <p:cNvPr id="789" name="Google Shape;789;p58"/>
          <p:cNvPicPr preferRelativeResize="0"/>
          <p:nvPr/>
        </p:nvPicPr>
        <p:blipFill rotWithShape="1">
          <a:blip r:embed="rId17">
            <a:alphaModFix/>
          </a:blip>
          <a:srcRect b="0" l="0" r="0" t="0"/>
          <a:stretch/>
        </p:blipFill>
        <p:spPr>
          <a:xfrm>
            <a:off x="764806" y="5155782"/>
            <a:ext cx="744459" cy="744459"/>
          </a:xfrm>
          <a:prstGeom prst="rect">
            <a:avLst/>
          </a:prstGeom>
          <a:noFill/>
          <a:ln>
            <a:noFill/>
          </a:ln>
        </p:spPr>
      </p:pic>
      <p:pic>
        <p:nvPicPr>
          <p:cNvPr id="790" name="Google Shape;790;p58"/>
          <p:cNvPicPr preferRelativeResize="0"/>
          <p:nvPr/>
        </p:nvPicPr>
        <p:blipFill rotWithShape="1">
          <a:blip r:embed="rId18">
            <a:alphaModFix/>
          </a:blip>
          <a:srcRect b="0" l="0" r="0" t="0"/>
          <a:stretch/>
        </p:blipFill>
        <p:spPr>
          <a:xfrm>
            <a:off x="2414891" y="5155782"/>
            <a:ext cx="744459" cy="744459"/>
          </a:xfrm>
          <a:prstGeom prst="rect">
            <a:avLst/>
          </a:prstGeom>
          <a:noFill/>
          <a:ln>
            <a:noFill/>
          </a:ln>
        </p:spPr>
      </p:pic>
      <p:pic>
        <p:nvPicPr>
          <p:cNvPr id="791" name="Google Shape;791;p58"/>
          <p:cNvPicPr preferRelativeResize="0"/>
          <p:nvPr/>
        </p:nvPicPr>
        <p:blipFill rotWithShape="1">
          <a:blip r:embed="rId19">
            <a:alphaModFix/>
          </a:blip>
          <a:srcRect b="0" l="0" r="0" t="0"/>
          <a:stretch/>
        </p:blipFill>
        <p:spPr>
          <a:xfrm>
            <a:off x="4064975" y="5155782"/>
            <a:ext cx="744459" cy="744459"/>
          </a:xfrm>
          <a:prstGeom prst="rect">
            <a:avLst/>
          </a:prstGeom>
          <a:noFill/>
          <a:ln>
            <a:noFill/>
          </a:ln>
        </p:spPr>
      </p:pic>
      <p:pic>
        <p:nvPicPr>
          <p:cNvPr id="792" name="Google Shape;792;p58"/>
          <p:cNvPicPr preferRelativeResize="0"/>
          <p:nvPr/>
        </p:nvPicPr>
        <p:blipFill rotWithShape="1">
          <a:blip r:embed="rId20">
            <a:alphaModFix/>
          </a:blip>
          <a:srcRect b="0" l="0" r="0" t="0"/>
          <a:stretch/>
        </p:blipFill>
        <p:spPr>
          <a:xfrm>
            <a:off x="5715060" y="5155782"/>
            <a:ext cx="744459" cy="744459"/>
          </a:xfrm>
          <a:prstGeom prst="rect">
            <a:avLst/>
          </a:prstGeom>
          <a:noFill/>
          <a:ln>
            <a:noFill/>
          </a:ln>
        </p:spPr>
      </p:pic>
      <p:pic>
        <p:nvPicPr>
          <p:cNvPr id="793" name="Google Shape;793;p58"/>
          <p:cNvPicPr preferRelativeResize="0"/>
          <p:nvPr/>
        </p:nvPicPr>
        <p:blipFill rotWithShape="1">
          <a:blip r:embed="rId21">
            <a:alphaModFix/>
          </a:blip>
          <a:srcRect b="0" l="0" r="0" t="0"/>
          <a:stretch/>
        </p:blipFill>
        <p:spPr>
          <a:xfrm>
            <a:off x="7365145" y="5155782"/>
            <a:ext cx="744459" cy="744459"/>
          </a:xfrm>
          <a:prstGeom prst="rect">
            <a:avLst/>
          </a:prstGeom>
          <a:noFill/>
          <a:ln>
            <a:noFill/>
          </a:ln>
        </p:spPr>
      </p:pic>
      <p:pic>
        <p:nvPicPr>
          <p:cNvPr id="794" name="Google Shape;794;p58"/>
          <p:cNvPicPr preferRelativeResize="0"/>
          <p:nvPr/>
        </p:nvPicPr>
        <p:blipFill rotWithShape="1">
          <a:blip r:embed="rId22">
            <a:alphaModFix/>
          </a:blip>
          <a:srcRect b="0" l="0" r="0" t="0"/>
          <a:stretch/>
        </p:blipFill>
        <p:spPr>
          <a:xfrm>
            <a:off x="9015230" y="5155782"/>
            <a:ext cx="744459" cy="744459"/>
          </a:xfrm>
          <a:prstGeom prst="rect">
            <a:avLst/>
          </a:prstGeom>
          <a:noFill/>
          <a:ln>
            <a:noFill/>
          </a:ln>
        </p:spPr>
      </p:pic>
      <p:pic>
        <p:nvPicPr>
          <p:cNvPr id="795" name="Google Shape;795;p58"/>
          <p:cNvPicPr preferRelativeResize="0"/>
          <p:nvPr/>
        </p:nvPicPr>
        <p:blipFill rotWithShape="1">
          <a:blip r:embed="rId23">
            <a:alphaModFix/>
          </a:blip>
          <a:srcRect b="0" l="0" r="0" t="0"/>
          <a:stretch/>
        </p:blipFill>
        <p:spPr>
          <a:xfrm>
            <a:off x="10665315" y="5155782"/>
            <a:ext cx="744459" cy="744459"/>
          </a:xfrm>
          <a:prstGeom prst="rect">
            <a:avLst/>
          </a:prstGeom>
          <a:noFill/>
          <a:ln>
            <a:noFill/>
          </a:ln>
        </p:spPr>
      </p:pic>
      <p:sp>
        <p:nvSpPr>
          <p:cNvPr id="796" name="Google Shape;796;p58"/>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Smart Social Services</a:t>
            </a:r>
            <a:endParaRPr sz="1400">
              <a:solidFill>
                <a:srgbClr val="3A3838"/>
              </a:solidFill>
              <a:latin typeface="DM Sans"/>
              <a:ea typeface="DM Sans"/>
              <a:cs typeface="DM Sans"/>
              <a:sym typeface="DM Sans"/>
            </a:endParaRPr>
          </a:p>
        </p:txBody>
      </p:sp>
      <p:sp>
        <p:nvSpPr>
          <p:cNvPr id="797" name="Google Shape;797;p58"/>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Smart meters</a:t>
            </a:r>
            <a:endParaRPr sz="1400">
              <a:solidFill>
                <a:srgbClr val="3A3838"/>
              </a:solidFill>
              <a:latin typeface="DM Sans"/>
              <a:ea typeface="DM Sans"/>
              <a:cs typeface="DM Sans"/>
              <a:sym typeface="DM Sans"/>
            </a:endParaRPr>
          </a:p>
        </p:txBody>
      </p:sp>
      <p:sp>
        <p:nvSpPr>
          <p:cNvPr id="798" name="Google Shape;798;p58"/>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Government</a:t>
            </a:r>
            <a:endParaRPr sz="1400">
              <a:solidFill>
                <a:srgbClr val="3A3838"/>
              </a:solidFill>
              <a:latin typeface="DM Sans"/>
              <a:ea typeface="DM Sans"/>
              <a:cs typeface="DM Sans"/>
              <a:sym typeface="DM Sans"/>
            </a:endParaRPr>
          </a:p>
        </p:txBody>
      </p:sp>
      <p:sp>
        <p:nvSpPr>
          <p:cNvPr id="799" name="Google Shape;799;p58"/>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Public Safety</a:t>
            </a:r>
            <a:endParaRPr sz="1400">
              <a:solidFill>
                <a:srgbClr val="3A3838"/>
              </a:solidFill>
              <a:latin typeface="DM Sans"/>
              <a:ea typeface="DM Sans"/>
              <a:cs typeface="DM Sans"/>
              <a:sym typeface="DM Sans"/>
            </a:endParaRPr>
          </a:p>
        </p:txBody>
      </p:sp>
      <p:sp>
        <p:nvSpPr>
          <p:cNvPr id="800" name="Google Shape;800;p58"/>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Predictive Maintenance</a:t>
            </a:r>
            <a:endParaRPr sz="1400">
              <a:solidFill>
                <a:srgbClr val="3A3838"/>
              </a:solidFill>
              <a:latin typeface="DM Sans"/>
              <a:ea typeface="DM Sans"/>
              <a:cs typeface="DM Sans"/>
              <a:sym typeface="DM Sans"/>
            </a:endParaRPr>
          </a:p>
          <a:p>
            <a:pPr indent="0" lvl="0" marL="0" marR="0" rtl="0" algn="l">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801" name="Google Shape;801;p58"/>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Geospatial</a:t>
            </a:r>
            <a:endParaRPr sz="1400">
              <a:solidFill>
                <a:srgbClr val="3A3838"/>
              </a:solidFill>
              <a:latin typeface="DM Sans"/>
              <a:ea typeface="DM Sans"/>
              <a:cs typeface="DM Sans"/>
              <a:sym typeface="DM Sans"/>
            </a:endParaRPr>
          </a:p>
        </p:txBody>
      </p:sp>
      <p:sp>
        <p:nvSpPr>
          <p:cNvPr id="802" name="Google Shape;802;p58"/>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Defense</a:t>
            </a:r>
            <a:endParaRPr sz="1400">
              <a:solidFill>
                <a:srgbClr val="3A3838"/>
              </a:solidFill>
              <a:latin typeface="DM Sans"/>
              <a:ea typeface="DM Sans"/>
              <a:cs typeface="DM Sans"/>
              <a:sym typeface="DM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5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808" name="Google Shape;808;p5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809" name="Google Shape;809;p59"/>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Platform Technologies</a:t>
            </a:r>
            <a:endParaRPr/>
          </a:p>
        </p:txBody>
      </p:sp>
      <p:sp>
        <p:nvSpPr>
          <p:cNvPr id="810" name="Google Shape;810;p59"/>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Redash-SQL Analytics</a:t>
            </a:r>
            <a:endParaRPr sz="1400">
              <a:solidFill>
                <a:srgbClr val="3A3838"/>
              </a:solidFill>
              <a:latin typeface="DM Sans"/>
              <a:ea typeface="DM Sans"/>
              <a:cs typeface="DM Sans"/>
              <a:sym typeface="DM Sans"/>
            </a:endParaRPr>
          </a:p>
        </p:txBody>
      </p:sp>
      <p:sp>
        <p:nvSpPr>
          <p:cNvPr id="811" name="Google Shape;811;p59"/>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Photon</a:t>
            </a:r>
            <a:endParaRPr sz="1400">
              <a:solidFill>
                <a:srgbClr val="3A3838"/>
              </a:solidFill>
              <a:latin typeface="DM Sans"/>
              <a:ea typeface="DM Sans"/>
              <a:cs typeface="DM Sans"/>
              <a:sym typeface="DM Sans"/>
            </a:endParaRPr>
          </a:p>
        </p:txBody>
      </p:sp>
      <p:sp>
        <p:nvSpPr>
          <p:cNvPr id="812" name="Google Shape;812;p59"/>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Lakehouse</a:t>
            </a:r>
            <a:endParaRPr sz="1400">
              <a:solidFill>
                <a:srgbClr val="3A3838"/>
              </a:solidFill>
              <a:latin typeface="DM Sans"/>
              <a:ea typeface="DM Sans"/>
              <a:cs typeface="DM Sans"/>
              <a:sym typeface="DM Sans"/>
            </a:endParaRPr>
          </a:p>
        </p:txBody>
      </p:sp>
      <p:sp>
        <p:nvSpPr>
          <p:cNvPr id="813" name="Google Shape;813;p59"/>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Delta Lake</a:t>
            </a:r>
            <a:endParaRPr sz="1400">
              <a:solidFill>
                <a:srgbClr val="3A3838"/>
              </a:solidFill>
              <a:latin typeface="DM Sans"/>
              <a:ea typeface="DM Sans"/>
              <a:cs typeface="DM Sans"/>
              <a:sym typeface="DM Sans"/>
            </a:endParaRPr>
          </a:p>
        </p:txBody>
      </p:sp>
      <p:sp>
        <p:nvSpPr>
          <p:cNvPr id="814" name="Google Shape;814;p59"/>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Delta Engine</a:t>
            </a:r>
            <a:endParaRPr sz="1400">
              <a:solidFill>
                <a:srgbClr val="3A3838"/>
              </a:solidFill>
              <a:latin typeface="DM Sans"/>
              <a:ea typeface="DM Sans"/>
              <a:cs typeface="DM Sans"/>
              <a:sym typeface="DM Sans"/>
            </a:endParaRPr>
          </a:p>
        </p:txBody>
      </p:sp>
      <p:sp>
        <p:nvSpPr>
          <p:cNvPr id="815" name="Google Shape;815;p59"/>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Data Lake</a:t>
            </a:r>
            <a:endParaRPr sz="1400">
              <a:solidFill>
                <a:srgbClr val="3A3838"/>
              </a:solidFill>
              <a:latin typeface="DM Sans"/>
              <a:ea typeface="DM Sans"/>
              <a:cs typeface="DM Sans"/>
              <a:sym typeface="DM Sans"/>
            </a:endParaRPr>
          </a:p>
        </p:txBody>
      </p:sp>
      <p:sp>
        <p:nvSpPr>
          <p:cNvPr id="816" name="Google Shape;816;p59"/>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Cluster Load Balancer</a:t>
            </a:r>
            <a:endParaRPr sz="1400">
              <a:solidFill>
                <a:srgbClr val="3A3838"/>
              </a:solidFill>
              <a:latin typeface="DM Sans"/>
              <a:ea typeface="DM Sans"/>
              <a:cs typeface="DM Sans"/>
              <a:sym typeface="DM Sans"/>
            </a:endParaRPr>
          </a:p>
        </p:txBody>
      </p:sp>
      <p:pic>
        <p:nvPicPr>
          <p:cNvPr id="817" name="Google Shape;817;p59"/>
          <p:cNvPicPr preferRelativeResize="0"/>
          <p:nvPr/>
        </p:nvPicPr>
        <p:blipFill rotWithShape="1">
          <a:blip r:embed="rId3">
            <a:alphaModFix/>
          </a:blip>
          <a:srcRect b="0" l="0" r="0" t="0"/>
          <a:stretch/>
        </p:blipFill>
        <p:spPr>
          <a:xfrm>
            <a:off x="764806" y="3429006"/>
            <a:ext cx="744464" cy="744458"/>
          </a:xfrm>
          <a:prstGeom prst="rect">
            <a:avLst/>
          </a:prstGeom>
          <a:noFill/>
          <a:ln>
            <a:noFill/>
          </a:ln>
        </p:spPr>
      </p:pic>
      <p:pic>
        <p:nvPicPr>
          <p:cNvPr id="818" name="Google Shape;818;p59"/>
          <p:cNvPicPr preferRelativeResize="0"/>
          <p:nvPr/>
        </p:nvPicPr>
        <p:blipFill rotWithShape="1">
          <a:blip r:embed="rId4">
            <a:alphaModFix/>
          </a:blip>
          <a:srcRect b="0" l="0" r="0" t="0"/>
          <a:stretch/>
        </p:blipFill>
        <p:spPr>
          <a:xfrm>
            <a:off x="2422035" y="3429006"/>
            <a:ext cx="744464" cy="744458"/>
          </a:xfrm>
          <a:prstGeom prst="rect">
            <a:avLst/>
          </a:prstGeom>
          <a:noFill/>
          <a:ln>
            <a:noFill/>
          </a:ln>
        </p:spPr>
      </p:pic>
      <p:pic>
        <p:nvPicPr>
          <p:cNvPr id="819" name="Google Shape;819;p59"/>
          <p:cNvPicPr preferRelativeResize="0"/>
          <p:nvPr/>
        </p:nvPicPr>
        <p:blipFill rotWithShape="1">
          <a:blip r:embed="rId5">
            <a:alphaModFix/>
          </a:blip>
          <a:srcRect b="0" l="0" r="0" t="0"/>
          <a:stretch/>
        </p:blipFill>
        <p:spPr>
          <a:xfrm>
            <a:off x="4079288" y="3429006"/>
            <a:ext cx="744464" cy="744458"/>
          </a:xfrm>
          <a:prstGeom prst="rect">
            <a:avLst/>
          </a:prstGeom>
          <a:noFill/>
          <a:ln>
            <a:noFill/>
          </a:ln>
        </p:spPr>
      </p:pic>
      <p:pic>
        <p:nvPicPr>
          <p:cNvPr id="820" name="Google Shape;820;p59"/>
          <p:cNvPicPr preferRelativeResize="0"/>
          <p:nvPr/>
        </p:nvPicPr>
        <p:blipFill rotWithShape="1">
          <a:blip r:embed="rId6">
            <a:alphaModFix/>
          </a:blip>
          <a:srcRect b="0" l="0" r="0" t="0"/>
          <a:stretch/>
        </p:blipFill>
        <p:spPr>
          <a:xfrm>
            <a:off x="5722246" y="3429006"/>
            <a:ext cx="744464" cy="744458"/>
          </a:xfrm>
          <a:prstGeom prst="rect">
            <a:avLst/>
          </a:prstGeom>
          <a:noFill/>
          <a:ln>
            <a:noFill/>
          </a:ln>
        </p:spPr>
      </p:pic>
      <p:pic>
        <p:nvPicPr>
          <p:cNvPr id="821" name="Google Shape;821;p59"/>
          <p:cNvPicPr preferRelativeResize="0"/>
          <p:nvPr/>
        </p:nvPicPr>
        <p:blipFill rotWithShape="1">
          <a:blip r:embed="rId7">
            <a:alphaModFix/>
          </a:blip>
          <a:srcRect b="0" l="0" r="0" t="0"/>
          <a:stretch/>
        </p:blipFill>
        <p:spPr>
          <a:xfrm>
            <a:off x="7365203" y="3429006"/>
            <a:ext cx="744464" cy="744458"/>
          </a:xfrm>
          <a:prstGeom prst="rect">
            <a:avLst/>
          </a:prstGeom>
          <a:noFill/>
          <a:ln>
            <a:noFill/>
          </a:ln>
        </p:spPr>
      </p:pic>
      <p:pic>
        <p:nvPicPr>
          <p:cNvPr id="822" name="Google Shape;822;p59"/>
          <p:cNvPicPr preferRelativeResize="0"/>
          <p:nvPr/>
        </p:nvPicPr>
        <p:blipFill rotWithShape="1">
          <a:blip r:embed="rId8">
            <a:alphaModFix/>
          </a:blip>
          <a:srcRect b="0" l="0" r="0" t="0"/>
          <a:stretch/>
        </p:blipFill>
        <p:spPr>
          <a:xfrm>
            <a:off x="9015258" y="3429006"/>
            <a:ext cx="744464" cy="744458"/>
          </a:xfrm>
          <a:prstGeom prst="rect">
            <a:avLst/>
          </a:prstGeom>
          <a:noFill/>
          <a:ln>
            <a:noFill/>
          </a:ln>
        </p:spPr>
      </p:pic>
      <p:pic>
        <p:nvPicPr>
          <p:cNvPr id="823" name="Google Shape;823;p59"/>
          <p:cNvPicPr preferRelativeResize="0"/>
          <p:nvPr/>
        </p:nvPicPr>
        <p:blipFill rotWithShape="1">
          <a:blip r:embed="rId9">
            <a:alphaModFix/>
          </a:blip>
          <a:srcRect b="0" l="0" r="0" t="0"/>
          <a:stretch/>
        </p:blipFill>
        <p:spPr>
          <a:xfrm>
            <a:off x="10665314" y="3429006"/>
            <a:ext cx="744464" cy="744458"/>
          </a:xfrm>
          <a:prstGeom prst="rect">
            <a:avLst/>
          </a:prstGeom>
          <a:noFill/>
          <a:ln>
            <a:noFill/>
          </a:ln>
        </p:spPr>
      </p:pic>
      <p:pic>
        <p:nvPicPr>
          <p:cNvPr id="824" name="Google Shape;824;p59"/>
          <p:cNvPicPr preferRelativeResize="0"/>
          <p:nvPr/>
        </p:nvPicPr>
        <p:blipFill rotWithShape="1">
          <a:blip r:embed="rId10">
            <a:alphaModFix/>
          </a:blip>
          <a:srcRect b="0" l="0" r="0" t="0"/>
          <a:stretch/>
        </p:blipFill>
        <p:spPr>
          <a:xfrm>
            <a:off x="764806" y="4295928"/>
            <a:ext cx="744464" cy="744458"/>
          </a:xfrm>
          <a:prstGeom prst="rect">
            <a:avLst/>
          </a:prstGeom>
          <a:noFill/>
          <a:ln>
            <a:noFill/>
          </a:ln>
        </p:spPr>
      </p:pic>
      <p:pic>
        <p:nvPicPr>
          <p:cNvPr id="825" name="Google Shape;825;p59"/>
          <p:cNvPicPr preferRelativeResize="0"/>
          <p:nvPr/>
        </p:nvPicPr>
        <p:blipFill rotWithShape="1">
          <a:blip r:embed="rId11">
            <a:alphaModFix/>
          </a:blip>
          <a:srcRect b="0" l="0" r="0" t="0"/>
          <a:stretch/>
        </p:blipFill>
        <p:spPr>
          <a:xfrm>
            <a:off x="2422035" y="4295928"/>
            <a:ext cx="744464" cy="744458"/>
          </a:xfrm>
          <a:prstGeom prst="rect">
            <a:avLst/>
          </a:prstGeom>
          <a:noFill/>
          <a:ln>
            <a:noFill/>
          </a:ln>
        </p:spPr>
      </p:pic>
      <p:pic>
        <p:nvPicPr>
          <p:cNvPr id="826" name="Google Shape;826;p59"/>
          <p:cNvPicPr preferRelativeResize="0"/>
          <p:nvPr/>
        </p:nvPicPr>
        <p:blipFill rotWithShape="1">
          <a:blip r:embed="rId12">
            <a:alphaModFix/>
          </a:blip>
          <a:srcRect b="0" l="0" r="0" t="0"/>
          <a:stretch/>
        </p:blipFill>
        <p:spPr>
          <a:xfrm>
            <a:off x="4079288" y="4295928"/>
            <a:ext cx="744464" cy="744458"/>
          </a:xfrm>
          <a:prstGeom prst="rect">
            <a:avLst/>
          </a:prstGeom>
          <a:noFill/>
          <a:ln>
            <a:noFill/>
          </a:ln>
        </p:spPr>
      </p:pic>
      <p:pic>
        <p:nvPicPr>
          <p:cNvPr id="827" name="Google Shape;827;p59"/>
          <p:cNvPicPr preferRelativeResize="0"/>
          <p:nvPr/>
        </p:nvPicPr>
        <p:blipFill rotWithShape="1">
          <a:blip r:embed="rId13">
            <a:alphaModFix/>
          </a:blip>
          <a:srcRect b="0" l="0" r="0" t="0"/>
          <a:stretch/>
        </p:blipFill>
        <p:spPr>
          <a:xfrm>
            <a:off x="5722246" y="4295928"/>
            <a:ext cx="744464" cy="744458"/>
          </a:xfrm>
          <a:prstGeom prst="rect">
            <a:avLst/>
          </a:prstGeom>
          <a:noFill/>
          <a:ln>
            <a:noFill/>
          </a:ln>
        </p:spPr>
      </p:pic>
      <p:pic>
        <p:nvPicPr>
          <p:cNvPr id="828" name="Google Shape;828;p59"/>
          <p:cNvPicPr preferRelativeResize="0"/>
          <p:nvPr/>
        </p:nvPicPr>
        <p:blipFill rotWithShape="1">
          <a:blip r:embed="rId14">
            <a:alphaModFix/>
          </a:blip>
          <a:srcRect b="0" l="0" r="0" t="0"/>
          <a:stretch/>
        </p:blipFill>
        <p:spPr>
          <a:xfrm>
            <a:off x="7365203" y="4295928"/>
            <a:ext cx="744464" cy="744458"/>
          </a:xfrm>
          <a:prstGeom prst="rect">
            <a:avLst/>
          </a:prstGeom>
          <a:noFill/>
          <a:ln>
            <a:noFill/>
          </a:ln>
        </p:spPr>
      </p:pic>
      <p:pic>
        <p:nvPicPr>
          <p:cNvPr id="829" name="Google Shape;829;p59"/>
          <p:cNvPicPr preferRelativeResize="0"/>
          <p:nvPr/>
        </p:nvPicPr>
        <p:blipFill rotWithShape="1">
          <a:blip r:embed="rId15">
            <a:alphaModFix/>
          </a:blip>
          <a:srcRect b="0" l="0" r="0" t="0"/>
          <a:stretch/>
        </p:blipFill>
        <p:spPr>
          <a:xfrm>
            <a:off x="9015258" y="4295928"/>
            <a:ext cx="744464" cy="744458"/>
          </a:xfrm>
          <a:prstGeom prst="rect">
            <a:avLst/>
          </a:prstGeom>
          <a:noFill/>
          <a:ln>
            <a:noFill/>
          </a:ln>
        </p:spPr>
      </p:pic>
      <p:pic>
        <p:nvPicPr>
          <p:cNvPr id="830" name="Google Shape;830;p59"/>
          <p:cNvPicPr preferRelativeResize="0"/>
          <p:nvPr/>
        </p:nvPicPr>
        <p:blipFill rotWithShape="1">
          <a:blip r:embed="rId16">
            <a:alphaModFix/>
          </a:blip>
          <a:srcRect b="0" l="0" r="0" t="0"/>
          <a:stretch/>
        </p:blipFill>
        <p:spPr>
          <a:xfrm>
            <a:off x="10665314" y="4295928"/>
            <a:ext cx="744464" cy="744458"/>
          </a:xfrm>
          <a:prstGeom prst="rect">
            <a:avLst/>
          </a:prstGeom>
          <a:noFill/>
          <a:ln>
            <a:noFill/>
          </a:ln>
        </p:spPr>
      </p:pic>
      <p:pic>
        <p:nvPicPr>
          <p:cNvPr id="831" name="Google Shape;831;p59"/>
          <p:cNvPicPr preferRelativeResize="0"/>
          <p:nvPr/>
        </p:nvPicPr>
        <p:blipFill rotWithShape="1">
          <a:blip r:embed="rId17">
            <a:alphaModFix/>
          </a:blip>
          <a:srcRect b="0" l="0" r="0" t="0"/>
          <a:stretch/>
        </p:blipFill>
        <p:spPr>
          <a:xfrm>
            <a:off x="764806" y="5162849"/>
            <a:ext cx="744464" cy="744458"/>
          </a:xfrm>
          <a:prstGeom prst="rect">
            <a:avLst/>
          </a:prstGeom>
          <a:noFill/>
          <a:ln>
            <a:noFill/>
          </a:ln>
        </p:spPr>
      </p:pic>
      <p:pic>
        <p:nvPicPr>
          <p:cNvPr id="832" name="Google Shape;832;p59"/>
          <p:cNvPicPr preferRelativeResize="0"/>
          <p:nvPr/>
        </p:nvPicPr>
        <p:blipFill rotWithShape="1">
          <a:blip r:embed="rId18">
            <a:alphaModFix/>
          </a:blip>
          <a:srcRect b="0" l="0" r="0" t="0"/>
          <a:stretch/>
        </p:blipFill>
        <p:spPr>
          <a:xfrm>
            <a:off x="2422035" y="5162849"/>
            <a:ext cx="744464" cy="744458"/>
          </a:xfrm>
          <a:prstGeom prst="rect">
            <a:avLst/>
          </a:prstGeom>
          <a:noFill/>
          <a:ln>
            <a:noFill/>
          </a:ln>
        </p:spPr>
      </p:pic>
      <p:pic>
        <p:nvPicPr>
          <p:cNvPr id="833" name="Google Shape;833;p59"/>
          <p:cNvPicPr preferRelativeResize="0"/>
          <p:nvPr/>
        </p:nvPicPr>
        <p:blipFill rotWithShape="1">
          <a:blip r:embed="rId19">
            <a:alphaModFix/>
          </a:blip>
          <a:srcRect b="0" l="0" r="0" t="0"/>
          <a:stretch/>
        </p:blipFill>
        <p:spPr>
          <a:xfrm>
            <a:off x="4079288" y="5162849"/>
            <a:ext cx="744464" cy="744458"/>
          </a:xfrm>
          <a:prstGeom prst="rect">
            <a:avLst/>
          </a:prstGeom>
          <a:noFill/>
          <a:ln>
            <a:noFill/>
          </a:ln>
        </p:spPr>
      </p:pic>
      <p:pic>
        <p:nvPicPr>
          <p:cNvPr id="834" name="Google Shape;834;p59"/>
          <p:cNvPicPr preferRelativeResize="0"/>
          <p:nvPr/>
        </p:nvPicPr>
        <p:blipFill rotWithShape="1">
          <a:blip r:embed="rId20">
            <a:alphaModFix/>
          </a:blip>
          <a:srcRect b="0" l="0" r="0" t="0"/>
          <a:stretch/>
        </p:blipFill>
        <p:spPr>
          <a:xfrm>
            <a:off x="5722246" y="5162849"/>
            <a:ext cx="744464" cy="744458"/>
          </a:xfrm>
          <a:prstGeom prst="rect">
            <a:avLst/>
          </a:prstGeom>
          <a:noFill/>
          <a:ln>
            <a:noFill/>
          </a:ln>
        </p:spPr>
      </p:pic>
      <p:pic>
        <p:nvPicPr>
          <p:cNvPr id="835" name="Google Shape;835;p59"/>
          <p:cNvPicPr preferRelativeResize="0"/>
          <p:nvPr/>
        </p:nvPicPr>
        <p:blipFill rotWithShape="1">
          <a:blip r:embed="rId21">
            <a:alphaModFix/>
          </a:blip>
          <a:srcRect b="0" l="0" r="0" t="0"/>
          <a:stretch/>
        </p:blipFill>
        <p:spPr>
          <a:xfrm>
            <a:off x="7365203" y="5162849"/>
            <a:ext cx="744464" cy="744458"/>
          </a:xfrm>
          <a:prstGeom prst="rect">
            <a:avLst/>
          </a:prstGeom>
          <a:noFill/>
          <a:ln>
            <a:noFill/>
          </a:ln>
        </p:spPr>
      </p:pic>
      <p:pic>
        <p:nvPicPr>
          <p:cNvPr id="836" name="Google Shape;836;p59"/>
          <p:cNvPicPr preferRelativeResize="0"/>
          <p:nvPr/>
        </p:nvPicPr>
        <p:blipFill rotWithShape="1">
          <a:blip r:embed="rId22">
            <a:alphaModFix/>
          </a:blip>
          <a:srcRect b="0" l="0" r="0" t="0"/>
          <a:stretch/>
        </p:blipFill>
        <p:spPr>
          <a:xfrm>
            <a:off x="9015258" y="5162849"/>
            <a:ext cx="744464" cy="744458"/>
          </a:xfrm>
          <a:prstGeom prst="rect">
            <a:avLst/>
          </a:prstGeom>
          <a:noFill/>
          <a:ln>
            <a:noFill/>
          </a:ln>
        </p:spPr>
      </p:pic>
      <p:pic>
        <p:nvPicPr>
          <p:cNvPr id="837" name="Google Shape;837;p59"/>
          <p:cNvPicPr preferRelativeResize="0"/>
          <p:nvPr/>
        </p:nvPicPr>
        <p:blipFill rotWithShape="1">
          <a:blip r:embed="rId23">
            <a:alphaModFix/>
          </a:blip>
          <a:srcRect b="0" l="0" r="0" t="0"/>
          <a:stretch/>
        </p:blipFill>
        <p:spPr>
          <a:xfrm>
            <a:off x="10665314" y="5162849"/>
            <a:ext cx="744464" cy="74445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6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843" name="Google Shape;843;p6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844" name="Google Shape;844;p60"/>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Security</a:t>
            </a:r>
            <a:endParaRPr/>
          </a:p>
        </p:txBody>
      </p:sp>
      <p:sp>
        <p:nvSpPr>
          <p:cNvPr id="845" name="Google Shape;845;p60"/>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Breach</a:t>
            </a:r>
            <a:endParaRPr sz="1400">
              <a:solidFill>
                <a:srgbClr val="3A3838"/>
              </a:solidFill>
              <a:latin typeface="DM Sans"/>
              <a:ea typeface="DM Sans"/>
              <a:cs typeface="DM Sans"/>
              <a:sym typeface="DM Sans"/>
            </a:endParaRPr>
          </a:p>
        </p:txBody>
      </p:sp>
      <p:sp>
        <p:nvSpPr>
          <p:cNvPr id="846" name="Google Shape;846;p60"/>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Botnet</a:t>
            </a:r>
            <a:endParaRPr sz="1400">
              <a:solidFill>
                <a:srgbClr val="3A3838"/>
              </a:solidFill>
              <a:latin typeface="DM Sans"/>
              <a:ea typeface="DM Sans"/>
              <a:cs typeface="DM Sans"/>
              <a:sym typeface="DM Sans"/>
            </a:endParaRPr>
          </a:p>
        </p:txBody>
      </p:sp>
      <p:sp>
        <p:nvSpPr>
          <p:cNvPr id="847" name="Google Shape;847;p60"/>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Automation Orchestration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848" name="Google Shape;848;p60"/>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Authentication Service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849" name="Google Shape;849;p60"/>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Attacker</a:t>
            </a:r>
            <a:endParaRPr sz="1400">
              <a:solidFill>
                <a:srgbClr val="3A3838"/>
              </a:solidFill>
              <a:latin typeface="DM Sans"/>
              <a:ea typeface="DM Sans"/>
              <a:cs typeface="DM Sans"/>
              <a:sym typeface="DM Sans"/>
            </a:endParaRPr>
          </a:p>
        </p:txBody>
      </p:sp>
      <p:sp>
        <p:nvSpPr>
          <p:cNvPr id="850" name="Google Shape;850;p60"/>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Apps Services</a:t>
            </a:r>
            <a:endParaRPr sz="1400">
              <a:solidFill>
                <a:srgbClr val="3A3838"/>
              </a:solidFill>
              <a:latin typeface="DM Sans"/>
              <a:ea typeface="DM Sans"/>
              <a:cs typeface="DM Sans"/>
              <a:sym typeface="DM Sans"/>
            </a:endParaRPr>
          </a:p>
        </p:txBody>
      </p:sp>
      <p:sp>
        <p:nvSpPr>
          <p:cNvPr id="851" name="Google Shape;851;p60"/>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Analytics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852" name="Google Shape;852;p60"/>
          <p:cNvPicPr preferRelativeResize="0"/>
          <p:nvPr/>
        </p:nvPicPr>
        <p:blipFill rotWithShape="1">
          <a:blip r:embed="rId3">
            <a:alphaModFix/>
          </a:blip>
          <a:srcRect b="0" l="0" r="0" t="0"/>
          <a:stretch/>
        </p:blipFill>
        <p:spPr>
          <a:xfrm>
            <a:off x="761806" y="3429006"/>
            <a:ext cx="744464" cy="744458"/>
          </a:xfrm>
          <a:prstGeom prst="rect">
            <a:avLst/>
          </a:prstGeom>
          <a:noFill/>
          <a:ln>
            <a:noFill/>
          </a:ln>
        </p:spPr>
      </p:pic>
      <p:pic>
        <p:nvPicPr>
          <p:cNvPr id="853" name="Google Shape;853;p60"/>
          <p:cNvPicPr preferRelativeResize="0"/>
          <p:nvPr/>
        </p:nvPicPr>
        <p:blipFill rotWithShape="1">
          <a:blip r:embed="rId4">
            <a:alphaModFix/>
          </a:blip>
          <a:srcRect b="0" l="0" r="0" t="0"/>
          <a:stretch/>
        </p:blipFill>
        <p:spPr>
          <a:xfrm>
            <a:off x="2412391" y="3429006"/>
            <a:ext cx="744464" cy="744458"/>
          </a:xfrm>
          <a:prstGeom prst="rect">
            <a:avLst/>
          </a:prstGeom>
          <a:noFill/>
          <a:ln>
            <a:noFill/>
          </a:ln>
        </p:spPr>
      </p:pic>
      <p:pic>
        <p:nvPicPr>
          <p:cNvPr id="854" name="Google Shape;854;p60"/>
          <p:cNvPicPr preferRelativeResize="0"/>
          <p:nvPr/>
        </p:nvPicPr>
        <p:blipFill rotWithShape="1">
          <a:blip r:embed="rId5">
            <a:alphaModFix/>
          </a:blip>
          <a:srcRect b="0" l="0" r="0" t="0"/>
          <a:stretch/>
        </p:blipFill>
        <p:spPr>
          <a:xfrm>
            <a:off x="4062976" y="3429006"/>
            <a:ext cx="744464" cy="744458"/>
          </a:xfrm>
          <a:prstGeom prst="rect">
            <a:avLst/>
          </a:prstGeom>
          <a:noFill/>
          <a:ln>
            <a:noFill/>
          </a:ln>
        </p:spPr>
      </p:pic>
      <p:pic>
        <p:nvPicPr>
          <p:cNvPr id="855" name="Google Shape;855;p60"/>
          <p:cNvPicPr preferRelativeResize="0"/>
          <p:nvPr/>
        </p:nvPicPr>
        <p:blipFill rotWithShape="1">
          <a:blip r:embed="rId6">
            <a:alphaModFix/>
          </a:blip>
          <a:srcRect b="0" l="0" r="0" t="0"/>
          <a:stretch/>
        </p:blipFill>
        <p:spPr>
          <a:xfrm>
            <a:off x="5713560" y="3429006"/>
            <a:ext cx="744464" cy="744458"/>
          </a:xfrm>
          <a:prstGeom prst="rect">
            <a:avLst/>
          </a:prstGeom>
          <a:noFill/>
          <a:ln>
            <a:noFill/>
          </a:ln>
        </p:spPr>
      </p:pic>
      <p:pic>
        <p:nvPicPr>
          <p:cNvPr id="856" name="Google Shape;856;p60"/>
          <p:cNvPicPr preferRelativeResize="0"/>
          <p:nvPr/>
        </p:nvPicPr>
        <p:blipFill rotWithShape="1">
          <a:blip r:embed="rId7">
            <a:alphaModFix/>
          </a:blip>
          <a:srcRect b="0" l="0" r="0" t="0"/>
          <a:stretch/>
        </p:blipFill>
        <p:spPr>
          <a:xfrm>
            <a:off x="7364145" y="3429006"/>
            <a:ext cx="744464" cy="744458"/>
          </a:xfrm>
          <a:prstGeom prst="rect">
            <a:avLst/>
          </a:prstGeom>
          <a:noFill/>
          <a:ln>
            <a:noFill/>
          </a:ln>
        </p:spPr>
      </p:pic>
      <p:pic>
        <p:nvPicPr>
          <p:cNvPr id="857" name="Google Shape;857;p60"/>
          <p:cNvPicPr preferRelativeResize="0"/>
          <p:nvPr/>
        </p:nvPicPr>
        <p:blipFill rotWithShape="1">
          <a:blip r:embed="rId8">
            <a:alphaModFix/>
          </a:blip>
          <a:srcRect b="0" l="0" r="0" t="0"/>
          <a:stretch/>
        </p:blipFill>
        <p:spPr>
          <a:xfrm>
            <a:off x="9014729" y="3429006"/>
            <a:ext cx="744464" cy="744458"/>
          </a:xfrm>
          <a:prstGeom prst="rect">
            <a:avLst/>
          </a:prstGeom>
          <a:noFill/>
          <a:ln>
            <a:noFill/>
          </a:ln>
        </p:spPr>
      </p:pic>
      <p:pic>
        <p:nvPicPr>
          <p:cNvPr id="858" name="Google Shape;858;p60"/>
          <p:cNvPicPr preferRelativeResize="0"/>
          <p:nvPr/>
        </p:nvPicPr>
        <p:blipFill rotWithShape="1">
          <a:blip r:embed="rId9">
            <a:alphaModFix/>
          </a:blip>
          <a:srcRect b="0" l="0" r="0" t="0"/>
          <a:stretch/>
        </p:blipFill>
        <p:spPr>
          <a:xfrm>
            <a:off x="10665314" y="3429006"/>
            <a:ext cx="744464" cy="744458"/>
          </a:xfrm>
          <a:prstGeom prst="rect">
            <a:avLst/>
          </a:prstGeom>
          <a:noFill/>
          <a:ln>
            <a:noFill/>
          </a:ln>
        </p:spPr>
      </p:pic>
      <p:pic>
        <p:nvPicPr>
          <p:cNvPr id="859" name="Google Shape;859;p60"/>
          <p:cNvPicPr preferRelativeResize="0"/>
          <p:nvPr/>
        </p:nvPicPr>
        <p:blipFill rotWithShape="1">
          <a:blip r:embed="rId10">
            <a:alphaModFix/>
          </a:blip>
          <a:srcRect b="0" l="0" r="0" t="0"/>
          <a:stretch/>
        </p:blipFill>
        <p:spPr>
          <a:xfrm>
            <a:off x="761806" y="4295928"/>
            <a:ext cx="744464" cy="744458"/>
          </a:xfrm>
          <a:prstGeom prst="rect">
            <a:avLst/>
          </a:prstGeom>
          <a:noFill/>
          <a:ln>
            <a:noFill/>
          </a:ln>
        </p:spPr>
      </p:pic>
      <p:pic>
        <p:nvPicPr>
          <p:cNvPr id="860" name="Google Shape;860;p60"/>
          <p:cNvPicPr preferRelativeResize="0"/>
          <p:nvPr/>
        </p:nvPicPr>
        <p:blipFill rotWithShape="1">
          <a:blip r:embed="rId11">
            <a:alphaModFix/>
          </a:blip>
          <a:srcRect b="0" l="0" r="0" t="0"/>
          <a:stretch/>
        </p:blipFill>
        <p:spPr>
          <a:xfrm>
            <a:off x="2412391" y="4295928"/>
            <a:ext cx="744464" cy="744458"/>
          </a:xfrm>
          <a:prstGeom prst="rect">
            <a:avLst/>
          </a:prstGeom>
          <a:noFill/>
          <a:ln>
            <a:noFill/>
          </a:ln>
        </p:spPr>
      </p:pic>
      <p:pic>
        <p:nvPicPr>
          <p:cNvPr id="861" name="Google Shape;861;p60"/>
          <p:cNvPicPr preferRelativeResize="0"/>
          <p:nvPr/>
        </p:nvPicPr>
        <p:blipFill rotWithShape="1">
          <a:blip r:embed="rId12">
            <a:alphaModFix/>
          </a:blip>
          <a:srcRect b="0" l="0" r="0" t="0"/>
          <a:stretch/>
        </p:blipFill>
        <p:spPr>
          <a:xfrm>
            <a:off x="4062976" y="4295928"/>
            <a:ext cx="744464" cy="744458"/>
          </a:xfrm>
          <a:prstGeom prst="rect">
            <a:avLst/>
          </a:prstGeom>
          <a:noFill/>
          <a:ln>
            <a:noFill/>
          </a:ln>
        </p:spPr>
      </p:pic>
      <p:pic>
        <p:nvPicPr>
          <p:cNvPr id="862" name="Google Shape;862;p60"/>
          <p:cNvPicPr preferRelativeResize="0"/>
          <p:nvPr/>
        </p:nvPicPr>
        <p:blipFill rotWithShape="1">
          <a:blip r:embed="rId13">
            <a:alphaModFix/>
          </a:blip>
          <a:srcRect b="0" l="0" r="0" t="0"/>
          <a:stretch/>
        </p:blipFill>
        <p:spPr>
          <a:xfrm>
            <a:off x="5713560" y="4295928"/>
            <a:ext cx="744464" cy="744458"/>
          </a:xfrm>
          <a:prstGeom prst="rect">
            <a:avLst/>
          </a:prstGeom>
          <a:noFill/>
          <a:ln>
            <a:noFill/>
          </a:ln>
        </p:spPr>
      </p:pic>
      <p:pic>
        <p:nvPicPr>
          <p:cNvPr id="863" name="Google Shape;863;p60"/>
          <p:cNvPicPr preferRelativeResize="0"/>
          <p:nvPr/>
        </p:nvPicPr>
        <p:blipFill rotWithShape="1">
          <a:blip r:embed="rId14">
            <a:alphaModFix/>
          </a:blip>
          <a:srcRect b="0" l="0" r="0" t="0"/>
          <a:stretch/>
        </p:blipFill>
        <p:spPr>
          <a:xfrm>
            <a:off x="7364145" y="4295928"/>
            <a:ext cx="744464" cy="744458"/>
          </a:xfrm>
          <a:prstGeom prst="rect">
            <a:avLst/>
          </a:prstGeom>
          <a:noFill/>
          <a:ln>
            <a:noFill/>
          </a:ln>
        </p:spPr>
      </p:pic>
      <p:pic>
        <p:nvPicPr>
          <p:cNvPr id="864" name="Google Shape;864;p60"/>
          <p:cNvPicPr preferRelativeResize="0"/>
          <p:nvPr/>
        </p:nvPicPr>
        <p:blipFill rotWithShape="1">
          <a:blip r:embed="rId15">
            <a:alphaModFix/>
          </a:blip>
          <a:srcRect b="0" l="0" r="0" t="0"/>
          <a:stretch/>
        </p:blipFill>
        <p:spPr>
          <a:xfrm>
            <a:off x="9014729" y="4295928"/>
            <a:ext cx="744464" cy="744458"/>
          </a:xfrm>
          <a:prstGeom prst="rect">
            <a:avLst/>
          </a:prstGeom>
          <a:noFill/>
          <a:ln>
            <a:noFill/>
          </a:ln>
        </p:spPr>
      </p:pic>
      <p:pic>
        <p:nvPicPr>
          <p:cNvPr id="865" name="Google Shape;865;p60"/>
          <p:cNvPicPr preferRelativeResize="0"/>
          <p:nvPr/>
        </p:nvPicPr>
        <p:blipFill rotWithShape="1">
          <a:blip r:embed="rId16">
            <a:alphaModFix/>
          </a:blip>
          <a:srcRect b="0" l="0" r="0" t="0"/>
          <a:stretch/>
        </p:blipFill>
        <p:spPr>
          <a:xfrm>
            <a:off x="10665314" y="4295928"/>
            <a:ext cx="744464" cy="744458"/>
          </a:xfrm>
          <a:prstGeom prst="rect">
            <a:avLst/>
          </a:prstGeom>
          <a:noFill/>
          <a:ln>
            <a:noFill/>
          </a:ln>
        </p:spPr>
      </p:pic>
      <p:pic>
        <p:nvPicPr>
          <p:cNvPr id="866" name="Google Shape;866;p60"/>
          <p:cNvPicPr preferRelativeResize="0"/>
          <p:nvPr/>
        </p:nvPicPr>
        <p:blipFill rotWithShape="1">
          <a:blip r:embed="rId17">
            <a:alphaModFix/>
          </a:blip>
          <a:srcRect b="0" l="0" r="0" t="0"/>
          <a:stretch/>
        </p:blipFill>
        <p:spPr>
          <a:xfrm>
            <a:off x="761806" y="5162849"/>
            <a:ext cx="744464" cy="744458"/>
          </a:xfrm>
          <a:prstGeom prst="rect">
            <a:avLst/>
          </a:prstGeom>
          <a:noFill/>
          <a:ln>
            <a:noFill/>
          </a:ln>
        </p:spPr>
      </p:pic>
      <p:pic>
        <p:nvPicPr>
          <p:cNvPr id="867" name="Google Shape;867;p60"/>
          <p:cNvPicPr preferRelativeResize="0"/>
          <p:nvPr/>
        </p:nvPicPr>
        <p:blipFill rotWithShape="1">
          <a:blip r:embed="rId18">
            <a:alphaModFix/>
          </a:blip>
          <a:srcRect b="0" l="0" r="0" t="0"/>
          <a:stretch/>
        </p:blipFill>
        <p:spPr>
          <a:xfrm>
            <a:off x="2412391" y="5162849"/>
            <a:ext cx="744464" cy="744458"/>
          </a:xfrm>
          <a:prstGeom prst="rect">
            <a:avLst/>
          </a:prstGeom>
          <a:noFill/>
          <a:ln>
            <a:noFill/>
          </a:ln>
        </p:spPr>
      </p:pic>
      <p:pic>
        <p:nvPicPr>
          <p:cNvPr id="868" name="Google Shape;868;p60"/>
          <p:cNvPicPr preferRelativeResize="0"/>
          <p:nvPr/>
        </p:nvPicPr>
        <p:blipFill rotWithShape="1">
          <a:blip r:embed="rId19">
            <a:alphaModFix/>
          </a:blip>
          <a:srcRect b="0" l="0" r="0" t="0"/>
          <a:stretch/>
        </p:blipFill>
        <p:spPr>
          <a:xfrm>
            <a:off x="4062976" y="5162849"/>
            <a:ext cx="744464" cy="744458"/>
          </a:xfrm>
          <a:prstGeom prst="rect">
            <a:avLst/>
          </a:prstGeom>
          <a:noFill/>
          <a:ln>
            <a:noFill/>
          </a:ln>
        </p:spPr>
      </p:pic>
      <p:pic>
        <p:nvPicPr>
          <p:cNvPr id="869" name="Google Shape;869;p60"/>
          <p:cNvPicPr preferRelativeResize="0"/>
          <p:nvPr/>
        </p:nvPicPr>
        <p:blipFill rotWithShape="1">
          <a:blip r:embed="rId20">
            <a:alphaModFix/>
          </a:blip>
          <a:srcRect b="0" l="0" r="0" t="0"/>
          <a:stretch/>
        </p:blipFill>
        <p:spPr>
          <a:xfrm>
            <a:off x="5713560" y="5162849"/>
            <a:ext cx="744464" cy="744458"/>
          </a:xfrm>
          <a:prstGeom prst="rect">
            <a:avLst/>
          </a:prstGeom>
          <a:noFill/>
          <a:ln>
            <a:noFill/>
          </a:ln>
        </p:spPr>
      </p:pic>
      <p:pic>
        <p:nvPicPr>
          <p:cNvPr id="870" name="Google Shape;870;p60"/>
          <p:cNvPicPr preferRelativeResize="0"/>
          <p:nvPr/>
        </p:nvPicPr>
        <p:blipFill rotWithShape="1">
          <a:blip r:embed="rId21">
            <a:alphaModFix/>
          </a:blip>
          <a:srcRect b="0" l="0" r="0" t="0"/>
          <a:stretch/>
        </p:blipFill>
        <p:spPr>
          <a:xfrm>
            <a:off x="7364145" y="5162849"/>
            <a:ext cx="744464" cy="744458"/>
          </a:xfrm>
          <a:prstGeom prst="rect">
            <a:avLst/>
          </a:prstGeom>
          <a:noFill/>
          <a:ln>
            <a:noFill/>
          </a:ln>
        </p:spPr>
      </p:pic>
      <p:pic>
        <p:nvPicPr>
          <p:cNvPr id="871" name="Google Shape;871;p60"/>
          <p:cNvPicPr preferRelativeResize="0"/>
          <p:nvPr/>
        </p:nvPicPr>
        <p:blipFill rotWithShape="1">
          <a:blip r:embed="rId22">
            <a:alphaModFix/>
          </a:blip>
          <a:srcRect b="0" l="0" r="0" t="0"/>
          <a:stretch/>
        </p:blipFill>
        <p:spPr>
          <a:xfrm>
            <a:off x="9014729" y="5162849"/>
            <a:ext cx="744464" cy="744458"/>
          </a:xfrm>
          <a:prstGeom prst="rect">
            <a:avLst/>
          </a:prstGeom>
          <a:noFill/>
          <a:ln>
            <a:noFill/>
          </a:ln>
        </p:spPr>
      </p:pic>
      <p:pic>
        <p:nvPicPr>
          <p:cNvPr id="872" name="Google Shape;872;p60"/>
          <p:cNvPicPr preferRelativeResize="0"/>
          <p:nvPr/>
        </p:nvPicPr>
        <p:blipFill rotWithShape="1">
          <a:blip r:embed="rId23">
            <a:alphaModFix/>
          </a:blip>
          <a:srcRect b="0" l="0" r="0" t="0"/>
          <a:stretch/>
        </p:blipFill>
        <p:spPr>
          <a:xfrm>
            <a:off x="10665314" y="5162849"/>
            <a:ext cx="744464" cy="74445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61"/>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878" name="Google Shape;878;p6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879" name="Google Shape;879;p61"/>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Security (Cont.)</a:t>
            </a:r>
            <a:endParaRPr/>
          </a:p>
        </p:txBody>
      </p:sp>
      <p:sp>
        <p:nvSpPr>
          <p:cNvPr id="880" name="Google Shape;880;p61"/>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Parser, Normalizer, ETL-ELT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881" name="Google Shape;881;p61"/>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Cyber Criminal</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882" name="Google Shape;882;p61"/>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Context-Enrichment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883" name="Google Shape;883;p61"/>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Compliance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884" name="Google Shape;884;p61"/>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Cloud Storage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885" name="Google Shape;885;p61"/>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Cloud Security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886" name="Google Shape;886;p61"/>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Business Risk</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887" name="Google Shape;887;p61"/>
          <p:cNvPicPr preferRelativeResize="0"/>
          <p:nvPr/>
        </p:nvPicPr>
        <p:blipFill rotWithShape="1">
          <a:blip r:embed="rId3">
            <a:alphaModFix/>
          </a:blip>
          <a:srcRect b="0" l="0" r="0" t="0"/>
          <a:stretch/>
        </p:blipFill>
        <p:spPr>
          <a:xfrm>
            <a:off x="764806" y="3429006"/>
            <a:ext cx="744464" cy="744458"/>
          </a:xfrm>
          <a:prstGeom prst="rect">
            <a:avLst/>
          </a:prstGeom>
          <a:noFill/>
          <a:ln>
            <a:noFill/>
          </a:ln>
        </p:spPr>
      </p:pic>
      <p:pic>
        <p:nvPicPr>
          <p:cNvPr id="888" name="Google Shape;888;p61"/>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889" name="Google Shape;889;p61"/>
          <p:cNvPicPr preferRelativeResize="0"/>
          <p:nvPr/>
        </p:nvPicPr>
        <p:blipFill rotWithShape="1">
          <a:blip r:embed="rId5">
            <a:alphaModFix/>
          </a:blip>
          <a:srcRect b="0" l="0" r="0" t="0"/>
          <a:stretch/>
        </p:blipFill>
        <p:spPr>
          <a:xfrm>
            <a:off x="4064975" y="3429006"/>
            <a:ext cx="744464" cy="744458"/>
          </a:xfrm>
          <a:prstGeom prst="rect">
            <a:avLst/>
          </a:prstGeom>
          <a:noFill/>
          <a:ln>
            <a:noFill/>
          </a:ln>
        </p:spPr>
      </p:pic>
      <p:pic>
        <p:nvPicPr>
          <p:cNvPr id="890" name="Google Shape;890;p61"/>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891" name="Google Shape;891;p61"/>
          <p:cNvPicPr preferRelativeResize="0"/>
          <p:nvPr/>
        </p:nvPicPr>
        <p:blipFill rotWithShape="1">
          <a:blip r:embed="rId7">
            <a:alphaModFix/>
          </a:blip>
          <a:srcRect b="0" l="0" r="0" t="0"/>
          <a:stretch/>
        </p:blipFill>
        <p:spPr>
          <a:xfrm>
            <a:off x="7365144" y="3429006"/>
            <a:ext cx="744464" cy="744458"/>
          </a:xfrm>
          <a:prstGeom prst="rect">
            <a:avLst/>
          </a:prstGeom>
          <a:noFill/>
          <a:ln>
            <a:noFill/>
          </a:ln>
        </p:spPr>
      </p:pic>
      <p:pic>
        <p:nvPicPr>
          <p:cNvPr id="892" name="Google Shape;892;p61"/>
          <p:cNvPicPr preferRelativeResize="0"/>
          <p:nvPr/>
        </p:nvPicPr>
        <p:blipFill rotWithShape="1">
          <a:blip r:embed="rId8">
            <a:alphaModFix/>
          </a:blip>
          <a:srcRect b="0" l="0" r="0" t="0"/>
          <a:stretch/>
        </p:blipFill>
        <p:spPr>
          <a:xfrm>
            <a:off x="9015229" y="3429006"/>
            <a:ext cx="744464" cy="744458"/>
          </a:xfrm>
          <a:prstGeom prst="rect">
            <a:avLst/>
          </a:prstGeom>
          <a:noFill/>
          <a:ln>
            <a:noFill/>
          </a:ln>
        </p:spPr>
      </p:pic>
      <p:pic>
        <p:nvPicPr>
          <p:cNvPr id="893" name="Google Shape;893;p61"/>
          <p:cNvPicPr preferRelativeResize="0"/>
          <p:nvPr/>
        </p:nvPicPr>
        <p:blipFill rotWithShape="1">
          <a:blip r:embed="rId9">
            <a:alphaModFix/>
          </a:blip>
          <a:srcRect b="0" l="0" r="0" t="0"/>
          <a:stretch/>
        </p:blipFill>
        <p:spPr>
          <a:xfrm>
            <a:off x="10665314" y="3429006"/>
            <a:ext cx="744464" cy="744458"/>
          </a:xfrm>
          <a:prstGeom prst="rect">
            <a:avLst/>
          </a:prstGeom>
          <a:noFill/>
          <a:ln>
            <a:noFill/>
          </a:ln>
        </p:spPr>
      </p:pic>
      <p:pic>
        <p:nvPicPr>
          <p:cNvPr id="894" name="Google Shape;894;p61"/>
          <p:cNvPicPr preferRelativeResize="0"/>
          <p:nvPr/>
        </p:nvPicPr>
        <p:blipFill rotWithShape="1">
          <a:blip r:embed="rId10">
            <a:alphaModFix/>
          </a:blip>
          <a:srcRect b="0" l="0" r="0" t="0"/>
          <a:stretch/>
        </p:blipFill>
        <p:spPr>
          <a:xfrm>
            <a:off x="764806" y="4295928"/>
            <a:ext cx="744464" cy="744458"/>
          </a:xfrm>
          <a:prstGeom prst="rect">
            <a:avLst/>
          </a:prstGeom>
          <a:noFill/>
          <a:ln>
            <a:noFill/>
          </a:ln>
        </p:spPr>
      </p:pic>
      <p:pic>
        <p:nvPicPr>
          <p:cNvPr id="895" name="Google Shape;895;p61"/>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896" name="Google Shape;896;p61"/>
          <p:cNvPicPr preferRelativeResize="0"/>
          <p:nvPr/>
        </p:nvPicPr>
        <p:blipFill rotWithShape="1">
          <a:blip r:embed="rId12">
            <a:alphaModFix/>
          </a:blip>
          <a:srcRect b="0" l="0" r="0" t="0"/>
          <a:stretch/>
        </p:blipFill>
        <p:spPr>
          <a:xfrm>
            <a:off x="4064975" y="4295928"/>
            <a:ext cx="744464" cy="744458"/>
          </a:xfrm>
          <a:prstGeom prst="rect">
            <a:avLst/>
          </a:prstGeom>
          <a:noFill/>
          <a:ln>
            <a:noFill/>
          </a:ln>
        </p:spPr>
      </p:pic>
      <p:pic>
        <p:nvPicPr>
          <p:cNvPr id="897" name="Google Shape;897;p61"/>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898" name="Google Shape;898;p61"/>
          <p:cNvPicPr preferRelativeResize="0"/>
          <p:nvPr/>
        </p:nvPicPr>
        <p:blipFill rotWithShape="1">
          <a:blip r:embed="rId14">
            <a:alphaModFix/>
          </a:blip>
          <a:srcRect b="0" l="0" r="0" t="0"/>
          <a:stretch/>
        </p:blipFill>
        <p:spPr>
          <a:xfrm>
            <a:off x="7365144" y="4295928"/>
            <a:ext cx="744464" cy="744458"/>
          </a:xfrm>
          <a:prstGeom prst="rect">
            <a:avLst/>
          </a:prstGeom>
          <a:noFill/>
          <a:ln>
            <a:noFill/>
          </a:ln>
        </p:spPr>
      </p:pic>
      <p:pic>
        <p:nvPicPr>
          <p:cNvPr id="899" name="Google Shape;899;p61"/>
          <p:cNvPicPr preferRelativeResize="0"/>
          <p:nvPr/>
        </p:nvPicPr>
        <p:blipFill rotWithShape="1">
          <a:blip r:embed="rId15">
            <a:alphaModFix/>
          </a:blip>
          <a:srcRect b="0" l="0" r="0" t="0"/>
          <a:stretch/>
        </p:blipFill>
        <p:spPr>
          <a:xfrm>
            <a:off x="9015229" y="4295928"/>
            <a:ext cx="744464" cy="744458"/>
          </a:xfrm>
          <a:prstGeom prst="rect">
            <a:avLst/>
          </a:prstGeom>
          <a:noFill/>
          <a:ln>
            <a:noFill/>
          </a:ln>
        </p:spPr>
      </p:pic>
      <p:pic>
        <p:nvPicPr>
          <p:cNvPr id="900" name="Google Shape;900;p61"/>
          <p:cNvPicPr preferRelativeResize="0"/>
          <p:nvPr/>
        </p:nvPicPr>
        <p:blipFill rotWithShape="1">
          <a:blip r:embed="rId16">
            <a:alphaModFix/>
          </a:blip>
          <a:srcRect b="0" l="0" r="0" t="0"/>
          <a:stretch/>
        </p:blipFill>
        <p:spPr>
          <a:xfrm>
            <a:off x="10665314" y="4295928"/>
            <a:ext cx="744464" cy="744458"/>
          </a:xfrm>
          <a:prstGeom prst="rect">
            <a:avLst/>
          </a:prstGeom>
          <a:noFill/>
          <a:ln>
            <a:noFill/>
          </a:ln>
        </p:spPr>
      </p:pic>
      <p:pic>
        <p:nvPicPr>
          <p:cNvPr id="901" name="Google Shape;901;p61"/>
          <p:cNvPicPr preferRelativeResize="0"/>
          <p:nvPr/>
        </p:nvPicPr>
        <p:blipFill rotWithShape="1">
          <a:blip r:embed="rId17">
            <a:alphaModFix/>
          </a:blip>
          <a:srcRect b="0" l="0" r="0" t="0"/>
          <a:stretch/>
        </p:blipFill>
        <p:spPr>
          <a:xfrm>
            <a:off x="764806" y="5162849"/>
            <a:ext cx="744464" cy="744458"/>
          </a:xfrm>
          <a:prstGeom prst="rect">
            <a:avLst/>
          </a:prstGeom>
          <a:noFill/>
          <a:ln>
            <a:noFill/>
          </a:ln>
        </p:spPr>
      </p:pic>
      <p:pic>
        <p:nvPicPr>
          <p:cNvPr id="902" name="Google Shape;902;p61"/>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903" name="Google Shape;903;p61"/>
          <p:cNvPicPr preferRelativeResize="0"/>
          <p:nvPr/>
        </p:nvPicPr>
        <p:blipFill rotWithShape="1">
          <a:blip r:embed="rId19">
            <a:alphaModFix/>
          </a:blip>
          <a:srcRect b="0" l="0" r="0" t="0"/>
          <a:stretch/>
        </p:blipFill>
        <p:spPr>
          <a:xfrm>
            <a:off x="4064975" y="5162849"/>
            <a:ext cx="744464" cy="744458"/>
          </a:xfrm>
          <a:prstGeom prst="rect">
            <a:avLst/>
          </a:prstGeom>
          <a:noFill/>
          <a:ln>
            <a:noFill/>
          </a:ln>
        </p:spPr>
      </p:pic>
      <p:pic>
        <p:nvPicPr>
          <p:cNvPr id="904" name="Google Shape;904;p61"/>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905" name="Google Shape;905;p61"/>
          <p:cNvPicPr preferRelativeResize="0"/>
          <p:nvPr/>
        </p:nvPicPr>
        <p:blipFill rotWithShape="1">
          <a:blip r:embed="rId21">
            <a:alphaModFix/>
          </a:blip>
          <a:srcRect b="0" l="0" r="0" t="0"/>
          <a:stretch/>
        </p:blipFill>
        <p:spPr>
          <a:xfrm>
            <a:off x="7365144" y="5162849"/>
            <a:ext cx="744464" cy="744458"/>
          </a:xfrm>
          <a:prstGeom prst="rect">
            <a:avLst/>
          </a:prstGeom>
          <a:noFill/>
          <a:ln>
            <a:noFill/>
          </a:ln>
        </p:spPr>
      </p:pic>
      <p:pic>
        <p:nvPicPr>
          <p:cNvPr id="906" name="Google Shape;906;p61"/>
          <p:cNvPicPr preferRelativeResize="0"/>
          <p:nvPr/>
        </p:nvPicPr>
        <p:blipFill rotWithShape="1">
          <a:blip r:embed="rId22">
            <a:alphaModFix/>
          </a:blip>
          <a:srcRect b="0" l="0" r="0" t="0"/>
          <a:stretch/>
        </p:blipFill>
        <p:spPr>
          <a:xfrm>
            <a:off x="9015229" y="5162849"/>
            <a:ext cx="744464" cy="744458"/>
          </a:xfrm>
          <a:prstGeom prst="rect">
            <a:avLst/>
          </a:prstGeom>
          <a:noFill/>
          <a:ln>
            <a:noFill/>
          </a:ln>
        </p:spPr>
      </p:pic>
      <p:pic>
        <p:nvPicPr>
          <p:cNvPr id="907" name="Google Shape;907;p61"/>
          <p:cNvPicPr preferRelativeResize="0"/>
          <p:nvPr/>
        </p:nvPicPr>
        <p:blipFill rotWithShape="1">
          <a:blip r:embed="rId23">
            <a:alphaModFix/>
          </a:blip>
          <a:srcRect b="0" l="0" r="0" t="0"/>
          <a:stretch/>
        </p:blipFill>
        <p:spPr>
          <a:xfrm>
            <a:off x="10665314" y="5162849"/>
            <a:ext cx="744464" cy="74445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6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913" name="Google Shape;913;p6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914" name="Google Shape;914;p62"/>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Security (Cont.)</a:t>
            </a:r>
            <a:endParaRPr/>
          </a:p>
        </p:txBody>
      </p:sp>
      <p:sp>
        <p:nvSpPr>
          <p:cNvPr id="915" name="Google Shape;915;p62"/>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Incident Investigation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916" name="Google Shape;916;p62"/>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Identity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17" name="Google Shape;917;p62"/>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GDPR</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18" name="Google Shape;918;p62"/>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Firewall</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19" name="Google Shape;919;p62"/>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Endpoint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20" name="Google Shape;920;p62"/>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Encryption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21" name="Google Shape;921;p62"/>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Dollars - Expense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922" name="Google Shape;922;p62"/>
          <p:cNvPicPr preferRelativeResize="0"/>
          <p:nvPr/>
        </p:nvPicPr>
        <p:blipFill rotWithShape="1">
          <a:blip r:embed="rId3">
            <a:alphaModFix/>
          </a:blip>
          <a:srcRect b="0" l="0" r="0" t="0"/>
          <a:stretch/>
        </p:blipFill>
        <p:spPr>
          <a:xfrm>
            <a:off x="764806" y="3429006"/>
            <a:ext cx="744464" cy="744458"/>
          </a:xfrm>
          <a:prstGeom prst="rect">
            <a:avLst/>
          </a:prstGeom>
          <a:noFill/>
          <a:ln>
            <a:noFill/>
          </a:ln>
        </p:spPr>
      </p:pic>
      <p:pic>
        <p:nvPicPr>
          <p:cNvPr id="923" name="Google Shape;923;p62"/>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924" name="Google Shape;924;p62"/>
          <p:cNvPicPr preferRelativeResize="0"/>
          <p:nvPr/>
        </p:nvPicPr>
        <p:blipFill rotWithShape="1">
          <a:blip r:embed="rId5">
            <a:alphaModFix/>
          </a:blip>
          <a:srcRect b="0" l="0" r="0" t="0"/>
          <a:stretch/>
        </p:blipFill>
        <p:spPr>
          <a:xfrm>
            <a:off x="4064975" y="3429006"/>
            <a:ext cx="744464" cy="744458"/>
          </a:xfrm>
          <a:prstGeom prst="rect">
            <a:avLst/>
          </a:prstGeom>
          <a:noFill/>
          <a:ln>
            <a:noFill/>
          </a:ln>
        </p:spPr>
      </p:pic>
      <p:pic>
        <p:nvPicPr>
          <p:cNvPr id="925" name="Google Shape;925;p62"/>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926" name="Google Shape;926;p62"/>
          <p:cNvPicPr preferRelativeResize="0"/>
          <p:nvPr/>
        </p:nvPicPr>
        <p:blipFill rotWithShape="1">
          <a:blip r:embed="rId7">
            <a:alphaModFix/>
          </a:blip>
          <a:srcRect b="0" l="0" r="0" t="0"/>
          <a:stretch/>
        </p:blipFill>
        <p:spPr>
          <a:xfrm>
            <a:off x="7365144" y="3429006"/>
            <a:ext cx="744464" cy="744458"/>
          </a:xfrm>
          <a:prstGeom prst="rect">
            <a:avLst/>
          </a:prstGeom>
          <a:noFill/>
          <a:ln>
            <a:noFill/>
          </a:ln>
        </p:spPr>
      </p:pic>
      <p:pic>
        <p:nvPicPr>
          <p:cNvPr id="927" name="Google Shape;927;p62"/>
          <p:cNvPicPr preferRelativeResize="0"/>
          <p:nvPr/>
        </p:nvPicPr>
        <p:blipFill rotWithShape="1">
          <a:blip r:embed="rId8">
            <a:alphaModFix/>
          </a:blip>
          <a:srcRect b="0" l="39" r="39" t="0"/>
          <a:stretch/>
        </p:blipFill>
        <p:spPr>
          <a:xfrm>
            <a:off x="9015229" y="3429006"/>
            <a:ext cx="744464" cy="744459"/>
          </a:xfrm>
          <a:prstGeom prst="rect">
            <a:avLst/>
          </a:prstGeom>
          <a:noFill/>
          <a:ln>
            <a:noFill/>
          </a:ln>
        </p:spPr>
      </p:pic>
      <p:pic>
        <p:nvPicPr>
          <p:cNvPr id="928" name="Google Shape;928;p62"/>
          <p:cNvPicPr preferRelativeResize="0"/>
          <p:nvPr/>
        </p:nvPicPr>
        <p:blipFill rotWithShape="1">
          <a:blip r:embed="rId9">
            <a:alphaModFix/>
          </a:blip>
          <a:srcRect b="0" l="0" r="0" t="0"/>
          <a:stretch/>
        </p:blipFill>
        <p:spPr>
          <a:xfrm>
            <a:off x="10665314" y="3429006"/>
            <a:ext cx="744464" cy="744458"/>
          </a:xfrm>
          <a:prstGeom prst="rect">
            <a:avLst/>
          </a:prstGeom>
          <a:noFill/>
          <a:ln>
            <a:noFill/>
          </a:ln>
        </p:spPr>
      </p:pic>
      <p:pic>
        <p:nvPicPr>
          <p:cNvPr id="929" name="Google Shape;929;p62"/>
          <p:cNvPicPr preferRelativeResize="0"/>
          <p:nvPr/>
        </p:nvPicPr>
        <p:blipFill rotWithShape="1">
          <a:blip r:embed="rId10">
            <a:alphaModFix/>
          </a:blip>
          <a:srcRect b="0" l="0" r="0" t="0"/>
          <a:stretch/>
        </p:blipFill>
        <p:spPr>
          <a:xfrm>
            <a:off x="764806" y="4295928"/>
            <a:ext cx="744464" cy="744458"/>
          </a:xfrm>
          <a:prstGeom prst="rect">
            <a:avLst/>
          </a:prstGeom>
          <a:noFill/>
          <a:ln>
            <a:noFill/>
          </a:ln>
        </p:spPr>
      </p:pic>
      <p:pic>
        <p:nvPicPr>
          <p:cNvPr id="930" name="Google Shape;930;p62"/>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931" name="Google Shape;931;p62"/>
          <p:cNvPicPr preferRelativeResize="0"/>
          <p:nvPr/>
        </p:nvPicPr>
        <p:blipFill rotWithShape="1">
          <a:blip r:embed="rId12">
            <a:alphaModFix/>
          </a:blip>
          <a:srcRect b="0" l="0" r="0" t="0"/>
          <a:stretch/>
        </p:blipFill>
        <p:spPr>
          <a:xfrm>
            <a:off x="4064975" y="4295928"/>
            <a:ext cx="744464" cy="744458"/>
          </a:xfrm>
          <a:prstGeom prst="rect">
            <a:avLst/>
          </a:prstGeom>
          <a:noFill/>
          <a:ln>
            <a:noFill/>
          </a:ln>
        </p:spPr>
      </p:pic>
      <p:pic>
        <p:nvPicPr>
          <p:cNvPr id="932" name="Google Shape;932;p62"/>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933" name="Google Shape;933;p62"/>
          <p:cNvPicPr preferRelativeResize="0"/>
          <p:nvPr/>
        </p:nvPicPr>
        <p:blipFill rotWithShape="1">
          <a:blip r:embed="rId14">
            <a:alphaModFix/>
          </a:blip>
          <a:srcRect b="0" l="0" r="0" t="0"/>
          <a:stretch/>
        </p:blipFill>
        <p:spPr>
          <a:xfrm>
            <a:off x="7365144" y="4295928"/>
            <a:ext cx="744464" cy="744458"/>
          </a:xfrm>
          <a:prstGeom prst="rect">
            <a:avLst/>
          </a:prstGeom>
          <a:noFill/>
          <a:ln>
            <a:noFill/>
          </a:ln>
        </p:spPr>
      </p:pic>
      <p:pic>
        <p:nvPicPr>
          <p:cNvPr id="934" name="Google Shape;934;p62"/>
          <p:cNvPicPr preferRelativeResize="0"/>
          <p:nvPr/>
        </p:nvPicPr>
        <p:blipFill rotWithShape="1">
          <a:blip r:embed="rId15">
            <a:alphaModFix/>
          </a:blip>
          <a:srcRect b="0" l="39" r="39" t="0"/>
          <a:stretch/>
        </p:blipFill>
        <p:spPr>
          <a:xfrm>
            <a:off x="9015229" y="4295928"/>
            <a:ext cx="744464" cy="744459"/>
          </a:xfrm>
          <a:prstGeom prst="rect">
            <a:avLst/>
          </a:prstGeom>
          <a:noFill/>
          <a:ln>
            <a:noFill/>
          </a:ln>
        </p:spPr>
      </p:pic>
      <p:pic>
        <p:nvPicPr>
          <p:cNvPr id="935" name="Google Shape;935;p62"/>
          <p:cNvPicPr preferRelativeResize="0"/>
          <p:nvPr/>
        </p:nvPicPr>
        <p:blipFill rotWithShape="1">
          <a:blip r:embed="rId16">
            <a:alphaModFix/>
          </a:blip>
          <a:srcRect b="0" l="0" r="0" t="0"/>
          <a:stretch/>
        </p:blipFill>
        <p:spPr>
          <a:xfrm>
            <a:off x="10665314" y="4295928"/>
            <a:ext cx="744464" cy="744458"/>
          </a:xfrm>
          <a:prstGeom prst="rect">
            <a:avLst/>
          </a:prstGeom>
          <a:noFill/>
          <a:ln>
            <a:noFill/>
          </a:ln>
        </p:spPr>
      </p:pic>
      <p:pic>
        <p:nvPicPr>
          <p:cNvPr id="936" name="Google Shape;936;p62"/>
          <p:cNvPicPr preferRelativeResize="0"/>
          <p:nvPr/>
        </p:nvPicPr>
        <p:blipFill rotWithShape="1">
          <a:blip r:embed="rId17">
            <a:alphaModFix/>
          </a:blip>
          <a:srcRect b="0" l="0" r="0" t="0"/>
          <a:stretch/>
        </p:blipFill>
        <p:spPr>
          <a:xfrm>
            <a:off x="764806" y="5162849"/>
            <a:ext cx="744464" cy="744458"/>
          </a:xfrm>
          <a:prstGeom prst="rect">
            <a:avLst/>
          </a:prstGeom>
          <a:noFill/>
          <a:ln>
            <a:noFill/>
          </a:ln>
        </p:spPr>
      </p:pic>
      <p:pic>
        <p:nvPicPr>
          <p:cNvPr id="937" name="Google Shape;937;p62"/>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938" name="Google Shape;938;p62"/>
          <p:cNvPicPr preferRelativeResize="0"/>
          <p:nvPr/>
        </p:nvPicPr>
        <p:blipFill rotWithShape="1">
          <a:blip r:embed="rId19">
            <a:alphaModFix/>
          </a:blip>
          <a:srcRect b="0" l="0" r="0" t="0"/>
          <a:stretch/>
        </p:blipFill>
        <p:spPr>
          <a:xfrm>
            <a:off x="4064975" y="5162849"/>
            <a:ext cx="744464" cy="744458"/>
          </a:xfrm>
          <a:prstGeom prst="rect">
            <a:avLst/>
          </a:prstGeom>
          <a:noFill/>
          <a:ln>
            <a:noFill/>
          </a:ln>
        </p:spPr>
      </p:pic>
      <p:pic>
        <p:nvPicPr>
          <p:cNvPr id="939" name="Google Shape;939;p62"/>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940" name="Google Shape;940;p62"/>
          <p:cNvPicPr preferRelativeResize="0"/>
          <p:nvPr/>
        </p:nvPicPr>
        <p:blipFill rotWithShape="1">
          <a:blip r:embed="rId21">
            <a:alphaModFix/>
          </a:blip>
          <a:srcRect b="0" l="0" r="0" t="0"/>
          <a:stretch/>
        </p:blipFill>
        <p:spPr>
          <a:xfrm>
            <a:off x="7365144" y="5162849"/>
            <a:ext cx="744464" cy="744458"/>
          </a:xfrm>
          <a:prstGeom prst="rect">
            <a:avLst/>
          </a:prstGeom>
          <a:noFill/>
          <a:ln>
            <a:noFill/>
          </a:ln>
        </p:spPr>
      </p:pic>
      <p:pic>
        <p:nvPicPr>
          <p:cNvPr id="941" name="Google Shape;941;p62"/>
          <p:cNvPicPr preferRelativeResize="0"/>
          <p:nvPr/>
        </p:nvPicPr>
        <p:blipFill rotWithShape="1">
          <a:blip r:embed="rId22">
            <a:alphaModFix/>
          </a:blip>
          <a:srcRect b="0" l="39" r="39" t="0"/>
          <a:stretch/>
        </p:blipFill>
        <p:spPr>
          <a:xfrm>
            <a:off x="9015229" y="5162849"/>
            <a:ext cx="744464" cy="744459"/>
          </a:xfrm>
          <a:prstGeom prst="rect">
            <a:avLst/>
          </a:prstGeom>
          <a:noFill/>
          <a:ln>
            <a:noFill/>
          </a:ln>
        </p:spPr>
      </p:pic>
      <p:pic>
        <p:nvPicPr>
          <p:cNvPr id="942" name="Google Shape;942;p62"/>
          <p:cNvPicPr preferRelativeResize="0"/>
          <p:nvPr/>
        </p:nvPicPr>
        <p:blipFill rotWithShape="1">
          <a:blip r:embed="rId23">
            <a:alphaModFix/>
          </a:blip>
          <a:srcRect b="0" l="0" r="0" t="0"/>
          <a:stretch/>
        </p:blipFill>
        <p:spPr>
          <a:xfrm>
            <a:off x="10665314" y="5162849"/>
            <a:ext cx="744464" cy="74445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6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948" name="Google Shape;948;p6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949" name="Google Shape;949;p63"/>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Security (Cont.)</a:t>
            </a:r>
            <a:endParaRPr/>
          </a:p>
        </p:txBody>
      </p:sp>
      <p:sp>
        <p:nvSpPr>
          <p:cNvPr id="950" name="Google Shape;950;p63"/>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Malicious Document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951" name="Google Shape;951;p63"/>
          <p:cNvSpPr/>
          <p:nvPr/>
        </p:nvSpPr>
        <p:spPr>
          <a:xfrm>
            <a:off x="875384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Legal-Law Requirements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52" name="Google Shape;952;p63"/>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Law Enforcement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53" name="Google Shape;953;p63"/>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Intrusion Detection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54" name="Google Shape;954;p63"/>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Internet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55" name="Google Shape;955;p63"/>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Internet of Things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56" name="Google Shape;956;p63"/>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Insider Threat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957" name="Google Shape;957;p63"/>
          <p:cNvPicPr preferRelativeResize="0"/>
          <p:nvPr/>
        </p:nvPicPr>
        <p:blipFill rotWithShape="1">
          <a:blip r:embed="rId3">
            <a:alphaModFix/>
          </a:blip>
          <a:srcRect b="0" l="39" r="39" t="0"/>
          <a:stretch/>
        </p:blipFill>
        <p:spPr>
          <a:xfrm>
            <a:off x="764806" y="3429006"/>
            <a:ext cx="744464" cy="744459"/>
          </a:xfrm>
          <a:prstGeom prst="rect">
            <a:avLst/>
          </a:prstGeom>
          <a:noFill/>
          <a:ln>
            <a:noFill/>
          </a:ln>
        </p:spPr>
      </p:pic>
      <p:pic>
        <p:nvPicPr>
          <p:cNvPr id="958" name="Google Shape;958;p63"/>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959" name="Google Shape;959;p63"/>
          <p:cNvPicPr preferRelativeResize="0"/>
          <p:nvPr/>
        </p:nvPicPr>
        <p:blipFill rotWithShape="1">
          <a:blip r:embed="rId5">
            <a:alphaModFix/>
          </a:blip>
          <a:srcRect b="0" l="0" r="0" t="0"/>
          <a:stretch/>
        </p:blipFill>
        <p:spPr>
          <a:xfrm>
            <a:off x="4064975" y="3429006"/>
            <a:ext cx="744464" cy="744458"/>
          </a:xfrm>
          <a:prstGeom prst="rect">
            <a:avLst/>
          </a:prstGeom>
          <a:noFill/>
          <a:ln>
            <a:noFill/>
          </a:ln>
        </p:spPr>
      </p:pic>
      <p:pic>
        <p:nvPicPr>
          <p:cNvPr id="960" name="Google Shape;960;p63"/>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961" name="Google Shape;961;p63"/>
          <p:cNvPicPr preferRelativeResize="0"/>
          <p:nvPr/>
        </p:nvPicPr>
        <p:blipFill rotWithShape="1">
          <a:blip r:embed="rId7">
            <a:alphaModFix/>
          </a:blip>
          <a:srcRect b="0" l="0" r="0" t="0"/>
          <a:stretch/>
        </p:blipFill>
        <p:spPr>
          <a:xfrm>
            <a:off x="7365145" y="3429006"/>
            <a:ext cx="744464" cy="744458"/>
          </a:xfrm>
          <a:prstGeom prst="rect">
            <a:avLst/>
          </a:prstGeom>
          <a:noFill/>
          <a:ln>
            <a:noFill/>
          </a:ln>
        </p:spPr>
      </p:pic>
      <p:pic>
        <p:nvPicPr>
          <p:cNvPr id="962" name="Google Shape;962;p63"/>
          <p:cNvPicPr preferRelativeResize="0"/>
          <p:nvPr/>
        </p:nvPicPr>
        <p:blipFill rotWithShape="1">
          <a:blip r:embed="rId8">
            <a:alphaModFix/>
          </a:blip>
          <a:srcRect b="0" l="0" r="0" t="0"/>
          <a:stretch/>
        </p:blipFill>
        <p:spPr>
          <a:xfrm>
            <a:off x="9015229" y="3429006"/>
            <a:ext cx="744464" cy="744458"/>
          </a:xfrm>
          <a:prstGeom prst="rect">
            <a:avLst/>
          </a:prstGeom>
          <a:noFill/>
          <a:ln>
            <a:noFill/>
          </a:ln>
        </p:spPr>
      </p:pic>
      <p:pic>
        <p:nvPicPr>
          <p:cNvPr id="963" name="Google Shape;963;p63"/>
          <p:cNvPicPr preferRelativeResize="0"/>
          <p:nvPr/>
        </p:nvPicPr>
        <p:blipFill rotWithShape="1">
          <a:blip r:embed="rId9">
            <a:alphaModFix/>
          </a:blip>
          <a:srcRect b="0" l="39" r="39" t="0"/>
          <a:stretch/>
        </p:blipFill>
        <p:spPr>
          <a:xfrm>
            <a:off x="10665314" y="3429006"/>
            <a:ext cx="744464" cy="744459"/>
          </a:xfrm>
          <a:prstGeom prst="rect">
            <a:avLst/>
          </a:prstGeom>
          <a:noFill/>
          <a:ln>
            <a:noFill/>
          </a:ln>
        </p:spPr>
      </p:pic>
      <p:pic>
        <p:nvPicPr>
          <p:cNvPr id="964" name="Google Shape;964;p63"/>
          <p:cNvPicPr preferRelativeResize="0"/>
          <p:nvPr/>
        </p:nvPicPr>
        <p:blipFill rotWithShape="1">
          <a:blip r:embed="rId10">
            <a:alphaModFix/>
          </a:blip>
          <a:srcRect b="0" l="39" r="39" t="0"/>
          <a:stretch/>
        </p:blipFill>
        <p:spPr>
          <a:xfrm>
            <a:off x="764806" y="4295928"/>
            <a:ext cx="744464" cy="744459"/>
          </a:xfrm>
          <a:prstGeom prst="rect">
            <a:avLst/>
          </a:prstGeom>
          <a:noFill/>
          <a:ln>
            <a:noFill/>
          </a:ln>
        </p:spPr>
      </p:pic>
      <p:pic>
        <p:nvPicPr>
          <p:cNvPr id="965" name="Google Shape;965;p63"/>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966" name="Google Shape;966;p63"/>
          <p:cNvPicPr preferRelativeResize="0"/>
          <p:nvPr/>
        </p:nvPicPr>
        <p:blipFill rotWithShape="1">
          <a:blip r:embed="rId12">
            <a:alphaModFix/>
          </a:blip>
          <a:srcRect b="0" l="0" r="0" t="0"/>
          <a:stretch/>
        </p:blipFill>
        <p:spPr>
          <a:xfrm>
            <a:off x="4064975" y="4295928"/>
            <a:ext cx="744464" cy="744458"/>
          </a:xfrm>
          <a:prstGeom prst="rect">
            <a:avLst/>
          </a:prstGeom>
          <a:noFill/>
          <a:ln>
            <a:noFill/>
          </a:ln>
        </p:spPr>
      </p:pic>
      <p:pic>
        <p:nvPicPr>
          <p:cNvPr id="967" name="Google Shape;967;p63"/>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968" name="Google Shape;968;p63"/>
          <p:cNvPicPr preferRelativeResize="0"/>
          <p:nvPr/>
        </p:nvPicPr>
        <p:blipFill rotWithShape="1">
          <a:blip r:embed="rId14">
            <a:alphaModFix/>
          </a:blip>
          <a:srcRect b="0" l="0" r="0" t="0"/>
          <a:stretch/>
        </p:blipFill>
        <p:spPr>
          <a:xfrm>
            <a:off x="7365145" y="4295928"/>
            <a:ext cx="744464" cy="744458"/>
          </a:xfrm>
          <a:prstGeom prst="rect">
            <a:avLst/>
          </a:prstGeom>
          <a:noFill/>
          <a:ln>
            <a:noFill/>
          </a:ln>
        </p:spPr>
      </p:pic>
      <p:pic>
        <p:nvPicPr>
          <p:cNvPr id="969" name="Google Shape;969;p63"/>
          <p:cNvPicPr preferRelativeResize="0"/>
          <p:nvPr/>
        </p:nvPicPr>
        <p:blipFill rotWithShape="1">
          <a:blip r:embed="rId15">
            <a:alphaModFix/>
          </a:blip>
          <a:srcRect b="0" l="0" r="0" t="0"/>
          <a:stretch/>
        </p:blipFill>
        <p:spPr>
          <a:xfrm>
            <a:off x="9015229" y="4295928"/>
            <a:ext cx="744464" cy="744458"/>
          </a:xfrm>
          <a:prstGeom prst="rect">
            <a:avLst/>
          </a:prstGeom>
          <a:noFill/>
          <a:ln>
            <a:noFill/>
          </a:ln>
        </p:spPr>
      </p:pic>
      <p:pic>
        <p:nvPicPr>
          <p:cNvPr id="970" name="Google Shape;970;p63"/>
          <p:cNvPicPr preferRelativeResize="0"/>
          <p:nvPr/>
        </p:nvPicPr>
        <p:blipFill rotWithShape="1">
          <a:blip r:embed="rId16">
            <a:alphaModFix/>
          </a:blip>
          <a:srcRect b="0" l="39" r="39" t="0"/>
          <a:stretch/>
        </p:blipFill>
        <p:spPr>
          <a:xfrm>
            <a:off x="10665314" y="4295928"/>
            <a:ext cx="744464" cy="744459"/>
          </a:xfrm>
          <a:prstGeom prst="rect">
            <a:avLst/>
          </a:prstGeom>
          <a:noFill/>
          <a:ln>
            <a:noFill/>
          </a:ln>
        </p:spPr>
      </p:pic>
      <p:pic>
        <p:nvPicPr>
          <p:cNvPr id="971" name="Google Shape;971;p63"/>
          <p:cNvPicPr preferRelativeResize="0"/>
          <p:nvPr/>
        </p:nvPicPr>
        <p:blipFill rotWithShape="1">
          <a:blip r:embed="rId17">
            <a:alphaModFix/>
          </a:blip>
          <a:srcRect b="0" l="39" r="39" t="0"/>
          <a:stretch/>
        </p:blipFill>
        <p:spPr>
          <a:xfrm>
            <a:off x="764806" y="5162849"/>
            <a:ext cx="744464" cy="744459"/>
          </a:xfrm>
          <a:prstGeom prst="rect">
            <a:avLst/>
          </a:prstGeom>
          <a:noFill/>
          <a:ln>
            <a:noFill/>
          </a:ln>
        </p:spPr>
      </p:pic>
      <p:pic>
        <p:nvPicPr>
          <p:cNvPr id="972" name="Google Shape;972;p63"/>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973" name="Google Shape;973;p63"/>
          <p:cNvPicPr preferRelativeResize="0"/>
          <p:nvPr/>
        </p:nvPicPr>
        <p:blipFill rotWithShape="1">
          <a:blip r:embed="rId19">
            <a:alphaModFix/>
          </a:blip>
          <a:srcRect b="0" l="0" r="0" t="0"/>
          <a:stretch/>
        </p:blipFill>
        <p:spPr>
          <a:xfrm>
            <a:off x="4064975" y="5162849"/>
            <a:ext cx="744464" cy="744458"/>
          </a:xfrm>
          <a:prstGeom prst="rect">
            <a:avLst/>
          </a:prstGeom>
          <a:noFill/>
          <a:ln>
            <a:noFill/>
          </a:ln>
        </p:spPr>
      </p:pic>
      <p:pic>
        <p:nvPicPr>
          <p:cNvPr id="974" name="Google Shape;974;p63"/>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975" name="Google Shape;975;p63"/>
          <p:cNvPicPr preferRelativeResize="0"/>
          <p:nvPr/>
        </p:nvPicPr>
        <p:blipFill rotWithShape="1">
          <a:blip r:embed="rId21">
            <a:alphaModFix/>
          </a:blip>
          <a:srcRect b="0" l="0" r="0" t="0"/>
          <a:stretch/>
        </p:blipFill>
        <p:spPr>
          <a:xfrm>
            <a:off x="7365145" y="5162849"/>
            <a:ext cx="744464" cy="744458"/>
          </a:xfrm>
          <a:prstGeom prst="rect">
            <a:avLst/>
          </a:prstGeom>
          <a:noFill/>
          <a:ln>
            <a:noFill/>
          </a:ln>
        </p:spPr>
      </p:pic>
      <p:pic>
        <p:nvPicPr>
          <p:cNvPr id="976" name="Google Shape;976;p63"/>
          <p:cNvPicPr preferRelativeResize="0"/>
          <p:nvPr/>
        </p:nvPicPr>
        <p:blipFill rotWithShape="1">
          <a:blip r:embed="rId22">
            <a:alphaModFix/>
          </a:blip>
          <a:srcRect b="0" l="0" r="0" t="0"/>
          <a:stretch/>
        </p:blipFill>
        <p:spPr>
          <a:xfrm>
            <a:off x="9015229" y="5162849"/>
            <a:ext cx="744464" cy="744458"/>
          </a:xfrm>
          <a:prstGeom prst="rect">
            <a:avLst/>
          </a:prstGeom>
          <a:noFill/>
          <a:ln>
            <a:noFill/>
          </a:ln>
        </p:spPr>
      </p:pic>
      <p:pic>
        <p:nvPicPr>
          <p:cNvPr id="977" name="Google Shape;977;p63"/>
          <p:cNvPicPr preferRelativeResize="0"/>
          <p:nvPr/>
        </p:nvPicPr>
        <p:blipFill rotWithShape="1">
          <a:blip r:embed="rId23">
            <a:alphaModFix/>
          </a:blip>
          <a:srcRect b="0" l="39" r="39" t="0"/>
          <a:stretch/>
        </p:blipFill>
        <p:spPr>
          <a:xfrm>
            <a:off x="10665314" y="5162849"/>
            <a:ext cx="744464" cy="74445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64"/>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983" name="Google Shape;983;p6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984" name="Google Shape;984;p64"/>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Security (Cont.)</a:t>
            </a:r>
            <a:endParaRPr/>
          </a:p>
        </p:txBody>
      </p:sp>
      <p:sp>
        <p:nvSpPr>
          <p:cNvPr id="985" name="Google Shape;985;p64"/>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Office Building</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986" name="Google Shape;986;p64"/>
          <p:cNvSpPr/>
          <p:nvPr/>
        </p:nvSpPr>
        <p:spPr>
          <a:xfrm>
            <a:off x="875384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Notebook</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87" name="Google Shape;987;p64"/>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Network Data Sources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88" name="Google Shape;988;p64"/>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Nation State Attacker</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89" name="Google Shape;989;p64"/>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Multicloud</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90" name="Google Shape;990;p64"/>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Mobile Device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991" name="Google Shape;991;p64"/>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Malware</a:t>
            </a:r>
            <a:endParaRPr sz="1400">
              <a:solidFill>
                <a:srgbClr val="3A3838"/>
              </a:solidFill>
              <a:latin typeface="DM Sans"/>
              <a:ea typeface="DM Sans"/>
              <a:cs typeface="DM Sans"/>
              <a:sym typeface="DM Sans"/>
            </a:endParaRPr>
          </a:p>
        </p:txBody>
      </p:sp>
      <p:pic>
        <p:nvPicPr>
          <p:cNvPr id="992" name="Google Shape;992;p64"/>
          <p:cNvPicPr preferRelativeResize="0"/>
          <p:nvPr/>
        </p:nvPicPr>
        <p:blipFill rotWithShape="1">
          <a:blip r:embed="rId3">
            <a:alphaModFix/>
          </a:blip>
          <a:srcRect b="0" l="39" r="39" t="0"/>
          <a:stretch/>
        </p:blipFill>
        <p:spPr>
          <a:xfrm>
            <a:off x="764806" y="3429006"/>
            <a:ext cx="744464" cy="744459"/>
          </a:xfrm>
          <a:prstGeom prst="rect">
            <a:avLst/>
          </a:prstGeom>
          <a:noFill/>
          <a:ln>
            <a:noFill/>
          </a:ln>
        </p:spPr>
      </p:pic>
      <p:pic>
        <p:nvPicPr>
          <p:cNvPr id="993" name="Google Shape;993;p64"/>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994" name="Google Shape;994;p64"/>
          <p:cNvPicPr preferRelativeResize="0"/>
          <p:nvPr/>
        </p:nvPicPr>
        <p:blipFill rotWithShape="1">
          <a:blip r:embed="rId5">
            <a:alphaModFix/>
          </a:blip>
          <a:srcRect b="0" l="39" r="39" t="0"/>
          <a:stretch/>
        </p:blipFill>
        <p:spPr>
          <a:xfrm>
            <a:off x="4064975" y="3429006"/>
            <a:ext cx="744464" cy="744459"/>
          </a:xfrm>
          <a:prstGeom prst="rect">
            <a:avLst/>
          </a:prstGeom>
          <a:noFill/>
          <a:ln>
            <a:noFill/>
          </a:ln>
        </p:spPr>
      </p:pic>
      <p:pic>
        <p:nvPicPr>
          <p:cNvPr id="995" name="Google Shape;995;p64"/>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996" name="Google Shape;996;p64"/>
          <p:cNvPicPr preferRelativeResize="0"/>
          <p:nvPr/>
        </p:nvPicPr>
        <p:blipFill rotWithShape="1">
          <a:blip r:embed="rId7">
            <a:alphaModFix/>
          </a:blip>
          <a:srcRect b="0" l="39" r="39" t="0"/>
          <a:stretch/>
        </p:blipFill>
        <p:spPr>
          <a:xfrm>
            <a:off x="7365145" y="3429006"/>
            <a:ext cx="744464" cy="744459"/>
          </a:xfrm>
          <a:prstGeom prst="rect">
            <a:avLst/>
          </a:prstGeom>
          <a:noFill/>
          <a:ln>
            <a:noFill/>
          </a:ln>
        </p:spPr>
      </p:pic>
      <p:pic>
        <p:nvPicPr>
          <p:cNvPr id="997" name="Google Shape;997;p64"/>
          <p:cNvPicPr preferRelativeResize="0"/>
          <p:nvPr/>
        </p:nvPicPr>
        <p:blipFill rotWithShape="1">
          <a:blip r:embed="rId8">
            <a:alphaModFix/>
          </a:blip>
          <a:srcRect b="0" l="0" r="0" t="0"/>
          <a:stretch/>
        </p:blipFill>
        <p:spPr>
          <a:xfrm>
            <a:off x="9015229" y="3429006"/>
            <a:ext cx="744464" cy="744458"/>
          </a:xfrm>
          <a:prstGeom prst="rect">
            <a:avLst/>
          </a:prstGeom>
          <a:noFill/>
          <a:ln>
            <a:noFill/>
          </a:ln>
        </p:spPr>
      </p:pic>
      <p:pic>
        <p:nvPicPr>
          <p:cNvPr id="998" name="Google Shape;998;p64"/>
          <p:cNvPicPr preferRelativeResize="0"/>
          <p:nvPr/>
        </p:nvPicPr>
        <p:blipFill rotWithShape="1">
          <a:blip r:embed="rId9">
            <a:alphaModFix/>
          </a:blip>
          <a:srcRect b="0" l="39" r="39" t="0"/>
          <a:stretch/>
        </p:blipFill>
        <p:spPr>
          <a:xfrm>
            <a:off x="10665314" y="3429006"/>
            <a:ext cx="744464" cy="744459"/>
          </a:xfrm>
          <a:prstGeom prst="rect">
            <a:avLst/>
          </a:prstGeom>
          <a:noFill/>
          <a:ln>
            <a:noFill/>
          </a:ln>
        </p:spPr>
      </p:pic>
      <p:pic>
        <p:nvPicPr>
          <p:cNvPr id="999" name="Google Shape;999;p64"/>
          <p:cNvPicPr preferRelativeResize="0"/>
          <p:nvPr/>
        </p:nvPicPr>
        <p:blipFill rotWithShape="1">
          <a:blip r:embed="rId10">
            <a:alphaModFix/>
          </a:blip>
          <a:srcRect b="0" l="39" r="39" t="0"/>
          <a:stretch/>
        </p:blipFill>
        <p:spPr>
          <a:xfrm>
            <a:off x="764806" y="4295928"/>
            <a:ext cx="744464" cy="744459"/>
          </a:xfrm>
          <a:prstGeom prst="rect">
            <a:avLst/>
          </a:prstGeom>
          <a:noFill/>
          <a:ln>
            <a:noFill/>
          </a:ln>
        </p:spPr>
      </p:pic>
      <p:pic>
        <p:nvPicPr>
          <p:cNvPr id="1000" name="Google Shape;1000;p64"/>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1001" name="Google Shape;1001;p64"/>
          <p:cNvPicPr preferRelativeResize="0"/>
          <p:nvPr/>
        </p:nvPicPr>
        <p:blipFill rotWithShape="1">
          <a:blip r:embed="rId12">
            <a:alphaModFix/>
          </a:blip>
          <a:srcRect b="0" l="39" r="39" t="0"/>
          <a:stretch/>
        </p:blipFill>
        <p:spPr>
          <a:xfrm>
            <a:off x="4064975" y="4295928"/>
            <a:ext cx="744464" cy="744459"/>
          </a:xfrm>
          <a:prstGeom prst="rect">
            <a:avLst/>
          </a:prstGeom>
          <a:noFill/>
          <a:ln>
            <a:noFill/>
          </a:ln>
        </p:spPr>
      </p:pic>
      <p:pic>
        <p:nvPicPr>
          <p:cNvPr id="1002" name="Google Shape;1002;p64"/>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1003" name="Google Shape;1003;p64"/>
          <p:cNvPicPr preferRelativeResize="0"/>
          <p:nvPr/>
        </p:nvPicPr>
        <p:blipFill rotWithShape="1">
          <a:blip r:embed="rId14">
            <a:alphaModFix/>
          </a:blip>
          <a:srcRect b="0" l="39" r="39" t="0"/>
          <a:stretch/>
        </p:blipFill>
        <p:spPr>
          <a:xfrm>
            <a:off x="7365145" y="4295928"/>
            <a:ext cx="744464" cy="744459"/>
          </a:xfrm>
          <a:prstGeom prst="rect">
            <a:avLst/>
          </a:prstGeom>
          <a:noFill/>
          <a:ln>
            <a:noFill/>
          </a:ln>
        </p:spPr>
      </p:pic>
      <p:pic>
        <p:nvPicPr>
          <p:cNvPr id="1004" name="Google Shape;1004;p64"/>
          <p:cNvPicPr preferRelativeResize="0"/>
          <p:nvPr/>
        </p:nvPicPr>
        <p:blipFill rotWithShape="1">
          <a:blip r:embed="rId15">
            <a:alphaModFix/>
          </a:blip>
          <a:srcRect b="0" l="0" r="0" t="0"/>
          <a:stretch/>
        </p:blipFill>
        <p:spPr>
          <a:xfrm>
            <a:off x="9015229" y="4295928"/>
            <a:ext cx="744464" cy="744458"/>
          </a:xfrm>
          <a:prstGeom prst="rect">
            <a:avLst/>
          </a:prstGeom>
          <a:noFill/>
          <a:ln>
            <a:noFill/>
          </a:ln>
        </p:spPr>
      </p:pic>
      <p:pic>
        <p:nvPicPr>
          <p:cNvPr id="1005" name="Google Shape;1005;p64"/>
          <p:cNvPicPr preferRelativeResize="0"/>
          <p:nvPr/>
        </p:nvPicPr>
        <p:blipFill rotWithShape="1">
          <a:blip r:embed="rId16">
            <a:alphaModFix/>
          </a:blip>
          <a:srcRect b="0" l="39" r="39" t="0"/>
          <a:stretch/>
        </p:blipFill>
        <p:spPr>
          <a:xfrm>
            <a:off x="10665314" y="4295928"/>
            <a:ext cx="744464" cy="744459"/>
          </a:xfrm>
          <a:prstGeom prst="rect">
            <a:avLst/>
          </a:prstGeom>
          <a:noFill/>
          <a:ln>
            <a:noFill/>
          </a:ln>
        </p:spPr>
      </p:pic>
      <p:pic>
        <p:nvPicPr>
          <p:cNvPr id="1006" name="Google Shape;1006;p64"/>
          <p:cNvPicPr preferRelativeResize="0"/>
          <p:nvPr/>
        </p:nvPicPr>
        <p:blipFill rotWithShape="1">
          <a:blip r:embed="rId17">
            <a:alphaModFix/>
          </a:blip>
          <a:srcRect b="0" l="39" r="39" t="0"/>
          <a:stretch/>
        </p:blipFill>
        <p:spPr>
          <a:xfrm>
            <a:off x="764806" y="5162849"/>
            <a:ext cx="744464" cy="744459"/>
          </a:xfrm>
          <a:prstGeom prst="rect">
            <a:avLst/>
          </a:prstGeom>
          <a:noFill/>
          <a:ln>
            <a:noFill/>
          </a:ln>
        </p:spPr>
      </p:pic>
      <p:pic>
        <p:nvPicPr>
          <p:cNvPr id="1007" name="Google Shape;1007;p64"/>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1008" name="Google Shape;1008;p64"/>
          <p:cNvPicPr preferRelativeResize="0"/>
          <p:nvPr/>
        </p:nvPicPr>
        <p:blipFill rotWithShape="1">
          <a:blip r:embed="rId19">
            <a:alphaModFix/>
          </a:blip>
          <a:srcRect b="0" l="39" r="39" t="0"/>
          <a:stretch/>
        </p:blipFill>
        <p:spPr>
          <a:xfrm>
            <a:off x="4064975" y="5162849"/>
            <a:ext cx="744464" cy="744459"/>
          </a:xfrm>
          <a:prstGeom prst="rect">
            <a:avLst/>
          </a:prstGeom>
          <a:noFill/>
          <a:ln>
            <a:noFill/>
          </a:ln>
        </p:spPr>
      </p:pic>
      <p:pic>
        <p:nvPicPr>
          <p:cNvPr id="1009" name="Google Shape;1009;p64"/>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1010" name="Google Shape;1010;p64"/>
          <p:cNvPicPr preferRelativeResize="0"/>
          <p:nvPr/>
        </p:nvPicPr>
        <p:blipFill rotWithShape="1">
          <a:blip r:embed="rId21">
            <a:alphaModFix/>
          </a:blip>
          <a:srcRect b="0" l="39" r="39" t="0"/>
          <a:stretch/>
        </p:blipFill>
        <p:spPr>
          <a:xfrm>
            <a:off x="7365145" y="5162849"/>
            <a:ext cx="744464" cy="744459"/>
          </a:xfrm>
          <a:prstGeom prst="rect">
            <a:avLst/>
          </a:prstGeom>
          <a:noFill/>
          <a:ln>
            <a:noFill/>
          </a:ln>
        </p:spPr>
      </p:pic>
      <p:pic>
        <p:nvPicPr>
          <p:cNvPr id="1011" name="Google Shape;1011;p64"/>
          <p:cNvPicPr preferRelativeResize="0"/>
          <p:nvPr/>
        </p:nvPicPr>
        <p:blipFill rotWithShape="1">
          <a:blip r:embed="rId22">
            <a:alphaModFix/>
          </a:blip>
          <a:srcRect b="0" l="0" r="0" t="0"/>
          <a:stretch/>
        </p:blipFill>
        <p:spPr>
          <a:xfrm>
            <a:off x="9015229" y="5162849"/>
            <a:ext cx="744464" cy="744458"/>
          </a:xfrm>
          <a:prstGeom prst="rect">
            <a:avLst/>
          </a:prstGeom>
          <a:noFill/>
          <a:ln>
            <a:noFill/>
          </a:ln>
        </p:spPr>
      </p:pic>
      <p:pic>
        <p:nvPicPr>
          <p:cNvPr id="1012" name="Google Shape;1012;p64"/>
          <p:cNvPicPr preferRelativeResize="0"/>
          <p:nvPr/>
        </p:nvPicPr>
        <p:blipFill rotWithShape="1">
          <a:blip r:embed="rId23">
            <a:alphaModFix/>
          </a:blip>
          <a:srcRect b="0" l="39" r="39" t="0"/>
          <a:stretch/>
        </p:blipFill>
        <p:spPr>
          <a:xfrm>
            <a:off x="10665314" y="5162849"/>
            <a:ext cx="744464" cy="74445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65"/>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018" name="Google Shape;1018;p6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019" name="Google Shape;1019;p65"/>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Security (Cont.)</a:t>
            </a:r>
            <a:endParaRPr/>
          </a:p>
        </p:txBody>
      </p:sp>
      <p:sp>
        <p:nvSpPr>
          <p:cNvPr id="1020" name="Google Shape;1020;p65"/>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Security Analysts - Defenders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021" name="Google Shape;1021;p65"/>
          <p:cNvSpPr/>
          <p:nvPr/>
        </p:nvSpPr>
        <p:spPr>
          <a:xfrm>
            <a:off x="875384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Runbook-</a:t>
            </a:r>
            <a:br>
              <a:rPr lang="en" sz="1400">
                <a:solidFill>
                  <a:srgbClr val="3A3838"/>
                </a:solidFill>
                <a:latin typeface="DM Sans"/>
                <a:ea typeface="DM Sans"/>
                <a:cs typeface="DM Sans"/>
                <a:sym typeface="DM Sans"/>
              </a:rPr>
            </a:br>
            <a:r>
              <a:rPr lang="en" sz="1400">
                <a:solidFill>
                  <a:srgbClr val="3A3838"/>
                </a:solidFill>
                <a:latin typeface="DM Sans"/>
                <a:ea typeface="DM Sans"/>
                <a:cs typeface="DM Sans"/>
                <a:sym typeface="DM Sans"/>
              </a:rPr>
              <a:t>Playbook</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022" name="Google Shape;1022;p65"/>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Response Time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023" name="Google Shape;1023;p65"/>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Reporting</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024" name="Google Shape;1024;p65"/>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Ransomware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025" name="Google Shape;1025;p65"/>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Privacy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026" name="Google Shape;1026;p65"/>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On Prem + Cloud</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(Hybrid)</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1027" name="Google Shape;1027;p65"/>
          <p:cNvPicPr preferRelativeResize="0"/>
          <p:nvPr/>
        </p:nvPicPr>
        <p:blipFill rotWithShape="1">
          <a:blip r:embed="rId3">
            <a:alphaModFix/>
          </a:blip>
          <a:srcRect b="0" l="39" r="39" t="0"/>
          <a:stretch/>
        </p:blipFill>
        <p:spPr>
          <a:xfrm>
            <a:off x="764806" y="3429006"/>
            <a:ext cx="744464" cy="744459"/>
          </a:xfrm>
          <a:prstGeom prst="rect">
            <a:avLst/>
          </a:prstGeom>
          <a:noFill/>
          <a:ln>
            <a:noFill/>
          </a:ln>
        </p:spPr>
      </p:pic>
      <p:pic>
        <p:nvPicPr>
          <p:cNvPr id="1028" name="Google Shape;1028;p65"/>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1029" name="Google Shape;1029;p65"/>
          <p:cNvPicPr preferRelativeResize="0"/>
          <p:nvPr/>
        </p:nvPicPr>
        <p:blipFill rotWithShape="1">
          <a:blip r:embed="rId5">
            <a:alphaModFix/>
          </a:blip>
          <a:srcRect b="0" l="39" r="39" t="0"/>
          <a:stretch/>
        </p:blipFill>
        <p:spPr>
          <a:xfrm>
            <a:off x="4064975" y="3429006"/>
            <a:ext cx="744464" cy="744459"/>
          </a:xfrm>
          <a:prstGeom prst="rect">
            <a:avLst/>
          </a:prstGeom>
          <a:noFill/>
          <a:ln>
            <a:noFill/>
          </a:ln>
        </p:spPr>
      </p:pic>
      <p:pic>
        <p:nvPicPr>
          <p:cNvPr id="1030" name="Google Shape;1030;p65"/>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1031" name="Google Shape;1031;p65"/>
          <p:cNvPicPr preferRelativeResize="0"/>
          <p:nvPr/>
        </p:nvPicPr>
        <p:blipFill rotWithShape="1">
          <a:blip r:embed="rId7">
            <a:alphaModFix/>
          </a:blip>
          <a:srcRect b="0" l="0" r="0" t="0"/>
          <a:stretch/>
        </p:blipFill>
        <p:spPr>
          <a:xfrm>
            <a:off x="7365145" y="3429006"/>
            <a:ext cx="744464" cy="744458"/>
          </a:xfrm>
          <a:prstGeom prst="rect">
            <a:avLst/>
          </a:prstGeom>
          <a:noFill/>
          <a:ln>
            <a:noFill/>
          </a:ln>
        </p:spPr>
      </p:pic>
      <p:pic>
        <p:nvPicPr>
          <p:cNvPr id="1032" name="Google Shape;1032;p65"/>
          <p:cNvPicPr preferRelativeResize="0"/>
          <p:nvPr/>
        </p:nvPicPr>
        <p:blipFill rotWithShape="1">
          <a:blip r:embed="rId8">
            <a:alphaModFix/>
          </a:blip>
          <a:srcRect b="0" l="0" r="0" t="0"/>
          <a:stretch/>
        </p:blipFill>
        <p:spPr>
          <a:xfrm>
            <a:off x="9015229" y="3429006"/>
            <a:ext cx="744464" cy="744458"/>
          </a:xfrm>
          <a:prstGeom prst="rect">
            <a:avLst/>
          </a:prstGeom>
          <a:noFill/>
          <a:ln>
            <a:noFill/>
          </a:ln>
        </p:spPr>
      </p:pic>
      <p:pic>
        <p:nvPicPr>
          <p:cNvPr id="1033" name="Google Shape;1033;p65"/>
          <p:cNvPicPr preferRelativeResize="0"/>
          <p:nvPr/>
        </p:nvPicPr>
        <p:blipFill rotWithShape="1">
          <a:blip r:embed="rId9">
            <a:alphaModFix/>
          </a:blip>
          <a:srcRect b="0" l="39" r="39" t="0"/>
          <a:stretch/>
        </p:blipFill>
        <p:spPr>
          <a:xfrm>
            <a:off x="10665314" y="3429006"/>
            <a:ext cx="744464" cy="744459"/>
          </a:xfrm>
          <a:prstGeom prst="rect">
            <a:avLst/>
          </a:prstGeom>
          <a:noFill/>
          <a:ln>
            <a:noFill/>
          </a:ln>
        </p:spPr>
      </p:pic>
      <p:pic>
        <p:nvPicPr>
          <p:cNvPr id="1034" name="Google Shape;1034;p65"/>
          <p:cNvPicPr preferRelativeResize="0"/>
          <p:nvPr/>
        </p:nvPicPr>
        <p:blipFill rotWithShape="1">
          <a:blip r:embed="rId10">
            <a:alphaModFix/>
          </a:blip>
          <a:srcRect b="0" l="39" r="39" t="0"/>
          <a:stretch/>
        </p:blipFill>
        <p:spPr>
          <a:xfrm>
            <a:off x="764806" y="4295928"/>
            <a:ext cx="744464" cy="744459"/>
          </a:xfrm>
          <a:prstGeom prst="rect">
            <a:avLst/>
          </a:prstGeom>
          <a:noFill/>
          <a:ln>
            <a:noFill/>
          </a:ln>
        </p:spPr>
      </p:pic>
      <p:pic>
        <p:nvPicPr>
          <p:cNvPr id="1035" name="Google Shape;1035;p65"/>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1036" name="Google Shape;1036;p65"/>
          <p:cNvPicPr preferRelativeResize="0"/>
          <p:nvPr/>
        </p:nvPicPr>
        <p:blipFill rotWithShape="1">
          <a:blip r:embed="rId12">
            <a:alphaModFix/>
          </a:blip>
          <a:srcRect b="0" l="39" r="39" t="0"/>
          <a:stretch/>
        </p:blipFill>
        <p:spPr>
          <a:xfrm>
            <a:off x="4064975" y="4295928"/>
            <a:ext cx="744464" cy="744459"/>
          </a:xfrm>
          <a:prstGeom prst="rect">
            <a:avLst/>
          </a:prstGeom>
          <a:noFill/>
          <a:ln>
            <a:noFill/>
          </a:ln>
        </p:spPr>
      </p:pic>
      <p:pic>
        <p:nvPicPr>
          <p:cNvPr id="1037" name="Google Shape;1037;p65"/>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1038" name="Google Shape;1038;p65"/>
          <p:cNvPicPr preferRelativeResize="0"/>
          <p:nvPr/>
        </p:nvPicPr>
        <p:blipFill rotWithShape="1">
          <a:blip r:embed="rId14">
            <a:alphaModFix/>
          </a:blip>
          <a:srcRect b="0" l="0" r="0" t="0"/>
          <a:stretch/>
        </p:blipFill>
        <p:spPr>
          <a:xfrm>
            <a:off x="7365145" y="4295928"/>
            <a:ext cx="744464" cy="744458"/>
          </a:xfrm>
          <a:prstGeom prst="rect">
            <a:avLst/>
          </a:prstGeom>
          <a:noFill/>
          <a:ln>
            <a:noFill/>
          </a:ln>
        </p:spPr>
      </p:pic>
      <p:pic>
        <p:nvPicPr>
          <p:cNvPr id="1039" name="Google Shape;1039;p65"/>
          <p:cNvPicPr preferRelativeResize="0"/>
          <p:nvPr/>
        </p:nvPicPr>
        <p:blipFill rotWithShape="1">
          <a:blip r:embed="rId15">
            <a:alphaModFix/>
          </a:blip>
          <a:srcRect b="0" l="0" r="0" t="0"/>
          <a:stretch/>
        </p:blipFill>
        <p:spPr>
          <a:xfrm>
            <a:off x="9015229" y="4295928"/>
            <a:ext cx="744464" cy="744458"/>
          </a:xfrm>
          <a:prstGeom prst="rect">
            <a:avLst/>
          </a:prstGeom>
          <a:noFill/>
          <a:ln>
            <a:noFill/>
          </a:ln>
        </p:spPr>
      </p:pic>
      <p:pic>
        <p:nvPicPr>
          <p:cNvPr id="1040" name="Google Shape;1040;p65"/>
          <p:cNvPicPr preferRelativeResize="0"/>
          <p:nvPr/>
        </p:nvPicPr>
        <p:blipFill rotWithShape="1">
          <a:blip r:embed="rId16">
            <a:alphaModFix/>
          </a:blip>
          <a:srcRect b="0" l="39" r="39" t="0"/>
          <a:stretch/>
        </p:blipFill>
        <p:spPr>
          <a:xfrm>
            <a:off x="10665314" y="4295928"/>
            <a:ext cx="744464" cy="744459"/>
          </a:xfrm>
          <a:prstGeom prst="rect">
            <a:avLst/>
          </a:prstGeom>
          <a:noFill/>
          <a:ln>
            <a:noFill/>
          </a:ln>
        </p:spPr>
      </p:pic>
      <p:pic>
        <p:nvPicPr>
          <p:cNvPr id="1041" name="Google Shape;1041;p65"/>
          <p:cNvPicPr preferRelativeResize="0"/>
          <p:nvPr/>
        </p:nvPicPr>
        <p:blipFill rotWithShape="1">
          <a:blip r:embed="rId17">
            <a:alphaModFix/>
          </a:blip>
          <a:srcRect b="0" l="39" r="39" t="0"/>
          <a:stretch/>
        </p:blipFill>
        <p:spPr>
          <a:xfrm>
            <a:off x="764806" y="5162849"/>
            <a:ext cx="744464" cy="744459"/>
          </a:xfrm>
          <a:prstGeom prst="rect">
            <a:avLst/>
          </a:prstGeom>
          <a:noFill/>
          <a:ln>
            <a:noFill/>
          </a:ln>
        </p:spPr>
      </p:pic>
      <p:pic>
        <p:nvPicPr>
          <p:cNvPr id="1042" name="Google Shape;1042;p65"/>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1043" name="Google Shape;1043;p65"/>
          <p:cNvPicPr preferRelativeResize="0"/>
          <p:nvPr/>
        </p:nvPicPr>
        <p:blipFill rotWithShape="1">
          <a:blip r:embed="rId19">
            <a:alphaModFix/>
          </a:blip>
          <a:srcRect b="0" l="39" r="39" t="0"/>
          <a:stretch/>
        </p:blipFill>
        <p:spPr>
          <a:xfrm>
            <a:off x="4064975" y="5162849"/>
            <a:ext cx="744464" cy="744459"/>
          </a:xfrm>
          <a:prstGeom prst="rect">
            <a:avLst/>
          </a:prstGeom>
          <a:noFill/>
          <a:ln>
            <a:noFill/>
          </a:ln>
        </p:spPr>
      </p:pic>
      <p:pic>
        <p:nvPicPr>
          <p:cNvPr id="1044" name="Google Shape;1044;p65"/>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1045" name="Google Shape;1045;p65"/>
          <p:cNvPicPr preferRelativeResize="0"/>
          <p:nvPr/>
        </p:nvPicPr>
        <p:blipFill rotWithShape="1">
          <a:blip r:embed="rId21">
            <a:alphaModFix/>
          </a:blip>
          <a:srcRect b="0" l="0" r="0" t="0"/>
          <a:stretch/>
        </p:blipFill>
        <p:spPr>
          <a:xfrm>
            <a:off x="7365145" y="5162849"/>
            <a:ext cx="744464" cy="744458"/>
          </a:xfrm>
          <a:prstGeom prst="rect">
            <a:avLst/>
          </a:prstGeom>
          <a:noFill/>
          <a:ln>
            <a:noFill/>
          </a:ln>
        </p:spPr>
      </p:pic>
      <p:pic>
        <p:nvPicPr>
          <p:cNvPr id="1046" name="Google Shape;1046;p65"/>
          <p:cNvPicPr preferRelativeResize="0"/>
          <p:nvPr/>
        </p:nvPicPr>
        <p:blipFill rotWithShape="1">
          <a:blip r:embed="rId22">
            <a:alphaModFix/>
          </a:blip>
          <a:srcRect b="0" l="0" r="0" t="0"/>
          <a:stretch/>
        </p:blipFill>
        <p:spPr>
          <a:xfrm>
            <a:off x="9015229" y="5162849"/>
            <a:ext cx="744464" cy="744458"/>
          </a:xfrm>
          <a:prstGeom prst="rect">
            <a:avLst/>
          </a:prstGeom>
          <a:noFill/>
          <a:ln>
            <a:noFill/>
          </a:ln>
        </p:spPr>
      </p:pic>
      <p:pic>
        <p:nvPicPr>
          <p:cNvPr id="1047" name="Google Shape;1047;p65"/>
          <p:cNvPicPr preferRelativeResize="0"/>
          <p:nvPr/>
        </p:nvPicPr>
        <p:blipFill rotWithShape="1">
          <a:blip r:embed="rId23">
            <a:alphaModFix/>
          </a:blip>
          <a:srcRect b="0" l="39" r="39" t="0"/>
          <a:stretch/>
        </p:blipFill>
        <p:spPr>
          <a:xfrm>
            <a:off x="10665314" y="5162849"/>
            <a:ext cx="744464" cy="74445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6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053" name="Google Shape;1053;p6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054" name="Google Shape;1054;p66"/>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Security (Cont.)</a:t>
            </a:r>
            <a:endParaRPr/>
          </a:p>
        </p:txBody>
      </p:sp>
      <p:sp>
        <p:nvSpPr>
          <p:cNvPr id="1055" name="Google Shape;1055;p66"/>
          <p:cNvSpPr/>
          <p:nvPr/>
        </p:nvSpPr>
        <p:spPr>
          <a:xfrm>
            <a:off x="496076" y="2595333"/>
            <a:ext cx="1293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Security Monitoring</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056" name="Google Shape;1056;p66"/>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Security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057" name="Google Shape;1057;p66"/>
          <p:cNvSpPr/>
          <p:nvPr/>
        </p:nvSpPr>
        <p:spPr>
          <a:xfrm>
            <a:off x="4010663" y="2595333"/>
            <a:ext cx="146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SIEM</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058" name="Google Shape;1058;p66"/>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None/>
            </a:pPr>
            <a:r>
              <a:rPr lang="en" sz="1400">
                <a:solidFill>
                  <a:srgbClr val="3A3838"/>
                </a:solidFill>
                <a:latin typeface="Barlow"/>
                <a:ea typeface="Barlow"/>
                <a:cs typeface="Barlow"/>
                <a:sym typeface="Barlow"/>
              </a:rPr>
              <a:t>Threat Intelligence</a:t>
            </a:r>
            <a:endParaRPr sz="1400">
              <a:solidFill>
                <a:srgbClr val="3A3838"/>
              </a:solidFill>
              <a:latin typeface="Barlow"/>
              <a:ea typeface="Barlow"/>
              <a:cs typeface="Barlow"/>
              <a:sym typeface="Barlow"/>
            </a:endParaRPr>
          </a:p>
          <a:p>
            <a:pPr indent="0" lvl="0" marL="0" rtl="0" algn="ctr">
              <a:spcBef>
                <a:spcPts val="0"/>
              </a:spcBef>
              <a:spcAft>
                <a:spcPts val="0"/>
              </a:spcAft>
              <a:buNone/>
            </a:pPr>
            <a:r>
              <a:t/>
            </a:r>
            <a:endParaRPr sz="1400">
              <a:solidFill>
                <a:srgbClr val="3A3838"/>
              </a:solidFill>
              <a:latin typeface="Barlow"/>
              <a:ea typeface="Barlow"/>
              <a:cs typeface="Barlow"/>
              <a:sym typeface="Barlow"/>
            </a:endParaRPr>
          </a:p>
          <a:p>
            <a:pPr indent="0" lvl="0" marL="0" rtl="0" algn="ctr">
              <a:spcBef>
                <a:spcPts val="0"/>
              </a:spcBef>
              <a:spcAft>
                <a:spcPts val="0"/>
              </a:spcAft>
              <a:buClr>
                <a:srgbClr val="3A3838"/>
              </a:buClr>
              <a:buSzPts val="1400"/>
              <a:buFont typeface="Barlow"/>
              <a:buNone/>
            </a:pPr>
            <a:r>
              <a:t/>
            </a:r>
            <a:endParaRPr sz="1400">
              <a:solidFill>
                <a:srgbClr val="3A3838"/>
              </a:solidFill>
              <a:latin typeface="Barlow"/>
              <a:ea typeface="Barlow"/>
              <a:cs typeface="Barlow"/>
              <a:sym typeface="Barlow"/>
            </a:endParaRPr>
          </a:p>
        </p:txBody>
      </p:sp>
      <p:sp>
        <p:nvSpPr>
          <p:cNvPr id="1059" name="Google Shape;1059;p66"/>
          <p:cNvSpPr/>
          <p:nvPr/>
        </p:nvSpPr>
        <p:spPr>
          <a:xfrm>
            <a:off x="7443471" y="2595333"/>
            <a:ext cx="1795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Users_1</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060" name="Google Shape;1060;p66"/>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Website (www)</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pic>
        <p:nvPicPr>
          <p:cNvPr id="1061" name="Google Shape;1061;p66"/>
          <p:cNvPicPr preferRelativeResize="0"/>
          <p:nvPr/>
        </p:nvPicPr>
        <p:blipFill rotWithShape="1">
          <a:blip r:embed="rId3">
            <a:alphaModFix/>
          </a:blip>
          <a:srcRect b="0" l="0" r="0" t="0"/>
          <a:stretch/>
        </p:blipFill>
        <p:spPr>
          <a:xfrm>
            <a:off x="764808" y="3842880"/>
            <a:ext cx="753868" cy="753871"/>
          </a:xfrm>
          <a:prstGeom prst="rect">
            <a:avLst/>
          </a:prstGeom>
          <a:noFill/>
          <a:ln>
            <a:noFill/>
          </a:ln>
        </p:spPr>
      </p:pic>
      <p:pic>
        <p:nvPicPr>
          <p:cNvPr id="1062" name="Google Shape;1062;p66"/>
          <p:cNvPicPr preferRelativeResize="0"/>
          <p:nvPr/>
        </p:nvPicPr>
        <p:blipFill rotWithShape="1">
          <a:blip r:embed="rId4">
            <a:alphaModFix/>
          </a:blip>
          <a:srcRect b="0" l="0" r="0" t="0"/>
          <a:stretch/>
        </p:blipFill>
        <p:spPr>
          <a:xfrm>
            <a:off x="2561487" y="3842880"/>
            <a:ext cx="753868" cy="753871"/>
          </a:xfrm>
          <a:prstGeom prst="rect">
            <a:avLst/>
          </a:prstGeom>
          <a:noFill/>
          <a:ln>
            <a:noFill/>
          </a:ln>
        </p:spPr>
      </p:pic>
      <p:pic>
        <p:nvPicPr>
          <p:cNvPr id="1063" name="Google Shape;1063;p66"/>
          <p:cNvPicPr preferRelativeResize="0"/>
          <p:nvPr/>
        </p:nvPicPr>
        <p:blipFill rotWithShape="1">
          <a:blip r:embed="rId5">
            <a:alphaModFix/>
          </a:blip>
          <a:srcRect b="0" l="0" r="0" t="0"/>
          <a:stretch/>
        </p:blipFill>
        <p:spPr>
          <a:xfrm>
            <a:off x="4358166" y="3842880"/>
            <a:ext cx="753868" cy="753871"/>
          </a:xfrm>
          <a:prstGeom prst="rect">
            <a:avLst/>
          </a:prstGeom>
          <a:noFill/>
          <a:ln>
            <a:noFill/>
          </a:ln>
        </p:spPr>
      </p:pic>
      <p:pic>
        <p:nvPicPr>
          <p:cNvPr id="1064" name="Google Shape;1064;p66"/>
          <p:cNvPicPr preferRelativeResize="0"/>
          <p:nvPr/>
        </p:nvPicPr>
        <p:blipFill rotWithShape="1">
          <a:blip r:embed="rId6">
            <a:alphaModFix/>
          </a:blip>
          <a:srcRect b="0" l="0" r="0" t="0"/>
          <a:stretch/>
        </p:blipFill>
        <p:spPr>
          <a:xfrm>
            <a:off x="6154844" y="3842880"/>
            <a:ext cx="753868" cy="753871"/>
          </a:xfrm>
          <a:prstGeom prst="rect">
            <a:avLst/>
          </a:prstGeom>
          <a:noFill/>
          <a:ln>
            <a:noFill/>
          </a:ln>
        </p:spPr>
      </p:pic>
      <p:pic>
        <p:nvPicPr>
          <p:cNvPr id="1065" name="Google Shape;1065;p66"/>
          <p:cNvPicPr preferRelativeResize="0"/>
          <p:nvPr/>
        </p:nvPicPr>
        <p:blipFill rotWithShape="1">
          <a:blip r:embed="rId7">
            <a:alphaModFix/>
          </a:blip>
          <a:srcRect b="0" l="0" r="0" t="0"/>
          <a:stretch/>
        </p:blipFill>
        <p:spPr>
          <a:xfrm>
            <a:off x="7951523" y="3842880"/>
            <a:ext cx="753868" cy="753871"/>
          </a:xfrm>
          <a:prstGeom prst="rect">
            <a:avLst/>
          </a:prstGeom>
          <a:noFill/>
          <a:ln>
            <a:noFill/>
          </a:ln>
        </p:spPr>
      </p:pic>
      <p:pic>
        <p:nvPicPr>
          <p:cNvPr id="1066" name="Google Shape;1066;p66"/>
          <p:cNvPicPr preferRelativeResize="0"/>
          <p:nvPr/>
        </p:nvPicPr>
        <p:blipFill rotWithShape="1">
          <a:blip r:embed="rId8">
            <a:alphaModFix/>
          </a:blip>
          <a:srcRect b="0" l="0" r="0" t="0"/>
          <a:stretch/>
        </p:blipFill>
        <p:spPr>
          <a:xfrm>
            <a:off x="9748202" y="3842880"/>
            <a:ext cx="753868" cy="753871"/>
          </a:xfrm>
          <a:prstGeom prst="rect">
            <a:avLst/>
          </a:prstGeom>
          <a:noFill/>
          <a:ln>
            <a:noFill/>
          </a:ln>
        </p:spPr>
      </p:pic>
      <p:pic>
        <p:nvPicPr>
          <p:cNvPr id="1067" name="Google Shape;1067;p66"/>
          <p:cNvPicPr preferRelativeResize="0"/>
          <p:nvPr/>
        </p:nvPicPr>
        <p:blipFill rotWithShape="1">
          <a:blip r:embed="rId9">
            <a:alphaModFix/>
          </a:blip>
          <a:srcRect b="0" l="0" r="0" t="0"/>
          <a:stretch/>
        </p:blipFill>
        <p:spPr>
          <a:xfrm>
            <a:off x="764808" y="4720760"/>
            <a:ext cx="753868" cy="753871"/>
          </a:xfrm>
          <a:prstGeom prst="rect">
            <a:avLst/>
          </a:prstGeom>
          <a:noFill/>
          <a:ln>
            <a:noFill/>
          </a:ln>
        </p:spPr>
      </p:pic>
      <p:pic>
        <p:nvPicPr>
          <p:cNvPr id="1068" name="Google Shape;1068;p66"/>
          <p:cNvPicPr preferRelativeResize="0"/>
          <p:nvPr/>
        </p:nvPicPr>
        <p:blipFill rotWithShape="1">
          <a:blip r:embed="rId10">
            <a:alphaModFix/>
          </a:blip>
          <a:srcRect b="0" l="0" r="0" t="0"/>
          <a:stretch/>
        </p:blipFill>
        <p:spPr>
          <a:xfrm>
            <a:off x="2561487" y="4720760"/>
            <a:ext cx="753868" cy="753871"/>
          </a:xfrm>
          <a:prstGeom prst="rect">
            <a:avLst/>
          </a:prstGeom>
          <a:noFill/>
          <a:ln>
            <a:noFill/>
          </a:ln>
        </p:spPr>
      </p:pic>
      <p:pic>
        <p:nvPicPr>
          <p:cNvPr id="1069" name="Google Shape;1069;p66"/>
          <p:cNvPicPr preferRelativeResize="0"/>
          <p:nvPr/>
        </p:nvPicPr>
        <p:blipFill rotWithShape="1">
          <a:blip r:embed="rId11">
            <a:alphaModFix/>
          </a:blip>
          <a:srcRect b="0" l="0" r="0" t="0"/>
          <a:stretch/>
        </p:blipFill>
        <p:spPr>
          <a:xfrm>
            <a:off x="4358166" y="4720760"/>
            <a:ext cx="753868" cy="753871"/>
          </a:xfrm>
          <a:prstGeom prst="rect">
            <a:avLst/>
          </a:prstGeom>
          <a:noFill/>
          <a:ln>
            <a:noFill/>
          </a:ln>
        </p:spPr>
      </p:pic>
      <p:pic>
        <p:nvPicPr>
          <p:cNvPr id="1070" name="Google Shape;1070;p66"/>
          <p:cNvPicPr preferRelativeResize="0"/>
          <p:nvPr/>
        </p:nvPicPr>
        <p:blipFill rotWithShape="1">
          <a:blip r:embed="rId12">
            <a:alphaModFix/>
          </a:blip>
          <a:srcRect b="0" l="0" r="0" t="0"/>
          <a:stretch/>
        </p:blipFill>
        <p:spPr>
          <a:xfrm>
            <a:off x="6154844" y="4720760"/>
            <a:ext cx="753868" cy="753871"/>
          </a:xfrm>
          <a:prstGeom prst="rect">
            <a:avLst/>
          </a:prstGeom>
          <a:noFill/>
          <a:ln>
            <a:noFill/>
          </a:ln>
        </p:spPr>
      </p:pic>
      <p:pic>
        <p:nvPicPr>
          <p:cNvPr id="1071" name="Google Shape;1071;p66"/>
          <p:cNvPicPr preferRelativeResize="0"/>
          <p:nvPr/>
        </p:nvPicPr>
        <p:blipFill rotWithShape="1">
          <a:blip r:embed="rId13">
            <a:alphaModFix/>
          </a:blip>
          <a:srcRect b="0" l="0" r="0" t="0"/>
          <a:stretch/>
        </p:blipFill>
        <p:spPr>
          <a:xfrm>
            <a:off x="7951523" y="4720760"/>
            <a:ext cx="753868" cy="753871"/>
          </a:xfrm>
          <a:prstGeom prst="rect">
            <a:avLst/>
          </a:prstGeom>
          <a:noFill/>
          <a:ln>
            <a:noFill/>
          </a:ln>
        </p:spPr>
      </p:pic>
      <p:pic>
        <p:nvPicPr>
          <p:cNvPr id="1072" name="Google Shape;1072;p66"/>
          <p:cNvPicPr preferRelativeResize="0"/>
          <p:nvPr/>
        </p:nvPicPr>
        <p:blipFill rotWithShape="1">
          <a:blip r:embed="rId14">
            <a:alphaModFix/>
          </a:blip>
          <a:srcRect b="0" l="0" r="0" t="0"/>
          <a:stretch/>
        </p:blipFill>
        <p:spPr>
          <a:xfrm>
            <a:off x="9748202" y="4720760"/>
            <a:ext cx="753868" cy="753871"/>
          </a:xfrm>
          <a:prstGeom prst="rect">
            <a:avLst/>
          </a:prstGeom>
          <a:noFill/>
          <a:ln>
            <a:noFill/>
          </a:ln>
        </p:spPr>
      </p:pic>
      <p:pic>
        <p:nvPicPr>
          <p:cNvPr id="1073" name="Google Shape;1073;p66"/>
          <p:cNvPicPr preferRelativeResize="0"/>
          <p:nvPr/>
        </p:nvPicPr>
        <p:blipFill rotWithShape="1">
          <a:blip r:embed="rId15">
            <a:alphaModFix/>
          </a:blip>
          <a:srcRect b="0" l="0" r="0" t="0"/>
          <a:stretch/>
        </p:blipFill>
        <p:spPr>
          <a:xfrm>
            <a:off x="764808" y="5598640"/>
            <a:ext cx="753868" cy="753871"/>
          </a:xfrm>
          <a:prstGeom prst="rect">
            <a:avLst/>
          </a:prstGeom>
          <a:noFill/>
          <a:ln>
            <a:noFill/>
          </a:ln>
        </p:spPr>
      </p:pic>
      <p:pic>
        <p:nvPicPr>
          <p:cNvPr id="1074" name="Google Shape;1074;p66"/>
          <p:cNvPicPr preferRelativeResize="0"/>
          <p:nvPr/>
        </p:nvPicPr>
        <p:blipFill rotWithShape="1">
          <a:blip r:embed="rId16">
            <a:alphaModFix/>
          </a:blip>
          <a:srcRect b="0" l="0" r="0" t="0"/>
          <a:stretch/>
        </p:blipFill>
        <p:spPr>
          <a:xfrm>
            <a:off x="2561487" y="5598640"/>
            <a:ext cx="753868" cy="753871"/>
          </a:xfrm>
          <a:prstGeom prst="rect">
            <a:avLst/>
          </a:prstGeom>
          <a:noFill/>
          <a:ln>
            <a:noFill/>
          </a:ln>
        </p:spPr>
      </p:pic>
      <p:pic>
        <p:nvPicPr>
          <p:cNvPr id="1075" name="Google Shape;1075;p66"/>
          <p:cNvPicPr preferRelativeResize="0"/>
          <p:nvPr/>
        </p:nvPicPr>
        <p:blipFill rotWithShape="1">
          <a:blip r:embed="rId17">
            <a:alphaModFix/>
          </a:blip>
          <a:srcRect b="0" l="0" r="0" t="0"/>
          <a:stretch/>
        </p:blipFill>
        <p:spPr>
          <a:xfrm>
            <a:off x="4358166" y="5598640"/>
            <a:ext cx="753868" cy="753871"/>
          </a:xfrm>
          <a:prstGeom prst="rect">
            <a:avLst/>
          </a:prstGeom>
          <a:noFill/>
          <a:ln>
            <a:noFill/>
          </a:ln>
        </p:spPr>
      </p:pic>
      <p:pic>
        <p:nvPicPr>
          <p:cNvPr id="1076" name="Google Shape;1076;p66"/>
          <p:cNvPicPr preferRelativeResize="0"/>
          <p:nvPr/>
        </p:nvPicPr>
        <p:blipFill rotWithShape="1">
          <a:blip r:embed="rId18">
            <a:alphaModFix/>
          </a:blip>
          <a:srcRect b="0" l="0" r="0" t="0"/>
          <a:stretch/>
        </p:blipFill>
        <p:spPr>
          <a:xfrm>
            <a:off x="6154844" y="5598640"/>
            <a:ext cx="753868" cy="753871"/>
          </a:xfrm>
          <a:prstGeom prst="rect">
            <a:avLst/>
          </a:prstGeom>
          <a:noFill/>
          <a:ln>
            <a:noFill/>
          </a:ln>
        </p:spPr>
      </p:pic>
      <p:pic>
        <p:nvPicPr>
          <p:cNvPr id="1077" name="Google Shape;1077;p66"/>
          <p:cNvPicPr preferRelativeResize="0"/>
          <p:nvPr/>
        </p:nvPicPr>
        <p:blipFill rotWithShape="1">
          <a:blip r:embed="rId19">
            <a:alphaModFix/>
          </a:blip>
          <a:srcRect b="0" l="0" r="0" t="0"/>
          <a:stretch/>
        </p:blipFill>
        <p:spPr>
          <a:xfrm>
            <a:off x="7951523" y="5598640"/>
            <a:ext cx="753868" cy="753871"/>
          </a:xfrm>
          <a:prstGeom prst="rect">
            <a:avLst/>
          </a:prstGeom>
          <a:noFill/>
          <a:ln>
            <a:noFill/>
          </a:ln>
        </p:spPr>
      </p:pic>
      <p:pic>
        <p:nvPicPr>
          <p:cNvPr id="1078" name="Google Shape;1078;p66"/>
          <p:cNvPicPr preferRelativeResize="0"/>
          <p:nvPr/>
        </p:nvPicPr>
        <p:blipFill rotWithShape="1">
          <a:blip r:embed="rId20">
            <a:alphaModFix/>
          </a:blip>
          <a:srcRect b="0" l="0" r="0" t="0"/>
          <a:stretch/>
        </p:blipFill>
        <p:spPr>
          <a:xfrm>
            <a:off x="9748202" y="5598640"/>
            <a:ext cx="753868" cy="75387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6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084" name="Google Shape;1084;p6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085" name="Google Shape;1085;p67"/>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Miscellaneous</a:t>
            </a:r>
            <a:endParaRPr/>
          </a:p>
        </p:txBody>
      </p:sp>
      <p:sp>
        <p:nvSpPr>
          <p:cNvPr id="1086" name="Google Shape;1086;p67"/>
          <p:cNvSpPr/>
          <p:nvPr/>
        </p:nvSpPr>
        <p:spPr>
          <a:xfrm>
            <a:off x="909694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Connectors</a:t>
            </a:r>
            <a:endParaRPr sz="1400">
              <a:solidFill>
                <a:srgbClr val="3A3838"/>
              </a:solidFill>
              <a:latin typeface="DM Sans"/>
              <a:ea typeface="DM Sans"/>
              <a:cs typeface="DM Sans"/>
              <a:sym typeface="DM Sans"/>
            </a:endParaRPr>
          </a:p>
        </p:txBody>
      </p:sp>
      <p:sp>
        <p:nvSpPr>
          <p:cNvPr id="1087" name="Google Shape;1087;p67"/>
          <p:cNvSpPr/>
          <p:nvPr/>
        </p:nvSpPr>
        <p:spPr>
          <a:xfrm>
            <a:off x="7357792"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Collaborative</a:t>
            </a:r>
            <a:endParaRPr sz="1400">
              <a:solidFill>
                <a:srgbClr val="3A3838"/>
              </a:solidFill>
              <a:latin typeface="DM Sans"/>
              <a:ea typeface="DM Sans"/>
              <a:cs typeface="DM Sans"/>
              <a:sym typeface="DM Sans"/>
            </a:endParaRPr>
          </a:p>
        </p:txBody>
      </p:sp>
      <p:sp>
        <p:nvSpPr>
          <p:cNvPr id="1088" name="Google Shape;1088;p67"/>
          <p:cNvSpPr/>
          <p:nvPr/>
        </p:nvSpPr>
        <p:spPr>
          <a:xfrm>
            <a:off x="579681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Cloud</a:t>
            </a:r>
            <a:endParaRPr sz="1400">
              <a:solidFill>
                <a:srgbClr val="3A3838"/>
              </a:solidFill>
              <a:latin typeface="DM Sans"/>
              <a:ea typeface="DM Sans"/>
              <a:cs typeface="DM Sans"/>
              <a:sym typeface="DM Sans"/>
            </a:endParaRPr>
          </a:p>
        </p:txBody>
      </p:sp>
      <p:sp>
        <p:nvSpPr>
          <p:cNvPr id="1089" name="Google Shape;1089;p67"/>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Business Decision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Maker Persona</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090" name="Google Shape;1090;p67"/>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Bronze</a:t>
            </a:r>
            <a:endParaRPr sz="1400">
              <a:solidFill>
                <a:srgbClr val="3A3838"/>
              </a:solidFill>
              <a:latin typeface="DM Sans"/>
              <a:ea typeface="DM Sans"/>
              <a:cs typeface="DM Sans"/>
              <a:sym typeface="DM Sans"/>
            </a:endParaRPr>
          </a:p>
        </p:txBody>
      </p:sp>
      <p:sp>
        <p:nvSpPr>
          <p:cNvPr id="1091" name="Google Shape;1091;p67"/>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Autosize Clusters</a:t>
            </a:r>
            <a:endParaRPr sz="1400">
              <a:solidFill>
                <a:srgbClr val="3A3838"/>
              </a:solidFill>
              <a:latin typeface="DM Sans"/>
              <a:ea typeface="DM Sans"/>
              <a:cs typeface="DM Sans"/>
              <a:sym typeface="DM Sans"/>
            </a:endParaRPr>
          </a:p>
        </p:txBody>
      </p:sp>
      <p:pic>
        <p:nvPicPr>
          <p:cNvPr id="1092" name="Google Shape;1092;p67"/>
          <p:cNvPicPr preferRelativeResize="0"/>
          <p:nvPr/>
        </p:nvPicPr>
        <p:blipFill rotWithShape="1">
          <a:blip r:embed="rId3">
            <a:alphaModFix/>
          </a:blip>
          <a:srcRect b="0" l="0" r="0" t="0"/>
          <a:stretch/>
        </p:blipFill>
        <p:spPr>
          <a:xfrm>
            <a:off x="761806" y="3429006"/>
            <a:ext cx="744464" cy="744458"/>
          </a:xfrm>
          <a:prstGeom prst="rect">
            <a:avLst/>
          </a:prstGeom>
          <a:noFill/>
          <a:ln>
            <a:noFill/>
          </a:ln>
        </p:spPr>
      </p:pic>
      <p:pic>
        <p:nvPicPr>
          <p:cNvPr id="1093" name="Google Shape;1093;p67"/>
          <p:cNvPicPr preferRelativeResize="0"/>
          <p:nvPr/>
        </p:nvPicPr>
        <p:blipFill rotWithShape="1">
          <a:blip r:embed="rId4">
            <a:alphaModFix/>
          </a:blip>
          <a:srcRect b="0" l="0" r="0" t="0"/>
          <a:stretch/>
        </p:blipFill>
        <p:spPr>
          <a:xfrm>
            <a:off x="2412391" y="3429006"/>
            <a:ext cx="744464" cy="744458"/>
          </a:xfrm>
          <a:prstGeom prst="rect">
            <a:avLst/>
          </a:prstGeom>
          <a:noFill/>
          <a:ln>
            <a:noFill/>
          </a:ln>
        </p:spPr>
      </p:pic>
      <p:pic>
        <p:nvPicPr>
          <p:cNvPr id="1094" name="Google Shape;1094;p67"/>
          <p:cNvPicPr preferRelativeResize="0"/>
          <p:nvPr/>
        </p:nvPicPr>
        <p:blipFill rotWithShape="1">
          <a:blip r:embed="rId5">
            <a:alphaModFix/>
          </a:blip>
          <a:srcRect b="0" l="0" r="0" t="0"/>
          <a:stretch/>
        </p:blipFill>
        <p:spPr>
          <a:xfrm>
            <a:off x="4062976" y="3429006"/>
            <a:ext cx="744464" cy="744458"/>
          </a:xfrm>
          <a:prstGeom prst="rect">
            <a:avLst/>
          </a:prstGeom>
          <a:noFill/>
          <a:ln>
            <a:noFill/>
          </a:ln>
        </p:spPr>
      </p:pic>
      <p:pic>
        <p:nvPicPr>
          <p:cNvPr id="1095" name="Google Shape;1095;p67"/>
          <p:cNvPicPr preferRelativeResize="0"/>
          <p:nvPr/>
        </p:nvPicPr>
        <p:blipFill rotWithShape="1">
          <a:blip r:embed="rId6">
            <a:alphaModFix/>
          </a:blip>
          <a:srcRect b="0" l="0" r="0" t="0"/>
          <a:stretch/>
        </p:blipFill>
        <p:spPr>
          <a:xfrm>
            <a:off x="5956797" y="3429006"/>
            <a:ext cx="744464" cy="744458"/>
          </a:xfrm>
          <a:prstGeom prst="rect">
            <a:avLst/>
          </a:prstGeom>
          <a:noFill/>
          <a:ln>
            <a:noFill/>
          </a:ln>
        </p:spPr>
      </p:pic>
      <p:pic>
        <p:nvPicPr>
          <p:cNvPr id="1096" name="Google Shape;1096;p67"/>
          <p:cNvPicPr preferRelativeResize="0"/>
          <p:nvPr/>
        </p:nvPicPr>
        <p:blipFill rotWithShape="1">
          <a:blip r:embed="rId7">
            <a:alphaModFix/>
          </a:blip>
          <a:srcRect b="0" l="0" r="0" t="0"/>
          <a:stretch/>
        </p:blipFill>
        <p:spPr>
          <a:xfrm>
            <a:off x="7607382" y="3429006"/>
            <a:ext cx="744464" cy="744458"/>
          </a:xfrm>
          <a:prstGeom prst="rect">
            <a:avLst/>
          </a:prstGeom>
          <a:noFill/>
          <a:ln>
            <a:noFill/>
          </a:ln>
        </p:spPr>
      </p:pic>
      <p:pic>
        <p:nvPicPr>
          <p:cNvPr id="1097" name="Google Shape;1097;p67"/>
          <p:cNvPicPr preferRelativeResize="0"/>
          <p:nvPr/>
        </p:nvPicPr>
        <p:blipFill rotWithShape="1">
          <a:blip r:embed="rId8">
            <a:alphaModFix/>
          </a:blip>
          <a:srcRect b="0" l="0" r="0" t="0"/>
          <a:stretch/>
        </p:blipFill>
        <p:spPr>
          <a:xfrm>
            <a:off x="9257966" y="3429006"/>
            <a:ext cx="744464" cy="744458"/>
          </a:xfrm>
          <a:prstGeom prst="rect">
            <a:avLst/>
          </a:prstGeom>
          <a:noFill/>
          <a:ln>
            <a:noFill/>
          </a:ln>
        </p:spPr>
      </p:pic>
      <p:pic>
        <p:nvPicPr>
          <p:cNvPr id="1098" name="Google Shape;1098;p67"/>
          <p:cNvPicPr preferRelativeResize="0"/>
          <p:nvPr/>
        </p:nvPicPr>
        <p:blipFill rotWithShape="1">
          <a:blip r:embed="rId9">
            <a:alphaModFix/>
          </a:blip>
          <a:srcRect b="0" l="0" r="0" t="0"/>
          <a:stretch/>
        </p:blipFill>
        <p:spPr>
          <a:xfrm>
            <a:off x="761806" y="4295928"/>
            <a:ext cx="744464" cy="744458"/>
          </a:xfrm>
          <a:prstGeom prst="rect">
            <a:avLst/>
          </a:prstGeom>
          <a:noFill/>
          <a:ln>
            <a:noFill/>
          </a:ln>
        </p:spPr>
      </p:pic>
      <p:pic>
        <p:nvPicPr>
          <p:cNvPr id="1099" name="Google Shape;1099;p67"/>
          <p:cNvPicPr preferRelativeResize="0"/>
          <p:nvPr/>
        </p:nvPicPr>
        <p:blipFill rotWithShape="1">
          <a:blip r:embed="rId10">
            <a:alphaModFix/>
          </a:blip>
          <a:srcRect b="0" l="0" r="0" t="0"/>
          <a:stretch/>
        </p:blipFill>
        <p:spPr>
          <a:xfrm>
            <a:off x="2412391" y="4295928"/>
            <a:ext cx="744464" cy="744458"/>
          </a:xfrm>
          <a:prstGeom prst="rect">
            <a:avLst/>
          </a:prstGeom>
          <a:noFill/>
          <a:ln>
            <a:noFill/>
          </a:ln>
        </p:spPr>
      </p:pic>
      <p:pic>
        <p:nvPicPr>
          <p:cNvPr id="1100" name="Google Shape;1100;p67"/>
          <p:cNvPicPr preferRelativeResize="0"/>
          <p:nvPr/>
        </p:nvPicPr>
        <p:blipFill rotWithShape="1">
          <a:blip r:embed="rId11">
            <a:alphaModFix/>
          </a:blip>
          <a:srcRect b="0" l="0" r="0" t="0"/>
          <a:stretch/>
        </p:blipFill>
        <p:spPr>
          <a:xfrm>
            <a:off x="4062976" y="4295928"/>
            <a:ext cx="744464" cy="744458"/>
          </a:xfrm>
          <a:prstGeom prst="rect">
            <a:avLst/>
          </a:prstGeom>
          <a:noFill/>
          <a:ln>
            <a:noFill/>
          </a:ln>
        </p:spPr>
      </p:pic>
      <p:pic>
        <p:nvPicPr>
          <p:cNvPr id="1101" name="Google Shape;1101;p67"/>
          <p:cNvPicPr preferRelativeResize="0"/>
          <p:nvPr/>
        </p:nvPicPr>
        <p:blipFill rotWithShape="1">
          <a:blip r:embed="rId12">
            <a:alphaModFix/>
          </a:blip>
          <a:srcRect b="0" l="0" r="0" t="0"/>
          <a:stretch/>
        </p:blipFill>
        <p:spPr>
          <a:xfrm>
            <a:off x="5956797" y="4295928"/>
            <a:ext cx="744464" cy="744458"/>
          </a:xfrm>
          <a:prstGeom prst="rect">
            <a:avLst/>
          </a:prstGeom>
          <a:noFill/>
          <a:ln>
            <a:noFill/>
          </a:ln>
        </p:spPr>
      </p:pic>
      <p:pic>
        <p:nvPicPr>
          <p:cNvPr id="1102" name="Google Shape;1102;p67"/>
          <p:cNvPicPr preferRelativeResize="0"/>
          <p:nvPr/>
        </p:nvPicPr>
        <p:blipFill rotWithShape="1">
          <a:blip r:embed="rId13">
            <a:alphaModFix/>
          </a:blip>
          <a:srcRect b="0" l="0" r="0" t="0"/>
          <a:stretch/>
        </p:blipFill>
        <p:spPr>
          <a:xfrm>
            <a:off x="7607382" y="4295928"/>
            <a:ext cx="744464" cy="744458"/>
          </a:xfrm>
          <a:prstGeom prst="rect">
            <a:avLst/>
          </a:prstGeom>
          <a:noFill/>
          <a:ln>
            <a:noFill/>
          </a:ln>
        </p:spPr>
      </p:pic>
      <p:pic>
        <p:nvPicPr>
          <p:cNvPr id="1103" name="Google Shape;1103;p67"/>
          <p:cNvPicPr preferRelativeResize="0"/>
          <p:nvPr/>
        </p:nvPicPr>
        <p:blipFill rotWithShape="1">
          <a:blip r:embed="rId14">
            <a:alphaModFix/>
          </a:blip>
          <a:srcRect b="0" l="0" r="0" t="0"/>
          <a:stretch/>
        </p:blipFill>
        <p:spPr>
          <a:xfrm>
            <a:off x="9257966" y="4295928"/>
            <a:ext cx="744464" cy="744458"/>
          </a:xfrm>
          <a:prstGeom prst="rect">
            <a:avLst/>
          </a:prstGeom>
          <a:noFill/>
          <a:ln>
            <a:noFill/>
          </a:ln>
        </p:spPr>
      </p:pic>
      <p:pic>
        <p:nvPicPr>
          <p:cNvPr id="1104" name="Google Shape;1104;p67"/>
          <p:cNvPicPr preferRelativeResize="0"/>
          <p:nvPr/>
        </p:nvPicPr>
        <p:blipFill rotWithShape="1">
          <a:blip r:embed="rId15">
            <a:alphaModFix/>
          </a:blip>
          <a:srcRect b="0" l="0" r="0" t="0"/>
          <a:stretch/>
        </p:blipFill>
        <p:spPr>
          <a:xfrm>
            <a:off x="761806" y="5162849"/>
            <a:ext cx="744464" cy="744458"/>
          </a:xfrm>
          <a:prstGeom prst="rect">
            <a:avLst/>
          </a:prstGeom>
          <a:noFill/>
          <a:ln>
            <a:noFill/>
          </a:ln>
        </p:spPr>
      </p:pic>
      <p:pic>
        <p:nvPicPr>
          <p:cNvPr id="1105" name="Google Shape;1105;p67"/>
          <p:cNvPicPr preferRelativeResize="0"/>
          <p:nvPr/>
        </p:nvPicPr>
        <p:blipFill rotWithShape="1">
          <a:blip r:embed="rId16">
            <a:alphaModFix/>
          </a:blip>
          <a:srcRect b="0" l="0" r="0" t="0"/>
          <a:stretch/>
        </p:blipFill>
        <p:spPr>
          <a:xfrm>
            <a:off x="2412391" y="5162849"/>
            <a:ext cx="744464" cy="744458"/>
          </a:xfrm>
          <a:prstGeom prst="rect">
            <a:avLst/>
          </a:prstGeom>
          <a:noFill/>
          <a:ln>
            <a:noFill/>
          </a:ln>
        </p:spPr>
      </p:pic>
      <p:pic>
        <p:nvPicPr>
          <p:cNvPr id="1106" name="Google Shape;1106;p67"/>
          <p:cNvPicPr preferRelativeResize="0"/>
          <p:nvPr/>
        </p:nvPicPr>
        <p:blipFill rotWithShape="1">
          <a:blip r:embed="rId17">
            <a:alphaModFix/>
          </a:blip>
          <a:srcRect b="0" l="0" r="0" t="0"/>
          <a:stretch/>
        </p:blipFill>
        <p:spPr>
          <a:xfrm>
            <a:off x="4062976" y="5162849"/>
            <a:ext cx="744464" cy="744458"/>
          </a:xfrm>
          <a:prstGeom prst="rect">
            <a:avLst/>
          </a:prstGeom>
          <a:noFill/>
          <a:ln>
            <a:noFill/>
          </a:ln>
        </p:spPr>
      </p:pic>
      <p:pic>
        <p:nvPicPr>
          <p:cNvPr id="1107" name="Google Shape;1107;p67"/>
          <p:cNvPicPr preferRelativeResize="0"/>
          <p:nvPr/>
        </p:nvPicPr>
        <p:blipFill rotWithShape="1">
          <a:blip r:embed="rId18">
            <a:alphaModFix/>
          </a:blip>
          <a:srcRect b="0" l="0" r="0" t="0"/>
          <a:stretch/>
        </p:blipFill>
        <p:spPr>
          <a:xfrm>
            <a:off x="5956797" y="5162849"/>
            <a:ext cx="744464" cy="744458"/>
          </a:xfrm>
          <a:prstGeom prst="rect">
            <a:avLst/>
          </a:prstGeom>
          <a:noFill/>
          <a:ln>
            <a:noFill/>
          </a:ln>
        </p:spPr>
      </p:pic>
      <p:pic>
        <p:nvPicPr>
          <p:cNvPr id="1108" name="Google Shape;1108;p67"/>
          <p:cNvPicPr preferRelativeResize="0"/>
          <p:nvPr/>
        </p:nvPicPr>
        <p:blipFill rotWithShape="1">
          <a:blip r:embed="rId19">
            <a:alphaModFix/>
          </a:blip>
          <a:srcRect b="0" l="0" r="0" t="0"/>
          <a:stretch/>
        </p:blipFill>
        <p:spPr>
          <a:xfrm>
            <a:off x="7607382" y="5162849"/>
            <a:ext cx="744464" cy="744458"/>
          </a:xfrm>
          <a:prstGeom prst="rect">
            <a:avLst/>
          </a:prstGeom>
          <a:noFill/>
          <a:ln>
            <a:noFill/>
          </a:ln>
        </p:spPr>
      </p:pic>
      <p:pic>
        <p:nvPicPr>
          <p:cNvPr id="1109" name="Google Shape;1109;p67"/>
          <p:cNvPicPr preferRelativeResize="0"/>
          <p:nvPr/>
        </p:nvPicPr>
        <p:blipFill rotWithShape="1">
          <a:blip r:embed="rId20">
            <a:alphaModFix/>
          </a:blip>
          <a:srcRect b="0" l="0" r="0" t="0"/>
          <a:stretch/>
        </p:blipFill>
        <p:spPr>
          <a:xfrm>
            <a:off x="9257966" y="5162849"/>
            <a:ext cx="744464" cy="74445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6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115" name="Google Shape;1115;p6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116" name="Google Shape;1116;p68"/>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Miscellaneous (Cont.)</a:t>
            </a:r>
            <a:endParaRPr/>
          </a:p>
        </p:txBody>
      </p:sp>
      <p:sp>
        <p:nvSpPr>
          <p:cNvPr id="1117" name="Google Shape;1117;p68"/>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Deploy</a:t>
            </a:r>
            <a:endParaRPr sz="1400">
              <a:solidFill>
                <a:srgbClr val="3A3838"/>
              </a:solidFill>
              <a:latin typeface="DM Sans"/>
              <a:ea typeface="DM Sans"/>
              <a:cs typeface="DM Sans"/>
              <a:sym typeface="DM Sans"/>
            </a:endParaRPr>
          </a:p>
        </p:txBody>
      </p:sp>
      <p:sp>
        <p:nvSpPr>
          <p:cNvPr id="1118" name="Google Shape;1118;p68"/>
          <p:cNvSpPr/>
          <p:nvPr/>
        </p:nvSpPr>
        <p:spPr>
          <a:xfrm>
            <a:off x="8765140"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Delta Table</a:t>
            </a:r>
            <a:endParaRPr sz="1400">
              <a:solidFill>
                <a:srgbClr val="3A3838"/>
              </a:solidFill>
              <a:latin typeface="DM Sans"/>
              <a:ea typeface="DM Sans"/>
              <a:cs typeface="DM Sans"/>
              <a:sym typeface="DM Sans"/>
            </a:endParaRPr>
          </a:p>
        </p:txBody>
      </p:sp>
      <p:sp>
        <p:nvSpPr>
          <p:cNvPr id="1119" name="Google Shape;1119;p68"/>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Databricks Workspace</a:t>
            </a:r>
            <a:endParaRPr sz="1400">
              <a:solidFill>
                <a:srgbClr val="3A3838"/>
              </a:solidFill>
              <a:latin typeface="DM Sans"/>
              <a:ea typeface="DM Sans"/>
              <a:cs typeface="DM Sans"/>
              <a:sym typeface="DM Sans"/>
            </a:endParaRPr>
          </a:p>
        </p:txBody>
      </p:sp>
      <p:sp>
        <p:nvSpPr>
          <p:cNvPr id="1120" name="Google Shape;1120;p68"/>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Databricks Usage</a:t>
            </a:r>
            <a:endParaRPr sz="1400">
              <a:solidFill>
                <a:srgbClr val="3A3838"/>
              </a:solidFill>
              <a:latin typeface="DM Sans"/>
              <a:ea typeface="DM Sans"/>
              <a:cs typeface="DM Sans"/>
              <a:sym typeface="DM Sans"/>
            </a:endParaRPr>
          </a:p>
        </p:txBody>
      </p:sp>
      <p:sp>
        <p:nvSpPr>
          <p:cNvPr id="1121" name="Google Shape;1121;p68"/>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Scientist Persona</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122" name="Google Shape;1122;p68"/>
          <p:cNvSpPr/>
          <p:nvPr/>
        </p:nvSpPr>
        <p:spPr>
          <a:xfrm>
            <a:off x="2165025"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Engineer Persona</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123" name="Google Shape;1123;p68"/>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Analyst Persona</a:t>
            </a:r>
            <a:endParaRPr sz="1400">
              <a:solidFill>
                <a:srgbClr val="3A3838"/>
              </a:solidFill>
              <a:latin typeface="DM Sans"/>
              <a:ea typeface="DM Sans"/>
              <a:cs typeface="DM Sans"/>
              <a:sym typeface="DM Sans"/>
            </a:endParaRPr>
          </a:p>
        </p:txBody>
      </p:sp>
      <p:pic>
        <p:nvPicPr>
          <p:cNvPr id="1124" name="Google Shape;1124;p68"/>
          <p:cNvPicPr preferRelativeResize="0"/>
          <p:nvPr/>
        </p:nvPicPr>
        <p:blipFill rotWithShape="1">
          <a:blip r:embed="rId3">
            <a:alphaModFix/>
          </a:blip>
          <a:srcRect b="0" l="0" r="0" t="0"/>
          <a:stretch/>
        </p:blipFill>
        <p:spPr>
          <a:xfrm>
            <a:off x="764806" y="5162849"/>
            <a:ext cx="744464" cy="744458"/>
          </a:xfrm>
          <a:prstGeom prst="rect">
            <a:avLst/>
          </a:prstGeom>
          <a:noFill/>
          <a:ln>
            <a:noFill/>
          </a:ln>
        </p:spPr>
      </p:pic>
      <p:pic>
        <p:nvPicPr>
          <p:cNvPr id="1125" name="Google Shape;1125;p68"/>
          <p:cNvPicPr preferRelativeResize="0"/>
          <p:nvPr/>
        </p:nvPicPr>
        <p:blipFill rotWithShape="1">
          <a:blip r:embed="rId4">
            <a:alphaModFix/>
          </a:blip>
          <a:srcRect b="0" l="0" r="0" t="0"/>
          <a:stretch/>
        </p:blipFill>
        <p:spPr>
          <a:xfrm>
            <a:off x="2414890" y="5162849"/>
            <a:ext cx="744464" cy="744458"/>
          </a:xfrm>
          <a:prstGeom prst="rect">
            <a:avLst/>
          </a:prstGeom>
          <a:noFill/>
          <a:ln>
            <a:noFill/>
          </a:ln>
        </p:spPr>
      </p:pic>
      <p:pic>
        <p:nvPicPr>
          <p:cNvPr id="1126" name="Google Shape;1126;p68"/>
          <p:cNvPicPr preferRelativeResize="0"/>
          <p:nvPr/>
        </p:nvPicPr>
        <p:blipFill rotWithShape="1">
          <a:blip r:embed="rId5">
            <a:alphaModFix/>
          </a:blip>
          <a:srcRect b="0" l="0" r="0" t="0"/>
          <a:stretch/>
        </p:blipFill>
        <p:spPr>
          <a:xfrm>
            <a:off x="4064975" y="5162849"/>
            <a:ext cx="744464" cy="744458"/>
          </a:xfrm>
          <a:prstGeom prst="rect">
            <a:avLst/>
          </a:prstGeom>
          <a:noFill/>
          <a:ln>
            <a:noFill/>
          </a:ln>
        </p:spPr>
      </p:pic>
      <p:pic>
        <p:nvPicPr>
          <p:cNvPr id="1127" name="Google Shape;1127;p68"/>
          <p:cNvPicPr preferRelativeResize="0"/>
          <p:nvPr/>
        </p:nvPicPr>
        <p:blipFill rotWithShape="1">
          <a:blip r:embed="rId6">
            <a:alphaModFix/>
          </a:blip>
          <a:srcRect b="0" l="0" r="0" t="0"/>
          <a:stretch/>
        </p:blipFill>
        <p:spPr>
          <a:xfrm>
            <a:off x="5715060" y="5162849"/>
            <a:ext cx="744464" cy="744458"/>
          </a:xfrm>
          <a:prstGeom prst="rect">
            <a:avLst/>
          </a:prstGeom>
          <a:noFill/>
          <a:ln>
            <a:noFill/>
          </a:ln>
        </p:spPr>
      </p:pic>
      <p:pic>
        <p:nvPicPr>
          <p:cNvPr id="1128" name="Google Shape;1128;p68"/>
          <p:cNvPicPr preferRelativeResize="0"/>
          <p:nvPr/>
        </p:nvPicPr>
        <p:blipFill rotWithShape="1">
          <a:blip r:embed="rId7">
            <a:alphaModFix/>
          </a:blip>
          <a:srcRect b="0" l="0" r="0" t="0"/>
          <a:stretch/>
        </p:blipFill>
        <p:spPr>
          <a:xfrm>
            <a:off x="7365145" y="5162849"/>
            <a:ext cx="744464" cy="744458"/>
          </a:xfrm>
          <a:prstGeom prst="rect">
            <a:avLst/>
          </a:prstGeom>
          <a:noFill/>
          <a:ln>
            <a:noFill/>
          </a:ln>
        </p:spPr>
      </p:pic>
      <p:pic>
        <p:nvPicPr>
          <p:cNvPr id="1129" name="Google Shape;1129;p68"/>
          <p:cNvPicPr preferRelativeResize="0"/>
          <p:nvPr/>
        </p:nvPicPr>
        <p:blipFill rotWithShape="1">
          <a:blip r:embed="rId8">
            <a:alphaModFix/>
          </a:blip>
          <a:srcRect b="0" l="0" r="0" t="0"/>
          <a:stretch/>
        </p:blipFill>
        <p:spPr>
          <a:xfrm>
            <a:off x="9015229" y="5162849"/>
            <a:ext cx="744464" cy="744458"/>
          </a:xfrm>
          <a:prstGeom prst="rect">
            <a:avLst/>
          </a:prstGeom>
          <a:noFill/>
          <a:ln>
            <a:noFill/>
          </a:ln>
        </p:spPr>
      </p:pic>
      <p:pic>
        <p:nvPicPr>
          <p:cNvPr id="1130" name="Google Shape;1130;p68"/>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131" name="Google Shape;1131;p68"/>
          <p:cNvPicPr preferRelativeResize="0"/>
          <p:nvPr/>
        </p:nvPicPr>
        <p:blipFill rotWithShape="1">
          <a:blip r:embed="rId10">
            <a:alphaModFix/>
          </a:blip>
          <a:srcRect b="0" l="0" r="0" t="0"/>
          <a:stretch/>
        </p:blipFill>
        <p:spPr>
          <a:xfrm>
            <a:off x="764806" y="3429006"/>
            <a:ext cx="744464" cy="744458"/>
          </a:xfrm>
          <a:prstGeom prst="rect">
            <a:avLst/>
          </a:prstGeom>
          <a:noFill/>
          <a:ln>
            <a:noFill/>
          </a:ln>
        </p:spPr>
      </p:pic>
      <p:pic>
        <p:nvPicPr>
          <p:cNvPr id="1132" name="Google Shape;1132;p68"/>
          <p:cNvPicPr preferRelativeResize="0"/>
          <p:nvPr/>
        </p:nvPicPr>
        <p:blipFill rotWithShape="1">
          <a:blip r:embed="rId11">
            <a:alphaModFix/>
          </a:blip>
          <a:srcRect b="0" l="0" r="0" t="0"/>
          <a:stretch/>
        </p:blipFill>
        <p:spPr>
          <a:xfrm>
            <a:off x="2414890" y="3429006"/>
            <a:ext cx="744464" cy="744458"/>
          </a:xfrm>
          <a:prstGeom prst="rect">
            <a:avLst/>
          </a:prstGeom>
          <a:noFill/>
          <a:ln>
            <a:noFill/>
          </a:ln>
        </p:spPr>
      </p:pic>
      <p:pic>
        <p:nvPicPr>
          <p:cNvPr id="1133" name="Google Shape;1133;p68"/>
          <p:cNvPicPr preferRelativeResize="0"/>
          <p:nvPr/>
        </p:nvPicPr>
        <p:blipFill rotWithShape="1">
          <a:blip r:embed="rId12">
            <a:alphaModFix/>
          </a:blip>
          <a:srcRect b="0" l="0" r="0" t="0"/>
          <a:stretch/>
        </p:blipFill>
        <p:spPr>
          <a:xfrm>
            <a:off x="4064975" y="3429006"/>
            <a:ext cx="744464" cy="744458"/>
          </a:xfrm>
          <a:prstGeom prst="rect">
            <a:avLst/>
          </a:prstGeom>
          <a:noFill/>
          <a:ln>
            <a:noFill/>
          </a:ln>
        </p:spPr>
      </p:pic>
      <p:pic>
        <p:nvPicPr>
          <p:cNvPr id="1134" name="Google Shape;1134;p68"/>
          <p:cNvPicPr preferRelativeResize="0"/>
          <p:nvPr/>
        </p:nvPicPr>
        <p:blipFill rotWithShape="1">
          <a:blip r:embed="rId13">
            <a:alphaModFix/>
          </a:blip>
          <a:srcRect b="0" l="0" r="0" t="0"/>
          <a:stretch/>
        </p:blipFill>
        <p:spPr>
          <a:xfrm>
            <a:off x="5715060" y="3429006"/>
            <a:ext cx="744464" cy="744458"/>
          </a:xfrm>
          <a:prstGeom prst="rect">
            <a:avLst/>
          </a:prstGeom>
          <a:noFill/>
          <a:ln>
            <a:noFill/>
          </a:ln>
        </p:spPr>
      </p:pic>
      <p:pic>
        <p:nvPicPr>
          <p:cNvPr id="1135" name="Google Shape;1135;p68"/>
          <p:cNvPicPr preferRelativeResize="0"/>
          <p:nvPr/>
        </p:nvPicPr>
        <p:blipFill rotWithShape="1">
          <a:blip r:embed="rId14">
            <a:alphaModFix/>
          </a:blip>
          <a:srcRect b="0" l="0" r="0" t="0"/>
          <a:stretch/>
        </p:blipFill>
        <p:spPr>
          <a:xfrm>
            <a:off x="7365145" y="3429006"/>
            <a:ext cx="744464" cy="744458"/>
          </a:xfrm>
          <a:prstGeom prst="rect">
            <a:avLst/>
          </a:prstGeom>
          <a:noFill/>
          <a:ln>
            <a:noFill/>
          </a:ln>
        </p:spPr>
      </p:pic>
      <p:pic>
        <p:nvPicPr>
          <p:cNvPr id="1136" name="Google Shape;1136;p68"/>
          <p:cNvPicPr preferRelativeResize="0"/>
          <p:nvPr/>
        </p:nvPicPr>
        <p:blipFill rotWithShape="1">
          <a:blip r:embed="rId15">
            <a:alphaModFix/>
          </a:blip>
          <a:srcRect b="0" l="0" r="0" t="0"/>
          <a:stretch/>
        </p:blipFill>
        <p:spPr>
          <a:xfrm>
            <a:off x="9015229" y="3429006"/>
            <a:ext cx="744464" cy="744458"/>
          </a:xfrm>
          <a:prstGeom prst="rect">
            <a:avLst/>
          </a:prstGeom>
          <a:noFill/>
          <a:ln>
            <a:noFill/>
          </a:ln>
        </p:spPr>
      </p:pic>
      <p:pic>
        <p:nvPicPr>
          <p:cNvPr id="1137" name="Google Shape;1137;p68"/>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138" name="Google Shape;1138;p68"/>
          <p:cNvPicPr preferRelativeResize="0"/>
          <p:nvPr/>
        </p:nvPicPr>
        <p:blipFill rotWithShape="1">
          <a:blip r:embed="rId17">
            <a:alphaModFix/>
          </a:blip>
          <a:srcRect b="0" l="0" r="0" t="0"/>
          <a:stretch/>
        </p:blipFill>
        <p:spPr>
          <a:xfrm>
            <a:off x="764806" y="4295928"/>
            <a:ext cx="744464" cy="744458"/>
          </a:xfrm>
          <a:prstGeom prst="rect">
            <a:avLst/>
          </a:prstGeom>
          <a:noFill/>
          <a:ln>
            <a:noFill/>
          </a:ln>
        </p:spPr>
      </p:pic>
      <p:pic>
        <p:nvPicPr>
          <p:cNvPr id="1139" name="Google Shape;1139;p68"/>
          <p:cNvPicPr preferRelativeResize="0"/>
          <p:nvPr/>
        </p:nvPicPr>
        <p:blipFill rotWithShape="1">
          <a:blip r:embed="rId18">
            <a:alphaModFix/>
          </a:blip>
          <a:srcRect b="0" l="0" r="0" t="0"/>
          <a:stretch/>
        </p:blipFill>
        <p:spPr>
          <a:xfrm>
            <a:off x="2414890" y="4295928"/>
            <a:ext cx="744464" cy="744458"/>
          </a:xfrm>
          <a:prstGeom prst="rect">
            <a:avLst/>
          </a:prstGeom>
          <a:noFill/>
          <a:ln>
            <a:noFill/>
          </a:ln>
        </p:spPr>
      </p:pic>
      <p:pic>
        <p:nvPicPr>
          <p:cNvPr id="1140" name="Google Shape;1140;p68"/>
          <p:cNvPicPr preferRelativeResize="0"/>
          <p:nvPr/>
        </p:nvPicPr>
        <p:blipFill rotWithShape="1">
          <a:blip r:embed="rId19">
            <a:alphaModFix/>
          </a:blip>
          <a:srcRect b="0" l="0" r="0" t="0"/>
          <a:stretch/>
        </p:blipFill>
        <p:spPr>
          <a:xfrm>
            <a:off x="4064975" y="4295928"/>
            <a:ext cx="744464" cy="744458"/>
          </a:xfrm>
          <a:prstGeom prst="rect">
            <a:avLst/>
          </a:prstGeom>
          <a:noFill/>
          <a:ln>
            <a:noFill/>
          </a:ln>
        </p:spPr>
      </p:pic>
      <p:pic>
        <p:nvPicPr>
          <p:cNvPr id="1141" name="Google Shape;1141;p68"/>
          <p:cNvPicPr preferRelativeResize="0"/>
          <p:nvPr/>
        </p:nvPicPr>
        <p:blipFill rotWithShape="1">
          <a:blip r:embed="rId20">
            <a:alphaModFix/>
          </a:blip>
          <a:srcRect b="0" l="0" r="0" t="0"/>
          <a:stretch/>
        </p:blipFill>
        <p:spPr>
          <a:xfrm>
            <a:off x="5715060" y="4295928"/>
            <a:ext cx="744464" cy="744458"/>
          </a:xfrm>
          <a:prstGeom prst="rect">
            <a:avLst/>
          </a:prstGeom>
          <a:noFill/>
          <a:ln>
            <a:noFill/>
          </a:ln>
        </p:spPr>
      </p:pic>
      <p:pic>
        <p:nvPicPr>
          <p:cNvPr id="1142" name="Google Shape;1142;p68"/>
          <p:cNvPicPr preferRelativeResize="0"/>
          <p:nvPr/>
        </p:nvPicPr>
        <p:blipFill rotWithShape="1">
          <a:blip r:embed="rId21">
            <a:alphaModFix/>
          </a:blip>
          <a:srcRect b="0" l="0" r="0" t="0"/>
          <a:stretch/>
        </p:blipFill>
        <p:spPr>
          <a:xfrm>
            <a:off x="7365145" y="4295928"/>
            <a:ext cx="744464" cy="744458"/>
          </a:xfrm>
          <a:prstGeom prst="rect">
            <a:avLst/>
          </a:prstGeom>
          <a:noFill/>
          <a:ln>
            <a:noFill/>
          </a:ln>
        </p:spPr>
      </p:pic>
      <p:pic>
        <p:nvPicPr>
          <p:cNvPr id="1143" name="Google Shape;1143;p68"/>
          <p:cNvPicPr preferRelativeResize="0"/>
          <p:nvPr/>
        </p:nvPicPr>
        <p:blipFill rotWithShape="1">
          <a:blip r:embed="rId22">
            <a:alphaModFix/>
          </a:blip>
          <a:srcRect b="0" l="0" r="0" t="0"/>
          <a:stretch/>
        </p:blipFill>
        <p:spPr>
          <a:xfrm>
            <a:off x="9015229" y="4295928"/>
            <a:ext cx="744464" cy="744458"/>
          </a:xfrm>
          <a:prstGeom prst="rect">
            <a:avLst/>
          </a:prstGeom>
          <a:noFill/>
          <a:ln>
            <a:noFill/>
          </a:ln>
        </p:spPr>
      </p:pic>
      <p:pic>
        <p:nvPicPr>
          <p:cNvPr id="1144" name="Google Shape;1144;p68"/>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6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150" name="Google Shape;1150;p6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151" name="Google Shape;1151;p69"/>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Miscellaneous (Cont.)</a:t>
            </a:r>
            <a:endParaRPr/>
          </a:p>
        </p:txBody>
      </p:sp>
      <p:sp>
        <p:nvSpPr>
          <p:cNvPr id="1152" name="Google Shape;1152;p69"/>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Program</a:t>
            </a:r>
            <a:endParaRPr sz="1400">
              <a:solidFill>
                <a:srgbClr val="3A3838"/>
              </a:solidFill>
              <a:latin typeface="DM Sans"/>
              <a:ea typeface="DM Sans"/>
              <a:cs typeface="DM Sans"/>
              <a:sym typeface="DM Sans"/>
            </a:endParaRPr>
          </a:p>
        </p:txBody>
      </p:sp>
      <p:sp>
        <p:nvSpPr>
          <p:cNvPr id="1153" name="Google Shape;1153;p69"/>
          <p:cNvSpPr/>
          <p:nvPr/>
        </p:nvSpPr>
        <p:spPr>
          <a:xfrm>
            <a:off x="8765140"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Productionize</a:t>
            </a:r>
            <a:endParaRPr sz="1400">
              <a:solidFill>
                <a:srgbClr val="3A3838"/>
              </a:solidFill>
              <a:latin typeface="DM Sans"/>
              <a:ea typeface="DM Sans"/>
              <a:cs typeface="DM Sans"/>
              <a:sym typeface="DM Sans"/>
            </a:endParaRPr>
          </a:p>
        </p:txBody>
      </p:sp>
      <p:sp>
        <p:nvSpPr>
          <p:cNvPr id="1154" name="Google Shape;1154;p69"/>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Predict</a:t>
            </a:r>
            <a:endParaRPr sz="1400">
              <a:solidFill>
                <a:srgbClr val="3A3838"/>
              </a:solidFill>
              <a:latin typeface="DM Sans"/>
              <a:ea typeface="DM Sans"/>
              <a:cs typeface="DM Sans"/>
              <a:sym typeface="DM Sans"/>
            </a:endParaRPr>
          </a:p>
        </p:txBody>
      </p:sp>
      <p:sp>
        <p:nvSpPr>
          <p:cNvPr id="1155" name="Google Shape;1155;p69"/>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Output</a:t>
            </a:r>
            <a:endParaRPr sz="1400">
              <a:solidFill>
                <a:srgbClr val="3A3838"/>
              </a:solidFill>
              <a:latin typeface="DM Sans"/>
              <a:ea typeface="DM Sans"/>
              <a:cs typeface="DM Sans"/>
              <a:sym typeface="DM Sans"/>
            </a:endParaRPr>
          </a:p>
        </p:txBody>
      </p:sp>
      <p:sp>
        <p:nvSpPr>
          <p:cNvPr id="1156" name="Google Shape;1156;p69"/>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Open Source</a:t>
            </a:r>
            <a:endParaRPr sz="1400">
              <a:solidFill>
                <a:srgbClr val="3A3838"/>
              </a:solidFill>
              <a:latin typeface="DM Sans"/>
              <a:ea typeface="DM Sans"/>
              <a:cs typeface="DM Sans"/>
              <a:sym typeface="DM Sans"/>
            </a:endParaRPr>
          </a:p>
        </p:txBody>
      </p:sp>
      <p:sp>
        <p:nvSpPr>
          <p:cNvPr id="1157" name="Google Shape;1157;p69"/>
          <p:cNvSpPr/>
          <p:nvPr/>
        </p:nvSpPr>
        <p:spPr>
          <a:xfrm>
            <a:off x="2165025"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Notebooks</a:t>
            </a:r>
            <a:endParaRPr sz="1400">
              <a:solidFill>
                <a:srgbClr val="3A3838"/>
              </a:solidFill>
              <a:latin typeface="DM Sans"/>
              <a:ea typeface="DM Sans"/>
              <a:cs typeface="DM Sans"/>
              <a:sym typeface="DM Sans"/>
            </a:endParaRPr>
          </a:p>
        </p:txBody>
      </p:sp>
      <p:sp>
        <p:nvSpPr>
          <p:cNvPr id="1158" name="Google Shape;1158;p69"/>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ML Runtime</a:t>
            </a:r>
            <a:endParaRPr sz="1400">
              <a:solidFill>
                <a:srgbClr val="3A3838"/>
              </a:solidFill>
              <a:latin typeface="DM Sans"/>
              <a:ea typeface="DM Sans"/>
              <a:cs typeface="DM Sans"/>
              <a:sym typeface="DM Sans"/>
            </a:endParaRPr>
          </a:p>
        </p:txBody>
      </p:sp>
      <p:pic>
        <p:nvPicPr>
          <p:cNvPr id="1159" name="Google Shape;1159;p69"/>
          <p:cNvPicPr preferRelativeResize="0"/>
          <p:nvPr/>
        </p:nvPicPr>
        <p:blipFill rotWithShape="1">
          <a:blip r:embed="rId3">
            <a:alphaModFix/>
          </a:blip>
          <a:srcRect b="0" l="0" r="0" t="0"/>
          <a:stretch/>
        </p:blipFill>
        <p:spPr>
          <a:xfrm>
            <a:off x="764806" y="5162849"/>
            <a:ext cx="744464" cy="744458"/>
          </a:xfrm>
          <a:prstGeom prst="rect">
            <a:avLst/>
          </a:prstGeom>
          <a:noFill/>
          <a:ln>
            <a:noFill/>
          </a:ln>
        </p:spPr>
      </p:pic>
      <p:pic>
        <p:nvPicPr>
          <p:cNvPr id="1160" name="Google Shape;1160;p69"/>
          <p:cNvPicPr preferRelativeResize="0"/>
          <p:nvPr/>
        </p:nvPicPr>
        <p:blipFill rotWithShape="1">
          <a:blip r:embed="rId4">
            <a:alphaModFix/>
          </a:blip>
          <a:srcRect b="0" l="0" r="0" t="0"/>
          <a:stretch/>
        </p:blipFill>
        <p:spPr>
          <a:xfrm>
            <a:off x="2414890" y="5162849"/>
            <a:ext cx="744464" cy="744458"/>
          </a:xfrm>
          <a:prstGeom prst="rect">
            <a:avLst/>
          </a:prstGeom>
          <a:noFill/>
          <a:ln>
            <a:noFill/>
          </a:ln>
        </p:spPr>
      </p:pic>
      <p:pic>
        <p:nvPicPr>
          <p:cNvPr id="1161" name="Google Shape;1161;p69"/>
          <p:cNvPicPr preferRelativeResize="0"/>
          <p:nvPr/>
        </p:nvPicPr>
        <p:blipFill rotWithShape="1">
          <a:blip r:embed="rId5">
            <a:alphaModFix/>
          </a:blip>
          <a:srcRect b="0" l="0" r="0" t="0"/>
          <a:stretch/>
        </p:blipFill>
        <p:spPr>
          <a:xfrm>
            <a:off x="4064975" y="5162849"/>
            <a:ext cx="744464" cy="744458"/>
          </a:xfrm>
          <a:prstGeom prst="rect">
            <a:avLst/>
          </a:prstGeom>
          <a:noFill/>
          <a:ln>
            <a:noFill/>
          </a:ln>
        </p:spPr>
      </p:pic>
      <p:pic>
        <p:nvPicPr>
          <p:cNvPr id="1162" name="Google Shape;1162;p69"/>
          <p:cNvPicPr preferRelativeResize="0"/>
          <p:nvPr/>
        </p:nvPicPr>
        <p:blipFill rotWithShape="1">
          <a:blip r:embed="rId6">
            <a:alphaModFix/>
          </a:blip>
          <a:srcRect b="0" l="0" r="0" t="0"/>
          <a:stretch/>
        </p:blipFill>
        <p:spPr>
          <a:xfrm>
            <a:off x="5715060" y="5162849"/>
            <a:ext cx="744464" cy="744458"/>
          </a:xfrm>
          <a:prstGeom prst="rect">
            <a:avLst/>
          </a:prstGeom>
          <a:noFill/>
          <a:ln>
            <a:noFill/>
          </a:ln>
        </p:spPr>
      </p:pic>
      <p:pic>
        <p:nvPicPr>
          <p:cNvPr id="1163" name="Google Shape;1163;p69"/>
          <p:cNvPicPr preferRelativeResize="0"/>
          <p:nvPr/>
        </p:nvPicPr>
        <p:blipFill rotWithShape="1">
          <a:blip r:embed="rId7">
            <a:alphaModFix/>
          </a:blip>
          <a:srcRect b="0" l="0" r="0" t="0"/>
          <a:stretch/>
        </p:blipFill>
        <p:spPr>
          <a:xfrm>
            <a:off x="7365145" y="5162849"/>
            <a:ext cx="744464" cy="744458"/>
          </a:xfrm>
          <a:prstGeom prst="rect">
            <a:avLst/>
          </a:prstGeom>
          <a:noFill/>
          <a:ln>
            <a:noFill/>
          </a:ln>
        </p:spPr>
      </p:pic>
      <p:pic>
        <p:nvPicPr>
          <p:cNvPr id="1164" name="Google Shape;1164;p69"/>
          <p:cNvPicPr preferRelativeResize="0"/>
          <p:nvPr/>
        </p:nvPicPr>
        <p:blipFill rotWithShape="1">
          <a:blip r:embed="rId8">
            <a:alphaModFix/>
          </a:blip>
          <a:srcRect b="0" l="0" r="0" t="0"/>
          <a:stretch/>
        </p:blipFill>
        <p:spPr>
          <a:xfrm>
            <a:off x="9015229" y="5162849"/>
            <a:ext cx="744464" cy="744458"/>
          </a:xfrm>
          <a:prstGeom prst="rect">
            <a:avLst/>
          </a:prstGeom>
          <a:noFill/>
          <a:ln>
            <a:noFill/>
          </a:ln>
        </p:spPr>
      </p:pic>
      <p:pic>
        <p:nvPicPr>
          <p:cNvPr id="1165" name="Google Shape;1165;p69"/>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166" name="Google Shape;1166;p69"/>
          <p:cNvPicPr preferRelativeResize="0"/>
          <p:nvPr/>
        </p:nvPicPr>
        <p:blipFill rotWithShape="1">
          <a:blip r:embed="rId10">
            <a:alphaModFix/>
          </a:blip>
          <a:srcRect b="0" l="0" r="0" t="0"/>
          <a:stretch/>
        </p:blipFill>
        <p:spPr>
          <a:xfrm>
            <a:off x="764806" y="3429006"/>
            <a:ext cx="744464" cy="744458"/>
          </a:xfrm>
          <a:prstGeom prst="rect">
            <a:avLst/>
          </a:prstGeom>
          <a:noFill/>
          <a:ln>
            <a:noFill/>
          </a:ln>
        </p:spPr>
      </p:pic>
      <p:pic>
        <p:nvPicPr>
          <p:cNvPr id="1167" name="Google Shape;1167;p69"/>
          <p:cNvPicPr preferRelativeResize="0"/>
          <p:nvPr/>
        </p:nvPicPr>
        <p:blipFill rotWithShape="1">
          <a:blip r:embed="rId11">
            <a:alphaModFix/>
          </a:blip>
          <a:srcRect b="0" l="0" r="0" t="0"/>
          <a:stretch/>
        </p:blipFill>
        <p:spPr>
          <a:xfrm>
            <a:off x="2414890" y="3429006"/>
            <a:ext cx="744464" cy="744458"/>
          </a:xfrm>
          <a:prstGeom prst="rect">
            <a:avLst/>
          </a:prstGeom>
          <a:noFill/>
          <a:ln>
            <a:noFill/>
          </a:ln>
        </p:spPr>
      </p:pic>
      <p:pic>
        <p:nvPicPr>
          <p:cNvPr id="1168" name="Google Shape;1168;p69"/>
          <p:cNvPicPr preferRelativeResize="0"/>
          <p:nvPr/>
        </p:nvPicPr>
        <p:blipFill rotWithShape="1">
          <a:blip r:embed="rId12">
            <a:alphaModFix/>
          </a:blip>
          <a:srcRect b="0" l="0" r="0" t="0"/>
          <a:stretch/>
        </p:blipFill>
        <p:spPr>
          <a:xfrm>
            <a:off x="4064975" y="3429006"/>
            <a:ext cx="744464" cy="744458"/>
          </a:xfrm>
          <a:prstGeom prst="rect">
            <a:avLst/>
          </a:prstGeom>
          <a:noFill/>
          <a:ln>
            <a:noFill/>
          </a:ln>
        </p:spPr>
      </p:pic>
      <p:pic>
        <p:nvPicPr>
          <p:cNvPr id="1169" name="Google Shape;1169;p69"/>
          <p:cNvPicPr preferRelativeResize="0"/>
          <p:nvPr/>
        </p:nvPicPr>
        <p:blipFill rotWithShape="1">
          <a:blip r:embed="rId13">
            <a:alphaModFix/>
          </a:blip>
          <a:srcRect b="0" l="0" r="0" t="0"/>
          <a:stretch/>
        </p:blipFill>
        <p:spPr>
          <a:xfrm>
            <a:off x="5715060" y="3429006"/>
            <a:ext cx="744464" cy="744458"/>
          </a:xfrm>
          <a:prstGeom prst="rect">
            <a:avLst/>
          </a:prstGeom>
          <a:noFill/>
          <a:ln>
            <a:noFill/>
          </a:ln>
        </p:spPr>
      </p:pic>
      <p:pic>
        <p:nvPicPr>
          <p:cNvPr id="1170" name="Google Shape;1170;p69"/>
          <p:cNvPicPr preferRelativeResize="0"/>
          <p:nvPr/>
        </p:nvPicPr>
        <p:blipFill rotWithShape="1">
          <a:blip r:embed="rId14">
            <a:alphaModFix/>
          </a:blip>
          <a:srcRect b="0" l="0" r="0" t="0"/>
          <a:stretch/>
        </p:blipFill>
        <p:spPr>
          <a:xfrm>
            <a:off x="7365145" y="3429006"/>
            <a:ext cx="744464" cy="744458"/>
          </a:xfrm>
          <a:prstGeom prst="rect">
            <a:avLst/>
          </a:prstGeom>
          <a:noFill/>
          <a:ln>
            <a:noFill/>
          </a:ln>
        </p:spPr>
      </p:pic>
      <p:pic>
        <p:nvPicPr>
          <p:cNvPr id="1171" name="Google Shape;1171;p69"/>
          <p:cNvPicPr preferRelativeResize="0"/>
          <p:nvPr/>
        </p:nvPicPr>
        <p:blipFill rotWithShape="1">
          <a:blip r:embed="rId15">
            <a:alphaModFix/>
          </a:blip>
          <a:srcRect b="0" l="0" r="0" t="0"/>
          <a:stretch/>
        </p:blipFill>
        <p:spPr>
          <a:xfrm>
            <a:off x="9015229" y="3429006"/>
            <a:ext cx="744464" cy="744458"/>
          </a:xfrm>
          <a:prstGeom prst="rect">
            <a:avLst/>
          </a:prstGeom>
          <a:noFill/>
          <a:ln>
            <a:noFill/>
          </a:ln>
        </p:spPr>
      </p:pic>
      <p:pic>
        <p:nvPicPr>
          <p:cNvPr id="1172" name="Google Shape;1172;p69"/>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173" name="Google Shape;1173;p69"/>
          <p:cNvPicPr preferRelativeResize="0"/>
          <p:nvPr/>
        </p:nvPicPr>
        <p:blipFill rotWithShape="1">
          <a:blip r:embed="rId17">
            <a:alphaModFix/>
          </a:blip>
          <a:srcRect b="0" l="0" r="0" t="0"/>
          <a:stretch/>
        </p:blipFill>
        <p:spPr>
          <a:xfrm>
            <a:off x="764806" y="4295928"/>
            <a:ext cx="744464" cy="744458"/>
          </a:xfrm>
          <a:prstGeom prst="rect">
            <a:avLst/>
          </a:prstGeom>
          <a:noFill/>
          <a:ln>
            <a:noFill/>
          </a:ln>
        </p:spPr>
      </p:pic>
      <p:pic>
        <p:nvPicPr>
          <p:cNvPr id="1174" name="Google Shape;1174;p69"/>
          <p:cNvPicPr preferRelativeResize="0"/>
          <p:nvPr/>
        </p:nvPicPr>
        <p:blipFill rotWithShape="1">
          <a:blip r:embed="rId18">
            <a:alphaModFix/>
          </a:blip>
          <a:srcRect b="0" l="0" r="0" t="0"/>
          <a:stretch/>
        </p:blipFill>
        <p:spPr>
          <a:xfrm>
            <a:off x="2414890" y="4295928"/>
            <a:ext cx="744464" cy="744458"/>
          </a:xfrm>
          <a:prstGeom prst="rect">
            <a:avLst/>
          </a:prstGeom>
          <a:noFill/>
          <a:ln>
            <a:noFill/>
          </a:ln>
        </p:spPr>
      </p:pic>
      <p:pic>
        <p:nvPicPr>
          <p:cNvPr id="1175" name="Google Shape;1175;p69"/>
          <p:cNvPicPr preferRelativeResize="0"/>
          <p:nvPr/>
        </p:nvPicPr>
        <p:blipFill rotWithShape="1">
          <a:blip r:embed="rId19">
            <a:alphaModFix/>
          </a:blip>
          <a:srcRect b="0" l="0" r="0" t="0"/>
          <a:stretch/>
        </p:blipFill>
        <p:spPr>
          <a:xfrm>
            <a:off x="4064975" y="4295928"/>
            <a:ext cx="744464" cy="744458"/>
          </a:xfrm>
          <a:prstGeom prst="rect">
            <a:avLst/>
          </a:prstGeom>
          <a:noFill/>
          <a:ln>
            <a:noFill/>
          </a:ln>
        </p:spPr>
      </p:pic>
      <p:pic>
        <p:nvPicPr>
          <p:cNvPr id="1176" name="Google Shape;1176;p69"/>
          <p:cNvPicPr preferRelativeResize="0"/>
          <p:nvPr/>
        </p:nvPicPr>
        <p:blipFill rotWithShape="1">
          <a:blip r:embed="rId20">
            <a:alphaModFix/>
          </a:blip>
          <a:srcRect b="0" l="0" r="0" t="0"/>
          <a:stretch/>
        </p:blipFill>
        <p:spPr>
          <a:xfrm>
            <a:off x="5715060" y="4295928"/>
            <a:ext cx="744464" cy="744458"/>
          </a:xfrm>
          <a:prstGeom prst="rect">
            <a:avLst/>
          </a:prstGeom>
          <a:noFill/>
          <a:ln>
            <a:noFill/>
          </a:ln>
        </p:spPr>
      </p:pic>
      <p:pic>
        <p:nvPicPr>
          <p:cNvPr id="1177" name="Google Shape;1177;p69"/>
          <p:cNvPicPr preferRelativeResize="0"/>
          <p:nvPr/>
        </p:nvPicPr>
        <p:blipFill rotWithShape="1">
          <a:blip r:embed="rId21">
            <a:alphaModFix/>
          </a:blip>
          <a:srcRect b="0" l="0" r="0" t="0"/>
          <a:stretch/>
        </p:blipFill>
        <p:spPr>
          <a:xfrm>
            <a:off x="7365145" y="4295928"/>
            <a:ext cx="744464" cy="744458"/>
          </a:xfrm>
          <a:prstGeom prst="rect">
            <a:avLst/>
          </a:prstGeom>
          <a:noFill/>
          <a:ln>
            <a:noFill/>
          </a:ln>
        </p:spPr>
      </p:pic>
      <p:pic>
        <p:nvPicPr>
          <p:cNvPr id="1178" name="Google Shape;1178;p69"/>
          <p:cNvPicPr preferRelativeResize="0"/>
          <p:nvPr/>
        </p:nvPicPr>
        <p:blipFill rotWithShape="1">
          <a:blip r:embed="rId22">
            <a:alphaModFix/>
          </a:blip>
          <a:srcRect b="0" l="0" r="0" t="0"/>
          <a:stretch/>
        </p:blipFill>
        <p:spPr>
          <a:xfrm>
            <a:off x="9015229" y="4295928"/>
            <a:ext cx="744464" cy="744458"/>
          </a:xfrm>
          <a:prstGeom prst="rect">
            <a:avLst/>
          </a:prstGeom>
          <a:noFill/>
          <a:ln>
            <a:noFill/>
          </a:ln>
        </p:spPr>
      </p:pic>
      <p:pic>
        <p:nvPicPr>
          <p:cNvPr id="1179" name="Google Shape;1179;p69"/>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7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185" name="Google Shape;1185;p7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186" name="Google Shape;1186;p70"/>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Miscellaneous (Cont.)</a:t>
            </a:r>
            <a:endParaRPr/>
          </a:p>
        </p:txBody>
      </p:sp>
      <p:sp>
        <p:nvSpPr>
          <p:cNvPr id="1187" name="Google Shape;1187;p70"/>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Users</a:t>
            </a:r>
            <a:endParaRPr sz="1400">
              <a:solidFill>
                <a:srgbClr val="3A3838"/>
              </a:solidFill>
              <a:latin typeface="DM Sans"/>
              <a:ea typeface="DM Sans"/>
              <a:cs typeface="DM Sans"/>
              <a:sym typeface="DM Sans"/>
            </a:endParaRPr>
          </a:p>
        </p:txBody>
      </p:sp>
      <p:sp>
        <p:nvSpPr>
          <p:cNvPr id="1188" name="Google Shape;1188;p70"/>
          <p:cNvSpPr/>
          <p:nvPr/>
        </p:nvSpPr>
        <p:spPr>
          <a:xfrm>
            <a:off x="8765140"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Spark Streaming Job</a:t>
            </a:r>
            <a:endParaRPr sz="1400">
              <a:solidFill>
                <a:srgbClr val="3A3838"/>
              </a:solidFill>
              <a:latin typeface="DM Sans"/>
              <a:ea typeface="DM Sans"/>
              <a:cs typeface="DM Sans"/>
              <a:sym typeface="DM Sans"/>
            </a:endParaRPr>
          </a:p>
        </p:txBody>
      </p:sp>
      <p:sp>
        <p:nvSpPr>
          <p:cNvPr id="1189" name="Google Shape;1189;p70"/>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Spark Cluster</a:t>
            </a:r>
            <a:endParaRPr sz="1400">
              <a:solidFill>
                <a:srgbClr val="3A3838"/>
              </a:solidFill>
              <a:latin typeface="DM Sans"/>
              <a:ea typeface="DM Sans"/>
              <a:cs typeface="DM Sans"/>
              <a:sym typeface="DM Sans"/>
            </a:endParaRPr>
          </a:p>
        </p:txBody>
      </p:sp>
      <p:sp>
        <p:nvSpPr>
          <p:cNvPr id="1190" name="Google Shape;1190;p70"/>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Simulator</a:t>
            </a:r>
            <a:endParaRPr sz="1400">
              <a:solidFill>
                <a:srgbClr val="3A3838"/>
              </a:solidFill>
              <a:latin typeface="DM Sans"/>
              <a:ea typeface="DM Sans"/>
              <a:cs typeface="DM Sans"/>
              <a:sym typeface="DM Sans"/>
            </a:endParaRPr>
          </a:p>
        </p:txBody>
      </p:sp>
      <p:sp>
        <p:nvSpPr>
          <p:cNvPr id="1191" name="Google Shape;1191;p70"/>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Silver</a:t>
            </a:r>
            <a:endParaRPr sz="1400">
              <a:solidFill>
                <a:srgbClr val="3A3838"/>
              </a:solidFill>
              <a:latin typeface="DM Sans"/>
              <a:ea typeface="DM Sans"/>
              <a:cs typeface="DM Sans"/>
              <a:sym typeface="DM Sans"/>
            </a:endParaRPr>
          </a:p>
        </p:txBody>
      </p:sp>
      <p:sp>
        <p:nvSpPr>
          <p:cNvPr id="1192" name="Google Shape;1192;p70"/>
          <p:cNvSpPr/>
          <p:nvPr/>
        </p:nvSpPr>
        <p:spPr>
          <a:xfrm>
            <a:off x="2165025"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Scheduled Jobs</a:t>
            </a:r>
            <a:endParaRPr sz="1400">
              <a:solidFill>
                <a:srgbClr val="3A3838"/>
              </a:solidFill>
              <a:latin typeface="DM Sans"/>
              <a:ea typeface="DM Sans"/>
              <a:cs typeface="DM Sans"/>
              <a:sym typeface="DM Sans"/>
            </a:endParaRPr>
          </a:p>
        </p:txBody>
      </p:sp>
      <p:sp>
        <p:nvSpPr>
          <p:cNvPr id="1193" name="Google Shape;1193;p70"/>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Runtime</a:t>
            </a:r>
            <a:endParaRPr sz="1400">
              <a:solidFill>
                <a:srgbClr val="3A3838"/>
              </a:solidFill>
              <a:latin typeface="DM Sans"/>
              <a:ea typeface="DM Sans"/>
              <a:cs typeface="DM Sans"/>
              <a:sym typeface="DM Sans"/>
            </a:endParaRPr>
          </a:p>
        </p:txBody>
      </p:sp>
      <p:pic>
        <p:nvPicPr>
          <p:cNvPr id="1194" name="Google Shape;1194;p70"/>
          <p:cNvPicPr preferRelativeResize="0"/>
          <p:nvPr/>
        </p:nvPicPr>
        <p:blipFill rotWithShape="1">
          <a:blip r:embed="rId3">
            <a:alphaModFix/>
          </a:blip>
          <a:srcRect b="0" l="0" r="0" t="0"/>
          <a:stretch/>
        </p:blipFill>
        <p:spPr>
          <a:xfrm>
            <a:off x="764806" y="5162849"/>
            <a:ext cx="744464" cy="744458"/>
          </a:xfrm>
          <a:prstGeom prst="rect">
            <a:avLst/>
          </a:prstGeom>
          <a:noFill/>
          <a:ln>
            <a:noFill/>
          </a:ln>
        </p:spPr>
      </p:pic>
      <p:pic>
        <p:nvPicPr>
          <p:cNvPr id="1195" name="Google Shape;1195;p70"/>
          <p:cNvPicPr preferRelativeResize="0"/>
          <p:nvPr/>
        </p:nvPicPr>
        <p:blipFill rotWithShape="1">
          <a:blip r:embed="rId4">
            <a:alphaModFix/>
          </a:blip>
          <a:srcRect b="0" l="0" r="0" t="0"/>
          <a:stretch/>
        </p:blipFill>
        <p:spPr>
          <a:xfrm>
            <a:off x="2414890" y="5162849"/>
            <a:ext cx="744464" cy="744458"/>
          </a:xfrm>
          <a:prstGeom prst="rect">
            <a:avLst/>
          </a:prstGeom>
          <a:noFill/>
          <a:ln>
            <a:noFill/>
          </a:ln>
        </p:spPr>
      </p:pic>
      <p:pic>
        <p:nvPicPr>
          <p:cNvPr id="1196" name="Google Shape;1196;p70"/>
          <p:cNvPicPr preferRelativeResize="0"/>
          <p:nvPr/>
        </p:nvPicPr>
        <p:blipFill rotWithShape="1">
          <a:blip r:embed="rId5">
            <a:alphaModFix/>
          </a:blip>
          <a:srcRect b="0" l="0" r="0" t="0"/>
          <a:stretch/>
        </p:blipFill>
        <p:spPr>
          <a:xfrm>
            <a:off x="4064975" y="5162849"/>
            <a:ext cx="744464" cy="744458"/>
          </a:xfrm>
          <a:prstGeom prst="rect">
            <a:avLst/>
          </a:prstGeom>
          <a:noFill/>
          <a:ln>
            <a:noFill/>
          </a:ln>
        </p:spPr>
      </p:pic>
      <p:pic>
        <p:nvPicPr>
          <p:cNvPr id="1197" name="Google Shape;1197;p70"/>
          <p:cNvPicPr preferRelativeResize="0"/>
          <p:nvPr/>
        </p:nvPicPr>
        <p:blipFill rotWithShape="1">
          <a:blip r:embed="rId6">
            <a:alphaModFix/>
          </a:blip>
          <a:srcRect b="0" l="0" r="0" t="0"/>
          <a:stretch/>
        </p:blipFill>
        <p:spPr>
          <a:xfrm>
            <a:off x="5715060" y="5162849"/>
            <a:ext cx="744464" cy="744458"/>
          </a:xfrm>
          <a:prstGeom prst="rect">
            <a:avLst/>
          </a:prstGeom>
          <a:noFill/>
          <a:ln>
            <a:noFill/>
          </a:ln>
        </p:spPr>
      </p:pic>
      <p:pic>
        <p:nvPicPr>
          <p:cNvPr id="1198" name="Google Shape;1198;p70"/>
          <p:cNvPicPr preferRelativeResize="0"/>
          <p:nvPr/>
        </p:nvPicPr>
        <p:blipFill rotWithShape="1">
          <a:blip r:embed="rId7">
            <a:alphaModFix/>
          </a:blip>
          <a:srcRect b="0" l="0" r="0" t="0"/>
          <a:stretch/>
        </p:blipFill>
        <p:spPr>
          <a:xfrm>
            <a:off x="7365145" y="5162849"/>
            <a:ext cx="744464" cy="744458"/>
          </a:xfrm>
          <a:prstGeom prst="rect">
            <a:avLst/>
          </a:prstGeom>
          <a:noFill/>
          <a:ln>
            <a:noFill/>
          </a:ln>
        </p:spPr>
      </p:pic>
      <p:pic>
        <p:nvPicPr>
          <p:cNvPr id="1199" name="Google Shape;1199;p70"/>
          <p:cNvPicPr preferRelativeResize="0"/>
          <p:nvPr/>
        </p:nvPicPr>
        <p:blipFill rotWithShape="1">
          <a:blip r:embed="rId8">
            <a:alphaModFix/>
          </a:blip>
          <a:srcRect b="0" l="0" r="0" t="0"/>
          <a:stretch/>
        </p:blipFill>
        <p:spPr>
          <a:xfrm>
            <a:off x="9015229" y="5162849"/>
            <a:ext cx="744464" cy="744458"/>
          </a:xfrm>
          <a:prstGeom prst="rect">
            <a:avLst/>
          </a:prstGeom>
          <a:noFill/>
          <a:ln>
            <a:noFill/>
          </a:ln>
        </p:spPr>
      </p:pic>
      <p:pic>
        <p:nvPicPr>
          <p:cNvPr id="1200" name="Google Shape;1200;p70"/>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201" name="Google Shape;1201;p70"/>
          <p:cNvPicPr preferRelativeResize="0"/>
          <p:nvPr/>
        </p:nvPicPr>
        <p:blipFill rotWithShape="1">
          <a:blip r:embed="rId10">
            <a:alphaModFix/>
          </a:blip>
          <a:srcRect b="0" l="0" r="0" t="0"/>
          <a:stretch/>
        </p:blipFill>
        <p:spPr>
          <a:xfrm>
            <a:off x="764806" y="3429006"/>
            <a:ext cx="744464" cy="744458"/>
          </a:xfrm>
          <a:prstGeom prst="rect">
            <a:avLst/>
          </a:prstGeom>
          <a:noFill/>
          <a:ln>
            <a:noFill/>
          </a:ln>
        </p:spPr>
      </p:pic>
      <p:pic>
        <p:nvPicPr>
          <p:cNvPr id="1202" name="Google Shape;1202;p70"/>
          <p:cNvPicPr preferRelativeResize="0"/>
          <p:nvPr/>
        </p:nvPicPr>
        <p:blipFill rotWithShape="1">
          <a:blip r:embed="rId11">
            <a:alphaModFix/>
          </a:blip>
          <a:srcRect b="0" l="0" r="0" t="0"/>
          <a:stretch/>
        </p:blipFill>
        <p:spPr>
          <a:xfrm>
            <a:off x="2414890" y="3429006"/>
            <a:ext cx="744464" cy="744458"/>
          </a:xfrm>
          <a:prstGeom prst="rect">
            <a:avLst/>
          </a:prstGeom>
          <a:noFill/>
          <a:ln>
            <a:noFill/>
          </a:ln>
        </p:spPr>
      </p:pic>
      <p:pic>
        <p:nvPicPr>
          <p:cNvPr id="1203" name="Google Shape;1203;p70"/>
          <p:cNvPicPr preferRelativeResize="0"/>
          <p:nvPr/>
        </p:nvPicPr>
        <p:blipFill rotWithShape="1">
          <a:blip r:embed="rId12">
            <a:alphaModFix/>
          </a:blip>
          <a:srcRect b="0" l="0" r="0" t="0"/>
          <a:stretch/>
        </p:blipFill>
        <p:spPr>
          <a:xfrm>
            <a:off x="4064975" y="3429006"/>
            <a:ext cx="744464" cy="744458"/>
          </a:xfrm>
          <a:prstGeom prst="rect">
            <a:avLst/>
          </a:prstGeom>
          <a:noFill/>
          <a:ln>
            <a:noFill/>
          </a:ln>
        </p:spPr>
      </p:pic>
      <p:pic>
        <p:nvPicPr>
          <p:cNvPr id="1204" name="Google Shape;1204;p70"/>
          <p:cNvPicPr preferRelativeResize="0"/>
          <p:nvPr/>
        </p:nvPicPr>
        <p:blipFill rotWithShape="1">
          <a:blip r:embed="rId13">
            <a:alphaModFix/>
          </a:blip>
          <a:srcRect b="0" l="0" r="0" t="0"/>
          <a:stretch/>
        </p:blipFill>
        <p:spPr>
          <a:xfrm>
            <a:off x="5715060" y="3429006"/>
            <a:ext cx="744464" cy="744458"/>
          </a:xfrm>
          <a:prstGeom prst="rect">
            <a:avLst/>
          </a:prstGeom>
          <a:noFill/>
          <a:ln>
            <a:noFill/>
          </a:ln>
        </p:spPr>
      </p:pic>
      <p:pic>
        <p:nvPicPr>
          <p:cNvPr id="1205" name="Google Shape;1205;p70"/>
          <p:cNvPicPr preferRelativeResize="0"/>
          <p:nvPr/>
        </p:nvPicPr>
        <p:blipFill rotWithShape="1">
          <a:blip r:embed="rId14">
            <a:alphaModFix/>
          </a:blip>
          <a:srcRect b="0" l="0" r="0" t="0"/>
          <a:stretch/>
        </p:blipFill>
        <p:spPr>
          <a:xfrm>
            <a:off x="7365145" y="3429006"/>
            <a:ext cx="744464" cy="744458"/>
          </a:xfrm>
          <a:prstGeom prst="rect">
            <a:avLst/>
          </a:prstGeom>
          <a:noFill/>
          <a:ln>
            <a:noFill/>
          </a:ln>
        </p:spPr>
      </p:pic>
      <p:pic>
        <p:nvPicPr>
          <p:cNvPr id="1206" name="Google Shape;1206;p70"/>
          <p:cNvPicPr preferRelativeResize="0"/>
          <p:nvPr/>
        </p:nvPicPr>
        <p:blipFill rotWithShape="1">
          <a:blip r:embed="rId15">
            <a:alphaModFix/>
          </a:blip>
          <a:srcRect b="0" l="0" r="0" t="0"/>
          <a:stretch/>
        </p:blipFill>
        <p:spPr>
          <a:xfrm>
            <a:off x="9015229" y="3429006"/>
            <a:ext cx="744464" cy="744458"/>
          </a:xfrm>
          <a:prstGeom prst="rect">
            <a:avLst/>
          </a:prstGeom>
          <a:noFill/>
          <a:ln>
            <a:noFill/>
          </a:ln>
        </p:spPr>
      </p:pic>
      <p:pic>
        <p:nvPicPr>
          <p:cNvPr id="1207" name="Google Shape;1207;p70"/>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208" name="Google Shape;1208;p70"/>
          <p:cNvPicPr preferRelativeResize="0"/>
          <p:nvPr/>
        </p:nvPicPr>
        <p:blipFill rotWithShape="1">
          <a:blip r:embed="rId17">
            <a:alphaModFix/>
          </a:blip>
          <a:srcRect b="0" l="0" r="0" t="0"/>
          <a:stretch/>
        </p:blipFill>
        <p:spPr>
          <a:xfrm>
            <a:off x="764806" y="4295928"/>
            <a:ext cx="744464" cy="744458"/>
          </a:xfrm>
          <a:prstGeom prst="rect">
            <a:avLst/>
          </a:prstGeom>
          <a:noFill/>
          <a:ln>
            <a:noFill/>
          </a:ln>
        </p:spPr>
      </p:pic>
      <p:pic>
        <p:nvPicPr>
          <p:cNvPr id="1209" name="Google Shape;1209;p70"/>
          <p:cNvPicPr preferRelativeResize="0"/>
          <p:nvPr/>
        </p:nvPicPr>
        <p:blipFill rotWithShape="1">
          <a:blip r:embed="rId18">
            <a:alphaModFix/>
          </a:blip>
          <a:srcRect b="0" l="0" r="0" t="0"/>
          <a:stretch/>
        </p:blipFill>
        <p:spPr>
          <a:xfrm>
            <a:off x="2414890" y="4295928"/>
            <a:ext cx="744464" cy="744458"/>
          </a:xfrm>
          <a:prstGeom prst="rect">
            <a:avLst/>
          </a:prstGeom>
          <a:noFill/>
          <a:ln>
            <a:noFill/>
          </a:ln>
        </p:spPr>
      </p:pic>
      <p:pic>
        <p:nvPicPr>
          <p:cNvPr id="1210" name="Google Shape;1210;p70"/>
          <p:cNvPicPr preferRelativeResize="0"/>
          <p:nvPr/>
        </p:nvPicPr>
        <p:blipFill rotWithShape="1">
          <a:blip r:embed="rId19">
            <a:alphaModFix/>
          </a:blip>
          <a:srcRect b="0" l="0" r="0" t="0"/>
          <a:stretch/>
        </p:blipFill>
        <p:spPr>
          <a:xfrm>
            <a:off x="4064975" y="4295928"/>
            <a:ext cx="744464" cy="744458"/>
          </a:xfrm>
          <a:prstGeom prst="rect">
            <a:avLst/>
          </a:prstGeom>
          <a:noFill/>
          <a:ln>
            <a:noFill/>
          </a:ln>
        </p:spPr>
      </p:pic>
      <p:pic>
        <p:nvPicPr>
          <p:cNvPr id="1211" name="Google Shape;1211;p70"/>
          <p:cNvPicPr preferRelativeResize="0"/>
          <p:nvPr/>
        </p:nvPicPr>
        <p:blipFill rotWithShape="1">
          <a:blip r:embed="rId20">
            <a:alphaModFix/>
          </a:blip>
          <a:srcRect b="0" l="0" r="0" t="0"/>
          <a:stretch/>
        </p:blipFill>
        <p:spPr>
          <a:xfrm>
            <a:off x="5715060" y="4295928"/>
            <a:ext cx="744464" cy="744458"/>
          </a:xfrm>
          <a:prstGeom prst="rect">
            <a:avLst/>
          </a:prstGeom>
          <a:noFill/>
          <a:ln>
            <a:noFill/>
          </a:ln>
        </p:spPr>
      </p:pic>
      <p:pic>
        <p:nvPicPr>
          <p:cNvPr id="1212" name="Google Shape;1212;p70"/>
          <p:cNvPicPr preferRelativeResize="0"/>
          <p:nvPr/>
        </p:nvPicPr>
        <p:blipFill rotWithShape="1">
          <a:blip r:embed="rId21">
            <a:alphaModFix/>
          </a:blip>
          <a:srcRect b="0" l="0" r="0" t="0"/>
          <a:stretch/>
        </p:blipFill>
        <p:spPr>
          <a:xfrm>
            <a:off x="7365145" y="4295928"/>
            <a:ext cx="744464" cy="744458"/>
          </a:xfrm>
          <a:prstGeom prst="rect">
            <a:avLst/>
          </a:prstGeom>
          <a:noFill/>
          <a:ln>
            <a:noFill/>
          </a:ln>
        </p:spPr>
      </p:pic>
      <p:pic>
        <p:nvPicPr>
          <p:cNvPr id="1213" name="Google Shape;1213;p70"/>
          <p:cNvPicPr preferRelativeResize="0"/>
          <p:nvPr/>
        </p:nvPicPr>
        <p:blipFill rotWithShape="1">
          <a:blip r:embed="rId22">
            <a:alphaModFix/>
          </a:blip>
          <a:srcRect b="0" l="0" r="0" t="0"/>
          <a:stretch/>
        </p:blipFill>
        <p:spPr>
          <a:xfrm>
            <a:off x="9015229" y="4295928"/>
            <a:ext cx="744464" cy="744458"/>
          </a:xfrm>
          <a:prstGeom prst="rect">
            <a:avLst/>
          </a:prstGeom>
          <a:noFill/>
          <a:ln>
            <a:noFill/>
          </a:ln>
        </p:spPr>
      </p:pic>
      <p:pic>
        <p:nvPicPr>
          <p:cNvPr id="1214" name="Google Shape;1214;p70"/>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71"/>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220" name="Google Shape;1220;p7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221" name="Google Shape;1221;p71"/>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Miscellaneous (Cont.)</a:t>
            </a:r>
            <a:endParaRPr/>
          </a:p>
        </p:txBody>
      </p:sp>
      <p:sp>
        <p:nvSpPr>
          <p:cNvPr id="1222" name="Google Shape;1222;p71"/>
          <p:cNvSpPr/>
          <p:nvPr/>
        </p:nvSpPr>
        <p:spPr>
          <a:xfrm>
            <a:off x="416329" y="2595333"/>
            <a:ext cx="14529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Gold</a:t>
            </a:r>
            <a:endParaRPr sz="1400">
              <a:solidFill>
                <a:srgbClr val="3A3838"/>
              </a:solidFill>
              <a:latin typeface="DM Sans"/>
              <a:ea typeface="DM Sans"/>
              <a:cs typeface="DM Sans"/>
              <a:sym typeface="DM Sans"/>
            </a:endParaRPr>
          </a:p>
        </p:txBody>
      </p:sp>
      <p:sp>
        <p:nvSpPr>
          <p:cNvPr id="1223" name="Google Shape;1223;p71"/>
          <p:cNvSpPr/>
          <p:nvPr/>
        </p:nvSpPr>
        <p:spPr>
          <a:xfrm>
            <a:off x="2157993"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Hospital</a:t>
            </a:r>
            <a:endParaRPr sz="1400">
              <a:solidFill>
                <a:srgbClr val="3A3838"/>
              </a:solidFill>
              <a:latin typeface="DM Sans"/>
              <a:ea typeface="DM Sans"/>
              <a:cs typeface="DM Sans"/>
              <a:sym typeface="DM Sans"/>
            </a:endParaRPr>
          </a:p>
        </p:txBody>
      </p:sp>
      <p:sp>
        <p:nvSpPr>
          <p:cNvPr id="1224" name="Google Shape;1224;p71"/>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Input Ingest</a:t>
            </a:r>
            <a:endParaRPr sz="1400">
              <a:solidFill>
                <a:srgbClr val="3A3838"/>
              </a:solidFill>
              <a:latin typeface="DM Sans"/>
              <a:ea typeface="DM Sans"/>
              <a:cs typeface="DM Sans"/>
              <a:sym typeface="DM Sans"/>
            </a:endParaRPr>
          </a:p>
        </p:txBody>
      </p:sp>
      <p:sp>
        <p:nvSpPr>
          <p:cNvPr id="1225" name="Google Shape;1225;p71"/>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Admin</a:t>
            </a:r>
            <a:endParaRPr sz="1400">
              <a:solidFill>
                <a:srgbClr val="3A3838"/>
              </a:solidFill>
              <a:latin typeface="DM Sans"/>
              <a:ea typeface="DM Sans"/>
              <a:cs typeface="DM Sans"/>
              <a:sym typeface="DM Sans"/>
            </a:endParaRPr>
          </a:p>
        </p:txBody>
      </p:sp>
      <p:pic>
        <p:nvPicPr>
          <p:cNvPr id="1226" name="Google Shape;1226;p71"/>
          <p:cNvPicPr preferRelativeResize="0"/>
          <p:nvPr/>
        </p:nvPicPr>
        <p:blipFill rotWithShape="1">
          <a:blip r:embed="rId3">
            <a:alphaModFix/>
          </a:blip>
          <a:srcRect b="0" l="0" r="0" t="0"/>
          <a:stretch/>
        </p:blipFill>
        <p:spPr>
          <a:xfrm>
            <a:off x="764809" y="5170477"/>
            <a:ext cx="747745" cy="747735"/>
          </a:xfrm>
          <a:prstGeom prst="rect">
            <a:avLst/>
          </a:prstGeom>
          <a:noFill/>
          <a:ln>
            <a:noFill/>
          </a:ln>
        </p:spPr>
      </p:pic>
      <p:pic>
        <p:nvPicPr>
          <p:cNvPr id="1227" name="Google Shape;1227;p71"/>
          <p:cNvPicPr preferRelativeResize="0"/>
          <p:nvPr/>
        </p:nvPicPr>
        <p:blipFill rotWithShape="1">
          <a:blip r:embed="rId4">
            <a:alphaModFix/>
          </a:blip>
          <a:srcRect b="0" l="0" r="0" t="0"/>
          <a:stretch/>
        </p:blipFill>
        <p:spPr>
          <a:xfrm>
            <a:off x="2566488" y="5170477"/>
            <a:ext cx="747745" cy="747735"/>
          </a:xfrm>
          <a:prstGeom prst="rect">
            <a:avLst/>
          </a:prstGeom>
          <a:noFill/>
          <a:ln>
            <a:noFill/>
          </a:ln>
        </p:spPr>
      </p:pic>
      <p:pic>
        <p:nvPicPr>
          <p:cNvPr id="1228" name="Google Shape;1228;p71"/>
          <p:cNvPicPr preferRelativeResize="0"/>
          <p:nvPr/>
        </p:nvPicPr>
        <p:blipFill rotWithShape="1">
          <a:blip r:embed="rId5">
            <a:alphaModFix/>
          </a:blip>
          <a:srcRect b="0" l="0" r="0" t="0"/>
          <a:stretch/>
        </p:blipFill>
        <p:spPr>
          <a:xfrm>
            <a:off x="4368133" y="5170477"/>
            <a:ext cx="747745" cy="747735"/>
          </a:xfrm>
          <a:prstGeom prst="rect">
            <a:avLst/>
          </a:prstGeom>
          <a:noFill/>
          <a:ln>
            <a:noFill/>
          </a:ln>
        </p:spPr>
      </p:pic>
      <p:pic>
        <p:nvPicPr>
          <p:cNvPr id="1229" name="Google Shape;1229;p71"/>
          <p:cNvPicPr preferRelativeResize="0"/>
          <p:nvPr/>
        </p:nvPicPr>
        <p:blipFill rotWithShape="1">
          <a:blip r:embed="rId6">
            <a:alphaModFix/>
          </a:blip>
          <a:srcRect b="0" l="0" r="0" t="0"/>
          <a:stretch/>
        </p:blipFill>
        <p:spPr>
          <a:xfrm>
            <a:off x="6164729" y="5170477"/>
            <a:ext cx="747745" cy="747735"/>
          </a:xfrm>
          <a:prstGeom prst="rect">
            <a:avLst/>
          </a:prstGeom>
          <a:noFill/>
          <a:ln>
            <a:noFill/>
          </a:ln>
        </p:spPr>
      </p:pic>
      <p:pic>
        <p:nvPicPr>
          <p:cNvPr id="1230" name="Google Shape;1230;p71"/>
          <p:cNvPicPr preferRelativeResize="0"/>
          <p:nvPr/>
        </p:nvPicPr>
        <p:blipFill rotWithShape="1">
          <a:blip r:embed="rId7">
            <a:alphaModFix/>
          </a:blip>
          <a:srcRect b="0" l="0" r="0" t="0"/>
          <a:stretch/>
        </p:blipFill>
        <p:spPr>
          <a:xfrm>
            <a:off x="764809" y="3429005"/>
            <a:ext cx="747745" cy="747735"/>
          </a:xfrm>
          <a:prstGeom prst="rect">
            <a:avLst/>
          </a:prstGeom>
          <a:noFill/>
          <a:ln>
            <a:noFill/>
          </a:ln>
        </p:spPr>
      </p:pic>
      <p:pic>
        <p:nvPicPr>
          <p:cNvPr id="1231" name="Google Shape;1231;p71"/>
          <p:cNvPicPr preferRelativeResize="0"/>
          <p:nvPr/>
        </p:nvPicPr>
        <p:blipFill rotWithShape="1">
          <a:blip r:embed="rId8">
            <a:alphaModFix/>
          </a:blip>
          <a:srcRect b="0" l="0" r="0" t="0"/>
          <a:stretch/>
        </p:blipFill>
        <p:spPr>
          <a:xfrm>
            <a:off x="2566488" y="3429005"/>
            <a:ext cx="747745" cy="747735"/>
          </a:xfrm>
          <a:prstGeom prst="rect">
            <a:avLst/>
          </a:prstGeom>
          <a:noFill/>
          <a:ln>
            <a:noFill/>
          </a:ln>
        </p:spPr>
      </p:pic>
      <p:pic>
        <p:nvPicPr>
          <p:cNvPr id="1232" name="Google Shape;1232;p71"/>
          <p:cNvPicPr preferRelativeResize="0"/>
          <p:nvPr/>
        </p:nvPicPr>
        <p:blipFill rotWithShape="1">
          <a:blip r:embed="rId9">
            <a:alphaModFix/>
          </a:blip>
          <a:srcRect b="0" l="0" r="0" t="0"/>
          <a:stretch/>
        </p:blipFill>
        <p:spPr>
          <a:xfrm>
            <a:off x="4368133" y="3429005"/>
            <a:ext cx="747745" cy="747735"/>
          </a:xfrm>
          <a:prstGeom prst="rect">
            <a:avLst/>
          </a:prstGeom>
          <a:noFill/>
          <a:ln>
            <a:noFill/>
          </a:ln>
        </p:spPr>
      </p:pic>
      <p:pic>
        <p:nvPicPr>
          <p:cNvPr id="1233" name="Google Shape;1233;p71"/>
          <p:cNvPicPr preferRelativeResize="0"/>
          <p:nvPr/>
        </p:nvPicPr>
        <p:blipFill rotWithShape="1">
          <a:blip r:embed="rId10">
            <a:alphaModFix/>
          </a:blip>
          <a:srcRect b="0" l="0" r="0" t="0"/>
          <a:stretch/>
        </p:blipFill>
        <p:spPr>
          <a:xfrm>
            <a:off x="6164729" y="3429005"/>
            <a:ext cx="747745" cy="747735"/>
          </a:xfrm>
          <a:prstGeom prst="rect">
            <a:avLst/>
          </a:prstGeom>
          <a:noFill/>
          <a:ln>
            <a:noFill/>
          </a:ln>
        </p:spPr>
      </p:pic>
      <p:pic>
        <p:nvPicPr>
          <p:cNvPr id="1234" name="Google Shape;1234;p71"/>
          <p:cNvPicPr preferRelativeResize="0"/>
          <p:nvPr/>
        </p:nvPicPr>
        <p:blipFill rotWithShape="1">
          <a:blip r:embed="rId11">
            <a:alphaModFix/>
          </a:blip>
          <a:srcRect b="0" l="0" r="0" t="0"/>
          <a:stretch/>
        </p:blipFill>
        <p:spPr>
          <a:xfrm>
            <a:off x="764809" y="4299741"/>
            <a:ext cx="747745" cy="747735"/>
          </a:xfrm>
          <a:prstGeom prst="rect">
            <a:avLst/>
          </a:prstGeom>
          <a:noFill/>
          <a:ln>
            <a:noFill/>
          </a:ln>
        </p:spPr>
      </p:pic>
      <p:pic>
        <p:nvPicPr>
          <p:cNvPr id="1235" name="Google Shape;1235;p71"/>
          <p:cNvPicPr preferRelativeResize="0"/>
          <p:nvPr/>
        </p:nvPicPr>
        <p:blipFill rotWithShape="1">
          <a:blip r:embed="rId12">
            <a:alphaModFix/>
          </a:blip>
          <a:srcRect b="0" l="0" r="0" t="0"/>
          <a:stretch/>
        </p:blipFill>
        <p:spPr>
          <a:xfrm>
            <a:off x="2566488" y="4299741"/>
            <a:ext cx="747745" cy="747735"/>
          </a:xfrm>
          <a:prstGeom prst="rect">
            <a:avLst/>
          </a:prstGeom>
          <a:noFill/>
          <a:ln>
            <a:noFill/>
          </a:ln>
        </p:spPr>
      </p:pic>
      <p:pic>
        <p:nvPicPr>
          <p:cNvPr id="1236" name="Google Shape;1236;p71"/>
          <p:cNvPicPr preferRelativeResize="0"/>
          <p:nvPr/>
        </p:nvPicPr>
        <p:blipFill rotWithShape="1">
          <a:blip r:embed="rId13">
            <a:alphaModFix/>
          </a:blip>
          <a:srcRect b="0" l="0" r="0" t="0"/>
          <a:stretch/>
        </p:blipFill>
        <p:spPr>
          <a:xfrm>
            <a:off x="4368133" y="4299741"/>
            <a:ext cx="747745" cy="747735"/>
          </a:xfrm>
          <a:prstGeom prst="rect">
            <a:avLst/>
          </a:prstGeom>
          <a:noFill/>
          <a:ln>
            <a:noFill/>
          </a:ln>
        </p:spPr>
      </p:pic>
      <p:pic>
        <p:nvPicPr>
          <p:cNvPr id="1237" name="Google Shape;1237;p71"/>
          <p:cNvPicPr preferRelativeResize="0"/>
          <p:nvPr/>
        </p:nvPicPr>
        <p:blipFill rotWithShape="1">
          <a:blip r:embed="rId14">
            <a:alphaModFix/>
          </a:blip>
          <a:srcRect b="0" l="0" r="0" t="0"/>
          <a:stretch/>
        </p:blipFill>
        <p:spPr>
          <a:xfrm>
            <a:off x="6164729" y="4299741"/>
            <a:ext cx="747745" cy="74773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7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243" name="Google Shape;1243;p7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a:t>
            </a:r>
            <a:r>
              <a:rPr lang="en"/>
              <a:t>cons</a:t>
            </a:r>
            <a:endParaRPr/>
          </a:p>
        </p:txBody>
      </p:sp>
      <p:sp>
        <p:nvSpPr>
          <p:cNvPr id="1244" name="Google Shape;1244;p72"/>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Arrows</a:t>
            </a:r>
            <a:endParaRPr/>
          </a:p>
        </p:txBody>
      </p:sp>
      <p:pic>
        <p:nvPicPr>
          <p:cNvPr id="1245" name="Google Shape;1245;p72"/>
          <p:cNvPicPr preferRelativeResize="0"/>
          <p:nvPr/>
        </p:nvPicPr>
        <p:blipFill rotWithShape="1">
          <a:blip r:embed="rId3">
            <a:alphaModFix/>
          </a:blip>
          <a:srcRect b="0" l="0" r="0" t="0"/>
          <a:stretch/>
        </p:blipFill>
        <p:spPr>
          <a:xfrm>
            <a:off x="761806" y="5162849"/>
            <a:ext cx="744464" cy="744458"/>
          </a:xfrm>
          <a:prstGeom prst="rect">
            <a:avLst/>
          </a:prstGeom>
          <a:noFill/>
          <a:ln>
            <a:noFill/>
          </a:ln>
        </p:spPr>
      </p:pic>
      <p:pic>
        <p:nvPicPr>
          <p:cNvPr id="1246" name="Google Shape;1246;p72"/>
          <p:cNvPicPr preferRelativeResize="0"/>
          <p:nvPr/>
        </p:nvPicPr>
        <p:blipFill rotWithShape="1">
          <a:blip r:embed="rId4">
            <a:alphaModFix/>
          </a:blip>
          <a:srcRect b="0" l="0" r="0" t="0"/>
          <a:stretch/>
        </p:blipFill>
        <p:spPr>
          <a:xfrm>
            <a:off x="1862198" y="5162849"/>
            <a:ext cx="744464" cy="744458"/>
          </a:xfrm>
          <a:prstGeom prst="rect">
            <a:avLst/>
          </a:prstGeom>
          <a:noFill/>
          <a:ln>
            <a:noFill/>
          </a:ln>
        </p:spPr>
      </p:pic>
      <p:pic>
        <p:nvPicPr>
          <p:cNvPr id="1247" name="Google Shape;1247;p72"/>
          <p:cNvPicPr preferRelativeResize="0"/>
          <p:nvPr/>
        </p:nvPicPr>
        <p:blipFill rotWithShape="1">
          <a:blip r:embed="rId5">
            <a:alphaModFix/>
          </a:blip>
          <a:srcRect b="0" l="0" r="0" t="0"/>
          <a:stretch/>
        </p:blipFill>
        <p:spPr>
          <a:xfrm>
            <a:off x="2962590" y="5162849"/>
            <a:ext cx="744464" cy="744458"/>
          </a:xfrm>
          <a:prstGeom prst="rect">
            <a:avLst/>
          </a:prstGeom>
          <a:noFill/>
          <a:ln>
            <a:noFill/>
          </a:ln>
        </p:spPr>
      </p:pic>
      <p:pic>
        <p:nvPicPr>
          <p:cNvPr id="1248" name="Google Shape;1248;p72"/>
          <p:cNvPicPr preferRelativeResize="0"/>
          <p:nvPr/>
        </p:nvPicPr>
        <p:blipFill rotWithShape="1">
          <a:blip r:embed="rId6">
            <a:alphaModFix/>
          </a:blip>
          <a:srcRect b="0" l="0" r="0" t="0"/>
          <a:stretch/>
        </p:blipFill>
        <p:spPr>
          <a:xfrm>
            <a:off x="4062981" y="5162849"/>
            <a:ext cx="744464" cy="744458"/>
          </a:xfrm>
          <a:prstGeom prst="rect">
            <a:avLst/>
          </a:prstGeom>
          <a:noFill/>
          <a:ln>
            <a:noFill/>
          </a:ln>
        </p:spPr>
      </p:pic>
      <p:pic>
        <p:nvPicPr>
          <p:cNvPr id="1249" name="Google Shape;1249;p72"/>
          <p:cNvPicPr preferRelativeResize="0"/>
          <p:nvPr/>
        </p:nvPicPr>
        <p:blipFill rotWithShape="1">
          <a:blip r:embed="rId7">
            <a:alphaModFix/>
          </a:blip>
          <a:srcRect b="0" l="0" r="0" t="0"/>
          <a:stretch/>
        </p:blipFill>
        <p:spPr>
          <a:xfrm>
            <a:off x="6263781" y="5162849"/>
            <a:ext cx="744464" cy="744458"/>
          </a:xfrm>
          <a:prstGeom prst="rect">
            <a:avLst/>
          </a:prstGeom>
          <a:noFill/>
          <a:ln>
            <a:noFill/>
          </a:ln>
        </p:spPr>
      </p:pic>
      <p:pic>
        <p:nvPicPr>
          <p:cNvPr id="1250" name="Google Shape;1250;p72"/>
          <p:cNvPicPr preferRelativeResize="0"/>
          <p:nvPr/>
        </p:nvPicPr>
        <p:blipFill rotWithShape="1">
          <a:blip r:embed="rId8">
            <a:alphaModFix/>
          </a:blip>
          <a:srcRect b="0" l="0" r="0" t="0"/>
          <a:stretch/>
        </p:blipFill>
        <p:spPr>
          <a:xfrm>
            <a:off x="8464547" y="5162849"/>
            <a:ext cx="744464" cy="744458"/>
          </a:xfrm>
          <a:prstGeom prst="rect">
            <a:avLst/>
          </a:prstGeom>
          <a:noFill/>
          <a:ln>
            <a:noFill/>
          </a:ln>
        </p:spPr>
      </p:pic>
      <p:pic>
        <p:nvPicPr>
          <p:cNvPr id="1251" name="Google Shape;1251;p72"/>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252" name="Google Shape;1252;p72"/>
          <p:cNvPicPr preferRelativeResize="0"/>
          <p:nvPr/>
        </p:nvPicPr>
        <p:blipFill rotWithShape="1">
          <a:blip r:embed="rId10">
            <a:alphaModFix/>
          </a:blip>
          <a:srcRect b="0" l="0" r="0" t="0"/>
          <a:stretch/>
        </p:blipFill>
        <p:spPr>
          <a:xfrm>
            <a:off x="761806" y="3429006"/>
            <a:ext cx="744464" cy="744458"/>
          </a:xfrm>
          <a:prstGeom prst="rect">
            <a:avLst/>
          </a:prstGeom>
          <a:noFill/>
          <a:ln>
            <a:noFill/>
          </a:ln>
        </p:spPr>
      </p:pic>
      <p:pic>
        <p:nvPicPr>
          <p:cNvPr id="1253" name="Google Shape;1253;p72"/>
          <p:cNvPicPr preferRelativeResize="0"/>
          <p:nvPr/>
        </p:nvPicPr>
        <p:blipFill rotWithShape="1">
          <a:blip r:embed="rId11">
            <a:alphaModFix/>
          </a:blip>
          <a:srcRect b="0" l="0" r="0" t="0"/>
          <a:stretch/>
        </p:blipFill>
        <p:spPr>
          <a:xfrm>
            <a:off x="1862198" y="3429006"/>
            <a:ext cx="744464" cy="744458"/>
          </a:xfrm>
          <a:prstGeom prst="rect">
            <a:avLst/>
          </a:prstGeom>
          <a:noFill/>
          <a:ln>
            <a:noFill/>
          </a:ln>
        </p:spPr>
      </p:pic>
      <p:pic>
        <p:nvPicPr>
          <p:cNvPr id="1254" name="Google Shape;1254;p72"/>
          <p:cNvPicPr preferRelativeResize="0"/>
          <p:nvPr/>
        </p:nvPicPr>
        <p:blipFill rotWithShape="1">
          <a:blip r:embed="rId12">
            <a:alphaModFix/>
          </a:blip>
          <a:srcRect b="0" l="0" r="0" t="0"/>
          <a:stretch/>
        </p:blipFill>
        <p:spPr>
          <a:xfrm>
            <a:off x="2962590" y="3429006"/>
            <a:ext cx="744464" cy="744458"/>
          </a:xfrm>
          <a:prstGeom prst="rect">
            <a:avLst/>
          </a:prstGeom>
          <a:noFill/>
          <a:ln>
            <a:noFill/>
          </a:ln>
        </p:spPr>
      </p:pic>
      <p:pic>
        <p:nvPicPr>
          <p:cNvPr id="1255" name="Google Shape;1255;p72"/>
          <p:cNvPicPr preferRelativeResize="0"/>
          <p:nvPr/>
        </p:nvPicPr>
        <p:blipFill rotWithShape="1">
          <a:blip r:embed="rId13">
            <a:alphaModFix/>
          </a:blip>
          <a:srcRect b="0" l="0" r="0" t="0"/>
          <a:stretch/>
        </p:blipFill>
        <p:spPr>
          <a:xfrm>
            <a:off x="4062981" y="3429006"/>
            <a:ext cx="744464" cy="744458"/>
          </a:xfrm>
          <a:prstGeom prst="rect">
            <a:avLst/>
          </a:prstGeom>
          <a:noFill/>
          <a:ln>
            <a:noFill/>
          </a:ln>
        </p:spPr>
      </p:pic>
      <p:pic>
        <p:nvPicPr>
          <p:cNvPr id="1256" name="Google Shape;1256;p72"/>
          <p:cNvPicPr preferRelativeResize="0"/>
          <p:nvPr/>
        </p:nvPicPr>
        <p:blipFill rotWithShape="1">
          <a:blip r:embed="rId14">
            <a:alphaModFix/>
          </a:blip>
          <a:srcRect b="0" l="0" r="0" t="0"/>
          <a:stretch/>
        </p:blipFill>
        <p:spPr>
          <a:xfrm>
            <a:off x="6263781" y="3429006"/>
            <a:ext cx="744464" cy="744458"/>
          </a:xfrm>
          <a:prstGeom prst="rect">
            <a:avLst/>
          </a:prstGeom>
          <a:noFill/>
          <a:ln>
            <a:noFill/>
          </a:ln>
        </p:spPr>
      </p:pic>
      <p:pic>
        <p:nvPicPr>
          <p:cNvPr id="1257" name="Google Shape;1257;p72"/>
          <p:cNvPicPr preferRelativeResize="0"/>
          <p:nvPr/>
        </p:nvPicPr>
        <p:blipFill rotWithShape="1">
          <a:blip r:embed="rId15">
            <a:alphaModFix/>
          </a:blip>
          <a:srcRect b="0" l="0" r="0" t="0"/>
          <a:stretch/>
        </p:blipFill>
        <p:spPr>
          <a:xfrm>
            <a:off x="8464547" y="3429006"/>
            <a:ext cx="744464" cy="744458"/>
          </a:xfrm>
          <a:prstGeom prst="rect">
            <a:avLst/>
          </a:prstGeom>
          <a:noFill/>
          <a:ln>
            <a:noFill/>
          </a:ln>
        </p:spPr>
      </p:pic>
      <p:pic>
        <p:nvPicPr>
          <p:cNvPr id="1258" name="Google Shape;1258;p72"/>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259" name="Google Shape;1259;p72"/>
          <p:cNvPicPr preferRelativeResize="0"/>
          <p:nvPr/>
        </p:nvPicPr>
        <p:blipFill rotWithShape="1">
          <a:blip r:embed="rId17">
            <a:alphaModFix/>
          </a:blip>
          <a:srcRect b="0" l="0" r="0" t="0"/>
          <a:stretch/>
        </p:blipFill>
        <p:spPr>
          <a:xfrm>
            <a:off x="761806" y="4295928"/>
            <a:ext cx="744464" cy="744458"/>
          </a:xfrm>
          <a:prstGeom prst="rect">
            <a:avLst/>
          </a:prstGeom>
          <a:noFill/>
          <a:ln>
            <a:noFill/>
          </a:ln>
        </p:spPr>
      </p:pic>
      <p:pic>
        <p:nvPicPr>
          <p:cNvPr id="1260" name="Google Shape;1260;p72"/>
          <p:cNvPicPr preferRelativeResize="0"/>
          <p:nvPr/>
        </p:nvPicPr>
        <p:blipFill rotWithShape="1">
          <a:blip r:embed="rId18">
            <a:alphaModFix/>
          </a:blip>
          <a:srcRect b="0" l="0" r="0" t="0"/>
          <a:stretch/>
        </p:blipFill>
        <p:spPr>
          <a:xfrm>
            <a:off x="1862198" y="4295928"/>
            <a:ext cx="744464" cy="744458"/>
          </a:xfrm>
          <a:prstGeom prst="rect">
            <a:avLst/>
          </a:prstGeom>
          <a:noFill/>
          <a:ln>
            <a:noFill/>
          </a:ln>
        </p:spPr>
      </p:pic>
      <p:pic>
        <p:nvPicPr>
          <p:cNvPr id="1261" name="Google Shape;1261;p72"/>
          <p:cNvPicPr preferRelativeResize="0"/>
          <p:nvPr/>
        </p:nvPicPr>
        <p:blipFill rotWithShape="1">
          <a:blip r:embed="rId19">
            <a:alphaModFix/>
          </a:blip>
          <a:srcRect b="0" l="0" r="0" t="0"/>
          <a:stretch/>
        </p:blipFill>
        <p:spPr>
          <a:xfrm>
            <a:off x="2962590" y="4295928"/>
            <a:ext cx="744464" cy="744458"/>
          </a:xfrm>
          <a:prstGeom prst="rect">
            <a:avLst/>
          </a:prstGeom>
          <a:noFill/>
          <a:ln>
            <a:noFill/>
          </a:ln>
        </p:spPr>
      </p:pic>
      <p:pic>
        <p:nvPicPr>
          <p:cNvPr id="1262" name="Google Shape;1262;p72"/>
          <p:cNvPicPr preferRelativeResize="0"/>
          <p:nvPr/>
        </p:nvPicPr>
        <p:blipFill rotWithShape="1">
          <a:blip r:embed="rId20">
            <a:alphaModFix/>
          </a:blip>
          <a:srcRect b="0" l="0" r="0" t="0"/>
          <a:stretch/>
        </p:blipFill>
        <p:spPr>
          <a:xfrm>
            <a:off x="4062981" y="4295928"/>
            <a:ext cx="744464" cy="744458"/>
          </a:xfrm>
          <a:prstGeom prst="rect">
            <a:avLst/>
          </a:prstGeom>
          <a:noFill/>
          <a:ln>
            <a:noFill/>
          </a:ln>
        </p:spPr>
      </p:pic>
      <p:pic>
        <p:nvPicPr>
          <p:cNvPr id="1263" name="Google Shape;1263;p72"/>
          <p:cNvPicPr preferRelativeResize="0"/>
          <p:nvPr/>
        </p:nvPicPr>
        <p:blipFill rotWithShape="1">
          <a:blip r:embed="rId21">
            <a:alphaModFix/>
          </a:blip>
          <a:srcRect b="0" l="0" r="0" t="0"/>
          <a:stretch/>
        </p:blipFill>
        <p:spPr>
          <a:xfrm>
            <a:off x="6263781" y="4295928"/>
            <a:ext cx="744464" cy="744458"/>
          </a:xfrm>
          <a:prstGeom prst="rect">
            <a:avLst/>
          </a:prstGeom>
          <a:noFill/>
          <a:ln>
            <a:noFill/>
          </a:ln>
        </p:spPr>
      </p:pic>
      <p:pic>
        <p:nvPicPr>
          <p:cNvPr id="1264" name="Google Shape;1264;p72"/>
          <p:cNvPicPr preferRelativeResize="0"/>
          <p:nvPr/>
        </p:nvPicPr>
        <p:blipFill rotWithShape="1">
          <a:blip r:embed="rId22">
            <a:alphaModFix/>
          </a:blip>
          <a:srcRect b="0" l="0" r="0" t="0"/>
          <a:stretch/>
        </p:blipFill>
        <p:spPr>
          <a:xfrm>
            <a:off x="8464547" y="4295928"/>
            <a:ext cx="744464" cy="744458"/>
          </a:xfrm>
          <a:prstGeom prst="rect">
            <a:avLst/>
          </a:prstGeom>
          <a:noFill/>
          <a:ln>
            <a:noFill/>
          </a:ln>
        </p:spPr>
      </p:pic>
      <p:pic>
        <p:nvPicPr>
          <p:cNvPr id="1265" name="Google Shape;1265;p72"/>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pic>
        <p:nvPicPr>
          <p:cNvPr id="1266" name="Google Shape;1266;p72"/>
          <p:cNvPicPr preferRelativeResize="0"/>
          <p:nvPr/>
        </p:nvPicPr>
        <p:blipFill rotWithShape="1">
          <a:blip r:embed="rId24">
            <a:alphaModFix/>
          </a:blip>
          <a:srcRect b="0" l="0" r="0" t="0"/>
          <a:stretch/>
        </p:blipFill>
        <p:spPr>
          <a:xfrm>
            <a:off x="9564939" y="5162848"/>
            <a:ext cx="744445" cy="744451"/>
          </a:xfrm>
          <a:prstGeom prst="rect">
            <a:avLst/>
          </a:prstGeom>
          <a:noFill/>
          <a:ln>
            <a:noFill/>
          </a:ln>
        </p:spPr>
      </p:pic>
      <p:pic>
        <p:nvPicPr>
          <p:cNvPr id="1267" name="Google Shape;1267;p72"/>
          <p:cNvPicPr preferRelativeResize="0"/>
          <p:nvPr/>
        </p:nvPicPr>
        <p:blipFill rotWithShape="1">
          <a:blip r:embed="rId25">
            <a:alphaModFix/>
          </a:blip>
          <a:srcRect b="0" l="0" r="0" t="0"/>
          <a:stretch/>
        </p:blipFill>
        <p:spPr>
          <a:xfrm>
            <a:off x="5163373" y="5162882"/>
            <a:ext cx="744479" cy="744514"/>
          </a:xfrm>
          <a:prstGeom prst="rect">
            <a:avLst/>
          </a:prstGeom>
          <a:noFill/>
          <a:ln>
            <a:noFill/>
          </a:ln>
        </p:spPr>
      </p:pic>
      <p:pic>
        <p:nvPicPr>
          <p:cNvPr id="1268" name="Google Shape;1268;p72"/>
          <p:cNvPicPr preferRelativeResize="0"/>
          <p:nvPr/>
        </p:nvPicPr>
        <p:blipFill rotWithShape="1">
          <a:blip r:embed="rId26">
            <a:alphaModFix/>
          </a:blip>
          <a:srcRect b="0" l="0" r="0" t="0"/>
          <a:stretch/>
        </p:blipFill>
        <p:spPr>
          <a:xfrm>
            <a:off x="7364173" y="5162848"/>
            <a:ext cx="744445" cy="744451"/>
          </a:xfrm>
          <a:prstGeom prst="rect">
            <a:avLst/>
          </a:prstGeom>
          <a:noFill/>
          <a:ln>
            <a:noFill/>
          </a:ln>
        </p:spPr>
      </p:pic>
      <p:pic>
        <p:nvPicPr>
          <p:cNvPr id="1269" name="Google Shape;1269;p72"/>
          <p:cNvPicPr preferRelativeResize="0"/>
          <p:nvPr/>
        </p:nvPicPr>
        <p:blipFill rotWithShape="1">
          <a:blip r:embed="rId27">
            <a:alphaModFix/>
          </a:blip>
          <a:srcRect b="0" l="0" r="0" t="0"/>
          <a:stretch/>
        </p:blipFill>
        <p:spPr>
          <a:xfrm>
            <a:off x="9564939" y="3429026"/>
            <a:ext cx="744445" cy="744451"/>
          </a:xfrm>
          <a:prstGeom prst="rect">
            <a:avLst/>
          </a:prstGeom>
          <a:noFill/>
          <a:ln>
            <a:noFill/>
          </a:ln>
        </p:spPr>
      </p:pic>
      <p:pic>
        <p:nvPicPr>
          <p:cNvPr id="1270" name="Google Shape;1270;p72"/>
          <p:cNvPicPr preferRelativeResize="0"/>
          <p:nvPr/>
        </p:nvPicPr>
        <p:blipFill rotWithShape="1">
          <a:blip r:embed="rId28">
            <a:alphaModFix/>
          </a:blip>
          <a:srcRect b="0" l="0" r="0" t="0"/>
          <a:stretch/>
        </p:blipFill>
        <p:spPr>
          <a:xfrm>
            <a:off x="5163373" y="3428907"/>
            <a:ext cx="744479" cy="744514"/>
          </a:xfrm>
          <a:prstGeom prst="rect">
            <a:avLst/>
          </a:prstGeom>
          <a:noFill/>
          <a:ln>
            <a:noFill/>
          </a:ln>
        </p:spPr>
      </p:pic>
      <p:pic>
        <p:nvPicPr>
          <p:cNvPr id="1271" name="Google Shape;1271;p72"/>
          <p:cNvPicPr preferRelativeResize="0"/>
          <p:nvPr/>
        </p:nvPicPr>
        <p:blipFill rotWithShape="1">
          <a:blip r:embed="rId29">
            <a:alphaModFix/>
          </a:blip>
          <a:srcRect b="0" l="0" r="0" t="0"/>
          <a:stretch/>
        </p:blipFill>
        <p:spPr>
          <a:xfrm>
            <a:off x="7364173" y="3429026"/>
            <a:ext cx="744445" cy="744451"/>
          </a:xfrm>
          <a:prstGeom prst="rect">
            <a:avLst/>
          </a:prstGeom>
          <a:noFill/>
          <a:ln>
            <a:noFill/>
          </a:ln>
        </p:spPr>
      </p:pic>
      <p:pic>
        <p:nvPicPr>
          <p:cNvPr id="1272" name="Google Shape;1272;p72"/>
          <p:cNvPicPr preferRelativeResize="0"/>
          <p:nvPr/>
        </p:nvPicPr>
        <p:blipFill rotWithShape="1">
          <a:blip r:embed="rId30">
            <a:alphaModFix/>
          </a:blip>
          <a:srcRect b="0" l="0" r="0" t="0"/>
          <a:stretch/>
        </p:blipFill>
        <p:spPr>
          <a:xfrm>
            <a:off x="9564939" y="4295937"/>
            <a:ext cx="744445" cy="744451"/>
          </a:xfrm>
          <a:prstGeom prst="rect">
            <a:avLst/>
          </a:prstGeom>
          <a:noFill/>
          <a:ln>
            <a:noFill/>
          </a:ln>
        </p:spPr>
      </p:pic>
      <p:pic>
        <p:nvPicPr>
          <p:cNvPr id="1273" name="Google Shape;1273;p72"/>
          <p:cNvPicPr preferRelativeResize="0"/>
          <p:nvPr/>
        </p:nvPicPr>
        <p:blipFill rotWithShape="1">
          <a:blip r:embed="rId31">
            <a:alphaModFix/>
          </a:blip>
          <a:srcRect b="0" l="0" r="0" t="0"/>
          <a:stretch/>
        </p:blipFill>
        <p:spPr>
          <a:xfrm>
            <a:off x="5163373" y="4295894"/>
            <a:ext cx="744479" cy="744514"/>
          </a:xfrm>
          <a:prstGeom prst="rect">
            <a:avLst/>
          </a:prstGeom>
          <a:noFill/>
          <a:ln>
            <a:noFill/>
          </a:ln>
        </p:spPr>
      </p:pic>
      <p:pic>
        <p:nvPicPr>
          <p:cNvPr id="1274" name="Google Shape;1274;p72"/>
          <p:cNvPicPr preferRelativeResize="0"/>
          <p:nvPr/>
        </p:nvPicPr>
        <p:blipFill rotWithShape="1">
          <a:blip r:embed="rId32">
            <a:alphaModFix/>
          </a:blip>
          <a:srcRect b="0" l="0" r="0" t="0"/>
          <a:stretch/>
        </p:blipFill>
        <p:spPr>
          <a:xfrm>
            <a:off x="7364173" y="4295937"/>
            <a:ext cx="744445" cy="74445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7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a:t>‹#›</a:t>
            </a:fld>
            <a:endParaRPr/>
          </a:p>
        </p:txBody>
      </p:sp>
      <p:sp>
        <p:nvSpPr>
          <p:cNvPr id="1280" name="Google Shape;1280;p73"/>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Example Diagrams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5" name="Shape 1285"/>
        <p:cNvGrpSpPr/>
        <p:nvPr/>
      </p:nvGrpSpPr>
      <p:grpSpPr>
        <a:xfrm>
          <a:off x="0" y="0"/>
          <a:ext cx="0" cy="0"/>
          <a:chOff x="0" y="0"/>
          <a:chExt cx="0" cy="0"/>
        </a:xfrm>
      </p:grpSpPr>
      <p:cxnSp>
        <p:nvCxnSpPr>
          <p:cNvPr id="1286" name="Google Shape;1286;p74"/>
          <p:cNvCxnSpPr>
            <a:stCxn id="1287" idx="2"/>
            <a:endCxn id="1288" idx="0"/>
          </p:cNvCxnSpPr>
          <p:nvPr/>
        </p:nvCxnSpPr>
        <p:spPr>
          <a:xfrm>
            <a:off x="7175768" y="2624113"/>
            <a:ext cx="0" cy="3204600"/>
          </a:xfrm>
          <a:prstGeom prst="straightConnector1">
            <a:avLst/>
          </a:prstGeom>
          <a:noFill/>
          <a:ln cap="flat" cmpd="sng" w="19050">
            <a:solidFill>
              <a:schemeClr val="accent4"/>
            </a:solidFill>
            <a:prstDash val="dash"/>
            <a:round/>
            <a:headEnd len="med" w="med" type="none"/>
            <a:tailEnd len="med" w="med" type="none"/>
          </a:ln>
        </p:spPr>
      </p:cxnSp>
      <p:sp>
        <p:nvSpPr>
          <p:cNvPr id="1289" name="Google Shape;1289;p74"/>
          <p:cNvSpPr txBox="1"/>
          <p:nvPr>
            <p:ph type="title"/>
          </p:nvPr>
        </p:nvSpPr>
        <p:spPr>
          <a:xfrm>
            <a:off x="673252" y="535597"/>
            <a:ext cx="106620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Managed Data Sources &amp; External Locations</a:t>
            </a:r>
            <a:endParaRPr sz="3600"/>
          </a:p>
        </p:txBody>
      </p:sp>
      <p:grpSp>
        <p:nvGrpSpPr>
          <p:cNvPr id="1290" name="Google Shape;1290;p74"/>
          <p:cNvGrpSpPr/>
          <p:nvPr/>
        </p:nvGrpSpPr>
        <p:grpSpPr>
          <a:xfrm>
            <a:off x="244152" y="4462150"/>
            <a:ext cx="958812" cy="895500"/>
            <a:chOff x="244225" y="4462150"/>
            <a:chExt cx="959100" cy="895500"/>
          </a:xfrm>
        </p:grpSpPr>
        <p:sp>
          <p:nvSpPr>
            <p:cNvPr id="1291" name="Google Shape;1291;p74"/>
            <p:cNvSpPr/>
            <p:nvPr/>
          </p:nvSpPr>
          <p:spPr>
            <a:xfrm>
              <a:off x="244225" y="4462150"/>
              <a:ext cx="959100" cy="895500"/>
            </a:xfrm>
            <a:prstGeom prst="roundRect">
              <a:avLst>
                <a:gd fmla="val 16667" name="adj"/>
              </a:avLst>
            </a:prstGeom>
            <a:solidFill>
              <a:srgbClr val="FFFFFF"/>
            </a:solidFill>
            <a:ln cap="flat" cmpd="sng" w="19050">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User</a:t>
              </a:r>
              <a:endParaRPr sz="1200">
                <a:latin typeface="DM Sans Medium"/>
                <a:ea typeface="DM Sans Medium"/>
                <a:cs typeface="DM Sans Medium"/>
                <a:sym typeface="DM Sans Medium"/>
              </a:endParaRPr>
            </a:p>
          </p:txBody>
        </p:sp>
        <p:pic>
          <p:nvPicPr>
            <p:cNvPr id="1292" name="Google Shape;1292;p74"/>
            <p:cNvPicPr preferRelativeResize="0"/>
            <p:nvPr/>
          </p:nvPicPr>
          <p:blipFill rotWithShape="1">
            <a:blip r:embed="rId3">
              <a:alphaModFix/>
            </a:blip>
            <a:srcRect b="0" l="0" r="0" t="0"/>
            <a:stretch/>
          </p:blipFill>
          <p:spPr>
            <a:xfrm>
              <a:off x="415879" y="4514455"/>
              <a:ext cx="583501" cy="583501"/>
            </a:xfrm>
            <a:prstGeom prst="rect">
              <a:avLst/>
            </a:prstGeom>
            <a:noFill/>
            <a:ln>
              <a:noFill/>
            </a:ln>
          </p:spPr>
        </p:pic>
      </p:grpSp>
      <p:grpSp>
        <p:nvGrpSpPr>
          <p:cNvPr id="1293" name="Google Shape;1293;p74"/>
          <p:cNvGrpSpPr/>
          <p:nvPr/>
        </p:nvGrpSpPr>
        <p:grpSpPr>
          <a:xfrm>
            <a:off x="1628771" y="4311400"/>
            <a:ext cx="1307908" cy="1197000"/>
            <a:chOff x="2439125" y="4311400"/>
            <a:chExt cx="1308300" cy="1197000"/>
          </a:xfrm>
        </p:grpSpPr>
        <p:sp>
          <p:nvSpPr>
            <p:cNvPr id="1294" name="Google Shape;1294;p74"/>
            <p:cNvSpPr/>
            <p:nvPr/>
          </p:nvSpPr>
          <p:spPr>
            <a:xfrm>
              <a:off x="2439125" y="4311400"/>
              <a:ext cx="1308300" cy="11970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Cluster or </a:t>
              </a:r>
              <a:br>
                <a:rPr lang="en" sz="1200">
                  <a:latin typeface="DM Sans Medium"/>
                  <a:ea typeface="DM Sans Medium"/>
                  <a:cs typeface="DM Sans Medium"/>
                  <a:sym typeface="DM Sans Medium"/>
                </a:rPr>
              </a:br>
              <a:r>
                <a:rPr lang="en" sz="1200">
                  <a:latin typeface="DM Sans Medium"/>
                  <a:ea typeface="DM Sans Medium"/>
                  <a:cs typeface="DM Sans Medium"/>
                  <a:sym typeface="DM Sans Medium"/>
                </a:rPr>
                <a:t>SQL warehouse</a:t>
              </a:r>
              <a:endParaRPr sz="1200">
                <a:latin typeface="DM Sans Medium"/>
                <a:ea typeface="DM Sans Medium"/>
                <a:cs typeface="DM Sans Medium"/>
                <a:sym typeface="DM Sans Medium"/>
              </a:endParaRPr>
            </a:p>
          </p:txBody>
        </p:sp>
        <p:pic>
          <p:nvPicPr>
            <p:cNvPr id="1295" name="Google Shape;1295;p74"/>
            <p:cNvPicPr preferRelativeResize="0"/>
            <p:nvPr/>
          </p:nvPicPr>
          <p:blipFill rotWithShape="1">
            <a:blip r:embed="rId4">
              <a:alphaModFix/>
            </a:blip>
            <a:srcRect b="0" l="0" r="0" t="0"/>
            <a:stretch/>
          </p:blipFill>
          <p:spPr>
            <a:xfrm>
              <a:off x="2801526" y="4464801"/>
              <a:ext cx="583354" cy="558287"/>
            </a:xfrm>
            <a:prstGeom prst="rect">
              <a:avLst/>
            </a:prstGeom>
            <a:noFill/>
            <a:ln>
              <a:noFill/>
            </a:ln>
          </p:spPr>
        </p:pic>
      </p:grpSp>
      <p:sp>
        <p:nvSpPr>
          <p:cNvPr id="1296" name="Google Shape;1296;p74"/>
          <p:cNvSpPr/>
          <p:nvPr/>
        </p:nvSpPr>
        <p:spPr>
          <a:xfrm>
            <a:off x="7941013" y="2783925"/>
            <a:ext cx="2374500" cy="3546600"/>
          </a:xfrm>
          <a:prstGeom prst="roundRect">
            <a:avLst>
              <a:gd fmla="val 65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M Sans Medium"/>
                <a:ea typeface="DM Sans Medium"/>
                <a:cs typeface="DM Sans Medium"/>
                <a:sym typeface="DM Sans Medium"/>
              </a:rPr>
              <a:t>Cloud Storage</a:t>
            </a:r>
            <a:br>
              <a:rPr lang="en" sz="1600">
                <a:solidFill>
                  <a:schemeClr val="dk2"/>
                </a:solidFill>
                <a:latin typeface="DM Sans Medium"/>
                <a:ea typeface="DM Sans Medium"/>
                <a:cs typeface="DM Sans Medium"/>
                <a:sym typeface="DM Sans Medium"/>
              </a:rPr>
            </a:br>
            <a:r>
              <a:rPr lang="en">
                <a:solidFill>
                  <a:schemeClr val="dk2"/>
                </a:solidFill>
                <a:latin typeface="DM Sans Medium"/>
                <a:ea typeface="DM Sans Medium"/>
                <a:cs typeface="DM Sans Medium"/>
                <a:sym typeface="DM Sans Medium"/>
              </a:rPr>
              <a:t>(S3, ADLS, GCS) </a:t>
            </a:r>
            <a:endParaRPr baseline="30000">
              <a:solidFill>
                <a:schemeClr val="dk2"/>
              </a:solidFill>
              <a:latin typeface="DM Sans Medium"/>
              <a:ea typeface="DM Sans Medium"/>
              <a:cs typeface="DM Sans Medium"/>
              <a:sym typeface="DM Sans Medium"/>
            </a:endParaRPr>
          </a:p>
        </p:txBody>
      </p:sp>
      <p:sp>
        <p:nvSpPr>
          <p:cNvPr id="1297" name="Google Shape;1297;p74"/>
          <p:cNvSpPr/>
          <p:nvPr/>
        </p:nvSpPr>
        <p:spPr>
          <a:xfrm>
            <a:off x="8180303" y="3686800"/>
            <a:ext cx="1925400" cy="4830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Managed </a:t>
            </a:r>
            <a:br>
              <a:rPr lang="en"/>
            </a:br>
            <a:r>
              <a:rPr lang="en"/>
              <a:t>container / bucket</a:t>
            </a:r>
            <a:endParaRPr/>
          </a:p>
        </p:txBody>
      </p:sp>
      <p:sp>
        <p:nvSpPr>
          <p:cNvPr id="1298" name="Google Shape;1298;p74"/>
          <p:cNvSpPr/>
          <p:nvPr/>
        </p:nvSpPr>
        <p:spPr>
          <a:xfrm>
            <a:off x="8180303" y="4668426"/>
            <a:ext cx="1925400" cy="483000"/>
          </a:xfrm>
          <a:prstGeom prst="roundRect">
            <a:avLst>
              <a:gd fmla="val 16667"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External </a:t>
            </a:r>
            <a:br>
              <a:rPr lang="en"/>
            </a:br>
            <a:r>
              <a:rPr lang="en"/>
              <a:t>container / bucket</a:t>
            </a:r>
            <a:endParaRPr/>
          </a:p>
        </p:txBody>
      </p:sp>
      <p:sp>
        <p:nvSpPr>
          <p:cNvPr id="1299" name="Google Shape;1299;p74"/>
          <p:cNvSpPr/>
          <p:nvPr/>
        </p:nvSpPr>
        <p:spPr>
          <a:xfrm>
            <a:off x="8180303" y="5650050"/>
            <a:ext cx="1925400" cy="483000"/>
          </a:xfrm>
          <a:prstGeom prst="roundRect">
            <a:avLst>
              <a:gd fmla="val 16667"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External </a:t>
            </a:r>
            <a:br>
              <a:rPr lang="en"/>
            </a:br>
            <a:r>
              <a:rPr lang="en"/>
              <a:t>container / bucket</a:t>
            </a:r>
            <a:endParaRPr/>
          </a:p>
        </p:txBody>
      </p:sp>
      <p:sp>
        <p:nvSpPr>
          <p:cNvPr id="1300" name="Google Shape;1300;p74"/>
          <p:cNvSpPr txBox="1"/>
          <p:nvPr/>
        </p:nvSpPr>
        <p:spPr>
          <a:xfrm>
            <a:off x="8450114" y="5165190"/>
            <a:ext cx="138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a:t>
            </a:r>
            <a:endParaRPr b="1"/>
          </a:p>
        </p:txBody>
      </p:sp>
      <p:cxnSp>
        <p:nvCxnSpPr>
          <p:cNvPr id="1301" name="Google Shape;1301;p74"/>
          <p:cNvCxnSpPr>
            <a:stCxn id="1302" idx="3"/>
            <a:endCxn id="1288" idx="2"/>
          </p:cNvCxnSpPr>
          <p:nvPr/>
        </p:nvCxnSpPr>
        <p:spPr>
          <a:xfrm flipH="1" rot="10800000">
            <a:off x="6437939" y="5890321"/>
            <a:ext cx="676200" cy="1200"/>
          </a:xfrm>
          <a:prstGeom prst="curvedConnector3">
            <a:avLst>
              <a:gd fmla="val 50006" name="adj1"/>
            </a:avLst>
          </a:prstGeom>
          <a:noFill/>
          <a:ln cap="flat" cmpd="sng" w="19050">
            <a:solidFill>
              <a:schemeClr val="dk2"/>
            </a:solidFill>
            <a:prstDash val="solid"/>
            <a:round/>
            <a:headEnd len="med" w="med" type="none"/>
            <a:tailEnd len="med" w="med" type="triangle"/>
          </a:ln>
        </p:spPr>
      </p:cxnSp>
      <p:cxnSp>
        <p:nvCxnSpPr>
          <p:cNvPr id="1303" name="Google Shape;1303;p74"/>
          <p:cNvCxnSpPr>
            <a:stCxn id="1304" idx="3"/>
            <a:endCxn id="1305" idx="2"/>
          </p:cNvCxnSpPr>
          <p:nvPr/>
        </p:nvCxnSpPr>
        <p:spPr>
          <a:xfrm flipH="1" rot="10800000">
            <a:off x="6438241" y="4907196"/>
            <a:ext cx="675900" cy="2700"/>
          </a:xfrm>
          <a:prstGeom prst="curvedConnector3">
            <a:avLst>
              <a:gd fmla="val 50006" name="adj1"/>
            </a:avLst>
          </a:prstGeom>
          <a:noFill/>
          <a:ln cap="flat" cmpd="sng" w="19050">
            <a:solidFill>
              <a:schemeClr val="dk2"/>
            </a:solidFill>
            <a:prstDash val="solid"/>
            <a:round/>
            <a:headEnd len="med" w="med" type="none"/>
            <a:tailEnd len="med" w="med" type="triangle"/>
          </a:ln>
        </p:spPr>
      </p:cxnSp>
      <p:sp>
        <p:nvSpPr>
          <p:cNvPr id="1306" name="Google Shape;1306;p74"/>
          <p:cNvSpPr/>
          <p:nvPr/>
        </p:nvSpPr>
        <p:spPr>
          <a:xfrm>
            <a:off x="1928644" y="2040913"/>
            <a:ext cx="1308000" cy="583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Audit log</a:t>
            </a:r>
            <a:endParaRPr sz="1200">
              <a:latin typeface="DM Sans Medium"/>
              <a:ea typeface="DM Sans Medium"/>
              <a:cs typeface="DM Sans Medium"/>
              <a:sym typeface="DM Sans Medium"/>
            </a:endParaRPr>
          </a:p>
        </p:txBody>
      </p:sp>
      <p:cxnSp>
        <p:nvCxnSpPr>
          <p:cNvPr id="1307" name="Google Shape;1307;p74"/>
          <p:cNvCxnSpPr>
            <a:stCxn id="1308" idx="1"/>
            <a:endCxn id="1306" idx="3"/>
          </p:cNvCxnSpPr>
          <p:nvPr/>
        </p:nvCxnSpPr>
        <p:spPr>
          <a:xfrm rot="10800000">
            <a:off x="3236595" y="2332513"/>
            <a:ext cx="178800" cy="0"/>
          </a:xfrm>
          <a:prstGeom prst="straightConnector1">
            <a:avLst/>
          </a:prstGeom>
          <a:noFill/>
          <a:ln cap="flat" cmpd="sng" w="9525">
            <a:solidFill>
              <a:schemeClr val="accent4"/>
            </a:solidFill>
            <a:prstDash val="solid"/>
            <a:round/>
            <a:headEnd len="med" w="med" type="none"/>
            <a:tailEnd len="med" w="med" type="none"/>
          </a:ln>
        </p:spPr>
      </p:cxnSp>
      <p:cxnSp>
        <p:nvCxnSpPr>
          <p:cNvPr id="1309" name="Google Shape;1309;p74"/>
          <p:cNvCxnSpPr>
            <a:stCxn id="1310" idx="2"/>
            <a:endCxn id="1311" idx="2"/>
          </p:cNvCxnSpPr>
          <p:nvPr/>
        </p:nvCxnSpPr>
        <p:spPr>
          <a:xfrm>
            <a:off x="4265875" y="3443325"/>
            <a:ext cx="0" cy="1645500"/>
          </a:xfrm>
          <a:prstGeom prst="straightConnector1">
            <a:avLst/>
          </a:prstGeom>
          <a:noFill/>
          <a:ln cap="flat" cmpd="sng" w="19050">
            <a:solidFill>
              <a:schemeClr val="accent4"/>
            </a:solidFill>
            <a:prstDash val="dash"/>
            <a:round/>
            <a:headEnd len="med" w="med" type="none"/>
            <a:tailEnd len="med" w="med" type="none"/>
          </a:ln>
        </p:spPr>
      </p:cxnSp>
      <p:grpSp>
        <p:nvGrpSpPr>
          <p:cNvPr id="1312" name="Google Shape;1312;p74"/>
          <p:cNvGrpSpPr/>
          <p:nvPr/>
        </p:nvGrpSpPr>
        <p:grpSpPr>
          <a:xfrm>
            <a:off x="3974271" y="4618298"/>
            <a:ext cx="583208" cy="583208"/>
            <a:chOff x="5866775" y="4030465"/>
            <a:chExt cx="372300" cy="372300"/>
          </a:xfrm>
        </p:grpSpPr>
        <p:sp>
          <p:nvSpPr>
            <p:cNvPr id="1313" name="Google Shape;1313;p74"/>
            <p:cNvSpPr/>
            <p:nvPr/>
          </p:nvSpPr>
          <p:spPr>
            <a:xfrm>
              <a:off x="5866775" y="4030465"/>
              <a:ext cx="372300" cy="372300"/>
            </a:xfrm>
            <a:prstGeom prst="ellipse">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chemeClr val="accent4"/>
                </a:solidFill>
              </a:endParaRPr>
            </a:p>
          </p:txBody>
        </p:sp>
        <p:pic>
          <p:nvPicPr>
            <p:cNvPr id="1311" name="Google Shape;1311;p74"/>
            <p:cNvPicPr preferRelativeResize="0"/>
            <p:nvPr/>
          </p:nvPicPr>
          <p:blipFill rotWithShape="1">
            <a:blip r:embed="rId5">
              <a:alphaModFix/>
            </a:blip>
            <a:srcRect b="0" l="0" r="0" t="0"/>
            <a:stretch/>
          </p:blipFill>
          <p:spPr>
            <a:xfrm>
              <a:off x="5922888" y="4070826"/>
              <a:ext cx="260075" cy="260046"/>
            </a:xfrm>
            <a:prstGeom prst="rect">
              <a:avLst/>
            </a:prstGeom>
            <a:noFill/>
            <a:ln>
              <a:noFill/>
            </a:ln>
          </p:spPr>
        </p:pic>
      </p:grpSp>
      <p:cxnSp>
        <p:nvCxnSpPr>
          <p:cNvPr id="1314" name="Google Shape;1314;p74"/>
          <p:cNvCxnSpPr>
            <a:stCxn id="1294" idx="3"/>
            <a:endCxn id="1313" idx="2"/>
          </p:cNvCxnSpPr>
          <p:nvPr/>
        </p:nvCxnSpPr>
        <p:spPr>
          <a:xfrm>
            <a:off x="2936678" y="4909900"/>
            <a:ext cx="1037700" cy="0"/>
          </a:xfrm>
          <a:prstGeom prst="straightConnector1">
            <a:avLst/>
          </a:prstGeom>
          <a:noFill/>
          <a:ln cap="flat" cmpd="sng" w="19050">
            <a:solidFill>
              <a:schemeClr val="dk2"/>
            </a:solidFill>
            <a:prstDash val="solid"/>
            <a:round/>
            <a:headEnd len="med" w="med" type="none"/>
            <a:tailEnd len="med" w="med" type="triangle"/>
          </a:ln>
        </p:spPr>
      </p:cxnSp>
      <p:cxnSp>
        <p:nvCxnSpPr>
          <p:cNvPr id="1315" name="Google Shape;1315;p74"/>
          <p:cNvCxnSpPr>
            <a:stCxn id="1313" idx="6"/>
            <a:endCxn id="1316" idx="1"/>
          </p:cNvCxnSpPr>
          <p:nvPr/>
        </p:nvCxnSpPr>
        <p:spPr>
          <a:xfrm flipH="1" rot="10800000">
            <a:off x="4557479" y="3928302"/>
            <a:ext cx="921600" cy="981600"/>
          </a:xfrm>
          <a:prstGeom prst="curvedConnector3">
            <a:avLst>
              <a:gd fmla="val 50003" name="adj1"/>
            </a:avLst>
          </a:prstGeom>
          <a:noFill/>
          <a:ln cap="flat" cmpd="sng" w="19050">
            <a:solidFill>
              <a:schemeClr val="dk2"/>
            </a:solidFill>
            <a:prstDash val="solid"/>
            <a:round/>
            <a:headEnd len="med" w="med" type="none"/>
            <a:tailEnd len="med" w="med" type="triangle"/>
          </a:ln>
        </p:spPr>
      </p:cxnSp>
      <p:cxnSp>
        <p:nvCxnSpPr>
          <p:cNvPr id="1317" name="Google Shape;1317;p74"/>
          <p:cNvCxnSpPr>
            <a:stCxn id="1313" idx="6"/>
            <a:endCxn id="1302" idx="1"/>
          </p:cNvCxnSpPr>
          <p:nvPr/>
        </p:nvCxnSpPr>
        <p:spPr>
          <a:xfrm>
            <a:off x="4557479" y="4909902"/>
            <a:ext cx="921600" cy="981600"/>
          </a:xfrm>
          <a:prstGeom prst="curvedConnector3">
            <a:avLst>
              <a:gd fmla="val 50003" name="adj1"/>
            </a:avLst>
          </a:prstGeom>
          <a:noFill/>
          <a:ln cap="flat" cmpd="sng" w="19050">
            <a:solidFill>
              <a:schemeClr val="dk2"/>
            </a:solidFill>
            <a:prstDash val="solid"/>
            <a:round/>
            <a:headEnd len="med" w="med" type="none"/>
            <a:tailEnd len="med" w="med" type="triangle"/>
          </a:ln>
        </p:spPr>
      </p:cxnSp>
      <p:cxnSp>
        <p:nvCxnSpPr>
          <p:cNvPr id="1318" name="Google Shape;1318;p74"/>
          <p:cNvCxnSpPr>
            <a:stCxn id="1313" idx="6"/>
            <a:endCxn id="1304" idx="1"/>
          </p:cNvCxnSpPr>
          <p:nvPr/>
        </p:nvCxnSpPr>
        <p:spPr>
          <a:xfrm>
            <a:off x="4557479" y="4909902"/>
            <a:ext cx="921900" cy="0"/>
          </a:xfrm>
          <a:prstGeom prst="straightConnector1">
            <a:avLst/>
          </a:prstGeom>
          <a:noFill/>
          <a:ln cap="flat" cmpd="sng" w="19050">
            <a:solidFill>
              <a:schemeClr val="dk2"/>
            </a:solidFill>
            <a:prstDash val="solid"/>
            <a:round/>
            <a:headEnd len="med" w="med" type="none"/>
            <a:tailEnd len="med" w="med" type="triangle"/>
          </a:ln>
        </p:spPr>
      </p:cxnSp>
      <p:cxnSp>
        <p:nvCxnSpPr>
          <p:cNvPr id="1319" name="Google Shape;1319;p74"/>
          <p:cNvCxnSpPr>
            <a:stCxn id="1291" idx="3"/>
            <a:endCxn id="1294" idx="1"/>
          </p:cNvCxnSpPr>
          <p:nvPr/>
        </p:nvCxnSpPr>
        <p:spPr>
          <a:xfrm>
            <a:off x="1202964" y="4909900"/>
            <a:ext cx="425700" cy="0"/>
          </a:xfrm>
          <a:prstGeom prst="straightConnector1">
            <a:avLst/>
          </a:prstGeom>
          <a:noFill/>
          <a:ln cap="flat" cmpd="sng" w="19050">
            <a:solidFill>
              <a:schemeClr val="dk2"/>
            </a:solidFill>
            <a:prstDash val="solid"/>
            <a:round/>
            <a:headEnd len="med" w="med" type="none"/>
            <a:tailEnd len="med" w="med" type="triangle"/>
          </a:ln>
        </p:spPr>
      </p:cxnSp>
      <p:sp>
        <p:nvSpPr>
          <p:cNvPr id="1287" name="Google Shape;1287;p74"/>
          <p:cNvSpPr/>
          <p:nvPr/>
        </p:nvSpPr>
        <p:spPr>
          <a:xfrm>
            <a:off x="6521768" y="2040913"/>
            <a:ext cx="1308000" cy="583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200">
                <a:latin typeface="DM Sans Medium"/>
                <a:ea typeface="DM Sans Medium"/>
                <a:cs typeface="DM Sans Medium"/>
                <a:sym typeface="DM Sans Medium"/>
              </a:rPr>
              <a:t>External Locations &amp; Credentials</a:t>
            </a:r>
            <a:endParaRPr sz="1200">
              <a:latin typeface="DM Sans Medium"/>
              <a:ea typeface="DM Sans Medium"/>
              <a:cs typeface="DM Sans Medium"/>
              <a:sym typeface="DM Sans Medium"/>
            </a:endParaRPr>
          </a:p>
        </p:txBody>
      </p:sp>
      <p:sp>
        <p:nvSpPr>
          <p:cNvPr id="1305" name="Google Shape;1305;p74"/>
          <p:cNvSpPr/>
          <p:nvPr/>
        </p:nvSpPr>
        <p:spPr>
          <a:xfrm>
            <a:off x="7114120" y="4845425"/>
            <a:ext cx="123300" cy="1233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4"/>
          <p:cNvSpPr/>
          <p:nvPr/>
        </p:nvSpPr>
        <p:spPr>
          <a:xfrm>
            <a:off x="7114120" y="5828770"/>
            <a:ext cx="123300" cy="1233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0" name="Google Shape;1320;p74"/>
          <p:cNvCxnSpPr>
            <a:stCxn id="1308" idx="3"/>
            <a:endCxn id="1287" idx="1"/>
          </p:cNvCxnSpPr>
          <p:nvPr/>
        </p:nvCxnSpPr>
        <p:spPr>
          <a:xfrm>
            <a:off x="5116995" y="2332513"/>
            <a:ext cx="1404900" cy="0"/>
          </a:xfrm>
          <a:prstGeom prst="straightConnector1">
            <a:avLst/>
          </a:prstGeom>
          <a:noFill/>
          <a:ln cap="flat" cmpd="sng" w="9525">
            <a:solidFill>
              <a:schemeClr val="accent4"/>
            </a:solidFill>
            <a:prstDash val="solid"/>
            <a:round/>
            <a:headEnd len="med" w="med" type="none"/>
            <a:tailEnd len="med" w="med" type="none"/>
          </a:ln>
        </p:spPr>
      </p:cxnSp>
      <p:sp>
        <p:nvSpPr>
          <p:cNvPr id="1310" name="Google Shape;1310;p74"/>
          <p:cNvSpPr/>
          <p:nvPr/>
        </p:nvSpPr>
        <p:spPr>
          <a:xfrm>
            <a:off x="3611875" y="2860125"/>
            <a:ext cx="1308000" cy="583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Access Control</a:t>
            </a:r>
            <a:endParaRPr sz="1200">
              <a:latin typeface="DM Sans Medium"/>
              <a:ea typeface="DM Sans Medium"/>
              <a:cs typeface="DM Sans Medium"/>
              <a:sym typeface="DM Sans Medium"/>
            </a:endParaRPr>
          </a:p>
        </p:txBody>
      </p:sp>
      <p:cxnSp>
        <p:nvCxnSpPr>
          <p:cNvPr id="1321" name="Google Shape;1321;p74"/>
          <p:cNvCxnSpPr>
            <a:stCxn id="1310" idx="0"/>
            <a:endCxn id="1308" idx="2"/>
          </p:cNvCxnSpPr>
          <p:nvPr/>
        </p:nvCxnSpPr>
        <p:spPr>
          <a:xfrm flipH="1" rot="10800000">
            <a:off x="4265875" y="2685225"/>
            <a:ext cx="300" cy="174900"/>
          </a:xfrm>
          <a:prstGeom prst="straightConnector1">
            <a:avLst/>
          </a:prstGeom>
          <a:noFill/>
          <a:ln cap="flat" cmpd="sng" w="9525">
            <a:solidFill>
              <a:schemeClr val="accent4"/>
            </a:solidFill>
            <a:prstDash val="solid"/>
            <a:round/>
            <a:headEnd len="med" w="med" type="none"/>
            <a:tailEnd len="med" w="med" type="none"/>
          </a:ln>
        </p:spPr>
      </p:cxnSp>
      <p:grpSp>
        <p:nvGrpSpPr>
          <p:cNvPr id="1322" name="Google Shape;1322;p74"/>
          <p:cNvGrpSpPr/>
          <p:nvPr/>
        </p:nvGrpSpPr>
        <p:grpSpPr>
          <a:xfrm>
            <a:off x="5479126" y="5452771"/>
            <a:ext cx="958812" cy="877500"/>
            <a:chOff x="6319013" y="5452771"/>
            <a:chExt cx="959100" cy="877500"/>
          </a:xfrm>
        </p:grpSpPr>
        <p:sp>
          <p:nvSpPr>
            <p:cNvPr id="1302" name="Google Shape;1302;p74"/>
            <p:cNvSpPr/>
            <p:nvPr/>
          </p:nvSpPr>
          <p:spPr>
            <a:xfrm>
              <a:off x="6319013" y="5452771"/>
              <a:ext cx="9591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rPr lang="en" sz="1200">
                  <a:latin typeface="DM Sans Medium"/>
                  <a:ea typeface="DM Sans Medium"/>
                  <a:cs typeface="DM Sans Medium"/>
                  <a:sym typeface="DM Sans Medium"/>
                </a:rPr>
                <a:t>Files in Cloud Strg</a:t>
              </a:r>
              <a:endParaRPr sz="1200">
                <a:latin typeface="DM Sans Medium"/>
                <a:ea typeface="DM Sans Medium"/>
                <a:cs typeface="DM Sans Medium"/>
                <a:sym typeface="DM Sans Medium"/>
              </a:endParaRPr>
            </a:p>
          </p:txBody>
        </p:sp>
        <p:pic>
          <p:nvPicPr>
            <p:cNvPr id="1323" name="Google Shape;1323;p74"/>
            <p:cNvPicPr preferRelativeResize="0"/>
            <p:nvPr/>
          </p:nvPicPr>
          <p:blipFill rotWithShape="1">
            <a:blip r:embed="rId6">
              <a:alphaModFix/>
            </a:blip>
            <a:srcRect b="-2679" l="0" r="0" t="2679"/>
            <a:stretch/>
          </p:blipFill>
          <p:spPr>
            <a:xfrm>
              <a:off x="6557150" y="5492558"/>
              <a:ext cx="482974" cy="482974"/>
            </a:xfrm>
            <a:prstGeom prst="rect">
              <a:avLst/>
            </a:prstGeom>
            <a:noFill/>
            <a:ln>
              <a:noFill/>
            </a:ln>
          </p:spPr>
        </p:pic>
      </p:grpSp>
      <p:sp>
        <p:nvSpPr>
          <p:cNvPr id="1304" name="Google Shape;1304;p74"/>
          <p:cNvSpPr/>
          <p:nvPr/>
        </p:nvSpPr>
        <p:spPr>
          <a:xfrm>
            <a:off x="5479441" y="4471146"/>
            <a:ext cx="9588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External tables</a:t>
            </a:r>
            <a:endParaRPr sz="1200">
              <a:latin typeface="DM Sans Medium"/>
              <a:ea typeface="DM Sans Medium"/>
              <a:cs typeface="DM Sans Medium"/>
              <a:sym typeface="DM Sans Medium"/>
            </a:endParaRPr>
          </a:p>
        </p:txBody>
      </p:sp>
      <p:pic>
        <p:nvPicPr>
          <p:cNvPr id="1324" name="Google Shape;1324;p74"/>
          <p:cNvPicPr preferRelativeResize="0"/>
          <p:nvPr/>
        </p:nvPicPr>
        <p:blipFill rotWithShape="1">
          <a:blip r:embed="rId7">
            <a:alphaModFix/>
          </a:blip>
          <a:srcRect b="0" l="0" r="0" t="0"/>
          <a:stretch/>
        </p:blipFill>
        <p:spPr>
          <a:xfrm>
            <a:off x="5714739" y="4507582"/>
            <a:ext cx="482730" cy="482730"/>
          </a:xfrm>
          <a:prstGeom prst="rect">
            <a:avLst/>
          </a:prstGeom>
          <a:noFill/>
          <a:ln>
            <a:noFill/>
          </a:ln>
        </p:spPr>
      </p:pic>
      <p:grpSp>
        <p:nvGrpSpPr>
          <p:cNvPr id="1325" name="Google Shape;1325;p74"/>
          <p:cNvGrpSpPr/>
          <p:nvPr/>
        </p:nvGrpSpPr>
        <p:grpSpPr>
          <a:xfrm>
            <a:off x="5479134" y="3489521"/>
            <a:ext cx="958812" cy="877500"/>
            <a:chOff x="6166613" y="3489521"/>
            <a:chExt cx="959100" cy="877500"/>
          </a:xfrm>
        </p:grpSpPr>
        <p:sp>
          <p:nvSpPr>
            <p:cNvPr id="1316" name="Google Shape;1316;p74"/>
            <p:cNvSpPr/>
            <p:nvPr/>
          </p:nvSpPr>
          <p:spPr>
            <a:xfrm>
              <a:off x="6166613" y="3489521"/>
              <a:ext cx="959100" cy="877500"/>
            </a:xfrm>
            <a:prstGeom prst="roundRect">
              <a:avLst>
                <a:gd fmla="val 11052"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Managed tables</a:t>
              </a:r>
              <a:endParaRPr sz="1200">
                <a:latin typeface="DM Sans Medium"/>
                <a:ea typeface="DM Sans Medium"/>
                <a:cs typeface="DM Sans Medium"/>
                <a:sym typeface="DM Sans Medium"/>
              </a:endParaRPr>
            </a:p>
          </p:txBody>
        </p:sp>
        <p:pic>
          <p:nvPicPr>
            <p:cNvPr id="1326" name="Google Shape;1326;p74"/>
            <p:cNvPicPr preferRelativeResize="0"/>
            <p:nvPr/>
          </p:nvPicPr>
          <p:blipFill>
            <a:blip r:embed="rId8">
              <a:alphaModFix/>
            </a:blip>
            <a:stretch>
              <a:fillRect/>
            </a:stretch>
          </p:blipFill>
          <p:spPr>
            <a:xfrm>
              <a:off x="6402973" y="3509595"/>
              <a:ext cx="486375" cy="486375"/>
            </a:xfrm>
            <a:prstGeom prst="rect">
              <a:avLst/>
            </a:prstGeom>
            <a:noFill/>
            <a:ln>
              <a:noFill/>
            </a:ln>
          </p:spPr>
        </p:pic>
      </p:grpSp>
      <p:sp>
        <p:nvSpPr>
          <p:cNvPr id="1327" name="Google Shape;1327;p74"/>
          <p:cNvSpPr txBox="1"/>
          <p:nvPr/>
        </p:nvSpPr>
        <p:spPr>
          <a:xfrm>
            <a:off x="10287851" y="3622125"/>
            <a:ext cx="1667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DM Sans Medium"/>
                <a:ea typeface="DM Sans Medium"/>
                <a:cs typeface="DM Sans Medium"/>
                <a:sym typeface="DM Sans Medium"/>
              </a:rPr>
              <a:t>Managed </a:t>
            </a:r>
            <a:br>
              <a:rPr lang="en">
                <a:solidFill>
                  <a:schemeClr val="accent4"/>
                </a:solidFill>
                <a:latin typeface="DM Sans Medium"/>
                <a:ea typeface="DM Sans Medium"/>
                <a:cs typeface="DM Sans Medium"/>
                <a:sym typeface="DM Sans Medium"/>
              </a:rPr>
            </a:br>
            <a:r>
              <a:rPr lang="en">
                <a:solidFill>
                  <a:schemeClr val="accent4"/>
                </a:solidFill>
                <a:latin typeface="DM Sans Medium"/>
                <a:ea typeface="DM Sans Medium"/>
                <a:cs typeface="DM Sans Medium"/>
                <a:sym typeface="DM Sans Medium"/>
              </a:rPr>
              <a:t>Data Sources</a:t>
            </a:r>
            <a:endParaRPr>
              <a:solidFill>
                <a:schemeClr val="accent4"/>
              </a:solidFill>
              <a:latin typeface="DM Sans Medium"/>
              <a:ea typeface="DM Sans Medium"/>
              <a:cs typeface="DM Sans Medium"/>
              <a:sym typeface="DM Sans Medium"/>
            </a:endParaRPr>
          </a:p>
        </p:txBody>
      </p:sp>
      <p:sp>
        <p:nvSpPr>
          <p:cNvPr id="1328" name="Google Shape;1328;p74"/>
          <p:cNvSpPr txBox="1"/>
          <p:nvPr/>
        </p:nvSpPr>
        <p:spPr>
          <a:xfrm>
            <a:off x="10287851" y="5151425"/>
            <a:ext cx="1667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DM Sans Medium"/>
                <a:ea typeface="DM Sans Medium"/>
                <a:cs typeface="DM Sans Medium"/>
                <a:sym typeface="DM Sans Medium"/>
              </a:rPr>
              <a:t>External Locations</a:t>
            </a:r>
            <a:endParaRPr>
              <a:latin typeface="DM Sans Medium"/>
              <a:ea typeface="DM Sans Medium"/>
              <a:cs typeface="DM Sans Medium"/>
              <a:sym typeface="DM Sans Medium"/>
            </a:endParaRPr>
          </a:p>
        </p:txBody>
      </p:sp>
      <p:sp>
        <p:nvSpPr>
          <p:cNvPr id="1329" name="Google Shape;1329;p74"/>
          <p:cNvSpPr/>
          <p:nvPr/>
        </p:nvSpPr>
        <p:spPr>
          <a:xfrm>
            <a:off x="7101623" y="3855696"/>
            <a:ext cx="135900" cy="18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0" name="Google Shape;1330;p74"/>
          <p:cNvCxnSpPr>
            <a:stCxn id="1316" idx="3"/>
            <a:endCxn id="1297" idx="1"/>
          </p:cNvCxnSpPr>
          <p:nvPr/>
        </p:nvCxnSpPr>
        <p:spPr>
          <a:xfrm>
            <a:off x="6437946" y="3928271"/>
            <a:ext cx="1742400" cy="600"/>
          </a:xfrm>
          <a:prstGeom prst="curvedConnector3">
            <a:avLst>
              <a:gd fmla="val 50001" name="adj1"/>
            </a:avLst>
          </a:prstGeom>
          <a:noFill/>
          <a:ln cap="flat" cmpd="sng" w="19050">
            <a:solidFill>
              <a:schemeClr val="accent4"/>
            </a:solidFill>
            <a:prstDash val="solid"/>
            <a:round/>
            <a:headEnd len="med" w="med" type="none"/>
            <a:tailEnd len="med" w="med" type="triangle"/>
          </a:ln>
        </p:spPr>
      </p:cxnSp>
      <p:cxnSp>
        <p:nvCxnSpPr>
          <p:cNvPr id="1331" name="Google Shape;1331;p74"/>
          <p:cNvCxnSpPr>
            <a:stCxn id="1305" idx="6"/>
            <a:endCxn id="1298" idx="1"/>
          </p:cNvCxnSpPr>
          <p:nvPr/>
        </p:nvCxnSpPr>
        <p:spPr>
          <a:xfrm>
            <a:off x="7237420" y="4907075"/>
            <a:ext cx="942900" cy="3000"/>
          </a:xfrm>
          <a:prstGeom prst="curvedConnector3">
            <a:avLst>
              <a:gd fmla="val 49997" name="adj1"/>
            </a:avLst>
          </a:prstGeom>
          <a:noFill/>
          <a:ln cap="flat" cmpd="sng" w="19050">
            <a:solidFill>
              <a:schemeClr val="dk2"/>
            </a:solidFill>
            <a:prstDash val="solid"/>
            <a:round/>
            <a:headEnd len="med" w="med" type="none"/>
            <a:tailEnd len="med" w="med" type="triangle"/>
          </a:ln>
        </p:spPr>
      </p:cxnSp>
      <p:cxnSp>
        <p:nvCxnSpPr>
          <p:cNvPr id="1332" name="Google Shape;1332;p74"/>
          <p:cNvCxnSpPr>
            <a:stCxn id="1288" idx="6"/>
            <a:endCxn id="1299" idx="1"/>
          </p:cNvCxnSpPr>
          <p:nvPr/>
        </p:nvCxnSpPr>
        <p:spPr>
          <a:xfrm>
            <a:off x="7237420" y="5890420"/>
            <a:ext cx="942900" cy="1200"/>
          </a:xfrm>
          <a:prstGeom prst="curvedConnector3">
            <a:avLst>
              <a:gd fmla="val 49997" name="adj1"/>
            </a:avLst>
          </a:prstGeom>
          <a:noFill/>
          <a:ln cap="flat" cmpd="sng" w="19050">
            <a:solidFill>
              <a:schemeClr val="dk2"/>
            </a:solidFill>
            <a:prstDash val="solid"/>
            <a:round/>
            <a:headEnd len="med" w="med" type="none"/>
            <a:tailEnd len="med" w="med" type="triangle"/>
          </a:ln>
        </p:spPr>
      </p:cxnSp>
      <p:sp>
        <p:nvSpPr>
          <p:cNvPr id="1333" name="Google Shape;1333;p74"/>
          <p:cNvSpPr txBox="1"/>
          <p:nvPr>
            <p:ph idx="12" type="sldNum"/>
          </p:nvPr>
        </p:nvSpPr>
        <p:spPr>
          <a:xfrm>
            <a:off x="10869182" y="6351634"/>
            <a:ext cx="666900" cy="524700"/>
          </a:xfrm>
          <a:prstGeom prst="rect">
            <a:avLst/>
          </a:prstGeom>
        </p:spPr>
        <p:txBody>
          <a:bodyPr anchorCtr="0" anchor="t" bIns="121875" lIns="121875" spcFirstLastPara="1" rIns="121875" wrap="square" tIns="121875">
            <a:normAutofit/>
          </a:bodyPr>
          <a:lstStyle/>
          <a:p>
            <a:pPr indent="0" lvl="0" marL="0" rtl="0" algn="r">
              <a:spcBef>
                <a:spcPts val="0"/>
              </a:spcBef>
              <a:spcAft>
                <a:spcPts val="0"/>
              </a:spcAft>
              <a:buNone/>
            </a:pPr>
            <a:fld id="{00000000-1234-1234-1234-123412341234}" type="slidenum">
              <a:rPr lang="en"/>
              <a:t>‹#›</a:t>
            </a:fld>
            <a:endParaRPr/>
          </a:p>
        </p:txBody>
      </p:sp>
      <p:sp>
        <p:nvSpPr>
          <p:cNvPr id="1308" name="Google Shape;1308;p74"/>
          <p:cNvSpPr/>
          <p:nvPr/>
        </p:nvSpPr>
        <p:spPr>
          <a:xfrm>
            <a:off x="3415395" y="1979713"/>
            <a:ext cx="1701600" cy="7056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lang="en" sz="1600">
                <a:solidFill>
                  <a:srgbClr val="1B3139"/>
                </a:solidFill>
                <a:latin typeface="DM Sans Medium"/>
                <a:ea typeface="DM Sans Medium"/>
                <a:cs typeface="DM Sans Medium"/>
                <a:sym typeface="DM Sans Medium"/>
              </a:rPr>
              <a:t>    Unity </a:t>
            </a:r>
            <a:br>
              <a:rPr lang="en" sz="1600">
                <a:solidFill>
                  <a:srgbClr val="1B3139"/>
                </a:solidFill>
                <a:latin typeface="DM Sans Medium"/>
                <a:ea typeface="DM Sans Medium"/>
                <a:cs typeface="DM Sans Medium"/>
                <a:sym typeface="DM Sans Medium"/>
              </a:rPr>
            </a:br>
            <a:r>
              <a:rPr lang="en" sz="1600">
                <a:solidFill>
                  <a:srgbClr val="1B3139"/>
                </a:solidFill>
                <a:latin typeface="DM Sans Medium"/>
                <a:ea typeface="DM Sans Medium"/>
                <a:cs typeface="DM Sans Medium"/>
                <a:sym typeface="DM Sans Medium"/>
              </a:rPr>
              <a:t>	    Catalog</a:t>
            </a:r>
            <a:endParaRPr sz="1600">
              <a:solidFill>
                <a:srgbClr val="1B3139"/>
              </a:solidFill>
              <a:latin typeface="DM Sans"/>
              <a:ea typeface="DM Sans"/>
              <a:cs typeface="DM Sans"/>
              <a:sym typeface="DM Sans"/>
            </a:endParaRPr>
          </a:p>
        </p:txBody>
      </p:sp>
      <p:sp>
        <p:nvSpPr>
          <p:cNvPr id="1334" name="Google Shape;1334;p74"/>
          <p:cNvSpPr txBox="1"/>
          <p:nvPr>
            <p:ph idx="1" type="subTitle"/>
          </p:nvPr>
        </p:nvSpPr>
        <p:spPr>
          <a:xfrm>
            <a:off x="707458" y="1174700"/>
            <a:ext cx="10814700" cy="583500"/>
          </a:xfrm>
          <a:prstGeom prst="rect">
            <a:avLst/>
          </a:prstGeom>
        </p:spPr>
        <p:txBody>
          <a:bodyPr anchorCtr="0" anchor="t" bIns="121875" lIns="121875" spcFirstLastPara="1" rIns="121875" wrap="square" tIns="121875">
            <a:normAutofit lnSpcReduction="20000"/>
          </a:bodyPr>
          <a:lstStyle/>
          <a:p>
            <a:pPr indent="0" lvl="0" marL="0" rtl="0" algn="l">
              <a:spcBef>
                <a:spcPts val="0"/>
              </a:spcBef>
              <a:spcAft>
                <a:spcPts val="1600"/>
              </a:spcAft>
              <a:buNone/>
            </a:pPr>
            <a:r>
              <a:rPr lang="en" sz="2300">
                <a:solidFill>
                  <a:srgbClr val="1B5162"/>
                </a:solidFill>
                <a:latin typeface="DM Sans"/>
                <a:ea typeface="DM Sans"/>
                <a:cs typeface="DM Sans"/>
                <a:sym typeface="DM Sans"/>
              </a:rPr>
              <a:t>Simplify data access management across clouds</a:t>
            </a:r>
            <a:endParaRPr/>
          </a:p>
        </p:txBody>
      </p:sp>
      <p:pic>
        <p:nvPicPr>
          <p:cNvPr descr="Databricks · GitHub" id="1335" name="Google Shape;1335;p74"/>
          <p:cNvPicPr preferRelativeResize="0"/>
          <p:nvPr/>
        </p:nvPicPr>
        <p:blipFill>
          <a:blip r:embed="rId9">
            <a:alphaModFix/>
          </a:blip>
          <a:stretch>
            <a:fillRect/>
          </a:stretch>
        </p:blipFill>
        <p:spPr>
          <a:xfrm>
            <a:off x="3517246" y="2103916"/>
            <a:ext cx="457086" cy="45708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9" name="Shape 1339"/>
        <p:cNvGrpSpPr/>
        <p:nvPr/>
      </p:nvGrpSpPr>
      <p:grpSpPr>
        <a:xfrm>
          <a:off x="0" y="0"/>
          <a:ext cx="0" cy="0"/>
          <a:chOff x="0" y="0"/>
          <a:chExt cx="0" cy="0"/>
        </a:xfrm>
      </p:grpSpPr>
      <p:sp>
        <p:nvSpPr>
          <p:cNvPr id="1340" name="Google Shape;1340;p75"/>
          <p:cNvSpPr/>
          <p:nvPr/>
        </p:nvSpPr>
        <p:spPr>
          <a:xfrm>
            <a:off x="9779825" y="2981967"/>
            <a:ext cx="1628700" cy="1633800"/>
          </a:xfrm>
          <a:prstGeom prst="roundRect">
            <a:avLst>
              <a:gd fmla="val 774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75"/>
          <p:cNvSpPr/>
          <p:nvPr/>
        </p:nvSpPr>
        <p:spPr>
          <a:xfrm>
            <a:off x="1039675" y="3733810"/>
            <a:ext cx="854400" cy="8049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5"/>
          <p:cNvSpPr/>
          <p:nvPr/>
        </p:nvSpPr>
        <p:spPr>
          <a:xfrm>
            <a:off x="1039675" y="2636013"/>
            <a:ext cx="854400" cy="8049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75"/>
          <p:cNvSpPr/>
          <p:nvPr/>
        </p:nvSpPr>
        <p:spPr>
          <a:xfrm>
            <a:off x="1039675" y="1467183"/>
            <a:ext cx="854400" cy="8049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75"/>
          <p:cNvSpPr/>
          <p:nvPr/>
        </p:nvSpPr>
        <p:spPr>
          <a:xfrm>
            <a:off x="2639275" y="2611975"/>
            <a:ext cx="1342200" cy="846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t" bIns="91425" lIns="0" spcFirstLastPara="1" rIns="0" wrap="square" tIns="91425">
            <a:noAutofit/>
          </a:bodyPr>
          <a:lstStyle/>
          <a:p>
            <a:pPr indent="0" lvl="0" marL="0" rtl="0" algn="ctr">
              <a:spcBef>
                <a:spcPts val="0"/>
              </a:spcBef>
              <a:spcAft>
                <a:spcPts val="0"/>
              </a:spcAft>
              <a:buNone/>
            </a:pPr>
            <a:r>
              <a:rPr lang="en">
                <a:solidFill>
                  <a:schemeClr val="dk1"/>
                </a:solidFill>
                <a:latin typeface="DM Sans Medium"/>
                <a:ea typeface="DM Sans Medium"/>
                <a:cs typeface="DM Sans Medium"/>
                <a:sym typeface="DM Sans Medium"/>
              </a:rPr>
              <a:t>Workspace cluster / SQL </a:t>
            </a:r>
            <a:br>
              <a:rPr lang="en">
                <a:solidFill>
                  <a:schemeClr val="dk1"/>
                </a:solidFill>
                <a:latin typeface="DM Sans Medium"/>
                <a:ea typeface="DM Sans Medium"/>
                <a:cs typeface="DM Sans Medium"/>
                <a:sym typeface="DM Sans Medium"/>
              </a:rPr>
            </a:br>
            <a:r>
              <a:rPr lang="en">
                <a:solidFill>
                  <a:schemeClr val="dk1"/>
                </a:solidFill>
                <a:latin typeface="DM Sans Medium"/>
                <a:ea typeface="DM Sans Medium"/>
                <a:cs typeface="DM Sans Medium"/>
                <a:sym typeface="DM Sans Medium"/>
              </a:rPr>
              <a:t>Warehouse</a:t>
            </a:r>
            <a:endParaRPr sz="1200">
              <a:solidFill>
                <a:schemeClr val="dk1"/>
              </a:solidFill>
              <a:latin typeface="DM Sans"/>
              <a:ea typeface="DM Sans"/>
              <a:cs typeface="DM Sans"/>
              <a:sym typeface="DM Sans"/>
            </a:endParaRPr>
          </a:p>
        </p:txBody>
      </p:sp>
      <p:sp>
        <p:nvSpPr>
          <p:cNvPr id="1345" name="Google Shape;1345;p75"/>
          <p:cNvSpPr txBox="1"/>
          <p:nvPr>
            <p:ph type="title"/>
          </p:nvPr>
        </p:nvSpPr>
        <p:spPr>
          <a:xfrm>
            <a:off x="749433" y="535597"/>
            <a:ext cx="106620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Lineage flow - How it works</a:t>
            </a:r>
            <a:endParaRPr/>
          </a:p>
        </p:txBody>
      </p:sp>
      <p:sp>
        <p:nvSpPr>
          <p:cNvPr id="1346" name="Google Shape;1346;p75"/>
          <p:cNvSpPr txBox="1"/>
          <p:nvPr>
            <p:ph idx="12" type="sldNum"/>
          </p:nvPr>
        </p:nvSpPr>
        <p:spPr>
          <a:xfrm>
            <a:off x="10869182" y="6351634"/>
            <a:ext cx="666900" cy="524700"/>
          </a:xfrm>
          <a:prstGeom prst="rect">
            <a:avLst/>
          </a:prstGeom>
        </p:spPr>
        <p:txBody>
          <a:bodyPr anchorCtr="0" anchor="t" bIns="121875" lIns="121875" spcFirstLastPara="1" rIns="121875" wrap="square" tIns="121875">
            <a:norm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cxnSp>
        <p:nvCxnSpPr>
          <p:cNvPr id="1347" name="Google Shape;1347;p75"/>
          <p:cNvCxnSpPr>
            <a:stCxn id="1343" idx="3"/>
            <a:endCxn id="1344" idx="1"/>
          </p:cNvCxnSpPr>
          <p:nvPr/>
        </p:nvCxnSpPr>
        <p:spPr>
          <a:xfrm>
            <a:off x="1894075" y="1869633"/>
            <a:ext cx="745200" cy="1165500"/>
          </a:xfrm>
          <a:prstGeom prst="curvedConnector3">
            <a:avLst>
              <a:gd fmla="val 50000" name="adj1"/>
            </a:avLst>
          </a:prstGeom>
          <a:noFill/>
          <a:ln cap="flat" cmpd="sng" w="19050">
            <a:solidFill>
              <a:srgbClr val="1B5161"/>
            </a:solidFill>
            <a:prstDash val="solid"/>
            <a:round/>
            <a:headEnd len="med" w="med" type="none"/>
            <a:tailEnd len="med" w="med" type="triangle"/>
          </a:ln>
        </p:spPr>
      </p:cxnSp>
      <p:cxnSp>
        <p:nvCxnSpPr>
          <p:cNvPr id="1348" name="Google Shape;1348;p75"/>
          <p:cNvCxnSpPr>
            <a:stCxn id="1342" idx="3"/>
            <a:endCxn id="1344" idx="1"/>
          </p:cNvCxnSpPr>
          <p:nvPr/>
        </p:nvCxnSpPr>
        <p:spPr>
          <a:xfrm flipH="1" rot="10800000">
            <a:off x="1894075" y="3035163"/>
            <a:ext cx="745200" cy="3300"/>
          </a:xfrm>
          <a:prstGeom prst="curvedConnector3">
            <a:avLst>
              <a:gd fmla="val 50000" name="adj1"/>
            </a:avLst>
          </a:prstGeom>
          <a:noFill/>
          <a:ln cap="flat" cmpd="sng" w="19050">
            <a:solidFill>
              <a:srgbClr val="1B5161"/>
            </a:solidFill>
            <a:prstDash val="solid"/>
            <a:round/>
            <a:headEnd len="med" w="med" type="none"/>
            <a:tailEnd len="med" w="med" type="triangle"/>
          </a:ln>
        </p:spPr>
      </p:cxnSp>
      <p:pic>
        <p:nvPicPr>
          <p:cNvPr id="1349" name="Google Shape;1349;p75"/>
          <p:cNvPicPr preferRelativeResize="0"/>
          <p:nvPr/>
        </p:nvPicPr>
        <p:blipFill rotWithShape="1">
          <a:blip r:embed="rId3">
            <a:alphaModFix/>
          </a:blip>
          <a:srcRect b="0" l="0" r="0" t="0"/>
          <a:stretch/>
        </p:blipFill>
        <p:spPr>
          <a:xfrm>
            <a:off x="1097955" y="2656841"/>
            <a:ext cx="754193" cy="754193"/>
          </a:xfrm>
          <a:prstGeom prst="rect">
            <a:avLst/>
          </a:prstGeom>
          <a:noFill/>
          <a:ln>
            <a:noFill/>
          </a:ln>
        </p:spPr>
      </p:pic>
      <p:sp>
        <p:nvSpPr>
          <p:cNvPr id="1350" name="Google Shape;1350;p75"/>
          <p:cNvSpPr txBox="1"/>
          <p:nvPr/>
        </p:nvSpPr>
        <p:spPr>
          <a:xfrm>
            <a:off x="1139462" y="3393298"/>
            <a:ext cx="754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DM Sans Medium"/>
                <a:ea typeface="DM Sans Medium"/>
                <a:cs typeface="DM Sans Medium"/>
                <a:sym typeface="DM Sans Medium"/>
              </a:rPr>
              <a:t>Ad-hoc  </a:t>
            </a:r>
            <a:endParaRPr sz="1200">
              <a:latin typeface="DM Sans Medium"/>
              <a:ea typeface="DM Sans Medium"/>
              <a:cs typeface="DM Sans Medium"/>
              <a:sym typeface="DM Sans Medium"/>
            </a:endParaRPr>
          </a:p>
        </p:txBody>
      </p:sp>
      <p:pic>
        <p:nvPicPr>
          <p:cNvPr id="1351" name="Google Shape;1351;p75"/>
          <p:cNvPicPr preferRelativeResize="0"/>
          <p:nvPr/>
        </p:nvPicPr>
        <p:blipFill rotWithShape="1">
          <a:blip r:embed="rId4">
            <a:alphaModFix/>
          </a:blip>
          <a:srcRect b="0" l="0" r="0" t="0"/>
          <a:stretch/>
        </p:blipFill>
        <p:spPr>
          <a:xfrm>
            <a:off x="1101599" y="1486403"/>
            <a:ext cx="754191" cy="754191"/>
          </a:xfrm>
          <a:prstGeom prst="rect">
            <a:avLst/>
          </a:prstGeom>
          <a:noFill/>
          <a:ln>
            <a:noFill/>
          </a:ln>
        </p:spPr>
      </p:pic>
      <p:sp>
        <p:nvSpPr>
          <p:cNvPr id="1352" name="Google Shape;1352;p75"/>
          <p:cNvSpPr txBox="1"/>
          <p:nvPr/>
        </p:nvSpPr>
        <p:spPr>
          <a:xfrm>
            <a:off x="941865" y="2235862"/>
            <a:ext cx="1074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DM Sans Medium"/>
                <a:ea typeface="DM Sans Medium"/>
                <a:cs typeface="DM Sans Medium"/>
                <a:sym typeface="DM Sans Medium"/>
              </a:rPr>
              <a:t>ETL / Job</a:t>
            </a:r>
            <a:endParaRPr sz="1200">
              <a:latin typeface="DM Sans Medium"/>
              <a:ea typeface="DM Sans Medium"/>
              <a:cs typeface="DM Sans Medium"/>
              <a:sym typeface="DM Sans Medium"/>
            </a:endParaRPr>
          </a:p>
        </p:txBody>
      </p:sp>
      <p:cxnSp>
        <p:nvCxnSpPr>
          <p:cNvPr id="1353" name="Google Shape;1353;p75"/>
          <p:cNvCxnSpPr>
            <a:stCxn id="1344" idx="3"/>
            <a:endCxn id="1354" idx="1"/>
          </p:cNvCxnSpPr>
          <p:nvPr/>
        </p:nvCxnSpPr>
        <p:spPr>
          <a:xfrm>
            <a:off x="3981475" y="3035275"/>
            <a:ext cx="1062300" cy="2100"/>
          </a:xfrm>
          <a:prstGeom prst="curvedConnector3">
            <a:avLst>
              <a:gd fmla="val 50001" name="adj1"/>
            </a:avLst>
          </a:prstGeom>
          <a:noFill/>
          <a:ln cap="flat" cmpd="sng" w="19050">
            <a:solidFill>
              <a:srgbClr val="1B5161"/>
            </a:solidFill>
            <a:prstDash val="solid"/>
            <a:round/>
            <a:headEnd len="med" w="med" type="none"/>
            <a:tailEnd len="med" w="med" type="triangle"/>
          </a:ln>
        </p:spPr>
      </p:cxnSp>
      <p:cxnSp>
        <p:nvCxnSpPr>
          <p:cNvPr id="1355" name="Google Shape;1355;p75"/>
          <p:cNvCxnSpPr>
            <a:stCxn id="1356" idx="3"/>
            <a:endCxn id="1357" idx="1"/>
          </p:cNvCxnSpPr>
          <p:nvPr/>
        </p:nvCxnSpPr>
        <p:spPr>
          <a:xfrm flipH="1" rot="10800000">
            <a:off x="8790500" y="2030888"/>
            <a:ext cx="1341900" cy="1008300"/>
          </a:xfrm>
          <a:prstGeom prst="curvedConnector3">
            <a:avLst>
              <a:gd fmla="val 50001" name="adj1"/>
            </a:avLst>
          </a:prstGeom>
          <a:noFill/>
          <a:ln cap="flat" cmpd="sng" w="19050">
            <a:solidFill>
              <a:srgbClr val="1B5161"/>
            </a:solidFill>
            <a:prstDash val="solid"/>
            <a:round/>
            <a:headEnd len="med" w="med" type="none"/>
            <a:tailEnd len="med" w="med" type="triangle"/>
          </a:ln>
        </p:spPr>
      </p:cxnSp>
      <p:cxnSp>
        <p:nvCxnSpPr>
          <p:cNvPr id="1358" name="Google Shape;1358;p75"/>
          <p:cNvCxnSpPr>
            <a:stCxn id="1356" idx="3"/>
            <a:endCxn id="1340" idx="1"/>
          </p:cNvCxnSpPr>
          <p:nvPr/>
        </p:nvCxnSpPr>
        <p:spPr>
          <a:xfrm>
            <a:off x="8790500" y="3039188"/>
            <a:ext cx="989400" cy="759600"/>
          </a:xfrm>
          <a:prstGeom prst="curvedConnector3">
            <a:avLst>
              <a:gd fmla="val 49996" name="adj1"/>
            </a:avLst>
          </a:prstGeom>
          <a:noFill/>
          <a:ln cap="flat" cmpd="sng" w="19050">
            <a:solidFill>
              <a:srgbClr val="1B5161"/>
            </a:solidFill>
            <a:prstDash val="solid"/>
            <a:round/>
            <a:headEnd len="med" w="med" type="none"/>
            <a:tailEnd len="med" w="med" type="triangle"/>
          </a:ln>
        </p:spPr>
      </p:cxnSp>
      <p:grpSp>
        <p:nvGrpSpPr>
          <p:cNvPr id="1359" name="Google Shape;1359;p75"/>
          <p:cNvGrpSpPr/>
          <p:nvPr/>
        </p:nvGrpSpPr>
        <p:grpSpPr>
          <a:xfrm>
            <a:off x="10132425" y="1628508"/>
            <a:ext cx="854400" cy="804900"/>
            <a:chOff x="9816675" y="2466708"/>
            <a:chExt cx="854400" cy="804900"/>
          </a:xfrm>
        </p:grpSpPr>
        <p:sp>
          <p:nvSpPr>
            <p:cNvPr id="1357" name="Google Shape;1357;p75"/>
            <p:cNvSpPr/>
            <p:nvPr/>
          </p:nvSpPr>
          <p:spPr>
            <a:xfrm>
              <a:off x="9816675" y="2466708"/>
              <a:ext cx="854400" cy="8049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360" name="Google Shape;1360;p75"/>
            <p:cNvPicPr preferRelativeResize="0"/>
            <p:nvPr/>
          </p:nvPicPr>
          <p:blipFill rotWithShape="1">
            <a:blip r:embed="rId5">
              <a:alphaModFix/>
            </a:blip>
            <a:srcRect b="0" l="0" r="0" t="0"/>
            <a:stretch/>
          </p:blipFill>
          <p:spPr>
            <a:xfrm>
              <a:off x="9846864" y="2477548"/>
              <a:ext cx="794015" cy="794051"/>
            </a:xfrm>
            <a:prstGeom prst="rect">
              <a:avLst/>
            </a:prstGeom>
            <a:noFill/>
            <a:ln>
              <a:noFill/>
            </a:ln>
          </p:spPr>
        </p:pic>
      </p:grpSp>
      <p:cxnSp>
        <p:nvCxnSpPr>
          <p:cNvPr id="1361" name="Google Shape;1361;p75"/>
          <p:cNvCxnSpPr>
            <a:stCxn id="1362" idx="3"/>
            <a:endCxn id="1356" idx="1"/>
          </p:cNvCxnSpPr>
          <p:nvPr/>
        </p:nvCxnSpPr>
        <p:spPr>
          <a:xfrm>
            <a:off x="6323300" y="3035288"/>
            <a:ext cx="1125000" cy="3900"/>
          </a:xfrm>
          <a:prstGeom prst="curvedConnector3">
            <a:avLst>
              <a:gd fmla="val 50000" name="adj1"/>
            </a:avLst>
          </a:prstGeom>
          <a:noFill/>
          <a:ln cap="flat" cmpd="sng" w="19050">
            <a:solidFill>
              <a:srgbClr val="1B5161"/>
            </a:solidFill>
            <a:prstDash val="solid"/>
            <a:round/>
            <a:headEnd len="med" w="med" type="none"/>
            <a:tailEnd len="med" w="med" type="triangle"/>
          </a:ln>
        </p:spPr>
      </p:cxnSp>
      <p:pic>
        <p:nvPicPr>
          <p:cNvPr id="1363" name="Google Shape;1363;p75"/>
          <p:cNvPicPr preferRelativeResize="0"/>
          <p:nvPr/>
        </p:nvPicPr>
        <p:blipFill rotWithShape="1">
          <a:blip r:embed="rId6">
            <a:alphaModFix/>
          </a:blip>
          <a:srcRect b="0" l="0" r="0" t="0"/>
          <a:stretch/>
        </p:blipFill>
        <p:spPr>
          <a:xfrm>
            <a:off x="1061591" y="3764746"/>
            <a:ext cx="813449" cy="751890"/>
          </a:xfrm>
          <a:prstGeom prst="rect">
            <a:avLst/>
          </a:prstGeom>
          <a:noFill/>
          <a:ln>
            <a:noFill/>
          </a:ln>
        </p:spPr>
      </p:pic>
      <p:sp>
        <p:nvSpPr>
          <p:cNvPr id="1364" name="Google Shape;1364;p75"/>
          <p:cNvSpPr txBox="1"/>
          <p:nvPr/>
        </p:nvSpPr>
        <p:spPr>
          <a:xfrm>
            <a:off x="1086621" y="4492753"/>
            <a:ext cx="813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DM Sans Medium"/>
                <a:ea typeface="DM Sans Medium"/>
                <a:cs typeface="DM Sans Medium"/>
                <a:sym typeface="DM Sans Medium"/>
              </a:rPr>
              <a:t>DLT</a:t>
            </a:r>
            <a:endParaRPr sz="1200">
              <a:latin typeface="DM Sans Medium"/>
              <a:ea typeface="DM Sans Medium"/>
              <a:cs typeface="DM Sans Medium"/>
              <a:sym typeface="DM Sans Medium"/>
            </a:endParaRPr>
          </a:p>
        </p:txBody>
      </p:sp>
      <p:cxnSp>
        <p:nvCxnSpPr>
          <p:cNvPr id="1365" name="Google Shape;1365;p75"/>
          <p:cNvCxnSpPr>
            <a:stCxn id="1341" idx="3"/>
            <a:endCxn id="1354" idx="1"/>
          </p:cNvCxnSpPr>
          <p:nvPr/>
        </p:nvCxnSpPr>
        <p:spPr>
          <a:xfrm flipH="1" rot="10800000">
            <a:off x="1894075" y="3037360"/>
            <a:ext cx="3149700" cy="1098900"/>
          </a:xfrm>
          <a:prstGeom prst="curvedConnector3">
            <a:avLst>
              <a:gd fmla="val 64314" name="adj1"/>
            </a:avLst>
          </a:prstGeom>
          <a:noFill/>
          <a:ln cap="flat" cmpd="sng" w="19050">
            <a:solidFill>
              <a:srgbClr val="1B5161"/>
            </a:solidFill>
            <a:prstDash val="solid"/>
            <a:round/>
            <a:headEnd len="med" w="med" type="none"/>
            <a:tailEnd len="med" w="med" type="triangle"/>
          </a:ln>
        </p:spPr>
      </p:cxnSp>
      <p:sp>
        <p:nvSpPr>
          <p:cNvPr id="1366" name="Google Shape;1366;p75"/>
          <p:cNvSpPr txBox="1"/>
          <p:nvPr/>
        </p:nvSpPr>
        <p:spPr>
          <a:xfrm>
            <a:off x="9782320" y="2457847"/>
            <a:ext cx="1554600" cy="4017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200">
                <a:latin typeface="DM Sans"/>
                <a:ea typeface="DM Sans"/>
                <a:cs typeface="DM Sans"/>
                <a:sym typeface="DM Sans"/>
              </a:rPr>
              <a:t>Explore lineage in UI</a:t>
            </a:r>
            <a:endParaRPr sz="1200">
              <a:latin typeface="DM Sans"/>
              <a:ea typeface="DM Sans"/>
              <a:cs typeface="DM Sans"/>
              <a:sym typeface="DM Sans"/>
            </a:endParaRPr>
          </a:p>
        </p:txBody>
      </p:sp>
      <p:sp>
        <p:nvSpPr>
          <p:cNvPr id="1367" name="Google Shape;1367;p75"/>
          <p:cNvSpPr txBox="1"/>
          <p:nvPr/>
        </p:nvSpPr>
        <p:spPr>
          <a:xfrm>
            <a:off x="9787495" y="4614422"/>
            <a:ext cx="1554600" cy="4017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200">
                <a:latin typeface="DM Sans"/>
                <a:ea typeface="DM Sans"/>
                <a:cs typeface="DM Sans"/>
                <a:sym typeface="DM Sans"/>
              </a:rPr>
              <a:t>External Catalogs</a:t>
            </a:r>
            <a:endParaRPr sz="1200">
              <a:latin typeface="DM Sans"/>
              <a:ea typeface="DM Sans"/>
              <a:cs typeface="DM Sans"/>
              <a:sym typeface="DM Sans"/>
            </a:endParaRPr>
          </a:p>
        </p:txBody>
      </p:sp>
      <p:grpSp>
        <p:nvGrpSpPr>
          <p:cNvPr id="1368" name="Google Shape;1368;p75"/>
          <p:cNvGrpSpPr/>
          <p:nvPr/>
        </p:nvGrpSpPr>
        <p:grpSpPr>
          <a:xfrm>
            <a:off x="10627955" y="3528724"/>
            <a:ext cx="801000" cy="923004"/>
            <a:chOff x="10551755" y="4366924"/>
            <a:chExt cx="801000" cy="923004"/>
          </a:xfrm>
        </p:grpSpPr>
        <p:pic>
          <p:nvPicPr>
            <p:cNvPr descr="Azure Purview — Taygan" id="1369" name="Google Shape;1369;p75"/>
            <p:cNvPicPr preferRelativeResize="0"/>
            <p:nvPr/>
          </p:nvPicPr>
          <p:blipFill>
            <a:blip r:embed="rId7">
              <a:alphaModFix/>
            </a:blip>
            <a:stretch>
              <a:fillRect/>
            </a:stretch>
          </p:blipFill>
          <p:spPr>
            <a:xfrm>
              <a:off x="10581650" y="4366924"/>
              <a:ext cx="717600" cy="717600"/>
            </a:xfrm>
            <a:prstGeom prst="rect">
              <a:avLst/>
            </a:prstGeom>
            <a:noFill/>
            <a:ln>
              <a:noFill/>
            </a:ln>
          </p:spPr>
        </p:pic>
        <p:sp>
          <p:nvSpPr>
            <p:cNvPr id="1370" name="Google Shape;1370;p75"/>
            <p:cNvSpPr txBox="1"/>
            <p:nvPr/>
          </p:nvSpPr>
          <p:spPr>
            <a:xfrm>
              <a:off x="10551755" y="4888228"/>
              <a:ext cx="801000" cy="4017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000">
                  <a:latin typeface="DM Sans"/>
                  <a:ea typeface="DM Sans"/>
                  <a:cs typeface="DM Sans"/>
                  <a:sym typeface="DM Sans"/>
                </a:rPr>
                <a:t>Microsoft</a:t>
              </a:r>
              <a:br>
                <a:rPr lang="en" sz="1000">
                  <a:latin typeface="DM Sans"/>
                  <a:ea typeface="DM Sans"/>
                  <a:cs typeface="DM Sans"/>
                  <a:sym typeface="DM Sans"/>
                </a:rPr>
              </a:br>
              <a:r>
                <a:rPr lang="en" sz="1000">
                  <a:latin typeface="DM Sans"/>
                  <a:ea typeface="DM Sans"/>
                  <a:cs typeface="DM Sans"/>
                  <a:sym typeface="DM Sans"/>
                </a:rPr>
                <a:t>Purview</a:t>
              </a:r>
              <a:endParaRPr sz="1000">
                <a:latin typeface="DM Sans"/>
                <a:ea typeface="DM Sans"/>
                <a:cs typeface="DM Sans"/>
                <a:sym typeface="DM Sans"/>
              </a:endParaRPr>
            </a:p>
          </p:txBody>
        </p:sp>
      </p:grpSp>
      <p:grpSp>
        <p:nvGrpSpPr>
          <p:cNvPr id="1371" name="Google Shape;1371;p75"/>
          <p:cNvGrpSpPr/>
          <p:nvPr/>
        </p:nvGrpSpPr>
        <p:grpSpPr>
          <a:xfrm>
            <a:off x="9873704" y="3750499"/>
            <a:ext cx="801000" cy="929829"/>
            <a:chOff x="9797504" y="4360099"/>
            <a:chExt cx="801000" cy="929829"/>
          </a:xfrm>
        </p:grpSpPr>
        <p:pic>
          <p:nvPicPr>
            <p:cNvPr descr="Collibra - Crunchbase Company Profile &amp; Funding" id="1372" name="Google Shape;1372;p75"/>
            <p:cNvPicPr preferRelativeResize="0"/>
            <p:nvPr/>
          </p:nvPicPr>
          <p:blipFill>
            <a:blip r:embed="rId8">
              <a:alphaModFix/>
            </a:blip>
            <a:stretch>
              <a:fillRect/>
            </a:stretch>
          </p:blipFill>
          <p:spPr>
            <a:xfrm>
              <a:off x="9894926" y="4360099"/>
              <a:ext cx="598900" cy="598900"/>
            </a:xfrm>
            <a:prstGeom prst="rect">
              <a:avLst/>
            </a:prstGeom>
            <a:noFill/>
            <a:ln>
              <a:noFill/>
            </a:ln>
          </p:spPr>
        </p:pic>
        <p:sp>
          <p:nvSpPr>
            <p:cNvPr id="1373" name="Google Shape;1373;p75"/>
            <p:cNvSpPr txBox="1"/>
            <p:nvPr/>
          </p:nvSpPr>
          <p:spPr>
            <a:xfrm>
              <a:off x="9797504" y="4888228"/>
              <a:ext cx="801000" cy="4017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000">
                  <a:latin typeface="DM Sans"/>
                  <a:ea typeface="DM Sans"/>
                  <a:cs typeface="DM Sans"/>
                  <a:sym typeface="DM Sans"/>
                </a:rPr>
                <a:t>Collibra</a:t>
              </a:r>
              <a:endParaRPr sz="1000">
                <a:latin typeface="DM Sans"/>
                <a:ea typeface="DM Sans"/>
                <a:cs typeface="DM Sans"/>
                <a:sym typeface="DM Sans"/>
              </a:endParaRPr>
            </a:p>
          </p:txBody>
        </p:sp>
      </p:grpSp>
      <p:grpSp>
        <p:nvGrpSpPr>
          <p:cNvPr id="1374" name="Google Shape;1374;p75"/>
          <p:cNvGrpSpPr/>
          <p:nvPr/>
        </p:nvGrpSpPr>
        <p:grpSpPr>
          <a:xfrm>
            <a:off x="10159131" y="3078699"/>
            <a:ext cx="892180" cy="731141"/>
            <a:chOff x="10159131" y="3764499"/>
            <a:chExt cx="892180" cy="731141"/>
          </a:xfrm>
        </p:grpSpPr>
        <p:pic>
          <p:nvPicPr>
            <p:cNvPr descr="Enterprise Data Catalog Software | Alation" id="1375" name="Google Shape;1375;p75"/>
            <p:cNvPicPr preferRelativeResize="0"/>
            <p:nvPr/>
          </p:nvPicPr>
          <p:blipFill>
            <a:blip r:embed="rId9">
              <a:alphaModFix/>
            </a:blip>
            <a:stretch>
              <a:fillRect/>
            </a:stretch>
          </p:blipFill>
          <p:spPr>
            <a:xfrm>
              <a:off x="10163455" y="3764499"/>
              <a:ext cx="887856" cy="400200"/>
            </a:xfrm>
            <a:prstGeom prst="rect">
              <a:avLst/>
            </a:prstGeom>
            <a:noFill/>
            <a:ln>
              <a:noFill/>
            </a:ln>
          </p:spPr>
        </p:pic>
        <p:sp>
          <p:nvSpPr>
            <p:cNvPr id="1376" name="Google Shape;1376;p75"/>
            <p:cNvSpPr txBox="1"/>
            <p:nvPr/>
          </p:nvSpPr>
          <p:spPr>
            <a:xfrm>
              <a:off x="10159131" y="4093940"/>
              <a:ext cx="801000" cy="4017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000">
                  <a:latin typeface="DM Sans"/>
                  <a:ea typeface="DM Sans"/>
                  <a:cs typeface="DM Sans"/>
                  <a:sym typeface="DM Sans"/>
                </a:rPr>
                <a:t>Alation</a:t>
              </a:r>
              <a:endParaRPr sz="1000">
                <a:latin typeface="DM Sans"/>
                <a:ea typeface="DM Sans"/>
                <a:cs typeface="DM Sans"/>
                <a:sym typeface="DM Sans"/>
              </a:endParaRPr>
            </a:p>
          </p:txBody>
        </p:sp>
      </p:grpSp>
      <p:sp>
        <p:nvSpPr>
          <p:cNvPr id="1354" name="Google Shape;1354;p75"/>
          <p:cNvSpPr/>
          <p:nvPr/>
        </p:nvSpPr>
        <p:spPr>
          <a:xfrm>
            <a:off x="5043788" y="2613950"/>
            <a:ext cx="1342200" cy="846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DM Sans Medium"/>
                <a:ea typeface="DM Sans Medium"/>
                <a:cs typeface="DM Sans Medium"/>
                <a:sym typeface="DM Sans Medium"/>
              </a:rPr>
              <a:t>Lineage service</a:t>
            </a:r>
            <a:endParaRPr sz="1200">
              <a:solidFill>
                <a:schemeClr val="dk1"/>
              </a:solidFill>
              <a:latin typeface="DM Sans"/>
              <a:ea typeface="DM Sans"/>
              <a:cs typeface="DM Sans"/>
              <a:sym typeface="DM Sans"/>
            </a:endParaRPr>
          </a:p>
        </p:txBody>
      </p:sp>
      <p:sp>
        <p:nvSpPr>
          <p:cNvPr id="1356" name="Google Shape;1356;p75"/>
          <p:cNvSpPr/>
          <p:nvPr/>
        </p:nvSpPr>
        <p:spPr>
          <a:xfrm>
            <a:off x="7448300" y="2615888"/>
            <a:ext cx="1342200" cy="846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DM Sans Medium"/>
                <a:ea typeface="DM Sans Medium"/>
                <a:cs typeface="DM Sans Medium"/>
                <a:sym typeface="DM Sans Medium"/>
              </a:rPr>
              <a:t>Table and column lineage</a:t>
            </a:r>
            <a:endParaRPr sz="1200">
              <a:solidFill>
                <a:schemeClr val="dk1"/>
              </a:solidFill>
              <a:latin typeface="DM Sans"/>
              <a:ea typeface="DM Sans"/>
              <a:cs typeface="DM Sans"/>
              <a:sym typeface="DM Sans"/>
            </a:endParaRPr>
          </a:p>
        </p:txBody>
      </p:sp>
      <p:sp>
        <p:nvSpPr>
          <p:cNvPr id="1377" name="Google Shape;1377;p75"/>
          <p:cNvSpPr txBox="1"/>
          <p:nvPr/>
        </p:nvSpPr>
        <p:spPr>
          <a:xfrm>
            <a:off x="987053" y="5017800"/>
            <a:ext cx="3572700" cy="8313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Code (any language) is submitted to a cluster or SQL warehouse or DLT* executes data flow</a:t>
            </a:r>
            <a:endParaRPr>
              <a:solidFill>
                <a:schemeClr val="dk2"/>
              </a:solidFill>
              <a:latin typeface="DM Sans"/>
              <a:ea typeface="DM Sans"/>
              <a:cs typeface="DM Sans"/>
              <a:sym typeface="DM Sans"/>
            </a:endParaRPr>
          </a:p>
        </p:txBody>
      </p:sp>
      <p:sp>
        <p:nvSpPr>
          <p:cNvPr id="1378" name="Google Shape;1378;p75"/>
          <p:cNvSpPr txBox="1"/>
          <p:nvPr/>
        </p:nvSpPr>
        <p:spPr>
          <a:xfrm>
            <a:off x="4888425" y="5017800"/>
            <a:ext cx="3945600" cy="12621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Lineage service analyzes logs emitted from the cluster, and pulls metadata from DLT</a:t>
            </a:r>
            <a:endParaRPr>
              <a:solidFill>
                <a:schemeClr val="dk2"/>
              </a:solidFill>
              <a:latin typeface="DM Sans"/>
              <a:ea typeface="DM Sans"/>
              <a:cs typeface="DM Sans"/>
              <a:sym typeface="DM Sans"/>
            </a:endParaRPr>
          </a:p>
          <a:p>
            <a:pPr indent="-317500" lvl="0" marL="457200" marR="0" rtl="0" algn="l">
              <a:lnSpc>
                <a:spcPct val="100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Assembles column and table level lineage</a:t>
            </a:r>
            <a:endParaRPr>
              <a:solidFill>
                <a:schemeClr val="dk2"/>
              </a:solidFill>
              <a:latin typeface="DM Sans"/>
              <a:ea typeface="DM Sans"/>
              <a:cs typeface="DM Sans"/>
              <a:sym typeface="DM Sans"/>
            </a:endParaRPr>
          </a:p>
        </p:txBody>
      </p:sp>
      <p:sp>
        <p:nvSpPr>
          <p:cNvPr id="1379" name="Google Shape;1379;p75"/>
          <p:cNvSpPr txBox="1"/>
          <p:nvPr/>
        </p:nvSpPr>
        <p:spPr>
          <a:xfrm>
            <a:off x="9009350" y="5017800"/>
            <a:ext cx="3029100" cy="12621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Presented to the end user graphically in Databricks</a:t>
            </a:r>
            <a:endParaRPr>
              <a:solidFill>
                <a:schemeClr val="dk2"/>
              </a:solidFill>
              <a:latin typeface="DM Sans"/>
              <a:ea typeface="DM Sans"/>
              <a:cs typeface="DM Sans"/>
              <a:sym typeface="DM Sans"/>
            </a:endParaRPr>
          </a:p>
          <a:p>
            <a:pPr indent="-317500" lvl="0" marL="457200" marR="0" rtl="0" algn="l">
              <a:lnSpc>
                <a:spcPct val="100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Lineage can be exported via API and imported into other tool</a:t>
            </a:r>
            <a:endParaRPr>
              <a:solidFill>
                <a:schemeClr val="dk2"/>
              </a:solidFill>
              <a:latin typeface="DM Sans"/>
              <a:ea typeface="DM Sans"/>
              <a:cs typeface="DM Sans"/>
              <a:sym typeface="DM Sans"/>
            </a:endParaRPr>
          </a:p>
        </p:txBody>
      </p:sp>
      <p:sp>
        <p:nvSpPr>
          <p:cNvPr id="1380" name="Google Shape;1380;p75"/>
          <p:cNvSpPr txBox="1"/>
          <p:nvPr/>
        </p:nvSpPr>
        <p:spPr>
          <a:xfrm>
            <a:off x="2563084" y="4060050"/>
            <a:ext cx="12024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100">
                <a:solidFill>
                  <a:schemeClr val="dk2"/>
                </a:solidFill>
                <a:latin typeface="Barlow"/>
                <a:ea typeface="Barlow"/>
                <a:cs typeface="Barlow"/>
                <a:sym typeface="Barlow"/>
              </a:rPr>
              <a:t>FY23Q4</a:t>
            </a:r>
            <a:endParaRPr sz="1100">
              <a:solidFill>
                <a:schemeClr val="dk2"/>
              </a:solidFill>
              <a:latin typeface="Barlow"/>
              <a:ea typeface="Barlow"/>
              <a:cs typeface="Barlow"/>
              <a:sym typeface="Barlow"/>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7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Table samples</a:t>
            </a:r>
            <a:endParaRPr/>
          </a:p>
        </p:txBody>
      </p:sp>
      <p:sp>
        <p:nvSpPr>
          <p:cNvPr id="1386" name="Google Shape;1386;p7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graphicFrame>
        <p:nvGraphicFramePr>
          <p:cNvPr id="1387" name="Google Shape;1387;p76"/>
          <p:cNvGraphicFramePr/>
          <p:nvPr/>
        </p:nvGraphicFramePr>
        <p:xfrm>
          <a:off x="749213" y="4364664"/>
          <a:ext cx="3000000" cy="3000000"/>
        </p:xfrm>
        <a:graphic>
          <a:graphicData uri="http://schemas.openxmlformats.org/drawingml/2006/table">
            <a:tbl>
              <a:tblPr bandRow="1" firstRow="1">
                <a:noFill/>
                <a:tableStyleId>{4472D3E9-1960-45D9-88EA-D771365438EB}</a:tableStyleId>
              </a:tblPr>
              <a:tblGrid>
                <a:gridCol w="1779650"/>
                <a:gridCol w="1779650"/>
                <a:gridCol w="1779650"/>
                <a:gridCol w="1779650"/>
                <a:gridCol w="1779650"/>
                <a:gridCol w="1779650"/>
              </a:tblGrid>
              <a:tr h="470925">
                <a:tc>
                  <a:txBody>
                    <a:bodyPr/>
                    <a:lstStyle/>
                    <a:p>
                      <a:pPr indent="0" lvl="0" marL="0" marR="0" rtl="0" algn="l">
                        <a:spcBef>
                          <a:spcPts val="0"/>
                        </a:spcBef>
                        <a:spcAft>
                          <a:spcPts val="0"/>
                        </a:spcAft>
                        <a:buNone/>
                      </a:pPr>
                      <a:r>
                        <a:rPr lang="en" sz="1200">
                          <a:latin typeface="DM Sans"/>
                          <a:ea typeface="DM Sans"/>
                          <a:cs typeface="DM Sans"/>
                          <a:sym typeface="DM Sans"/>
                        </a:rPr>
                        <a:t>Table Header 1</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200">
                          <a:latin typeface="DM Sans"/>
                          <a:ea typeface="DM Sans"/>
                          <a:cs typeface="DM Sans"/>
                          <a:sym typeface="DM Sans"/>
                        </a:rPr>
                        <a:t>Table Header 2</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200">
                          <a:latin typeface="DM Sans"/>
                          <a:ea typeface="DM Sans"/>
                          <a:cs typeface="DM Sans"/>
                          <a:sym typeface="DM Sans"/>
                        </a:rPr>
                        <a:t>Table Header 3</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rtl="0" algn="l">
                        <a:spcBef>
                          <a:spcPts val="0"/>
                        </a:spcBef>
                        <a:spcAft>
                          <a:spcPts val="0"/>
                        </a:spcAft>
                        <a:buNone/>
                      </a:pPr>
                      <a:r>
                        <a:rPr lang="en" sz="1200">
                          <a:latin typeface="DM Sans"/>
                          <a:ea typeface="DM Sans"/>
                          <a:cs typeface="DM Sans"/>
                          <a:sym typeface="DM Sans"/>
                        </a:rPr>
                        <a:t>Table Header 4</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rtl="0" algn="l">
                        <a:spcBef>
                          <a:spcPts val="0"/>
                        </a:spcBef>
                        <a:spcAft>
                          <a:spcPts val="0"/>
                        </a:spcAft>
                        <a:buNone/>
                      </a:pPr>
                      <a:r>
                        <a:rPr lang="en" sz="1200">
                          <a:latin typeface="DM Sans"/>
                          <a:ea typeface="DM Sans"/>
                          <a:cs typeface="DM Sans"/>
                          <a:sym typeface="DM Sans"/>
                        </a:rPr>
                        <a:t>Table Header 5</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rtl="0" algn="l">
                        <a:spcBef>
                          <a:spcPts val="0"/>
                        </a:spcBef>
                        <a:spcAft>
                          <a:spcPts val="0"/>
                        </a:spcAft>
                        <a:buNone/>
                      </a:pPr>
                      <a:r>
                        <a:rPr lang="en" sz="1200">
                          <a:latin typeface="DM Sans"/>
                          <a:ea typeface="DM Sans"/>
                          <a:cs typeface="DM Sans"/>
                          <a:sym typeface="DM Sans"/>
                        </a:rPr>
                        <a:t>Table Header 6</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r>
              <a:tr h="470925">
                <a:tc>
                  <a:txBody>
                    <a:bodyPr/>
                    <a:lstStyle/>
                    <a:p>
                      <a:pPr indent="0" lvl="0" marL="0" marR="0" rtl="0" algn="l">
                        <a:spcBef>
                          <a:spcPts val="0"/>
                        </a:spcBef>
                        <a:spcAft>
                          <a:spcPts val="0"/>
                        </a:spcAft>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r>
              <a:tr h="470925">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r>
              <a:tr h="470925">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r>
            </a:tbl>
          </a:graphicData>
        </a:graphic>
      </p:graphicFrame>
      <p:graphicFrame>
        <p:nvGraphicFramePr>
          <p:cNvPr id="1388" name="Google Shape;1388;p76"/>
          <p:cNvGraphicFramePr/>
          <p:nvPr/>
        </p:nvGraphicFramePr>
        <p:xfrm>
          <a:off x="749213" y="1968364"/>
          <a:ext cx="3000000" cy="3000000"/>
        </p:xfrm>
        <a:graphic>
          <a:graphicData uri="http://schemas.openxmlformats.org/drawingml/2006/table">
            <a:tbl>
              <a:tblPr bandRow="1" firstRow="1">
                <a:noFill/>
                <a:tableStyleId>{4472D3E9-1960-45D9-88EA-D771365438EB}</a:tableStyleId>
              </a:tblPr>
              <a:tblGrid>
                <a:gridCol w="3559300"/>
                <a:gridCol w="3559300"/>
                <a:gridCol w="3559300"/>
              </a:tblGrid>
              <a:tr h="470925">
                <a:tc>
                  <a:txBody>
                    <a:bodyPr/>
                    <a:lstStyle/>
                    <a:p>
                      <a:pPr indent="0" lvl="0" marL="0" marR="0" rtl="0" algn="l">
                        <a:spcBef>
                          <a:spcPts val="0"/>
                        </a:spcBef>
                        <a:spcAft>
                          <a:spcPts val="0"/>
                        </a:spcAft>
                        <a:buNone/>
                      </a:pPr>
                      <a:r>
                        <a:rPr lang="en" sz="1600">
                          <a:latin typeface="DM Sans"/>
                          <a:ea typeface="DM Sans"/>
                          <a:cs typeface="DM Sans"/>
                          <a:sym typeface="DM Sans"/>
                        </a:rPr>
                        <a:t>Table Header 1</a:t>
                      </a:r>
                      <a:endParaRPr sz="16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600">
                          <a:latin typeface="DM Sans"/>
                          <a:ea typeface="DM Sans"/>
                          <a:cs typeface="DM Sans"/>
                          <a:sym typeface="DM Sans"/>
                        </a:rPr>
                        <a:t>Table Header 2</a:t>
                      </a:r>
                      <a:endParaRPr sz="16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600">
                          <a:latin typeface="DM Sans"/>
                          <a:ea typeface="DM Sans"/>
                          <a:cs typeface="DM Sans"/>
                          <a:sym typeface="DM Sans"/>
                        </a:rPr>
                        <a:t>Table Header 3</a:t>
                      </a:r>
                      <a:endParaRPr sz="16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1"/>
                    </a:solidFill>
                  </a:tcPr>
                </a:tc>
              </a:tr>
              <a:tr h="470925">
                <a:tc>
                  <a:txBody>
                    <a:bodyPr/>
                    <a:lstStyle/>
                    <a:p>
                      <a:pPr indent="0" lvl="0" marL="0" marR="0" rtl="0" algn="l">
                        <a:spcBef>
                          <a:spcPts val="0"/>
                        </a:spcBef>
                        <a:spcAft>
                          <a:spcPts val="0"/>
                        </a:spcAft>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r>
              <a:tr h="470925">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a:t>
                      </a:r>
                      <a:r>
                        <a:rPr lang="en" sz="1600">
                          <a:solidFill>
                            <a:schemeClr val="dk1"/>
                          </a:solidFill>
                          <a:latin typeface="DM Sans"/>
                          <a:ea typeface="DM Sans"/>
                          <a:cs typeface="DM Sans"/>
                          <a:sym typeface="DM Sans"/>
                        </a:rPr>
                        <a:t>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r>
              <a:tr h="470925">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7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Timeline style one</a:t>
            </a:r>
            <a:endParaRPr/>
          </a:p>
        </p:txBody>
      </p:sp>
      <p:sp>
        <p:nvSpPr>
          <p:cNvPr id="1394" name="Google Shape;1394;p7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395" name="Google Shape;1395;p77"/>
          <p:cNvSpPr/>
          <p:nvPr/>
        </p:nvSpPr>
        <p:spPr>
          <a:xfrm>
            <a:off x="8880078" y="1980800"/>
            <a:ext cx="2558100" cy="282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D</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396" name="Google Shape;1396;p77"/>
          <p:cNvCxnSpPr/>
          <p:nvPr/>
        </p:nvCxnSpPr>
        <p:spPr>
          <a:xfrm>
            <a:off x="782571" y="5698872"/>
            <a:ext cx="10644600" cy="0"/>
          </a:xfrm>
          <a:prstGeom prst="straightConnector1">
            <a:avLst/>
          </a:prstGeom>
          <a:noFill/>
          <a:ln cap="flat" cmpd="sng" w="9525">
            <a:solidFill>
              <a:srgbClr val="C4CCD6"/>
            </a:solidFill>
            <a:prstDash val="solid"/>
            <a:round/>
            <a:headEnd len="med" w="med" type="none"/>
            <a:tailEnd len="med" w="med" type="triangle"/>
          </a:ln>
        </p:spPr>
      </p:cxnSp>
      <p:cxnSp>
        <p:nvCxnSpPr>
          <p:cNvPr id="1397" name="Google Shape;1397;p77"/>
          <p:cNvCxnSpPr>
            <a:stCxn id="1395" idx="2"/>
          </p:cNvCxnSpPr>
          <p:nvPr/>
        </p:nvCxnSpPr>
        <p:spPr>
          <a:xfrm>
            <a:off x="10159128" y="4809200"/>
            <a:ext cx="0" cy="925200"/>
          </a:xfrm>
          <a:prstGeom prst="straightConnector1">
            <a:avLst/>
          </a:prstGeom>
          <a:noFill/>
          <a:ln cap="flat" cmpd="sng" w="9525">
            <a:solidFill>
              <a:schemeClr val="accent1"/>
            </a:solidFill>
            <a:prstDash val="solid"/>
            <a:round/>
            <a:headEnd len="med" w="med" type="none"/>
            <a:tailEnd len="med" w="med" type="oval"/>
          </a:ln>
        </p:spPr>
      </p:cxnSp>
      <p:sp>
        <p:nvSpPr>
          <p:cNvPr id="1398" name="Google Shape;1398;p77"/>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Your subtitle here</a:t>
            </a:r>
            <a:endParaRPr/>
          </a:p>
        </p:txBody>
      </p:sp>
      <p:sp>
        <p:nvSpPr>
          <p:cNvPr id="1399" name="Google Shape;1399;p77"/>
          <p:cNvSpPr txBox="1"/>
          <p:nvPr/>
        </p:nvSpPr>
        <p:spPr>
          <a:xfrm>
            <a:off x="762009" y="5883933"/>
            <a:ext cx="2558100" cy="524700"/>
          </a:xfrm>
          <a:prstGeom prst="rect">
            <a:avLst/>
          </a:prstGeom>
          <a:noFill/>
          <a:ln>
            <a:noFill/>
          </a:ln>
        </p:spPr>
        <p:txBody>
          <a:bodyPr anchorCtr="0" anchor="t" bIns="121875" lIns="121875" spcFirstLastPara="1" rIns="121875" wrap="square" tIns="121875">
            <a:noAutofit/>
          </a:bodyPr>
          <a:lstStyle/>
          <a:p>
            <a:pPr indent="0" lvl="0" marL="0" rtl="0" algn="ctr">
              <a:spcBef>
                <a:spcPts val="0"/>
              </a:spcBef>
              <a:spcAft>
                <a:spcPts val="0"/>
              </a:spcAft>
              <a:buNone/>
            </a:pPr>
            <a:r>
              <a:rPr lang="en" sz="1600">
                <a:solidFill>
                  <a:schemeClr val="dk1"/>
                </a:solidFill>
                <a:latin typeface="DM Sans"/>
                <a:ea typeface="DM Sans"/>
                <a:cs typeface="DM Sans"/>
                <a:sym typeface="DM Sans"/>
              </a:rPr>
              <a:t>Date or time</a:t>
            </a:r>
            <a:endParaRPr sz="1600">
              <a:solidFill>
                <a:schemeClr val="dk1"/>
              </a:solidFill>
              <a:latin typeface="DM Sans"/>
              <a:ea typeface="DM Sans"/>
              <a:cs typeface="DM Sans"/>
              <a:sym typeface="DM Sans"/>
            </a:endParaRPr>
          </a:p>
        </p:txBody>
      </p:sp>
      <p:sp>
        <p:nvSpPr>
          <p:cNvPr id="1400" name="Google Shape;1400;p77"/>
          <p:cNvSpPr txBox="1"/>
          <p:nvPr/>
        </p:nvSpPr>
        <p:spPr>
          <a:xfrm>
            <a:off x="3468032" y="5883933"/>
            <a:ext cx="2558100" cy="524700"/>
          </a:xfrm>
          <a:prstGeom prst="rect">
            <a:avLst/>
          </a:prstGeom>
          <a:noFill/>
          <a:ln>
            <a:noFill/>
          </a:ln>
        </p:spPr>
        <p:txBody>
          <a:bodyPr anchorCtr="0" anchor="t" bIns="121875" lIns="121875" spcFirstLastPara="1" rIns="121875" wrap="square" tIns="121875">
            <a:noAutofit/>
          </a:bodyPr>
          <a:lstStyle/>
          <a:p>
            <a:pPr indent="0" lvl="0" marL="0" rtl="0" algn="ctr">
              <a:spcBef>
                <a:spcPts val="0"/>
              </a:spcBef>
              <a:spcAft>
                <a:spcPts val="0"/>
              </a:spcAft>
              <a:buNone/>
            </a:pPr>
            <a:r>
              <a:rPr lang="en" sz="1600">
                <a:solidFill>
                  <a:schemeClr val="dk1"/>
                </a:solidFill>
                <a:latin typeface="DM Sans"/>
                <a:ea typeface="DM Sans"/>
                <a:cs typeface="DM Sans"/>
                <a:sym typeface="DM Sans"/>
              </a:rPr>
              <a:t>Date or time</a:t>
            </a:r>
            <a:endParaRPr sz="1600">
              <a:solidFill>
                <a:schemeClr val="dk1"/>
              </a:solidFill>
              <a:latin typeface="DM Sans"/>
              <a:ea typeface="DM Sans"/>
              <a:cs typeface="DM Sans"/>
              <a:sym typeface="DM Sans"/>
            </a:endParaRPr>
          </a:p>
        </p:txBody>
      </p:sp>
      <p:sp>
        <p:nvSpPr>
          <p:cNvPr id="1401" name="Google Shape;1401;p77"/>
          <p:cNvSpPr txBox="1"/>
          <p:nvPr/>
        </p:nvSpPr>
        <p:spPr>
          <a:xfrm>
            <a:off x="6174055" y="5883933"/>
            <a:ext cx="2558100" cy="524700"/>
          </a:xfrm>
          <a:prstGeom prst="rect">
            <a:avLst/>
          </a:prstGeom>
          <a:noFill/>
          <a:ln>
            <a:noFill/>
          </a:ln>
        </p:spPr>
        <p:txBody>
          <a:bodyPr anchorCtr="0" anchor="t" bIns="121875" lIns="121875" spcFirstLastPara="1" rIns="121875" wrap="square" tIns="121875">
            <a:noAutofit/>
          </a:bodyPr>
          <a:lstStyle/>
          <a:p>
            <a:pPr indent="0" lvl="0" marL="0" rtl="0" algn="ctr">
              <a:spcBef>
                <a:spcPts val="0"/>
              </a:spcBef>
              <a:spcAft>
                <a:spcPts val="0"/>
              </a:spcAft>
              <a:buNone/>
            </a:pPr>
            <a:r>
              <a:rPr lang="en" sz="1600">
                <a:solidFill>
                  <a:schemeClr val="dk1"/>
                </a:solidFill>
                <a:latin typeface="DM Sans"/>
                <a:ea typeface="DM Sans"/>
                <a:cs typeface="DM Sans"/>
                <a:sym typeface="DM Sans"/>
              </a:rPr>
              <a:t>Date or time</a:t>
            </a:r>
            <a:endParaRPr sz="1600">
              <a:solidFill>
                <a:schemeClr val="dk1"/>
              </a:solidFill>
              <a:latin typeface="DM Sans"/>
              <a:ea typeface="DM Sans"/>
              <a:cs typeface="DM Sans"/>
              <a:sym typeface="DM Sans"/>
            </a:endParaRPr>
          </a:p>
        </p:txBody>
      </p:sp>
      <p:sp>
        <p:nvSpPr>
          <p:cNvPr id="1402" name="Google Shape;1402;p77"/>
          <p:cNvSpPr txBox="1"/>
          <p:nvPr/>
        </p:nvSpPr>
        <p:spPr>
          <a:xfrm>
            <a:off x="8880078" y="5883933"/>
            <a:ext cx="2558100" cy="524700"/>
          </a:xfrm>
          <a:prstGeom prst="rect">
            <a:avLst/>
          </a:prstGeom>
          <a:noFill/>
          <a:ln>
            <a:noFill/>
          </a:ln>
        </p:spPr>
        <p:txBody>
          <a:bodyPr anchorCtr="0" anchor="t" bIns="121875" lIns="121875" spcFirstLastPara="1" rIns="121875" wrap="square" tIns="121875">
            <a:noAutofit/>
          </a:bodyPr>
          <a:lstStyle/>
          <a:p>
            <a:pPr indent="0" lvl="0" marL="0" rtl="0" algn="ctr">
              <a:spcBef>
                <a:spcPts val="0"/>
              </a:spcBef>
              <a:spcAft>
                <a:spcPts val="0"/>
              </a:spcAft>
              <a:buNone/>
            </a:pPr>
            <a:r>
              <a:rPr lang="en" sz="1600">
                <a:solidFill>
                  <a:schemeClr val="dk1"/>
                </a:solidFill>
                <a:latin typeface="DM Sans"/>
                <a:ea typeface="DM Sans"/>
                <a:cs typeface="DM Sans"/>
                <a:sym typeface="DM Sans"/>
              </a:rPr>
              <a:t>Date or time</a:t>
            </a:r>
            <a:endParaRPr sz="1600">
              <a:solidFill>
                <a:schemeClr val="dk1"/>
              </a:solidFill>
              <a:latin typeface="DM Sans"/>
              <a:ea typeface="DM Sans"/>
              <a:cs typeface="DM Sans"/>
              <a:sym typeface="DM Sans"/>
            </a:endParaRPr>
          </a:p>
        </p:txBody>
      </p:sp>
      <p:sp>
        <p:nvSpPr>
          <p:cNvPr id="1403" name="Google Shape;1403;p77"/>
          <p:cNvSpPr/>
          <p:nvPr/>
        </p:nvSpPr>
        <p:spPr>
          <a:xfrm>
            <a:off x="6174055" y="1980800"/>
            <a:ext cx="2558100" cy="282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C</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04" name="Google Shape;1404;p77"/>
          <p:cNvCxnSpPr>
            <a:stCxn id="1403" idx="2"/>
          </p:cNvCxnSpPr>
          <p:nvPr/>
        </p:nvCxnSpPr>
        <p:spPr>
          <a:xfrm>
            <a:off x="7453105" y="4809200"/>
            <a:ext cx="0" cy="925200"/>
          </a:xfrm>
          <a:prstGeom prst="straightConnector1">
            <a:avLst/>
          </a:prstGeom>
          <a:noFill/>
          <a:ln cap="flat" cmpd="sng" w="9525">
            <a:solidFill>
              <a:schemeClr val="accent1"/>
            </a:solidFill>
            <a:prstDash val="solid"/>
            <a:round/>
            <a:headEnd len="med" w="med" type="none"/>
            <a:tailEnd len="med" w="med" type="oval"/>
          </a:ln>
        </p:spPr>
      </p:cxnSp>
      <p:sp>
        <p:nvSpPr>
          <p:cNvPr id="1405" name="Google Shape;1405;p77"/>
          <p:cNvSpPr/>
          <p:nvPr/>
        </p:nvSpPr>
        <p:spPr>
          <a:xfrm>
            <a:off x="3468032" y="1980800"/>
            <a:ext cx="2558100" cy="282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B</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06" name="Google Shape;1406;p77"/>
          <p:cNvCxnSpPr>
            <a:stCxn id="1405" idx="2"/>
          </p:cNvCxnSpPr>
          <p:nvPr/>
        </p:nvCxnSpPr>
        <p:spPr>
          <a:xfrm>
            <a:off x="4747082" y="4809200"/>
            <a:ext cx="0" cy="925200"/>
          </a:xfrm>
          <a:prstGeom prst="straightConnector1">
            <a:avLst/>
          </a:prstGeom>
          <a:noFill/>
          <a:ln cap="flat" cmpd="sng" w="9525">
            <a:solidFill>
              <a:schemeClr val="accent1"/>
            </a:solidFill>
            <a:prstDash val="solid"/>
            <a:round/>
            <a:headEnd len="med" w="med" type="none"/>
            <a:tailEnd len="med" w="med" type="oval"/>
          </a:ln>
        </p:spPr>
      </p:cxnSp>
      <p:sp>
        <p:nvSpPr>
          <p:cNvPr id="1407" name="Google Shape;1407;p77"/>
          <p:cNvSpPr/>
          <p:nvPr/>
        </p:nvSpPr>
        <p:spPr>
          <a:xfrm>
            <a:off x="762009" y="1980800"/>
            <a:ext cx="2558100" cy="282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A</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08" name="Google Shape;1408;p77"/>
          <p:cNvCxnSpPr>
            <a:stCxn id="1407" idx="2"/>
          </p:cNvCxnSpPr>
          <p:nvPr/>
        </p:nvCxnSpPr>
        <p:spPr>
          <a:xfrm>
            <a:off x="2041059" y="4809200"/>
            <a:ext cx="0" cy="925200"/>
          </a:xfrm>
          <a:prstGeom prst="straightConnector1">
            <a:avLst/>
          </a:prstGeom>
          <a:noFill/>
          <a:ln cap="flat" cmpd="sng" w="9525">
            <a:solidFill>
              <a:schemeClr val="accent1"/>
            </a:solidFill>
            <a:prstDash val="solid"/>
            <a:round/>
            <a:headEnd len="med" w="med" type="none"/>
            <a:tailEnd len="med" w="med" type="oval"/>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7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Timeline style two</a:t>
            </a:r>
            <a:endParaRPr/>
          </a:p>
        </p:txBody>
      </p:sp>
      <p:sp>
        <p:nvSpPr>
          <p:cNvPr id="1414" name="Google Shape;1414;p7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cxnSp>
        <p:nvCxnSpPr>
          <p:cNvPr id="1415" name="Google Shape;1415;p78"/>
          <p:cNvCxnSpPr/>
          <p:nvPr/>
        </p:nvCxnSpPr>
        <p:spPr>
          <a:xfrm>
            <a:off x="782571" y="3813138"/>
            <a:ext cx="10644600" cy="0"/>
          </a:xfrm>
          <a:prstGeom prst="straightConnector1">
            <a:avLst/>
          </a:prstGeom>
          <a:noFill/>
          <a:ln cap="flat" cmpd="sng" w="9525">
            <a:solidFill>
              <a:srgbClr val="C4CCD6"/>
            </a:solidFill>
            <a:prstDash val="solid"/>
            <a:round/>
            <a:headEnd len="med" w="med" type="none"/>
            <a:tailEnd len="med" w="med" type="triangle"/>
          </a:ln>
        </p:spPr>
      </p:cxnSp>
      <p:sp>
        <p:nvSpPr>
          <p:cNvPr id="1416" name="Google Shape;1416;p78"/>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Your subtitle here</a:t>
            </a:r>
            <a:endParaRPr/>
          </a:p>
        </p:txBody>
      </p:sp>
      <p:sp>
        <p:nvSpPr>
          <p:cNvPr id="1417" name="Google Shape;1417;p78"/>
          <p:cNvSpPr/>
          <p:nvPr/>
        </p:nvSpPr>
        <p:spPr>
          <a:xfrm>
            <a:off x="762009" y="1980800"/>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A</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18" name="Google Shape;1418;p78"/>
          <p:cNvCxnSpPr>
            <a:stCxn id="1417" idx="2"/>
          </p:cNvCxnSpPr>
          <p:nvPr/>
        </p:nvCxnSpPr>
        <p:spPr>
          <a:xfrm>
            <a:off x="2041059" y="3429200"/>
            <a:ext cx="0" cy="422400"/>
          </a:xfrm>
          <a:prstGeom prst="straightConnector1">
            <a:avLst/>
          </a:prstGeom>
          <a:noFill/>
          <a:ln cap="flat" cmpd="sng" w="9525">
            <a:solidFill>
              <a:schemeClr val="accent1"/>
            </a:solidFill>
            <a:prstDash val="solid"/>
            <a:round/>
            <a:headEnd len="med" w="med" type="none"/>
            <a:tailEnd len="med" w="med" type="oval"/>
          </a:ln>
        </p:spPr>
      </p:cxnSp>
      <p:sp>
        <p:nvSpPr>
          <p:cNvPr id="1419" name="Google Shape;1419;p78"/>
          <p:cNvSpPr/>
          <p:nvPr/>
        </p:nvSpPr>
        <p:spPr>
          <a:xfrm>
            <a:off x="2124402" y="4197067"/>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B</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20" name="Google Shape;1420;p78"/>
          <p:cNvCxnSpPr>
            <a:stCxn id="1419" idx="0"/>
          </p:cNvCxnSpPr>
          <p:nvPr/>
        </p:nvCxnSpPr>
        <p:spPr>
          <a:xfrm rot="10800000">
            <a:off x="3403452" y="3789067"/>
            <a:ext cx="0" cy="408000"/>
          </a:xfrm>
          <a:prstGeom prst="straightConnector1">
            <a:avLst/>
          </a:prstGeom>
          <a:noFill/>
          <a:ln cap="flat" cmpd="sng" w="9525">
            <a:solidFill>
              <a:schemeClr val="accent1"/>
            </a:solidFill>
            <a:prstDash val="solid"/>
            <a:round/>
            <a:headEnd len="med" w="med" type="none"/>
            <a:tailEnd len="med" w="med" type="oval"/>
          </a:ln>
        </p:spPr>
      </p:cxnSp>
      <p:sp>
        <p:nvSpPr>
          <p:cNvPr id="1421" name="Google Shape;1421;p78"/>
          <p:cNvSpPr/>
          <p:nvPr/>
        </p:nvSpPr>
        <p:spPr>
          <a:xfrm>
            <a:off x="3468032" y="1980800"/>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C</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22" name="Google Shape;1422;p78"/>
          <p:cNvCxnSpPr>
            <a:stCxn id="1421" idx="2"/>
          </p:cNvCxnSpPr>
          <p:nvPr/>
        </p:nvCxnSpPr>
        <p:spPr>
          <a:xfrm>
            <a:off x="4747082" y="3429200"/>
            <a:ext cx="0" cy="422400"/>
          </a:xfrm>
          <a:prstGeom prst="straightConnector1">
            <a:avLst/>
          </a:prstGeom>
          <a:noFill/>
          <a:ln cap="flat" cmpd="sng" w="9525">
            <a:solidFill>
              <a:schemeClr val="accent1"/>
            </a:solidFill>
            <a:prstDash val="solid"/>
            <a:round/>
            <a:headEnd len="med" w="med" type="none"/>
            <a:tailEnd len="med" w="med" type="oval"/>
          </a:ln>
        </p:spPr>
      </p:cxnSp>
      <p:sp>
        <p:nvSpPr>
          <p:cNvPr id="1423" name="Google Shape;1423;p78"/>
          <p:cNvSpPr/>
          <p:nvPr/>
        </p:nvSpPr>
        <p:spPr>
          <a:xfrm>
            <a:off x="4830425" y="4197067"/>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D</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24" name="Google Shape;1424;p78"/>
          <p:cNvCxnSpPr>
            <a:stCxn id="1423" idx="0"/>
          </p:cNvCxnSpPr>
          <p:nvPr/>
        </p:nvCxnSpPr>
        <p:spPr>
          <a:xfrm rot="10800000">
            <a:off x="6109475" y="3789067"/>
            <a:ext cx="0" cy="408000"/>
          </a:xfrm>
          <a:prstGeom prst="straightConnector1">
            <a:avLst/>
          </a:prstGeom>
          <a:noFill/>
          <a:ln cap="flat" cmpd="sng" w="9525">
            <a:solidFill>
              <a:schemeClr val="accent1"/>
            </a:solidFill>
            <a:prstDash val="solid"/>
            <a:round/>
            <a:headEnd len="med" w="med" type="none"/>
            <a:tailEnd len="med" w="med" type="oval"/>
          </a:ln>
        </p:spPr>
      </p:cxnSp>
      <p:sp>
        <p:nvSpPr>
          <p:cNvPr id="1425" name="Google Shape;1425;p78"/>
          <p:cNvSpPr/>
          <p:nvPr/>
        </p:nvSpPr>
        <p:spPr>
          <a:xfrm>
            <a:off x="6164724" y="1980800"/>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E</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26" name="Google Shape;1426;p78"/>
          <p:cNvCxnSpPr>
            <a:stCxn id="1425" idx="2"/>
          </p:cNvCxnSpPr>
          <p:nvPr/>
        </p:nvCxnSpPr>
        <p:spPr>
          <a:xfrm>
            <a:off x="7443774" y="3429200"/>
            <a:ext cx="0" cy="422400"/>
          </a:xfrm>
          <a:prstGeom prst="straightConnector1">
            <a:avLst/>
          </a:prstGeom>
          <a:noFill/>
          <a:ln cap="flat" cmpd="sng" w="9525">
            <a:solidFill>
              <a:schemeClr val="accent1"/>
            </a:solidFill>
            <a:prstDash val="solid"/>
            <a:round/>
            <a:headEnd len="med" w="med" type="none"/>
            <a:tailEnd len="med" w="med" type="oval"/>
          </a:ln>
        </p:spPr>
      </p:cxnSp>
      <p:sp>
        <p:nvSpPr>
          <p:cNvPr id="1427" name="Google Shape;1427;p78"/>
          <p:cNvSpPr/>
          <p:nvPr/>
        </p:nvSpPr>
        <p:spPr>
          <a:xfrm>
            <a:off x="7527117" y="4197067"/>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F</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1428" name="Google Shape;1428;p78"/>
          <p:cNvCxnSpPr>
            <a:stCxn id="1427" idx="0"/>
          </p:cNvCxnSpPr>
          <p:nvPr/>
        </p:nvCxnSpPr>
        <p:spPr>
          <a:xfrm rot="10800000">
            <a:off x="8806167" y="3789067"/>
            <a:ext cx="0" cy="408000"/>
          </a:xfrm>
          <a:prstGeom prst="straightConnector1">
            <a:avLst/>
          </a:prstGeom>
          <a:noFill/>
          <a:ln cap="flat" cmpd="sng" w="9525">
            <a:solidFill>
              <a:schemeClr val="accent1"/>
            </a:solidFill>
            <a:prstDash val="solid"/>
            <a:round/>
            <a:headEnd len="med" w="med" type="none"/>
            <a:tailEnd len="med" w="med" type="oval"/>
          </a:ln>
        </p:spPr>
      </p:cxnSp>
      <p:sp>
        <p:nvSpPr>
          <p:cNvPr id="1429" name="Google Shape;1429;p78"/>
          <p:cNvSpPr/>
          <p:nvPr/>
        </p:nvSpPr>
        <p:spPr>
          <a:xfrm>
            <a:off x="8868881" y="1980800"/>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G</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7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Timeline style three</a:t>
            </a:r>
            <a:endParaRPr/>
          </a:p>
        </p:txBody>
      </p:sp>
      <p:sp>
        <p:nvSpPr>
          <p:cNvPr id="1435" name="Google Shape;1435;p7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436" name="Google Shape;1436;p79"/>
          <p:cNvSpPr txBox="1"/>
          <p:nvPr>
            <p:ph idx="1" type="subTitle"/>
          </p:nvPr>
        </p:nvSpPr>
        <p:spPr>
          <a:xfrm>
            <a:off x="764809" y="1174702"/>
            <a:ext cx="10659300" cy="583500"/>
          </a:xfrm>
          <a:prstGeom prst="rect">
            <a:avLst/>
          </a:prstGeom>
        </p:spPr>
        <p:txBody>
          <a:bodyPr anchorCtr="0" anchor="t" bIns="121875" lIns="121875" spcFirstLastPara="1" rIns="121875" wrap="square" tIns="121875">
            <a:normAutofit fontScale="92500"/>
          </a:bodyPr>
          <a:lstStyle/>
          <a:p>
            <a:pPr indent="0" lvl="0" marL="0" rtl="0" algn="l">
              <a:spcBef>
                <a:spcPts val="0"/>
              </a:spcBef>
              <a:spcAft>
                <a:spcPts val="1600"/>
              </a:spcAft>
              <a:buNone/>
            </a:pPr>
            <a:r>
              <a:rPr lang="en"/>
              <a:t>Your subtitle here</a:t>
            </a:r>
            <a:endParaRPr/>
          </a:p>
        </p:txBody>
      </p:sp>
      <p:grpSp>
        <p:nvGrpSpPr>
          <p:cNvPr id="1437" name="Google Shape;1437;p79"/>
          <p:cNvGrpSpPr/>
          <p:nvPr/>
        </p:nvGrpSpPr>
        <p:grpSpPr>
          <a:xfrm>
            <a:off x="782571" y="1954056"/>
            <a:ext cx="10644538" cy="4281093"/>
            <a:chOff x="587075" y="1465579"/>
            <a:chExt cx="7985400" cy="3210900"/>
          </a:xfrm>
        </p:grpSpPr>
        <p:cxnSp>
          <p:nvCxnSpPr>
            <p:cNvPr id="1438" name="Google Shape;1438;p79"/>
            <p:cNvCxnSpPr/>
            <p:nvPr/>
          </p:nvCxnSpPr>
          <p:spPr>
            <a:xfrm>
              <a:off x="587075" y="1825829"/>
              <a:ext cx="7985400" cy="0"/>
            </a:xfrm>
            <a:prstGeom prst="straightConnector1">
              <a:avLst/>
            </a:prstGeom>
            <a:noFill/>
            <a:ln cap="flat" cmpd="sng" w="9525">
              <a:solidFill>
                <a:srgbClr val="C4CCD6"/>
              </a:solidFill>
              <a:prstDash val="solid"/>
              <a:round/>
              <a:headEnd len="med" w="med" type="none"/>
              <a:tailEnd len="med" w="med" type="none"/>
            </a:ln>
          </p:spPr>
        </p:cxnSp>
        <p:cxnSp>
          <p:nvCxnSpPr>
            <p:cNvPr id="1439" name="Google Shape;1439;p79"/>
            <p:cNvCxnSpPr/>
            <p:nvPr/>
          </p:nvCxnSpPr>
          <p:spPr>
            <a:xfrm>
              <a:off x="2548425" y="1465579"/>
              <a:ext cx="0" cy="3210900"/>
            </a:xfrm>
            <a:prstGeom prst="straightConnector1">
              <a:avLst/>
            </a:prstGeom>
            <a:noFill/>
            <a:ln cap="flat" cmpd="sng" w="9525">
              <a:solidFill>
                <a:srgbClr val="C4CCD6"/>
              </a:solidFill>
              <a:prstDash val="solid"/>
              <a:round/>
              <a:headEnd len="med" w="med" type="none"/>
              <a:tailEnd len="med" w="med" type="none"/>
            </a:ln>
          </p:spPr>
        </p:cxnSp>
        <p:cxnSp>
          <p:nvCxnSpPr>
            <p:cNvPr id="1440" name="Google Shape;1440;p79"/>
            <p:cNvCxnSpPr/>
            <p:nvPr/>
          </p:nvCxnSpPr>
          <p:spPr>
            <a:xfrm>
              <a:off x="4579775" y="1465579"/>
              <a:ext cx="0" cy="3210900"/>
            </a:xfrm>
            <a:prstGeom prst="straightConnector1">
              <a:avLst/>
            </a:prstGeom>
            <a:noFill/>
            <a:ln cap="flat" cmpd="sng" w="9525">
              <a:solidFill>
                <a:srgbClr val="C4CCD6"/>
              </a:solidFill>
              <a:prstDash val="solid"/>
              <a:round/>
              <a:headEnd len="med" w="med" type="none"/>
              <a:tailEnd len="med" w="med" type="none"/>
            </a:ln>
          </p:spPr>
        </p:cxnSp>
        <p:cxnSp>
          <p:nvCxnSpPr>
            <p:cNvPr id="1441" name="Google Shape;1441;p79"/>
            <p:cNvCxnSpPr/>
            <p:nvPr/>
          </p:nvCxnSpPr>
          <p:spPr>
            <a:xfrm>
              <a:off x="6601150" y="1465579"/>
              <a:ext cx="0" cy="3210900"/>
            </a:xfrm>
            <a:prstGeom prst="straightConnector1">
              <a:avLst/>
            </a:prstGeom>
            <a:noFill/>
            <a:ln cap="flat" cmpd="sng" w="9525">
              <a:solidFill>
                <a:srgbClr val="C4CCD6"/>
              </a:solidFill>
              <a:prstDash val="solid"/>
              <a:round/>
              <a:headEnd len="med" w="med" type="none"/>
              <a:tailEnd len="med" w="med" type="none"/>
            </a:ln>
          </p:spPr>
        </p:cxnSp>
      </p:grpSp>
      <p:sp>
        <p:nvSpPr>
          <p:cNvPr id="1442" name="Google Shape;1442;p79"/>
          <p:cNvSpPr/>
          <p:nvPr/>
        </p:nvSpPr>
        <p:spPr>
          <a:xfrm>
            <a:off x="764809" y="2526167"/>
            <a:ext cx="2555400" cy="382500"/>
          </a:xfrm>
          <a:prstGeom prst="rect">
            <a:avLst/>
          </a:prstGeom>
          <a:solidFill>
            <a:schemeClr val="accent1"/>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rgbClr val="FFFFFF"/>
                </a:solidFill>
                <a:latin typeface="DM Sans"/>
                <a:ea typeface="DM Sans"/>
                <a:cs typeface="DM Sans"/>
                <a:sym typeface="DM Sans"/>
              </a:rPr>
              <a:t>Your gantt chart item</a:t>
            </a:r>
            <a:endParaRPr b="1" sz="1200">
              <a:solidFill>
                <a:srgbClr val="FFFFFF"/>
              </a:solidFill>
              <a:latin typeface="DM Sans"/>
              <a:ea typeface="DM Sans"/>
              <a:cs typeface="DM Sans"/>
              <a:sym typeface="DM Sans"/>
            </a:endParaRPr>
          </a:p>
        </p:txBody>
      </p:sp>
      <p:sp>
        <p:nvSpPr>
          <p:cNvPr id="1443" name="Google Shape;1443;p79"/>
          <p:cNvSpPr txBox="1"/>
          <p:nvPr/>
        </p:nvSpPr>
        <p:spPr>
          <a:xfrm>
            <a:off x="764909" y="2000200"/>
            <a:ext cx="2555400" cy="38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latin typeface="DM Sans"/>
                <a:ea typeface="DM Sans"/>
                <a:cs typeface="DM Sans"/>
                <a:sym typeface="DM Sans"/>
              </a:rPr>
              <a:t>Q1</a:t>
            </a:r>
            <a:endParaRPr b="1" sz="2000">
              <a:latin typeface="DM Sans"/>
              <a:ea typeface="DM Sans"/>
              <a:cs typeface="DM Sans"/>
              <a:sym typeface="DM Sans"/>
            </a:endParaRPr>
          </a:p>
        </p:txBody>
      </p:sp>
      <p:sp>
        <p:nvSpPr>
          <p:cNvPr id="1444" name="Google Shape;1444;p79"/>
          <p:cNvSpPr txBox="1"/>
          <p:nvPr/>
        </p:nvSpPr>
        <p:spPr>
          <a:xfrm>
            <a:off x="3473264" y="2000200"/>
            <a:ext cx="2555400" cy="38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latin typeface="DM Sans"/>
                <a:ea typeface="DM Sans"/>
                <a:cs typeface="DM Sans"/>
                <a:sym typeface="DM Sans"/>
              </a:rPr>
              <a:t>Q2</a:t>
            </a:r>
            <a:endParaRPr b="1" sz="2000">
              <a:latin typeface="DM Sans"/>
              <a:ea typeface="DM Sans"/>
              <a:cs typeface="DM Sans"/>
              <a:sym typeface="DM Sans"/>
            </a:endParaRPr>
          </a:p>
        </p:txBody>
      </p:sp>
      <p:sp>
        <p:nvSpPr>
          <p:cNvPr id="1445" name="Google Shape;1445;p79"/>
          <p:cNvSpPr txBox="1"/>
          <p:nvPr/>
        </p:nvSpPr>
        <p:spPr>
          <a:xfrm>
            <a:off x="6174405" y="2000200"/>
            <a:ext cx="2555400" cy="38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latin typeface="DM Sans"/>
                <a:ea typeface="DM Sans"/>
                <a:cs typeface="DM Sans"/>
                <a:sym typeface="DM Sans"/>
              </a:rPr>
              <a:t>Q3</a:t>
            </a:r>
            <a:endParaRPr b="1" sz="2000">
              <a:latin typeface="DM Sans"/>
              <a:ea typeface="DM Sans"/>
              <a:cs typeface="DM Sans"/>
              <a:sym typeface="DM Sans"/>
            </a:endParaRPr>
          </a:p>
        </p:txBody>
      </p:sp>
      <p:sp>
        <p:nvSpPr>
          <p:cNvPr id="1446" name="Google Shape;1446;p79"/>
          <p:cNvSpPr txBox="1"/>
          <p:nvPr/>
        </p:nvSpPr>
        <p:spPr>
          <a:xfrm>
            <a:off x="8875562" y="2000200"/>
            <a:ext cx="2555400" cy="38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latin typeface="DM Sans"/>
                <a:ea typeface="DM Sans"/>
                <a:cs typeface="DM Sans"/>
                <a:sym typeface="DM Sans"/>
              </a:rPr>
              <a:t>Q4</a:t>
            </a:r>
            <a:endParaRPr b="1" sz="2000">
              <a:latin typeface="DM Sans"/>
              <a:ea typeface="DM Sans"/>
              <a:cs typeface="DM Sans"/>
              <a:sym typeface="DM Sans"/>
            </a:endParaRPr>
          </a:p>
        </p:txBody>
      </p:sp>
      <p:sp>
        <p:nvSpPr>
          <p:cNvPr id="1447" name="Google Shape;1447;p79"/>
          <p:cNvSpPr/>
          <p:nvPr/>
        </p:nvSpPr>
        <p:spPr>
          <a:xfrm>
            <a:off x="764809" y="3000300"/>
            <a:ext cx="5259600" cy="382500"/>
          </a:xfrm>
          <a:prstGeom prst="rect">
            <a:avLst/>
          </a:prstGeom>
          <a:solidFill>
            <a:schemeClr val="accent3"/>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rgbClr val="FFFFFF"/>
                </a:solidFill>
                <a:latin typeface="DM Sans"/>
                <a:ea typeface="DM Sans"/>
                <a:cs typeface="DM Sans"/>
                <a:sym typeface="DM Sans"/>
              </a:rPr>
              <a:t>Your gantt chart item</a:t>
            </a:r>
            <a:endParaRPr b="1" sz="1200">
              <a:solidFill>
                <a:srgbClr val="FFFFFF"/>
              </a:solidFill>
              <a:latin typeface="DM Sans"/>
              <a:ea typeface="DM Sans"/>
              <a:cs typeface="DM Sans"/>
              <a:sym typeface="DM Sans"/>
            </a:endParaRPr>
          </a:p>
        </p:txBody>
      </p:sp>
      <p:sp>
        <p:nvSpPr>
          <p:cNvPr id="1448" name="Google Shape;1448;p79"/>
          <p:cNvSpPr/>
          <p:nvPr/>
        </p:nvSpPr>
        <p:spPr>
          <a:xfrm>
            <a:off x="764809" y="3474433"/>
            <a:ext cx="7956000" cy="382500"/>
          </a:xfrm>
          <a:prstGeom prst="rect">
            <a:avLst/>
          </a:prstGeom>
          <a:solidFill>
            <a:schemeClr val="accent2"/>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rgbClr val="FFFFFF"/>
                </a:solidFill>
                <a:latin typeface="DM Sans"/>
                <a:ea typeface="DM Sans"/>
                <a:cs typeface="DM Sans"/>
                <a:sym typeface="DM Sans"/>
              </a:rPr>
              <a:t>Your gantt chart item</a:t>
            </a:r>
            <a:endParaRPr b="1" sz="1200">
              <a:solidFill>
                <a:srgbClr val="FFFFFF"/>
              </a:solidFill>
              <a:latin typeface="DM Sans"/>
              <a:ea typeface="DM Sans"/>
              <a:cs typeface="DM Sans"/>
              <a:sym typeface="DM Sans"/>
            </a:endParaRPr>
          </a:p>
        </p:txBody>
      </p:sp>
      <p:sp>
        <p:nvSpPr>
          <p:cNvPr id="1449" name="Google Shape;1449;p79"/>
          <p:cNvSpPr/>
          <p:nvPr/>
        </p:nvSpPr>
        <p:spPr>
          <a:xfrm>
            <a:off x="764809" y="3948567"/>
            <a:ext cx="10659300" cy="382500"/>
          </a:xfrm>
          <a:prstGeom prst="rect">
            <a:avLst/>
          </a:prstGeom>
          <a:solidFill>
            <a:schemeClr val="dk1"/>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rgbClr val="FFFFFF"/>
                </a:solidFill>
                <a:latin typeface="DM Sans"/>
                <a:ea typeface="DM Sans"/>
                <a:cs typeface="DM Sans"/>
                <a:sym typeface="DM Sans"/>
              </a:rPr>
              <a:t>Your gantt chart item</a:t>
            </a:r>
            <a:endParaRPr b="1" sz="1200">
              <a:solidFill>
                <a:srgbClr val="FFFFFF"/>
              </a:solidFill>
              <a:latin typeface="DM Sans"/>
              <a:ea typeface="DM Sans"/>
              <a:cs typeface="DM Sans"/>
              <a:sym typeface="DM Sans"/>
            </a:endParaRPr>
          </a:p>
        </p:txBody>
      </p:sp>
      <p:sp>
        <p:nvSpPr>
          <p:cNvPr id="1450" name="Google Shape;1450;p79"/>
          <p:cNvSpPr/>
          <p:nvPr/>
        </p:nvSpPr>
        <p:spPr>
          <a:xfrm>
            <a:off x="1675981" y="4422700"/>
            <a:ext cx="2555400" cy="382500"/>
          </a:xfrm>
          <a:prstGeom prst="rect">
            <a:avLst/>
          </a:prstGeom>
          <a:solidFill>
            <a:srgbClr val="FABFBA"/>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Your gantt chart item</a:t>
            </a:r>
            <a:endParaRPr b="1" sz="1200">
              <a:solidFill>
                <a:schemeClr val="dk1"/>
              </a:solidFill>
              <a:latin typeface="DM Sans"/>
              <a:ea typeface="DM Sans"/>
              <a:cs typeface="DM Sans"/>
              <a:sym typeface="DM Sans"/>
            </a:endParaRPr>
          </a:p>
        </p:txBody>
      </p:sp>
      <p:sp>
        <p:nvSpPr>
          <p:cNvPr id="1451" name="Google Shape;1451;p79"/>
          <p:cNvSpPr/>
          <p:nvPr/>
        </p:nvSpPr>
        <p:spPr>
          <a:xfrm>
            <a:off x="3468449" y="4896833"/>
            <a:ext cx="5259600" cy="382500"/>
          </a:xfrm>
          <a:prstGeom prst="rect">
            <a:avLst/>
          </a:prstGeom>
          <a:solidFill>
            <a:srgbClr val="FFDB96"/>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Your gantt chart item</a:t>
            </a:r>
            <a:endParaRPr b="1" sz="1200">
              <a:solidFill>
                <a:schemeClr val="dk1"/>
              </a:solidFill>
              <a:latin typeface="DM Sans"/>
              <a:ea typeface="DM Sans"/>
              <a:cs typeface="DM Sans"/>
              <a:sym typeface="DM Sans"/>
            </a:endParaRPr>
          </a:p>
        </p:txBody>
      </p:sp>
      <p:sp>
        <p:nvSpPr>
          <p:cNvPr id="1452" name="Google Shape;1452;p79"/>
          <p:cNvSpPr/>
          <p:nvPr/>
        </p:nvSpPr>
        <p:spPr>
          <a:xfrm>
            <a:off x="3468032" y="5370967"/>
            <a:ext cx="7956000" cy="382500"/>
          </a:xfrm>
          <a:prstGeom prst="rect">
            <a:avLst/>
          </a:prstGeom>
          <a:solidFill>
            <a:srgbClr val="9ED6C4"/>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Your gantt chart item</a:t>
            </a:r>
            <a:endParaRPr b="1" sz="1200">
              <a:solidFill>
                <a:schemeClr val="dk1"/>
              </a:solidFill>
              <a:latin typeface="DM Sans"/>
              <a:ea typeface="DM Sans"/>
              <a:cs typeface="DM Sans"/>
              <a:sym typeface="DM Sans"/>
            </a:endParaRPr>
          </a:p>
        </p:txBody>
      </p:sp>
      <p:sp>
        <p:nvSpPr>
          <p:cNvPr id="1453" name="Google Shape;1453;p79"/>
          <p:cNvSpPr/>
          <p:nvPr/>
        </p:nvSpPr>
        <p:spPr>
          <a:xfrm>
            <a:off x="6174405" y="5845100"/>
            <a:ext cx="2555400" cy="382500"/>
          </a:xfrm>
          <a:prstGeom prst="rect">
            <a:avLst/>
          </a:prstGeom>
          <a:solidFill>
            <a:srgbClr val="C4CCD6"/>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Your gantt chart item</a:t>
            </a:r>
            <a:endParaRPr b="1" sz="1200">
              <a:solidFill>
                <a:schemeClr val="dk1"/>
              </a:solidFill>
              <a:latin typeface="DM Sans"/>
              <a:ea typeface="DM Sans"/>
              <a:cs typeface="DM Sans"/>
              <a:sym typeface="DM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8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459" name="Google Shape;1459;p80"/>
          <p:cNvSpPr txBox="1"/>
          <p:nvPr>
            <p:ph type="title"/>
          </p:nvPr>
        </p:nvSpPr>
        <p:spPr>
          <a:xfrm>
            <a:off x="749250" y="1901901"/>
            <a:ext cx="8878200" cy="2448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Docs diagrams</a:t>
            </a:r>
            <a:endParaRPr/>
          </a:p>
        </p:txBody>
      </p:sp>
      <p:sp>
        <p:nvSpPr>
          <p:cNvPr id="1460" name="Google Shape;1460;p80"/>
          <p:cNvSpPr txBox="1"/>
          <p:nvPr>
            <p:ph idx="4294967295" type="subTitle"/>
          </p:nvPr>
        </p:nvSpPr>
        <p:spPr>
          <a:xfrm>
            <a:off x="749250" y="3672575"/>
            <a:ext cx="6170100" cy="824700"/>
          </a:xfrm>
          <a:prstGeom prst="rect">
            <a:avLst/>
          </a:prstGeom>
        </p:spPr>
        <p:txBody>
          <a:bodyPr anchorCtr="0" anchor="t" bIns="121875" lIns="121875" spcFirstLastPara="1" rIns="121875" wrap="square" tIns="121875">
            <a:normAutofit fontScale="77500" lnSpcReduction="20000"/>
          </a:bodyPr>
          <a:lstStyle/>
          <a:p>
            <a:pPr indent="0" lvl="0" marL="0" rtl="0" algn="l">
              <a:spcBef>
                <a:spcPts val="0"/>
              </a:spcBef>
              <a:spcAft>
                <a:spcPts val="1600"/>
              </a:spcAft>
              <a:buNone/>
            </a:pPr>
            <a:r>
              <a:rPr lang="en">
                <a:solidFill>
                  <a:schemeClr val="lt2"/>
                </a:solidFill>
              </a:rPr>
              <a:t>These are diagrams that are actually published in the docs</a:t>
            </a:r>
            <a:endParaRPr>
              <a:solidFill>
                <a:schemeClr val="lt2"/>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81"/>
          <p:cNvSpPr txBox="1"/>
          <p:nvPr>
            <p:ph idx="12" type="sldNum"/>
          </p:nvPr>
        </p:nvSpPr>
        <p:spPr>
          <a:xfrm>
            <a:off x="14793191" y="8631067"/>
            <a:ext cx="432300" cy="248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466" name="Google Shape;1466;p81"/>
          <p:cNvSpPr txBox="1"/>
          <p:nvPr>
            <p:ph type="title"/>
          </p:nvPr>
        </p:nvSpPr>
        <p:spPr>
          <a:xfrm>
            <a:off x="710144" y="160529"/>
            <a:ext cx="14208900" cy="77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4000"/>
              <a:buNone/>
            </a:pPr>
            <a:r>
              <a:rPr lang="en" sz="2000"/>
              <a:t>Unity Catalog complete object model: </a:t>
            </a:r>
            <a:br>
              <a:rPr lang="en" sz="2000"/>
            </a:br>
            <a:r>
              <a:rPr lang="en" sz="1800">
                <a:solidFill>
                  <a:schemeClr val="accent1"/>
                </a:solidFill>
              </a:rPr>
              <a:t>source/_static/images/unity-catalog/object-hierarchy.png</a:t>
            </a:r>
            <a:endParaRPr sz="1800"/>
          </a:p>
        </p:txBody>
      </p:sp>
      <p:cxnSp>
        <p:nvCxnSpPr>
          <p:cNvPr id="1467" name="Google Shape;1467;p81"/>
          <p:cNvCxnSpPr/>
          <p:nvPr/>
        </p:nvCxnSpPr>
        <p:spPr>
          <a:xfrm rot="10800000">
            <a:off x="6701280" y="5217684"/>
            <a:ext cx="0" cy="11700"/>
          </a:xfrm>
          <a:prstGeom prst="straightConnector1">
            <a:avLst/>
          </a:prstGeom>
          <a:noFill/>
          <a:ln cap="flat" cmpd="sng" w="9525">
            <a:solidFill>
              <a:schemeClr val="dk2"/>
            </a:solidFill>
            <a:prstDash val="solid"/>
            <a:round/>
            <a:headEnd len="sm" w="sm" type="none"/>
            <a:tailEnd len="sm" w="sm" type="none"/>
          </a:ln>
        </p:spPr>
      </p:cxnSp>
      <p:sp>
        <p:nvSpPr>
          <p:cNvPr id="1468" name="Google Shape;1468;p81"/>
          <p:cNvSpPr/>
          <p:nvPr/>
        </p:nvSpPr>
        <p:spPr>
          <a:xfrm>
            <a:off x="4974915" y="1901525"/>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u="none" cap="none" strike="noStrike">
                <a:solidFill>
                  <a:srgbClr val="000000"/>
                </a:solidFill>
                <a:latin typeface="DM Sans Medium"/>
                <a:ea typeface="DM Sans Medium"/>
                <a:cs typeface="DM Sans Medium"/>
                <a:sym typeface="DM Sans Medium"/>
              </a:rPr>
              <a:t>Metastore</a:t>
            </a:r>
            <a:endParaRPr b="0" i="0" u="none" cap="none" strike="noStrike">
              <a:solidFill>
                <a:srgbClr val="000000"/>
              </a:solidFill>
              <a:latin typeface="DM Sans Medium"/>
              <a:ea typeface="DM Sans Medium"/>
              <a:cs typeface="DM Sans Medium"/>
              <a:sym typeface="DM Sans Medium"/>
            </a:endParaRPr>
          </a:p>
        </p:txBody>
      </p:sp>
      <p:sp>
        <p:nvSpPr>
          <p:cNvPr id="1469" name="Google Shape;1469;p81"/>
          <p:cNvSpPr/>
          <p:nvPr/>
        </p:nvSpPr>
        <p:spPr>
          <a:xfrm>
            <a:off x="4974935" y="3874262"/>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u="none" cap="none" strike="noStrike">
                <a:solidFill>
                  <a:srgbClr val="000000"/>
                </a:solidFill>
                <a:latin typeface="DM Sans Medium"/>
                <a:ea typeface="DM Sans Medium"/>
                <a:cs typeface="DM Sans Medium"/>
                <a:sym typeface="DM Sans Medium"/>
              </a:rPr>
              <a:t>Schema</a:t>
            </a:r>
            <a:endParaRPr b="0" i="0" u="none" cap="none" strike="noStrike">
              <a:solidFill>
                <a:srgbClr val="000000"/>
              </a:solidFill>
              <a:latin typeface="DM Sans Medium"/>
              <a:ea typeface="DM Sans Medium"/>
              <a:cs typeface="DM Sans Medium"/>
              <a:sym typeface="DM Sans Medium"/>
            </a:endParaRPr>
          </a:p>
        </p:txBody>
      </p:sp>
      <p:cxnSp>
        <p:nvCxnSpPr>
          <p:cNvPr id="1470" name="Google Shape;1470;p81"/>
          <p:cNvCxnSpPr>
            <a:stCxn id="1471" idx="2"/>
            <a:endCxn id="1469" idx="0"/>
          </p:cNvCxnSpPr>
          <p:nvPr/>
        </p:nvCxnSpPr>
        <p:spPr>
          <a:xfrm>
            <a:off x="5507285" y="3456962"/>
            <a:ext cx="0" cy="417300"/>
          </a:xfrm>
          <a:prstGeom prst="straightConnector1">
            <a:avLst/>
          </a:prstGeom>
          <a:noFill/>
          <a:ln cap="flat" cmpd="sng" w="9525">
            <a:solidFill>
              <a:schemeClr val="dk2"/>
            </a:solidFill>
            <a:prstDash val="solid"/>
            <a:round/>
            <a:headEnd len="sm" w="sm" type="none"/>
            <a:tailEnd len="sm" w="sm" type="none"/>
          </a:ln>
        </p:spPr>
      </p:cxnSp>
      <p:sp>
        <p:nvSpPr>
          <p:cNvPr id="1472" name="Google Shape;1472;p81"/>
          <p:cNvSpPr/>
          <p:nvPr/>
        </p:nvSpPr>
        <p:spPr>
          <a:xfrm>
            <a:off x="3145376" y="5017949"/>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Table</a:t>
            </a:r>
            <a:endParaRPr b="0" i="0" u="none" cap="none" strike="noStrike">
              <a:solidFill>
                <a:srgbClr val="000000"/>
              </a:solidFill>
              <a:latin typeface="DM Sans Medium"/>
              <a:ea typeface="DM Sans Medium"/>
              <a:cs typeface="DM Sans Medium"/>
              <a:sym typeface="DM Sans Medium"/>
            </a:endParaRPr>
          </a:p>
        </p:txBody>
      </p:sp>
      <p:cxnSp>
        <p:nvCxnSpPr>
          <p:cNvPr id="1473" name="Google Shape;1473;p81"/>
          <p:cNvCxnSpPr/>
          <p:nvPr/>
        </p:nvCxnSpPr>
        <p:spPr>
          <a:xfrm>
            <a:off x="5507220" y="4462850"/>
            <a:ext cx="0" cy="263100"/>
          </a:xfrm>
          <a:prstGeom prst="straightConnector1">
            <a:avLst/>
          </a:prstGeom>
          <a:noFill/>
          <a:ln cap="flat" cmpd="sng" w="9525">
            <a:solidFill>
              <a:schemeClr val="dk2"/>
            </a:solidFill>
            <a:prstDash val="solid"/>
            <a:round/>
            <a:headEnd len="sm" w="sm" type="none"/>
            <a:tailEnd len="sm" w="sm" type="none"/>
          </a:ln>
        </p:spPr>
      </p:cxnSp>
      <p:cxnSp>
        <p:nvCxnSpPr>
          <p:cNvPr id="1474" name="Google Shape;1474;p81"/>
          <p:cNvCxnSpPr>
            <a:endCxn id="1472" idx="0"/>
          </p:cNvCxnSpPr>
          <p:nvPr/>
        </p:nvCxnSpPr>
        <p:spPr>
          <a:xfrm>
            <a:off x="3677726" y="4719749"/>
            <a:ext cx="0" cy="298200"/>
          </a:xfrm>
          <a:prstGeom prst="straightConnector1">
            <a:avLst/>
          </a:prstGeom>
          <a:noFill/>
          <a:ln cap="flat" cmpd="sng" w="9525">
            <a:solidFill>
              <a:schemeClr val="dk2"/>
            </a:solidFill>
            <a:prstDash val="solid"/>
            <a:round/>
            <a:headEnd len="sm" w="sm" type="none"/>
            <a:tailEnd len="sm" w="sm" type="none"/>
          </a:ln>
        </p:spPr>
      </p:cxnSp>
      <p:sp>
        <p:nvSpPr>
          <p:cNvPr id="1475" name="Google Shape;1475;p81"/>
          <p:cNvSpPr/>
          <p:nvPr/>
        </p:nvSpPr>
        <p:spPr>
          <a:xfrm>
            <a:off x="4365092" y="5017949"/>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View</a:t>
            </a:r>
            <a:endParaRPr b="0" i="0" u="none" cap="none" strike="noStrike">
              <a:solidFill>
                <a:srgbClr val="000000"/>
              </a:solidFill>
              <a:latin typeface="DM Sans Medium"/>
              <a:ea typeface="DM Sans Medium"/>
              <a:cs typeface="DM Sans Medium"/>
              <a:sym typeface="DM Sans Medium"/>
            </a:endParaRPr>
          </a:p>
        </p:txBody>
      </p:sp>
      <p:cxnSp>
        <p:nvCxnSpPr>
          <p:cNvPr id="1476" name="Google Shape;1476;p81"/>
          <p:cNvCxnSpPr>
            <a:endCxn id="1475" idx="0"/>
          </p:cNvCxnSpPr>
          <p:nvPr/>
        </p:nvCxnSpPr>
        <p:spPr>
          <a:xfrm>
            <a:off x="4897442" y="4719749"/>
            <a:ext cx="0" cy="298200"/>
          </a:xfrm>
          <a:prstGeom prst="straightConnector1">
            <a:avLst/>
          </a:prstGeom>
          <a:noFill/>
          <a:ln cap="flat" cmpd="sng" w="9525">
            <a:solidFill>
              <a:schemeClr val="dk2"/>
            </a:solidFill>
            <a:prstDash val="solid"/>
            <a:round/>
            <a:headEnd len="sm" w="sm" type="none"/>
            <a:tailEnd len="sm" w="sm" type="none"/>
          </a:ln>
        </p:spPr>
      </p:cxnSp>
      <p:cxnSp>
        <p:nvCxnSpPr>
          <p:cNvPr id="1477" name="Google Shape;1477;p81"/>
          <p:cNvCxnSpPr/>
          <p:nvPr/>
        </p:nvCxnSpPr>
        <p:spPr>
          <a:xfrm>
            <a:off x="6117121" y="4719687"/>
            <a:ext cx="0" cy="298200"/>
          </a:xfrm>
          <a:prstGeom prst="straightConnector1">
            <a:avLst/>
          </a:prstGeom>
          <a:noFill/>
          <a:ln cap="flat" cmpd="sng" w="9525">
            <a:solidFill>
              <a:schemeClr val="dk2"/>
            </a:solidFill>
            <a:prstDash val="solid"/>
            <a:round/>
            <a:headEnd len="sm" w="sm" type="none"/>
            <a:tailEnd len="sm" w="sm" type="none"/>
          </a:ln>
        </p:spPr>
      </p:cxnSp>
      <p:cxnSp>
        <p:nvCxnSpPr>
          <p:cNvPr id="1478" name="Google Shape;1478;p81"/>
          <p:cNvCxnSpPr/>
          <p:nvPr/>
        </p:nvCxnSpPr>
        <p:spPr>
          <a:xfrm>
            <a:off x="7336837" y="4719687"/>
            <a:ext cx="0" cy="298200"/>
          </a:xfrm>
          <a:prstGeom prst="straightConnector1">
            <a:avLst/>
          </a:prstGeom>
          <a:noFill/>
          <a:ln cap="flat" cmpd="sng" w="9525">
            <a:solidFill>
              <a:schemeClr val="dk2"/>
            </a:solidFill>
            <a:prstDash val="solid"/>
            <a:round/>
            <a:headEnd len="sm" w="sm" type="none"/>
            <a:tailEnd len="sm" w="sm" type="none"/>
          </a:ln>
        </p:spPr>
      </p:cxnSp>
      <p:cxnSp>
        <p:nvCxnSpPr>
          <p:cNvPr id="1479" name="Google Shape;1479;p81"/>
          <p:cNvCxnSpPr/>
          <p:nvPr/>
        </p:nvCxnSpPr>
        <p:spPr>
          <a:xfrm rot="10800000">
            <a:off x="6091422" y="3235196"/>
            <a:ext cx="0" cy="11700"/>
          </a:xfrm>
          <a:prstGeom prst="straightConnector1">
            <a:avLst/>
          </a:prstGeom>
          <a:noFill/>
          <a:ln cap="flat" cmpd="sng" w="9525">
            <a:solidFill>
              <a:schemeClr val="dk2"/>
            </a:solidFill>
            <a:prstDash val="solid"/>
            <a:round/>
            <a:headEnd len="sm" w="sm" type="none"/>
            <a:tailEnd len="sm" w="sm" type="none"/>
          </a:ln>
        </p:spPr>
      </p:cxnSp>
      <p:sp>
        <p:nvSpPr>
          <p:cNvPr id="1480" name="Google Shape;1480;p81"/>
          <p:cNvSpPr/>
          <p:nvPr/>
        </p:nvSpPr>
        <p:spPr>
          <a:xfrm>
            <a:off x="1260876" y="3032142"/>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Storage credential</a:t>
            </a:r>
            <a:endParaRPr b="0" i="0" u="none" cap="none" strike="noStrike">
              <a:solidFill>
                <a:srgbClr val="000000"/>
              </a:solidFill>
              <a:latin typeface="DM Sans Medium"/>
              <a:ea typeface="DM Sans Medium"/>
              <a:cs typeface="DM Sans Medium"/>
              <a:sym typeface="DM Sans Medium"/>
            </a:endParaRPr>
          </a:p>
        </p:txBody>
      </p:sp>
      <p:cxnSp>
        <p:nvCxnSpPr>
          <p:cNvPr id="1481" name="Google Shape;1481;p81"/>
          <p:cNvCxnSpPr/>
          <p:nvPr/>
        </p:nvCxnSpPr>
        <p:spPr>
          <a:xfrm flipH="1" rot="10800000">
            <a:off x="562127" y="2740499"/>
            <a:ext cx="11018700" cy="10200"/>
          </a:xfrm>
          <a:prstGeom prst="straightConnector1">
            <a:avLst/>
          </a:prstGeom>
          <a:noFill/>
          <a:ln cap="flat" cmpd="sng" w="9525">
            <a:solidFill>
              <a:schemeClr val="dk2"/>
            </a:solidFill>
            <a:prstDash val="solid"/>
            <a:round/>
            <a:headEnd len="med" w="med" type="none"/>
            <a:tailEnd len="med" w="med" type="none"/>
          </a:ln>
        </p:spPr>
      </p:cxnSp>
      <p:cxnSp>
        <p:nvCxnSpPr>
          <p:cNvPr id="1482" name="Google Shape;1482;p81"/>
          <p:cNvCxnSpPr/>
          <p:nvPr/>
        </p:nvCxnSpPr>
        <p:spPr>
          <a:xfrm>
            <a:off x="5507259" y="2486885"/>
            <a:ext cx="0" cy="263100"/>
          </a:xfrm>
          <a:prstGeom prst="straightConnector1">
            <a:avLst/>
          </a:prstGeom>
          <a:noFill/>
          <a:ln cap="flat" cmpd="sng" w="9525">
            <a:solidFill>
              <a:schemeClr val="dk2"/>
            </a:solidFill>
            <a:prstDash val="solid"/>
            <a:round/>
            <a:headEnd len="sm" w="sm" type="none"/>
            <a:tailEnd len="sm" w="sm" type="none"/>
          </a:ln>
        </p:spPr>
      </p:cxnSp>
      <p:cxnSp>
        <p:nvCxnSpPr>
          <p:cNvPr id="1483" name="Google Shape;1483;p81"/>
          <p:cNvCxnSpPr>
            <a:endCxn id="1480" idx="0"/>
          </p:cNvCxnSpPr>
          <p:nvPr/>
        </p:nvCxnSpPr>
        <p:spPr>
          <a:xfrm>
            <a:off x="1793226" y="2733942"/>
            <a:ext cx="0" cy="298200"/>
          </a:xfrm>
          <a:prstGeom prst="straightConnector1">
            <a:avLst/>
          </a:prstGeom>
          <a:noFill/>
          <a:ln cap="flat" cmpd="sng" w="9525">
            <a:solidFill>
              <a:schemeClr val="dk2"/>
            </a:solidFill>
            <a:prstDash val="solid"/>
            <a:round/>
            <a:headEnd len="sm" w="sm" type="none"/>
            <a:tailEnd len="sm" w="sm" type="none"/>
          </a:ln>
        </p:spPr>
      </p:cxnSp>
      <p:sp>
        <p:nvSpPr>
          <p:cNvPr id="1484" name="Google Shape;1484;p81"/>
          <p:cNvSpPr/>
          <p:nvPr/>
        </p:nvSpPr>
        <p:spPr>
          <a:xfrm>
            <a:off x="2481873" y="3032126"/>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External location</a:t>
            </a:r>
            <a:endParaRPr b="0" i="0" u="none" cap="none" strike="noStrike">
              <a:solidFill>
                <a:srgbClr val="000000"/>
              </a:solidFill>
              <a:latin typeface="DM Sans Medium"/>
              <a:ea typeface="DM Sans Medium"/>
              <a:cs typeface="DM Sans Medium"/>
              <a:sym typeface="DM Sans Medium"/>
            </a:endParaRPr>
          </a:p>
        </p:txBody>
      </p:sp>
      <p:cxnSp>
        <p:nvCxnSpPr>
          <p:cNvPr id="1485" name="Google Shape;1485;p81"/>
          <p:cNvCxnSpPr>
            <a:endCxn id="1484" idx="0"/>
          </p:cNvCxnSpPr>
          <p:nvPr/>
        </p:nvCxnSpPr>
        <p:spPr>
          <a:xfrm>
            <a:off x="3014223" y="2733926"/>
            <a:ext cx="0" cy="298200"/>
          </a:xfrm>
          <a:prstGeom prst="straightConnector1">
            <a:avLst/>
          </a:prstGeom>
          <a:noFill/>
          <a:ln cap="flat" cmpd="sng" w="9525">
            <a:solidFill>
              <a:schemeClr val="dk2"/>
            </a:solidFill>
            <a:prstDash val="solid"/>
            <a:round/>
            <a:headEnd len="sm" w="sm" type="none"/>
            <a:tailEnd len="sm" w="sm" type="none"/>
          </a:ln>
        </p:spPr>
      </p:cxnSp>
      <p:sp>
        <p:nvSpPr>
          <p:cNvPr id="1486" name="Google Shape;1486;p81"/>
          <p:cNvSpPr/>
          <p:nvPr/>
        </p:nvSpPr>
        <p:spPr>
          <a:xfrm>
            <a:off x="4974950" y="3035460"/>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Catalog</a:t>
            </a:r>
            <a:endParaRPr b="0" i="0" u="none" cap="none" strike="noStrike">
              <a:solidFill>
                <a:srgbClr val="000000"/>
              </a:solidFill>
              <a:latin typeface="DM Sans Medium"/>
              <a:ea typeface="DM Sans Medium"/>
              <a:cs typeface="DM Sans Medium"/>
              <a:sym typeface="DM Sans Medium"/>
            </a:endParaRPr>
          </a:p>
        </p:txBody>
      </p:sp>
      <p:cxnSp>
        <p:nvCxnSpPr>
          <p:cNvPr id="1487" name="Google Shape;1487;p81"/>
          <p:cNvCxnSpPr>
            <a:endCxn id="1486" idx="0"/>
          </p:cNvCxnSpPr>
          <p:nvPr/>
        </p:nvCxnSpPr>
        <p:spPr>
          <a:xfrm>
            <a:off x="5507300" y="2737260"/>
            <a:ext cx="0" cy="298200"/>
          </a:xfrm>
          <a:prstGeom prst="straightConnector1">
            <a:avLst/>
          </a:prstGeom>
          <a:noFill/>
          <a:ln cap="flat" cmpd="sng" w="9525">
            <a:solidFill>
              <a:schemeClr val="dk2"/>
            </a:solidFill>
            <a:prstDash val="solid"/>
            <a:round/>
            <a:headEnd len="sm" w="sm" type="none"/>
            <a:tailEnd len="sm" w="sm" type="none"/>
          </a:ln>
        </p:spPr>
      </p:cxnSp>
      <p:sp>
        <p:nvSpPr>
          <p:cNvPr id="1488" name="Google Shape;1488;p81"/>
          <p:cNvSpPr/>
          <p:nvPr/>
        </p:nvSpPr>
        <p:spPr>
          <a:xfrm>
            <a:off x="6194655" y="3032118"/>
            <a:ext cx="11121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latin typeface="DM Sans Medium"/>
                <a:ea typeface="DM Sans Medium"/>
                <a:cs typeface="DM Sans Medium"/>
                <a:sym typeface="DM Sans Medium"/>
              </a:rPr>
              <a:t>Connection</a:t>
            </a:r>
            <a:endParaRPr b="0" i="0" sz="1300" u="none" cap="none" strike="noStrike">
              <a:solidFill>
                <a:srgbClr val="000000"/>
              </a:solidFill>
              <a:latin typeface="DM Sans Medium"/>
              <a:ea typeface="DM Sans Medium"/>
              <a:cs typeface="DM Sans Medium"/>
              <a:sym typeface="DM Sans Medium"/>
            </a:endParaRPr>
          </a:p>
        </p:txBody>
      </p:sp>
      <p:cxnSp>
        <p:nvCxnSpPr>
          <p:cNvPr id="1489" name="Google Shape;1489;p81"/>
          <p:cNvCxnSpPr>
            <a:endCxn id="1488" idx="0"/>
          </p:cNvCxnSpPr>
          <p:nvPr/>
        </p:nvCxnSpPr>
        <p:spPr>
          <a:xfrm>
            <a:off x="6750705" y="2733918"/>
            <a:ext cx="0" cy="298200"/>
          </a:xfrm>
          <a:prstGeom prst="straightConnector1">
            <a:avLst/>
          </a:prstGeom>
          <a:noFill/>
          <a:ln cap="flat" cmpd="sng" w="9525">
            <a:solidFill>
              <a:schemeClr val="dk2"/>
            </a:solidFill>
            <a:prstDash val="solid"/>
            <a:round/>
            <a:headEnd len="sm" w="sm" type="none"/>
            <a:tailEnd len="sm" w="sm" type="none"/>
          </a:ln>
        </p:spPr>
      </p:cxnSp>
      <p:sp>
        <p:nvSpPr>
          <p:cNvPr id="1490" name="Google Shape;1490;p81"/>
          <p:cNvSpPr/>
          <p:nvPr/>
        </p:nvSpPr>
        <p:spPr>
          <a:xfrm>
            <a:off x="7438139" y="3032126"/>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a:latin typeface="DM Sans Medium"/>
                <a:ea typeface="DM Sans Medium"/>
                <a:cs typeface="DM Sans Medium"/>
                <a:sym typeface="DM Sans Medium"/>
              </a:rPr>
              <a:t>Share</a:t>
            </a:r>
            <a:endParaRPr b="0" i="0" u="none" cap="none" strike="noStrike">
              <a:solidFill>
                <a:srgbClr val="000000"/>
              </a:solidFill>
              <a:latin typeface="DM Sans Medium"/>
              <a:ea typeface="DM Sans Medium"/>
              <a:cs typeface="DM Sans Medium"/>
              <a:sym typeface="DM Sans Medium"/>
            </a:endParaRPr>
          </a:p>
        </p:txBody>
      </p:sp>
      <p:cxnSp>
        <p:nvCxnSpPr>
          <p:cNvPr id="1491" name="Google Shape;1491;p81"/>
          <p:cNvCxnSpPr>
            <a:endCxn id="1490" idx="0"/>
          </p:cNvCxnSpPr>
          <p:nvPr/>
        </p:nvCxnSpPr>
        <p:spPr>
          <a:xfrm>
            <a:off x="7970489" y="2733926"/>
            <a:ext cx="0" cy="298200"/>
          </a:xfrm>
          <a:prstGeom prst="straightConnector1">
            <a:avLst/>
          </a:prstGeom>
          <a:noFill/>
          <a:ln cap="flat" cmpd="sng" w="9525">
            <a:solidFill>
              <a:schemeClr val="dk2"/>
            </a:solidFill>
            <a:prstDash val="solid"/>
            <a:round/>
            <a:headEnd len="sm" w="sm" type="none"/>
            <a:tailEnd len="sm" w="sm" type="none"/>
          </a:ln>
        </p:spPr>
      </p:cxnSp>
      <p:sp>
        <p:nvSpPr>
          <p:cNvPr id="1492" name="Google Shape;1492;p81"/>
          <p:cNvSpPr/>
          <p:nvPr/>
        </p:nvSpPr>
        <p:spPr>
          <a:xfrm>
            <a:off x="8634099" y="3032126"/>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a:latin typeface="DM Sans Medium"/>
                <a:ea typeface="DM Sans Medium"/>
                <a:cs typeface="DM Sans Medium"/>
                <a:sym typeface="DM Sans Medium"/>
              </a:rPr>
              <a:t>Recipient</a:t>
            </a:r>
            <a:endParaRPr>
              <a:latin typeface="DM Sans Medium"/>
              <a:ea typeface="DM Sans Medium"/>
              <a:cs typeface="DM Sans Medium"/>
              <a:sym typeface="DM Sans Medium"/>
            </a:endParaRPr>
          </a:p>
        </p:txBody>
      </p:sp>
      <p:cxnSp>
        <p:nvCxnSpPr>
          <p:cNvPr id="1493" name="Google Shape;1493;p81"/>
          <p:cNvCxnSpPr>
            <a:endCxn id="1492" idx="0"/>
          </p:cNvCxnSpPr>
          <p:nvPr/>
        </p:nvCxnSpPr>
        <p:spPr>
          <a:xfrm>
            <a:off x="9166449" y="2733926"/>
            <a:ext cx="0" cy="298200"/>
          </a:xfrm>
          <a:prstGeom prst="straightConnector1">
            <a:avLst/>
          </a:prstGeom>
          <a:noFill/>
          <a:ln cap="flat" cmpd="sng" w="9525">
            <a:solidFill>
              <a:schemeClr val="dk2"/>
            </a:solidFill>
            <a:prstDash val="solid"/>
            <a:round/>
            <a:headEnd len="sm" w="sm" type="none"/>
            <a:tailEnd len="sm" w="sm" type="none"/>
          </a:ln>
        </p:spPr>
      </p:cxnSp>
      <p:cxnSp>
        <p:nvCxnSpPr>
          <p:cNvPr id="1494" name="Google Shape;1494;p81"/>
          <p:cNvCxnSpPr/>
          <p:nvPr/>
        </p:nvCxnSpPr>
        <p:spPr>
          <a:xfrm flipH="1" rot="10800000">
            <a:off x="3682018" y="4715482"/>
            <a:ext cx="3657900" cy="9300"/>
          </a:xfrm>
          <a:prstGeom prst="straightConnector1">
            <a:avLst/>
          </a:prstGeom>
          <a:noFill/>
          <a:ln cap="flat" cmpd="sng" w="9525">
            <a:solidFill>
              <a:schemeClr val="dk2"/>
            </a:solidFill>
            <a:prstDash val="solid"/>
            <a:round/>
            <a:headEnd len="med" w="med" type="none"/>
            <a:tailEnd len="med" w="med" type="none"/>
          </a:ln>
        </p:spPr>
      </p:cxnSp>
      <p:cxnSp>
        <p:nvCxnSpPr>
          <p:cNvPr id="1495" name="Google Shape;1495;p81"/>
          <p:cNvCxnSpPr/>
          <p:nvPr/>
        </p:nvCxnSpPr>
        <p:spPr>
          <a:xfrm flipH="1">
            <a:off x="10398209" y="2738611"/>
            <a:ext cx="3300" cy="300900"/>
          </a:xfrm>
          <a:prstGeom prst="straightConnector1">
            <a:avLst/>
          </a:prstGeom>
          <a:noFill/>
          <a:ln cap="flat" cmpd="sng" w="9525">
            <a:solidFill>
              <a:schemeClr val="dk2"/>
            </a:solidFill>
            <a:prstDash val="solid"/>
            <a:round/>
            <a:headEnd len="sm" w="sm" type="none"/>
            <a:tailEnd len="sm" w="sm" type="none"/>
          </a:ln>
        </p:spPr>
      </p:cxnSp>
      <p:sp>
        <p:nvSpPr>
          <p:cNvPr id="1496" name="Google Shape;1496;p81"/>
          <p:cNvSpPr/>
          <p:nvPr/>
        </p:nvSpPr>
        <p:spPr>
          <a:xfrm>
            <a:off x="41600" y="3032142"/>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Service credential</a:t>
            </a:r>
            <a:endParaRPr b="0" i="0" u="none" cap="none" strike="noStrike">
              <a:solidFill>
                <a:srgbClr val="000000"/>
              </a:solidFill>
              <a:latin typeface="DM Sans Medium"/>
              <a:ea typeface="DM Sans Medium"/>
              <a:cs typeface="DM Sans Medium"/>
              <a:sym typeface="DM Sans Medium"/>
            </a:endParaRPr>
          </a:p>
        </p:txBody>
      </p:sp>
      <p:cxnSp>
        <p:nvCxnSpPr>
          <p:cNvPr id="1497" name="Google Shape;1497;p81"/>
          <p:cNvCxnSpPr>
            <a:endCxn id="1496" idx="0"/>
          </p:cNvCxnSpPr>
          <p:nvPr/>
        </p:nvCxnSpPr>
        <p:spPr>
          <a:xfrm flipH="1">
            <a:off x="573950" y="2756742"/>
            <a:ext cx="2100" cy="275400"/>
          </a:xfrm>
          <a:prstGeom prst="straightConnector1">
            <a:avLst/>
          </a:prstGeom>
          <a:noFill/>
          <a:ln cap="flat" cmpd="sng" w="9525">
            <a:solidFill>
              <a:schemeClr val="dk2"/>
            </a:solidFill>
            <a:prstDash val="solid"/>
            <a:round/>
            <a:headEnd len="sm" w="sm" type="none"/>
            <a:tailEnd len="sm" w="sm" type="none"/>
          </a:ln>
        </p:spPr>
      </p:cxnSp>
      <p:sp>
        <p:nvSpPr>
          <p:cNvPr id="1498" name="Google Shape;1498;p81"/>
          <p:cNvSpPr/>
          <p:nvPr/>
        </p:nvSpPr>
        <p:spPr>
          <a:xfrm>
            <a:off x="6804497" y="5017949"/>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Function</a:t>
            </a:r>
            <a:endParaRPr>
              <a:latin typeface="DM Sans Medium"/>
              <a:ea typeface="DM Sans Medium"/>
              <a:cs typeface="DM Sans Medium"/>
              <a:sym typeface="DM Sans Medium"/>
            </a:endParaRPr>
          </a:p>
          <a:p>
            <a:pPr indent="0" lvl="0" marL="0" marR="0" rtl="0" algn="ctr">
              <a:lnSpc>
                <a:spcPct val="100000"/>
              </a:lnSpc>
              <a:spcBef>
                <a:spcPts val="0"/>
              </a:spcBef>
              <a:spcAft>
                <a:spcPts val="0"/>
              </a:spcAft>
              <a:buClr>
                <a:srgbClr val="000000"/>
              </a:buClr>
              <a:buSzPts val="1500"/>
              <a:buFont typeface="Arial"/>
              <a:buNone/>
            </a:pPr>
            <a:r>
              <a:rPr lang="en" sz="900">
                <a:latin typeface="DM Sans Medium"/>
                <a:ea typeface="DM Sans Medium"/>
                <a:cs typeface="DM Sans Medium"/>
                <a:sym typeface="DM Sans Medium"/>
              </a:rPr>
              <a:t>including models</a:t>
            </a:r>
            <a:endParaRPr sz="900">
              <a:latin typeface="DM Sans Medium"/>
              <a:ea typeface="DM Sans Medium"/>
              <a:cs typeface="DM Sans Medium"/>
              <a:sym typeface="DM Sans Medium"/>
            </a:endParaRPr>
          </a:p>
        </p:txBody>
      </p:sp>
      <p:sp>
        <p:nvSpPr>
          <p:cNvPr id="1499" name="Google Shape;1499;p81"/>
          <p:cNvSpPr/>
          <p:nvPr/>
        </p:nvSpPr>
        <p:spPr>
          <a:xfrm>
            <a:off x="5584789" y="5022076"/>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Volume</a:t>
            </a:r>
            <a:endParaRPr b="0" i="0" u="none" cap="none" strike="noStrike">
              <a:solidFill>
                <a:srgbClr val="000000"/>
              </a:solidFill>
              <a:latin typeface="DM Sans Medium"/>
              <a:ea typeface="DM Sans Medium"/>
              <a:cs typeface="DM Sans Medium"/>
              <a:sym typeface="DM Sans Medium"/>
            </a:endParaRPr>
          </a:p>
        </p:txBody>
      </p:sp>
      <p:sp>
        <p:nvSpPr>
          <p:cNvPr id="1500" name="Google Shape;1500;p81"/>
          <p:cNvSpPr/>
          <p:nvPr/>
        </p:nvSpPr>
        <p:spPr>
          <a:xfrm>
            <a:off x="3704153" y="3032134"/>
            <a:ext cx="11121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External metadata</a:t>
            </a:r>
            <a:endParaRPr b="0" i="0" u="none" cap="none" strike="noStrike">
              <a:solidFill>
                <a:srgbClr val="000000"/>
              </a:solidFill>
              <a:latin typeface="DM Sans Medium"/>
              <a:ea typeface="DM Sans Medium"/>
              <a:cs typeface="DM Sans Medium"/>
              <a:sym typeface="DM Sans Medium"/>
            </a:endParaRPr>
          </a:p>
        </p:txBody>
      </p:sp>
      <p:cxnSp>
        <p:nvCxnSpPr>
          <p:cNvPr id="1501" name="Google Shape;1501;p81"/>
          <p:cNvCxnSpPr/>
          <p:nvPr/>
        </p:nvCxnSpPr>
        <p:spPr>
          <a:xfrm>
            <a:off x="4271893" y="2733864"/>
            <a:ext cx="0" cy="298200"/>
          </a:xfrm>
          <a:prstGeom prst="straightConnector1">
            <a:avLst/>
          </a:prstGeom>
          <a:noFill/>
          <a:ln cap="flat" cmpd="sng" w="9525">
            <a:solidFill>
              <a:schemeClr val="dk2"/>
            </a:solidFill>
            <a:prstDash val="solid"/>
            <a:round/>
            <a:headEnd len="sm" w="sm" type="none"/>
            <a:tailEnd len="sm" w="sm" type="none"/>
          </a:ln>
        </p:spPr>
      </p:cxnSp>
      <p:cxnSp>
        <p:nvCxnSpPr>
          <p:cNvPr id="1502" name="Google Shape;1502;p81"/>
          <p:cNvCxnSpPr/>
          <p:nvPr/>
        </p:nvCxnSpPr>
        <p:spPr>
          <a:xfrm flipH="1">
            <a:off x="11579653" y="2731713"/>
            <a:ext cx="3300" cy="300900"/>
          </a:xfrm>
          <a:prstGeom prst="straightConnector1">
            <a:avLst/>
          </a:prstGeom>
          <a:noFill/>
          <a:ln cap="flat" cmpd="sng" w="9525">
            <a:solidFill>
              <a:schemeClr val="dk2"/>
            </a:solidFill>
            <a:prstDash val="solid"/>
            <a:round/>
            <a:headEnd len="sm" w="sm" type="none"/>
            <a:tailEnd len="sm" w="sm" type="none"/>
          </a:ln>
        </p:spPr>
      </p:cxnSp>
      <p:sp>
        <p:nvSpPr>
          <p:cNvPr id="1503" name="Google Shape;1503;p81"/>
          <p:cNvSpPr/>
          <p:nvPr/>
        </p:nvSpPr>
        <p:spPr>
          <a:xfrm>
            <a:off x="11048958" y="3035468"/>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a:latin typeface="DM Sans Medium"/>
                <a:ea typeface="DM Sans Medium"/>
                <a:cs typeface="DM Sans Medium"/>
                <a:sym typeface="DM Sans Medium"/>
              </a:rPr>
              <a:t>Clean Room</a:t>
            </a:r>
            <a:endParaRPr b="0" i="0" u="none" cap="none" strike="noStrike">
              <a:solidFill>
                <a:srgbClr val="000000"/>
              </a:solidFill>
              <a:latin typeface="DM Sans Medium"/>
              <a:ea typeface="DM Sans Medium"/>
              <a:cs typeface="DM Sans Medium"/>
              <a:sym typeface="DM Sans Medium"/>
            </a:endParaRPr>
          </a:p>
        </p:txBody>
      </p:sp>
      <p:sp>
        <p:nvSpPr>
          <p:cNvPr id="1504" name="Google Shape;1504;p81"/>
          <p:cNvSpPr/>
          <p:nvPr/>
        </p:nvSpPr>
        <p:spPr>
          <a:xfrm>
            <a:off x="9841529" y="3035464"/>
            <a:ext cx="1064700" cy="585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a:latin typeface="DM Sans Medium"/>
                <a:ea typeface="DM Sans Medium"/>
                <a:cs typeface="DM Sans Medium"/>
                <a:sym typeface="DM Sans Medium"/>
              </a:rPr>
              <a:t>Provider</a:t>
            </a:r>
            <a:endParaRPr b="0" i="0" u="none" cap="none" strike="noStrike">
              <a:solidFill>
                <a:srgbClr val="000000"/>
              </a:solidFill>
              <a:latin typeface="DM Sans Medium"/>
              <a:ea typeface="DM Sans Medium"/>
              <a:cs typeface="DM Sans Medium"/>
              <a:sym typeface="DM Sans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82"/>
          <p:cNvSpPr txBox="1"/>
          <p:nvPr>
            <p:ph idx="12" type="sldNum"/>
          </p:nvPr>
        </p:nvSpPr>
        <p:spPr>
          <a:xfrm>
            <a:off x="14793191" y="8631067"/>
            <a:ext cx="432300" cy="248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510" name="Google Shape;1510;p82"/>
          <p:cNvSpPr txBox="1"/>
          <p:nvPr>
            <p:ph type="title"/>
          </p:nvPr>
        </p:nvSpPr>
        <p:spPr>
          <a:xfrm>
            <a:off x="710144" y="160529"/>
            <a:ext cx="14208900" cy="77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4000"/>
              <a:buNone/>
            </a:pPr>
            <a:r>
              <a:rPr lang="en" sz="2000"/>
              <a:t>Unity Catalog complete object model: </a:t>
            </a:r>
            <a:br>
              <a:rPr lang="en" sz="2000"/>
            </a:br>
            <a:r>
              <a:rPr lang="en" sz="1800">
                <a:solidFill>
                  <a:schemeClr val="accent1"/>
                </a:solidFill>
              </a:rPr>
              <a:t>source/_static/images/getting-started/object-hierarchy.png</a:t>
            </a:r>
            <a:endParaRPr sz="1800"/>
          </a:p>
        </p:txBody>
      </p:sp>
      <p:sp>
        <p:nvSpPr>
          <p:cNvPr id="1511" name="Google Shape;1511;p82"/>
          <p:cNvSpPr/>
          <p:nvPr/>
        </p:nvSpPr>
        <p:spPr>
          <a:xfrm>
            <a:off x="4974926" y="1692675"/>
            <a:ext cx="1204200" cy="585300"/>
          </a:xfrm>
          <a:prstGeom prst="roundRect">
            <a:avLst>
              <a:gd fmla="val 16667" name="adj"/>
            </a:avLst>
          </a:prstGeom>
          <a:solidFill>
            <a:schemeClr val="lt1"/>
          </a:solidFill>
          <a:ln cap="flat" cmpd="sng" w="19050">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Account</a:t>
            </a:r>
            <a:endParaRPr b="0" i="0" u="none" cap="none" strike="noStrike">
              <a:solidFill>
                <a:srgbClr val="000000"/>
              </a:solidFill>
              <a:latin typeface="DM Sans Medium"/>
              <a:ea typeface="DM Sans Medium"/>
              <a:cs typeface="DM Sans Medium"/>
              <a:sym typeface="DM Sans Medium"/>
            </a:endParaRPr>
          </a:p>
        </p:txBody>
      </p:sp>
      <p:cxnSp>
        <p:nvCxnSpPr>
          <p:cNvPr id="1512" name="Google Shape;1512;p82"/>
          <p:cNvCxnSpPr/>
          <p:nvPr/>
        </p:nvCxnSpPr>
        <p:spPr>
          <a:xfrm rot="10800000">
            <a:off x="6091422" y="3416321"/>
            <a:ext cx="0" cy="11700"/>
          </a:xfrm>
          <a:prstGeom prst="straightConnector1">
            <a:avLst/>
          </a:prstGeom>
          <a:noFill/>
          <a:ln cap="flat" cmpd="sng" w="9525">
            <a:solidFill>
              <a:schemeClr val="dk2"/>
            </a:solidFill>
            <a:prstDash val="solid"/>
            <a:round/>
            <a:headEnd len="sm" w="sm" type="none"/>
            <a:tailEnd len="sm" w="sm" type="none"/>
          </a:ln>
        </p:spPr>
      </p:cxnSp>
      <p:sp>
        <p:nvSpPr>
          <p:cNvPr id="1513" name="Google Shape;1513;p82"/>
          <p:cNvSpPr/>
          <p:nvPr/>
        </p:nvSpPr>
        <p:spPr>
          <a:xfrm>
            <a:off x="2808775" y="3213250"/>
            <a:ext cx="1204200" cy="585300"/>
          </a:xfrm>
          <a:prstGeom prst="roundRect">
            <a:avLst>
              <a:gd fmla="val 1666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Workspace 1</a:t>
            </a:r>
            <a:endParaRPr b="0" i="0" u="none" cap="none" strike="noStrike">
              <a:solidFill>
                <a:srgbClr val="000000"/>
              </a:solidFill>
              <a:latin typeface="DM Sans Medium"/>
              <a:ea typeface="DM Sans Medium"/>
              <a:cs typeface="DM Sans Medium"/>
              <a:sym typeface="DM Sans Medium"/>
            </a:endParaRPr>
          </a:p>
        </p:txBody>
      </p:sp>
      <p:sp>
        <p:nvSpPr>
          <p:cNvPr id="1514" name="Google Shape;1514;p82"/>
          <p:cNvSpPr/>
          <p:nvPr/>
        </p:nvSpPr>
        <p:spPr>
          <a:xfrm>
            <a:off x="4301875" y="3213350"/>
            <a:ext cx="1204200" cy="585300"/>
          </a:xfrm>
          <a:prstGeom prst="roundRect">
            <a:avLst>
              <a:gd fmla="val 1666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Workspace 2</a:t>
            </a:r>
            <a:endParaRPr b="0" i="0" u="none" cap="none" strike="noStrike">
              <a:solidFill>
                <a:srgbClr val="000000"/>
              </a:solidFill>
              <a:latin typeface="DM Sans Medium"/>
              <a:ea typeface="DM Sans Medium"/>
              <a:cs typeface="DM Sans Medium"/>
              <a:sym typeface="DM Sans Medium"/>
            </a:endParaRPr>
          </a:p>
        </p:txBody>
      </p:sp>
      <p:sp>
        <p:nvSpPr>
          <p:cNvPr id="1515" name="Google Shape;1515;p82"/>
          <p:cNvSpPr/>
          <p:nvPr/>
        </p:nvSpPr>
        <p:spPr>
          <a:xfrm>
            <a:off x="6685999" y="3213350"/>
            <a:ext cx="1204200" cy="585300"/>
          </a:xfrm>
          <a:prstGeom prst="roundRect">
            <a:avLst>
              <a:gd fmla="val 1666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Workspace 3</a:t>
            </a:r>
            <a:endParaRPr b="0" i="0" u="none" cap="none" strike="noStrike">
              <a:solidFill>
                <a:srgbClr val="000000"/>
              </a:solidFill>
              <a:latin typeface="DM Sans Medium"/>
              <a:ea typeface="DM Sans Medium"/>
              <a:cs typeface="DM Sans Medium"/>
              <a:sym typeface="DM Sans Medium"/>
            </a:endParaRPr>
          </a:p>
        </p:txBody>
      </p:sp>
      <p:sp>
        <p:nvSpPr>
          <p:cNvPr id="1516" name="Google Shape;1516;p82"/>
          <p:cNvSpPr/>
          <p:nvPr/>
        </p:nvSpPr>
        <p:spPr>
          <a:xfrm>
            <a:off x="1229913" y="3213250"/>
            <a:ext cx="1204200" cy="5853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Metastore A</a:t>
            </a:r>
            <a:endParaRPr b="0" i="0" u="none" cap="none" strike="noStrike">
              <a:solidFill>
                <a:srgbClr val="000000"/>
              </a:solidFill>
              <a:latin typeface="DM Sans Medium"/>
              <a:ea typeface="DM Sans Medium"/>
              <a:cs typeface="DM Sans Medium"/>
              <a:sym typeface="DM Sans Medium"/>
            </a:endParaRPr>
          </a:p>
        </p:txBody>
      </p:sp>
      <p:cxnSp>
        <p:nvCxnSpPr>
          <p:cNvPr id="1517" name="Google Shape;1517;p82"/>
          <p:cNvCxnSpPr>
            <a:stCxn id="1511" idx="2"/>
            <a:endCxn id="1513" idx="0"/>
          </p:cNvCxnSpPr>
          <p:nvPr/>
        </p:nvCxnSpPr>
        <p:spPr>
          <a:xfrm rot="5400000">
            <a:off x="4026176" y="1662525"/>
            <a:ext cx="935400" cy="2166300"/>
          </a:xfrm>
          <a:prstGeom prst="bentConnector3">
            <a:avLst>
              <a:gd fmla="val 49993" name="adj1"/>
            </a:avLst>
          </a:prstGeom>
          <a:noFill/>
          <a:ln cap="flat" cmpd="sng" w="9525">
            <a:solidFill>
              <a:schemeClr val="dk2"/>
            </a:solidFill>
            <a:prstDash val="solid"/>
            <a:round/>
            <a:headEnd len="med" w="med" type="none"/>
            <a:tailEnd len="med" w="med" type="none"/>
          </a:ln>
        </p:spPr>
      </p:cxnSp>
      <p:cxnSp>
        <p:nvCxnSpPr>
          <p:cNvPr id="1518" name="Google Shape;1518;p82"/>
          <p:cNvCxnSpPr>
            <a:stCxn id="1511" idx="2"/>
            <a:endCxn id="1514" idx="0"/>
          </p:cNvCxnSpPr>
          <p:nvPr/>
        </p:nvCxnSpPr>
        <p:spPr>
          <a:xfrm rot="5400000">
            <a:off x="4772726" y="2409075"/>
            <a:ext cx="935400" cy="6732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1519" name="Google Shape;1519;p82"/>
          <p:cNvCxnSpPr>
            <a:stCxn id="1511" idx="2"/>
            <a:endCxn id="1515" idx="0"/>
          </p:cNvCxnSpPr>
          <p:nvPr/>
        </p:nvCxnSpPr>
        <p:spPr>
          <a:xfrm flipH="1" rot="-5400000">
            <a:off x="5964926" y="1890075"/>
            <a:ext cx="935400" cy="17112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1520" name="Google Shape;1520;p82"/>
          <p:cNvCxnSpPr>
            <a:stCxn id="1511" idx="2"/>
            <a:endCxn id="1516" idx="0"/>
          </p:cNvCxnSpPr>
          <p:nvPr/>
        </p:nvCxnSpPr>
        <p:spPr>
          <a:xfrm rot="5400000">
            <a:off x="3236876" y="873225"/>
            <a:ext cx="935400" cy="3744900"/>
          </a:xfrm>
          <a:prstGeom prst="bentConnector3">
            <a:avLst>
              <a:gd fmla="val 49993" name="adj1"/>
            </a:avLst>
          </a:prstGeom>
          <a:noFill/>
          <a:ln cap="flat" cmpd="sng" w="9525">
            <a:solidFill>
              <a:schemeClr val="dk2"/>
            </a:solidFill>
            <a:prstDash val="solid"/>
            <a:round/>
            <a:headEnd len="med" w="med" type="none"/>
            <a:tailEnd len="med" w="med" type="none"/>
          </a:ln>
        </p:spPr>
      </p:cxnSp>
      <p:sp>
        <p:nvSpPr>
          <p:cNvPr id="1521" name="Google Shape;1521;p82"/>
          <p:cNvSpPr/>
          <p:nvPr/>
        </p:nvSpPr>
        <p:spPr>
          <a:xfrm>
            <a:off x="8484763" y="3213250"/>
            <a:ext cx="1204200" cy="5853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Metastore B</a:t>
            </a:r>
            <a:endParaRPr b="0" i="0" u="none" cap="none" strike="noStrike">
              <a:solidFill>
                <a:srgbClr val="000000"/>
              </a:solidFill>
              <a:latin typeface="DM Sans Medium"/>
              <a:ea typeface="DM Sans Medium"/>
              <a:cs typeface="DM Sans Medium"/>
              <a:sym typeface="DM Sans Medium"/>
            </a:endParaRPr>
          </a:p>
        </p:txBody>
      </p:sp>
      <p:cxnSp>
        <p:nvCxnSpPr>
          <p:cNvPr id="1522" name="Google Shape;1522;p82"/>
          <p:cNvCxnSpPr>
            <a:stCxn id="1511" idx="2"/>
            <a:endCxn id="1521" idx="0"/>
          </p:cNvCxnSpPr>
          <p:nvPr/>
        </p:nvCxnSpPr>
        <p:spPr>
          <a:xfrm flipH="1" rot="-5400000">
            <a:off x="6864176" y="990825"/>
            <a:ext cx="935400" cy="3509700"/>
          </a:xfrm>
          <a:prstGeom prst="bentConnector3">
            <a:avLst>
              <a:gd fmla="val 49993" name="adj1"/>
            </a:avLst>
          </a:prstGeom>
          <a:noFill/>
          <a:ln cap="flat" cmpd="sng" w="9525">
            <a:solidFill>
              <a:schemeClr val="dk2"/>
            </a:solidFill>
            <a:prstDash val="solid"/>
            <a:round/>
            <a:headEnd len="med" w="med" type="none"/>
            <a:tailEnd len="med" w="med" type="none"/>
          </a:ln>
        </p:spPr>
      </p:cxnSp>
      <p:cxnSp>
        <p:nvCxnSpPr>
          <p:cNvPr id="1523" name="Google Shape;1523;p82"/>
          <p:cNvCxnSpPr>
            <a:stCxn id="1513" idx="2"/>
            <a:endCxn id="1516" idx="2"/>
          </p:cNvCxnSpPr>
          <p:nvPr/>
        </p:nvCxnSpPr>
        <p:spPr>
          <a:xfrm rot="5400000">
            <a:off x="2621125" y="3009400"/>
            <a:ext cx="600" cy="1578900"/>
          </a:xfrm>
          <a:prstGeom prst="bentConnector3">
            <a:avLst>
              <a:gd fmla="val 39687500" name="adj1"/>
            </a:avLst>
          </a:prstGeom>
          <a:noFill/>
          <a:ln cap="flat" cmpd="sng" w="9525">
            <a:solidFill>
              <a:schemeClr val="dk2"/>
            </a:solidFill>
            <a:prstDash val="lgDash"/>
            <a:round/>
            <a:headEnd len="med" w="med" type="none"/>
            <a:tailEnd len="med" w="med" type="none"/>
          </a:ln>
        </p:spPr>
      </p:cxnSp>
      <p:cxnSp>
        <p:nvCxnSpPr>
          <p:cNvPr id="1524" name="Google Shape;1524;p82"/>
          <p:cNvCxnSpPr>
            <a:stCxn id="1514" idx="2"/>
            <a:endCxn id="1516" idx="2"/>
          </p:cNvCxnSpPr>
          <p:nvPr/>
        </p:nvCxnSpPr>
        <p:spPr>
          <a:xfrm rot="5400000">
            <a:off x="3367675" y="2262950"/>
            <a:ext cx="600" cy="3072000"/>
          </a:xfrm>
          <a:prstGeom prst="bentConnector3">
            <a:avLst>
              <a:gd fmla="val 85291667" name="adj1"/>
            </a:avLst>
          </a:prstGeom>
          <a:noFill/>
          <a:ln cap="flat" cmpd="sng" w="9525">
            <a:solidFill>
              <a:schemeClr val="dk2"/>
            </a:solidFill>
            <a:prstDash val="lgDash"/>
            <a:round/>
            <a:headEnd len="med" w="med" type="none"/>
            <a:tailEnd len="med" w="med" type="none"/>
          </a:ln>
        </p:spPr>
      </p:cxnSp>
      <p:cxnSp>
        <p:nvCxnSpPr>
          <p:cNvPr id="1525" name="Google Shape;1525;p82"/>
          <p:cNvCxnSpPr>
            <a:stCxn id="1515" idx="2"/>
            <a:endCxn id="1521" idx="2"/>
          </p:cNvCxnSpPr>
          <p:nvPr/>
        </p:nvCxnSpPr>
        <p:spPr>
          <a:xfrm flipH="1" rot="-5400000">
            <a:off x="8187199" y="2899550"/>
            <a:ext cx="600" cy="1798800"/>
          </a:xfrm>
          <a:prstGeom prst="bentConnector3">
            <a:avLst>
              <a:gd fmla="val 39687500" name="adj1"/>
            </a:avLst>
          </a:prstGeom>
          <a:noFill/>
          <a:ln cap="flat" cmpd="sng" w="9525">
            <a:solidFill>
              <a:schemeClr val="dk2"/>
            </a:solidFill>
            <a:prstDash val="lgDash"/>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83"/>
          <p:cNvSpPr txBox="1"/>
          <p:nvPr>
            <p:ph idx="12" type="sldNum"/>
          </p:nvPr>
        </p:nvSpPr>
        <p:spPr>
          <a:xfrm>
            <a:off x="14793191" y="8631067"/>
            <a:ext cx="432300" cy="248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531" name="Google Shape;1531;p83"/>
          <p:cNvSpPr/>
          <p:nvPr/>
        </p:nvSpPr>
        <p:spPr>
          <a:xfrm>
            <a:off x="4923564" y="1902825"/>
            <a:ext cx="1068300" cy="564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u="none" cap="none" strike="noStrike">
                <a:solidFill>
                  <a:srgbClr val="000000"/>
                </a:solidFill>
                <a:latin typeface="DM Sans Medium"/>
                <a:ea typeface="DM Sans Medium"/>
                <a:cs typeface="DM Sans Medium"/>
                <a:sym typeface="DM Sans Medium"/>
              </a:rPr>
              <a:t>Metastore</a:t>
            </a:r>
            <a:endParaRPr b="0" i="0" u="none" cap="none" strike="noStrike">
              <a:solidFill>
                <a:srgbClr val="000000"/>
              </a:solidFill>
              <a:latin typeface="DM Sans Medium"/>
              <a:ea typeface="DM Sans Medium"/>
              <a:cs typeface="DM Sans Medium"/>
              <a:sym typeface="DM Sans Medium"/>
            </a:endParaRPr>
          </a:p>
        </p:txBody>
      </p:sp>
      <p:sp>
        <p:nvSpPr>
          <p:cNvPr id="1532" name="Google Shape;1532;p83"/>
          <p:cNvSpPr/>
          <p:nvPr/>
        </p:nvSpPr>
        <p:spPr>
          <a:xfrm>
            <a:off x="4923542" y="3817037"/>
            <a:ext cx="1068300" cy="564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u="none" cap="none" strike="noStrike">
                <a:solidFill>
                  <a:srgbClr val="000000"/>
                </a:solidFill>
                <a:latin typeface="DM Sans Medium"/>
                <a:ea typeface="DM Sans Medium"/>
                <a:cs typeface="DM Sans Medium"/>
                <a:sym typeface="DM Sans Medium"/>
              </a:rPr>
              <a:t>Schema</a:t>
            </a:r>
            <a:endParaRPr b="0" i="0" u="none" cap="none" strike="noStrike">
              <a:solidFill>
                <a:srgbClr val="000000"/>
              </a:solidFill>
              <a:latin typeface="DM Sans Medium"/>
              <a:ea typeface="DM Sans Medium"/>
              <a:cs typeface="DM Sans Medium"/>
              <a:sym typeface="DM Sans Medium"/>
            </a:endParaRPr>
          </a:p>
        </p:txBody>
      </p:sp>
      <p:cxnSp>
        <p:nvCxnSpPr>
          <p:cNvPr id="1533" name="Google Shape;1533;p83"/>
          <p:cNvCxnSpPr/>
          <p:nvPr/>
        </p:nvCxnSpPr>
        <p:spPr>
          <a:xfrm>
            <a:off x="5457727" y="3393578"/>
            <a:ext cx="0" cy="402600"/>
          </a:xfrm>
          <a:prstGeom prst="straightConnector1">
            <a:avLst/>
          </a:prstGeom>
          <a:noFill/>
          <a:ln cap="flat" cmpd="sng" w="9525">
            <a:solidFill>
              <a:schemeClr val="dk2"/>
            </a:solidFill>
            <a:prstDash val="solid"/>
            <a:round/>
            <a:headEnd len="sm" w="sm" type="none"/>
            <a:tailEnd len="sm" w="sm" type="none"/>
          </a:ln>
        </p:spPr>
      </p:cxnSp>
      <p:sp>
        <p:nvSpPr>
          <p:cNvPr id="1534" name="Google Shape;1534;p83"/>
          <p:cNvSpPr/>
          <p:nvPr/>
        </p:nvSpPr>
        <p:spPr>
          <a:xfrm>
            <a:off x="3149447" y="4934973"/>
            <a:ext cx="1068300" cy="564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Table</a:t>
            </a:r>
            <a:endParaRPr b="0" i="0" u="none" cap="none" strike="noStrike">
              <a:solidFill>
                <a:srgbClr val="000000"/>
              </a:solidFill>
              <a:latin typeface="DM Sans Medium"/>
              <a:ea typeface="DM Sans Medium"/>
              <a:cs typeface="DM Sans Medium"/>
              <a:sym typeface="DM Sans Medium"/>
            </a:endParaRPr>
          </a:p>
        </p:txBody>
      </p:sp>
      <p:cxnSp>
        <p:nvCxnSpPr>
          <p:cNvPr id="1535" name="Google Shape;1535;p83"/>
          <p:cNvCxnSpPr/>
          <p:nvPr/>
        </p:nvCxnSpPr>
        <p:spPr>
          <a:xfrm>
            <a:off x="5437436" y="4373364"/>
            <a:ext cx="300" cy="268500"/>
          </a:xfrm>
          <a:prstGeom prst="straightConnector1">
            <a:avLst/>
          </a:prstGeom>
          <a:noFill/>
          <a:ln cap="flat" cmpd="sng" w="9525">
            <a:solidFill>
              <a:schemeClr val="dk2"/>
            </a:solidFill>
            <a:prstDash val="solid"/>
            <a:round/>
            <a:headEnd len="sm" w="sm" type="none"/>
            <a:tailEnd len="sm" w="sm" type="none"/>
          </a:ln>
        </p:spPr>
      </p:cxnSp>
      <p:cxnSp>
        <p:nvCxnSpPr>
          <p:cNvPr id="1536" name="Google Shape;1536;p83"/>
          <p:cNvCxnSpPr>
            <a:endCxn id="1534" idx="0"/>
          </p:cNvCxnSpPr>
          <p:nvPr/>
        </p:nvCxnSpPr>
        <p:spPr>
          <a:xfrm>
            <a:off x="3683597" y="4647273"/>
            <a:ext cx="0" cy="287700"/>
          </a:xfrm>
          <a:prstGeom prst="straightConnector1">
            <a:avLst/>
          </a:prstGeom>
          <a:noFill/>
          <a:ln cap="flat" cmpd="sng" w="9525">
            <a:solidFill>
              <a:schemeClr val="dk2"/>
            </a:solidFill>
            <a:prstDash val="solid"/>
            <a:round/>
            <a:headEnd len="sm" w="sm" type="none"/>
            <a:tailEnd len="sm" w="sm" type="none"/>
          </a:ln>
        </p:spPr>
      </p:cxnSp>
      <p:sp>
        <p:nvSpPr>
          <p:cNvPr id="1537" name="Google Shape;1537;p83"/>
          <p:cNvSpPr/>
          <p:nvPr/>
        </p:nvSpPr>
        <p:spPr>
          <a:xfrm>
            <a:off x="4373454" y="4934973"/>
            <a:ext cx="1068300" cy="564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View</a:t>
            </a:r>
            <a:endParaRPr b="0" i="0" u="none" cap="none" strike="noStrike">
              <a:solidFill>
                <a:srgbClr val="000000"/>
              </a:solidFill>
              <a:latin typeface="DM Sans Medium"/>
              <a:ea typeface="DM Sans Medium"/>
              <a:cs typeface="DM Sans Medium"/>
              <a:sym typeface="DM Sans Medium"/>
            </a:endParaRPr>
          </a:p>
        </p:txBody>
      </p:sp>
      <p:cxnSp>
        <p:nvCxnSpPr>
          <p:cNvPr id="1538" name="Google Shape;1538;p83"/>
          <p:cNvCxnSpPr/>
          <p:nvPr/>
        </p:nvCxnSpPr>
        <p:spPr>
          <a:xfrm>
            <a:off x="4954240" y="4642747"/>
            <a:ext cx="0" cy="287700"/>
          </a:xfrm>
          <a:prstGeom prst="straightConnector1">
            <a:avLst/>
          </a:prstGeom>
          <a:noFill/>
          <a:ln cap="flat" cmpd="sng" w="9525">
            <a:solidFill>
              <a:schemeClr val="dk2"/>
            </a:solidFill>
            <a:prstDash val="solid"/>
            <a:round/>
            <a:headEnd len="sm" w="sm" type="none"/>
            <a:tailEnd len="sm" w="sm" type="none"/>
          </a:ln>
        </p:spPr>
      </p:cxnSp>
      <p:sp>
        <p:nvSpPr>
          <p:cNvPr id="1539" name="Google Shape;1539;p83"/>
          <p:cNvSpPr/>
          <p:nvPr/>
        </p:nvSpPr>
        <p:spPr>
          <a:xfrm>
            <a:off x="1312280" y="2995011"/>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Storage credential</a:t>
            </a:r>
            <a:endParaRPr b="0" i="0" sz="1200" u="none" cap="none" strike="noStrike">
              <a:solidFill>
                <a:schemeClr val="accent5"/>
              </a:solidFill>
              <a:latin typeface="DM Sans Medium"/>
              <a:ea typeface="DM Sans Medium"/>
              <a:cs typeface="DM Sans Medium"/>
              <a:sym typeface="DM Sans Medium"/>
            </a:endParaRPr>
          </a:p>
        </p:txBody>
      </p:sp>
      <p:cxnSp>
        <p:nvCxnSpPr>
          <p:cNvPr id="1540" name="Google Shape;1540;p83"/>
          <p:cNvCxnSpPr/>
          <p:nvPr/>
        </p:nvCxnSpPr>
        <p:spPr>
          <a:xfrm flipH="1" rot="10800000">
            <a:off x="621950" y="2688200"/>
            <a:ext cx="10936500" cy="13800"/>
          </a:xfrm>
          <a:prstGeom prst="straightConnector1">
            <a:avLst/>
          </a:prstGeom>
          <a:noFill/>
          <a:ln cap="flat" cmpd="sng" w="9525">
            <a:solidFill>
              <a:schemeClr val="dk2"/>
            </a:solidFill>
            <a:prstDash val="dot"/>
            <a:round/>
            <a:headEnd len="med" w="med" type="none"/>
            <a:tailEnd len="med" w="med" type="none"/>
          </a:ln>
        </p:spPr>
      </p:cxnSp>
      <p:cxnSp>
        <p:nvCxnSpPr>
          <p:cNvPr id="1541" name="Google Shape;1541;p83"/>
          <p:cNvCxnSpPr/>
          <p:nvPr/>
        </p:nvCxnSpPr>
        <p:spPr>
          <a:xfrm>
            <a:off x="5457734" y="2467428"/>
            <a:ext cx="0" cy="253800"/>
          </a:xfrm>
          <a:prstGeom prst="straightConnector1">
            <a:avLst/>
          </a:prstGeom>
          <a:noFill/>
          <a:ln cap="flat" cmpd="sng" w="9525">
            <a:solidFill>
              <a:schemeClr val="dk2"/>
            </a:solidFill>
            <a:prstDash val="solid"/>
            <a:round/>
            <a:headEnd len="sm" w="sm" type="none"/>
            <a:tailEnd len="sm" w="sm" type="none"/>
          </a:ln>
        </p:spPr>
      </p:cxnSp>
      <p:cxnSp>
        <p:nvCxnSpPr>
          <p:cNvPr id="1542" name="Google Shape;1542;p83"/>
          <p:cNvCxnSpPr>
            <a:endCxn id="1539" idx="0"/>
          </p:cNvCxnSpPr>
          <p:nvPr/>
        </p:nvCxnSpPr>
        <p:spPr>
          <a:xfrm>
            <a:off x="1846430" y="2707311"/>
            <a:ext cx="0" cy="287700"/>
          </a:xfrm>
          <a:prstGeom prst="straightConnector1">
            <a:avLst/>
          </a:prstGeom>
          <a:noFill/>
          <a:ln cap="flat" cmpd="sng" w="9525">
            <a:solidFill>
              <a:schemeClr val="dk2"/>
            </a:solidFill>
            <a:prstDash val="dot"/>
            <a:round/>
            <a:headEnd len="sm" w="sm" type="none"/>
            <a:tailEnd len="sm" w="sm" type="none"/>
          </a:ln>
        </p:spPr>
      </p:cxnSp>
      <p:sp>
        <p:nvSpPr>
          <p:cNvPr id="1543" name="Google Shape;1543;p83"/>
          <p:cNvSpPr/>
          <p:nvPr/>
        </p:nvSpPr>
        <p:spPr>
          <a:xfrm>
            <a:off x="2536287" y="2994996"/>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External location</a:t>
            </a:r>
            <a:endParaRPr b="0" i="0" sz="1200" u="none" cap="none" strike="noStrike">
              <a:solidFill>
                <a:schemeClr val="accent5"/>
              </a:solidFill>
              <a:latin typeface="DM Sans Medium"/>
              <a:ea typeface="DM Sans Medium"/>
              <a:cs typeface="DM Sans Medium"/>
              <a:sym typeface="DM Sans Medium"/>
            </a:endParaRPr>
          </a:p>
        </p:txBody>
      </p:sp>
      <p:cxnSp>
        <p:nvCxnSpPr>
          <p:cNvPr id="1544" name="Google Shape;1544;p83"/>
          <p:cNvCxnSpPr>
            <a:endCxn id="1543" idx="0"/>
          </p:cNvCxnSpPr>
          <p:nvPr/>
        </p:nvCxnSpPr>
        <p:spPr>
          <a:xfrm>
            <a:off x="3070437" y="2707296"/>
            <a:ext cx="0" cy="287700"/>
          </a:xfrm>
          <a:prstGeom prst="straightConnector1">
            <a:avLst/>
          </a:prstGeom>
          <a:noFill/>
          <a:ln cap="flat" cmpd="sng" w="9525">
            <a:solidFill>
              <a:schemeClr val="dk2"/>
            </a:solidFill>
            <a:prstDash val="dot"/>
            <a:round/>
            <a:headEnd len="sm" w="sm" type="none"/>
            <a:tailEnd len="sm" w="sm" type="none"/>
          </a:ln>
        </p:spPr>
      </p:cxnSp>
      <p:sp>
        <p:nvSpPr>
          <p:cNvPr id="1545" name="Google Shape;1545;p83"/>
          <p:cNvSpPr/>
          <p:nvPr/>
        </p:nvSpPr>
        <p:spPr>
          <a:xfrm>
            <a:off x="4923557" y="2986821"/>
            <a:ext cx="1068300" cy="564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Catalog</a:t>
            </a:r>
            <a:endParaRPr b="0" i="0" u="none" cap="none" strike="noStrike">
              <a:solidFill>
                <a:srgbClr val="000000"/>
              </a:solidFill>
              <a:latin typeface="DM Sans Medium"/>
              <a:ea typeface="DM Sans Medium"/>
              <a:cs typeface="DM Sans Medium"/>
              <a:sym typeface="DM Sans Medium"/>
            </a:endParaRPr>
          </a:p>
        </p:txBody>
      </p:sp>
      <p:cxnSp>
        <p:nvCxnSpPr>
          <p:cNvPr id="1546" name="Google Shape;1546;p83"/>
          <p:cNvCxnSpPr/>
          <p:nvPr/>
        </p:nvCxnSpPr>
        <p:spPr>
          <a:xfrm>
            <a:off x="5457684" y="2691077"/>
            <a:ext cx="0" cy="287700"/>
          </a:xfrm>
          <a:prstGeom prst="straightConnector1">
            <a:avLst/>
          </a:prstGeom>
          <a:noFill/>
          <a:ln cap="flat" cmpd="sng" w="9525">
            <a:solidFill>
              <a:schemeClr val="dk2"/>
            </a:solidFill>
            <a:prstDash val="solid"/>
            <a:round/>
            <a:headEnd len="sm" w="sm" type="none"/>
            <a:tailEnd len="sm" w="sm" type="none"/>
          </a:ln>
        </p:spPr>
      </p:cxnSp>
      <p:sp>
        <p:nvSpPr>
          <p:cNvPr id="1547" name="Google Shape;1547;p83"/>
          <p:cNvSpPr/>
          <p:nvPr/>
        </p:nvSpPr>
        <p:spPr>
          <a:xfrm>
            <a:off x="6127302" y="2994996"/>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Share</a:t>
            </a:r>
            <a:endParaRPr b="0" i="0" sz="1200" u="none" cap="none" strike="noStrike">
              <a:solidFill>
                <a:schemeClr val="accent5"/>
              </a:solidFill>
              <a:latin typeface="DM Sans Medium"/>
              <a:ea typeface="DM Sans Medium"/>
              <a:cs typeface="DM Sans Medium"/>
              <a:sym typeface="DM Sans Medium"/>
            </a:endParaRPr>
          </a:p>
        </p:txBody>
      </p:sp>
      <p:cxnSp>
        <p:nvCxnSpPr>
          <p:cNvPr id="1548" name="Google Shape;1548;p83"/>
          <p:cNvCxnSpPr>
            <a:endCxn id="1547" idx="0"/>
          </p:cNvCxnSpPr>
          <p:nvPr/>
        </p:nvCxnSpPr>
        <p:spPr>
          <a:xfrm>
            <a:off x="6661452" y="2707296"/>
            <a:ext cx="0" cy="287700"/>
          </a:xfrm>
          <a:prstGeom prst="straightConnector1">
            <a:avLst/>
          </a:prstGeom>
          <a:noFill/>
          <a:ln cap="flat" cmpd="sng" w="9525">
            <a:solidFill>
              <a:schemeClr val="dk2"/>
            </a:solidFill>
            <a:prstDash val="dot"/>
            <a:round/>
            <a:headEnd len="sm" w="sm" type="none"/>
            <a:tailEnd len="sm" w="sm" type="none"/>
          </a:ln>
        </p:spPr>
      </p:cxnSp>
      <p:sp>
        <p:nvSpPr>
          <p:cNvPr id="1549" name="Google Shape;1549;p83"/>
          <p:cNvSpPr/>
          <p:nvPr/>
        </p:nvSpPr>
        <p:spPr>
          <a:xfrm>
            <a:off x="7351309" y="2994996"/>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Recipient</a:t>
            </a:r>
            <a:endParaRPr b="0" i="0" sz="1200" u="none" cap="none" strike="noStrike">
              <a:solidFill>
                <a:schemeClr val="accent5"/>
              </a:solidFill>
              <a:latin typeface="DM Sans Medium"/>
              <a:ea typeface="DM Sans Medium"/>
              <a:cs typeface="DM Sans Medium"/>
              <a:sym typeface="DM Sans Medium"/>
            </a:endParaRPr>
          </a:p>
        </p:txBody>
      </p:sp>
      <p:cxnSp>
        <p:nvCxnSpPr>
          <p:cNvPr id="1550" name="Google Shape;1550;p83"/>
          <p:cNvCxnSpPr>
            <a:endCxn id="1549" idx="0"/>
          </p:cNvCxnSpPr>
          <p:nvPr/>
        </p:nvCxnSpPr>
        <p:spPr>
          <a:xfrm>
            <a:off x="7885459" y="2707296"/>
            <a:ext cx="0" cy="287700"/>
          </a:xfrm>
          <a:prstGeom prst="straightConnector1">
            <a:avLst/>
          </a:prstGeom>
          <a:noFill/>
          <a:ln cap="flat" cmpd="sng" w="9525">
            <a:solidFill>
              <a:schemeClr val="dk2"/>
            </a:solidFill>
            <a:prstDash val="dot"/>
            <a:round/>
            <a:headEnd len="sm" w="sm" type="none"/>
            <a:tailEnd len="sm" w="sm" type="none"/>
          </a:ln>
        </p:spPr>
      </p:cxnSp>
      <p:sp>
        <p:nvSpPr>
          <p:cNvPr id="1551" name="Google Shape;1551;p83"/>
          <p:cNvSpPr/>
          <p:nvPr/>
        </p:nvSpPr>
        <p:spPr>
          <a:xfrm>
            <a:off x="8575316" y="2994996"/>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Provider</a:t>
            </a:r>
            <a:endParaRPr b="0" i="0" sz="1200" u="none" cap="none" strike="noStrike">
              <a:solidFill>
                <a:schemeClr val="accent5"/>
              </a:solidFill>
              <a:latin typeface="DM Sans Medium"/>
              <a:ea typeface="DM Sans Medium"/>
              <a:cs typeface="DM Sans Medium"/>
              <a:sym typeface="DM Sans Medium"/>
            </a:endParaRPr>
          </a:p>
        </p:txBody>
      </p:sp>
      <p:cxnSp>
        <p:nvCxnSpPr>
          <p:cNvPr id="1552" name="Google Shape;1552;p83"/>
          <p:cNvCxnSpPr>
            <a:endCxn id="1551" idx="0"/>
          </p:cNvCxnSpPr>
          <p:nvPr/>
        </p:nvCxnSpPr>
        <p:spPr>
          <a:xfrm>
            <a:off x="9109466" y="2707296"/>
            <a:ext cx="0" cy="287700"/>
          </a:xfrm>
          <a:prstGeom prst="straightConnector1">
            <a:avLst/>
          </a:prstGeom>
          <a:noFill/>
          <a:ln cap="flat" cmpd="sng" w="9525">
            <a:solidFill>
              <a:schemeClr val="dk2"/>
            </a:solidFill>
            <a:prstDash val="dot"/>
            <a:round/>
            <a:headEnd len="sm" w="sm" type="none"/>
            <a:tailEnd len="sm" w="sm" type="none"/>
          </a:ln>
        </p:spPr>
      </p:cxnSp>
      <p:cxnSp>
        <p:nvCxnSpPr>
          <p:cNvPr id="1553" name="Google Shape;1553;p83"/>
          <p:cNvCxnSpPr/>
          <p:nvPr/>
        </p:nvCxnSpPr>
        <p:spPr>
          <a:xfrm flipH="1" rot="10800000">
            <a:off x="3683632" y="4647215"/>
            <a:ext cx="3702000" cy="3600"/>
          </a:xfrm>
          <a:prstGeom prst="straightConnector1">
            <a:avLst/>
          </a:prstGeom>
          <a:noFill/>
          <a:ln cap="flat" cmpd="sng" w="9525">
            <a:solidFill>
              <a:schemeClr val="dk2"/>
            </a:solidFill>
            <a:prstDash val="solid"/>
            <a:round/>
            <a:headEnd len="med" w="med" type="none"/>
            <a:tailEnd len="med" w="med" type="none"/>
          </a:ln>
        </p:spPr>
      </p:cxnSp>
      <p:sp>
        <p:nvSpPr>
          <p:cNvPr id="1554" name="Google Shape;1554;p83"/>
          <p:cNvSpPr/>
          <p:nvPr/>
        </p:nvSpPr>
        <p:spPr>
          <a:xfrm>
            <a:off x="5597462" y="4934988"/>
            <a:ext cx="1068300" cy="564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Volume</a:t>
            </a:r>
            <a:endParaRPr b="0" i="0" u="none" cap="none" strike="noStrike">
              <a:solidFill>
                <a:srgbClr val="000000"/>
              </a:solidFill>
              <a:latin typeface="DM Sans Medium"/>
              <a:ea typeface="DM Sans Medium"/>
              <a:cs typeface="DM Sans Medium"/>
              <a:sym typeface="DM Sans Medium"/>
            </a:endParaRPr>
          </a:p>
        </p:txBody>
      </p:sp>
      <p:cxnSp>
        <p:nvCxnSpPr>
          <p:cNvPr id="1555" name="Google Shape;1555;p83"/>
          <p:cNvCxnSpPr/>
          <p:nvPr/>
        </p:nvCxnSpPr>
        <p:spPr>
          <a:xfrm>
            <a:off x="6164728" y="4642760"/>
            <a:ext cx="0" cy="287700"/>
          </a:xfrm>
          <a:prstGeom prst="straightConnector1">
            <a:avLst/>
          </a:prstGeom>
          <a:noFill/>
          <a:ln cap="flat" cmpd="sng" w="9525">
            <a:solidFill>
              <a:schemeClr val="dk2"/>
            </a:solidFill>
            <a:prstDash val="solid"/>
            <a:round/>
            <a:headEnd len="sm" w="sm" type="none"/>
            <a:tailEnd len="sm" w="sm" type="none"/>
          </a:ln>
        </p:spPr>
      </p:cxnSp>
      <p:sp>
        <p:nvSpPr>
          <p:cNvPr id="1556" name="Google Shape;1556;p83"/>
          <p:cNvSpPr/>
          <p:nvPr/>
        </p:nvSpPr>
        <p:spPr>
          <a:xfrm>
            <a:off x="9799323" y="2999386"/>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Connection</a:t>
            </a:r>
            <a:endParaRPr b="0" i="0" sz="1200" u="none" cap="none" strike="noStrike">
              <a:solidFill>
                <a:schemeClr val="accent5"/>
              </a:solidFill>
              <a:latin typeface="DM Sans Medium"/>
              <a:ea typeface="DM Sans Medium"/>
              <a:cs typeface="DM Sans Medium"/>
              <a:sym typeface="DM Sans Medium"/>
            </a:endParaRPr>
          </a:p>
        </p:txBody>
      </p:sp>
      <p:cxnSp>
        <p:nvCxnSpPr>
          <p:cNvPr id="1557" name="Google Shape;1557;p83"/>
          <p:cNvCxnSpPr>
            <a:endCxn id="1556" idx="0"/>
          </p:cNvCxnSpPr>
          <p:nvPr/>
        </p:nvCxnSpPr>
        <p:spPr>
          <a:xfrm>
            <a:off x="10333473" y="2711686"/>
            <a:ext cx="0" cy="287700"/>
          </a:xfrm>
          <a:prstGeom prst="straightConnector1">
            <a:avLst/>
          </a:prstGeom>
          <a:noFill/>
          <a:ln cap="flat" cmpd="sng" w="9525">
            <a:solidFill>
              <a:schemeClr val="dk2"/>
            </a:solidFill>
            <a:prstDash val="dot"/>
            <a:round/>
            <a:headEnd len="sm" w="sm" type="none"/>
            <a:tailEnd len="sm" w="sm" type="none"/>
          </a:ln>
        </p:spPr>
      </p:cxnSp>
      <p:sp>
        <p:nvSpPr>
          <p:cNvPr id="1558" name="Google Shape;1558;p83"/>
          <p:cNvSpPr txBox="1"/>
          <p:nvPr/>
        </p:nvSpPr>
        <p:spPr>
          <a:xfrm>
            <a:off x="4275" y="311825"/>
            <a:ext cx="120399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000">
                <a:solidFill>
                  <a:schemeClr val="dk1"/>
                </a:solidFill>
                <a:latin typeface="DM Sans Medium"/>
                <a:ea typeface="DM Sans Medium"/>
                <a:cs typeface="DM Sans Medium"/>
                <a:sym typeface="DM Sans Medium"/>
              </a:rPr>
              <a:t>Unity Catalog object model, focus on data objects </a:t>
            </a:r>
            <a:br>
              <a:rPr lang="en" sz="2000">
                <a:solidFill>
                  <a:schemeClr val="dk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source/_static/images/unity-catalog/object-model.png</a:t>
            </a:r>
            <a:endParaRPr/>
          </a:p>
        </p:txBody>
      </p:sp>
      <p:sp>
        <p:nvSpPr>
          <p:cNvPr id="1559" name="Google Shape;1559;p83"/>
          <p:cNvSpPr/>
          <p:nvPr/>
        </p:nvSpPr>
        <p:spPr>
          <a:xfrm>
            <a:off x="6842553" y="4934988"/>
            <a:ext cx="1068300" cy="564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a:latin typeface="DM Sans Medium"/>
                <a:ea typeface="DM Sans Medium"/>
                <a:cs typeface="DM Sans Medium"/>
                <a:sym typeface="DM Sans Medium"/>
              </a:rPr>
              <a:t>Function</a:t>
            </a:r>
            <a:endParaRPr>
              <a:latin typeface="DM Sans Medium"/>
              <a:ea typeface="DM Sans Medium"/>
              <a:cs typeface="DM Sans Medium"/>
              <a:sym typeface="DM Sans Medium"/>
            </a:endParaRPr>
          </a:p>
          <a:p>
            <a:pPr indent="0" lvl="0" marL="0" marR="0" rtl="0" algn="ctr">
              <a:lnSpc>
                <a:spcPct val="100000"/>
              </a:lnSpc>
              <a:spcBef>
                <a:spcPts val="0"/>
              </a:spcBef>
              <a:spcAft>
                <a:spcPts val="0"/>
              </a:spcAft>
              <a:buClr>
                <a:srgbClr val="000000"/>
              </a:buClr>
              <a:buSzPts val="1500"/>
              <a:buFont typeface="Arial"/>
              <a:buNone/>
            </a:pPr>
            <a:r>
              <a:rPr lang="en" sz="800">
                <a:latin typeface="DM Sans Medium"/>
                <a:ea typeface="DM Sans Medium"/>
                <a:cs typeface="DM Sans Medium"/>
                <a:sym typeface="DM Sans Medium"/>
              </a:rPr>
              <a:t>including models</a:t>
            </a:r>
            <a:endParaRPr sz="800">
              <a:latin typeface="DM Sans Medium"/>
              <a:ea typeface="DM Sans Medium"/>
              <a:cs typeface="DM Sans Medium"/>
              <a:sym typeface="DM Sans Medium"/>
            </a:endParaRPr>
          </a:p>
        </p:txBody>
      </p:sp>
      <p:cxnSp>
        <p:nvCxnSpPr>
          <p:cNvPr id="1560" name="Google Shape;1560;p83"/>
          <p:cNvCxnSpPr/>
          <p:nvPr/>
        </p:nvCxnSpPr>
        <p:spPr>
          <a:xfrm flipH="1">
            <a:off x="7385613" y="4646783"/>
            <a:ext cx="600" cy="288600"/>
          </a:xfrm>
          <a:prstGeom prst="straightConnector1">
            <a:avLst/>
          </a:prstGeom>
          <a:noFill/>
          <a:ln cap="flat" cmpd="sng" w="9525">
            <a:solidFill>
              <a:schemeClr val="dk2"/>
            </a:solidFill>
            <a:prstDash val="solid"/>
            <a:round/>
            <a:headEnd len="sm" w="sm" type="none"/>
            <a:tailEnd len="sm" w="sm" type="none"/>
          </a:ln>
        </p:spPr>
      </p:cxnSp>
      <p:sp>
        <p:nvSpPr>
          <p:cNvPr id="1561" name="Google Shape;1561;p83"/>
          <p:cNvSpPr/>
          <p:nvPr/>
        </p:nvSpPr>
        <p:spPr>
          <a:xfrm>
            <a:off x="11023329" y="3007394"/>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Clean Room</a:t>
            </a:r>
            <a:endParaRPr b="0" i="0" sz="1200" u="none" cap="none" strike="noStrike">
              <a:solidFill>
                <a:schemeClr val="accent5"/>
              </a:solidFill>
              <a:latin typeface="DM Sans Medium"/>
              <a:ea typeface="DM Sans Medium"/>
              <a:cs typeface="DM Sans Medium"/>
              <a:sym typeface="DM Sans Medium"/>
            </a:endParaRPr>
          </a:p>
        </p:txBody>
      </p:sp>
      <p:cxnSp>
        <p:nvCxnSpPr>
          <p:cNvPr id="1562" name="Google Shape;1562;p83"/>
          <p:cNvCxnSpPr/>
          <p:nvPr/>
        </p:nvCxnSpPr>
        <p:spPr>
          <a:xfrm>
            <a:off x="11557479" y="2691083"/>
            <a:ext cx="0" cy="328800"/>
          </a:xfrm>
          <a:prstGeom prst="straightConnector1">
            <a:avLst/>
          </a:prstGeom>
          <a:noFill/>
          <a:ln cap="flat" cmpd="sng" w="9525">
            <a:solidFill>
              <a:schemeClr val="dk2"/>
            </a:solidFill>
            <a:prstDash val="dot"/>
            <a:round/>
            <a:headEnd len="sm" w="sm" type="none"/>
            <a:tailEnd len="sm" w="sm" type="none"/>
          </a:ln>
        </p:spPr>
      </p:cxnSp>
      <p:sp>
        <p:nvSpPr>
          <p:cNvPr id="1563" name="Google Shape;1563;p83"/>
          <p:cNvSpPr/>
          <p:nvPr/>
        </p:nvSpPr>
        <p:spPr>
          <a:xfrm>
            <a:off x="88274" y="2995011"/>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Service credential</a:t>
            </a:r>
            <a:endParaRPr b="0" i="0" sz="1200" u="none" cap="none" strike="noStrike">
              <a:solidFill>
                <a:schemeClr val="accent5"/>
              </a:solidFill>
              <a:latin typeface="DM Sans Medium"/>
              <a:ea typeface="DM Sans Medium"/>
              <a:cs typeface="DM Sans Medium"/>
              <a:sym typeface="DM Sans Medium"/>
            </a:endParaRPr>
          </a:p>
        </p:txBody>
      </p:sp>
      <p:cxnSp>
        <p:nvCxnSpPr>
          <p:cNvPr id="1564" name="Google Shape;1564;p83"/>
          <p:cNvCxnSpPr/>
          <p:nvPr/>
        </p:nvCxnSpPr>
        <p:spPr>
          <a:xfrm>
            <a:off x="618617" y="2699252"/>
            <a:ext cx="0" cy="287700"/>
          </a:xfrm>
          <a:prstGeom prst="straightConnector1">
            <a:avLst/>
          </a:prstGeom>
          <a:noFill/>
          <a:ln cap="flat" cmpd="sng" w="9525">
            <a:solidFill>
              <a:schemeClr val="dk2"/>
            </a:solidFill>
            <a:prstDash val="dot"/>
            <a:round/>
            <a:headEnd len="sm" w="sm" type="none"/>
            <a:tailEnd len="sm" w="sm" type="none"/>
          </a:ln>
        </p:spPr>
      </p:cxnSp>
      <p:sp>
        <p:nvSpPr>
          <p:cNvPr id="1565" name="Google Shape;1565;p83"/>
          <p:cNvSpPr/>
          <p:nvPr/>
        </p:nvSpPr>
        <p:spPr>
          <a:xfrm>
            <a:off x="3719791" y="2999369"/>
            <a:ext cx="1068300" cy="564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200">
                <a:solidFill>
                  <a:schemeClr val="accent5"/>
                </a:solidFill>
                <a:latin typeface="DM Sans Medium"/>
                <a:ea typeface="DM Sans Medium"/>
                <a:cs typeface="DM Sans Medium"/>
                <a:sym typeface="DM Sans Medium"/>
              </a:rPr>
              <a:t>External metadata</a:t>
            </a:r>
            <a:endParaRPr b="0" i="0" sz="1200" u="none" cap="none" strike="noStrike">
              <a:solidFill>
                <a:schemeClr val="accent5"/>
              </a:solidFill>
              <a:latin typeface="DM Sans Medium"/>
              <a:ea typeface="DM Sans Medium"/>
              <a:cs typeface="DM Sans Medium"/>
              <a:sym typeface="DM Sans Medium"/>
            </a:endParaRPr>
          </a:p>
        </p:txBody>
      </p:sp>
      <p:cxnSp>
        <p:nvCxnSpPr>
          <p:cNvPr id="1566" name="Google Shape;1566;p83"/>
          <p:cNvCxnSpPr/>
          <p:nvPr/>
        </p:nvCxnSpPr>
        <p:spPr>
          <a:xfrm flipH="1">
            <a:off x="4251625" y="2715700"/>
            <a:ext cx="9000" cy="304200"/>
          </a:xfrm>
          <a:prstGeom prst="straightConnector1">
            <a:avLst/>
          </a:prstGeom>
          <a:noFill/>
          <a:ln cap="flat" cmpd="sng" w="9525">
            <a:solidFill>
              <a:schemeClr val="dk2"/>
            </a:solidFill>
            <a:prstDash val="dot"/>
            <a:round/>
            <a:headEnd len="sm" w="sm" type="none"/>
            <a:tailEnd len="sm" w="sm"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sp>
        <p:nvSpPr>
          <p:cNvPr id="1571" name="Google Shape;1571;p84"/>
          <p:cNvSpPr txBox="1"/>
          <p:nvPr>
            <p:ph idx="12" type="sldNum"/>
          </p:nvPr>
        </p:nvSpPr>
        <p:spPr>
          <a:xfrm>
            <a:off x="14793191" y="8631067"/>
            <a:ext cx="432300" cy="248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572" name="Google Shape;1572;p84"/>
          <p:cNvSpPr/>
          <p:nvPr/>
        </p:nvSpPr>
        <p:spPr>
          <a:xfrm>
            <a:off x="5077761" y="3761035"/>
            <a:ext cx="1053000" cy="5517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DM Sans Medium"/>
                <a:ea typeface="DM Sans Medium"/>
                <a:cs typeface="DM Sans Medium"/>
                <a:sym typeface="DM Sans Medium"/>
              </a:rPr>
              <a:t>Schema</a:t>
            </a:r>
            <a:endParaRPr b="0" i="0" sz="1500" u="none" cap="none" strike="noStrike">
              <a:solidFill>
                <a:srgbClr val="000000"/>
              </a:solidFill>
              <a:latin typeface="DM Sans Medium"/>
              <a:ea typeface="DM Sans Medium"/>
              <a:cs typeface="DM Sans Medium"/>
              <a:sym typeface="DM Sans Medium"/>
            </a:endParaRPr>
          </a:p>
        </p:txBody>
      </p:sp>
      <p:cxnSp>
        <p:nvCxnSpPr>
          <p:cNvPr id="1573" name="Google Shape;1573;p84"/>
          <p:cNvCxnSpPr>
            <a:stCxn id="1574" idx="2"/>
            <a:endCxn id="1572" idx="0"/>
          </p:cNvCxnSpPr>
          <p:nvPr/>
        </p:nvCxnSpPr>
        <p:spPr>
          <a:xfrm>
            <a:off x="5604261" y="3367735"/>
            <a:ext cx="0" cy="393300"/>
          </a:xfrm>
          <a:prstGeom prst="straightConnector1">
            <a:avLst/>
          </a:prstGeom>
          <a:noFill/>
          <a:ln cap="flat" cmpd="sng" w="9525">
            <a:solidFill>
              <a:schemeClr val="dk2"/>
            </a:solidFill>
            <a:prstDash val="solid"/>
            <a:round/>
            <a:headEnd len="sm" w="sm" type="none"/>
            <a:tailEnd len="sm" w="sm" type="none"/>
          </a:ln>
        </p:spPr>
      </p:cxnSp>
      <p:cxnSp>
        <p:nvCxnSpPr>
          <p:cNvPr id="1575" name="Google Shape;1575;p84"/>
          <p:cNvCxnSpPr/>
          <p:nvPr/>
        </p:nvCxnSpPr>
        <p:spPr>
          <a:xfrm>
            <a:off x="5604160" y="4317092"/>
            <a:ext cx="0" cy="248100"/>
          </a:xfrm>
          <a:prstGeom prst="straightConnector1">
            <a:avLst/>
          </a:prstGeom>
          <a:noFill/>
          <a:ln cap="flat" cmpd="sng" w="9525">
            <a:solidFill>
              <a:schemeClr val="dk2"/>
            </a:solidFill>
            <a:prstDash val="solid"/>
            <a:round/>
            <a:headEnd len="sm" w="sm" type="none"/>
            <a:tailEnd len="sm" w="sm" type="none"/>
          </a:ln>
        </p:spPr>
      </p:cxnSp>
      <p:cxnSp>
        <p:nvCxnSpPr>
          <p:cNvPr id="1576" name="Google Shape;1576;p84"/>
          <p:cNvCxnSpPr/>
          <p:nvPr/>
        </p:nvCxnSpPr>
        <p:spPr>
          <a:xfrm>
            <a:off x="4397957" y="4569419"/>
            <a:ext cx="0" cy="281100"/>
          </a:xfrm>
          <a:prstGeom prst="straightConnector1">
            <a:avLst/>
          </a:prstGeom>
          <a:noFill/>
          <a:ln cap="flat" cmpd="sng" w="9525">
            <a:solidFill>
              <a:schemeClr val="dk2"/>
            </a:solidFill>
            <a:prstDash val="solid"/>
            <a:round/>
            <a:headEnd len="sm" w="sm" type="none"/>
            <a:tailEnd len="sm" w="sm" type="none"/>
          </a:ln>
        </p:spPr>
      </p:cxnSp>
      <p:cxnSp>
        <p:nvCxnSpPr>
          <p:cNvPr id="1577" name="Google Shape;1577;p84"/>
          <p:cNvCxnSpPr/>
          <p:nvPr/>
        </p:nvCxnSpPr>
        <p:spPr>
          <a:xfrm>
            <a:off x="5604188" y="4569419"/>
            <a:ext cx="0" cy="281100"/>
          </a:xfrm>
          <a:prstGeom prst="straightConnector1">
            <a:avLst/>
          </a:prstGeom>
          <a:noFill/>
          <a:ln cap="flat" cmpd="sng" w="9525">
            <a:solidFill>
              <a:schemeClr val="dk2"/>
            </a:solidFill>
            <a:prstDash val="solid"/>
            <a:round/>
            <a:headEnd len="sm" w="sm" type="none"/>
            <a:tailEnd len="sm" w="sm" type="none"/>
          </a:ln>
        </p:spPr>
      </p:cxnSp>
      <p:sp>
        <p:nvSpPr>
          <p:cNvPr id="1578" name="Google Shape;1578;p84"/>
          <p:cNvSpPr/>
          <p:nvPr/>
        </p:nvSpPr>
        <p:spPr>
          <a:xfrm>
            <a:off x="2665313" y="2970436"/>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Storage credential</a:t>
            </a:r>
            <a:endParaRPr b="0" i="0" sz="1300" u="none" cap="none" strike="noStrike">
              <a:solidFill>
                <a:schemeClr val="accent5"/>
              </a:solidFill>
              <a:latin typeface="DM Sans Medium"/>
              <a:ea typeface="DM Sans Medium"/>
              <a:cs typeface="DM Sans Medium"/>
              <a:sym typeface="DM Sans Medium"/>
            </a:endParaRPr>
          </a:p>
        </p:txBody>
      </p:sp>
      <p:cxnSp>
        <p:nvCxnSpPr>
          <p:cNvPr id="1579" name="Google Shape;1579;p84"/>
          <p:cNvCxnSpPr/>
          <p:nvPr/>
        </p:nvCxnSpPr>
        <p:spPr>
          <a:xfrm>
            <a:off x="3191650" y="2688300"/>
            <a:ext cx="6043800" cy="0"/>
          </a:xfrm>
          <a:prstGeom prst="straightConnector1">
            <a:avLst/>
          </a:prstGeom>
          <a:noFill/>
          <a:ln cap="flat" cmpd="sng" w="9525">
            <a:solidFill>
              <a:schemeClr val="dk2"/>
            </a:solidFill>
            <a:prstDash val="dot"/>
            <a:round/>
            <a:headEnd len="med" w="med" type="none"/>
            <a:tailEnd len="med" w="med" type="none"/>
          </a:ln>
        </p:spPr>
      </p:cxnSp>
      <p:cxnSp>
        <p:nvCxnSpPr>
          <p:cNvPr id="1580" name="Google Shape;1580;p84"/>
          <p:cNvCxnSpPr/>
          <p:nvPr/>
        </p:nvCxnSpPr>
        <p:spPr>
          <a:xfrm>
            <a:off x="5603050" y="2453241"/>
            <a:ext cx="0" cy="248100"/>
          </a:xfrm>
          <a:prstGeom prst="straightConnector1">
            <a:avLst/>
          </a:prstGeom>
          <a:noFill/>
          <a:ln cap="flat" cmpd="sng" w="9525">
            <a:solidFill>
              <a:schemeClr val="dk2"/>
            </a:solidFill>
            <a:prstDash val="solid"/>
            <a:round/>
            <a:headEnd len="sm" w="sm" type="none"/>
            <a:tailEnd len="sm" w="sm" type="none"/>
          </a:ln>
        </p:spPr>
      </p:cxnSp>
      <p:cxnSp>
        <p:nvCxnSpPr>
          <p:cNvPr id="1581" name="Google Shape;1581;p84"/>
          <p:cNvCxnSpPr>
            <a:endCxn id="1578" idx="0"/>
          </p:cNvCxnSpPr>
          <p:nvPr/>
        </p:nvCxnSpPr>
        <p:spPr>
          <a:xfrm>
            <a:off x="3191813" y="2689336"/>
            <a:ext cx="0" cy="281100"/>
          </a:xfrm>
          <a:prstGeom prst="straightConnector1">
            <a:avLst/>
          </a:prstGeom>
          <a:noFill/>
          <a:ln cap="flat" cmpd="sng" w="9525">
            <a:solidFill>
              <a:schemeClr val="dk2"/>
            </a:solidFill>
            <a:prstDash val="dot"/>
            <a:round/>
            <a:headEnd len="sm" w="sm" type="none"/>
            <a:tailEnd len="sm" w="sm" type="none"/>
          </a:ln>
        </p:spPr>
      </p:cxnSp>
      <p:sp>
        <p:nvSpPr>
          <p:cNvPr id="1582" name="Google Shape;1582;p84"/>
          <p:cNvSpPr/>
          <p:nvPr/>
        </p:nvSpPr>
        <p:spPr>
          <a:xfrm>
            <a:off x="3871544" y="2970379"/>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External location</a:t>
            </a:r>
            <a:endParaRPr b="0" i="0" sz="1300" u="none" cap="none" strike="noStrike">
              <a:solidFill>
                <a:schemeClr val="accent5"/>
              </a:solidFill>
              <a:latin typeface="DM Sans Medium"/>
              <a:ea typeface="DM Sans Medium"/>
              <a:cs typeface="DM Sans Medium"/>
              <a:sym typeface="DM Sans Medium"/>
            </a:endParaRPr>
          </a:p>
        </p:txBody>
      </p:sp>
      <p:cxnSp>
        <p:nvCxnSpPr>
          <p:cNvPr id="1583" name="Google Shape;1583;p84"/>
          <p:cNvCxnSpPr>
            <a:endCxn id="1582" idx="0"/>
          </p:cNvCxnSpPr>
          <p:nvPr/>
        </p:nvCxnSpPr>
        <p:spPr>
          <a:xfrm>
            <a:off x="4398044" y="2689279"/>
            <a:ext cx="0" cy="281100"/>
          </a:xfrm>
          <a:prstGeom prst="straightConnector1">
            <a:avLst/>
          </a:prstGeom>
          <a:noFill/>
          <a:ln cap="flat" cmpd="sng" w="9525">
            <a:solidFill>
              <a:schemeClr val="dk2"/>
            </a:solidFill>
            <a:prstDash val="dot"/>
            <a:round/>
            <a:headEnd len="sm" w="sm" type="none"/>
            <a:tailEnd len="sm" w="sm" type="none"/>
          </a:ln>
        </p:spPr>
      </p:cxnSp>
      <p:cxnSp>
        <p:nvCxnSpPr>
          <p:cNvPr id="1584" name="Google Shape;1584;p84"/>
          <p:cNvCxnSpPr>
            <a:endCxn id="1585" idx="0"/>
          </p:cNvCxnSpPr>
          <p:nvPr/>
        </p:nvCxnSpPr>
        <p:spPr>
          <a:xfrm>
            <a:off x="5604278" y="2696529"/>
            <a:ext cx="0" cy="273900"/>
          </a:xfrm>
          <a:prstGeom prst="straightConnector1">
            <a:avLst/>
          </a:prstGeom>
          <a:noFill/>
          <a:ln cap="flat" cmpd="sng" w="9525">
            <a:solidFill>
              <a:schemeClr val="dk2"/>
            </a:solidFill>
            <a:prstDash val="solid"/>
            <a:round/>
            <a:headEnd len="sm" w="sm" type="none"/>
            <a:tailEnd len="sm" w="sm" type="none"/>
          </a:ln>
        </p:spPr>
      </p:cxnSp>
      <p:sp>
        <p:nvSpPr>
          <p:cNvPr id="1586" name="Google Shape;1586;p84"/>
          <p:cNvSpPr/>
          <p:nvPr/>
        </p:nvSpPr>
        <p:spPr>
          <a:xfrm>
            <a:off x="6284007" y="2970379"/>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Share</a:t>
            </a:r>
            <a:endParaRPr b="0" i="0" sz="1300" u="none" cap="none" strike="noStrike">
              <a:solidFill>
                <a:schemeClr val="accent5"/>
              </a:solidFill>
              <a:latin typeface="DM Sans Medium"/>
              <a:ea typeface="DM Sans Medium"/>
              <a:cs typeface="DM Sans Medium"/>
              <a:sym typeface="DM Sans Medium"/>
            </a:endParaRPr>
          </a:p>
        </p:txBody>
      </p:sp>
      <p:cxnSp>
        <p:nvCxnSpPr>
          <p:cNvPr id="1587" name="Google Shape;1587;p84"/>
          <p:cNvCxnSpPr>
            <a:endCxn id="1586" idx="0"/>
          </p:cNvCxnSpPr>
          <p:nvPr/>
        </p:nvCxnSpPr>
        <p:spPr>
          <a:xfrm>
            <a:off x="6810507" y="2689279"/>
            <a:ext cx="0" cy="281100"/>
          </a:xfrm>
          <a:prstGeom prst="straightConnector1">
            <a:avLst/>
          </a:prstGeom>
          <a:noFill/>
          <a:ln cap="flat" cmpd="sng" w="9525">
            <a:solidFill>
              <a:schemeClr val="dk2"/>
            </a:solidFill>
            <a:prstDash val="dot"/>
            <a:round/>
            <a:headEnd len="sm" w="sm" type="none"/>
            <a:tailEnd len="sm" w="sm" type="none"/>
          </a:ln>
        </p:spPr>
      </p:cxnSp>
      <p:sp>
        <p:nvSpPr>
          <p:cNvPr id="1588" name="Google Shape;1588;p84"/>
          <p:cNvSpPr/>
          <p:nvPr/>
        </p:nvSpPr>
        <p:spPr>
          <a:xfrm>
            <a:off x="7490238" y="2970379"/>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Recipient</a:t>
            </a:r>
            <a:endParaRPr b="0" i="0" sz="1300" u="none" cap="none" strike="noStrike">
              <a:solidFill>
                <a:schemeClr val="accent5"/>
              </a:solidFill>
              <a:latin typeface="DM Sans Medium"/>
              <a:ea typeface="DM Sans Medium"/>
              <a:cs typeface="DM Sans Medium"/>
              <a:sym typeface="DM Sans Medium"/>
            </a:endParaRPr>
          </a:p>
        </p:txBody>
      </p:sp>
      <p:cxnSp>
        <p:nvCxnSpPr>
          <p:cNvPr id="1589" name="Google Shape;1589;p84"/>
          <p:cNvCxnSpPr>
            <a:endCxn id="1588" idx="0"/>
          </p:cNvCxnSpPr>
          <p:nvPr/>
        </p:nvCxnSpPr>
        <p:spPr>
          <a:xfrm>
            <a:off x="8016738" y="2689279"/>
            <a:ext cx="0" cy="281100"/>
          </a:xfrm>
          <a:prstGeom prst="straightConnector1">
            <a:avLst/>
          </a:prstGeom>
          <a:noFill/>
          <a:ln cap="flat" cmpd="sng" w="9525">
            <a:solidFill>
              <a:schemeClr val="dk2"/>
            </a:solidFill>
            <a:prstDash val="dot"/>
            <a:round/>
            <a:headEnd len="sm" w="sm" type="none"/>
            <a:tailEnd len="sm" w="sm" type="none"/>
          </a:ln>
        </p:spPr>
      </p:cxnSp>
      <p:sp>
        <p:nvSpPr>
          <p:cNvPr id="1590" name="Google Shape;1590;p84"/>
          <p:cNvSpPr/>
          <p:nvPr/>
        </p:nvSpPr>
        <p:spPr>
          <a:xfrm>
            <a:off x="8696469" y="2970379"/>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 . . </a:t>
            </a:r>
            <a:endParaRPr b="0" i="0" sz="1300" u="none" cap="none" strike="noStrike">
              <a:solidFill>
                <a:schemeClr val="accent5"/>
              </a:solidFill>
              <a:latin typeface="DM Sans Medium"/>
              <a:ea typeface="DM Sans Medium"/>
              <a:cs typeface="DM Sans Medium"/>
              <a:sym typeface="DM Sans Medium"/>
            </a:endParaRPr>
          </a:p>
        </p:txBody>
      </p:sp>
      <p:cxnSp>
        <p:nvCxnSpPr>
          <p:cNvPr id="1591" name="Google Shape;1591;p84"/>
          <p:cNvCxnSpPr>
            <a:endCxn id="1590" idx="0"/>
          </p:cNvCxnSpPr>
          <p:nvPr/>
        </p:nvCxnSpPr>
        <p:spPr>
          <a:xfrm>
            <a:off x="9222969" y="2689279"/>
            <a:ext cx="0" cy="281100"/>
          </a:xfrm>
          <a:prstGeom prst="straightConnector1">
            <a:avLst/>
          </a:prstGeom>
          <a:noFill/>
          <a:ln cap="flat" cmpd="sng" w="9525">
            <a:solidFill>
              <a:schemeClr val="dk2"/>
            </a:solidFill>
            <a:prstDash val="dot"/>
            <a:round/>
            <a:headEnd len="sm" w="sm" type="none"/>
            <a:tailEnd len="sm" w="sm" type="none"/>
          </a:ln>
        </p:spPr>
      </p:cxnSp>
      <p:cxnSp>
        <p:nvCxnSpPr>
          <p:cNvPr id="1592" name="Google Shape;1592;p84"/>
          <p:cNvCxnSpPr/>
          <p:nvPr/>
        </p:nvCxnSpPr>
        <p:spPr>
          <a:xfrm flipH="1" rot="10800000">
            <a:off x="4387892" y="4575232"/>
            <a:ext cx="3636300" cy="600"/>
          </a:xfrm>
          <a:prstGeom prst="straightConnector1">
            <a:avLst/>
          </a:prstGeom>
          <a:noFill/>
          <a:ln cap="flat" cmpd="sng" w="9525">
            <a:solidFill>
              <a:schemeClr val="dk2"/>
            </a:solidFill>
            <a:prstDash val="solid"/>
            <a:round/>
            <a:headEnd len="med" w="med" type="none"/>
            <a:tailEnd len="med" w="med" type="none"/>
          </a:ln>
        </p:spPr>
      </p:cxnSp>
      <p:cxnSp>
        <p:nvCxnSpPr>
          <p:cNvPr id="1593" name="Google Shape;1593;p84"/>
          <p:cNvCxnSpPr/>
          <p:nvPr/>
        </p:nvCxnSpPr>
        <p:spPr>
          <a:xfrm>
            <a:off x="6810376" y="4569419"/>
            <a:ext cx="0" cy="281100"/>
          </a:xfrm>
          <a:prstGeom prst="straightConnector1">
            <a:avLst/>
          </a:prstGeom>
          <a:noFill/>
          <a:ln cap="flat" cmpd="sng" w="9525">
            <a:solidFill>
              <a:schemeClr val="dk2"/>
            </a:solidFill>
            <a:prstDash val="solid"/>
            <a:round/>
            <a:headEnd len="sm" w="sm" type="none"/>
            <a:tailEnd len="sm" w="sm" type="none"/>
          </a:ln>
        </p:spPr>
      </p:cxnSp>
      <p:sp>
        <p:nvSpPr>
          <p:cNvPr id="1594" name="Google Shape;1594;p84"/>
          <p:cNvSpPr txBox="1"/>
          <p:nvPr/>
        </p:nvSpPr>
        <p:spPr>
          <a:xfrm>
            <a:off x="4275" y="311825"/>
            <a:ext cx="120399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000">
                <a:solidFill>
                  <a:schemeClr val="dk1"/>
                </a:solidFill>
                <a:latin typeface="DM Sans Medium"/>
                <a:ea typeface="DM Sans Medium"/>
                <a:cs typeface="DM Sans Medium"/>
                <a:sym typeface="DM Sans Medium"/>
              </a:rPr>
              <a:t>Unity Catalog object model, focus on schema</a:t>
            </a:r>
            <a:br>
              <a:rPr lang="en" sz="2000">
                <a:solidFill>
                  <a:schemeClr val="dk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source/_static/images/unity-catalog/object-model-schema.png</a:t>
            </a:r>
            <a:endParaRPr/>
          </a:p>
        </p:txBody>
      </p:sp>
      <p:cxnSp>
        <p:nvCxnSpPr>
          <p:cNvPr id="1595" name="Google Shape;1595;p84"/>
          <p:cNvCxnSpPr/>
          <p:nvPr/>
        </p:nvCxnSpPr>
        <p:spPr>
          <a:xfrm>
            <a:off x="8016672" y="4575832"/>
            <a:ext cx="0" cy="281100"/>
          </a:xfrm>
          <a:prstGeom prst="straightConnector1">
            <a:avLst/>
          </a:prstGeom>
          <a:noFill/>
          <a:ln cap="flat" cmpd="sng" w="9525">
            <a:solidFill>
              <a:schemeClr val="dk2"/>
            </a:solidFill>
            <a:prstDash val="solid"/>
            <a:round/>
            <a:headEnd len="sm" w="sm" type="none"/>
            <a:tailEnd len="sm" w="sm" type="none"/>
          </a:ln>
        </p:spPr>
      </p:cxnSp>
      <p:sp>
        <p:nvSpPr>
          <p:cNvPr id="1596" name="Google Shape;1596;p84"/>
          <p:cNvSpPr/>
          <p:nvPr/>
        </p:nvSpPr>
        <p:spPr>
          <a:xfrm>
            <a:off x="5077777" y="1901474"/>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Metastore</a:t>
            </a:r>
            <a:endParaRPr b="0" i="0" sz="1300" u="none" cap="none" strike="noStrike">
              <a:solidFill>
                <a:schemeClr val="accent5"/>
              </a:solidFill>
              <a:latin typeface="DM Sans Medium"/>
              <a:ea typeface="DM Sans Medium"/>
              <a:cs typeface="DM Sans Medium"/>
              <a:sym typeface="DM Sans Medium"/>
            </a:endParaRPr>
          </a:p>
        </p:txBody>
      </p:sp>
      <p:sp>
        <p:nvSpPr>
          <p:cNvPr id="1585" name="Google Shape;1585;p84"/>
          <p:cNvSpPr/>
          <p:nvPr/>
        </p:nvSpPr>
        <p:spPr>
          <a:xfrm>
            <a:off x="5077778" y="2970429"/>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Catalog</a:t>
            </a:r>
            <a:endParaRPr b="0" i="0" sz="1300" u="none" cap="none" strike="noStrike">
              <a:solidFill>
                <a:schemeClr val="accent5"/>
              </a:solidFill>
              <a:latin typeface="DM Sans Medium"/>
              <a:ea typeface="DM Sans Medium"/>
              <a:cs typeface="DM Sans Medium"/>
              <a:sym typeface="DM Sans Medium"/>
            </a:endParaRPr>
          </a:p>
        </p:txBody>
      </p:sp>
      <p:sp>
        <p:nvSpPr>
          <p:cNvPr id="1597" name="Google Shape;1597;p84"/>
          <p:cNvSpPr/>
          <p:nvPr/>
        </p:nvSpPr>
        <p:spPr>
          <a:xfrm>
            <a:off x="3871527" y="4856981"/>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Table</a:t>
            </a:r>
            <a:endParaRPr b="0" i="0" sz="1300" u="none" cap="none" strike="noStrike">
              <a:solidFill>
                <a:schemeClr val="accent5"/>
              </a:solidFill>
              <a:latin typeface="DM Sans Medium"/>
              <a:ea typeface="DM Sans Medium"/>
              <a:cs typeface="DM Sans Medium"/>
              <a:sym typeface="DM Sans Medium"/>
            </a:endParaRPr>
          </a:p>
        </p:txBody>
      </p:sp>
      <p:sp>
        <p:nvSpPr>
          <p:cNvPr id="1598" name="Google Shape;1598;p84"/>
          <p:cNvSpPr/>
          <p:nvPr/>
        </p:nvSpPr>
        <p:spPr>
          <a:xfrm>
            <a:off x="5077756" y="4856981"/>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View</a:t>
            </a:r>
            <a:endParaRPr b="0" i="0" sz="1300" u="none" cap="none" strike="noStrike">
              <a:solidFill>
                <a:schemeClr val="accent5"/>
              </a:solidFill>
              <a:latin typeface="DM Sans Medium"/>
              <a:ea typeface="DM Sans Medium"/>
              <a:cs typeface="DM Sans Medium"/>
              <a:sym typeface="DM Sans Medium"/>
            </a:endParaRPr>
          </a:p>
        </p:txBody>
      </p:sp>
      <p:sp>
        <p:nvSpPr>
          <p:cNvPr id="1599" name="Google Shape;1599;p84"/>
          <p:cNvSpPr/>
          <p:nvPr/>
        </p:nvSpPr>
        <p:spPr>
          <a:xfrm>
            <a:off x="6283986" y="4856981"/>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Volume</a:t>
            </a:r>
            <a:endParaRPr b="0" i="0" sz="1300" u="none" cap="none" strike="noStrike">
              <a:solidFill>
                <a:schemeClr val="accent5"/>
              </a:solidFill>
              <a:latin typeface="DM Sans Medium"/>
              <a:ea typeface="DM Sans Medium"/>
              <a:cs typeface="DM Sans Medium"/>
              <a:sym typeface="DM Sans Medium"/>
            </a:endParaRPr>
          </a:p>
        </p:txBody>
      </p:sp>
      <p:sp>
        <p:nvSpPr>
          <p:cNvPr id="1600" name="Google Shape;1600;p84"/>
          <p:cNvSpPr/>
          <p:nvPr/>
        </p:nvSpPr>
        <p:spPr>
          <a:xfrm>
            <a:off x="7490215" y="4856981"/>
            <a:ext cx="1053000" cy="5517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Function</a:t>
            </a:r>
            <a:endParaRPr sz="1300">
              <a:solidFill>
                <a:schemeClr val="accent5"/>
              </a:solidFill>
              <a:latin typeface="DM Sans Medium"/>
              <a:ea typeface="DM Sans Medium"/>
              <a:cs typeface="DM Sans Medium"/>
              <a:sym typeface="DM Sans Medium"/>
            </a:endParaRPr>
          </a:p>
          <a:p>
            <a:pPr indent="0" lvl="0" marL="0" rtl="0" algn="ctr">
              <a:spcBef>
                <a:spcPts val="0"/>
              </a:spcBef>
              <a:spcAft>
                <a:spcPts val="0"/>
              </a:spcAft>
              <a:buClr>
                <a:srgbClr val="000000"/>
              </a:buClr>
              <a:buSzPts val="1500"/>
              <a:buFont typeface="Arial"/>
              <a:buNone/>
            </a:pPr>
            <a:r>
              <a:rPr lang="en" sz="900">
                <a:solidFill>
                  <a:schemeClr val="accent5"/>
                </a:solidFill>
                <a:latin typeface="DM Sans Medium"/>
                <a:ea typeface="DM Sans Medium"/>
                <a:cs typeface="DM Sans Medium"/>
                <a:sym typeface="DM Sans Medium"/>
              </a:rPr>
              <a:t>Including models</a:t>
            </a:r>
            <a:endParaRPr sz="900">
              <a:solidFill>
                <a:schemeClr val="accent5"/>
              </a:solidFill>
              <a:latin typeface="DM Sans Medium"/>
              <a:ea typeface="DM Sans Medium"/>
              <a:cs typeface="DM Sans Medium"/>
              <a:sym typeface="DM Sans Medium"/>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85"/>
          <p:cNvSpPr txBox="1"/>
          <p:nvPr>
            <p:ph idx="12" type="sldNum"/>
          </p:nvPr>
        </p:nvSpPr>
        <p:spPr>
          <a:xfrm>
            <a:off x="14793191" y="8631067"/>
            <a:ext cx="432300" cy="248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606" name="Google Shape;1606;p85"/>
          <p:cNvSpPr txBox="1"/>
          <p:nvPr/>
        </p:nvSpPr>
        <p:spPr>
          <a:xfrm>
            <a:off x="4275" y="311825"/>
            <a:ext cx="120399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000">
                <a:solidFill>
                  <a:schemeClr val="dk1"/>
                </a:solidFill>
                <a:latin typeface="DM Sans Medium"/>
                <a:ea typeface="DM Sans Medium"/>
                <a:cs typeface="DM Sans Medium"/>
                <a:sym typeface="DM Sans Medium"/>
              </a:rPr>
              <a:t>Unity Catalog object model, focus on catalog</a:t>
            </a:r>
            <a:br>
              <a:rPr lang="en" sz="2000">
                <a:solidFill>
                  <a:schemeClr val="dk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source/_static/images/unity-catalog/object-model-catalog.png</a:t>
            </a:r>
            <a:endParaRPr/>
          </a:p>
        </p:txBody>
      </p:sp>
      <p:sp>
        <p:nvSpPr>
          <p:cNvPr id="1607" name="Google Shape;1607;p85"/>
          <p:cNvSpPr/>
          <p:nvPr/>
        </p:nvSpPr>
        <p:spPr>
          <a:xfrm>
            <a:off x="4968901" y="2995459"/>
            <a:ext cx="1057200" cy="5649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500">
                <a:latin typeface="DM Sans Medium"/>
                <a:ea typeface="DM Sans Medium"/>
                <a:cs typeface="DM Sans Medium"/>
                <a:sym typeface="DM Sans Medium"/>
              </a:rPr>
              <a:t>Catalog</a:t>
            </a:r>
            <a:endParaRPr b="0" i="0" sz="1500" u="none" cap="none" strike="noStrike">
              <a:solidFill>
                <a:srgbClr val="000000"/>
              </a:solidFill>
              <a:latin typeface="DM Sans Medium"/>
              <a:ea typeface="DM Sans Medium"/>
              <a:cs typeface="DM Sans Medium"/>
              <a:sym typeface="DM Sans Medium"/>
            </a:endParaRPr>
          </a:p>
        </p:txBody>
      </p:sp>
      <p:cxnSp>
        <p:nvCxnSpPr>
          <p:cNvPr id="1608" name="Google Shape;1608;p85"/>
          <p:cNvCxnSpPr>
            <a:stCxn id="1609" idx="2"/>
            <a:endCxn id="1607" idx="0"/>
          </p:cNvCxnSpPr>
          <p:nvPr/>
        </p:nvCxnSpPr>
        <p:spPr>
          <a:xfrm>
            <a:off x="5497495" y="2466375"/>
            <a:ext cx="0" cy="529200"/>
          </a:xfrm>
          <a:prstGeom prst="straightConnector1">
            <a:avLst/>
          </a:prstGeom>
          <a:noFill/>
          <a:ln cap="flat" cmpd="sng" w="9525">
            <a:solidFill>
              <a:schemeClr val="dk2"/>
            </a:solidFill>
            <a:prstDash val="solid"/>
            <a:round/>
            <a:headEnd len="sm" w="sm" type="none"/>
            <a:tailEnd len="sm" w="sm" type="none"/>
          </a:ln>
        </p:spPr>
      </p:cxnSp>
      <p:cxnSp>
        <p:nvCxnSpPr>
          <p:cNvPr id="1610" name="Google Shape;1610;p85"/>
          <p:cNvCxnSpPr/>
          <p:nvPr/>
        </p:nvCxnSpPr>
        <p:spPr>
          <a:xfrm>
            <a:off x="5497548" y="4373653"/>
            <a:ext cx="0" cy="254100"/>
          </a:xfrm>
          <a:prstGeom prst="straightConnector1">
            <a:avLst/>
          </a:prstGeom>
          <a:noFill/>
          <a:ln cap="flat" cmpd="sng" w="9525">
            <a:solidFill>
              <a:schemeClr val="dk2"/>
            </a:solidFill>
            <a:prstDash val="solid"/>
            <a:round/>
            <a:headEnd len="sm" w="sm" type="none"/>
            <a:tailEnd len="sm" w="sm" type="none"/>
          </a:ln>
        </p:spPr>
      </p:cxnSp>
      <p:cxnSp>
        <p:nvCxnSpPr>
          <p:cNvPr id="1611" name="Google Shape;1611;p85"/>
          <p:cNvCxnSpPr/>
          <p:nvPr/>
        </p:nvCxnSpPr>
        <p:spPr>
          <a:xfrm>
            <a:off x="4286142" y="4631888"/>
            <a:ext cx="0" cy="287700"/>
          </a:xfrm>
          <a:prstGeom prst="straightConnector1">
            <a:avLst/>
          </a:prstGeom>
          <a:noFill/>
          <a:ln cap="flat" cmpd="sng" w="9525">
            <a:solidFill>
              <a:schemeClr val="dk2"/>
            </a:solidFill>
            <a:prstDash val="solid"/>
            <a:round/>
            <a:headEnd len="sm" w="sm" type="none"/>
            <a:tailEnd len="sm" w="sm" type="none"/>
          </a:ln>
        </p:spPr>
      </p:cxnSp>
      <p:cxnSp>
        <p:nvCxnSpPr>
          <p:cNvPr id="1612" name="Google Shape;1612;p85"/>
          <p:cNvCxnSpPr/>
          <p:nvPr/>
        </p:nvCxnSpPr>
        <p:spPr>
          <a:xfrm>
            <a:off x="5497576" y="4631888"/>
            <a:ext cx="0" cy="287700"/>
          </a:xfrm>
          <a:prstGeom prst="straightConnector1">
            <a:avLst/>
          </a:prstGeom>
          <a:noFill/>
          <a:ln cap="flat" cmpd="sng" w="9525">
            <a:solidFill>
              <a:schemeClr val="dk2"/>
            </a:solidFill>
            <a:prstDash val="solid"/>
            <a:round/>
            <a:headEnd len="sm" w="sm" type="none"/>
            <a:tailEnd len="sm" w="sm" type="none"/>
          </a:ln>
        </p:spPr>
      </p:cxnSp>
      <p:sp>
        <p:nvSpPr>
          <p:cNvPr id="1613" name="Google Shape;1613;p85"/>
          <p:cNvSpPr/>
          <p:nvPr/>
        </p:nvSpPr>
        <p:spPr>
          <a:xfrm>
            <a:off x="2546025" y="2995466"/>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Storage credential</a:t>
            </a:r>
            <a:endParaRPr b="0" i="0" sz="1300" u="none" cap="none" strike="noStrike">
              <a:solidFill>
                <a:schemeClr val="accent5"/>
              </a:solidFill>
              <a:latin typeface="DM Sans Medium"/>
              <a:ea typeface="DM Sans Medium"/>
              <a:cs typeface="DM Sans Medium"/>
              <a:sym typeface="DM Sans Medium"/>
            </a:endParaRPr>
          </a:p>
        </p:txBody>
      </p:sp>
      <p:cxnSp>
        <p:nvCxnSpPr>
          <p:cNvPr id="1614" name="Google Shape;1614;p85"/>
          <p:cNvCxnSpPr/>
          <p:nvPr/>
        </p:nvCxnSpPr>
        <p:spPr>
          <a:xfrm>
            <a:off x="3070319" y="2698179"/>
            <a:ext cx="6063600" cy="0"/>
          </a:xfrm>
          <a:prstGeom prst="straightConnector1">
            <a:avLst/>
          </a:prstGeom>
          <a:noFill/>
          <a:ln cap="flat" cmpd="sng" w="9525">
            <a:solidFill>
              <a:schemeClr val="dk2"/>
            </a:solidFill>
            <a:prstDash val="dot"/>
            <a:round/>
            <a:headEnd len="med" w="med" type="none"/>
            <a:tailEnd len="med" w="med" type="none"/>
          </a:ln>
        </p:spPr>
      </p:cxnSp>
      <p:cxnSp>
        <p:nvCxnSpPr>
          <p:cNvPr id="1615" name="Google Shape;1615;p85"/>
          <p:cNvCxnSpPr>
            <a:endCxn id="1613" idx="0"/>
          </p:cNvCxnSpPr>
          <p:nvPr/>
        </p:nvCxnSpPr>
        <p:spPr>
          <a:xfrm>
            <a:off x="3074625" y="2703866"/>
            <a:ext cx="0" cy="291600"/>
          </a:xfrm>
          <a:prstGeom prst="straightConnector1">
            <a:avLst/>
          </a:prstGeom>
          <a:noFill/>
          <a:ln cap="flat" cmpd="sng" w="9525">
            <a:solidFill>
              <a:schemeClr val="dk2"/>
            </a:solidFill>
            <a:prstDash val="dot"/>
            <a:round/>
            <a:headEnd len="sm" w="sm" type="none"/>
            <a:tailEnd len="sm" w="sm" type="none"/>
          </a:ln>
        </p:spPr>
      </p:cxnSp>
      <p:sp>
        <p:nvSpPr>
          <p:cNvPr id="1616" name="Google Shape;1616;p85"/>
          <p:cNvSpPr/>
          <p:nvPr/>
        </p:nvSpPr>
        <p:spPr>
          <a:xfrm>
            <a:off x="3757459" y="2995408"/>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External location</a:t>
            </a:r>
            <a:endParaRPr b="0" i="0" sz="1300" u="none" cap="none" strike="noStrike">
              <a:solidFill>
                <a:schemeClr val="accent5"/>
              </a:solidFill>
              <a:latin typeface="DM Sans Medium"/>
              <a:ea typeface="DM Sans Medium"/>
              <a:cs typeface="DM Sans Medium"/>
              <a:sym typeface="DM Sans Medium"/>
            </a:endParaRPr>
          </a:p>
        </p:txBody>
      </p:sp>
      <p:cxnSp>
        <p:nvCxnSpPr>
          <p:cNvPr id="1617" name="Google Shape;1617;p85"/>
          <p:cNvCxnSpPr>
            <a:endCxn id="1616" idx="0"/>
          </p:cNvCxnSpPr>
          <p:nvPr/>
        </p:nvCxnSpPr>
        <p:spPr>
          <a:xfrm>
            <a:off x="4286059" y="2707708"/>
            <a:ext cx="0" cy="287700"/>
          </a:xfrm>
          <a:prstGeom prst="straightConnector1">
            <a:avLst/>
          </a:prstGeom>
          <a:noFill/>
          <a:ln cap="flat" cmpd="sng" w="9525">
            <a:solidFill>
              <a:schemeClr val="dk2"/>
            </a:solidFill>
            <a:prstDash val="dot"/>
            <a:round/>
            <a:headEnd len="sm" w="sm" type="none"/>
            <a:tailEnd len="sm" w="sm" type="none"/>
          </a:ln>
        </p:spPr>
      </p:cxnSp>
      <p:cxnSp>
        <p:nvCxnSpPr>
          <p:cNvPr id="1618" name="Google Shape;1618;p85"/>
          <p:cNvCxnSpPr>
            <a:stCxn id="1607" idx="2"/>
            <a:endCxn id="1619" idx="0"/>
          </p:cNvCxnSpPr>
          <p:nvPr/>
        </p:nvCxnSpPr>
        <p:spPr>
          <a:xfrm>
            <a:off x="5497501" y="3560359"/>
            <a:ext cx="0" cy="237000"/>
          </a:xfrm>
          <a:prstGeom prst="straightConnector1">
            <a:avLst/>
          </a:prstGeom>
          <a:noFill/>
          <a:ln cap="flat" cmpd="sng" w="9525">
            <a:solidFill>
              <a:schemeClr val="dk2"/>
            </a:solidFill>
            <a:prstDash val="solid"/>
            <a:round/>
            <a:headEnd len="sm" w="sm" type="none"/>
            <a:tailEnd len="sm" w="sm" type="none"/>
          </a:ln>
        </p:spPr>
      </p:cxnSp>
      <p:sp>
        <p:nvSpPr>
          <p:cNvPr id="1620" name="Google Shape;1620;p85"/>
          <p:cNvSpPr/>
          <p:nvPr/>
        </p:nvSpPr>
        <p:spPr>
          <a:xfrm>
            <a:off x="6180327" y="2995408"/>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Share</a:t>
            </a:r>
            <a:endParaRPr b="0" i="0" sz="1300" u="none" cap="none" strike="noStrike">
              <a:solidFill>
                <a:schemeClr val="accent5"/>
              </a:solidFill>
              <a:latin typeface="DM Sans Medium"/>
              <a:ea typeface="DM Sans Medium"/>
              <a:cs typeface="DM Sans Medium"/>
              <a:sym typeface="DM Sans Medium"/>
            </a:endParaRPr>
          </a:p>
        </p:txBody>
      </p:sp>
      <p:cxnSp>
        <p:nvCxnSpPr>
          <p:cNvPr id="1621" name="Google Shape;1621;p85"/>
          <p:cNvCxnSpPr>
            <a:endCxn id="1620" idx="0"/>
          </p:cNvCxnSpPr>
          <p:nvPr/>
        </p:nvCxnSpPr>
        <p:spPr>
          <a:xfrm>
            <a:off x="6708927" y="2707708"/>
            <a:ext cx="0" cy="287700"/>
          </a:xfrm>
          <a:prstGeom prst="straightConnector1">
            <a:avLst/>
          </a:prstGeom>
          <a:noFill/>
          <a:ln cap="flat" cmpd="sng" w="9525">
            <a:solidFill>
              <a:schemeClr val="dk2"/>
            </a:solidFill>
            <a:prstDash val="dot"/>
            <a:round/>
            <a:headEnd len="sm" w="sm" type="none"/>
            <a:tailEnd len="sm" w="sm" type="none"/>
          </a:ln>
        </p:spPr>
      </p:cxnSp>
      <p:sp>
        <p:nvSpPr>
          <p:cNvPr id="1622" name="Google Shape;1622;p85"/>
          <p:cNvSpPr/>
          <p:nvPr/>
        </p:nvSpPr>
        <p:spPr>
          <a:xfrm>
            <a:off x="7391761" y="2995408"/>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Recipient</a:t>
            </a:r>
            <a:endParaRPr b="0" i="0" sz="1300" u="none" cap="none" strike="noStrike">
              <a:solidFill>
                <a:schemeClr val="accent5"/>
              </a:solidFill>
              <a:latin typeface="DM Sans Medium"/>
              <a:ea typeface="DM Sans Medium"/>
              <a:cs typeface="DM Sans Medium"/>
              <a:sym typeface="DM Sans Medium"/>
            </a:endParaRPr>
          </a:p>
        </p:txBody>
      </p:sp>
      <p:cxnSp>
        <p:nvCxnSpPr>
          <p:cNvPr id="1623" name="Google Shape;1623;p85"/>
          <p:cNvCxnSpPr>
            <a:endCxn id="1622" idx="0"/>
          </p:cNvCxnSpPr>
          <p:nvPr/>
        </p:nvCxnSpPr>
        <p:spPr>
          <a:xfrm>
            <a:off x="7920361" y="2707708"/>
            <a:ext cx="0" cy="287700"/>
          </a:xfrm>
          <a:prstGeom prst="straightConnector1">
            <a:avLst/>
          </a:prstGeom>
          <a:noFill/>
          <a:ln cap="flat" cmpd="sng" w="9525">
            <a:solidFill>
              <a:schemeClr val="dk2"/>
            </a:solidFill>
            <a:prstDash val="dot"/>
            <a:round/>
            <a:headEnd len="sm" w="sm" type="none"/>
            <a:tailEnd len="sm" w="sm" type="none"/>
          </a:ln>
        </p:spPr>
      </p:cxnSp>
      <p:sp>
        <p:nvSpPr>
          <p:cNvPr id="1624" name="Google Shape;1624;p85"/>
          <p:cNvSpPr/>
          <p:nvPr/>
        </p:nvSpPr>
        <p:spPr>
          <a:xfrm>
            <a:off x="8603195" y="2995408"/>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 . .</a:t>
            </a:r>
            <a:endParaRPr b="0" i="0" sz="1300" u="none" cap="none" strike="noStrike">
              <a:solidFill>
                <a:schemeClr val="accent5"/>
              </a:solidFill>
              <a:latin typeface="DM Sans Medium"/>
              <a:ea typeface="DM Sans Medium"/>
              <a:cs typeface="DM Sans Medium"/>
              <a:sym typeface="DM Sans Medium"/>
            </a:endParaRPr>
          </a:p>
        </p:txBody>
      </p:sp>
      <p:cxnSp>
        <p:nvCxnSpPr>
          <p:cNvPr id="1625" name="Google Shape;1625;p85"/>
          <p:cNvCxnSpPr>
            <a:endCxn id="1624" idx="0"/>
          </p:cNvCxnSpPr>
          <p:nvPr/>
        </p:nvCxnSpPr>
        <p:spPr>
          <a:xfrm>
            <a:off x="9131795" y="2703808"/>
            <a:ext cx="0" cy="291600"/>
          </a:xfrm>
          <a:prstGeom prst="straightConnector1">
            <a:avLst/>
          </a:prstGeom>
          <a:noFill/>
          <a:ln cap="flat" cmpd="sng" w="9525">
            <a:solidFill>
              <a:schemeClr val="dk2"/>
            </a:solidFill>
            <a:prstDash val="dot"/>
            <a:round/>
            <a:headEnd len="sm" w="sm" type="none"/>
            <a:tailEnd len="sm" w="sm" type="none"/>
          </a:ln>
        </p:spPr>
      </p:cxnSp>
      <p:cxnSp>
        <p:nvCxnSpPr>
          <p:cNvPr id="1626" name="Google Shape;1626;p85"/>
          <p:cNvCxnSpPr/>
          <p:nvPr/>
        </p:nvCxnSpPr>
        <p:spPr>
          <a:xfrm flipH="1" rot="10800000">
            <a:off x="4276034" y="4637851"/>
            <a:ext cx="3651900" cy="600"/>
          </a:xfrm>
          <a:prstGeom prst="straightConnector1">
            <a:avLst/>
          </a:prstGeom>
          <a:noFill/>
          <a:ln cap="flat" cmpd="sng" w="9525">
            <a:solidFill>
              <a:schemeClr val="dk2"/>
            </a:solidFill>
            <a:prstDash val="solid"/>
            <a:round/>
            <a:headEnd len="med" w="med" type="none"/>
            <a:tailEnd len="med" w="med" type="none"/>
          </a:ln>
        </p:spPr>
      </p:cxnSp>
      <p:cxnSp>
        <p:nvCxnSpPr>
          <p:cNvPr id="1627" name="Google Shape;1627;p85"/>
          <p:cNvCxnSpPr/>
          <p:nvPr/>
        </p:nvCxnSpPr>
        <p:spPr>
          <a:xfrm>
            <a:off x="6708967" y="4631888"/>
            <a:ext cx="0" cy="287700"/>
          </a:xfrm>
          <a:prstGeom prst="straightConnector1">
            <a:avLst/>
          </a:prstGeom>
          <a:noFill/>
          <a:ln cap="flat" cmpd="sng" w="9525">
            <a:solidFill>
              <a:schemeClr val="dk2"/>
            </a:solidFill>
            <a:prstDash val="solid"/>
            <a:round/>
            <a:headEnd len="sm" w="sm" type="none"/>
            <a:tailEnd len="sm" w="sm" type="none"/>
          </a:ln>
        </p:spPr>
      </p:cxnSp>
      <p:cxnSp>
        <p:nvCxnSpPr>
          <p:cNvPr id="1628" name="Google Shape;1628;p85"/>
          <p:cNvCxnSpPr/>
          <p:nvPr/>
        </p:nvCxnSpPr>
        <p:spPr>
          <a:xfrm>
            <a:off x="7920466" y="4638451"/>
            <a:ext cx="0" cy="287700"/>
          </a:xfrm>
          <a:prstGeom prst="straightConnector1">
            <a:avLst/>
          </a:prstGeom>
          <a:noFill/>
          <a:ln cap="flat" cmpd="sng" w="9525">
            <a:solidFill>
              <a:schemeClr val="dk2"/>
            </a:solidFill>
            <a:prstDash val="solid"/>
            <a:round/>
            <a:headEnd len="sm" w="sm" type="none"/>
            <a:tailEnd len="sm" w="sm" type="none"/>
          </a:ln>
        </p:spPr>
      </p:cxnSp>
      <p:sp>
        <p:nvSpPr>
          <p:cNvPr id="1609" name="Google Shape;1609;p85"/>
          <p:cNvSpPr/>
          <p:nvPr/>
        </p:nvSpPr>
        <p:spPr>
          <a:xfrm>
            <a:off x="4968895" y="1901475"/>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Metastore</a:t>
            </a:r>
            <a:endParaRPr b="0" i="0" sz="1300" u="none" cap="none" strike="noStrike">
              <a:solidFill>
                <a:schemeClr val="accent5"/>
              </a:solidFill>
              <a:latin typeface="DM Sans Medium"/>
              <a:ea typeface="DM Sans Medium"/>
              <a:cs typeface="DM Sans Medium"/>
              <a:sym typeface="DM Sans Medium"/>
            </a:endParaRPr>
          </a:p>
        </p:txBody>
      </p:sp>
      <p:sp>
        <p:nvSpPr>
          <p:cNvPr id="1619" name="Google Shape;1619;p85"/>
          <p:cNvSpPr/>
          <p:nvPr/>
        </p:nvSpPr>
        <p:spPr>
          <a:xfrm>
            <a:off x="4968896" y="3797248"/>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Schema</a:t>
            </a:r>
            <a:endParaRPr b="0" i="0" sz="1300" u="none" cap="none" strike="noStrike">
              <a:solidFill>
                <a:schemeClr val="accent5"/>
              </a:solidFill>
              <a:latin typeface="DM Sans Medium"/>
              <a:ea typeface="DM Sans Medium"/>
              <a:cs typeface="DM Sans Medium"/>
              <a:sym typeface="DM Sans Medium"/>
            </a:endParaRPr>
          </a:p>
        </p:txBody>
      </p:sp>
      <p:sp>
        <p:nvSpPr>
          <p:cNvPr id="1629" name="Google Shape;1629;p85"/>
          <p:cNvSpPr/>
          <p:nvPr/>
        </p:nvSpPr>
        <p:spPr>
          <a:xfrm>
            <a:off x="3757441" y="4926183"/>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Table</a:t>
            </a:r>
            <a:endParaRPr b="0" i="0" sz="1300" u="none" cap="none" strike="noStrike">
              <a:solidFill>
                <a:schemeClr val="accent5"/>
              </a:solidFill>
              <a:latin typeface="DM Sans Medium"/>
              <a:ea typeface="DM Sans Medium"/>
              <a:cs typeface="DM Sans Medium"/>
              <a:sym typeface="DM Sans Medium"/>
            </a:endParaRPr>
          </a:p>
        </p:txBody>
      </p:sp>
      <p:sp>
        <p:nvSpPr>
          <p:cNvPr id="1630" name="Google Shape;1630;p85"/>
          <p:cNvSpPr/>
          <p:nvPr/>
        </p:nvSpPr>
        <p:spPr>
          <a:xfrm>
            <a:off x="4968874" y="4926183"/>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View</a:t>
            </a:r>
            <a:endParaRPr b="0" i="0" sz="1300" u="none" cap="none" strike="noStrike">
              <a:solidFill>
                <a:schemeClr val="accent5"/>
              </a:solidFill>
              <a:latin typeface="DM Sans Medium"/>
              <a:ea typeface="DM Sans Medium"/>
              <a:cs typeface="DM Sans Medium"/>
              <a:sym typeface="DM Sans Medium"/>
            </a:endParaRPr>
          </a:p>
        </p:txBody>
      </p:sp>
      <p:sp>
        <p:nvSpPr>
          <p:cNvPr id="1631" name="Google Shape;1631;p85"/>
          <p:cNvSpPr/>
          <p:nvPr/>
        </p:nvSpPr>
        <p:spPr>
          <a:xfrm>
            <a:off x="6180306" y="4926183"/>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Volume</a:t>
            </a:r>
            <a:endParaRPr b="0" i="0" sz="1300" u="none" cap="none" strike="noStrike">
              <a:solidFill>
                <a:schemeClr val="accent5"/>
              </a:solidFill>
              <a:latin typeface="DM Sans Medium"/>
              <a:ea typeface="DM Sans Medium"/>
              <a:cs typeface="DM Sans Medium"/>
              <a:sym typeface="DM Sans Medium"/>
            </a:endParaRPr>
          </a:p>
        </p:txBody>
      </p:sp>
      <p:sp>
        <p:nvSpPr>
          <p:cNvPr id="1632" name="Google Shape;1632;p85"/>
          <p:cNvSpPr/>
          <p:nvPr/>
        </p:nvSpPr>
        <p:spPr>
          <a:xfrm>
            <a:off x="7391738" y="4926183"/>
            <a:ext cx="1057200" cy="5649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Function</a:t>
            </a:r>
            <a:endParaRPr sz="1300">
              <a:solidFill>
                <a:schemeClr val="accent5"/>
              </a:solidFill>
              <a:latin typeface="DM Sans Medium"/>
              <a:ea typeface="DM Sans Medium"/>
              <a:cs typeface="DM Sans Medium"/>
              <a:sym typeface="DM Sans Medium"/>
            </a:endParaRPr>
          </a:p>
          <a:p>
            <a:pPr indent="0" lvl="0" marL="0" rtl="0" algn="ctr">
              <a:spcBef>
                <a:spcPts val="0"/>
              </a:spcBef>
              <a:spcAft>
                <a:spcPts val="0"/>
              </a:spcAft>
              <a:buClr>
                <a:srgbClr val="000000"/>
              </a:buClr>
              <a:buSzPts val="1500"/>
              <a:buFont typeface="Arial"/>
              <a:buNone/>
            </a:pPr>
            <a:r>
              <a:rPr lang="en" sz="900">
                <a:solidFill>
                  <a:schemeClr val="accent5"/>
                </a:solidFill>
                <a:latin typeface="DM Sans Medium"/>
                <a:ea typeface="DM Sans Medium"/>
                <a:cs typeface="DM Sans Medium"/>
                <a:sym typeface="DM Sans Medium"/>
              </a:rPr>
              <a:t>Including models</a:t>
            </a:r>
            <a:endParaRPr sz="900">
              <a:solidFill>
                <a:schemeClr val="accent5"/>
              </a:solidFill>
              <a:latin typeface="DM Sans Medium"/>
              <a:ea typeface="DM Sans Medium"/>
              <a:cs typeface="DM Sans Medium"/>
              <a:sym typeface="DM Sans Medium"/>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86"/>
          <p:cNvSpPr txBox="1"/>
          <p:nvPr>
            <p:ph idx="12" type="sldNum"/>
          </p:nvPr>
        </p:nvSpPr>
        <p:spPr>
          <a:xfrm>
            <a:off x="14793191" y="8631067"/>
            <a:ext cx="432300" cy="248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638" name="Google Shape;1638;p86"/>
          <p:cNvSpPr txBox="1"/>
          <p:nvPr/>
        </p:nvSpPr>
        <p:spPr>
          <a:xfrm>
            <a:off x="4275" y="311825"/>
            <a:ext cx="120399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000">
                <a:solidFill>
                  <a:schemeClr val="dk1"/>
                </a:solidFill>
                <a:latin typeface="DM Sans Medium"/>
                <a:ea typeface="DM Sans Medium"/>
                <a:cs typeface="DM Sans Medium"/>
                <a:sym typeface="DM Sans Medium"/>
              </a:rPr>
              <a:t>Unity Catalog object model, focus on table</a:t>
            </a:r>
            <a:br>
              <a:rPr lang="en" sz="2000">
                <a:solidFill>
                  <a:schemeClr val="dk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source/_static/images/unity-catalog/object-model-table.png</a:t>
            </a:r>
            <a:endParaRPr/>
          </a:p>
        </p:txBody>
      </p:sp>
      <p:cxnSp>
        <p:nvCxnSpPr>
          <p:cNvPr id="1639" name="Google Shape;1639;p86"/>
          <p:cNvCxnSpPr>
            <a:stCxn id="1640" idx="2"/>
            <a:endCxn id="1641" idx="0"/>
          </p:cNvCxnSpPr>
          <p:nvPr/>
        </p:nvCxnSpPr>
        <p:spPr>
          <a:xfrm>
            <a:off x="5501371" y="2478075"/>
            <a:ext cx="0" cy="540300"/>
          </a:xfrm>
          <a:prstGeom prst="straightConnector1">
            <a:avLst/>
          </a:prstGeom>
          <a:noFill/>
          <a:ln cap="flat" cmpd="sng" w="9525">
            <a:solidFill>
              <a:schemeClr val="dk2"/>
            </a:solidFill>
            <a:prstDash val="solid"/>
            <a:round/>
            <a:headEnd len="sm" w="sm" type="none"/>
            <a:tailEnd len="sm" w="sm" type="none"/>
          </a:ln>
        </p:spPr>
      </p:cxnSp>
      <p:cxnSp>
        <p:nvCxnSpPr>
          <p:cNvPr id="1642" name="Google Shape;1642;p86"/>
          <p:cNvCxnSpPr/>
          <p:nvPr/>
        </p:nvCxnSpPr>
        <p:spPr>
          <a:xfrm>
            <a:off x="5501301" y="4425729"/>
            <a:ext cx="0" cy="259200"/>
          </a:xfrm>
          <a:prstGeom prst="straightConnector1">
            <a:avLst/>
          </a:prstGeom>
          <a:noFill/>
          <a:ln cap="flat" cmpd="sng" w="9525">
            <a:solidFill>
              <a:schemeClr val="dk2"/>
            </a:solidFill>
            <a:prstDash val="solid"/>
            <a:round/>
            <a:headEnd len="sm" w="sm" type="none"/>
            <a:tailEnd len="sm" w="sm" type="none"/>
          </a:ln>
        </p:spPr>
      </p:cxnSp>
      <p:cxnSp>
        <p:nvCxnSpPr>
          <p:cNvPr id="1643" name="Google Shape;1643;p86"/>
          <p:cNvCxnSpPr/>
          <p:nvPr/>
        </p:nvCxnSpPr>
        <p:spPr>
          <a:xfrm>
            <a:off x="4287083" y="4689403"/>
            <a:ext cx="0" cy="293700"/>
          </a:xfrm>
          <a:prstGeom prst="straightConnector1">
            <a:avLst/>
          </a:prstGeom>
          <a:noFill/>
          <a:ln cap="flat" cmpd="sng" w="9525">
            <a:solidFill>
              <a:schemeClr val="dk2"/>
            </a:solidFill>
            <a:prstDash val="solid"/>
            <a:round/>
            <a:headEnd len="sm" w="sm" type="none"/>
            <a:tailEnd len="sm" w="sm" type="none"/>
          </a:ln>
        </p:spPr>
      </p:cxnSp>
      <p:cxnSp>
        <p:nvCxnSpPr>
          <p:cNvPr id="1644" name="Google Shape;1644;p86"/>
          <p:cNvCxnSpPr/>
          <p:nvPr/>
        </p:nvCxnSpPr>
        <p:spPr>
          <a:xfrm>
            <a:off x="5501330" y="4689403"/>
            <a:ext cx="0" cy="293700"/>
          </a:xfrm>
          <a:prstGeom prst="straightConnector1">
            <a:avLst/>
          </a:prstGeom>
          <a:noFill/>
          <a:ln cap="flat" cmpd="sng" w="9525">
            <a:solidFill>
              <a:schemeClr val="dk2"/>
            </a:solidFill>
            <a:prstDash val="solid"/>
            <a:round/>
            <a:headEnd len="sm" w="sm" type="none"/>
            <a:tailEnd len="sm" w="sm" type="none"/>
          </a:ln>
        </p:spPr>
      </p:cxnSp>
      <p:sp>
        <p:nvSpPr>
          <p:cNvPr id="1645" name="Google Shape;1645;p86"/>
          <p:cNvSpPr/>
          <p:nvPr/>
        </p:nvSpPr>
        <p:spPr>
          <a:xfrm>
            <a:off x="2542925" y="301851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Storage credential</a:t>
            </a:r>
            <a:endParaRPr b="0" i="0" sz="1300" u="none" cap="none" strike="noStrike">
              <a:solidFill>
                <a:schemeClr val="accent5"/>
              </a:solidFill>
              <a:latin typeface="DM Sans Medium"/>
              <a:ea typeface="DM Sans Medium"/>
              <a:cs typeface="DM Sans Medium"/>
              <a:sym typeface="DM Sans Medium"/>
            </a:endParaRPr>
          </a:p>
        </p:txBody>
      </p:sp>
      <p:cxnSp>
        <p:nvCxnSpPr>
          <p:cNvPr id="1646" name="Google Shape;1646;p86"/>
          <p:cNvCxnSpPr/>
          <p:nvPr/>
        </p:nvCxnSpPr>
        <p:spPr>
          <a:xfrm>
            <a:off x="3072190" y="2706694"/>
            <a:ext cx="6078600" cy="0"/>
          </a:xfrm>
          <a:prstGeom prst="straightConnector1">
            <a:avLst/>
          </a:prstGeom>
          <a:noFill/>
          <a:ln cap="flat" cmpd="sng" w="9525">
            <a:solidFill>
              <a:schemeClr val="dk2"/>
            </a:solidFill>
            <a:prstDash val="dot"/>
            <a:round/>
            <a:headEnd len="med" w="med" type="none"/>
            <a:tailEnd len="med" w="med" type="none"/>
          </a:ln>
        </p:spPr>
      </p:cxnSp>
      <p:cxnSp>
        <p:nvCxnSpPr>
          <p:cNvPr id="1647" name="Google Shape;1647;p86"/>
          <p:cNvCxnSpPr>
            <a:endCxn id="1645" idx="0"/>
          </p:cNvCxnSpPr>
          <p:nvPr/>
        </p:nvCxnSpPr>
        <p:spPr>
          <a:xfrm>
            <a:off x="3072875" y="2724811"/>
            <a:ext cx="0" cy="293700"/>
          </a:xfrm>
          <a:prstGeom prst="straightConnector1">
            <a:avLst/>
          </a:prstGeom>
          <a:noFill/>
          <a:ln cap="flat" cmpd="sng" w="9525">
            <a:solidFill>
              <a:schemeClr val="dk2"/>
            </a:solidFill>
            <a:prstDash val="dot"/>
            <a:round/>
            <a:headEnd len="sm" w="sm" type="none"/>
            <a:tailEnd len="sm" w="sm" type="none"/>
          </a:ln>
        </p:spPr>
      </p:cxnSp>
      <p:sp>
        <p:nvSpPr>
          <p:cNvPr id="1648" name="Google Shape;1648;p86"/>
          <p:cNvSpPr/>
          <p:nvPr/>
        </p:nvSpPr>
        <p:spPr>
          <a:xfrm>
            <a:off x="3757172"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External location</a:t>
            </a:r>
            <a:endParaRPr b="0" i="0" sz="1300" u="none" cap="none" strike="noStrike">
              <a:solidFill>
                <a:schemeClr val="accent5"/>
              </a:solidFill>
              <a:latin typeface="DM Sans Medium"/>
              <a:ea typeface="DM Sans Medium"/>
              <a:cs typeface="DM Sans Medium"/>
              <a:sym typeface="DM Sans Medium"/>
            </a:endParaRPr>
          </a:p>
        </p:txBody>
      </p:sp>
      <p:cxnSp>
        <p:nvCxnSpPr>
          <p:cNvPr id="1649" name="Google Shape;1649;p86"/>
          <p:cNvCxnSpPr>
            <a:endCxn id="1648" idx="0"/>
          </p:cNvCxnSpPr>
          <p:nvPr/>
        </p:nvCxnSpPr>
        <p:spPr>
          <a:xfrm>
            <a:off x="4287122" y="2724751"/>
            <a:ext cx="0" cy="293700"/>
          </a:xfrm>
          <a:prstGeom prst="straightConnector1">
            <a:avLst/>
          </a:prstGeom>
          <a:noFill/>
          <a:ln cap="flat" cmpd="sng" w="9525">
            <a:solidFill>
              <a:schemeClr val="dk2"/>
            </a:solidFill>
            <a:prstDash val="dot"/>
            <a:round/>
            <a:headEnd len="sm" w="sm" type="none"/>
            <a:tailEnd len="sm" w="sm" type="none"/>
          </a:ln>
        </p:spPr>
      </p:cxnSp>
      <p:cxnSp>
        <p:nvCxnSpPr>
          <p:cNvPr id="1650" name="Google Shape;1650;p86"/>
          <p:cNvCxnSpPr>
            <a:stCxn id="1641" idx="2"/>
            <a:endCxn id="1651" idx="0"/>
          </p:cNvCxnSpPr>
          <p:nvPr/>
        </p:nvCxnSpPr>
        <p:spPr>
          <a:xfrm>
            <a:off x="5501372" y="3595081"/>
            <a:ext cx="0" cy="242100"/>
          </a:xfrm>
          <a:prstGeom prst="straightConnector1">
            <a:avLst/>
          </a:prstGeom>
          <a:noFill/>
          <a:ln cap="flat" cmpd="sng" w="9525">
            <a:solidFill>
              <a:schemeClr val="dk2"/>
            </a:solidFill>
            <a:prstDash val="solid"/>
            <a:round/>
            <a:headEnd len="sm" w="sm" type="none"/>
            <a:tailEnd len="sm" w="sm" type="none"/>
          </a:ln>
        </p:spPr>
      </p:cxnSp>
      <p:sp>
        <p:nvSpPr>
          <p:cNvPr id="1652" name="Google Shape;1652;p86"/>
          <p:cNvSpPr/>
          <p:nvPr/>
        </p:nvSpPr>
        <p:spPr>
          <a:xfrm>
            <a:off x="6185666"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Share</a:t>
            </a:r>
            <a:endParaRPr b="0" i="0" sz="1300" u="none" cap="none" strike="noStrike">
              <a:solidFill>
                <a:schemeClr val="accent5"/>
              </a:solidFill>
              <a:latin typeface="DM Sans Medium"/>
              <a:ea typeface="DM Sans Medium"/>
              <a:cs typeface="DM Sans Medium"/>
              <a:sym typeface="DM Sans Medium"/>
            </a:endParaRPr>
          </a:p>
        </p:txBody>
      </p:sp>
      <p:cxnSp>
        <p:nvCxnSpPr>
          <p:cNvPr id="1653" name="Google Shape;1653;p86"/>
          <p:cNvCxnSpPr>
            <a:endCxn id="1652" idx="0"/>
          </p:cNvCxnSpPr>
          <p:nvPr/>
        </p:nvCxnSpPr>
        <p:spPr>
          <a:xfrm>
            <a:off x="6715616" y="2724751"/>
            <a:ext cx="0" cy="293700"/>
          </a:xfrm>
          <a:prstGeom prst="straightConnector1">
            <a:avLst/>
          </a:prstGeom>
          <a:noFill/>
          <a:ln cap="flat" cmpd="sng" w="9525">
            <a:solidFill>
              <a:schemeClr val="dk2"/>
            </a:solidFill>
            <a:prstDash val="dot"/>
            <a:round/>
            <a:headEnd len="sm" w="sm" type="none"/>
            <a:tailEnd len="sm" w="sm" type="none"/>
          </a:ln>
        </p:spPr>
      </p:cxnSp>
      <p:sp>
        <p:nvSpPr>
          <p:cNvPr id="1654" name="Google Shape;1654;p86"/>
          <p:cNvSpPr/>
          <p:nvPr/>
        </p:nvSpPr>
        <p:spPr>
          <a:xfrm>
            <a:off x="7399913"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Recipient</a:t>
            </a:r>
            <a:endParaRPr b="0" i="0" sz="1300" u="none" cap="none" strike="noStrike">
              <a:solidFill>
                <a:schemeClr val="accent5"/>
              </a:solidFill>
              <a:latin typeface="DM Sans Medium"/>
              <a:ea typeface="DM Sans Medium"/>
              <a:cs typeface="DM Sans Medium"/>
              <a:sym typeface="DM Sans Medium"/>
            </a:endParaRPr>
          </a:p>
        </p:txBody>
      </p:sp>
      <p:cxnSp>
        <p:nvCxnSpPr>
          <p:cNvPr id="1655" name="Google Shape;1655;p86"/>
          <p:cNvCxnSpPr>
            <a:endCxn id="1654" idx="0"/>
          </p:cNvCxnSpPr>
          <p:nvPr/>
        </p:nvCxnSpPr>
        <p:spPr>
          <a:xfrm>
            <a:off x="7929863" y="2724751"/>
            <a:ext cx="0" cy="293700"/>
          </a:xfrm>
          <a:prstGeom prst="straightConnector1">
            <a:avLst/>
          </a:prstGeom>
          <a:noFill/>
          <a:ln cap="flat" cmpd="sng" w="9525">
            <a:solidFill>
              <a:schemeClr val="dk2"/>
            </a:solidFill>
            <a:prstDash val="dot"/>
            <a:round/>
            <a:headEnd len="sm" w="sm" type="none"/>
            <a:tailEnd len="sm" w="sm" type="none"/>
          </a:ln>
        </p:spPr>
      </p:cxnSp>
      <p:sp>
        <p:nvSpPr>
          <p:cNvPr id="1656" name="Google Shape;1656;p86"/>
          <p:cNvSpPr/>
          <p:nvPr/>
        </p:nvSpPr>
        <p:spPr>
          <a:xfrm>
            <a:off x="8614160"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 . . </a:t>
            </a:r>
            <a:endParaRPr b="0" i="0" sz="1300" u="none" cap="none" strike="noStrike">
              <a:solidFill>
                <a:schemeClr val="accent5"/>
              </a:solidFill>
              <a:latin typeface="DM Sans Medium"/>
              <a:ea typeface="DM Sans Medium"/>
              <a:cs typeface="DM Sans Medium"/>
              <a:sym typeface="DM Sans Medium"/>
            </a:endParaRPr>
          </a:p>
        </p:txBody>
      </p:sp>
      <p:cxnSp>
        <p:nvCxnSpPr>
          <p:cNvPr id="1657" name="Google Shape;1657;p86"/>
          <p:cNvCxnSpPr>
            <a:endCxn id="1656" idx="0"/>
          </p:cNvCxnSpPr>
          <p:nvPr/>
        </p:nvCxnSpPr>
        <p:spPr>
          <a:xfrm>
            <a:off x="9144110" y="2724751"/>
            <a:ext cx="0" cy="293700"/>
          </a:xfrm>
          <a:prstGeom prst="straightConnector1">
            <a:avLst/>
          </a:prstGeom>
          <a:noFill/>
          <a:ln cap="flat" cmpd="sng" w="9525">
            <a:solidFill>
              <a:schemeClr val="dk2"/>
            </a:solidFill>
            <a:prstDash val="dot"/>
            <a:round/>
            <a:headEnd len="sm" w="sm" type="none"/>
            <a:tailEnd len="sm" w="sm" type="none"/>
          </a:ln>
        </p:spPr>
      </p:cxnSp>
      <p:cxnSp>
        <p:nvCxnSpPr>
          <p:cNvPr id="1658" name="Google Shape;1658;p86"/>
          <p:cNvCxnSpPr/>
          <p:nvPr/>
        </p:nvCxnSpPr>
        <p:spPr>
          <a:xfrm flipH="1" rot="10800000">
            <a:off x="4276951" y="4695505"/>
            <a:ext cx="3660600" cy="600"/>
          </a:xfrm>
          <a:prstGeom prst="straightConnector1">
            <a:avLst/>
          </a:prstGeom>
          <a:noFill/>
          <a:ln cap="flat" cmpd="sng" w="9525">
            <a:solidFill>
              <a:schemeClr val="dk2"/>
            </a:solidFill>
            <a:prstDash val="solid"/>
            <a:round/>
            <a:headEnd len="med" w="med" type="none"/>
            <a:tailEnd len="med" w="med" type="none"/>
          </a:ln>
        </p:spPr>
      </p:cxnSp>
      <p:cxnSp>
        <p:nvCxnSpPr>
          <p:cNvPr id="1659" name="Google Shape;1659;p86"/>
          <p:cNvCxnSpPr/>
          <p:nvPr/>
        </p:nvCxnSpPr>
        <p:spPr>
          <a:xfrm>
            <a:off x="6715533" y="4689403"/>
            <a:ext cx="0" cy="293700"/>
          </a:xfrm>
          <a:prstGeom prst="straightConnector1">
            <a:avLst/>
          </a:prstGeom>
          <a:noFill/>
          <a:ln cap="flat" cmpd="sng" w="9525">
            <a:solidFill>
              <a:schemeClr val="dk2"/>
            </a:solidFill>
            <a:prstDash val="solid"/>
            <a:round/>
            <a:headEnd len="sm" w="sm" type="none"/>
            <a:tailEnd len="sm" w="sm" type="none"/>
          </a:ln>
        </p:spPr>
      </p:cxnSp>
      <p:cxnSp>
        <p:nvCxnSpPr>
          <p:cNvPr id="1660" name="Google Shape;1660;p86"/>
          <p:cNvCxnSpPr/>
          <p:nvPr/>
        </p:nvCxnSpPr>
        <p:spPr>
          <a:xfrm>
            <a:off x="7929846" y="4696105"/>
            <a:ext cx="0" cy="293700"/>
          </a:xfrm>
          <a:prstGeom prst="straightConnector1">
            <a:avLst/>
          </a:prstGeom>
          <a:noFill/>
          <a:ln cap="flat" cmpd="sng" w="9525">
            <a:solidFill>
              <a:schemeClr val="dk2"/>
            </a:solidFill>
            <a:prstDash val="solid"/>
            <a:round/>
            <a:headEnd len="sm" w="sm" type="none"/>
            <a:tailEnd len="sm" w="sm" type="none"/>
          </a:ln>
        </p:spPr>
      </p:cxnSp>
      <p:sp>
        <p:nvSpPr>
          <p:cNvPr id="1640" name="Google Shape;1640;p86"/>
          <p:cNvSpPr/>
          <p:nvPr/>
        </p:nvSpPr>
        <p:spPr>
          <a:xfrm>
            <a:off x="4971421" y="1901475"/>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Metastore</a:t>
            </a:r>
            <a:endParaRPr b="0" i="0" sz="1300" u="none" cap="none" strike="noStrike">
              <a:solidFill>
                <a:schemeClr val="accent5"/>
              </a:solidFill>
              <a:latin typeface="DM Sans Medium"/>
              <a:ea typeface="DM Sans Medium"/>
              <a:cs typeface="DM Sans Medium"/>
              <a:sym typeface="DM Sans Medium"/>
            </a:endParaRPr>
          </a:p>
        </p:txBody>
      </p:sp>
      <p:sp>
        <p:nvSpPr>
          <p:cNvPr id="1651" name="Google Shape;1651;p86"/>
          <p:cNvSpPr/>
          <p:nvPr/>
        </p:nvSpPr>
        <p:spPr>
          <a:xfrm>
            <a:off x="4971422" y="383718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Schema</a:t>
            </a:r>
            <a:endParaRPr b="0" i="0" sz="1300" u="none" cap="none" strike="noStrike">
              <a:solidFill>
                <a:schemeClr val="accent5"/>
              </a:solidFill>
              <a:latin typeface="DM Sans Medium"/>
              <a:ea typeface="DM Sans Medium"/>
              <a:cs typeface="DM Sans Medium"/>
              <a:sym typeface="DM Sans Medium"/>
            </a:endParaRPr>
          </a:p>
        </p:txBody>
      </p:sp>
      <p:sp>
        <p:nvSpPr>
          <p:cNvPr id="1661" name="Google Shape;1661;p86"/>
          <p:cNvSpPr/>
          <p:nvPr/>
        </p:nvSpPr>
        <p:spPr>
          <a:xfrm>
            <a:off x="4971400" y="4989898"/>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View</a:t>
            </a:r>
            <a:endParaRPr b="0" i="0" sz="1300" u="none" cap="none" strike="noStrike">
              <a:solidFill>
                <a:schemeClr val="accent5"/>
              </a:solidFill>
              <a:latin typeface="DM Sans Medium"/>
              <a:ea typeface="DM Sans Medium"/>
              <a:cs typeface="DM Sans Medium"/>
              <a:sym typeface="DM Sans Medium"/>
            </a:endParaRPr>
          </a:p>
        </p:txBody>
      </p:sp>
      <p:sp>
        <p:nvSpPr>
          <p:cNvPr id="1662" name="Google Shape;1662;p86"/>
          <p:cNvSpPr/>
          <p:nvPr/>
        </p:nvSpPr>
        <p:spPr>
          <a:xfrm>
            <a:off x="6185645" y="4989898"/>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Volume</a:t>
            </a:r>
            <a:endParaRPr b="0" i="0" sz="1300" u="none" cap="none" strike="noStrike">
              <a:solidFill>
                <a:schemeClr val="accent5"/>
              </a:solidFill>
              <a:latin typeface="DM Sans Medium"/>
              <a:ea typeface="DM Sans Medium"/>
              <a:cs typeface="DM Sans Medium"/>
              <a:sym typeface="DM Sans Medium"/>
            </a:endParaRPr>
          </a:p>
        </p:txBody>
      </p:sp>
      <p:sp>
        <p:nvSpPr>
          <p:cNvPr id="1663" name="Google Shape;1663;p86"/>
          <p:cNvSpPr/>
          <p:nvPr/>
        </p:nvSpPr>
        <p:spPr>
          <a:xfrm>
            <a:off x="7399890" y="4989898"/>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Function</a:t>
            </a:r>
            <a:endParaRPr sz="1300">
              <a:solidFill>
                <a:schemeClr val="accent5"/>
              </a:solidFill>
              <a:latin typeface="DM Sans Medium"/>
              <a:ea typeface="DM Sans Medium"/>
              <a:cs typeface="DM Sans Medium"/>
              <a:sym typeface="DM Sans Medium"/>
            </a:endParaRPr>
          </a:p>
          <a:p>
            <a:pPr indent="0" lvl="0" marL="0" rtl="0" algn="ctr">
              <a:spcBef>
                <a:spcPts val="0"/>
              </a:spcBef>
              <a:spcAft>
                <a:spcPts val="0"/>
              </a:spcAft>
              <a:buClr>
                <a:srgbClr val="000000"/>
              </a:buClr>
              <a:buSzPts val="1500"/>
              <a:buFont typeface="Arial"/>
              <a:buNone/>
            </a:pPr>
            <a:r>
              <a:rPr lang="en" sz="900">
                <a:solidFill>
                  <a:schemeClr val="accent5"/>
                </a:solidFill>
                <a:latin typeface="DM Sans Medium"/>
                <a:ea typeface="DM Sans Medium"/>
                <a:cs typeface="DM Sans Medium"/>
                <a:sym typeface="DM Sans Medium"/>
              </a:rPr>
              <a:t>Including models</a:t>
            </a:r>
            <a:endParaRPr sz="900">
              <a:solidFill>
                <a:schemeClr val="accent5"/>
              </a:solidFill>
              <a:latin typeface="DM Sans Medium"/>
              <a:ea typeface="DM Sans Medium"/>
              <a:cs typeface="DM Sans Medium"/>
              <a:sym typeface="DM Sans Medium"/>
            </a:endParaRPr>
          </a:p>
        </p:txBody>
      </p:sp>
      <p:sp>
        <p:nvSpPr>
          <p:cNvPr id="1664" name="Google Shape;1664;p86"/>
          <p:cNvSpPr/>
          <p:nvPr/>
        </p:nvSpPr>
        <p:spPr>
          <a:xfrm>
            <a:off x="3757159" y="4989898"/>
            <a:ext cx="1059900" cy="576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500">
                <a:latin typeface="DM Sans Medium"/>
                <a:ea typeface="DM Sans Medium"/>
                <a:cs typeface="DM Sans Medium"/>
                <a:sym typeface="DM Sans Medium"/>
              </a:rPr>
              <a:t>Table</a:t>
            </a:r>
            <a:endParaRPr b="0" i="0" sz="1500" u="none" cap="none" strike="noStrike">
              <a:solidFill>
                <a:srgbClr val="000000"/>
              </a:solidFill>
              <a:latin typeface="DM Sans Medium"/>
              <a:ea typeface="DM Sans Medium"/>
              <a:cs typeface="DM Sans Medium"/>
              <a:sym typeface="DM Sans Medium"/>
            </a:endParaRPr>
          </a:p>
        </p:txBody>
      </p:sp>
      <p:sp>
        <p:nvSpPr>
          <p:cNvPr id="1665" name="Google Shape;1665;p86"/>
          <p:cNvSpPr/>
          <p:nvPr/>
        </p:nvSpPr>
        <p:spPr>
          <a:xfrm>
            <a:off x="4971422" y="3018503"/>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Catalog</a:t>
            </a:r>
            <a:endParaRPr b="0" i="0" sz="1300" u="none" cap="none" strike="noStrike">
              <a:solidFill>
                <a:schemeClr val="accent5"/>
              </a:solidFill>
              <a:latin typeface="DM Sans Medium"/>
              <a:ea typeface="DM Sans Medium"/>
              <a:cs typeface="DM Sans Medium"/>
              <a:sym typeface="DM Sans Medium"/>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9" name="Shape 1669"/>
        <p:cNvGrpSpPr/>
        <p:nvPr/>
      </p:nvGrpSpPr>
      <p:grpSpPr>
        <a:xfrm>
          <a:off x="0" y="0"/>
          <a:ext cx="0" cy="0"/>
          <a:chOff x="0" y="0"/>
          <a:chExt cx="0" cy="0"/>
        </a:xfrm>
      </p:grpSpPr>
      <p:sp>
        <p:nvSpPr>
          <p:cNvPr id="1670" name="Google Shape;1670;p87"/>
          <p:cNvSpPr txBox="1"/>
          <p:nvPr>
            <p:ph idx="12" type="sldNum"/>
          </p:nvPr>
        </p:nvSpPr>
        <p:spPr>
          <a:xfrm>
            <a:off x="14793191" y="8631067"/>
            <a:ext cx="432300" cy="248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671" name="Google Shape;1671;p87"/>
          <p:cNvSpPr txBox="1"/>
          <p:nvPr/>
        </p:nvSpPr>
        <p:spPr>
          <a:xfrm>
            <a:off x="4275" y="311825"/>
            <a:ext cx="120399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000">
                <a:solidFill>
                  <a:schemeClr val="dk1"/>
                </a:solidFill>
                <a:latin typeface="DM Sans Medium"/>
                <a:ea typeface="DM Sans Medium"/>
                <a:cs typeface="DM Sans Medium"/>
                <a:sym typeface="DM Sans Medium"/>
              </a:rPr>
              <a:t>Unity Catalog object model, focus on view</a:t>
            </a:r>
            <a:br>
              <a:rPr lang="en" sz="2000">
                <a:solidFill>
                  <a:schemeClr val="dk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source/_static/images/unity-catalog/object-model-view.png</a:t>
            </a:r>
            <a:endParaRPr/>
          </a:p>
        </p:txBody>
      </p:sp>
      <p:cxnSp>
        <p:nvCxnSpPr>
          <p:cNvPr id="1672" name="Google Shape;1672;p87"/>
          <p:cNvCxnSpPr>
            <a:stCxn id="1673" idx="2"/>
          </p:cNvCxnSpPr>
          <p:nvPr/>
        </p:nvCxnSpPr>
        <p:spPr>
          <a:xfrm>
            <a:off x="5501371" y="2478075"/>
            <a:ext cx="0" cy="540300"/>
          </a:xfrm>
          <a:prstGeom prst="straightConnector1">
            <a:avLst/>
          </a:prstGeom>
          <a:noFill/>
          <a:ln cap="flat" cmpd="sng" w="9525">
            <a:solidFill>
              <a:schemeClr val="dk2"/>
            </a:solidFill>
            <a:prstDash val="solid"/>
            <a:round/>
            <a:headEnd len="sm" w="sm" type="none"/>
            <a:tailEnd len="sm" w="sm" type="none"/>
          </a:ln>
        </p:spPr>
      </p:cxnSp>
      <p:cxnSp>
        <p:nvCxnSpPr>
          <p:cNvPr id="1674" name="Google Shape;1674;p87"/>
          <p:cNvCxnSpPr/>
          <p:nvPr/>
        </p:nvCxnSpPr>
        <p:spPr>
          <a:xfrm>
            <a:off x="5501301" y="4425729"/>
            <a:ext cx="0" cy="259200"/>
          </a:xfrm>
          <a:prstGeom prst="straightConnector1">
            <a:avLst/>
          </a:prstGeom>
          <a:noFill/>
          <a:ln cap="flat" cmpd="sng" w="9525">
            <a:solidFill>
              <a:schemeClr val="dk2"/>
            </a:solidFill>
            <a:prstDash val="solid"/>
            <a:round/>
            <a:headEnd len="sm" w="sm" type="none"/>
            <a:tailEnd len="sm" w="sm" type="none"/>
          </a:ln>
        </p:spPr>
      </p:cxnSp>
      <p:cxnSp>
        <p:nvCxnSpPr>
          <p:cNvPr id="1675" name="Google Shape;1675;p87"/>
          <p:cNvCxnSpPr/>
          <p:nvPr/>
        </p:nvCxnSpPr>
        <p:spPr>
          <a:xfrm>
            <a:off x="4287083" y="4689403"/>
            <a:ext cx="0" cy="293700"/>
          </a:xfrm>
          <a:prstGeom prst="straightConnector1">
            <a:avLst/>
          </a:prstGeom>
          <a:noFill/>
          <a:ln cap="flat" cmpd="sng" w="9525">
            <a:solidFill>
              <a:schemeClr val="dk2"/>
            </a:solidFill>
            <a:prstDash val="solid"/>
            <a:round/>
            <a:headEnd len="sm" w="sm" type="none"/>
            <a:tailEnd len="sm" w="sm" type="none"/>
          </a:ln>
        </p:spPr>
      </p:cxnSp>
      <p:cxnSp>
        <p:nvCxnSpPr>
          <p:cNvPr id="1676" name="Google Shape;1676;p87"/>
          <p:cNvCxnSpPr/>
          <p:nvPr/>
        </p:nvCxnSpPr>
        <p:spPr>
          <a:xfrm>
            <a:off x="5501330" y="4689403"/>
            <a:ext cx="0" cy="293700"/>
          </a:xfrm>
          <a:prstGeom prst="straightConnector1">
            <a:avLst/>
          </a:prstGeom>
          <a:noFill/>
          <a:ln cap="flat" cmpd="sng" w="9525">
            <a:solidFill>
              <a:schemeClr val="dk2"/>
            </a:solidFill>
            <a:prstDash val="solid"/>
            <a:round/>
            <a:headEnd len="sm" w="sm" type="none"/>
            <a:tailEnd len="sm" w="sm" type="none"/>
          </a:ln>
        </p:spPr>
      </p:cxnSp>
      <p:sp>
        <p:nvSpPr>
          <p:cNvPr id="1677" name="Google Shape;1677;p87"/>
          <p:cNvSpPr/>
          <p:nvPr/>
        </p:nvSpPr>
        <p:spPr>
          <a:xfrm>
            <a:off x="2542925" y="301851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Storage credential</a:t>
            </a:r>
            <a:endParaRPr b="0" i="0" sz="1300" u="none" cap="none" strike="noStrike">
              <a:solidFill>
                <a:schemeClr val="accent5"/>
              </a:solidFill>
              <a:latin typeface="DM Sans Medium"/>
              <a:ea typeface="DM Sans Medium"/>
              <a:cs typeface="DM Sans Medium"/>
              <a:sym typeface="DM Sans Medium"/>
            </a:endParaRPr>
          </a:p>
        </p:txBody>
      </p:sp>
      <p:cxnSp>
        <p:nvCxnSpPr>
          <p:cNvPr id="1678" name="Google Shape;1678;p87"/>
          <p:cNvCxnSpPr/>
          <p:nvPr/>
        </p:nvCxnSpPr>
        <p:spPr>
          <a:xfrm>
            <a:off x="3072190" y="2706694"/>
            <a:ext cx="6078600" cy="0"/>
          </a:xfrm>
          <a:prstGeom prst="straightConnector1">
            <a:avLst/>
          </a:prstGeom>
          <a:noFill/>
          <a:ln cap="flat" cmpd="sng" w="9525">
            <a:solidFill>
              <a:schemeClr val="dk2"/>
            </a:solidFill>
            <a:prstDash val="dot"/>
            <a:round/>
            <a:headEnd len="med" w="med" type="none"/>
            <a:tailEnd len="med" w="med" type="none"/>
          </a:ln>
        </p:spPr>
      </p:cxnSp>
      <p:cxnSp>
        <p:nvCxnSpPr>
          <p:cNvPr id="1679" name="Google Shape;1679;p87"/>
          <p:cNvCxnSpPr>
            <a:endCxn id="1677" idx="0"/>
          </p:cNvCxnSpPr>
          <p:nvPr/>
        </p:nvCxnSpPr>
        <p:spPr>
          <a:xfrm>
            <a:off x="3072875" y="2724811"/>
            <a:ext cx="0" cy="293700"/>
          </a:xfrm>
          <a:prstGeom prst="straightConnector1">
            <a:avLst/>
          </a:prstGeom>
          <a:noFill/>
          <a:ln cap="flat" cmpd="sng" w="9525">
            <a:solidFill>
              <a:schemeClr val="dk2"/>
            </a:solidFill>
            <a:prstDash val="dot"/>
            <a:round/>
            <a:headEnd len="sm" w="sm" type="none"/>
            <a:tailEnd len="sm" w="sm" type="none"/>
          </a:ln>
        </p:spPr>
      </p:cxnSp>
      <p:sp>
        <p:nvSpPr>
          <p:cNvPr id="1680" name="Google Shape;1680;p87"/>
          <p:cNvSpPr/>
          <p:nvPr/>
        </p:nvSpPr>
        <p:spPr>
          <a:xfrm>
            <a:off x="3757172"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External location</a:t>
            </a:r>
            <a:endParaRPr b="0" i="0" sz="1300" u="none" cap="none" strike="noStrike">
              <a:solidFill>
                <a:schemeClr val="accent5"/>
              </a:solidFill>
              <a:latin typeface="DM Sans Medium"/>
              <a:ea typeface="DM Sans Medium"/>
              <a:cs typeface="DM Sans Medium"/>
              <a:sym typeface="DM Sans Medium"/>
            </a:endParaRPr>
          </a:p>
        </p:txBody>
      </p:sp>
      <p:cxnSp>
        <p:nvCxnSpPr>
          <p:cNvPr id="1681" name="Google Shape;1681;p87"/>
          <p:cNvCxnSpPr>
            <a:endCxn id="1680" idx="0"/>
          </p:cNvCxnSpPr>
          <p:nvPr/>
        </p:nvCxnSpPr>
        <p:spPr>
          <a:xfrm>
            <a:off x="4287122" y="2724751"/>
            <a:ext cx="0" cy="293700"/>
          </a:xfrm>
          <a:prstGeom prst="straightConnector1">
            <a:avLst/>
          </a:prstGeom>
          <a:noFill/>
          <a:ln cap="flat" cmpd="sng" w="9525">
            <a:solidFill>
              <a:schemeClr val="dk2"/>
            </a:solidFill>
            <a:prstDash val="dot"/>
            <a:round/>
            <a:headEnd len="sm" w="sm" type="none"/>
            <a:tailEnd len="sm" w="sm" type="none"/>
          </a:ln>
        </p:spPr>
      </p:cxnSp>
      <p:cxnSp>
        <p:nvCxnSpPr>
          <p:cNvPr id="1682" name="Google Shape;1682;p87"/>
          <p:cNvCxnSpPr>
            <a:endCxn id="1683" idx="0"/>
          </p:cNvCxnSpPr>
          <p:nvPr/>
        </p:nvCxnSpPr>
        <p:spPr>
          <a:xfrm>
            <a:off x="5501372" y="3595081"/>
            <a:ext cx="0" cy="242100"/>
          </a:xfrm>
          <a:prstGeom prst="straightConnector1">
            <a:avLst/>
          </a:prstGeom>
          <a:noFill/>
          <a:ln cap="flat" cmpd="sng" w="9525">
            <a:solidFill>
              <a:schemeClr val="dk2"/>
            </a:solidFill>
            <a:prstDash val="solid"/>
            <a:round/>
            <a:headEnd len="sm" w="sm" type="none"/>
            <a:tailEnd len="sm" w="sm" type="none"/>
          </a:ln>
        </p:spPr>
      </p:cxnSp>
      <p:sp>
        <p:nvSpPr>
          <p:cNvPr id="1684" name="Google Shape;1684;p87"/>
          <p:cNvSpPr/>
          <p:nvPr/>
        </p:nvSpPr>
        <p:spPr>
          <a:xfrm>
            <a:off x="6185666"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Share</a:t>
            </a:r>
            <a:endParaRPr b="0" i="0" sz="1300" u="none" cap="none" strike="noStrike">
              <a:solidFill>
                <a:schemeClr val="accent5"/>
              </a:solidFill>
              <a:latin typeface="DM Sans Medium"/>
              <a:ea typeface="DM Sans Medium"/>
              <a:cs typeface="DM Sans Medium"/>
              <a:sym typeface="DM Sans Medium"/>
            </a:endParaRPr>
          </a:p>
        </p:txBody>
      </p:sp>
      <p:cxnSp>
        <p:nvCxnSpPr>
          <p:cNvPr id="1685" name="Google Shape;1685;p87"/>
          <p:cNvCxnSpPr>
            <a:endCxn id="1684" idx="0"/>
          </p:cNvCxnSpPr>
          <p:nvPr/>
        </p:nvCxnSpPr>
        <p:spPr>
          <a:xfrm>
            <a:off x="6715616" y="2724751"/>
            <a:ext cx="0" cy="293700"/>
          </a:xfrm>
          <a:prstGeom prst="straightConnector1">
            <a:avLst/>
          </a:prstGeom>
          <a:noFill/>
          <a:ln cap="flat" cmpd="sng" w="9525">
            <a:solidFill>
              <a:schemeClr val="dk2"/>
            </a:solidFill>
            <a:prstDash val="dot"/>
            <a:round/>
            <a:headEnd len="sm" w="sm" type="none"/>
            <a:tailEnd len="sm" w="sm" type="none"/>
          </a:ln>
        </p:spPr>
      </p:cxnSp>
      <p:sp>
        <p:nvSpPr>
          <p:cNvPr id="1686" name="Google Shape;1686;p87"/>
          <p:cNvSpPr/>
          <p:nvPr/>
        </p:nvSpPr>
        <p:spPr>
          <a:xfrm>
            <a:off x="7399913"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Recipient</a:t>
            </a:r>
            <a:endParaRPr b="0" i="0" sz="1300" u="none" cap="none" strike="noStrike">
              <a:solidFill>
                <a:schemeClr val="accent5"/>
              </a:solidFill>
              <a:latin typeface="DM Sans Medium"/>
              <a:ea typeface="DM Sans Medium"/>
              <a:cs typeface="DM Sans Medium"/>
              <a:sym typeface="DM Sans Medium"/>
            </a:endParaRPr>
          </a:p>
        </p:txBody>
      </p:sp>
      <p:cxnSp>
        <p:nvCxnSpPr>
          <p:cNvPr id="1687" name="Google Shape;1687;p87"/>
          <p:cNvCxnSpPr>
            <a:endCxn id="1686" idx="0"/>
          </p:cNvCxnSpPr>
          <p:nvPr/>
        </p:nvCxnSpPr>
        <p:spPr>
          <a:xfrm>
            <a:off x="7929863" y="2724751"/>
            <a:ext cx="0" cy="293700"/>
          </a:xfrm>
          <a:prstGeom prst="straightConnector1">
            <a:avLst/>
          </a:prstGeom>
          <a:noFill/>
          <a:ln cap="flat" cmpd="sng" w="9525">
            <a:solidFill>
              <a:schemeClr val="dk2"/>
            </a:solidFill>
            <a:prstDash val="dot"/>
            <a:round/>
            <a:headEnd len="sm" w="sm" type="none"/>
            <a:tailEnd len="sm" w="sm" type="none"/>
          </a:ln>
        </p:spPr>
      </p:cxnSp>
      <p:sp>
        <p:nvSpPr>
          <p:cNvPr id="1688" name="Google Shape;1688;p87"/>
          <p:cNvSpPr/>
          <p:nvPr/>
        </p:nvSpPr>
        <p:spPr>
          <a:xfrm>
            <a:off x="8614160"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 . . </a:t>
            </a:r>
            <a:endParaRPr b="0" i="0" sz="1300" u="none" cap="none" strike="noStrike">
              <a:solidFill>
                <a:schemeClr val="accent5"/>
              </a:solidFill>
              <a:latin typeface="DM Sans Medium"/>
              <a:ea typeface="DM Sans Medium"/>
              <a:cs typeface="DM Sans Medium"/>
              <a:sym typeface="DM Sans Medium"/>
            </a:endParaRPr>
          </a:p>
        </p:txBody>
      </p:sp>
      <p:cxnSp>
        <p:nvCxnSpPr>
          <p:cNvPr id="1689" name="Google Shape;1689;p87"/>
          <p:cNvCxnSpPr>
            <a:endCxn id="1688" idx="0"/>
          </p:cNvCxnSpPr>
          <p:nvPr/>
        </p:nvCxnSpPr>
        <p:spPr>
          <a:xfrm>
            <a:off x="9144110" y="2724751"/>
            <a:ext cx="0" cy="293700"/>
          </a:xfrm>
          <a:prstGeom prst="straightConnector1">
            <a:avLst/>
          </a:prstGeom>
          <a:noFill/>
          <a:ln cap="flat" cmpd="sng" w="9525">
            <a:solidFill>
              <a:schemeClr val="dk2"/>
            </a:solidFill>
            <a:prstDash val="dot"/>
            <a:round/>
            <a:headEnd len="sm" w="sm" type="none"/>
            <a:tailEnd len="sm" w="sm" type="none"/>
          </a:ln>
        </p:spPr>
      </p:cxnSp>
      <p:cxnSp>
        <p:nvCxnSpPr>
          <p:cNvPr id="1690" name="Google Shape;1690;p87"/>
          <p:cNvCxnSpPr/>
          <p:nvPr/>
        </p:nvCxnSpPr>
        <p:spPr>
          <a:xfrm flipH="1" rot="10800000">
            <a:off x="4276951" y="4695505"/>
            <a:ext cx="3660600" cy="600"/>
          </a:xfrm>
          <a:prstGeom prst="straightConnector1">
            <a:avLst/>
          </a:prstGeom>
          <a:noFill/>
          <a:ln cap="flat" cmpd="sng" w="9525">
            <a:solidFill>
              <a:schemeClr val="dk2"/>
            </a:solidFill>
            <a:prstDash val="solid"/>
            <a:round/>
            <a:headEnd len="med" w="med" type="none"/>
            <a:tailEnd len="med" w="med" type="none"/>
          </a:ln>
        </p:spPr>
      </p:cxnSp>
      <p:cxnSp>
        <p:nvCxnSpPr>
          <p:cNvPr id="1691" name="Google Shape;1691;p87"/>
          <p:cNvCxnSpPr/>
          <p:nvPr/>
        </p:nvCxnSpPr>
        <p:spPr>
          <a:xfrm>
            <a:off x="6715533" y="4689403"/>
            <a:ext cx="0" cy="293700"/>
          </a:xfrm>
          <a:prstGeom prst="straightConnector1">
            <a:avLst/>
          </a:prstGeom>
          <a:noFill/>
          <a:ln cap="flat" cmpd="sng" w="9525">
            <a:solidFill>
              <a:schemeClr val="dk2"/>
            </a:solidFill>
            <a:prstDash val="solid"/>
            <a:round/>
            <a:headEnd len="sm" w="sm" type="none"/>
            <a:tailEnd len="sm" w="sm" type="none"/>
          </a:ln>
        </p:spPr>
      </p:cxnSp>
      <p:cxnSp>
        <p:nvCxnSpPr>
          <p:cNvPr id="1692" name="Google Shape;1692;p87"/>
          <p:cNvCxnSpPr/>
          <p:nvPr/>
        </p:nvCxnSpPr>
        <p:spPr>
          <a:xfrm>
            <a:off x="7929846" y="4696105"/>
            <a:ext cx="0" cy="293700"/>
          </a:xfrm>
          <a:prstGeom prst="straightConnector1">
            <a:avLst/>
          </a:prstGeom>
          <a:noFill/>
          <a:ln cap="flat" cmpd="sng" w="9525">
            <a:solidFill>
              <a:schemeClr val="dk2"/>
            </a:solidFill>
            <a:prstDash val="solid"/>
            <a:round/>
            <a:headEnd len="sm" w="sm" type="none"/>
            <a:tailEnd len="sm" w="sm" type="none"/>
          </a:ln>
        </p:spPr>
      </p:cxnSp>
      <p:sp>
        <p:nvSpPr>
          <p:cNvPr id="1673" name="Google Shape;1673;p87"/>
          <p:cNvSpPr/>
          <p:nvPr/>
        </p:nvSpPr>
        <p:spPr>
          <a:xfrm>
            <a:off x="4971421" y="1901475"/>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Metastore</a:t>
            </a:r>
            <a:endParaRPr b="0" i="0" sz="1300" u="none" cap="none" strike="noStrike">
              <a:solidFill>
                <a:schemeClr val="accent5"/>
              </a:solidFill>
              <a:latin typeface="DM Sans Medium"/>
              <a:ea typeface="DM Sans Medium"/>
              <a:cs typeface="DM Sans Medium"/>
              <a:sym typeface="DM Sans Medium"/>
            </a:endParaRPr>
          </a:p>
        </p:txBody>
      </p:sp>
      <p:sp>
        <p:nvSpPr>
          <p:cNvPr id="1683" name="Google Shape;1683;p87"/>
          <p:cNvSpPr/>
          <p:nvPr/>
        </p:nvSpPr>
        <p:spPr>
          <a:xfrm>
            <a:off x="4971422" y="383718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Schema</a:t>
            </a:r>
            <a:endParaRPr b="0" i="0" sz="1300" u="none" cap="none" strike="noStrike">
              <a:solidFill>
                <a:schemeClr val="accent5"/>
              </a:solidFill>
              <a:latin typeface="DM Sans Medium"/>
              <a:ea typeface="DM Sans Medium"/>
              <a:cs typeface="DM Sans Medium"/>
              <a:sym typeface="DM Sans Medium"/>
            </a:endParaRPr>
          </a:p>
        </p:txBody>
      </p:sp>
      <p:sp>
        <p:nvSpPr>
          <p:cNvPr id="1693" name="Google Shape;1693;p87"/>
          <p:cNvSpPr/>
          <p:nvPr/>
        </p:nvSpPr>
        <p:spPr>
          <a:xfrm>
            <a:off x="3757150" y="4977823"/>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Table</a:t>
            </a:r>
            <a:endParaRPr b="0" i="0" sz="1300" u="none" cap="none" strike="noStrike">
              <a:solidFill>
                <a:schemeClr val="accent5"/>
              </a:solidFill>
              <a:latin typeface="DM Sans Medium"/>
              <a:ea typeface="DM Sans Medium"/>
              <a:cs typeface="DM Sans Medium"/>
              <a:sym typeface="DM Sans Medium"/>
            </a:endParaRPr>
          </a:p>
        </p:txBody>
      </p:sp>
      <p:sp>
        <p:nvSpPr>
          <p:cNvPr id="1694" name="Google Shape;1694;p87"/>
          <p:cNvSpPr/>
          <p:nvPr/>
        </p:nvSpPr>
        <p:spPr>
          <a:xfrm>
            <a:off x="6185645" y="4989898"/>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Volume</a:t>
            </a:r>
            <a:endParaRPr b="0" i="0" sz="1300" u="none" cap="none" strike="noStrike">
              <a:solidFill>
                <a:schemeClr val="accent5"/>
              </a:solidFill>
              <a:latin typeface="DM Sans Medium"/>
              <a:ea typeface="DM Sans Medium"/>
              <a:cs typeface="DM Sans Medium"/>
              <a:sym typeface="DM Sans Medium"/>
            </a:endParaRPr>
          </a:p>
        </p:txBody>
      </p:sp>
      <p:sp>
        <p:nvSpPr>
          <p:cNvPr id="1695" name="Google Shape;1695;p87"/>
          <p:cNvSpPr/>
          <p:nvPr/>
        </p:nvSpPr>
        <p:spPr>
          <a:xfrm>
            <a:off x="7399890" y="4989898"/>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Function</a:t>
            </a:r>
            <a:endParaRPr sz="1300">
              <a:solidFill>
                <a:schemeClr val="accent5"/>
              </a:solidFill>
              <a:latin typeface="DM Sans Medium"/>
              <a:ea typeface="DM Sans Medium"/>
              <a:cs typeface="DM Sans Medium"/>
              <a:sym typeface="DM Sans Medium"/>
            </a:endParaRPr>
          </a:p>
          <a:p>
            <a:pPr indent="0" lvl="0" marL="0" rtl="0" algn="ctr">
              <a:spcBef>
                <a:spcPts val="0"/>
              </a:spcBef>
              <a:spcAft>
                <a:spcPts val="0"/>
              </a:spcAft>
              <a:buClr>
                <a:srgbClr val="000000"/>
              </a:buClr>
              <a:buSzPts val="1500"/>
              <a:buFont typeface="Arial"/>
              <a:buNone/>
            </a:pPr>
            <a:r>
              <a:rPr lang="en" sz="900">
                <a:solidFill>
                  <a:schemeClr val="accent5"/>
                </a:solidFill>
                <a:latin typeface="DM Sans Medium"/>
                <a:ea typeface="DM Sans Medium"/>
                <a:cs typeface="DM Sans Medium"/>
                <a:sym typeface="DM Sans Medium"/>
              </a:rPr>
              <a:t>Including models</a:t>
            </a:r>
            <a:endParaRPr sz="900">
              <a:solidFill>
                <a:schemeClr val="accent5"/>
              </a:solidFill>
              <a:latin typeface="DM Sans Medium"/>
              <a:ea typeface="DM Sans Medium"/>
              <a:cs typeface="DM Sans Medium"/>
              <a:sym typeface="DM Sans Medium"/>
            </a:endParaRPr>
          </a:p>
        </p:txBody>
      </p:sp>
      <p:sp>
        <p:nvSpPr>
          <p:cNvPr id="1696" name="Google Shape;1696;p87"/>
          <p:cNvSpPr/>
          <p:nvPr/>
        </p:nvSpPr>
        <p:spPr>
          <a:xfrm>
            <a:off x="4971409" y="4977823"/>
            <a:ext cx="1059900" cy="576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500">
                <a:latin typeface="DM Sans Medium"/>
                <a:ea typeface="DM Sans Medium"/>
                <a:cs typeface="DM Sans Medium"/>
                <a:sym typeface="DM Sans Medium"/>
              </a:rPr>
              <a:t>View</a:t>
            </a:r>
            <a:endParaRPr b="0" i="0" sz="1500" u="none" cap="none" strike="noStrike">
              <a:solidFill>
                <a:srgbClr val="000000"/>
              </a:solidFill>
              <a:latin typeface="DM Sans Medium"/>
              <a:ea typeface="DM Sans Medium"/>
              <a:cs typeface="DM Sans Medium"/>
              <a:sym typeface="DM Sans Medium"/>
            </a:endParaRPr>
          </a:p>
        </p:txBody>
      </p:sp>
      <p:sp>
        <p:nvSpPr>
          <p:cNvPr id="1697" name="Google Shape;1697;p87"/>
          <p:cNvSpPr/>
          <p:nvPr/>
        </p:nvSpPr>
        <p:spPr>
          <a:xfrm>
            <a:off x="4971422" y="3018503"/>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Catalog</a:t>
            </a:r>
            <a:endParaRPr b="0" i="0" sz="1300" u="none" cap="none" strike="noStrike">
              <a:solidFill>
                <a:schemeClr val="accent5"/>
              </a:solidFill>
              <a:latin typeface="DM Sans Medium"/>
              <a:ea typeface="DM Sans Medium"/>
              <a:cs typeface="DM Sans Medium"/>
              <a:sym typeface="DM Sans Medium"/>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88"/>
          <p:cNvSpPr txBox="1"/>
          <p:nvPr>
            <p:ph idx="12" type="sldNum"/>
          </p:nvPr>
        </p:nvSpPr>
        <p:spPr>
          <a:xfrm>
            <a:off x="14793191" y="8631067"/>
            <a:ext cx="432300" cy="248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1703" name="Google Shape;1703;p88"/>
          <p:cNvSpPr txBox="1"/>
          <p:nvPr/>
        </p:nvSpPr>
        <p:spPr>
          <a:xfrm>
            <a:off x="4275" y="311825"/>
            <a:ext cx="120399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000">
                <a:solidFill>
                  <a:schemeClr val="dk1"/>
                </a:solidFill>
                <a:latin typeface="DM Sans Medium"/>
                <a:ea typeface="DM Sans Medium"/>
                <a:cs typeface="DM Sans Medium"/>
                <a:sym typeface="DM Sans Medium"/>
              </a:rPr>
              <a:t>Unity Catalog object model, focus on volume</a:t>
            </a:r>
            <a:br>
              <a:rPr lang="en" sz="2000">
                <a:solidFill>
                  <a:schemeClr val="dk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source/_static/images/unity-catalog/object-model-volume.png</a:t>
            </a:r>
            <a:endParaRPr/>
          </a:p>
        </p:txBody>
      </p:sp>
      <p:cxnSp>
        <p:nvCxnSpPr>
          <p:cNvPr id="1704" name="Google Shape;1704;p88"/>
          <p:cNvCxnSpPr/>
          <p:nvPr/>
        </p:nvCxnSpPr>
        <p:spPr>
          <a:xfrm>
            <a:off x="11555754" y="2827783"/>
            <a:ext cx="0" cy="328800"/>
          </a:xfrm>
          <a:prstGeom prst="straightConnector1">
            <a:avLst/>
          </a:prstGeom>
          <a:noFill/>
          <a:ln cap="flat" cmpd="sng" w="9525">
            <a:solidFill>
              <a:schemeClr val="dk2"/>
            </a:solidFill>
            <a:prstDash val="dot"/>
            <a:round/>
            <a:headEnd len="sm" w="sm" type="none"/>
            <a:tailEnd len="sm" w="sm" type="none"/>
          </a:ln>
        </p:spPr>
      </p:cxnSp>
      <p:cxnSp>
        <p:nvCxnSpPr>
          <p:cNvPr id="1705" name="Google Shape;1705;p88"/>
          <p:cNvCxnSpPr>
            <a:stCxn id="1706" idx="2"/>
          </p:cNvCxnSpPr>
          <p:nvPr/>
        </p:nvCxnSpPr>
        <p:spPr>
          <a:xfrm>
            <a:off x="5501371" y="2478075"/>
            <a:ext cx="0" cy="540300"/>
          </a:xfrm>
          <a:prstGeom prst="straightConnector1">
            <a:avLst/>
          </a:prstGeom>
          <a:noFill/>
          <a:ln cap="flat" cmpd="sng" w="9525">
            <a:solidFill>
              <a:schemeClr val="dk2"/>
            </a:solidFill>
            <a:prstDash val="solid"/>
            <a:round/>
            <a:headEnd len="sm" w="sm" type="none"/>
            <a:tailEnd len="sm" w="sm" type="none"/>
          </a:ln>
        </p:spPr>
      </p:cxnSp>
      <p:cxnSp>
        <p:nvCxnSpPr>
          <p:cNvPr id="1707" name="Google Shape;1707;p88"/>
          <p:cNvCxnSpPr/>
          <p:nvPr/>
        </p:nvCxnSpPr>
        <p:spPr>
          <a:xfrm>
            <a:off x="5501301" y="4425729"/>
            <a:ext cx="0" cy="259200"/>
          </a:xfrm>
          <a:prstGeom prst="straightConnector1">
            <a:avLst/>
          </a:prstGeom>
          <a:noFill/>
          <a:ln cap="flat" cmpd="sng" w="9525">
            <a:solidFill>
              <a:schemeClr val="dk2"/>
            </a:solidFill>
            <a:prstDash val="solid"/>
            <a:round/>
            <a:headEnd len="sm" w="sm" type="none"/>
            <a:tailEnd len="sm" w="sm" type="none"/>
          </a:ln>
        </p:spPr>
      </p:cxnSp>
      <p:cxnSp>
        <p:nvCxnSpPr>
          <p:cNvPr id="1708" name="Google Shape;1708;p88"/>
          <p:cNvCxnSpPr/>
          <p:nvPr/>
        </p:nvCxnSpPr>
        <p:spPr>
          <a:xfrm>
            <a:off x="4287083" y="4689403"/>
            <a:ext cx="0" cy="293700"/>
          </a:xfrm>
          <a:prstGeom prst="straightConnector1">
            <a:avLst/>
          </a:prstGeom>
          <a:noFill/>
          <a:ln cap="flat" cmpd="sng" w="9525">
            <a:solidFill>
              <a:schemeClr val="dk2"/>
            </a:solidFill>
            <a:prstDash val="solid"/>
            <a:round/>
            <a:headEnd len="sm" w="sm" type="none"/>
            <a:tailEnd len="sm" w="sm" type="none"/>
          </a:ln>
        </p:spPr>
      </p:cxnSp>
      <p:cxnSp>
        <p:nvCxnSpPr>
          <p:cNvPr id="1709" name="Google Shape;1709;p88"/>
          <p:cNvCxnSpPr/>
          <p:nvPr/>
        </p:nvCxnSpPr>
        <p:spPr>
          <a:xfrm>
            <a:off x="5501330" y="4689403"/>
            <a:ext cx="0" cy="293700"/>
          </a:xfrm>
          <a:prstGeom prst="straightConnector1">
            <a:avLst/>
          </a:prstGeom>
          <a:noFill/>
          <a:ln cap="flat" cmpd="sng" w="9525">
            <a:solidFill>
              <a:schemeClr val="dk2"/>
            </a:solidFill>
            <a:prstDash val="solid"/>
            <a:round/>
            <a:headEnd len="sm" w="sm" type="none"/>
            <a:tailEnd len="sm" w="sm" type="none"/>
          </a:ln>
        </p:spPr>
      </p:cxnSp>
      <p:sp>
        <p:nvSpPr>
          <p:cNvPr id="1710" name="Google Shape;1710;p88"/>
          <p:cNvSpPr/>
          <p:nvPr/>
        </p:nvSpPr>
        <p:spPr>
          <a:xfrm>
            <a:off x="2542925" y="301851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Storage credential</a:t>
            </a:r>
            <a:endParaRPr b="0" i="0" sz="1300" u="none" cap="none" strike="noStrike">
              <a:solidFill>
                <a:schemeClr val="accent5"/>
              </a:solidFill>
              <a:latin typeface="DM Sans Medium"/>
              <a:ea typeface="DM Sans Medium"/>
              <a:cs typeface="DM Sans Medium"/>
              <a:sym typeface="DM Sans Medium"/>
            </a:endParaRPr>
          </a:p>
        </p:txBody>
      </p:sp>
      <p:cxnSp>
        <p:nvCxnSpPr>
          <p:cNvPr id="1711" name="Google Shape;1711;p88"/>
          <p:cNvCxnSpPr/>
          <p:nvPr/>
        </p:nvCxnSpPr>
        <p:spPr>
          <a:xfrm>
            <a:off x="3072190" y="2706694"/>
            <a:ext cx="6078600" cy="0"/>
          </a:xfrm>
          <a:prstGeom prst="straightConnector1">
            <a:avLst/>
          </a:prstGeom>
          <a:noFill/>
          <a:ln cap="flat" cmpd="sng" w="9525">
            <a:solidFill>
              <a:schemeClr val="dk2"/>
            </a:solidFill>
            <a:prstDash val="dot"/>
            <a:round/>
            <a:headEnd len="med" w="med" type="none"/>
            <a:tailEnd len="med" w="med" type="none"/>
          </a:ln>
        </p:spPr>
      </p:cxnSp>
      <p:cxnSp>
        <p:nvCxnSpPr>
          <p:cNvPr id="1712" name="Google Shape;1712;p88"/>
          <p:cNvCxnSpPr>
            <a:endCxn id="1710" idx="0"/>
          </p:cNvCxnSpPr>
          <p:nvPr/>
        </p:nvCxnSpPr>
        <p:spPr>
          <a:xfrm>
            <a:off x="3072875" y="2724811"/>
            <a:ext cx="0" cy="293700"/>
          </a:xfrm>
          <a:prstGeom prst="straightConnector1">
            <a:avLst/>
          </a:prstGeom>
          <a:noFill/>
          <a:ln cap="flat" cmpd="sng" w="9525">
            <a:solidFill>
              <a:schemeClr val="dk2"/>
            </a:solidFill>
            <a:prstDash val="dot"/>
            <a:round/>
            <a:headEnd len="sm" w="sm" type="none"/>
            <a:tailEnd len="sm" w="sm" type="none"/>
          </a:ln>
        </p:spPr>
      </p:cxnSp>
      <p:sp>
        <p:nvSpPr>
          <p:cNvPr id="1713" name="Google Shape;1713;p88"/>
          <p:cNvSpPr/>
          <p:nvPr/>
        </p:nvSpPr>
        <p:spPr>
          <a:xfrm>
            <a:off x="3757172"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External location</a:t>
            </a:r>
            <a:endParaRPr b="0" i="0" sz="1300" u="none" cap="none" strike="noStrike">
              <a:solidFill>
                <a:schemeClr val="accent5"/>
              </a:solidFill>
              <a:latin typeface="DM Sans Medium"/>
              <a:ea typeface="DM Sans Medium"/>
              <a:cs typeface="DM Sans Medium"/>
              <a:sym typeface="DM Sans Medium"/>
            </a:endParaRPr>
          </a:p>
        </p:txBody>
      </p:sp>
      <p:cxnSp>
        <p:nvCxnSpPr>
          <p:cNvPr id="1714" name="Google Shape;1714;p88"/>
          <p:cNvCxnSpPr>
            <a:endCxn id="1713" idx="0"/>
          </p:cNvCxnSpPr>
          <p:nvPr/>
        </p:nvCxnSpPr>
        <p:spPr>
          <a:xfrm>
            <a:off x="4287122" y="2724751"/>
            <a:ext cx="0" cy="293700"/>
          </a:xfrm>
          <a:prstGeom prst="straightConnector1">
            <a:avLst/>
          </a:prstGeom>
          <a:noFill/>
          <a:ln cap="flat" cmpd="sng" w="9525">
            <a:solidFill>
              <a:schemeClr val="dk2"/>
            </a:solidFill>
            <a:prstDash val="dot"/>
            <a:round/>
            <a:headEnd len="sm" w="sm" type="none"/>
            <a:tailEnd len="sm" w="sm" type="none"/>
          </a:ln>
        </p:spPr>
      </p:cxnSp>
      <p:cxnSp>
        <p:nvCxnSpPr>
          <p:cNvPr id="1715" name="Google Shape;1715;p88"/>
          <p:cNvCxnSpPr>
            <a:endCxn id="1716" idx="0"/>
          </p:cNvCxnSpPr>
          <p:nvPr/>
        </p:nvCxnSpPr>
        <p:spPr>
          <a:xfrm>
            <a:off x="5501372" y="3595081"/>
            <a:ext cx="0" cy="242100"/>
          </a:xfrm>
          <a:prstGeom prst="straightConnector1">
            <a:avLst/>
          </a:prstGeom>
          <a:noFill/>
          <a:ln cap="flat" cmpd="sng" w="9525">
            <a:solidFill>
              <a:schemeClr val="dk2"/>
            </a:solidFill>
            <a:prstDash val="solid"/>
            <a:round/>
            <a:headEnd len="sm" w="sm" type="none"/>
            <a:tailEnd len="sm" w="sm" type="none"/>
          </a:ln>
        </p:spPr>
      </p:cxnSp>
      <p:sp>
        <p:nvSpPr>
          <p:cNvPr id="1717" name="Google Shape;1717;p88"/>
          <p:cNvSpPr/>
          <p:nvPr/>
        </p:nvSpPr>
        <p:spPr>
          <a:xfrm>
            <a:off x="6185666"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Share</a:t>
            </a:r>
            <a:endParaRPr b="0" i="0" sz="1300" u="none" cap="none" strike="noStrike">
              <a:solidFill>
                <a:schemeClr val="accent5"/>
              </a:solidFill>
              <a:latin typeface="DM Sans Medium"/>
              <a:ea typeface="DM Sans Medium"/>
              <a:cs typeface="DM Sans Medium"/>
              <a:sym typeface="DM Sans Medium"/>
            </a:endParaRPr>
          </a:p>
        </p:txBody>
      </p:sp>
      <p:cxnSp>
        <p:nvCxnSpPr>
          <p:cNvPr id="1718" name="Google Shape;1718;p88"/>
          <p:cNvCxnSpPr>
            <a:endCxn id="1717" idx="0"/>
          </p:cNvCxnSpPr>
          <p:nvPr/>
        </p:nvCxnSpPr>
        <p:spPr>
          <a:xfrm>
            <a:off x="6715616" y="2724751"/>
            <a:ext cx="0" cy="293700"/>
          </a:xfrm>
          <a:prstGeom prst="straightConnector1">
            <a:avLst/>
          </a:prstGeom>
          <a:noFill/>
          <a:ln cap="flat" cmpd="sng" w="9525">
            <a:solidFill>
              <a:schemeClr val="dk2"/>
            </a:solidFill>
            <a:prstDash val="dot"/>
            <a:round/>
            <a:headEnd len="sm" w="sm" type="none"/>
            <a:tailEnd len="sm" w="sm" type="none"/>
          </a:ln>
        </p:spPr>
      </p:cxnSp>
      <p:sp>
        <p:nvSpPr>
          <p:cNvPr id="1719" name="Google Shape;1719;p88"/>
          <p:cNvSpPr/>
          <p:nvPr/>
        </p:nvSpPr>
        <p:spPr>
          <a:xfrm>
            <a:off x="7399913"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Recipient</a:t>
            </a:r>
            <a:endParaRPr b="0" i="0" sz="1300" u="none" cap="none" strike="noStrike">
              <a:solidFill>
                <a:schemeClr val="accent5"/>
              </a:solidFill>
              <a:latin typeface="DM Sans Medium"/>
              <a:ea typeface="DM Sans Medium"/>
              <a:cs typeface="DM Sans Medium"/>
              <a:sym typeface="DM Sans Medium"/>
            </a:endParaRPr>
          </a:p>
        </p:txBody>
      </p:sp>
      <p:cxnSp>
        <p:nvCxnSpPr>
          <p:cNvPr id="1720" name="Google Shape;1720;p88"/>
          <p:cNvCxnSpPr>
            <a:endCxn id="1719" idx="0"/>
          </p:cNvCxnSpPr>
          <p:nvPr/>
        </p:nvCxnSpPr>
        <p:spPr>
          <a:xfrm>
            <a:off x="7929863" y="2724751"/>
            <a:ext cx="0" cy="293700"/>
          </a:xfrm>
          <a:prstGeom prst="straightConnector1">
            <a:avLst/>
          </a:prstGeom>
          <a:noFill/>
          <a:ln cap="flat" cmpd="sng" w="9525">
            <a:solidFill>
              <a:schemeClr val="dk2"/>
            </a:solidFill>
            <a:prstDash val="dot"/>
            <a:round/>
            <a:headEnd len="sm" w="sm" type="none"/>
            <a:tailEnd len="sm" w="sm" type="none"/>
          </a:ln>
        </p:spPr>
      </p:cxnSp>
      <p:sp>
        <p:nvSpPr>
          <p:cNvPr id="1721" name="Google Shape;1721;p88"/>
          <p:cNvSpPr/>
          <p:nvPr/>
        </p:nvSpPr>
        <p:spPr>
          <a:xfrm>
            <a:off x="8614160" y="301845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 . . </a:t>
            </a:r>
            <a:endParaRPr b="0" i="0" sz="1300" u="none" cap="none" strike="noStrike">
              <a:solidFill>
                <a:schemeClr val="accent5"/>
              </a:solidFill>
              <a:latin typeface="DM Sans Medium"/>
              <a:ea typeface="DM Sans Medium"/>
              <a:cs typeface="DM Sans Medium"/>
              <a:sym typeface="DM Sans Medium"/>
            </a:endParaRPr>
          </a:p>
        </p:txBody>
      </p:sp>
      <p:cxnSp>
        <p:nvCxnSpPr>
          <p:cNvPr id="1722" name="Google Shape;1722;p88"/>
          <p:cNvCxnSpPr>
            <a:endCxn id="1721" idx="0"/>
          </p:cNvCxnSpPr>
          <p:nvPr/>
        </p:nvCxnSpPr>
        <p:spPr>
          <a:xfrm>
            <a:off x="9144110" y="2724751"/>
            <a:ext cx="0" cy="293700"/>
          </a:xfrm>
          <a:prstGeom prst="straightConnector1">
            <a:avLst/>
          </a:prstGeom>
          <a:noFill/>
          <a:ln cap="flat" cmpd="sng" w="9525">
            <a:solidFill>
              <a:schemeClr val="dk2"/>
            </a:solidFill>
            <a:prstDash val="dot"/>
            <a:round/>
            <a:headEnd len="sm" w="sm" type="none"/>
            <a:tailEnd len="sm" w="sm" type="none"/>
          </a:ln>
        </p:spPr>
      </p:cxnSp>
      <p:cxnSp>
        <p:nvCxnSpPr>
          <p:cNvPr id="1723" name="Google Shape;1723;p88"/>
          <p:cNvCxnSpPr/>
          <p:nvPr/>
        </p:nvCxnSpPr>
        <p:spPr>
          <a:xfrm flipH="1" rot="10800000">
            <a:off x="4276951" y="4695505"/>
            <a:ext cx="3660600" cy="600"/>
          </a:xfrm>
          <a:prstGeom prst="straightConnector1">
            <a:avLst/>
          </a:prstGeom>
          <a:noFill/>
          <a:ln cap="flat" cmpd="sng" w="9525">
            <a:solidFill>
              <a:schemeClr val="dk2"/>
            </a:solidFill>
            <a:prstDash val="solid"/>
            <a:round/>
            <a:headEnd len="med" w="med" type="none"/>
            <a:tailEnd len="med" w="med" type="none"/>
          </a:ln>
        </p:spPr>
      </p:cxnSp>
      <p:cxnSp>
        <p:nvCxnSpPr>
          <p:cNvPr id="1724" name="Google Shape;1724;p88"/>
          <p:cNvCxnSpPr/>
          <p:nvPr/>
        </p:nvCxnSpPr>
        <p:spPr>
          <a:xfrm>
            <a:off x="6715533" y="4689403"/>
            <a:ext cx="0" cy="293700"/>
          </a:xfrm>
          <a:prstGeom prst="straightConnector1">
            <a:avLst/>
          </a:prstGeom>
          <a:noFill/>
          <a:ln cap="flat" cmpd="sng" w="9525">
            <a:solidFill>
              <a:schemeClr val="dk2"/>
            </a:solidFill>
            <a:prstDash val="solid"/>
            <a:round/>
            <a:headEnd len="sm" w="sm" type="none"/>
            <a:tailEnd len="sm" w="sm" type="none"/>
          </a:ln>
        </p:spPr>
      </p:cxnSp>
      <p:cxnSp>
        <p:nvCxnSpPr>
          <p:cNvPr id="1725" name="Google Shape;1725;p88"/>
          <p:cNvCxnSpPr/>
          <p:nvPr/>
        </p:nvCxnSpPr>
        <p:spPr>
          <a:xfrm>
            <a:off x="7929846" y="4696105"/>
            <a:ext cx="0" cy="293700"/>
          </a:xfrm>
          <a:prstGeom prst="straightConnector1">
            <a:avLst/>
          </a:prstGeom>
          <a:noFill/>
          <a:ln cap="flat" cmpd="sng" w="9525">
            <a:solidFill>
              <a:schemeClr val="dk2"/>
            </a:solidFill>
            <a:prstDash val="solid"/>
            <a:round/>
            <a:headEnd len="sm" w="sm" type="none"/>
            <a:tailEnd len="sm" w="sm" type="none"/>
          </a:ln>
        </p:spPr>
      </p:cxnSp>
      <p:sp>
        <p:nvSpPr>
          <p:cNvPr id="1706" name="Google Shape;1706;p88"/>
          <p:cNvSpPr/>
          <p:nvPr/>
        </p:nvSpPr>
        <p:spPr>
          <a:xfrm>
            <a:off x="4971421" y="1901475"/>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Metastore</a:t>
            </a:r>
            <a:endParaRPr b="0" i="0" sz="1300" u="none" cap="none" strike="noStrike">
              <a:solidFill>
                <a:schemeClr val="accent5"/>
              </a:solidFill>
              <a:latin typeface="DM Sans Medium"/>
              <a:ea typeface="DM Sans Medium"/>
              <a:cs typeface="DM Sans Medium"/>
              <a:sym typeface="DM Sans Medium"/>
            </a:endParaRPr>
          </a:p>
        </p:txBody>
      </p:sp>
      <p:sp>
        <p:nvSpPr>
          <p:cNvPr id="1716" name="Google Shape;1716;p88"/>
          <p:cNvSpPr/>
          <p:nvPr/>
        </p:nvSpPr>
        <p:spPr>
          <a:xfrm>
            <a:off x="4971422" y="3837181"/>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Schema</a:t>
            </a:r>
            <a:endParaRPr b="0" i="0" sz="1300" u="none" cap="none" strike="noStrike">
              <a:solidFill>
                <a:schemeClr val="accent5"/>
              </a:solidFill>
              <a:latin typeface="DM Sans Medium"/>
              <a:ea typeface="DM Sans Medium"/>
              <a:cs typeface="DM Sans Medium"/>
              <a:sym typeface="DM Sans Medium"/>
            </a:endParaRPr>
          </a:p>
        </p:txBody>
      </p:sp>
      <p:sp>
        <p:nvSpPr>
          <p:cNvPr id="1726" name="Google Shape;1726;p88"/>
          <p:cNvSpPr/>
          <p:nvPr/>
        </p:nvSpPr>
        <p:spPr>
          <a:xfrm>
            <a:off x="3757150" y="4977823"/>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Table</a:t>
            </a:r>
            <a:endParaRPr b="0" i="0" sz="1300" u="none" cap="none" strike="noStrike">
              <a:solidFill>
                <a:schemeClr val="accent5"/>
              </a:solidFill>
              <a:latin typeface="DM Sans Medium"/>
              <a:ea typeface="DM Sans Medium"/>
              <a:cs typeface="DM Sans Medium"/>
              <a:sym typeface="DM Sans Medium"/>
            </a:endParaRPr>
          </a:p>
        </p:txBody>
      </p:sp>
      <p:sp>
        <p:nvSpPr>
          <p:cNvPr id="1727" name="Google Shape;1727;p88"/>
          <p:cNvSpPr/>
          <p:nvPr/>
        </p:nvSpPr>
        <p:spPr>
          <a:xfrm>
            <a:off x="6185645" y="4989898"/>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View</a:t>
            </a:r>
            <a:endParaRPr b="0" i="0" sz="1300" u="none" cap="none" strike="noStrike">
              <a:solidFill>
                <a:schemeClr val="accent5"/>
              </a:solidFill>
              <a:latin typeface="DM Sans Medium"/>
              <a:ea typeface="DM Sans Medium"/>
              <a:cs typeface="DM Sans Medium"/>
              <a:sym typeface="DM Sans Medium"/>
            </a:endParaRPr>
          </a:p>
        </p:txBody>
      </p:sp>
      <p:sp>
        <p:nvSpPr>
          <p:cNvPr id="1728" name="Google Shape;1728;p88"/>
          <p:cNvSpPr/>
          <p:nvPr/>
        </p:nvSpPr>
        <p:spPr>
          <a:xfrm>
            <a:off x="7399890" y="4989898"/>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Function</a:t>
            </a:r>
            <a:endParaRPr sz="1300">
              <a:solidFill>
                <a:schemeClr val="accent5"/>
              </a:solidFill>
              <a:latin typeface="DM Sans Medium"/>
              <a:ea typeface="DM Sans Medium"/>
              <a:cs typeface="DM Sans Medium"/>
              <a:sym typeface="DM Sans Medium"/>
            </a:endParaRPr>
          </a:p>
          <a:p>
            <a:pPr indent="0" lvl="0" marL="0" rtl="0" algn="ctr">
              <a:spcBef>
                <a:spcPts val="0"/>
              </a:spcBef>
              <a:spcAft>
                <a:spcPts val="0"/>
              </a:spcAft>
              <a:buClr>
                <a:srgbClr val="000000"/>
              </a:buClr>
              <a:buSzPts val="1500"/>
              <a:buFont typeface="Arial"/>
              <a:buNone/>
            </a:pPr>
            <a:r>
              <a:rPr lang="en" sz="900">
                <a:solidFill>
                  <a:schemeClr val="accent5"/>
                </a:solidFill>
                <a:latin typeface="DM Sans Medium"/>
                <a:ea typeface="DM Sans Medium"/>
                <a:cs typeface="DM Sans Medium"/>
                <a:sym typeface="DM Sans Medium"/>
              </a:rPr>
              <a:t>Including models</a:t>
            </a:r>
            <a:endParaRPr sz="900">
              <a:solidFill>
                <a:schemeClr val="accent5"/>
              </a:solidFill>
              <a:latin typeface="DM Sans Medium"/>
              <a:ea typeface="DM Sans Medium"/>
              <a:cs typeface="DM Sans Medium"/>
              <a:sym typeface="DM Sans Medium"/>
            </a:endParaRPr>
          </a:p>
        </p:txBody>
      </p:sp>
      <p:sp>
        <p:nvSpPr>
          <p:cNvPr id="1729" name="Google Shape;1729;p88"/>
          <p:cNvSpPr/>
          <p:nvPr/>
        </p:nvSpPr>
        <p:spPr>
          <a:xfrm>
            <a:off x="4971409" y="4977823"/>
            <a:ext cx="1059900" cy="5766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n" sz="1500">
                <a:latin typeface="DM Sans Medium"/>
                <a:ea typeface="DM Sans Medium"/>
                <a:cs typeface="DM Sans Medium"/>
                <a:sym typeface="DM Sans Medium"/>
              </a:rPr>
              <a:t>Volume</a:t>
            </a:r>
            <a:endParaRPr b="0" i="0" sz="1500" u="none" cap="none" strike="noStrike">
              <a:solidFill>
                <a:srgbClr val="000000"/>
              </a:solidFill>
              <a:latin typeface="DM Sans Medium"/>
              <a:ea typeface="DM Sans Medium"/>
              <a:cs typeface="DM Sans Medium"/>
              <a:sym typeface="DM Sans Medium"/>
            </a:endParaRPr>
          </a:p>
        </p:txBody>
      </p:sp>
      <p:sp>
        <p:nvSpPr>
          <p:cNvPr id="1730" name="Google Shape;1730;p88"/>
          <p:cNvSpPr/>
          <p:nvPr/>
        </p:nvSpPr>
        <p:spPr>
          <a:xfrm>
            <a:off x="4971422" y="3018503"/>
            <a:ext cx="1059900" cy="576600"/>
          </a:xfrm>
          <a:prstGeom prst="rect">
            <a:avLst/>
          </a:prstGeom>
          <a:solidFill>
            <a:schemeClr val="lt1"/>
          </a:solid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lang="en" sz="1300">
                <a:solidFill>
                  <a:schemeClr val="accent5"/>
                </a:solidFill>
                <a:latin typeface="DM Sans Medium"/>
                <a:ea typeface="DM Sans Medium"/>
                <a:cs typeface="DM Sans Medium"/>
                <a:sym typeface="DM Sans Medium"/>
              </a:rPr>
              <a:t>Catalog</a:t>
            </a:r>
            <a:endParaRPr b="0" i="0" sz="1300" u="none" cap="none" strike="noStrike">
              <a:solidFill>
                <a:schemeClr val="accent5"/>
              </a:solidFill>
              <a:latin typeface="DM Sans Medium"/>
              <a:ea typeface="DM Sans Medium"/>
              <a:cs typeface="DM Sans Medium"/>
              <a:sym typeface="DM Sans Medium"/>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id="1735" name="Google Shape;1735;p89"/>
          <p:cNvSpPr/>
          <p:nvPr/>
        </p:nvSpPr>
        <p:spPr>
          <a:xfrm>
            <a:off x="4014595" y="5504700"/>
            <a:ext cx="5008200" cy="8283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1736" name="Google Shape;1736;p89"/>
          <p:cNvSpPr/>
          <p:nvPr/>
        </p:nvSpPr>
        <p:spPr>
          <a:xfrm>
            <a:off x="4014595" y="4076733"/>
            <a:ext cx="5008200" cy="12741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1737" name="Google Shape;1737;p89"/>
          <p:cNvSpPr/>
          <p:nvPr/>
        </p:nvSpPr>
        <p:spPr>
          <a:xfrm>
            <a:off x="4014595" y="3033950"/>
            <a:ext cx="5008200" cy="9099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1738" name="Google Shape;1738;p89"/>
          <p:cNvSpPr/>
          <p:nvPr/>
        </p:nvSpPr>
        <p:spPr>
          <a:xfrm>
            <a:off x="4014595" y="1574741"/>
            <a:ext cx="5008200" cy="13281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1739" name="Google Shape;1739;p89"/>
          <p:cNvSpPr/>
          <p:nvPr/>
        </p:nvSpPr>
        <p:spPr>
          <a:xfrm>
            <a:off x="4261781" y="1745256"/>
            <a:ext cx="16527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dev</a:t>
            </a:r>
            <a:endParaRPr sz="1300">
              <a:latin typeface="DM Sans"/>
              <a:ea typeface="DM Sans"/>
              <a:cs typeface="DM Sans"/>
              <a:sym typeface="DM Sans"/>
            </a:endParaRPr>
          </a:p>
        </p:txBody>
      </p:sp>
      <p:grpSp>
        <p:nvGrpSpPr>
          <p:cNvPr id="1740" name="Google Shape;1740;p89"/>
          <p:cNvGrpSpPr/>
          <p:nvPr/>
        </p:nvGrpSpPr>
        <p:grpSpPr>
          <a:xfrm>
            <a:off x="285178" y="3150258"/>
            <a:ext cx="2460845" cy="695792"/>
            <a:chOff x="2992957" y="1248731"/>
            <a:chExt cx="2707200" cy="705600"/>
          </a:xfrm>
        </p:grpSpPr>
        <p:sp>
          <p:nvSpPr>
            <p:cNvPr id="1741" name="Google Shape;1741;p89"/>
            <p:cNvSpPr/>
            <p:nvPr/>
          </p:nvSpPr>
          <p:spPr>
            <a:xfrm>
              <a:off x="2992957" y="1248731"/>
              <a:ext cx="2707200" cy="7056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900">
                  <a:latin typeface="Barlow"/>
                  <a:ea typeface="Barlow"/>
                  <a:cs typeface="Barlow"/>
                  <a:sym typeface="Barlow"/>
                </a:rPr>
                <a:t>        Metastore</a:t>
              </a:r>
              <a:endParaRPr sz="1900">
                <a:latin typeface="Barlow"/>
                <a:ea typeface="Barlow"/>
                <a:cs typeface="Barlow"/>
                <a:sym typeface="Barlow"/>
              </a:endParaRPr>
            </a:p>
          </p:txBody>
        </p:sp>
        <p:sp>
          <p:nvSpPr>
            <p:cNvPr id="1742" name="Google Shape;1742;p89"/>
            <p:cNvSpPr/>
            <p:nvPr/>
          </p:nvSpPr>
          <p:spPr>
            <a:xfrm>
              <a:off x="4413250" y="1800573"/>
              <a:ext cx="147300" cy="147300"/>
            </a:xfrm>
            <a:prstGeom prst="ellipse">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1900">
                <a:latin typeface="Barlow"/>
                <a:ea typeface="Barlow"/>
                <a:cs typeface="Barlow"/>
                <a:sym typeface="Barlow"/>
              </a:endParaRPr>
            </a:p>
          </p:txBody>
        </p:sp>
      </p:grpSp>
      <p:sp>
        <p:nvSpPr>
          <p:cNvPr id="1743" name="Google Shape;1743;p89"/>
          <p:cNvSpPr/>
          <p:nvPr/>
        </p:nvSpPr>
        <p:spPr>
          <a:xfrm>
            <a:off x="4261781" y="2290417"/>
            <a:ext cx="16527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staging</a:t>
            </a:r>
            <a:endParaRPr sz="1300">
              <a:latin typeface="DM Sans"/>
              <a:ea typeface="DM Sans"/>
              <a:cs typeface="DM Sans"/>
              <a:sym typeface="DM Sans"/>
            </a:endParaRPr>
          </a:p>
        </p:txBody>
      </p:sp>
      <p:sp>
        <p:nvSpPr>
          <p:cNvPr id="1744" name="Google Shape;1744;p89"/>
          <p:cNvSpPr/>
          <p:nvPr/>
        </p:nvSpPr>
        <p:spPr>
          <a:xfrm>
            <a:off x="4261781" y="3241978"/>
            <a:ext cx="16527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prod</a:t>
            </a:r>
            <a:endParaRPr sz="1300">
              <a:latin typeface="DM Sans"/>
              <a:ea typeface="DM Sans"/>
              <a:cs typeface="DM Sans"/>
              <a:sym typeface="DM Sans"/>
            </a:endParaRPr>
          </a:p>
        </p:txBody>
      </p:sp>
      <p:sp>
        <p:nvSpPr>
          <p:cNvPr id="1745" name="Google Shape;1745;p89"/>
          <p:cNvSpPr/>
          <p:nvPr/>
        </p:nvSpPr>
        <p:spPr>
          <a:xfrm>
            <a:off x="6544379" y="3259500"/>
            <a:ext cx="2083500" cy="4023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prod_ws</a:t>
            </a:r>
            <a:endParaRPr sz="1300">
              <a:latin typeface="DM Sans"/>
              <a:ea typeface="DM Sans"/>
              <a:cs typeface="DM Sans"/>
              <a:sym typeface="DM Sans"/>
            </a:endParaRPr>
          </a:p>
        </p:txBody>
      </p:sp>
      <p:sp>
        <p:nvSpPr>
          <p:cNvPr id="1746" name="Google Shape;1746;p89"/>
          <p:cNvSpPr/>
          <p:nvPr/>
        </p:nvSpPr>
        <p:spPr>
          <a:xfrm>
            <a:off x="6544379" y="2292933"/>
            <a:ext cx="2083500" cy="4023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staging_ws</a:t>
            </a:r>
            <a:endParaRPr sz="1300">
              <a:latin typeface="DM Sans"/>
              <a:ea typeface="DM Sans"/>
              <a:cs typeface="DM Sans"/>
              <a:sym typeface="DM Sans"/>
            </a:endParaRPr>
          </a:p>
        </p:txBody>
      </p:sp>
      <p:sp>
        <p:nvSpPr>
          <p:cNvPr id="1747" name="Google Shape;1747;p89"/>
          <p:cNvSpPr/>
          <p:nvPr/>
        </p:nvSpPr>
        <p:spPr>
          <a:xfrm>
            <a:off x="6544379" y="1732767"/>
            <a:ext cx="2083500" cy="4023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dev_ws</a:t>
            </a:r>
            <a:endParaRPr sz="1300">
              <a:latin typeface="DM Sans"/>
              <a:ea typeface="DM Sans"/>
              <a:cs typeface="DM Sans"/>
              <a:sym typeface="DM Sans"/>
            </a:endParaRPr>
          </a:p>
        </p:txBody>
      </p:sp>
      <p:cxnSp>
        <p:nvCxnSpPr>
          <p:cNvPr id="1748" name="Google Shape;1748;p89"/>
          <p:cNvCxnSpPr>
            <a:stCxn id="1741" idx="3"/>
            <a:endCxn id="1739" idx="1"/>
          </p:cNvCxnSpPr>
          <p:nvPr/>
        </p:nvCxnSpPr>
        <p:spPr>
          <a:xfrm flipH="1" rot="10800000">
            <a:off x="2746023" y="1978354"/>
            <a:ext cx="1515900" cy="1519800"/>
          </a:xfrm>
          <a:prstGeom prst="curvedConnector3">
            <a:avLst>
              <a:gd fmla="val 49997" name="adj1"/>
            </a:avLst>
          </a:prstGeom>
          <a:noFill/>
          <a:ln cap="flat" cmpd="sng" w="9525">
            <a:solidFill>
              <a:srgbClr val="1B5162"/>
            </a:solidFill>
            <a:prstDash val="solid"/>
            <a:round/>
            <a:headEnd len="med" w="med" type="none"/>
            <a:tailEnd len="med" w="med" type="triangle"/>
          </a:ln>
        </p:spPr>
      </p:cxnSp>
      <p:sp>
        <p:nvSpPr>
          <p:cNvPr id="1749" name="Google Shape;1749;p89"/>
          <p:cNvSpPr/>
          <p:nvPr/>
        </p:nvSpPr>
        <p:spPr>
          <a:xfrm>
            <a:off x="9595366" y="3310033"/>
            <a:ext cx="2460600" cy="3048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Analysts</a:t>
            </a:r>
            <a:endParaRPr sz="1300">
              <a:latin typeface="DM Sans"/>
              <a:ea typeface="DM Sans"/>
              <a:cs typeface="DM Sans"/>
              <a:sym typeface="DM Sans"/>
            </a:endParaRPr>
          </a:p>
        </p:txBody>
      </p:sp>
      <p:cxnSp>
        <p:nvCxnSpPr>
          <p:cNvPr id="1750" name="Google Shape;1750;p89"/>
          <p:cNvCxnSpPr>
            <a:stCxn id="1741" idx="3"/>
            <a:endCxn id="1743" idx="1"/>
          </p:cNvCxnSpPr>
          <p:nvPr/>
        </p:nvCxnSpPr>
        <p:spPr>
          <a:xfrm flipH="1" rot="10800000">
            <a:off x="2746023" y="2523454"/>
            <a:ext cx="1515900" cy="974700"/>
          </a:xfrm>
          <a:prstGeom prst="curvedConnector3">
            <a:avLst>
              <a:gd fmla="val 49997" name="adj1"/>
            </a:avLst>
          </a:prstGeom>
          <a:noFill/>
          <a:ln cap="flat" cmpd="sng" w="9525">
            <a:solidFill>
              <a:srgbClr val="1B5162"/>
            </a:solidFill>
            <a:prstDash val="solid"/>
            <a:round/>
            <a:headEnd len="med" w="med" type="none"/>
            <a:tailEnd len="med" w="med" type="triangle"/>
          </a:ln>
        </p:spPr>
      </p:cxnSp>
      <p:sp>
        <p:nvSpPr>
          <p:cNvPr id="1751" name="Google Shape;1751;p89"/>
          <p:cNvSpPr/>
          <p:nvPr/>
        </p:nvSpPr>
        <p:spPr>
          <a:xfrm>
            <a:off x="9595366" y="2750333"/>
            <a:ext cx="2460600" cy="3048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Testers</a:t>
            </a:r>
            <a:endParaRPr sz="1300">
              <a:latin typeface="DM Sans"/>
              <a:ea typeface="DM Sans"/>
              <a:cs typeface="DM Sans"/>
              <a:sym typeface="DM Sans"/>
            </a:endParaRPr>
          </a:p>
        </p:txBody>
      </p:sp>
      <p:cxnSp>
        <p:nvCxnSpPr>
          <p:cNvPr id="1752" name="Google Shape;1752;p89"/>
          <p:cNvCxnSpPr>
            <a:stCxn id="1741" idx="3"/>
            <a:endCxn id="1744" idx="1"/>
          </p:cNvCxnSpPr>
          <p:nvPr/>
        </p:nvCxnSpPr>
        <p:spPr>
          <a:xfrm flipH="1" rot="10800000">
            <a:off x="2746023" y="3475054"/>
            <a:ext cx="1515900" cy="23100"/>
          </a:xfrm>
          <a:prstGeom prst="curvedConnector3">
            <a:avLst>
              <a:gd fmla="val 49997" name="adj1"/>
            </a:avLst>
          </a:prstGeom>
          <a:noFill/>
          <a:ln cap="flat" cmpd="sng" w="9525">
            <a:solidFill>
              <a:srgbClr val="1B5162"/>
            </a:solidFill>
            <a:prstDash val="solid"/>
            <a:round/>
            <a:headEnd len="med" w="med" type="none"/>
            <a:tailEnd len="med" w="med" type="triangle"/>
          </a:ln>
        </p:spPr>
      </p:cxnSp>
      <p:sp>
        <p:nvSpPr>
          <p:cNvPr id="1753" name="Google Shape;1753;p89"/>
          <p:cNvSpPr/>
          <p:nvPr/>
        </p:nvSpPr>
        <p:spPr>
          <a:xfrm>
            <a:off x="9595366" y="1764550"/>
            <a:ext cx="2460600" cy="3048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Developers</a:t>
            </a:r>
            <a:endParaRPr sz="1300">
              <a:latin typeface="DM Sans"/>
              <a:ea typeface="DM Sans"/>
              <a:cs typeface="DM Sans"/>
              <a:sym typeface="DM Sans"/>
            </a:endParaRPr>
          </a:p>
        </p:txBody>
      </p:sp>
      <p:sp>
        <p:nvSpPr>
          <p:cNvPr id="1754" name="Google Shape;1754;p89"/>
          <p:cNvSpPr txBox="1"/>
          <p:nvPr/>
        </p:nvSpPr>
        <p:spPr>
          <a:xfrm>
            <a:off x="4398933" y="938933"/>
            <a:ext cx="15156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lang="en" sz="1900">
                <a:latin typeface="Barlow"/>
                <a:ea typeface="Barlow"/>
                <a:cs typeface="Barlow"/>
                <a:sym typeface="Barlow"/>
              </a:rPr>
              <a:t>Catalogs</a:t>
            </a:r>
            <a:endParaRPr sz="1900">
              <a:latin typeface="Barlow"/>
              <a:ea typeface="Barlow"/>
              <a:cs typeface="Barlow"/>
              <a:sym typeface="Barlow"/>
            </a:endParaRPr>
          </a:p>
        </p:txBody>
      </p:sp>
      <p:sp>
        <p:nvSpPr>
          <p:cNvPr id="1755" name="Google Shape;1755;p89"/>
          <p:cNvSpPr txBox="1"/>
          <p:nvPr/>
        </p:nvSpPr>
        <p:spPr>
          <a:xfrm>
            <a:off x="6855204" y="939800"/>
            <a:ext cx="17994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lang="en" sz="1900">
                <a:latin typeface="Barlow"/>
                <a:ea typeface="Barlow"/>
                <a:cs typeface="Barlow"/>
                <a:sym typeface="Barlow"/>
              </a:rPr>
              <a:t>Workspaces</a:t>
            </a:r>
            <a:endParaRPr sz="1900">
              <a:latin typeface="Barlow"/>
              <a:ea typeface="Barlow"/>
              <a:cs typeface="Barlow"/>
              <a:sym typeface="Barlow"/>
            </a:endParaRPr>
          </a:p>
        </p:txBody>
      </p:sp>
      <p:sp>
        <p:nvSpPr>
          <p:cNvPr id="1756" name="Google Shape;1756;p89"/>
          <p:cNvSpPr txBox="1"/>
          <p:nvPr/>
        </p:nvSpPr>
        <p:spPr>
          <a:xfrm>
            <a:off x="10155245" y="939800"/>
            <a:ext cx="17994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lang="en" sz="1900">
                <a:latin typeface="Barlow"/>
                <a:ea typeface="Barlow"/>
                <a:cs typeface="Barlow"/>
                <a:sym typeface="Barlow"/>
              </a:rPr>
              <a:t>Groups</a:t>
            </a:r>
            <a:endParaRPr sz="1900">
              <a:latin typeface="Barlow"/>
              <a:ea typeface="Barlow"/>
              <a:cs typeface="Barlow"/>
              <a:sym typeface="Barlow"/>
            </a:endParaRPr>
          </a:p>
        </p:txBody>
      </p:sp>
      <p:cxnSp>
        <p:nvCxnSpPr>
          <p:cNvPr id="1757" name="Google Shape;1757;p89"/>
          <p:cNvCxnSpPr>
            <a:stCxn id="1739" idx="3"/>
            <a:endCxn id="1747" idx="1"/>
          </p:cNvCxnSpPr>
          <p:nvPr/>
        </p:nvCxnSpPr>
        <p:spPr>
          <a:xfrm flipH="1" rot="10800000">
            <a:off x="5914481" y="1933806"/>
            <a:ext cx="630000" cy="44400"/>
          </a:xfrm>
          <a:prstGeom prst="curvedConnector3">
            <a:avLst>
              <a:gd fmla="val 49998" name="adj1"/>
            </a:avLst>
          </a:prstGeom>
          <a:noFill/>
          <a:ln cap="flat" cmpd="sng" w="9525">
            <a:solidFill>
              <a:srgbClr val="000000"/>
            </a:solidFill>
            <a:prstDash val="solid"/>
            <a:round/>
            <a:headEnd len="med" w="med" type="none"/>
            <a:tailEnd len="med" w="med" type="triangle"/>
          </a:ln>
        </p:spPr>
      </p:cxnSp>
      <p:cxnSp>
        <p:nvCxnSpPr>
          <p:cNvPr id="1758" name="Google Shape;1758;p89"/>
          <p:cNvCxnSpPr>
            <a:stCxn id="1743" idx="3"/>
            <a:endCxn id="1746" idx="1"/>
          </p:cNvCxnSpPr>
          <p:nvPr/>
        </p:nvCxnSpPr>
        <p:spPr>
          <a:xfrm flipH="1" rot="10800000">
            <a:off x="5914481" y="2493967"/>
            <a:ext cx="630000" cy="29400"/>
          </a:xfrm>
          <a:prstGeom prst="curvedConnector3">
            <a:avLst>
              <a:gd fmla="val 49998" name="adj1"/>
            </a:avLst>
          </a:prstGeom>
          <a:noFill/>
          <a:ln cap="flat" cmpd="sng" w="9525">
            <a:solidFill>
              <a:srgbClr val="000000"/>
            </a:solidFill>
            <a:prstDash val="solid"/>
            <a:round/>
            <a:headEnd len="med" w="med" type="none"/>
            <a:tailEnd len="med" w="med" type="triangle"/>
          </a:ln>
        </p:spPr>
      </p:cxnSp>
      <p:sp>
        <p:nvSpPr>
          <p:cNvPr id="1759" name="Google Shape;1759;p89"/>
          <p:cNvSpPr/>
          <p:nvPr/>
        </p:nvSpPr>
        <p:spPr>
          <a:xfrm>
            <a:off x="4261781" y="4194352"/>
            <a:ext cx="16527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bu_1_dev</a:t>
            </a:r>
            <a:endParaRPr sz="1300">
              <a:latin typeface="DM Sans"/>
              <a:ea typeface="DM Sans"/>
              <a:cs typeface="DM Sans"/>
              <a:sym typeface="DM Sans"/>
            </a:endParaRPr>
          </a:p>
        </p:txBody>
      </p:sp>
      <p:sp>
        <p:nvSpPr>
          <p:cNvPr id="1760" name="Google Shape;1760;p89"/>
          <p:cNvSpPr/>
          <p:nvPr/>
        </p:nvSpPr>
        <p:spPr>
          <a:xfrm>
            <a:off x="4261781" y="4747617"/>
            <a:ext cx="16527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bu_1_staging</a:t>
            </a:r>
            <a:endParaRPr sz="1300">
              <a:latin typeface="DM Sans"/>
              <a:ea typeface="DM Sans"/>
              <a:cs typeface="DM Sans"/>
              <a:sym typeface="DM Sans"/>
            </a:endParaRPr>
          </a:p>
        </p:txBody>
      </p:sp>
      <p:cxnSp>
        <p:nvCxnSpPr>
          <p:cNvPr id="1761" name="Google Shape;1761;p89"/>
          <p:cNvCxnSpPr>
            <a:stCxn id="1741" idx="3"/>
            <a:endCxn id="1759" idx="1"/>
          </p:cNvCxnSpPr>
          <p:nvPr/>
        </p:nvCxnSpPr>
        <p:spPr>
          <a:xfrm>
            <a:off x="2746023" y="3498154"/>
            <a:ext cx="1515900" cy="929100"/>
          </a:xfrm>
          <a:prstGeom prst="curvedConnector3">
            <a:avLst>
              <a:gd fmla="val 49997" name="adj1"/>
            </a:avLst>
          </a:prstGeom>
          <a:noFill/>
          <a:ln cap="flat" cmpd="sng" w="9525">
            <a:solidFill>
              <a:srgbClr val="1B5162"/>
            </a:solidFill>
            <a:prstDash val="solid"/>
            <a:round/>
            <a:headEnd len="med" w="med" type="none"/>
            <a:tailEnd len="med" w="med" type="triangle"/>
          </a:ln>
        </p:spPr>
      </p:cxnSp>
      <p:cxnSp>
        <p:nvCxnSpPr>
          <p:cNvPr id="1762" name="Google Shape;1762;p89"/>
          <p:cNvCxnSpPr>
            <a:stCxn id="1741" idx="3"/>
            <a:endCxn id="1760" idx="1"/>
          </p:cNvCxnSpPr>
          <p:nvPr/>
        </p:nvCxnSpPr>
        <p:spPr>
          <a:xfrm>
            <a:off x="2746023" y="3498154"/>
            <a:ext cx="1515900" cy="1482300"/>
          </a:xfrm>
          <a:prstGeom prst="curvedConnector3">
            <a:avLst>
              <a:gd fmla="val 49997" name="adj1"/>
            </a:avLst>
          </a:prstGeom>
          <a:noFill/>
          <a:ln cap="flat" cmpd="sng" w="9525">
            <a:solidFill>
              <a:srgbClr val="1B5162"/>
            </a:solidFill>
            <a:prstDash val="solid"/>
            <a:round/>
            <a:headEnd len="med" w="med" type="none"/>
            <a:tailEnd len="med" w="med" type="triangle"/>
          </a:ln>
        </p:spPr>
      </p:cxnSp>
      <p:cxnSp>
        <p:nvCxnSpPr>
          <p:cNvPr id="1763" name="Google Shape;1763;p89"/>
          <p:cNvCxnSpPr>
            <a:stCxn id="1744" idx="3"/>
            <a:endCxn id="1745" idx="1"/>
          </p:cNvCxnSpPr>
          <p:nvPr/>
        </p:nvCxnSpPr>
        <p:spPr>
          <a:xfrm flipH="1" rot="10800000">
            <a:off x="5914481" y="3460528"/>
            <a:ext cx="630000" cy="14400"/>
          </a:xfrm>
          <a:prstGeom prst="curvedConnector3">
            <a:avLst>
              <a:gd fmla="val 49998" name="adj1"/>
            </a:avLst>
          </a:prstGeom>
          <a:noFill/>
          <a:ln cap="flat" cmpd="sng" w="9525">
            <a:solidFill>
              <a:srgbClr val="1B5162"/>
            </a:solidFill>
            <a:prstDash val="solid"/>
            <a:round/>
            <a:headEnd len="med" w="med" type="none"/>
            <a:tailEnd len="med" w="med" type="triangle"/>
          </a:ln>
        </p:spPr>
      </p:cxnSp>
      <p:cxnSp>
        <p:nvCxnSpPr>
          <p:cNvPr id="1764" name="Google Shape;1764;p89"/>
          <p:cNvCxnSpPr>
            <a:stCxn id="1765" idx="3"/>
            <a:endCxn id="1749" idx="1"/>
          </p:cNvCxnSpPr>
          <p:nvPr/>
        </p:nvCxnSpPr>
        <p:spPr>
          <a:xfrm>
            <a:off x="8660866" y="3430933"/>
            <a:ext cx="934500" cy="315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766" name="Google Shape;1766;p89"/>
          <p:cNvSpPr/>
          <p:nvPr/>
        </p:nvSpPr>
        <p:spPr>
          <a:xfrm>
            <a:off x="4261581" y="5684411"/>
            <a:ext cx="16527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bu_1_prod</a:t>
            </a:r>
            <a:endParaRPr sz="1300">
              <a:latin typeface="DM Sans"/>
              <a:ea typeface="DM Sans"/>
              <a:cs typeface="DM Sans"/>
              <a:sym typeface="DM Sans"/>
            </a:endParaRPr>
          </a:p>
        </p:txBody>
      </p:sp>
      <p:cxnSp>
        <p:nvCxnSpPr>
          <p:cNvPr id="1767" name="Google Shape;1767;p89"/>
          <p:cNvCxnSpPr>
            <a:stCxn id="1741" idx="3"/>
            <a:endCxn id="1766" idx="1"/>
          </p:cNvCxnSpPr>
          <p:nvPr/>
        </p:nvCxnSpPr>
        <p:spPr>
          <a:xfrm>
            <a:off x="2746023" y="3498154"/>
            <a:ext cx="1515600" cy="2419200"/>
          </a:xfrm>
          <a:prstGeom prst="curvedConnector3">
            <a:avLst>
              <a:gd fmla="val 50003" name="adj1"/>
            </a:avLst>
          </a:prstGeom>
          <a:noFill/>
          <a:ln cap="flat" cmpd="sng" w="9525">
            <a:solidFill>
              <a:srgbClr val="1B5162"/>
            </a:solidFill>
            <a:prstDash val="solid"/>
            <a:round/>
            <a:headEnd len="med" w="med" type="none"/>
            <a:tailEnd len="med" w="med" type="triangle"/>
          </a:ln>
        </p:spPr>
      </p:cxnSp>
      <p:grpSp>
        <p:nvGrpSpPr>
          <p:cNvPr id="1768" name="Google Shape;1768;p89"/>
          <p:cNvGrpSpPr/>
          <p:nvPr/>
        </p:nvGrpSpPr>
        <p:grpSpPr>
          <a:xfrm>
            <a:off x="9595216" y="5701621"/>
            <a:ext cx="2460683" cy="343856"/>
            <a:chOff x="3107797" y="1800573"/>
            <a:chExt cx="3447300" cy="348703"/>
          </a:xfrm>
        </p:grpSpPr>
        <p:sp>
          <p:nvSpPr>
            <p:cNvPr id="1769" name="Google Shape;1769;p89"/>
            <p:cNvSpPr/>
            <p:nvPr/>
          </p:nvSpPr>
          <p:spPr>
            <a:xfrm>
              <a:off x="3107797" y="1840275"/>
              <a:ext cx="3447300" cy="3090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BU Users</a:t>
              </a:r>
              <a:endParaRPr sz="1300">
                <a:latin typeface="DM Sans"/>
                <a:ea typeface="DM Sans"/>
                <a:cs typeface="DM Sans"/>
                <a:sym typeface="DM Sans"/>
              </a:endParaRPr>
            </a:p>
          </p:txBody>
        </p:sp>
        <p:sp>
          <p:nvSpPr>
            <p:cNvPr id="1770" name="Google Shape;1770;p89"/>
            <p:cNvSpPr/>
            <p:nvPr/>
          </p:nvSpPr>
          <p:spPr>
            <a:xfrm>
              <a:off x="4413250" y="1800573"/>
              <a:ext cx="147300" cy="147300"/>
            </a:xfrm>
            <a:prstGeom prst="ellipse">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300"/>
            </a:p>
          </p:txBody>
        </p:sp>
      </p:grpSp>
      <p:grpSp>
        <p:nvGrpSpPr>
          <p:cNvPr id="1771" name="Google Shape;1771;p89"/>
          <p:cNvGrpSpPr/>
          <p:nvPr/>
        </p:nvGrpSpPr>
        <p:grpSpPr>
          <a:xfrm>
            <a:off x="6544308" y="4209192"/>
            <a:ext cx="2083368" cy="1004343"/>
            <a:chOff x="3313505" y="1252712"/>
            <a:chExt cx="2918700" cy="1018500"/>
          </a:xfrm>
        </p:grpSpPr>
        <p:sp>
          <p:nvSpPr>
            <p:cNvPr id="1772" name="Google Shape;1772;p89"/>
            <p:cNvSpPr/>
            <p:nvPr/>
          </p:nvSpPr>
          <p:spPr>
            <a:xfrm>
              <a:off x="3313505" y="1252712"/>
              <a:ext cx="2918700" cy="10185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bu_dev_stg_ws</a:t>
              </a:r>
              <a:endParaRPr sz="1300">
                <a:latin typeface="DM Sans"/>
                <a:ea typeface="DM Sans"/>
                <a:cs typeface="DM Sans"/>
                <a:sym typeface="DM Sans"/>
              </a:endParaRPr>
            </a:p>
          </p:txBody>
        </p:sp>
        <p:sp>
          <p:nvSpPr>
            <p:cNvPr id="1773" name="Google Shape;1773;p89"/>
            <p:cNvSpPr/>
            <p:nvPr/>
          </p:nvSpPr>
          <p:spPr>
            <a:xfrm>
              <a:off x="4413250" y="1800573"/>
              <a:ext cx="147300" cy="147300"/>
            </a:xfrm>
            <a:prstGeom prst="ellipse">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1300"/>
            </a:p>
          </p:txBody>
        </p:sp>
      </p:grpSp>
      <p:sp>
        <p:nvSpPr>
          <p:cNvPr id="1774" name="Google Shape;1774;p89"/>
          <p:cNvSpPr/>
          <p:nvPr/>
        </p:nvSpPr>
        <p:spPr>
          <a:xfrm>
            <a:off x="6560842" y="5716200"/>
            <a:ext cx="2083500" cy="4023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bu_prod_ws</a:t>
            </a:r>
            <a:endParaRPr sz="1300">
              <a:latin typeface="DM Sans"/>
              <a:ea typeface="DM Sans"/>
              <a:cs typeface="DM Sans"/>
              <a:sym typeface="DM Sans"/>
            </a:endParaRPr>
          </a:p>
        </p:txBody>
      </p:sp>
      <p:cxnSp>
        <p:nvCxnSpPr>
          <p:cNvPr id="1775" name="Google Shape;1775;p89"/>
          <p:cNvCxnSpPr>
            <a:stCxn id="1776" idx="3"/>
            <a:endCxn id="1751" idx="1"/>
          </p:cNvCxnSpPr>
          <p:nvPr/>
        </p:nvCxnSpPr>
        <p:spPr>
          <a:xfrm>
            <a:off x="8660866" y="2493833"/>
            <a:ext cx="934500" cy="408900"/>
          </a:xfrm>
          <a:prstGeom prst="curvedConnector3">
            <a:avLst>
              <a:gd fmla="val 50000" name="adj1"/>
            </a:avLst>
          </a:prstGeom>
          <a:noFill/>
          <a:ln cap="flat" cmpd="sng" w="9525">
            <a:solidFill>
              <a:srgbClr val="000000"/>
            </a:solidFill>
            <a:prstDash val="solid"/>
            <a:round/>
            <a:headEnd len="med" w="med" type="none"/>
            <a:tailEnd len="med" w="med" type="triangle"/>
          </a:ln>
        </p:spPr>
      </p:cxnSp>
      <p:cxnSp>
        <p:nvCxnSpPr>
          <p:cNvPr id="1777" name="Google Shape;1777;p89"/>
          <p:cNvCxnSpPr>
            <a:stCxn id="1778" idx="3"/>
            <a:endCxn id="1753" idx="1"/>
          </p:cNvCxnSpPr>
          <p:nvPr/>
        </p:nvCxnSpPr>
        <p:spPr>
          <a:xfrm>
            <a:off x="8660866" y="1916050"/>
            <a:ext cx="9345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pic>
        <p:nvPicPr>
          <p:cNvPr descr="Databricks · GitHub" id="1779" name="Google Shape;1779;p89"/>
          <p:cNvPicPr preferRelativeResize="0"/>
          <p:nvPr/>
        </p:nvPicPr>
        <p:blipFill>
          <a:blip r:embed="rId3">
            <a:alphaModFix/>
          </a:blip>
          <a:stretch>
            <a:fillRect/>
          </a:stretch>
        </p:blipFill>
        <p:spPr>
          <a:xfrm>
            <a:off x="406300" y="3193415"/>
            <a:ext cx="609447" cy="609447"/>
          </a:xfrm>
          <a:prstGeom prst="rect">
            <a:avLst/>
          </a:prstGeom>
          <a:noFill/>
          <a:ln>
            <a:noFill/>
          </a:ln>
        </p:spPr>
      </p:pic>
      <p:cxnSp>
        <p:nvCxnSpPr>
          <p:cNvPr id="1780" name="Google Shape;1780;p89"/>
          <p:cNvCxnSpPr>
            <a:stCxn id="1776" idx="3"/>
            <a:endCxn id="1753" idx="1"/>
          </p:cNvCxnSpPr>
          <p:nvPr/>
        </p:nvCxnSpPr>
        <p:spPr>
          <a:xfrm flipH="1" rot="10800000">
            <a:off x="8660866" y="1916950"/>
            <a:ext cx="934500" cy="577200"/>
          </a:xfrm>
          <a:prstGeom prst="curvedConnector3">
            <a:avLst>
              <a:gd fmla="val 50000" name="adj1"/>
            </a:avLst>
          </a:prstGeom>
          <a:noFill/>
          <a:ln cap="flat" cmpd="sng" w="9525">
            <a:solidFill>
              <a:srgbClr val="000000"/>
            </a:solidFill>
            <a:prstDash val="solid"/>
            <a:round/>
            <a:headEnd len="med" w="med" type="none"/>
            <a:tailEnd len="med" w="med" type="triangle"/>
          </a:ln>
        </p:spPr>
      </p:cxnSp>
      <p:cxnSp>
        <p:nvCxnSpPr>
          <p:cNvPr id="1781" name="Google Shape;1781;p89"/>
          <p:cNvCxnSpPr>
            <a:stCxn id="1743" idx="3"/>
            <a:endCxn id="1747" idx="1"/>
          </p:cNvCxnSpPr>
          <p:nvPr/>
        </p:nvCxnSpPr>
        <p:spPr>
          <a:xfrm flipH="1" rot="10800000">
            <a:off x="5914481" y="1933867"/>
            <a:ext cx="630000" cy="589500"/>
          </a:xfrm>
          <a:prstGeom prst="curvedConnector3">
            <a:avLst>
              <a:gd fmla="val 49998" name="adj1"/>
            </a:avLst>
          </a:prstGeom>
          <a:noFill/>
          <a:ln cap="flat" cmpd="sng" w="9525">
            <a:solidFill>
              <a:srgbClr val="000000"/>
            </a:solidFill>
            <a:prstDash val="solid"/>
            <a:round/>
            <a:headEnd len="med" w="med" type="none"/>
            <a:tailEnd len="med" w="med" type="triangle"/>
          </a:ln>
        </p:spPr>
      </p:cxnSp>
      <p:sp>
        <p:nvSpPr>
          <p:cNvPr id="1782" name="Google Shape;1782;p89"/>
          <p:cNvSpPr/>
          <p:nvPr/>
        </p:nvSpPr>
        <p:spPr>
          <a:xfrm>
            <a:off x="9595366" y="4173367"/>
            <a:ext cx="2460600" cy="3048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BU Developers</a:t>
            </a:r>
            <a:endParaRPr sz="1300">
              <a:latin typeface="DM Sans"/>
              <a:ea typeface="DM Sans"/>
              <a:cs typeface="DM Sans"/>
              <a:sym typeface="DM Sans"/>
            </a:endParaRPr>
          </a:p>
        </p:txBody>
      </p:sp>
      <p:cxnSp>
        <p:nvCxnSpPr>
          <p:cNvPr id="1783" name="Google Shape;1783;p89"/>
          <p:cNvCxnSpPr>
            <a:stCxn id="1765" idx="3"/>
            <a:endCxn id="1751" idx="1"/>
          </p:cNvCxnSpPr>
          <p:nvPr/>
        </p:nvCxnSpPr>
        <p:spPr>
          <a:xfrm flipH="1" rot="10800000">
            <a:off x="8660866" y="2902733"/>
            <a:ext cx="934500" cy="528000"/>
          </a:xfrm>
          <a:prstGeom prst="curvedConnector3">
            <a:avLst>
              <a:gd fmla="val 50000" name="adj1"/>
            </a:avLst>
          </a:prstGeom>
          <a:noFill/>
          <a:ln cap="flat" cmpd="sng" w="9525">
            <a:solidFill>
              <a:srgbClr val="000000"/>
            </a:solidFill>
            <a:prstDash val="solid"/>
            <a:round/>
            <a:headEnd len="med" w="med" type="none"/>
            <a:tailEnd len="med" w="med" type="triangle"/>
          </a:ln>
        </p:spPr>
      </p:cxnSp>
      <p:cxnSp>
        <p:nvCxnSpPr>
          <p:cNvPr id="1784" name="Google Shape;1784;p89"/>
          <p:cNvCxnSpPr>
            <a:stCxn id="1759" idx="3"/>
            <a:endCxn id="1772" idx="1"/>
          </p:cNvCxnSpPr>
          <p:nvPr/>
        </p:nvCxnSpPr>
        <p:spPr>
          <a:xfrm>
            <a:off x="5914481" y="4427302"/>
            <a:ext cx="629700" cy="284100"/>
          </a:xfrm>
          <a:prstGeom prst="curvedConnector3">
            <a:avLst>
              <a:gd fmla="val 49998" name="adj1"/>
            </a:avLst>
          </a:prstGeom>
          <a:noFill/>
          <a:ln cap="flat" cmpd="sng" w="9525">
            <a:solidFill>
              <a:srgbClr val="000000"/>
            </a:solidFill>
            <a:prstDash val="solid"/>
            <a:round/>
            <a:headEnd len="med" w="med" type="none"/>
            <a:tailEnd len="med" w="med" type="triangle"/>
          </a:ln>
        </p:spPr>
      </p:cxnSp>
      <p:cxnSp>
        <p:nvCxnSpPr>
          <p:cNvPr id="1785" name="Google Shape;1785;p89"/>
          <p:cNvCxnSpPr>
            <a:stCxn id="1760" idx="3"/>
            <a:endCxn id="1772" idx="1"/>
          </p:cNvCxnSpPr>
          <p:nvPr/>
        </p:nvCxnSpPr>
        <p:spPr>
          <a:xfrm flipH="1" rot="10800000">
            <a:off x="5914481" y="4711467"/>
            <a:ext cx="629700" cy="269100"/>
          </a:xfrm>
          <a:prstGeom prst="curvedConnector3">
            <a:avLst>
              <a:gd fmla="val 49998" name="adj1"/>
            </a:avLst>
          </a:prstGeom>
          <a:noFill/>
          <a:ln cap="flat" cmpd="sng" w="9525">
            <a:solidFill>
              <a:srgbClr val="000000"/>
            </a:solidFill>
            <a:prstDash val="solid"/>
            <a:round/>
            <a:headEnd len="med" w="med" type="none"/>
            <a:tailEnd len="med" w="med" type="triangle"/>
          </a:ln>
        </p:spPr>
      </p:cxnSp>
      <p:cxnSp>
        <p:nvCxnSpPr>
          <p:cNvPr id="1786" name="Google Shape;1786;p89"/>
          <p:cNvCxnSpPr>
            <a:stCxn id="1766" idx="3"/>
            <a:endCxn id="1774" idx="1"/>
          </p:cNvCxnSpPr>
          <p:nvPr/>
        </p:nvCxnSpPr>
        <p:spPr>
          <a:xfrm>
            <a:off x="5914281" y="5917361"/>
            <a:ext cx="646500" cy="600"/>
          </a:xfrm>
          <a:prstGeom prst="curvedConnector3">
            <a:avLst>
              <a:gd fmla="val 49987" name="adj1"/>
            </a:avLst>
          </a:prstGeom>
          <a:noFill/>
          <a:ln cap="flat" cmpd="sng" w="9525">
            <a:solidFill>
              <a:srgbClr val="000000"/>
            </a:solidFill>
            <a:prstDash val="solid"/>
            <a:round/>
            <a:headEnd len="med" w="med" type="none"/>
            <a:tailEnd len="med" w="med" type="triangle"/>
          </a:ln>
        </p:spPr>
      </p:cxnSp>
      <p:cxnSp>
        <p:nvCxnSpPr>
          <p:cNvPr id="1787" name="Google Shape;1787;p89"/>
          <p:cNvCxnSpPr>
            <a:stCxn id="1774" idx="3"/>
            <a:endCxn id="1769" idx="1"/>
          </p:cNvCxnSpPr>
          <p:nvPr/>
        </p:nvCxnSpPr>
        <p:spPr>
          <a:xfrm flipH="1" rot="10800000">
            <a:off x="8644342" y="5893050"/>
            <a:ext cx="951000" cy="24300"/>
          </a:xfrm>
          <a:prstGeom prst="curvedConnector3">
            <a:avLst>
              <a:gd fmla="val 50000" name="adj1"/>
            </a:avLst>
          </a:prstGeom>
          <a:noFill/>
          <a:ln cap="flat" cmpd="sng" w="9525">
            <a:solidFill>
              <a:srgbClr val="000000"/>
            </a:solidFill>
            <a:prstDash val="solid"/>
            <a:round/>
            <a:headEnd len="med" w="med" type="none"/>
            <a:tailEnd len="med" w="med" type="stealth"/>
          </a:ln>
        </p:spPr>
      </p:cxnSp>
      <p:cxnSp>
        <p:nvCxnSpPr>
          <p:cNvPr id="1788" name="Google Shape;1788;p89"/>
          <p:cNvCxnSpPr>
            <a:stCxn id="1789" idx="3"/>
            <a:endCxn id="1782" idx="1"/>
          </p:cNvCxnSpPr>
          <p:nvPr/>
        </p:nvCxnSpPr>
        <p:spPr>
          <a:xfrm flipH="1" rot="10800000">
            <a:off x="8660866" y="4325767"/>
            <a:ext cx="934500" cy="2841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790" name="Google Shape;1790;p89"/>
          <p:cNvSpPr/>
          <p:nvPr/>
        </p:nvSpPr>
        <p:spPr>
          <a:xfrm>
            <a:off x="9595449" y="4715833"/>
            <a:ext cx="2460600" cy="3048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BU Testers</a:t>
            </a:r>
            <a:endParaRPr sz="1300">
              <a:latin typeface="DM Sans"/>
              <a:ea typeface="DM Sans"/>
              <a:cs typeface="DM Sans"/>
              <a:sym typeface="DM Sans"/>
            </a:endParaRPr>
          </a:p>
        </p:txBody>
      </p:sp>
      <p:cxnSp>
        <p:nvCxnSpPr>
          <p:cNvPr id="1791" name="Google Shape;1791;p89"/>
          <p:cNvCxnSpPr>
            <a:stCxn id="1789" idx="3"/>
            <a:endCxn id="1790" idx="1"/>
          </p:cNvCxnSpPr>
          <p:nvPr/>
        </p:nvCxnSpPr>
        <p:spPr>
          <a:xfrm>
            <a:off x="8660949" y="4609933"/>
            <a:ext cx="934500" cy="2583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792" name="Google Shape;1792;p89"/>
          <p:cNvSpPr txBox="1"/>
          <p:nvPr/>
        </p:nvSpPr>
        <p:spPr>
          <a:xfrm>
            <a:off x="313921" y="344633"/>
            <a:ext cx="10451100" cy="465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latin typeface="DM Sans"/>
                <a:ea typeface="DM Sans"/>
                <a:cs typeface="DM Sans"/>
                <a:sym typeface="DM Sans"/>
              </a:rPr>
              <a:t>/_static/images/unity-catalog/uc-catalogs.png</a:t>
            </a:r>
            <a:endParaRPr sz="1900">
              <a:latin typeface="DM Sans"/>
              <a:ea typeface="DM Sans"/>
              <a:cs typeface="DM Sans"/>
              <a:sym typeface="DM Sans"/>
            </a:endParaRPr>
          </a:p>
        </p:txBody>
      </p:sp>
      <p:pic>
        <p:nvPicPr>
          <p:cNvPr descr="Databricks · GitHub" id="1793" name="Google Shape;1793;p89"/>
          <p:cNvPicPr preferRelativeResize="0"/>
          <p:nvPr/>
        </p:nvPicPr>
        <p:blipFill>
          <a:blip r:embed="rId3">
            <a:alphaModFix/>
          </a:blip>
          <a:stretch>
            <a:fillRect/>
          </a:stretch>
        </p:blipFill>
        <p:spPr>
          <a:xfrm>
            <a:off x="8269231" y="3310281"/>
            <a:ext cx="283929" cy="283929"/>
          </a:xfrm>
          <a:prstGeom prst="rect">
            <a:avLst/>
          </a:prstGeom>
          <a:noFill/>
          <a:ln>
            <a:noFill/>
          </a:ln>
        </p:spPr>
      </p:pic>
      <p:pic>
        <p:nvPicPr>
          <p:cNvPr descr="Databricks · GitHub" id="1794" name="Google Shape;1794;p89"/>
          <p:cNvPicPr preferRelativeResize="0"/>
          <p:nvPr/>
        </p:nvPicPr>
        <p:blipFill>
          <a:blip r:embed="rId3">
            <a:alphaModFix/>
          </a:blip>
          <a:stretch>
            <a:fillRect/>
          </a:stretch>
        </p:blipFill>
        <p:spPr>
          <a:xfrm>
            <a:off x="8269231" y="1814065"/>
            <a:ext cx="283929" cy="283929"/>
          </a:xfrm>
          <a:prstGeom prst="rect">
            <a:avLst/>
          </a:prstGeom>
          <a:noFill/>
          <a:ln>
            <a:noFill/>
          </a:ln>
        </p:spPr>
      </p:pic>
      <p:pic>
        <p:nvPicPr>
          <p:cNvPr descr="Databricks · GitHub" id="1795" name="Google Shape;1795;p89"/>
          <p:cNvPicPr preferRelativeResize="0"/>
          <p:nvPr/>
        </p:nvPicPr>
        <p:blipFill>
          <a:blip r:embed="rId3">
            <a:alphaModFix/>
          </a:blip>
          <a:stretch>
            <a:fillRect/>
          </a:stretch>
        </p:blipFill>
        <p:spPr>
          <a:xfrm>
            <a:off x="8269231" y="4582348"/>
            <a:ext cx="283929" cy="283929"/>
          </a:xfrm>
          <a:prstGeom prst="rect">
            <a:avLst/>
          </a:prstGeom>
          <a:noFill/>
          <a:ln>
            <a:noFill/>
          </a:ln>
        </p:spPr>
      </p:pic>
      <p:pic>
        <p:nvPicPr>
          <p:cNvPr descr="Databricks · GitHub" id="1796" name="Google Shape;1796;p89"/>
          <p:cNvPicPr preferRelativeResize="0"/>
          <p:nvPr/>
        </p:nvPicPr>
        <p:blipFill>
          <a:blip r:embed="rId3">
            <a:alphaModFix/>
          </a:blip>
          <a:stretch>
            <a:fillRect/>
          </a:stretch>
        </p:blipFill>
        <p:spPr>
          <a:xfrm>
            <a:off x="8269231" y="2352131"/>
            <a:ext cx="283929" cy="283929"/>
          </a:xfrm>
          <a:prstGeom prst="rect">
            <a:avLst/>
          </a:prstGeom>
          <a:noFill/>
          <a:ln>
            <a:noFill/>
          </a:ln>
        </p:spPr>
      </p:pic>
      <p:pic>
        <p:nvPicPr>
          <p:cNvPr descr="Databricks · GitHub" id="1797" name="Google Shape;1797;p89"/>
          <p:cNvPicPr preferRelativeResize="0"/>
          <p:nvPr/>
        </p:nvPicPr>
        <p:blipFill>
          <a:blip r:embed="rId3">
            <a:alphaModFix/>
          </a:blip>
          <a:stretch>
            <a:fillRect/>
          </a:stretch>
        </p:blipFill>
        <p:spPr>
          <a:xfrm>
            <a:off x="8269231" y="5765565"/>
            <a:ext cx="283929" cy="28392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90"/>
          <p:cNvSpPr/>
          <p:nvPr/>
        </p:nvSpPr>
        <p:spPr>
          <a:xfrm>
            <a:off x="4261615" y="3264523"/>
            <a:ext cx="16527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users/</a:t>
            </a:r>
            <a:endParaRPr sz="1300">
              <a:latin typeface="DM Sans"/>
              <a:ea typeface="DM Sans"/>
              <a:cs typeface="DM Sans"/>
              <a:sym typeface="DM Sans"/>
            </a:endParaRPr>
          </a:p>
        </p:txBody>
      </p:sp>
      <p:sp>
        <p:nvSpPr>
          <p:cNvPr id="1803" name="Google Shape;1803;p90"/>
          <p:cNvSpPr/>
          <p:nvPr/>
        </p:nvSpPr>
        <p:spPr>
          <a:xfrm>
            <a:off x="1561676" y="3754100"/>
            <a:ext cx="17994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900">
                <a:latin typeface="Barlow"/>
                <a:ea typeface="Barlow"/>
                <a:cs typeface="Barlow"/>
                <a:sym typeface="Barlow"/>
              </a:rPr>
              <a:t>/</a:t>
            </a:r>
            <a:endParaRPr sz="1900">
              <a:latin typeface="Barlow"/>
              <a:ea typeface="Barlow"/>
              <a:cs typeface="Barlow"/>
              <a:sym typeface="Barlow"/>
            </a:endParaRPr>
          </a:p>
        </p:txBody>
      </p:sp>
      <p:sp>
        <p:nvSpPr>
          <p:cNvPr id="1804" name="Google Shape;1804;p90"/>
          <p:cNvSpPr/>
          <p:nvPr/>
        </p:nvSpPr>
        <p:spPr>
          <a:xfrm>
            <a:off x="2404116" y="4187082"/>
            <a:ext cx="109500" cy="145200"/>
          </a:xfrm>
          <a:prstGeom prst="ellipse">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1900">
              <a:latin typeface="Barlow"/>
              <a:ea typeface="Barlow"/>
              <a:cs typeface="Barlow"/>
              <a:sym typeface="Barlow"/>
            </a:endParaRPr>
          </a:p>
        </p:txBody>
      </p:sp>
      <p:sp>
        <p:nvSpPr>
          <p:cNvPr id="1805" name="Google Shape;1805;p90"/>
          <p:cNvSpPr/>
          <p:nvPr/>
        </p:nvSpPr>
        <p:spPr>
          <a:xfrm>
            <a:off x="4261615" y="4201083"/>
            <a:ext cx="1652700" cy="4659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shared/</a:t>
            </a:r>
            <a:endParaRPr sz="1300">
              <a:latin typeface="DM Sans"/>
              <a:ea typeface="DM Sans"/>
              <a:cs typeface="DM Sans"/>
              <a:sym typeface="DM Sans"/>
            </a:endParaRPr>
          </a:p>
        </p:txBody>
      </p:sp>
      <p:cxnSp>
        <p:nvCxnSpPr>
          <p:cNvPr id="1806" name="Google Shape;1806;p90"/>
          <p:cNvCxnSpPr>
            <a:stCxn id="1803" idx="3"/>
            <a:endCxn id="1802" idx="1"/>
          </p:cNvCxnSpPr>
          <p:nvPr/>
        </p:nvCxnSpPr>
        <p:spPr>
          <a:xfrm flipH="1" rot="10800000">
            <a:off x="3361076" y="3497450"/>
            <a:ext cx="900600" cy="489600"/>
          </a:xfrm>
          <a:prstGeom prst="curvedConnector3">
            <a:avLst>
              <a:gd fmla="val 49990" name="adj1"/>
            </a:avLst>
          </a:prstGeom>
          <a:noFill/>
          <a:ln cap="flat" cmpd="sng" w="9525">
            <a:solidFill>
              <a:srgbClr val="1B5162"/>
            </a:solidFill>
            <a:prstDash val="solid"/>
            <a:round/>
            <a:headEnd len="med" w="med" type="none"/>
            <a:tailEnd len="med" w="med" type="triangle"/>
          </a:ln>
        </p:spPr>
      </p:cxnSp>
      <p:cxnSp>
        <p:nvCxnSpPr>
          <p:cNvPr id="1807" name="Google Shape;1807;p90"/>
          <p:cNvCxnSpPr>
            <a:stCxn id="1803" idx="3"/>
            <a:endCxn id="1805" idx="1"/>
          </p:cNvCxnSpPr>
          <p:nvPr/>
        </p:nvCxnSpPr>
        <p:spPr>
          <a:xfrm>
            <a:off x="3361076" y="3987050"/>
            <a:ext cx="900600" cy="447000"/>
          </a:xfrm>
          <a:prstGeom prst="curvedConnector3">
            <a:avLst>
              <a:gd fmla="val 49990" name="adj1"/>
            </a:avLst>
          </a:prstGeom>
          <a:noFill/>
          <a:ln cap="flat" cmpd="sng" w="9525">
            <a:solidFill>
              <a:srgbClr val="1B5162"/>
            </a:solidFill>
            <a:prstDash val="solid"/>
            <a:round/>
            <a:headEnd len="med" w="med" type="none"/>
            <a:tailEnd len="med" w="med" type="triangle"/>
          </a:ln>
        </p:spPr>
      </p:cxnSp>
      <p:cxnSp>
        <p:nvCxnSpPr>
          <p:cNvPr id="1808" name="Google Shape;1808;p90"/>
          <p:cNvCxnSpPr>
            <a:stCxn id="1802" idx="3"/>
            <a:endCxn id="1809" idx="1"/>
          </p:cNvCxnSpPr>
          <p:nvPr/>
        </p:nvCxnSpPr>
        <p:spPr>
          <a:xfrm flipH="1" rot="10800000">
            <a:off x="5914315" y="3059173"/>
            <a:ext cx="791400" cy="438300"/>
          </a:xfrm>
          <a:prstGeom prst="curvedConnector3">
            <a:avLst>
              <a:gd fmla="val 50002" name="adj1"/>
            </a:avLst>
          </a:prstGeom>
          <a:noFill/>
          <a:ln cap="flat" cmpd="sng" w="9525">
            <a:solidFill>
              <a:srgbClr val="000000"/>
            </a:solidFill>
            <a:prstDash val="solid"/>
            <a:round/>
            <a:headEnd len="med" w="med" type="none"/>
            <a:tailEnd len="med" w="med" type="triangle"/>
          </a:ln>
        </p:spPr>
      </p:cxnSp>
      <p:cxnSp>
        <p:nvCxnSpPr>
          <p:cNvPr id="1810" name="Google Shape;1810;p90"/>
          <p:cNvCxnSpPr>
            <a:stCxn id="1805" idx="3"/>
            <a:endCxn id="1811" idx="1"/>
          </p:cNvCxnSpPr>
          <p:nvPr/>
        </p:nvCxnSpPr>
        <p:spPr>
          <a:xfrm>
            <a:off x="5914315" y="4434033"/>
            <a:ext cx="791700" cy="674700"/>
          </a:xfrm>
          <a:prstGeom prst="curvedConnector3">
            <a:avLst>
              <a:gd fmla="val 50004" name="adj1"/>
            </a:avLst>
          </a:prstGeom>
          <a:noFill/>
          <a:ln cap="flat" cmpd="sng" w="9525">
            <a:solidFill>
              <a:srgbClr val="000000"/>
            </a:solidFill>
            <a:prstDash val="solid"/>
            <a:round/>
            <a:headEnd len="med" w="med" type="none"/>
            <a:tailEnd len="med" w="med" type="triangle"/>
          </a:ln>
        </p:spPr>
      </p:cxnSp>
      <p:cxnSp>
        <p:nvCxnSpPr>
          <p:cNvPr id="1812" name="Google Shape;1812;p90"/>
          <p:cNvCxnSpPr>
            <a:stCxn id="1805" idx="3"/>
            <a:endCxn id="1813" idx="1"/>
          </p:cNvCxnSpPr>
          <p:nvPr/>
        </p:nvCxnSpPr>
        <p:spPr>
          <a:xfrm flipH="1" rot="10800000">
            <a:off x="5914315" y="4425333"/>
            <a:ext cx="791400" cy="8700"/>
          </a:xfrm>
          <a:prstGeom prst="curvedConnector3">
            <a:avLst>
              <a:gd fmla="val 50003" name="adj1"/>
            </a:avLst>
          </a:prstGeom>
          <a:noFill/>
          <a:ln cap="flat" cmpd="sng" w="9525">
            <a:solidFill>
              <a:srgbClr val="000000"/>
            </a:solidFill>
            <a:prstDash val="solid"/>
            <a:round/>
            <a:headEnd len="med" w="med" type="none"/>
            <a:tailEnd len="med" w="med" type="triangle"/>
          </a:ln>
        </p:spPr>
      </p:cxnSp>
      <p:sp>
        <p:nvSpPr>
          <p:cNvPr id="1814" name="Google Shape;1814;p90"/>
          <p:cNvSpPr txBox="1"/>
          <p:nvPr/>
        </p:nvSpPr>
        <p:spPr>
          <a:xfrm>
            <a:off x="313921" y="344633"/>
            <a:ext cx="10451100" cy="465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latin typeface="DM Sans"/>
                <a:ea typeface="DM Sans"/>
                <a:cs typeface="DM Sans"/>
                <a:sym typeface="DM Sans"/>
              </a:rPr>
              <a:t>/_static/images/unity-catalog/external-locations-aws.png</a:t>
            </a:r>
            <a:endParaRPr sz="1900">
              <a:latin typeface="DM Sans"/>
              <a:ea typeface="DM Sans"/>
              <a:cs typeface="DM Sans"/>
              <a:sym typeface="DM Sans"/>
            </a:endParaRPr>
          </a:p>
        </p:txBody>
      </p:sp>
      <p:sp>
        <p:nvSpPr>
          <p:cNvPr id="1815" name="Google Shape;1815;p90"/>
          <p:cNvSpPr txBox="1"/>
          <p:nvPr/>
        </p:nvSpPr>
        <p:spPr>
          <a:xfrm>
            <a:off x="1304540" y="3192983"/>
            <a:ext cx="2313900" cy="461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a:latin typeface="Barlow"/>
                <a:ea typeface="Barlow"/>
                <a:cs typeface="Barlow"/>
                <a:sym typeface="Barlow"/>
              </a:rPr>
              <a:t>Bucket/container root</a:t>
            </a:r>
            <a:endParaRPr>
              <a:latin typeface="Barlow"/>
              <a:ea typeface="Barlow"/>
              <a:cs typeface="Barlow"/>
              <a:sym typeface="Barlow"/>
            </a:endParaRPr>
          </a:p>
        </p:txBody>
      </p:sp>
      <p:sp>
        <p:nvSpPr>
          <p:cNvPr id="1816" name="Google Shape;1816;p90"/>
          <p:cNvSpPr/>
          <p:nvPr/>
        </p:nvSpPr>
        <p:spPr>
          <a:xfrm>
            <a:off x="6503506" y="2035200"/>
            <a:ext cx="2057400" cy="35481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1809" name="Google Shape;1809;p90"/>
          <p:cNvSpPr/>
          <p:nvPr/>
        </p:nvSpPr>
        <p:spPr>
          <a:xfrm>
            <a:off x="6705837" y="2826123"/>
            <a:ext cx="1652700" cy="465900"/>
          </a:xfrm>
          <a:prstGeom prst="roundRect">
            <a:avLst>
              <a:gd fmla="val 16667" name="adj"/>
            </a:avLst>
          </a:prstGeom>
          <a:solidFill>
            <a:schemeClr val="accent4"/>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user1/</a:t>
            </a:r>
            <a:endParaRPr sz="1300">
              <a:latin typeface="DM Sans"/>
              <a:ea typeface="DM Sans"/>
              <a:cs typeface="DM Sans"/>
              <a:sym typeface="DM Sans"/>
            </a:endParaRPr>
          </a:p>
        </p:txBody>
      </p:sp>
      <p:sp>
        <p:nvSpPr>
          <p:cNvPr id="1817" name="Google Shape;1817;p90"/>
          <p:cNvSpPr/>
          <p:nvPr/>
        </p:nvSpPr>
        <p:spPr>
          <a:xfrm>
            <a:off x="6705837" y="3509289"/>
            <a:ext cx="1652700" cy="465900"/>
          </a:xfrm>
          <a:prstGeom prst="roundRect">
            <a:avLst>
              <a:gd fmla="val 16667" name="adj"/>
            </a:avLst>
          </a:prstGeom>
          <a:solidFill>
            <a:schemeClr val="accent4"/>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user2/</a:t>
            </a:r>
            <a:endParaRPr sz="1300">
              <a:latin typeface="DM Sans"/>
              <a:ea typeface="DM Sans"/>
              <a:cs typeface="DM Sans"/>
              <a:sym typeface="DM Sans"/>
            </a:endParaRPr>
          </a:p>
        </p:txBody>
      </p:sp>
      <p:sp>
        <p:nvSpPr>
          <p:cNvPr id="1813" name="Google Shape;1813;p90"/>
          <p:cNvSpPr/>
          <p:nvPr/>
        </p:nvSpPr>
        <p:spPr>
          <a:xfrm>
            <a:off x="6705853" y="4192456"/>
            <a:ext cx="1652700" cy="4659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tables/</a:t>
            </a:r>
            <a:endParaRPr sz="1300">
              <a:latin typeface="DM Sans"/>
              <a:ea typeface="DM Sans"/>
              <a:cs typeface="DM Sans"/>
              <a:sym typeface="DM Sans"/>
            </a:endParaRPr>
          </a:p>
        </p:txBody>
      </p:sp>
      <p:sp>
        <p:nvSpPr>
          <p:cNvPr id="1811" name="Google Shape;1811;p90"/>
          <p:cNvSpPr/>
          <p:nvPr/>
        </p:nvSpPr>
        <p:spPr>
          <a:xfrm>
            <a:off x="6705870" y="4875639"/>
            <a:ext cx="1652700" cy="4659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staging/</a:t>
            </a:r>
            <a:endParaRPr sz="1300">
              <a:latin typeface="DM Sans"/>
              <a:ea typeface="DM Sans"/>
              <a:cs typeface="DM Sans"/>
              <a:sym typeface="DM Sans"/>
            </a:endParaRPr>
          </a:p>
        </p:txBody>
      </p:sp>
      <p:cxnSp>
        <p:nvCxnSpPr>
          <p:cNvPr id="1818" name="Google Shape;1818;p90"/>
          <p:cNvCxnSpPr>
            <a:endCxn id="1817" idx="1"/>
          </p:cNvCxnSpPr>
          <p:nvPr/>
        </p:nvCxnSpPr>
        <p:spPr>
          <a:xfrm>
            <a:off x="5914437" y="3509139"/>
            <a:ext cx="791400" cy="2331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819" name="Google Shape;1819;p90"/>
          <p:cNvSpPr txBox="1"/>
          <p:nvPr/>
        </p:nvSpPr>
        <p:spPr>
          <a:xfrm>
            <a:off x="6375230" y="1248604"/>
            <a:ext cx="2313900" cy="6771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lang="en">
                <a:latin typeface="Barlow"/>
                <a:ea typeface="Barlow"/>
                <a:cs typeface="Barlow"/>
                <a:sym typeface="Barlow"/>
              </a:rPr>
              <a:t>One storage credential for multiple external locations</a:t>
            </a:r>
            <a:endParaRPr>
              <a:latin typeface="Barlow"/>
              <a:ea typeface="Barlow"/>
              <a:cs typeface="Barlow"/>
              <a:sym typeface="Barlow"/>
            </a:endParaRPr>
          </a:p>
        </p:txBody>
      </p:sp>
      <p:pic>
        <p:nvPicPr>
          <p:cNvPr id="1820" name="Google Shape;1820;p90"/>
          <p:cNvPicPr preferRelativeResize="0"/>
          <p:nvPr/>
        </p:nvPicPr>
        <p:blipFill rotWithShape="1">
          <a:blip r:embed="rId3">
            <a:alphaModFix/>
          </a:blip>
          <a:srcRect b="0" l="0" r="0" t="0"/>
          <a:stretch/>
        </p:blipFill>
        <p:spPr>
          <a:xfrm>
            <a:off x="7241841" y="2133104"/>
            <a:ext cx="580755" cy="580755"/>
          </a:xfrm>
          <a:prstGeom prst="rect">
            <a:avLst/>
          </a:prstGeom>
          <a:noFill/>
          <a:ln>
            <a:noFill/>
          </a:ln>
        </p:spPr>
      </p:pic>
      <p:sp>
        <p:nvSpPr>
          <p:cNvPr id="1821" name="Google Shape;1821;p90"/>
          <p:cNvSpPr/>
          <p:nvPr/>
        </p:nvSpPr>
        <p:spPr>
          <a:xfrm>
            <a:off x="9259499" y="2821321"/>
            <a:ext cx="1652700" cy="4755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table1/</a:t>
            </a:r>
            <a:endParaRPr sz="1300">
              <a:latin typeface="DM Sans"/>
              <a:ea typeface="DM Sans"/>
              <a:cs typeface="DM Sans"/>
              <a:sym typeface="DM Sans"/>
            </a:endParaRPr>
          </a:p>
        </p:txBody>
      </p:sp>
      <p:sp>
        <p:nvSpPr>
          <p:cNvPr id="1822" name="Google Shape;1822;p90"/>
          <p:cNvSpPr/>
          <p:nvPr/>
        </p:nvSpPr>
        <p:spPr>
          <a:xfrm>
            <a:off x="9259499" y="3504452"/>
            <a:ext cx="1652700" cy="4755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table2/</a:t>
            </a:r>
            <a:endParaRPr sz="1300">
              <a:latin typeface="DM Sans"/>
              <a:ea typeface="DM Sans"/>
              <a:cs typeface="DM Sans"/>
              <a:sym typeface="DM Sans"/>
            </a:endParaRPr>
          </a:p>
        </p:txBody>
      </p:sp>
      <p:cxnSp>
        <p:nvCxnSpPr>
          <p:cNvPr id="1823" name="Google Shape;1823;p90"/>
          <p:cNvCxnSpPr>
            <a:stCxn id="1813" idx="3"/>
            <a:endCxn id="1821" idx="1"/>
          </p:cNvCxnSpPr>
          <p:nvPr/>
        </p:nvCxnSpPr>
        <p:spPr>
          <a:xfrm flipH="1" rot="10800000">
            <a:off x="8358553" y="3059206"/>
            <a:ext cx="900900" cy="1366200"/>
          </a:xfrm>
          <a:prstGeom prst="curvedConnector3">
            <a:avLst>
              <a:gd fmla="val 49994" name="adj1"/>
            </a:avLst>
          </a:prstGeom>
          <a:noFill/>
          <a:ln cap="flat" cmpd="sng" w="9525">
            <a:solidFill>
              <a:srgbClr val="1B5162"/>
            </a:solidFill>
            <a:prstDash val="solid"/>
            <a:round/>
            <a:headEnd len="med" w="med" type="none"/>
            <a:tailEnd len="med" w="med" type="triangle"/>
          </a:ln>
        </p:spPr>
      </p:cxnSp>
      <p:cxnSp>
        <p:nvCxnSpPr>
          <p:cNvPr id="1824" name="Google Shape;1824;p90"/>
          <p:cNvCxnSpPr>
            <a:stCxn id="1813" idx="3"/>
            <a:endCxn id="1822" idx="1"/>
          </p:cNvCxnSpPr>
          <p:nvPr/>
        </p:nvCxnSpPr>
        <p:spPr>
          <a:xfrm flipH="1" rot="10800000">
            <a:off x="8358553" y="3742306"/>
            <a:ext cx="900900" cy="683100"/>
          </a:xfrm>
          <a:prstGeom prst="curvedConnector3">
            <a:avLst>
              <a:gd fmla="val 49994" name="adj1"/>
            </a:avLst>
          </a:prstGeom>
          <a:noFill/>
          <a:ln cap="flat" cmpd="sng" w="9525">
            <a:solidFill>
              <a:srgbClr val="1B5162"/>
            </a:solidFill>
            <a:prstDash val="solid"/>
            <a:round/>
            <a:headEnd len="med" w="med" type="none"/>
            <a:tailEnd len="med" w="med" type="triangle"/>
          </a:ln>
        </p:spPr>
      </p:cxnSp>
      <p:sp>
        <p:nvSpPr>
          <p:cNvPr id="1825" name="Google Shape;1825;p90"/>
          <p:cNvSpPr/>
          <p:nvPr/>
        </p:nvSpPr>
        <p:spPr>
          <a:xfrm>
            <a:off x="9250385" y="4196302"/>
            <a:ext cx="1652700" cy="4755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volume1/</a:t>
            </a:r>
            <a:endParaRPr sz="1300">
              <a:latin typeface="DM Sans"/>
              <a:ea typeface="DM Sans"/>
              <a:cs typeface="DM Sans"/>
              <a:sym typeface="DM Sans"/>
            </a:endParaRPr>
          </a:p>
        </p:txBody>
      </p:sp>
      <p:sp>
        <p:nvSpPr>
          <p:cNvPr id="1826" name="Google Shape;1826;p90"/>
          <p:cNvSpPr/>
          <p:nvPr/>
        </p:nvSpPr>
        <p:spPr>
          <a:xfrm>
            <a:off x="9250385" y="4868425"/>
            <a:ext cx="1652700" cy="4755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volume2/</a:t>
            </a:r>
            <a:endParaRPr sz="1300">
              <a:latin typeface="DM Sans"/>
              <a:ea typeface="DM Sans"/>
              <a:cs typeface="DM Sans"/>
              <a:sym typeface="DM Sans"/>
            </a:endParaRPr>
          </a:p>
        </p:txBody>
      </p:sp>
      <p:cxnSp>
        <p:nvCxnSpPr>
          <p:cNvPr id="1827" name="Google Shape;1827;p90"/>
          <p:cNvCxnSpPr>
            <a:stCxn id="1811" idx="3"/>
            <a:endCxn id="1825" idx="1"/>
          </p:cNvCxnSpPr>
          <p:nvPr/>
        </p:nvCxnSpPr>
        <p:spPr>
          <a:xfrm flipH="1" rot="10800000">
            <a:off x="8358570" y="4434189"/>
            <a:ext cx="891900" cy="674400"/>
          </a:xfrm>
          <a:prstGeom prst="curvedConnector3">
            <a:avLst>
              <a:gd fmla="val 49997" name="adj1"/>
            </a:avLst>
          </a:prstGeom>
          <a:noFill/>
          <a:ln cap="flat" cmpd="sng" w="9525">
            <a:solidFill>
              <a:srgbClr val="1B5162"/>
            </a:solidFill>
            <a:prstDash val="solid"/>
            <a:round/>
            <a:headEnd len="med" w="med" type="none"/>
            <a:tailEnd len="med" w="med" type="triangle"/>
          </a:ln>
        </p:spPr>
      </p:cxnSp>
      <p:cxnSp>
        <p:nvCxnSpPr>
          <p:cNvPr id="1828" name="Google Shape;1828;p90"/>
          <p:cNvCxnSpPr>
            <a:stCxn id="1811" idx="3"/>
            <a:endCxn id="1826" idx="1"/>
          </p:cNvCxnSpPr>
          <p:nvPr/>
        </p:nvCxnSpPr>
        <p:spPr>
          <a:xfrm flipH="1" rot="10800000">
            <a:off x="8358570" y="5106189"/>
            <a:ext cx="891900" cy="2400"/>
          </a:xfrm>
          <a:prstGeom prst="curvedConnector3">
            <a:avLst>
              <a:gd fmla="val 49997" name="adj1"/>
            </a:avLst>
          </a:prstGeom>
          <a:noFill/>
          <a:ln cap="flat" cmpd="sng" w="9525">
            <a:solidFill>
              <a:srgbClr val="1B5162"/>
            </a:solidFill>
            <a:prstDash val="solid"/>
            <a:round/>
            <a:headEnd len="med" w="med" type="none"/>
            <a:tailEnd len="med" w="med" type="triangle"/>
          </a:ln>
        </p:spPr>
      </p:cxnSp>
      <p:sp>
        <p:nvSpPr>
          <p:cNvPr id="1829" name="Google Shape;1829;p90"/>
          <p:cNvSpPr txBox="1"/>
          <p:nvPr/>
        </p:nvSpPr>
        <p:spPr>
          <a:xfrm>
            <a:off x="8928967" y="2015767"/>
            <a:ext cx="2313900" cy="6771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a:latin typeface="Barlow"/>
                <a:ea typeface="Barlow"/>
                <a:cs typeface="Barlow"/>
                <a:sym typeface="Barlow"/>
              </a:rPr>
              <a:t>External tables and external volumes</a:t>
            </a:r>
            <a:endParaRPr>
              <a:latin typeface="Barlow"/>
              <a:ea typeface="Barlow"/>
              <a:cs typeface="Barlow"/>
              <a:sym typeface="Barlow"/>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3" name="Shape 1833"/>
        <p:cNvGrpSpPr/>
        <p:nvPr/>
      </p:nvGrpSpPr>
      <p:grpSpPr>
        <a:xfrm>
          <a:off x="0" y="0"/>
          <a:ext cx="0" cy="0"/>
          <a:chOff x="0" y="0"/>
          <a:chExt cx="0" cy="0"/>
        </a:xfrm>
      </p:grpSpPr>
      <p:pic>
        <p:nvPicPr>
          <p:cNvPr id="1834" name="Google Shape;1834;p91"/>
          <p:cNvPicPr preferRelativeResize="0"/>
          <p:nvPr/>
        </p:nvPicPr>
        <p:blipFill rotWithShape="1">
          <a:blip r:embed="rId3">
            <a:alphaModFix/>
          </a:blip>
          <a:srcRect b="0" l="0" r="0" t="0"/>
          <a:stretch/>
        </p:blipFill>
        <p:spPr>
          <a:xfrm>
            <a:off x="3943664" y="5114071"/>
            <a:ext cx="996744" cy="996731"/>
          </a:xfrm>
          <a:prstGeom prst="rect">
            <a:avLst/>
          </a:prstGeom>
          <a:noFill/>
          <a:ln>
            <a:noFill/>
          </a:ln>
        </p:spPr>
      </p:pic>
      <p:pic>
        <p:nvPicPr>
          <p:cNvPr id="1835" name="Google Shape;1835;p91"/>
          <p:cNvPicPr preferRelativeResize="0"/>
          <p:nvPr/>
        </p:nvPicPr>
        <p:blipFill rotWithShape="1">
          <a:blip r:embed="rId4">
            <a:alphaModFix/>
          </a:blip>
          <a:srcRect b="0" l="0" r="0" t="0"/>
          <a:stretch/>
        </p:blipFill>
        <p:spPr>
          <a:xfrm>
            <a:off x="6006289" y="3545937"/>
            <a:ext cx="992371" cy="992362"/>
          </a:xfrm>
          <a:prstGeom prst="rect">
            <a:avLst/>
          </a:prstGeom>
          <a:noFill/>
          <a:ln>
            <a:noFill/>
          </a:ln>
        </p:spPr>
      </p:pic>
      <p:pic>
        <p:nvPicPr>
          <p:cNvPr id="1836" name="Google Shape;1836;p91"/>
          <p:cNvPicPr preferRelativeResize="0"/>
          <p:nvPr/>
        </p:nvPicPr>
        <p:blipFill rotWithShape="1">
          <a:blip r:embed="rId5">
            <a:alphaModFix/>
          </a:blip>
          <a:srcRect b="0" l="0" r="0" t="0"/>
          <a:stretch/>
        </p:blipFill>
        <p:spPr>
          <a:xfrm>
            <a:off x="522974" y="5116270"/>
            <a:ext cx="992371" cy="992362"/>
          </a:xfrm>
          <a:prstGeom prst="rect">
            <a:avLst/>
          </a:prstGeom>
          <a:noFill/>
          <a:ln>
            <a:noFill/>
          </a:ln>
        </p:spPr>
      </p:pic>
      <p:pic>
        <p:nvPicPr>
          <p:cNvPr id="1837" name="Google Shape;1837;p91"/>
          <p:cNvPicPr preferRelativeResize="0"/>
          <p:nvPr/>
        </p:nvPicPr>
        <p:blipFill rotWithShape="1">
          <a:blip r:embed="rId6">
            <a:alphaModFix/>
          </a:blip>
          <a:srcRect b="0" l="0" r="0" t="0"/>
          <a:stretch/>
        </p:blipFill>
        <p:spPr>
          <a:xfrm>
            <a:off x="2259916" y="5114071"/>
            <a:ext cx="996744" cy="996731"/>
          </a:xfrm>
          <a:prstGeom prst="rect">
            <a:avLst/>
          </a:prstGeom>
          <a:noFill/>
          <a:ln>
            <a:noFill/>
          </a:ln>
        </p:spPr>
      </p:pic>
      <p:sp>
        <p:nvSpPr>
          <p:cNvPr id="1838" name="Google Shape;1838;p91"/>
          <p:cNvSpPr/>
          <p:nvPr/>
        </p:nvSpPr>
        <p:spPr>
          <a:xfrm>
            <a:off x="50825" y="4540055"/>
            <a:ext cx="1936800" cy="6531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Clickstream</a:t>
            </a:r>
            <a:endParaRPr sz="16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 data</a:t>
            </a:r>
            <a:endParaRPr sz="1600">
              <a:solidFill>
                <a:schemeClr val="dk1"/>
              </a:solidFill>
              <a:latin typeface="DM Sans"/>
              <a:ea typeface="DM Sans"/>
              <a:cs typeface="DM Sans"/>
              <a:sym typeface="DM Sans"/>
            </a:endParaRPr>
          </a:p>
        </p:txBody>
      </p:sp>
      <p:sp>
        <p:nvSpPr>
          <p:cNvPr id="1839" name="Google Shape;1839;p91"/>
          <p:cNvSpPr/>
          <p:nvPr/>
        </p:nvSpPr>
        <p:spPr>
          <a:xfrm>
            <a:off x="1789924" y="4540055"/>
            <a:ext cx="1936800" cy="6531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Delta Live Tables</a:t>
            </a:r>
            <a:endParaRPr sz="16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pipeline</a:t>
            </a:r>
            <a:endParaRPr sz="1600">
              <a:solidFill>
                <a:schemeClr val="dk1"/>
              </a:solidFill>
              <a:latin typeface="DM Sans"/>
              <a:ea typeface="DM Sans"/>
              <a:cs typeface="DM Sans"/>
              <a:sym typeface="DM Sans"/>
            </a:endParaRPr>
          </a:p>
        </p:txBody>
      </p:sp>
      <p:sp>
        <p:nvSpPr>
          <p:cNvPr id="1840" name="Google Shape;1840;p91"/>
          <p:cNvSpPr/>
          <p:nvPr/>
        </p:nvSpPr>
        <p:spPr>
          <a:xfrm>
            <a:off x="3473669" y="4540055"/>
            <a:ext cx="1936800" cy="6531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Sessionized</a:t>
            </a:r>
            <a:endParaRPr sz="16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 data</a:t>
            </a:r>
            <a:endParaRPr sz="1600">
              <a:solidFill>
                <a:schemeClr val="dk1"/>
              </a:solidFill>
              <a:latin typeface="DM Sans"/>
              <a:ea typeface="DM Sans"/>
              <a:cs typeface="DM Sans"/>
              <a:sym typeface="DM Sans"/>
            </a:endParaRPr>
          </a:p>
        </p:txBody>
      </p:sp>
      <p:pic>
        <p:nvPicPr>
          <p:cNvPr id="1841" name="Google Shape;1841;p91"/>
          <p:cNvPicPr preferRelativeResize="0"/>
          <p:nvPr/>
        </p:nvPicPr>
        <p:blipFill rotWithShape="1">
          <a:blip r:embed="rId3">
            <a:alphaModFix/>
          </a:blip>
          <a:srcRect b="0" l="0" r="0" t="0"/>
          <a:stretch/>
        </p:blipFill>
        <p:spPr>
          <a:xfrm>
            <a:off x="3943664" y="1962904"/>
            <a:ext cx="996744" cy="996731"/>
          </a:xfrm>
          <a:prstGeom prst="rect">
            <a:avLst/>
          </a:prstGeom>
          <a:noFill/>
          <a:ln>
            <a:noFill/>
          </a:ln>
        </p:spPr>
      </p:pic>
      <p:pic>
        <p:nvPicPr>
          <p:cNvPr id="1842" name="Google Shape;1842;p91"/>
          <p:cNvPicPr preferRelativeResize="0"/>
          <p:nvPr/>
        </p:nvPicPr>
        <p:blipFill rotWithShape="1">
          <a:blip r:embed="rId5">
            <a:alphaModFix/>
          </a:blip>
          <a:srcRect b="0" l="0" r="0" t="0"/>
          <a:stretch/>
        </p:blipFill>
        <p:spPr>
          <a:xfrm>
            <a:off x="522974" y="1965103"/>
            <a:ext cx="992371" cy="992362"/>
          </a:xfrm>
          <a:prstGeom prst="rect">
            <a:avLst/>
          </a:prstGeom>
          <a:noFill/>
          <a:ln>
            <a:noFill/>
          </a:ln>
        </p:spPr>
      </p:pic>
      <p:pic>
        <p:nvPicPr>
          <p:cNvPr id="1843" name="Google Shape;1843;p91"/>
          <p:cNvPicPr preferRelativeResize="0"/>
          <p:nvPr/>
        </p:nvPicPr>
        <p:blipFill rotWithShape="1">
          <a:blip r:embed="rId6">
            <a:alphaModFix/>
          </a:blip>
          <a:srcRect b="0" l="0" r="0" t="0"/>
          <a:stretch/>
        </p:blipFill>
        <p:spPr>
          <a:xfrm>
            <a:off x="2259916" y="1962904"/>
            <a:ext cx="996744" cy="996731"/>
          </a:xfrm>
          <a:prstGeom prst="rect">
            <a:avLst/>
          </a:prstGeom>
          <a:noFill/>
          <a:ln>
            <a:noFill/>
          </a:ln>
        </p:spPr>
      </p:pic>
      <p:sp>
        <p:nvSpPr>
          <p:cNvPr id="1844" name="Google Shape;1844;p91"/>
          <p:cNvSpPr/>
          <p:nvPr/>
        </p:nvSpPr>
        <p:spPr>
          <a:xfrm>
            <a:off x="50825" y="1388888"/>
            <a:ext cx="1936800" cy="6531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Order data</a:t>
            </a:r>
            <a:endParaRPr sz="1600">
              <a:solidFill>
                <a:schemeClr val="dk1"/>
              </a:solidFill>
              <a:latin typeface="DM Sans"/>
              <a:ea typeface="DM Sans"/>
              <a:cs typeface="DM Sans"/>
              <a:sym typeface="DM Sans"/>
            </a:endParaRPr>
          </a:p>
        </p:txBody>
      </p:sp>
      <p:sp>
        <p:nvSpPr>
          <p:cNvPr id="1845" name="Google Shape;1845;p91"/>
          <p:cNvSpPr/>
          <p:nvPr/>
        </p:nvSpPr>
        <p:spPr>
          <a:xfrm>
            <a:off x="1789924" y="1388888"/>
            <a:ext cx="1936800" cy="6531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Delta Live Tables</a:t>
            </a:r>
            <a:endParaRPr sz="16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pipeline</a:t>
            </a:r>
            <a:endParaRPr sz="1600">
              <a:solidFill>
                <a:schemeClr val="dk1"/>
              </a:solidFill>
              <a:latin typeface="DM Sans"/>
              <a:ea typeface="DM Sans"/>
              <a:cs typeface="DM Sans"/>
              <a:sym typeface="DM Sans"/>
            </a:endParaRPr>
          </a:p>
        </p:txBody>
      </p:sp>
      <p:sp>
        <p:nvSpPr>
          <p:cNvPr id="1846" name="Google Shape;1846;p91"/>
          <p:cNvSpPr/>
          <p:nvPr/>
        </p:nvSpPr>
        <p:spPr>
          <a:xfrm>
            <a:off x="3473669" y="1388888"/>
            <a:ext cx="1936800" cy="6531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Prepared</a:t>
            </a:r>
            <a:endParaRPr sz="16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 data</a:t>
            </a:r>
            <a:endParaRPr sz="1600">
              <a:solidFill>
                <a:schemeClr val="dk1"/>
              </a:solidFill>
              <a:latin typeface="DM Sans"/>
              <a:ea typeface="DM Sans"/>
              <a:cs typeface="DM Sans"/>
              <a:sym typeface="DM Sans"/>
            </a:endParaRPr>
          </a:p>
        </p:txBody>
      </p:sp>
      <p:sp>
        <p:nvSpPr>
          <p:cNvPr id="1847" name="Google Shape;1847;p91"/>
          <p:cNvSpPr/>
          <p:nvPr/>
        </p:nvSpPr>
        <p:spPr>
          <a:xfrm>
            <a:off x="5534120" y="2892721"/>
            <a:ext cx="1936800" cy="6531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Join order and</a:t>
            </a:r>
            <a:endParaRPr sz="16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clickstream data</a:t>
            </a:r>
            <a:endParaRPr sz="1600">
              <a:solidFill>
                <a:schemeClr val="dk1"/>
              </a:solidFill>
              <a:latin typeface="DM Sans"/>
              <a:ea typeface="DM Sans"/>
              <a:cs typeface="DM Sans"/>
              <a:sym typeface="DM Sans"/>
            </a:endParaRPr>
          </a:p>
        </p:txBody>
      </p:sp>
      <p:pic>
        <p:nvPicPr>
          <p:cNvPr id="1848" name="Google Shape;1848;p91"/>
          <p:cNvPicPr preferRelativeResize="0"/>
          <p:nvPr/>
        </p:nvPicPr>
        <p:blipFill rotWithShape="1">
          <a:blip r:embed="rId4">
            <a:alphaModFix/>
          </a:blip>
          <a:srcRect b="0" l="0" r="0" t="0"/>
          <a:stretch/>
        </p:blipFill>
        <p:spPr>
          <a:xfrm>
            <a:off x="8161416" y="3545937"/>
            <a:ext cx="992371" cy="992362"/>
          </a:xfrm>
          <a:prstGeom prst="rect">
            <a:avLst/>
          </a:prstGeom>
          <a:noFill/>
          <a:ln>
            <a:noFill/>
          </a:ln>
        </p:spPr>
      </p:pic>
      <p:sp>
        <p:nvSpPr>
          <p:cNvPr id="1849" name="Google Shape;1849;p91"/>
          <p:cNvSpPr/>
          <p:nvPr/>
        </p:nvSpPr>
        <p:spPr>
          <a:xfrm>
            <a:off x="7689247" y="3041618"/>
            <a:ext cx="1936800" cy="4203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Extract features</a:t>
            </a:r>
            <a:endParaRPr sz="1600">
              <a:solidFill>
                <a:schemeClr val="dk1"/>
              </a:solidFill>
              <a:latin typeface="DM Sans"/>
              <a:ea typeface="DM Sans"/>
              <a:cs typeface="DM Sans"/>
              <a:sym typeface="DM Sans"/>
            </a:endParaRPr>
          </a:p>
        </p:txBody>
      </p:sp>
      <p:sp>
        <p:nvSpPr>
          <p:cNvPr id="1850" name="Google Shape;1850;p91"/>
          <p:cNvSpPr/>
          <p:nvPr/>
        </p:nvSpPr>
        <p:spPr>
          <a:xfrm>
            <a:off x="9831178" y="1426785"/>
            <a:ext cx="1936800" cy="4203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Persist features</a:t>
            </a:r>
            <a:endParaRPr sz="1600">
              <a:solidFill>
                <a:schemeClr val="dk1"/>
              </a:solidFill>
              <a:latin typeface="DM Sans"/>
              <a:ea typeface="DM Sans"/>
              <a:cs typeface="DM Sans"/>
              <a:sym typeface="DM Sans"/>
            </a:endParaRPr>
          </a:p>
        </p:txBody>
      </p:sp>
      <p:sp>
        <p:nvSpPr>
          <p:cNvPr id="1851" name="Google Shape;1851;p91"/>
          <p:cNvSpPr/>
          <p:nvPr/>
        </p:nvSpPr>
        <p:spPr>
          <a:xfrm>
            <a:off x="9831178" y="4656451"/>
            <a:ext cx="1936800" cy="420300"/>
          </a:xfrm>
          <a:prstGeom prst="rect">
            <a:avLst/>
          </a:prstGeom>
          <a:noFill/>
          <a:ln>
            <a:noFill/>
          </a:ln>
        </p:spPr>
        <p:txBody>
          <a:bodyPr anchorCtr="0" anchor="t" bIns="81225" lIns="0" spcFirstLastPara="1" rIns="0" wrap="square" tIns="81225">
            <a:noAutofit/>
          </a:bodyPr>
          <a:lstStyle/>
          <a:p>
            <a:pPr indent="0" lvl="0" marL="0" marR="0" rtl="0" algn="ctr">
              <a:lnSpc>
                <a:spcPct val="100000"/>
              </a:lnSpc>
              <a:spcBef>
                <a:spcPts val="0"/>
              </a:spcBef>
              <a:spcAft>
                <a:spcPts val="0"/>
              </a:spcAft>
              <a:buNone/>
            </a:pPr>
            <a:r>
              <a:rPr lang="en" sz="1600">
                <a:solidFill>
                  <a:schemeClr val="dk1"/>
                </a:solidFill>
                <a:latin typeface="DM Sans"/>
                <a:ea typeface="DM Sans"/>
                <a:cs typeface="DM Sans"/>
                <a:sym typeface="DM Sans"/>
              </a:rPr>
              <a:t>Train model</a:t>
            </a:r>
            <a:endParaRPr sz="1600">
              <a:solidFill>
                <a:schemeClr val="dk1"/>
              </a:solidFill>
              <a:latin typeface="DM Sans"/>
              <a:ea typeface="DM Sans"/>
              <a:cs typeface="DM Sans"/>
              <a:sym typeface="DM Sans"/>
            </a:endParaRPr>
          </a:p>
        </p:txBody>
      </p:sp>
      <p:cxnSp>
        <p:nvCxnSpPr>
          <p:cNvPr id="1852" name="Google Shape;1852;p91"/>
          <p:cNvCxnSpPr>
            <a:stCxn id="1842" idx="3"/>
            <a:endCxn id="1843" idx="1"/>
          </p:cNvCxnSpPr>
          <p:nvPr/>
        </p:nvCxnSpPr>
        <p:spPr>
          <a:xfrm>
            <a:off x="1515345" y="2461284"/>
            <a:ext cx="744600" cy="0"/>
          </a:xfrm>
          <a:prstGeom prst="straightConnector1">
            <a:avLst/>
          </a:prstGeom>
          <a:noFill/>
          <a:ln cap="flat" cmpd="sng" w="9525">
            <a:solidFill>
              <a:schemeClr val="dk2"/>
            </a:solidFill>
            <a:prstDash val="solid"/>
            <a:round/>
            <a:headEnd len="med" w="med" type="none"/>
            <a:tailEnd len="med" w="med" type="triangle"/>
          </a:ln>
        </p:spPr>
      </p:cxnSp>
      <p:cxnSp>
        <p:nvCxnSpPr>
          <p:cNvPr id="1853" name="Google Shape;1853;p91"/>
          <p:cNvCxnSpPr>
            <a:stCxn id="1843" idx="3"/>
            <a:endCxn id="1841" idx="1"/>
          </p:cNvCxnSpPr>
          <p:nvPr/>
        </p:nvCxnSpPr>
        <p:spPr>
          <a:xfrm>
            <a:off x="3256660" y="2461270"/>
            <a:ext cx="687000" cy="0"/>
          </a:xfrm>
          <a:prstGeom prst="straightConnector1">
            <a:avLst/>
          </a:prstGeom>
          <a:noFill/>
          <a:ln cap="flat" cmpd="sng" w="9525">
            <a:solidFill>
              <a:schemeClr val="dk2"/>
            </a:solidFill>
            <a:prstDash val="solid"/>
            <a:round/>
            <a:headEnd len="med" w="med" type="none"/>
            <a:tailEnd len="med" w="med" type="triangle"/>
          </a:ln>
        </p:spPr>
      </p:cxnSp>
      <p:cxnSp>
        <p:nvCxnSpPr>
          <p:cNvPr id="1854" name="Google Shape;1854;p91"/>
          <p:cNvCxnSpPr>
            <a:endCxn id="1848" idx="1"/>
          </p:cNvCxnSpPr>
          <p:nvPr/>
        </p:nvCxnSpPr>
        <p:spPr>
          <a:xfrm>
            <a:off x="6998616" y="4042118"/>
            <a:ext cx="1162800" cy="0"/>
          </a:xfrm>
          <a:prstGeom prst="straightConnector1">
            <a:avLst/>
          </a:prstGeom>
          <a:noFill/>
          <a:ln cap="flat" cmpd="sng" w="9525">
            <a:solidFill>
              <a:schemeClr val="dk2"/>
            </a:solidFill>
            <a:prstDash val="solid"/>
            <a:round/>
            <a:headEnd len="med" w="med" type="none"/>
            <a:tailEnd len="med" w="med" type="triangle"/>
          </a:ln>
        </p:spPr>
      </p:cxnSp>
      <p:cxnSp>
        <p:nvCxnSpPr>
          <p:cNvPr id="1855" name="Google Shape;1855;p91"/>
          <p:cNvCxnSpPr>
            <a:stCxn id="1836" idx="3"/>
            <a:endCxn id="1837" idx="1"/>
          </p:cNvCxnSpPr>
          <p:nvPr/>
        </p:nvCxnSpPr>
        <p:spPr>
          <a:xfrm>
            <a:off x="1515345" y="5612451"/>
            <a:ext cx="744600" cy="0"/>
          </a:xfrm>
          <a:prstGeom prst="straightConnector1">
            <a:avLst/>
          </a:prstGeom>
          <a:noFill/>
          <a:ln cap="flat" cmpd="sng" w="9525">
            <a:solidFill>
              <a:schemeClr val="dk2"/>
            </a:solidFill>
            <a:prstDash val="solid"/>
            <a:round/>
            <a:headEnd len="med" w="med" type="none"/>
            <a:tailEnd len="med" w="med" type="triangle"/>
          </a:ln>
        </p:spPr>
      </p:cxnSp>
      <p:cxnSp>
        <p:nvCxnSpPr>
          <p:cNvPr id="1856" name="Google Shape;1856;p91"/>
          <p:cNvCxnSpPr>
            <a:stCxn id="1837" idx="3"/>
            <a:endCxn id="1834" idx="1"/>
          </p:cNvCxnSpPr>
          <p:nvPr/>
        </p:nvCxnSpPr>
        <p:spPr>
          <a:xfrm>
            <a:off x="3256660" y="5612437"/>
            <a:ext cx="687000" cy="0"/>
          </a:xfrm>
          <a:prstGeom prst="straightConnector1">
            <a:avLst/>
          </a:prstGeom>
          <a:noFill/>
          <a:ln cap="flat" cmpd="sng" w="9525">
            <a:solidFill>
              <a:schemeClr val="dk2"/>
            </a:solidFill>
            <a:prstDash val="solid"/>
            <a:round/>
            <a:headEnd len="med" w="med" type="none"/>
            <a:tailEnd len="med" w="med" type="triangle"/>
          </a:ln>
        </p:spPr>
      </p:cxnSp>
      <p:cxnSp>
        <p:nvCxnSpPr>
          <p:cNvPr id="1857" name="Google Shape;1857;p91"/>
          <p:cNvCxnSpPr>
            <a:stCxn id="1841" idx="3"/>
            <a:endCxn id="1835" idx="1"/>
          </p:cNvCxnSpPr>
          <p:nvPr/>
        </p:nvCxnSpPr>
        <p:spPr>
          <a:xfrm>
            <a:off x="4940407" y="2461270"/>
            <a:ext cx="1065900" cy="1580700"/>
          </a:xfrm>
          <a:prstGeom prst="curvedConnector3">
            <a:avLst>
              <a:gd fmla="val 50007" name="adj1"/>
            </a:avLst>
          </a:prstGeom>
          <a:noFill/>
          <a:ln cap="flat" cmpd="sng" w="9525">
            <a:solidFill>
              <a:schemeClr val="dk2"/>
            </a:solidFill>
            <a:prstDash val="solid"/>
            <a:round/>
            <a:headEnd len="med" w="med" type="none"/>
            <a:tailEnd len="med" w="med" type="none"/>
          </a:ln>
        </p:spPr>
      </p:cxnSp>
      <p:cxnSp>
        <p:nvCxnSpPr>
          <p:cNvPr id="1858" name="Google Shape;1858;p91"/>
          <p:cNvCxnSpPr>
            <a:stCxn id="1834" idx="3"/>
            <a:endCxn id="1835" idx="1"/>
          </p:cNvCxnSpPr>
          <p:nvPr/>
        </p:nvCxnSpPr>
        <p:spPr>
          <a:xfrm flipH="1" rot="10800000">
            <a:off x="4940407" y="4042237"/>
            <a:ext cx="1065900" cy="1570200"/>
          </a:xfrm>
          <a:prstGeom prst="curvedConnector3">
            <a:avLst>
              <a:gd fmla="val 50007" name="adj1"/>
            </a:avLst>
          </a:prstGeom>
          <a:noFill/>
          <a:ln cap="flat" cmpd="sng" w="9525">
            <a:solidFill>
              <a:schemeClr val="dk2"/>
            </a:solidFill>
            <a:prstDash val="solid"/>
            <a:round/>
            <a:headEnd len="med" w="med" type="none"/>
            <a:tailEnd len="med" w="med" type="none"/>
          </a:ln>
        </p:spPr>
      </p:cxnSp>
      <p:cxnSp>
        <p:nvCxnSpPr>
          <p:cNvPr id="1859" name="Google Shape;1859;p91"/>
          <p:cNvCxnSpPr>
            <a:stCxn id="1848" idx="3"/>
            <a:endCxn id="1860" idx="1"/>
          </p:cNvCxnSpPr>
          <p:nvPr/>
        </p:nvCxnSpPr>
        <p:spPr>
          <a:xfrm flipH="1" rot="10800000">
            <a:off x="9153788" y="2482718"/>
            <a:ext cx="1112700" cy="1559400"/>
          </a:xfrm>
          <a:prstGeom prst="curvedConnector3">
            <a:avLst>
              <a:gd fmla="val 50006" name="adj1"/>
            </a:avLst>
          </a:prstGeom>
          <a:noFill/>
          <a:ln cap="flat" cmpd="sng" w="9525">
            <a:solidFill>
              <a:schemeClr val="dk2"/>
            </a:solidFill>
            <a:prstDash val="solid"/>
            <a:round/>
            <a:headEnd len="med" w="med" type="none"/>
            <a:tailEnd len="med" w="med" type="triangle"/>
          </a:ln>
        </p:spPr>
      </p:cxnSp>
      <p:cxnSp>
        <p:nvCxnSpPr>
          <p:cNvPr id="1861" name="Google Shape;1861;p91"/>
          <p:cNvCxnSpPr>
            <a:stCxn id="1848" idx="3"/>
            <a:endCxn id="1862" idx="1"/>
          </p:cNvCxnSpPr>
          <p:nvPr/>
        </p:nvCxnSpPr>
        <p:spPr>
          <a:xfrm>
            <a:off x="9153788" y="4042118"/>
            <a:ext cx="1173000" cy="1570200"/>
          </a:xfrm>
          <a:prstGeom prst="curvedConnector3">
            <a:avLst>
              <a:gd fmla="val 50001" name="adj1"/>
            </a:avLst>
          </a:prstGeom>
          <a:noFill/>
          <a:ln cap="flat" cmpd="sng" w="9525">
            <a:solidFill>
              <a:schemeClr val="dk2"/>
            </a:solidFill>
            <a:prstDash val="solid"/>
            <a:round/>
            <a:headEnd len="med" w="med" type="none"/>
            <a:tailEnd len="med" w="med" type="triangle"/>
          </a:ln>
        </p:spPr>
      </p:cxnSp>
      <p:sp>
        <p:nvSpPr>
          <p:cNvPr id="1863" name="Google Shape;1863;p91"/>
          <p:cNvSpPr txBox="1"/>
          <p:nvPr/>
        </p:nvSpPr>
        <p:spPr>
          <a:xfrm>
            <a:off x="227325" y="274675"/>
            <a:ext cx="11593800" cy="6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DM Sans"/>
                <a:ea typeface="DM Sans"/>
                <a:cs typeface="DM Sans"/>
                <a:sym typeface="DM Sans"/>
              </a:rPr>
              <a:t>Jobs workflow diagram</a:t>
            </a:r>
            <a:endParaRPr b="1" sz="1600">
              <a:solidFill>
                <a:schemeClr val="dk1"/>
              </a:solidFill>
              <a:latin typeface="DM Sans"/>
              <a:ea typeface="DM Sans"/>
              <a:cs typeface="DM Sans"/>
              <a:sym typeface="DM Sans"/>
            </a:endParaRPr>
          </a:p>
          <a:p>
            <a:pPr indent="0" lvl="0" marL="0" rtl="0" algn="l">
              <a:spcBef>
                <a:spcPts val="0"/>
              </a:spcBef>
              <a:spcAft>
                <a:spcPts val="0"/>
              </a:spcAft>
              <a:buNone/>
            </a:pPr>
            <a:r>
              <a:rPr lang="en" sz="1600">
                <a:solidFill>
                  <a:schemeClr val="dk1"/>
                </a:solidFill>
                <a:latin typeface="DM Sans"/>
                <a:ea typeface="DM Sans"/>
                <a:cs typeface="DM Sans"/>
                <a:sym typeface="DM Sans"/>
              </a:rPr>
              <a:t>source/_static/images/workflows/jobs/example-workflow-diagram.png</a:t>
            </a:r>
            <a:endParaRPr sz="1600">
              <a:solidFill>
                <a:schemeClr val="dk1"/>
              </a:solidFill>
              <a:latin typeface="DM Sans"/>
              <a:ea typeface="DM Sans"/>
              <a:cs typeface="DM Sans"/>
              <a:sym typeface="DM Sans"/>
            </a:endParaRPr>
          </a:p>
        </p:txBody>
      </p:sp>
      <p:pic>
        <p:nvPicPr>
          <p:cNvPr id="1860" name="Google Shape;1860;p91"/>
          <p:cNvPicPr preferRelativeResize="0"/>
          <p:nvPr/>
        </p:nvPicPr>
        <p:blipFill rotWithShape="1">
          <a:blip r:embed="rId7">
            <a:alphaModFix/>
          </a:blip>
          <a:srcRect b="0" l="0" r="0" t="0"/>
          <a:stretch/>
        </p:blipFill>
        <p:spPr>
          <a:xfrm>
            <a:off x="10266625" y="1949925"/>
            <a:ext cx="1112699" cy="1065849"/>
          </a:xfrm>
          <a:prstGeom prst="rect">
            <a:avLst/>
          </a:prstGeom>
          <a:noFill/>
          <a:ln>
            <a:noFill/>
          </a:ln>
        </p:spPr>
      </p:pic>
      <p:pic>
        <p:nvPicPr>
          <p:cNvPr id="1862" name="Google Shape;1862;p91"/>
          <p:cNvPicPr preferRelativeResize="0"/>
          <p:nvPr/>
        </p:nvPicPr>
        <p:blipFill rotWithShape="1">
          <a:blip r:embed="rId8">
            <a:alphaModFix/>
          </a:blip>
          <a:srcRect b="0" l="0" r="0" t="0"/>
          <a:stretch/>
        </p:blipFill>
        <p:spPr>
          <a:xfrm>
            <a:off x="10326800" y="5116275"/>
            <a:ext cx="992349" cy="99234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92"/>
          <p:cNvSpPr/>
          <p:nvPr/>
        </p:nvSpPr>
        <p:spPr>
          <a:xfrm>
            <a:off x="5629302" y="3463598"/>
            <a:ext cx="5490300" cy="2207700"/>
          </a:xfrm>
          <a:prstGeom prst="roundRect">
            <a:avLst>
              <a:gd fmla="val 9602"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Clr>
                <a:schemeClr val="dk1"/>
              </a:buClr>
              <a:buSzPts val="1500"/>
              <a:buFont typeface="Arial"/>
              <a:buNone/>
            </a:pPr>
            <a:r>
              <a:rPr lang="en" sz="1300">
                <a:solidFill>
                  <a:schemeClr val="dk1"/>
                </a:solidFill>
                <a:latin typeface="DM Sans"/>
                <a:ea typeface="DM Sans"/>
                <a:cs typeface="DM Sans"/>
                <a:sym typeface="DM Sans"/>
              </a:rPr>
              <a:t>Workspace files</a:t>
            </a:r>
            <a:endParaRPr sz="1300">
              <a:solidFill>
                <a:schemeClr val="dk1"/>
              </a:solidFill>
              <a:latin typeface="DM Sans"/>
              <a:ea typeface="DM Sans"/>
              <a:cs typeface="DM Sans"/>
              <a:sym typeface="DM Sans"/>
            </a:endParaRPr>
          </a:p>
        </p:txBody>
      </p:sp>
      <p:sp>
        <p:nvSpPr>
          <p:cNvPr id="1869" name="Google Shape;1869;p92"/>
          <p:cNvSpPr/>
          <p:nvPr/>
        </p:nvSpPr>
        <p:spPr>
          <a:xfrm>
            <a:off x="3399543" y="927431"/>
            <a:ext cx="1651200" cy="465300"/>
          </a:xfrm>
          <a:prstGeom prst="roundRect">
            <a:avLst>
              <a:gd fmla="val 16667" name="adj"/>
            </a:avLst>
          </a:prstGeom>
          <a:solidFill>
            <a:schemeClr val="lt1"/>
          </a:solidFill>
          <a:ln cap="flat" cmpd="sng" w="19050">
            <a:solidFill>
              <a:srgbClr val="FF695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Volumes</a:t>
            </a:r>
            <a:endParaRPr sz="1300">
              <a:latin typeface="DM Sans"/>
              <a:ea typeface="DM Sans"/>
              <a:cs typeface="DM Sans"/>
              <a:sym typeface="DM Sans"/>
            </a:endParaRPr>
          </a:p>
        </p:txBody>
      </p:sp>
      <p:sp>
        <p:nvSpPr>
          <p:cNvPr id="1870" name="Google Shape;1870;p92"/>
          <p:cNvSpPr/>
          <p:nvPr/>
        </p:nvSpPr>
        <p:spPr>
          <a:xfrm>
            <a:off x="644975" y="3463598"/>
            <a:ext cx="17979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900">
                <a:latin typeface="Barlow"/>
                <a:ea typeface="Barlow"/>
                <a:cs typeface="Barlow"/>
                <a:sym typeface="Barlow"/>
              </a:rPr>
              <a:t>/</a:t>
            </a:r>
            <a:endParaRPr sz="1900">
              <a:latin typeface="Barlow"/>
              <a:ea typeface="Barlow"/>
              <a:cs typeface="Barlow"/>
              <a:sym typeface="Barlow"/>
            </a:endParaRPr>
          </a:p>
        </p:txBody>
      </p:sp>
      <p:sp>
        <p:nvSpPr>
          <p:cNvPr id="1871" name="Google Shape;1871;p92"/>
          <p:cNvSpPr/>
          <p:nvPr/>
        </p:nvSpPr>
        <p:spPr>
          <a:xfrm>
            <a:off x="1489216" y="4031129"/>
            <a:ext cx="109500" cy="144900"/>
          </a:xfrm>
          <a:prstGeom prst="ellipse">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1900">
              <a:latin typeface="Barlow"/>
              <a:ea typeface="Barlow"/>
              <a:cs typeface="Barlow"/>
              <a:sym typeface="Barlow"/>
            </a:endParaRPr>
          </a:p>
        </p:txBody>
      </p:sp>
      <p:sp>
        <p:nvSpPr>
          <p:cNvPr id="1872" name="Google Shape;1872;p92"/>
          <p:cNvSpPr/>
          <p:nvPr/>
        </p:nvSpPr>
        <p:spPr>
          <a:xfrm>
            <a:off x="3399543" y="2260911"/>
            <a:ext cx="1651200" cy="465300"/>
          </a:xfrm>
          <a:prstGeom prst="roundRect">
            <a:avLst>
              <a:gd fmla="val 16667" name="adj"/>
            </a:avLst>
          </a:prstGeom>
          <a:solidFill>
            <a:schemeClr val="lt1"/>
          </a:solidFill>
          <a:ln cap="flat" cmpd="sng" w="19050">
            <a:solidFill>
              <a:srgbClr val="FF695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dbfs</a:t>
            </a:r>
            <a:endParaRPr sz="1300">
              <a:latin typeface="DM Sans"/>
              <a:ea typeface="DM Sans"/>
              <a:cs typeface="DM Sans"/>
              <a:sym typeface="DM Sans"/>
            </a:endParaRPr>
          </a:p>
        </p:txBody>
      </p:sp>
      <p:cxnSp>
        <p:nvCxnSpPr>
          <p:cNvPr id="1873" name="Google Shape;1873;p92"/>
          <p:cNvCxnSpPr>
            <a:stCxn id="1870" idx="3"/>
            <a:endCxn id="1869" idx="1"/>
          </p:cNvCxnSpPr>
          <p:nvPr/>
        </p:nvCxnSpPr>
        <p:spPr>
          <a:xfrm flipH="1" rot="10800000">
            <a:off x="2442875" y="1160048"/>
            <a:ext cx="956700" cy="2536200"/>
          </a:xfrm>
          <a:prstGeom prst="curvedConnector3">
            <a:avLst>
              <a:gd fmla="val 50002" name="adj1"/>
            </a:avLst>
          </a:prstGeom>
          <a:noFill/>
          <a:ln cap="flat" cmpd="sng" w="9525">
            <a:solidFill>
              <a:srgbClr val="1B5162"/>
            </a:solidFill>
            <a:prstDash val="solid"/>
            <a:round/>
            <a:headEnd len="med" w="med" type="none"/>
            <a:tailEnd len="med" w="med" type="triangle"/>
          </a:ln>
        </p:spPr>
      </p:cxnSp>
      <p:cxnSp>
        <p:nvCxnSpPr>
          <p:cNvPr id="1874" name="Google Shape;1874;p92"/>
          <p:cNvCxnSpPr>
            <a:stCxn id="1870" idx="3"/>
            <a:endCxn id="1872" idx="1"/>
          </p:cNvCxnSpPr>
          <p:nvPr/>
        </p:nvCxnSpPr>
        <p:spPr>
          <a:xfrm flipH="1" rot="10800000">
            <a:off x="2442875" y="2493548"/>
            <a:ext cx="956700" cy="1202700"/>
          </a:xfrm>
          <a:prstGeom prst="curvedConnector3">
            <a:avLst>
              <a:gd fmla="val 50002" name="adj1"/>
            </a:avLst>
          </a:prstGeom>
          <a:noFill/>
          <a:ln cap="flat" cmpd="sng" w="9525">
            <a:solidFill>
              <a:srgbClr val="1B5162"/>
            </a:solidFill>
            <a:prstDash val="solid"/>
            <a:round/>
            <a:headEnd len="med" w="med" type="none"/>
            <a:tailEnd len="med" w="med" type="triangle"/>
          </a:ln>
        </p:spPr>
      </p:cxnSp>
      <p:cxnSp>
        <p:nvCxnSpPr>
          <p:cNvPr id="1875" name="Google Shape;1875;p92"/>
          <p:cNvCxnSpPr>
            <a:stCxn id="1869" idx="3"/>
            <a:endCxn id="1876" idx="1"/>
          </p:cNvCxnSpPr>
          <p:nvPr/>
        </p:nvCxnSpPr>
        <p:spPr>
          <a:xfrm>
            <a:off x="5050743" y="1160081"/>
            <a:ext cx="682800" cy="600"/>
          </a:xfrm>
          <a:prstGeom prst="curvedConnector3">
            <a:avLst>
              <a:gd fmla="val 50010" name="adj1"/>
            </a:avLst>
          </a:prstGeom>
          <a:noFill/>
          <a:ln cap="flat" cmpd="sng" w="9525">
            <a:solidFill>
              <a:srgbClr val="000000"/>
            </a:solidFill>
            <a:prstDash val="solid"/>
            <a:round/>
            <a:headEnd len="med" w="med" type="none"/>
            <a:tailEnd len="med" w="med" type="triangle"/>
          </a:ln>
        </p:spPr>
      </p:cxnSp>
      <p:cxnSp>
        <p:nvCxnSpPr>
          <p:cNvPr id="1877" name="Google Shape;1877;p92"/>
          <p:cNvCxnSpPr>
            <a:stCxn id="1872" idx="3"/>
            <a:endCxn id="1878" idx="1"/>
          </p:cNvCxnSpPr>
          <p:nvPr/>
        </p:nvCxnSpPr>
        <p:spPr>
          <a:xfrm>
            <a:off x="5050743" y="2493561"/>
            <a:ext cx="682800" cy="341100"/>
          </a:xfrm>
          <a:prstGeom prst="curvedConnector3">
            <a:avLst>
              <a:gd fmla="val 49994" name="adj1"/>
            </a:avLst>
          </a:prstGeom>
          <a:noFill/>
          <a:ln cap="flat" cmpd="sng" w="9525">
            <a:solidFill>
              <a:srgbClr val="000000"/>
            </a:solidFill>
            <a:prstDash val="solid"/>
            <a:round/>
            <a:headEnd len="med" w="med" type="none"/>
            <a:tailEnd len="med" w="med" type="triangle"/>
          </a:ln>
        </p:spPr>
      </p:cxnSp>
      <p:sp>
        <p:nvSpPr>
          <p:cNvPr id="1879" name="Google Shape;1879;p92"/>
          <p:cNvSpPr txBox="1"/>
          <p:nvPr/>
        </p:nvSpPr>
        <p:spPr>
          <a:xfrm>
            <a:off x="313921" y="192233"/>
            <a:ext cx="10451100" cy="465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Clr>
                <a:schemeClr val="dk1"/>
              </a:buClr>
              <a:buSzPts val="1500"/>
              <a:buFont typeface="Arial"/>
              <a:buNone/>
            </a:pPr>
            <a:r>
              <a:rPr lang="en" sz="1900">
                <a:solidFill>
                  <a:schemeClr val="dk1"/>
                </a:solidFill>
                <a:latin typeface="DM Sans"/>
                <a:ea typeface="DM Sans"/>
                <a:cs typeface="DM Sans"/>
                <a:sym typeface="DM Sans"/>
              </a:rPr>
              <a:t>/_static/images/files/posix-paths.png</a:t>
            </a:r>
            <a:endParaRPr sz="1900">
              <a:solidFill>
                <a:schemeClr val="dk1"/>
              </a:solidFill>
              <a:latin typeface="DM Sans"/>
              <a:ea typeface="DM Sans"/>
              <a:cs typeface="DM Sans"/>
              <a:sym typeface="DM Sans"/>
            </a:endParaRPr>
          </a:p>
        </p:txBody>
      </p:sp>
      <p:sp>
        <p:nvSpPr>
          <p:cNvPr id="1880" name="Google Shape;1880;p92"/>
          <p:cNvSpPr/>
          <p:nvPr/>
        </p:nvSpPr>
        <p:spPr>
          <a:xfrm>
            <a:off x="5629302" y="1620746"/>
            <a:ext cx="5490300" cy="7308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None/>
            </a:pPr>
            <a:r>
              <a:rPr lang="en" sz="1300">
                <a:solidFill>
                  <a:schemeClr val="dk1"/>
                </a:solidFill>
                <a:latin typeface="DM Sans"/>
                <a:ea typeface="DM Sans"/>
                <a:cs typeface="DM Sans"/>
                <a:sym typeface="DM Sans"/>
              </a:rPr>
              <a:t>Mounts</a:t>
            </a:r>
            <a:endParaRPr sz="1900"/>
          </a:p>
        </p:txBody>
      </p:sp>
      <p:sp>
        <p:nvSpPr>
          <p:cNvPr id="1876" name="Google Shape;1876;p92"/>
          <p:cNvSpPr/>
          <p:nvPr/>
        </p:nvSpPr>
        <p:spPr>
          <a:xfrm>
            <a:off x="5733467" y="927447"/>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&lt;catalog_name&gt;</a:t>
            </a:r>
            <a:endParaRPr sz="1300">
              <a:latin typeface="DM Sans"/>
              <a:ea typeface="DM Sans"/>
              <a:cs typeface="DM Sans"/>
              <a:sym typeface="DM Sans"/>
            </a:endParaRPr>
          </a:p>
        </p:txBody>
      </p:sp>
      <p:sp>
        <p:nvSpPr>
          <p:cNvPr id="1881" name="Google Shape;1881;p92"/>
          <p:cNvSpPr/>
          <p:nvPr/>
        </p:nvSpPr>
        <p:spPr>
          <a:xfrm>
            <a:off x="5733467" y="1763305"/>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mnt</a:t>
            </a:r>
            <a:endParaRPr sz="1300">
              <a:latin typeface="DM Sans"/>
              <a:ea typeface="DM Sans"/>
              <a:cs typeface="DM Sans"/>
              <a:sym typeface="DM Sans"/>
            </a:endParaRPr>
          </a:p>
        </p:txBody>
      </p:sp>
      <p:cxnSp>
        <p:nvCxnSpPr>
          <p:cNvPr id="1882" name="Google Shape;1882;p92"/>
          <p:cNvCxnSpPr>
            <a:stCxn id="1872" idx="3"/>
            <a:endCxn id="1881" idx="1"/>
          </p:cNvCxnSpPr>
          <p:nvPr/>
        </p:nvCxnSpPr>
        <p:spPr>
          <a:xfrm flipH="1" rot="10800000">
            <a:off x="5050743" y="1995861"/>
            <a:ext cx="682800" cy="497700"/>
          </a:xfrm>
          <a:prstGeom prst="curvedConnector3">
            <a:avLst>
              <a:gd fmla="val 49989" name="adj1"/>
            </a:avLst>
          </a:prstGeom>
          <a:noFill/>
          <a:ln cap="flat" cmpd="sng" w="9525">
            <a:solidFill>
              <a:srgbClr val="000000"/>
            </a:solidFill>
            <a:prstDash val="solid"/>
            <a:round/>
            <a:headEnd len="med" w="med" type="none"/>
            <a:tailEnd len="med" w="med" type="triangle"/>
          </a:ln>
        </p:spPr>
      </p:cxnSp>
      <p:sp>
        <p:nvSpPr>
          <p:cNvPr id="1883" name="Google Shape;1883;p92"/>
          <p:cNvSpPr/>
          <p:nvPr/>
        </p:nvSpPr>
        <p:spPr>
          <a:xfrm>
            <a:off x="3399543" y="4358926"/>
            <a:ext cx="1651200" cy="465300"/>
          </a:xfrm>
          <a:prstGeom prst="roundRect">
            <a:avLst>
              <a:gd fmla="val 16667" name="adj"/>
            </a:avLst>
          </a:prstGeom>
          <a:solidFill>
            <a:schemeClr val="lt1"/>
          </a:solidFill>
          <a:ln cap="flat" cmpd="sng" w="19050">
            <a:solidFill>
              <a:srgbClr val="FF695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Workspace</a:t>
            </a:r>
            <a:endParaRPr sz="1300">
              <a:latin typeface="DM Sans"/>
              <a:ea typeface="DM Sans"/>
              <a:cs typeface="DM Sans"/>
              <a:sym typeface="DM Sans"/>
            </a:endParaRPr>
          </a:p>
        </p:txBody>
      </p:sp>
      <p:sp>
        <p:nvSpPr>
          <p:cNvPr id="1884" name="Google Shape;1884;p92"/>
          <p:cNvSpPr/>
          <p:nvPr/>
        </p:nvSpPr>
        <p:spPr>
          <a:xfrm>
            <a:off x="3399513" y="5944484"/>
            <a:ext cx="3451200" cy="465300"/>
          </a:xfrm>
          <a:prstGeom prst="roundRect">
            <a:avLst>
              <a:gd fmla="val 16667" name="adj"/>
            </a:avLst>
          </a:prstGeom>
          <a:solidFill>
            <a:schemeClr val="lt1"/>
          </a:solidFill>
          <a:ln cap="flat" cmpd="sng" w="9525">
            <a:solidFill>
              <a:srgbClr val="1B5162"/>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Ephemeral driver-attached storage</a:t>
            </a:r>
            <a:endParaRPr sz="1300">
              <a:latin typeface="DM Sans"/>
              <a:ea typeface="DM Sans"/>
              <a:cs typeface="DM Sans"/>
              <a:sym typeface="DM Sans"/>
            </a:endParaRPr>
          </a:p>
        </p:txBody>
      </p:sp>
      <p:cxnSp>
        <p:nvCxnSpPr>
          <p:cNvPr id="1885" name="Google Shape;1885;p92"/>
          <p:cNvCxnSpPr>
            <a:stCxn id="1870" idx="3"/>
            <a:endCxn id="1883" idx="1"/>
          </p:cNvCxnSpPr>
          <p:nvPr/>
        </p:nvCxnSpPr>
        <p:spPr>
          <a:xfrm>
            <a:off x="2442875" y="3696248"/>
            <a:ext cx="956700" cy="895200"/>
          </a:xfrm>
          <a:prstGeom prst="curvedConnector3">
            <a:avLst>
              <a:gd fmla="val 50002" name="adj1"/>
            </a:avLst>
          </a:prstGeom>
          <a:noFill/>
          <a:ln cap="flat" cmpd="sng" w="9525">
            <a:solidFill>
              <a:srgbClr val="1B5162"/>
            </a:solidFill>
            <a:prstDash val="solid"/>
            <a:round/>
            <a:headEnd len="med" w="med" type="none"/>
            <a:tailEnd len="med" w="med" type="triangle"/>
          </a:ln>
        </p:spPr>
      </p:cxnSp>
      <p:cxnSp>
        <p:nvCxnSpPr>
          <p:cNvPr id="1886" name="Google Shape;1886;p92"/>
          <p:cNvCxnSpPr>
            <a:stCxn id="1870" idx="3"/>
            <a:endCxn id="1884" idx="1"/>
          </p:cNvCxnSpPr>
          <p:nvPr/>
        </p:nvCxnSpPr>
        <p:spPr>
          <a:xfrm>
            <a:off x="2442875" y="3696248"/>
            <a:ext cx="956700" cy="2481000"/>
          </a:xfrm>
          <a:prstGeom prst="curvedConnector3">
            <a:avLst>
              <a:gd fmla="val 50001" name="adj1"/>
            </a:avLst>
          </a:prstGeom>
          <a:noFill/>
          <a:ln cap="flat" cmpd="sng" w="9525">
            <a:solidFill>
              <a:srgbClr val="1B5162"/>
            </a:solidFill>
            <a:prstDash val="solid"/>
            <a:round/>
            <a:headEnd len="med" w="med" type="none"/>
            <a:tailEnd len="med" w="med" type="triangle"/>
          </a:ln>
        </p:spPr>
      </p:cxnSp>
      <p:cxnSp>
        <p:nvCxnSpPr>
          <p:cNvPr id="1887" name="Google Shape;1887;p92"/>
          <p:cNvCxnSpPr>
            <a:stCxn id="1876" idx="3"/>
            <a:endCxn id="1888" idx="1"/>
          </p:cNvCxnSpPr>
          <p:nvPr/>
        </p:nvCxnSpPr>
        <p:spPr>
          <a:xfrm flipH="1" rot="10800000">
            <a:off x="7384667" y="1157997"/>
            <a:ext cx="649200" cy="2100"/>
          </a:xfrm>
          <a:prstGeom prst="curvedConnector3">
            <a:avLst>
              <a:gd fmla="val 50014" name="adj1"/>
            </a:avLst>
          </a:prstGeom>
          <a:noFill/>
          <a:ln cap="flat" cmpd="sng" w="9525">
            <a:solidFill>
              <a:srgbClr val="000000"/>
            </a:solidFill>
            <a:prstDash val="solid"/>
            <a:round/>
            <a:headEnd len="med" w="med" type="none"/>
            <a:tailEnd len="med" w="med" type="triangle"/>
          </a:ln>
        </p:spPr>
      </p:cxnSp>
      <p:sp>
        <p:nvSpPr>
          <p:cNvPr id="1888" name="Google Shape;1888;p92"/>
          <p:cNvSpPr/>
          <p:nvPr/>
        </p:nvSpPr>
        <p:spPr>
          <a:xfrm>
            <a:off x="8033878" y="925200"/>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&lt;schema_name&gt;</a:t>
            </a:r>
            <a:endParaRPr sz="1300">
              <a:latin typeface="DM Sans"/>
              <a:ea typeface="DM Sans"/>
              <a:cs typeface="DM Sans"/>
              <a:sym typeface="DM Sans"/>
            </a:endParaRPr>
          </a:p>
        </p:txBody>
      </p:sp>
      <p:cxnSp>
        <p:nvCxnSpPr>
          <p:cNvPr id="1889" name="Google Shape;1889;p92"/>
          <p:cNvCxnSpPr>
            <a:stCxn id="1888" idx="3"/>
            <a:endCxn id="1890" idx="1"/>
          </p:cNvCxnSpPr>
          <p:nvPr/>
        </p:nvCxnSpPr>
        <p:spPr>
          <a:xfrm>
            <a:off x="9685078" y="1157850"/>
            <a:ext cx="594900" cy="600"/>
          </a:xfrm>
          <a:prstGeom prst="curvedConnector3">
            <a:avLst>
              <a:gd fmla="val 49993" name="adj1"/>
            </a:avLst>
          </a:prstGeom>
          <a:noFill/>
          <a:ln cap="flat" cmpd="sng" w="9525">
            <a:solidFill>
              <a:srgbClr val="000000"/>
            </a:solidFill>
            <a:prstDash val="solid"/>
            <a:round/>
            <a:headEnd len="med" w="med" type="none"/>
            <a:tailEnd len="med" w="med" type="triangle"/>
          </a:ln>
        </p:spPr>
      </p:cxnSp>
      <p:sp>
        <p:nvSpPr>
          <p:cNvPr id="1890" name="Google Shape;1890;p92"/>
          <p:cNvSpPr/>
          <p:nvPr/>
        </p:nvSpPr>
        <p:spPr>
          <a:xfrm>
            <a:off x="10280083" y="925200"/>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&lt;volume_name&gt;</a:t>
            </a:r>
            <a:endParaRPr sz="1300">
              <a:latin typeface="DM Sans"/>
              <a:ea typeface="DM Sans"/>
              <a:cs typeface="DM Sans"/>
              <a:sym typeface="DM Sans"/>
            </a:endParaRPr>
          </a:p>
        </p:txBody>
      </p:sp>
      <p:cxnSp>
        <p:nvCxnSpPr>
          <p:cNvPr id="1891" name="Google Shape;1891;p92"/>
          <p:cNvCxnSpPr>
            <a:stCxn id="1883" idx="3"/>
            <a:endCxn id="1892" idx="1"/>
          </p:cNvCxnSpPr>
          <p:nvPr/>
        </p:nvCxnSpPr>
        <p:spPr>
          <a:xfrm>
            <a:off x="5050743" y="4591576"/>
            <a:ext cx="681600" cy="739500"/>
          </a:xfrm>
          <a:prstGeom prst="curvedConnector3">
            <a:avLst>
              <a:gd fmla="val 49996" name="adj1"/>
            </a:avLst>
          </a:prstGeom>
          <a:noFill/>
          <a:ln cap="flat" cmpd="sng" w="9525">
            <a:solidFill>
              <a:srgbClr val="000000"/>
            </a:solidFill>
            <a:prstDash val="solid"/>
            <a:round/>
            <a:headEnd len="med" w="med" type="none"/>
            <a:tailEnd len="med" w="med" type="triangle"/>
          </a:ln>
        </p:spPr>
      </p:cxnSp>
      <p:cxnSp>
        <p:nvCxnSpPr>
          <p:cNvPr id="1893" name="Google Shape;1893;p92"/>
          <p:cNvCxnSpPr>
            <a:stCxn id="1883" idx="3"/>
            <a:endCxn id="1894" idx="1"/>
          </p:cNvCxnSpPr>
          <p:nvPr/>
        </p:nvCxnSpPr>
        <p:spPr>
          <a:xfrm>
            <a:off x="5050743" y="4591576"/>
            <a:ext cx="681900" cy="600"/>
          </a:xfrm>
          <a:prstGeom prst="curvedConnector3">
            <a:avLst>
              <a:gd fmla="val 49998" name="adj1"/>
            </a:avLst>
          </a:prstGeom>
          <a:noFill/>
          <a:ln cap="flat" cmpd="sng" w="9525">
            <a:solidFill>
              <a:srgbClr val="000000"/>
            </a:solidFill>
            <a:prstDash val="solid"/>
            <a:round/>
            <a:headEnd len="med" w="med" type="none"/>
            <a:tailEnd len="med" w="med" type="triangle"/>
          </a:ln>
        </p:spPr>
      </p:cxnSp>
      <p:sp>
        <p:nvSpPr>
          <p:cNvPr id="1895" name="Google Shape;1895;p92"/>
          <p:cNvSpPr/>
          <p:nvPr/>
        </p:nvSpPr>
        <p:spPr>
          <a:xfrm>
            <a:off x="5745287" y="3610319"/>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Users</a:t>
            </a:r>
            <a:endParaRPr sz="1300">
              <a:latin typeface="DM Sans"/>
              <a:ea typeface="DM Sans"/>
              <a:cs typeface="DM Sans"/>
              <a:sym typeface="DM Sans"/>
            </a:endParaRPr>
          </a:p>
        </p:txBody>
      </p:sp>
      <p:sp>
        <p:nvSpPr>
          <p:cNvPr id="1894" name="Google Shape;1894;p92"/>
          <p:cNvSpPr/>
          <p:nvPr/>
        </p:nvSpPr>
        <p:spPr>
          <a:xfrm>
            <a:off x="5732501" y="4358543"/>
            <a:ext cx="1651200" cy="4653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a:ea typeface="DM Sans"/>
                <a:cs typeface="DM Sans"/>
                <a:sym typeface="DM Sans"/>
              </a:rPr>
              <a:t>Shared</a:t>
            </a:r>
            <a:endParaRPr sz="1200">
              <a:latin typeface="DM Sans"/>
              <a:ea typeface="DM Sans"/>
              <a:cs typeface="DM Sans"/>
              <a:sym typeface="DM Sans"/>
            </a:endParaRPr>
          </a:p>
        </p:txBody>
      </p:sp>
      <p:sp>
        <p:nvSpPr>
          <p:cNvPr id="1892" name="Google Shape;1892;p92"/>
          <p:cNvSpPr/>
          <p:nvPr/>
        </p:nvSpPr>
        <p:spPr>
          <a:xfrm>
            <a:off x="5732484" y="5098428"/>
            <a:ext cx="1651200" cy="4653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Repos</a:t>
            </a:r>
            <a:endParaRPr sz="1300">
              <a:latin typeface="DM Sans"/>
              <a:ea typeface="DM Sans"/>
              <a:cs typeface="DM Sans"/>
              <a:sym typeface="DM Sans"/>
            </a:endParaRPr>
          </a:p>
        </p:txBody>
      </p:sp>
      <p:cxnSp>
        <p:nvCxnSpPr>
          <p:cNvPr id="1896" name="Google Shape;1896;p92"/>
          <p:cNvCxnSpPr>
            <a:stCxn id="1883" idx="3"/>
            <a:endCxn id="1895" idx="1"/>
          </p:cNvCxnSpPr>
          <p:nvPr/>
        </p:nvCxnSpPr>
        <p:spPr>
          <a:xfrm flipH="1" rot="10800000">
            <a:off x="5050743" y="3843076"/>
            <a:ext cx="694500" cy="748500"/>
          </a:xfrm>
          <a:prstGeom prst="curvedConnector3">
            <a:avLst>
              <a:gd fmla="val 49998" name="adj1"/>
            </a:avLst>
          </a:prstGeom>
          <a:noFill/>
          <a:ln cap="flat" cmpd="sng" w="9525">
            <a:solidFill>
              <a:srgbClr val="000000"/>
            </a:solidFill>
            <a:prstDash val="solid"/>
            <a:round/>
            <a:headEnd len="med" w="med" type="none"/>
            <a:tailEnd len="med" w="med" type="triangle"/>
          </a:ln>
        </p:spPr>
      </p:cxnSp>
      <p:cxnSp>
        <p:nvCxnSpPr>
          <p:cNvPr id="1897" name="Google Shape;1897;p92"/>
          <p:cNvCxnSpPr>
            <a:endCxn id="1898" idx="1"/>
          </p:cNvCxnSpPr>
          <p:nvPr/>
        </p:nvCxnSpPr>
        <p:spPr>
          <a:xfrm>
            <a:off x="7384962" y="1990560"/>
            <a:ext cx="6783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898" name="Google Shape;1898;p92"/>
          <p:cNvSpPr/>
          <p:nvPr/>
        </p:nvSpPr>
        <p:spPr>
          <a:xfrm>
            <a:off x="8063262" y="1758810"/>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&lt;mnt_name&gt;</a:t>
            </a:r>
            <a:endParaRPr sz="1300">
              <a:latin typeface="DM Sans"/>
              <a:ea typeface="DM Sans"/>
              <a:cs typeface="DM Sans"/>
              <a:sym typeface="DM Sans"/>
            </a:endParaRPr>
          </a:p>
        </p:txBody>
      </p:sp>
      <p:sp>
        <p:nvSpPr>
          <p:cNvPr id="1899" name="Google Shape;1899;p92"/>
          <p:cNvSpPr/>
          <p:nvPr/>
        </p:nvSpPr>
        <p:spPr>
          <a:xfrm>
            <a:off x="5629269" y="2459400"/>
            <a:ext cx="5490300" cy="7308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Clr>
                <a:schemeClr val="dk1"/>
              </a:buClr>
              <a:buSzPts val="1500"/>
              <a:buFont typeface="Arial"/>
              <a:buNone/>
            </a:pPr>
            <a:r>
              <a:rPr lang="en" sz="1300">
                <a:solidFill>
                  <a:schemeClr val="dk1"/>
                </a:solidFill>
                <a:latin typeface="DM Sans"/>
                <a:ea typeface="DM Sans"/>
                <a:cs typeface="DM Sans"/>
                <a:sym typeface="DM Sans"/>
              </a:rPr>
              <a:t>DBFS root</a:t>
            </a:r>
            <a:endParaRPr sz="1300">
              <a:solidFill>
                <a:schemeClr val="dk1"/>
              </a:solidFill>
              <a:latin typeface="DM Sans"/>
              <a:ea typeface="DM Sans"/>
              <a:cs typeface="DM Sans"/>
              <a:sym typeface="DM Sans"/>
            </a:endParaRPr>
          </a:p>
        </p:txBody>
      </p:sp>
      <p:sp>
        <p:nvSpPr>
          <p:cNvPr id="1878" name="Google Shape;1878;p92"/>
          <p:cNvSpPr/>
          <p:nvPr/>
        </p:nvSpPr>
        <p:spPr>
          <a:xfrm>
            <a:off x="5733433" y="2601959"/>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a:t>
            </a:r>
            <a:endParaRPr sz="1300">
              <a:latin typeface="DM Sans"/>
              <a:ea typeface="DM Sans"/>
              <a:cs typeface="DM Sans"/>
              <a:sym typeface="DM Sans"/>
            </a:endParaRPr>
          </a:p>
        </p:txBody>
      </p:sp>
      <p:cxnSp>
        <p:nvCxnSpPr>
          <p:cNvPr id="1900" name="Google Shape;1900;p92"/>
          <p:cNvCxnSpPr>
            <a:stCxn id="1895" idx="3"/>
            <a:endCxn id="1901" idx="1"/>
          </p:cNvCxnSpPr>
          <p:nvPr/>
        </p:nvCxnSpPr>
        <p:spPr>
          <a:xfrm flipH="1" rot="10800000">
            <a:off x="7396487" y="3838769"/>
            <a:ext cx="637500" cy="4200"/>
          </a:xfrm>
          <a:prstGeom prst="curvedConnector3">
            <a:avLst>
              <a:gd fmla="val 49997" name="adj1"/>
            </a:avLst>
          </a:prstGeom>
          <a:noFill/>
          <a:ln cap="flat" cmpd="sng" w="9525">
            <a:solidFill>
              <a:srgbClr val="000000"/>
            </a:solidFill>
            <a:prstDash val="solid"/>
            <a:round/>
            <a:headEnd len="med" w="med" type="none"/>
            <a:tailEnd len="med" w="med" type="triangle"/>
          </a:ln>
        </p:spPr>
      </p:cxnSp>
      <p:sp>
        <p:nvSpPr>
          <p:cNvPr id="1901" name="Google Shape;1901;p92"/>
          <p:cNvSpPr/>
          <p:nvPr/>
        </p:nvSpPr>
        <p:spPr>
          <a:xfrm>
            <a:off x="8033894" y="3606007"/>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&lt;user_folder&gt;</a:t>
            </a:r>
            <a:endParaRPr sz="1300">
              <a:latin typeface="DM Sans"/>
              <a:ea typeface="DM Sans"/>
              <a:cs typeface="DM Sans"/>
              <a:sym typeface="DM Sans"/>
            </a:endParaRPr>
          </a:p>
        </p:txBody>
      </p:sp>
      <p:cxnSp>
        <p:nvCxnSpPr>
          <p:cNvPr id="1902" name="Google Shape;1902;p92"/>
          <p:cNvCxnSpPr>
            <a:stCxn id="1892" idx="3"/>
            <a:endCxn id="1903" idx="1"/>
          </p:cNvCxnSpPr>
          <p:nvPr/>
        </p:nvCxnSpPr>
        <p:spPr>
          <a:xfrm flipH="1" rot="10800000">
            <a:off x="7383684" y="5325978"/>
            <a:ext cx="679800" cy="5100"/>
          </a:xfrm>
          <a:prstGeom prst="curvedConnector3">
            <a:avLst>
              <a:gd fmla="val 49999" name="adj1"/>
            </a:avLst>
          </a:prstGeom>
          <a:noFill/>
          <a:ln cap="flat" cmpd="sng" w="9525">
            <a:solidFill>
              <a:srgbClr val="000000"/>
            </a:solidFill>
            <a:prstDash val="solid"/>
            <a:round/>
            <a:headEnd len="med" w="med" type="none"/>
            <a:tailEnd len="med" w="med" type="triangle"/>
          </a:ln>
        </p:spPr>
      </p:cxnSp>
      <p:sp>
        <p:nvSpPr>
          <p:cNvPr id="1903" name="Google Shape;1903;p92"/>
          <p:cNvSpPr/>
          <p:nvPr/>
        </p:nvSpPr>
        <p:spPr>
          <a:xfrm>
            <a:off x="8063461" y="5093200"/>
            <a:ext cx="1651200" cy="4653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&lt;user_folder&gt;</a:t>
            </a:r>
            <a:endParaRPr sz="1300">
              <a:latin typeface="DM Sans"/>
              <a:ea typeface="DM Sans"/>
              <a:cs typeface="DM Sans"/>
              <a:sym typeface="DM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sp>
        <p:nvSpPr>
          <p:cNvPr id="1908" name="Google Shape;1908;p93"/>
          <p:cNvSpPr/>
          <p:nvPr/>
        </p:nvSpPr>
        <p:spPr>
          <a:xfrm>
            <a:off x="3347444" y="10533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Volumes</a:t>
            </a:r>
            <a:endParaRPr sz="1300">
              <a:latin typeface="DM Sans"/>
              <a:ea typeface="DM Sans"/>
              <a:cs typeface="DM Sans"/>
              <a:sym typeface="DM Sans"/>
            </a:endParaRPr>
          </a:p>
        </p:txBody>
      </p:sp>
      <p:sp>
        <p:nvSpPr>
          <p:cNvPr id="1909" name="Google Shape;1909;p93"/>
          <p:cNvSpPr/>
          <p:nvPr/>
        </p:nvSpPr>
        <p:spPr>
          <a:xfrm>
            <a:off x="723686" y="17758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dbfs:/</a:t>
            </a:r>
            <a:endParaRPr sz="1300">
              <a:latin typeface="DM Sans"/>
              <a:ea typeface="DM Sans"/>
              <a:cs typeface="DM Sans"/>
              <a:sym typeface="DM Sans"/>
            </a:endParaRPr>
          </a:p>
        </p:txBody>
      </p:sp>
      <p:sp>
        <p:nvSpPr>
          <p:cNvPr id="1910" name="Google Shape;1910;p93"/>
          <p:cNvSpPr/>
          <p:nvPr/>
        </p:nvSpPr>
        <p:spPr>
          <a:xfrm>
            <a:off x="1489945" y="3806082"/>
            <a:ext cx="109500" cy="145200"/>
          </a:xfrm>
          <a:prstGeom prst="ellipse">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1900">
              <a:latin typeface="Barlow"/>
              <a:ea typeface="Barlow"/>
              <a:cs typeface="Barlow"/>
              <a:sym typeface="Barlow"/>
            </a:endParaRPr>
          </a:p>
        </p:txBody>
      </p:sp>
      <p:cxnSp>
        <p:nvCxnSpPr>
          <p:cNvPr id="1911" name="Google Shape;1911;p93"/>
          <p:cNvCxnSpPr>
            <a:stCxn id="1909" idx="3"/>
            <a:endCxn id="1908" idx="1"/>
          </p:cNvCxnSpPr>
          <p:nvPr/>
        </p:nvCxnSpPr>
        <p:spPr>
          <a:xfrm flipH="1" rot="10800000">
            <a:off x="2523086" y="1286350"/>
            <a:ext cx="824400" cy="722400"/>
          </a:xfrm>
          <a:prstGeom prst="curvedConnector3">
            <a:avLst>
              <a:gd fmla="val 50001" name="adj1"/>
            </a:avLst>
          </a:prstGeom>
          <a:noFill/>
          <a:ln cap="flat" cmpd="sng" w="9525">
            <a:solidFill>
              <a:srgbClr val="1B5162"/>
            </a:solidFill>
            <a:prstDash val="solid"/>
            <a:round/>
            <a:headEnd len="med" w="med" type="none"/>
            <a:tailEnd len="med" w="med" type="triangle"/>
          </a:ln>
        </p:spPr>
      </p:cxnSp>
      <p:cxnSp>
        <p:nvCxnSpPr>
          <p:cNvPr id="1912" name="Google Shape;1912;p93"/>
          <p:cNvCxnSpPr>
            <a:stCxn id="1908" idx="3"/>
            <a:endCxn id="1913" idx="1"/>
          </p:cNvCxnSpPr>
          <p:nvPr/>
        </p:nvCxnSpPr>
        <p:spPr>
          <a:xfrm>
            <a:off x="5000144" y="1286339"/>
            <a:ext cx="678900" cy="600"/>
          </a:xfrm>
          <a:prstGeom prst="curvedConnector3">
            <a:avLst>
              <a:gd fmla="val 50002" name="adj1"/>
            </a:avLst>
          </a:prstGeom>
          <a:noFill/>
          <a:ln cap="flat" cmpd="sng" w="9525">
            <a:solidFill>
              <a:srgbClr val="000000"/>
            </a:solidFill>
            <a:prstDash val="solid"/>
            <a:round/>
            <a:headEnd len="med" w="med" type="none"/>
            <a:tailEnd len="med" w="med" type="triangle"/>
          </a:ln>
        </p:spPr>
      </p:cxnSp>
      <p:cxnSp>
        <p:nvCxnSpPr>
          <p:cNvPr id="1914" name="Google Shape;1914;p93"/>
          <p:cNvCxnSpPr>
            <a:stCxn id="1909" idx="3"/>
            <a:endCxn id="1915" idx="1"/>
          </p:cNvCxnSpPr>
          <p:nvPr/>
        </p:nvCxnSpPr>
        <p:spPr>
          <a:xfrm>
            <a:off x="2523086" y="2008750"/>
            <a:ext cx="939600" cy="8655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16" name="Google Shape;1916;p93"/>
          <p:cNvSpPr txBox="1"/>
          <p:nvPr/>
        </p:nvSpPr>
        <p:spPr>
          <a:xfrm>
            <a:off x="313921" y="344633"/>
            <a:ext cx="10451100" cy="465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Clr>
                <a:schemeClr val="dk1"/>
              </a:buClr>
              <a:buSzPts val="1500"/>
              <a:buFont typeface="Arial"/>
              <a:buNone/>
            </a:pPr>
            <a:r>
              <a:rPr lang="en" sz="1900">
                <a:solidFill>
                  <a:schemeClr val="dk1"/>
                </a:solidFill>
                <a:latin typeface="DM Sans"/>
                <a:ea typeface="DM Sans"/>
                <a:cs typeface="DM Sans"/>
                <a:sym typeface="DM Sans"/>
              </a:rPr>
              <a:t>/_static/images/files/uri-paths-aws.png</a:t>
            </a:r>
            <a:endParaRPr sz="1900">
              <a:solidFill>
                <a:schemeClr val="dk1"/>
              </a:solidFill>
              <a:latin typeface="DM Sans"/>
              <a:ea typeface="DM Sans"/>
              <a:cs typeface="DM Sans"/>
              <a:sym typeface="DM Sans"/>
            </a:endParaRPr>
          </a:p>
        </p:txBody>
      </p:sp>
      <p:sp>
        <p:nvSpPr>
          <p:cNvPr id="1917" name="Google Shape;1917;p93"/>
          <p:cNvSpPr/>
          <p:nvPr/>
        </p:nvSpPr>
        <p:spPr>
          <a:xfrm>
            <a:off x="3303907" y="1633067"/>
            <a:ext cx="5495100" cy="7317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None/>
            </a:pPr>
            <a:r>
              <a:rPr lang="en" sz="1300">
                <a:solidFill>
                  <a:schemeClr val="dk1"/>
                </a:solidFill>
                <a:latin typeface="DM Sans"/>
                <a:ea typeface="DM Sans"/>
                <a:cs typeface="DM Sans"/>
                <a:sym typeface="DM Sans"/>
              </a:rPr>
              <a:t>Mounts</a:t>
            </a:r>
            <a:endParaRPr sz="1900"/>
          </a:p>
        </p:txBody>
      </p:sp>
      <p:sp>
        <p:nvSpPr>
          <p:cNvPr id="1913" name="Google Shape;1913;p93"/>
          <p:cNvSpPr/>
          <p:nvPr/>
        </p:nvSpPr>
        <p:spPr>
          <a:xfrm>
            <a:off x="5679160" y="10533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&lt;catalog_name&gt;</a:t>
            </a:r>
            <a:endParaRPr sz="1300">
              <a:latin typeface="DM Sans"/>
              <a:ea typeface="DM Sans"/>
              <a:cs typeface="DM Sans"/>
              <a:sym typeface="DM Sans"/>
            </a:endParaRPr>
          </a:p>
        </p:txBody>
      </p:sp>
      <p:sp>
        <p:nvSpPr>
          <p:cNvPr id="1918" name="Google Shape;1918;p93"/>
          <p:cNvSpPr/>
          <p:nvPr/>
        </p:nvSpPr>
        <p:spPr>
          <a:xfrm>
            <a:off x="3408162" y="17757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mnt</a:t>
            </a:r>
            <a:endParaRPr sz="1300">
              <a:latin typeface="DM Sans"/>
              <a:ea typeface="DM Sans"/>
              <a:cs typeface="DM Sans"/>
              <a:sym typeface="DM Sans"/>
            </a:endParaRPr>
          </a:p>
        </p:txBody>
      </p:sp>
      <p:cxnSp>
        <p:nvCxnSpPr>
          <p:cNvPr id="1919" name="Google Shape;1919;p93"/>
          <p:cNvCxnSpPr>
            <a:stCxn id="1909" idx="3"/>
            <a:endCxn id="1918" idx="1"/>
          </p:cNvCxnSpPr>
          <p:nvPr/>
        </p:nvCxnSpPr>
        <p:spPr>
          <a:xfrm>
            <a:off x="2523086" y="2008750"/>
            <a:ext cx="885000" cy="600"/>
          </a:xfrm>
          <a:prstGeom prst="curvedConnector3">
            <a:avLst>
              <a:gd fmla="val 49999" name="adj1"/>
            </a:avLst>
          </a:prstGeom>
          <a:noFill/>
          <a:ln cap="flat" cmpd="sng" w="9525">
            <a:solidFill>
              <a:srgbClr val="000000"/>
            </a:solidFill>
            <a:prstDash val="solid"/>
            <a:round/>
            <a:headEnd len="med" w="med" type="none"/>
            <a:tailEnd len="med" w="med" type="triangle"/>
          </a:ln>
        </p:spPr>
      </p:cxnSp>
      <p:sp>
        <p:nvSpPr>
          <p:cNvPr id="1920" name="Google Shape;1920;p93"/>
          <p:cNvSpPr/>
          <p:nvPr/>
        </p:nvSpPr>
        <p:spPr>
          <a:xfrm>
            <a:off x="3401930" y="41288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Workspace</a:t>
            </a:r>
            <a:endParaRPr sz="1300">
              <a:latin typeface="DM Sans"/>
              <a:ea typeface="DM Sans"/>
              <a:cs typeface="DM Sans"/>
              <a:sym typeface="DM Sans"/>
            </a:endParaRPr>
          </a:p>
        </p:txBody>
      </p:sp>
      <p:cxnSp>
        <p:nvCxnSpPr>
          <p:cNvPr id="1921" name="Google Shape;1921;p93"/>
          <p:cNvCxnSpPr>
            <a:stCxn id="1922" idx="3"/>
            <a:endCxn id="1920" idx="1"/>
          </p:cNvCxnSpPr>
          <p:nvPr/>
        </p:nvCxnSpPr>
        <p:spPr>
          <a:xfrm flipH="1" rot="10800000">
            <a:off x="2523086" y="4361950"/>
            <a:ext cx="878700" cy="3900"/>
          </a:xfrm>
          <a:prstGeom prst="curvedConnector3">
            <a:avLst>
              <a:gd fmla="val 50007" name="adj1"/>
            </a:avLst>
          </a:prstGeom>
          <a:noFill/>
          <a:ln cap="flat" cmpd="sng" w="9525">
            <a:solidFill>
              <a:srgbClr val="1B5162"/>
            </a:solidFill>
            <a:prstDash val="solid"/>
            <a:round/>
            <a:headEnd len="med" w="med" type="none"/>
            <a:tailEnd len="med" w="med" type="triangle"/>
          </a:ln>
        </p:spPr>
      </p:cxnSp>
      <p:cxnSp>
        <p:nvCxnSpPr>
          <p:cNvPr id="1923" name="Google Shape;1923;p93"/>
          <p:cNvCxnSpPr>
            <a:stCxn id="1913" idx="3"/>
            <a:endCxn id="1924" idx="1"/>
          </p:cNvCxnSpPr>
          <p:nvPr/>
        </p:nvCxnSpPr>
        <p:spPr>
          <a:xfrm>
            <a:off x="7331860" y="1286339"/>
            <a:ext cx="678900" cy="600"/>
          </a:xfrm>
          <a:prstGeom prst="curvedConnector3">
            <a:avLst>
              <a:gd fmla="val 49993" name="adj1"/>
            </a:avLst>
          </a:prstGeom>
          <a:noFill/>
          <a:ln cap="flat" cmpd="sng" w="9525">
            <a:solidFill>
              <a:srgbClr val="000000"/>
            </a:solidFill>
            <a:prstDash val="solid"/>
            <a:round/>
            <a:headEnd len="med" w="med" type="none"/>
            <a:tailEnd len="med" w="med" type="triangle"/>
          </a:ln>
        </p:spPr>
      </p:cxnSp>
      <p:sp>
        <p:nvSpPr>
          <p:cNvPr id="1924" name="Google Shape;1924;p93"/>
          <p:cNvSpPr/>
          <p:nvPr/>
        </p:nvSpPr>
        <p:spPr>
          <a:xfrm>
            <a:off x="8010877" y="10533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&lt;schema_name&gt;</a:t>
            </a:r>
            <a:endParaRPr sz="1300">
              <a:latin typeface="DM Sans"/>
              <a:ea typeface="DM Sans"/>
              <a:cs typeface="DM Sans"/>
              <a:sym typeface="DM Sans"/>
            </a:endParaRPr>
          </a:p>
        </p:txBody>
      </p:sp>
      <p:cxnSp>
        <p:nvCxnSpPr>
          <p:cNvPr id="1925" name="Google Shape;1925;p93"/>
          <p:cNvCxnSpPr>
            <a:endCxn id="1926" idx="1"/>
          </p:cNvCxnSpPr>
          <p:nvPr/>
        </p:nvCxnSpPr>
        <p:spPr>
          <a:xfrm>
            <a:off x="9663793" y="12858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26" name="Google Shape;1926;p93"/>
          <p:cNvSpPr/>
          <p:nvPr/>
        </p:nvSpPr>
        <p:spPr>
          <a:xfrm>
            <a:off x="10342693" y="10537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&lt;volume_name&gt;</a:t>
            </a:r>
            <a:endParaRPr sz="1300">
              <a:latin typeface="DM Sans"/>
              <a:ea typeface="DM Sans"/>
              <a:cs typeface="DM Sans"/>
              <a:sym typeface="DM Sans"/>
            </a:endParaRPr>
          </a:p>
        </p:txBody>
      </p:sp>
      <p:cxnSp>
        <p:nvCxnSpPr>
          <p:cNvPr id="1927" name="Google Shape;1927;p93"/>
          <p:cNvCxnSpPr>
            <a:endCxn id="1928" idx="1"/>
          </p:cNvCxnSpPr>
          <p:nvPr/>
        </p:nvCxnSpPr>
        <p:spPr>
          <a:xfrm>
            <a:off x="5054752" y="4363123"/>
            <a:ext cx="791400" cy="683100"/>
          </a:xfrm>
          <a:prstGeom prst="curvedConnector3">
            <a:avLst>
              <a:gd fmla="val 50000" name="adj1"/>
            </a:avLst>
          </a:prstGeom>
          <a:noFill/>
          <a:ln cap="flat" cmpd="sng" w="9525">
            <a:solidFill>
              <a:srgbClr val="000000"/>
            </a:solidFill>
            <a:prstDash val="solid"/>
            <a:round/>
            <a:headEnd len="med" w="med" type="none"/>
            <a:tailEnd len="med" w="med" type="triangle"/>
          </a:ln>
        </p:spPr>
      </p:cxnSp>
      <p:cxnSp>
        <p:nvCxnSpPr>
          <p:cNvPr id="1929" name="Google Shape;1929;p93"/>
          <p:cNvCxnSpPr>
            <a:endCxn id="1930" idx="1"/>
          </p:cNvCxnSpPr>
          <p:nvPr/>
        </p:nvCxnSpPr>
        <p:spPr>
          <a:xfrm>
            <a:off x="5054735" y="4362139"/>
            <a:ext cx="7914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31" name="Google Shape;1931;p93"/>
          <p:cNvSpPr/>
          <p:nvPr/>
        </p:nvSpPr>
        <p:spPr>
          <a:xfrm>
            <a:off x="5846152" y="32947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Users</a:t>
            </a:r>
            <a:endParaRPr sz="1300">
              <a:latin typeface="DM Sans"/>
              <a:ea typeface="DM Sans"/>
              <a:cs typeface="DM Sans"/>
              <a:sym typeface="DM Sans"/>
            </a:endParaRPr>
          </a:p>
        </p:txBody>
      </p:sp>
      <p:sp>
        <p:nvSpPr>
          <p:cNvPr id="1930" name="Google Shape;1930;p93"/>
          <p:cNvSpPr/>
          <p:nvPr/>
        </p:nvSpPr>
        <p:spPr>
          <a:xfrm>
            <a:off x="5846135" y="4130089"/>
            <a:ext cx="1652700" cy="4659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a:ea typeface="DM Sans"/>
                <a:cs typeface="DM Sans"/>
                <a:sym typeface="DM Sans"/>
              </a:rPr>
              <a:t>Shared</a:t>
            </a:r>
            <a:endParaRPr sz="1200">
              <a:latin typeface="DM Sans"/>
              <a:ea typeface="DM Sans"/>
              <a:cs typeface="DM Sans"/>
              <a:sym typeface="DM Sans"/>
            </a:endParaRPr>
          </a:p>
        </p:txBody>
      </p:sp>
      <p:sp>
        <p:nvSpPr>
          <p:cNvPr id="1928" name="Google Shape;1928;p93"/>
          <p:cNvSpPr/>
          <p:nvPr/>
        </p:nvSpPr>
        <p:spPr>
          <a:xfrm>
            <a:off x="5846152" y="4813273"/>
            <a:ext cx="1652700" cy="4659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Repos</a:t>
            </a:r>
            <a:endParaRPr sz="1300">
              <a:latin typeface="DM Sans"/>
              <a:ea typeface="DM Sans"/>
              <a:cs typeface="DM Sans"/>
              <a:sym typeface="DM Sans"/>
            </a:endParaRPr>
          </a:p>
        </p:txBody>
      </p:sp>
      <p:cxnSp>
        <p:nvCxnSpPr>
          <p:cNvPr id="1932" name="Google Shape;1932;p93"/>
          <p:cNvCxnSpPr>
            <a:stCxn id="1920" idx="3"/>
            <a:endCxn id="1931" idx="1"/>
          </p:cNvCxnSpPr>
          <p:nvPr/>
        </p:nvCxnSpPr>
        <p:spPr>
          <a:xfrm flipH="1" rot="10800000">
            <a:off x="5054630" y="3527839"/>
            <a:ext cx="791400" cy="834000"/>
          </a:xfrm>
          <a:prstGeom prst="curvedConnector3">
            <a:avLst>
              <a:gd fmla="val 50002" name="adj1"/>
            </a:avLst>
          </a:prstGeom>
          <a:noFill/>
          <a:ln cap="flat" cmpd="sng" w="9525">
            <a:solidFill>
              <a:srgbClr val="000000"/>
            </a:solidFill>
            <a:prstDash val="solid"/>
            <a:round/>
            <a:headEnd len="med" w="med" type="none"/>
            <a:tailEnd len="med" w="med" type="triangle"/>
          </a:ln>
        </p:spPr>
      </p:cxnSp>
      <p:cxnSp>
        <p:nvCxnSpPr>
          <p:cNvPr id="1933" name="Google Shape;1933;p93"/>
          <p:cNvCxnSpPr>
            <a:endCxn id="1934" idx="1"/>
          </p:cNvCxnSpPr>
          <p:nvPr/>
        </p:nvCxnSpPr>
        <p:spPr>
          <a:xfrm>
            <a:off x="5061078" y="20033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34" name="Google Shape;1934;p93"/>
          <p:cNvSpPr/>
          <p:nvPr/>
        </p:nvSpPr>
        <p:spPr>
          <a:xfrm>
            <a:off x="5739978" y="17712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&lt;mnt_name&gt;</a:t>
            </a:r>
            <a:endParaRPr sz="1300">
              <a:latin typeface="DM Sans"/>
              <a:ea typeface="DM Sans"/>
              <a:cs typeface="DM Sans"/>
              <a:sym typeface="DM Sans"/>
            </a:endParaRPr>
          </a:p>
        </p:txBody>
      </p:sp>
      <p:sp>
        <p:nvSpPr>
          <p:cNvPr id="1915" name="Google Shape;1915;p93"/>
          <p:cNvSpPr/>
          <p:nvPr/>
        </p:nvSpPr>
        <p:spPr>
          <a:xfrm>
            <a:off x="3462615" y="2641406"/>
            <a:ext cx="1652700" cy="465900"/>
          </a:xfrm>
          <a:prstGeom prst="roundRect">
            <a:avLst>
              <a:gd fmla="val 16667" name="adj"/>
            </a:avLst>
          </a:prstGeom>
          <a:solidFill>
            <a:schemeClr val="lt1"/>
          </a:solidFill>
          <a:ln cap="flat" cmpd="sng" w="9525">
            <a:solidFill>
              <a:srgbClr val="1B5162"/>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DBFS root</a:t>
            </a:r>
            <a:endParaRPr sz="1300">
              <a:latin typeface="DM Sans"/>
              <a:ea typeface="DM Sans"/>
              <a:cs typeface="DM Sans"/>
              <a:sym typeface="DM Sans"/>
            </a:endParaRPr>
          </a:p>
        </p:txBody>
      </p:sp>
      <p:cxnSp>
        <p:nvCxnSpPr>
          <p:cNvPr id="1935" name="Google Shape;1935;p93"/>
          <p:cNvCxnSpPr>
            <a:endCxn id="1936" idx="1"/>
          </p:cNvCxnSpPr>
          <p:nvPr/>
        </p:nvCxnSpPr>
        <p:spPr>
          <a:xfrm>
            <a:off x="7498935" y="35268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36" name="Google Shape;1936;p93"/>
          <p:cNvSpPr/>
          <p:nvPr/>
        </p:nvSpPr>
        <p:spPr>
          <a:xfrm>
            <a:off x="8177835" y="32947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&lt;user_folder&gt;</a:t>
            </a:r>
            <a:endParaRPr sz="1300">
              <a:latin typeface="DM Sans"/>
              <a:ea typeface="DM Sans"/>
              <a:cs typeface="DM Sans"/>
              <a:sym typeface="DM Sans"/>
            </a:endParaRPr>
          </a:p>
        </p:txBody>
      </p:sp>
      <p:cxnSp>
        <p:nvCxnSpPr>
          <p:cNvPr id="1937" name="Google Shape;1937;p93"/>
          <p:cNvCxnSpPr>
            <a:endCxn id="1938" idx="1"/>
          </p:cNvCxnSpPr>
          <p:nvPr/>
        </p:nvCxnSpPr>
        <p:spPr>
          <a:xfrm>
            <a:off x="7498868" y="5045306"/>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38" name="Google Shape;1938;p93"/>
          <p:cNvSpPr/>
          <p:nvPr/>
        </p:nvSpPr>
        <p:spPr>
          <a:xfrm>
            <a:off x="8177768" y="4813256"/>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&lt;user_folder&gt;</a:t>
            </a:r>
            <a:endParaRPr sz="1300">
              <a:latin typeface="DM Sans"/>
              <a:ea typeface="DM Sans"/>
              <a:cs typeface="DM Sans"/>
              <a:sym typeface="DM Sans"/>
            </a:endParaRPr>
          </a:p>
        </p:txBody>
      </p:sp>
      <p:sp>
        <p:nvSpPr>
          <p:cNvPr id="1939" name="Google Shape;1939;p93"/>
          <p:cNvSpPr/>
          <p:nvPr/>
        </p:nvSpPr>
        <p:spPr>
          <a:xfrm>
            <a:off x="5679146" y="3048000"/>
            <a:ext cx="5612100" cy="26244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None/>
            </a:pPr>
            <a:r>
              <a:rPr lang="en" sz="1300">
                <a:solidFill>
                  <a:schemeClr val="dk1"/>
                </a:solidFill>
                <a:latin typeface="DM Sans"/>
                <a:ea typeface="DM Sans"/>
                <a:cs typeface="DM Sans"/>
                <a:sym typeface="DM Sans"/>
              </a:rPr>
              <a:t>Workspace files</a:t>
            </a:r>
            <a:endParaRPr sz="1300">
              <a:solidFill>
                <a:schemeClr val="dk1"/>
              </a:solidFill>
              <a:latin typeface="DM Sans"/>
              <a:ea typeface="DM Sans"/>
              <a:cs typeface="DM Sans"/>
              <a:sym typeface="DM Sans"/>
            </a:endParaRPr>
          </a:p>
        </p:txBody>
      </p:sp>
      <p:sp>
        <p:nvSpPr>
          <p:cNvPr id="1922" name="Google Shape;1922;p93"/>
          <p:cNvSpPr/>
          <p:nvPr/>
        </p:nvSpPr>
        <p:spPr>
          <a:xfrm>
            <a:off x="723686" y="41329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file:/</a:t>
            </a:r>
            <a:endParaRPr sz="1300">
              <a:latin typeface="DM Sans"/>
              <a:ea typeface="DM Sans"/>
              <a:cs typeface="DM Sans"/>
              <a:sym typeface="DM Sans"/>
            </a:endParaRPr>
          </a:p>
        </p:txBody>
      </p:sp>
      <p:sp>
        <p:nvSpPr>
          <p:cNvPr id="1940" name="Google Shape;1940;p93"/>
          <p:cNvSpPr/>
          <p:nvPr/>
        </p:nvSpPr>
        <p:spPr>
          <a:xfrm>
            <a:off x="3408145" y="58493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&lt;bucket_name&gt;</a:t>
            </a:r>
            <a:endParaRPr sz="1300">
              <a:latin typeface="DM Sans"/>
              <a:ea typeface="DM Sans"/>
              <a:cs typeface="DM Sans"/>
              <a:sym typeface="DM Sans"/>
            </a:endParaRPr>
          </a:p>
        </p:txBody>
      </p:sp>
      <p:cxnSp>
        <p:nvCxnSpPr>
          <p:cNvPr id="1941" name="Google Shape;1941;p93"/>
          <p:cNvCxnSpPr>
            <a:stCxn id="1942" idx="3"/>
            <a:endCxn id="1940" idx="1"/>
          </p:cNvCxnSpPr>
          <p:nvPr/>
        </p:nvCxnSpPr>
        <p:spPr>
          <a:xfrm>
            <a:off x="2523069" y="6082350"/>
            <a:ext cx="885000" cy="600"/>
          </a:xfrm>
          <a:prstGeom prst="curvedConnector3">
            <a:avLst>
              <a:gd fmla="val 49997" name="adj1"/>
            </a:avLst>
          </a:prstGeom>
          <a:noFill/>
          <a:ln cap="flat" cmpd="sng" w="9525">
            <a:solidFill>
              <a:srgbClr val="1B5162"/>
            </a:solidFill>
            <a:prstDash val="solid"/>
            <a:round/>
            <a:headEnd len="med" w="med" type="none"/>
            <a:tailEnd len="med" w="med" type="triangle"/>
          </a:ln>
        </p:spPr>
      </p:cxnSp>
      <p:sp>
        <p:nvSpPr>
          <p:cNvPr id="1942" name="Google Shape;1942;p93"/>
          <p:cNvSpPr/>
          <p:nvPr/>
        </p:nvSpPr>
        <p:spPr>
          <a:xfrm>
            <a:off x="723669" y="58494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s3://</a:t>
            </a:r>
            <a:endParaRPr sz="1300">
              <a:latin typeface="DM Sans"/>
              <a:ea typeface="DM Sans"/>
              <a:cs typeface="DM Sans"/>
              <a:sym typeface="DM San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94"/>
          <p:cNvSpPr/>
          <p:nvPr/>
        </p:nvSpPr>
        <p:spPr>
          <a:xfrm>
            <a:off x="3347444" y="9771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Volumes</a:t>
            </a:r>
            <a:endParaRPr sz="1300">
              <a:latin typeface="DM Sans"/>
              <a:ea typeface="DM Sans"/>
              <a:cs typeface="DM Sans"/>
              <a:sym typeface="DM Sans"/>
            </a:endParaRPr>
          </a:p>
        </p:txBody>
      </p:sp>
      <p:sp>
        <p:nvSpPr>
          <p:cNvPr id="1948" name="Google Shape;1948;p94"/>
          <p:cNvSpPr/>
          <p:nvPr/>
        </p:nvSpPr>
        <p:spPr>
          <a:xfrm>
            <a:off x="723686" y="16996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dbfs:/</a:t>
            </a:r>
            <a:endParaRPr sz="1300">
              <a:latin typeface="DM Sans"/>
              <a:ea typeface="DM Sans"/>
              <a:cs typeface="DM Sans"/>
              <a:sym typeface="DM Sans"/>
            </a:endParaRPr>
          </a:p>
        </p:txBody>
      </p:sp>
      <p:sp>
        <p:nvSpPr>
          <p:cNvPr id="1949" name="Google Shape;1949;p94"/>
          <p:cNvSpPr/>
          <p:nvPr/>
        </p:nvSpPr>
        <p:spPr>
          <a:xfrm>
            <a:off x="1489945" y="3729882"/>
            <a:ext cx="109500" cy="145200"/>
          </a:xfrm>
          <a:prstGeom prst="ellipse">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1900">
              <a:latin typeface="Barlow"/>
              <a:ea typeface="Barlow"/>
              <a:cs typeface="Barlow"/>
              <a:sym typeface="Barlow"/>
            </a:endParaRPr>
          </a:p>
        </p:txBody>
      </p:sp>
      <p:cxnSp>
        <p:nvCxnSpPr>
          <p:cNvPr id="1950" name="Google Shape;1950;p94"/>
          <p:cNvCxnSpPr>
            <a:stCxn id="1948" idx="3"/>
            <a:endCxn id="1947" idx="1"/>
          </p:cNvCxnSpPr>
          <p:nvPr/>
        </p:nvCxnSpPr>
        <p:spPr>
          <a:xfrm flipH="1" rot="10800000">
            <a:off x="2523086" y="1210150"/>
            <a:ext cx="824400" cy="722400"/>
          </a:xfrm>
          <a:prstGeom prst="curvedConnector3">
            <a:avLst>
              <a:gd fmla="val 50001" name="adj1"/>
            </a:avLst>
          </a:prstGeom>
          <a:noFill/>
          <a:ln cap="flat" cmpd="sng" w="9525">
            <a:solidFill>
              <a:srgbClr val="1B5162"/>
            </a:solidFill>
            <a:prstDash val="solid"/>
            <a:round/>
            <a:headEnd len="med" w="med" type="none"/>
            <a:tailEnd len="med" w="med" type="triangle"/>
          </a:ln>
        </p:spPr>
      </p:cxnSp>
      <p:cxnSp>
        <p:nvCxnSpPr>
          <p:cNvPr id="1951" name="Google Shape;1951;p94"/>
          <p:cNvCxnSpPr>
            <a:stCxn id="1947" idx="3"/>
            <a:endCxn id="1952" idx="1"/>
          </p:cNvCxnSpPr>
          <p:nvPr/>
        </p:nvCxnSpPr>
        <p:spPr>
          <a:xfrm>
            <a:off x="5000144" y="1210139"/>
            <a:ext cx="678900" cy="600"/>
          </a:xfrm>
          <a:prstGeom prst="curvedConnector3">
            <a:avLst>
              <a:gd fmla="val 50002" name="adj1"/>
            </a:avLst>
          </a:prstGeom>
          <a:noFill/>
          <a:ln cap="flat" cmpd="sng" w="9525">
            <a:solidFill>
              <a:srgbClr val="000000"/>
            </a:solidFill>
            <a:prstDash val="solid"/>
            <a:round/>
            <a:headEnd len="med" w="med" type="none"/>
            <a:tailEnd len="med" w="med" type="triangle"/>
          </a:ln>
        </p:spPr>
      </p:cxnSp>
      <p:cxnSp>
        <p:nvCxnSpPr>
          <p:cNvPr id="1953" name="Google Shape;1953;p94"/>
          <p:cNvCxnSpPr>
            <a:stCxn id="1948" idx="3"/>
            <a:endCxn id="1954" idx="1"/>
          </p:cNvCxnSpPr>
          <p:nvPr/>
        </p:nvCxnSpPr>
        <p:spPr>
          <a:xfrm>
            <a:off x="2523086" y="1932550"/>
            <a:ext cx="939600" cy="8655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55" name="Google Shape;1955;p94"/>
          <p:cNvSpPr txBox="1"/>
          <p:nvPr/>
        </p:nvSpPr>
        <p:spPr>
          <a:xfrm>
            <a:off x="313921" y="344633"/>
            <a:ext cx="10451100" cy="465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Clr>
                <a:schemeClr val="dk1"/>
              </a:buClr>
              <a:buSzPts val="1500"/>
              <a:buFont typeface="Arial"/>
              <a:buNone/>
            </a:pPr>
            <a:r>
              <a:rPr lang="en" sz="1900">
                <a:solidFill>
                  <a:schemeClr val="dk1"/>
                </a:solidFill>
                <a:latin typeface="DM Sans"/>
                <a:ea typeface="DM Sans"/>
                <a:cs typeface="DM Sans"/>
                <a:sym typeface="DM Sans"/>
              </a:rPr>
              <a:t>/_static/images/files/uri-paths-azure.png</a:t>
            </a:r>
            <a:endParaRPr sz="1900">
              <a:solidFill>
                <a:schemeClr val="dk1"/>
              </a:solidFill>
              <a:latin typeface="DM Sans"/>
              <a:ea typeface="DM Sans"/>
              <a:cs typeface="DM Sans"/>
              <a:sym typeface="DM Sans"/>
            </a:endParaRPr>
          </a:p>
          <a:p>
            <a:pPr indent="0" lvl="0" marL="0" rtl="0" algn="l">
              <a:spcBef>
                <a:spcPts val="0"/>
              </a:spcBef>
              <a:spcAft>
                <a:spcPts val="0"/>
              </a:spcAft>
              <a:buNone/>
            </a:pPr>
            <a:r>
              <a:t/>
            </a:r>
            <a:endParaRPr sz="1900">
              <a:latin typeface="DM Sans"/>
              <a:ea typeface="DM Sans"/>
              <a:cs typeface="DM Sans"/>
              <a:sym typeface="DM Sans"/>
            </a:endParaRPr>
          </a:p>
        </p:txBody>
      </p:sp>
      <p:sp>
        <p:nvSpPr>
          <p:cNvPr id="1956" name="Google Shape;1956;p94"/>
          <p:cNvSpPr/>
          <p:nvPr/>
        </p:nvSpPr>
        <p:spPr>
          <a:xfrm>
            <a:off x="3303907" y="1556867"/>
            <a:ext cx="5495100" cy="7317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None/>
            </a:pPr>
            <a:r>
              <a:rPr lang="en" sz="1300">
                <a:solidFill>
                  <a:schemeClr val="dk1"/>
                </a:solidFill>
                <a:latin typeface="DM Sans"/>
                <a:ea typeface="DM Sans"/>
                <a:cs typeface="DM Sans"/>
                <a:sym typeface="DM Sans"/>
              </a:rPr>
              <a:t>Mounts</a:t>
            </a:r>
            <a:endParaRPr sz="1900"/>
          </a:p>
        </p:txBody>
      </p:sp>
      <p:sp>
        <p:nvSpPr>
          <p:cNvPr id="1952" name="Google Shape;1952;p94"/>
          <p:cNvSpPr/>
          <p:nvPr/>
        </p:nvSpPr>
        <p:spPr>
          <a:xfrm>
            <a:off x="5679160" y="9771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&lt;catalog_name&gt;</a:t>
            </a:r>
            <a:endParaRPr sz="1300">
              <a:latin typeface="DM Sans"/>
              <a:ea typeface="DM Sans"/>
              <a:cs typeface="DM Sans"/>
              <a:sym typeface="DM Sans"/>
            </a:endParaRPr>
          </a:p>
        </p:txBody>
      </p:sp>
      <p:sp>
        <p:nvSpPr>
          <p:cNvPr id="1957" name="Google Shape;1957;p94"/>
          <p:cNvSpPr/>
          <p:nvPr/>
        </p:nvSpPr>
        <p:spPr>
          <a:xfrm>
            <a:off x="3408162" y="16995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mnt</a:t>
            </a:r>
            <a:endParaRPr sz="1300">
              <a:latin typeface="DM Sans"/>
              <a:ea typeface="DM Sans"/>
              <a:cs typeface="DM Sans"/>
              <a:sym typeface="DM Sans"/>
            </a:endParaRPr>
          </a:p>
        </p:txBody>
      </p:sp>
      <p:cxnSp>
        <p:nvCxnSpPr>
          <p:cNvPr id="1958" name="Google Shape;1958;p94"/>
          <p:cNvCxnSpPr>
            <a:stCxn id="1948" idx="3"/>
            <a:endCxn id="1957" idx="1"/>
          </p:cNvCxnSpPr>
          <p:nvPr/>
        </p:nvCxnSpPr>
        <p:spPr>
          <a:xfrm>
            <a:off x="2523086" y="1932550"/>
            <a:ext cx="885000" cy="600"/>
          </a:xfrm>
          <a:prstGeom prst="curvedConnector3">
            <a:avLst>
              <a:gd fmla="val 49999" name="adj1"/>
            </a:avLst>
          </a:prstGeom>
          <a:noFill/>
          <a:ln cap="flat" cmpd="sng" w="9525">
            <a:solidFill>
              <a:srgbClr val="000000"/>
            </a:solidFill>
            <a:prstDash val="solid"/>
            <a:round/>
            <a:headEnd len="med" w="med" type="none"/>
            <a:tailEnd len="med" w="med" type="triangle"/>
          </a:ln>
        </p:spPr>
      </p:cxnSp>
      <p:sp>
        <p:nvSpPr>
          <p:cNvPr id="1959" name="Google Shape;1959;p94"/>
          <p:cNvSpPr/>
          <p:nvPr/>
        </p:nvSpPr>
        <p:spPr>
          <a:xfrm>
            <a:off x="3401930" y="40526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Workspace</a:t>
            </a:r>
            <a:endParaRPr sz="1300">
              <a:latin typeface="DM Sans"/>
              <a:ea typeface="DM Sans"/>
              <a:cs typeface="DM Sans"/>
              <a:sym typeface="DM Sans"/>
            </a:endParaRPr>
          </a:p>
        </p:txBody>
      </p:sp>
      <p:cxnSp>
        <p:nvCxnSpPr>
          <p:cNvPr id="1960" name="Google Shape;1960;p94"/>
          <p:cNvCxnSpPr>
            <a:stCxn id="1961" idx="3"/>
            <a:endCxn id="1959" idx="1"/>
          </p:cNvCxnSpPr>
          <p:nvPr/>
        </p:nvCxnSpPr>
        <p:spPr>
          <a:xfrm flipH="1" rot="10800000">
            <a:off x="2523086" y="4285650"/>
            <a:ext cx="878700" cy="600"/>
          </a:xfrm>
          <a:prstGeom prst="curvedConnector3">
            <a:avLst>
              <a:gd fmla="val 50007" name="adj1"/>
            </a:avLst>
          </a:prstGeom>
          <a:noFill/>
          <a:ln cap="flat" cmpd="sng" w="9525">
            <a:solidFill>
              <a:srgbClr val="1B5162"/>
            </a:solidFill>
            <a:prstDash val="solid"/>
            <a:round/>
            <a:headEnd len="med" w="med" type="none"/>
            <a:tailEnd len="med" w="med" type="triangle"/>
          </a:ln>
        </p:spPr>
      </p:cxnSp>
      <p:cxnSp>
        <p:nvCxnSpPr>
          <p:cNvPr id="1962" name="Google Shape;1962;p94"/>
          <p:cNvCxnSpPr>
            <a:stCxn id="1952" idx="3"/>
            <a:endCxn id="1963" idx="1"/>
          </p:cNvCxnSpPr>
          <p:nvPr/>
        </p:nvCxnSpPr>
        <p:spPr>
          <a:xfrm>
            <a:off x="7331860" y="1210139"/>
            <a:ext cx="678900" cy="600"/>
          </a:xfrm>
          <a:prstGeom prst="curvedConnector3">
            <a:avLst>
              <a:gd fmla="val 49993" name="adj1"/>
            </a:avLst>
          </a:prstGeom>
          <a:noFill/>
          <a:ln cap="flat" cmpd="sng" w="9525">
            <a:solidFill>
              <a:srgbClr val="000000"/>
            </a:solidFill>
            <a:prstDash val="solid"/>
            <a:round/>
            <a:headEnd len="med" w="med" type="none"/>
            <a:tailEnd len="med" w="med" type="triangle"/>
          </a:ln>
        </p:spPr>
      </p:cxnSp>
      <p:sp>
        <p:nvSpPr>
          <p:cNvPr id="1963" name="Google Shape;1963;p94"/>
          <p:cNvSpPr/>
          <p:nvPr/>
        </p:nvSpPr>
        <p:spPr>
          <a:xfrm>
            <a:off x="8010877" y="9771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&lt;schema_name&gt;</a:t>
            </a:r>
            <a:endParaRPr sz="1300">
              <a:latin typeface="DM Sans"/>
              <a:ea typeface="DM Sans"/>
              <a:cs typeface="DM Sans"/>
              <a:sym typeface="DM Sans"/>
            </a:endParaRPr>
          </a:p>
        </p:txBody>
      </p:sp>
      <p:cxnSp>
        <p:nvCxnSpPr>
          <p:cNvPr id="1964" name="Google Shape;1964;p94"/>
          <p:cNvCxnSpPr>
            <a:endCxn id="1965" idx="1"/>
          </p:cNvCxnSpPr>
          <p:nvPr/>
        </p:nvCxnSpPr>
        <p:spPr>
          <a:xfrm>
            <a:off x="9663793" y="12096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65" name="Google Shape;1965;p94"/>
          <p:cNvSpPr/>
          <p:nvPr/>
        </p:nvSpPr>
        <p:spPr>
          <a:xfrm>
            <a:off x="10342693" y="9775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&lt;volume_name&gt;</a:t>
            </a:r>
            <a:endParaRPr sz="1300">
              <a:latin typeface="DM Sans"/>
              <a:ea typeface="DM Sans"/>
              <a:cs typeface="DM Sans"/>
              <a:sym typeface="DM Sans"/>
            </a:endParaRPr>
          </a:p>
        </p:txBody>
      </p:sp>
      <p:cxnSp>
        <p:nvCxnSpPr>
          <p:cNvPr id="1966" name="Google Shape;1966;p94"/>
          <p:cNvCxnSpPr>
            <a:endCxn id="1967" idx="1"/>
          </p:cNvCxnSpPr>
          <p:nvPr/>
        </p:nvCxnSpPr>
        <p:spPr>
          <a:xfrm>
            <a:off x="5054752" y="4286923"/>
            <a:ext cx="791400" cy="683100"/>
          </a:xfrm>
          <a:prstGeom prst="curvedConnector3">
            <a:avLst>
              <a:gd fmla="val 50000" name="adj1"/>
            </a:avLst>
          </a:prstGeom>
          <a:noFill/>
          <a:ln cap="flat" cmpd="sng" w="9525">
            <a:solidFill>
              <a:srgbClr val="000000"/>
            </a:solidFill>
            <a:prstDash val="solid"/>
            <a:round/>
            <a:headEnd len="med" w="med" type="none"/>
            <a:tailEnd len="med" w="med" type="triangle"/>
          </a:ln>
        </p:spPr>
      </p:cxnSp>
      <p:cxnSp>
        <p:nvCxnSpPr>
          <p:cNvPr id="1968" name="Google Shape;1968;p94"/>
          <p:cNvCxnSpPr>
            <a:endCxn id="1969" idx="1"/>
          </p:cNvCxnSpPr>
          <p:nvPr/>
        </p:nvCxnSpPr>
        <p:spPr>
          <a:xfrm>
            <a:off x="5054735" y="4285939"/>
            <a:ext cx="7914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70" name="Google Shape;1970;p94"/>
          <p:cNvSpPr/>
          <p:nvPr/>
        </p:nvSpPr>
        <p:spPr>
          <a:xfrm>
            <a:off x="5846152" y="32185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Users</a:t>
            </a:r>
            <a:endParaRPr sz="1300">
              <a:latin typeface="DM Sans"/>
              <a:ea typeface="DM Sans"/>
              <a:cs typeface="DM Sans"/>
              <a:sym typeface="DM Sans"/>
            </a:endParaRPr>
          </a:p>
        </p:txBody>
      </p:sp>
      <p:sp>
        <p:nvSpPr>
          <p:cNvPr id="1969" name="Google Shape;1969;p94"/>
          <p:cNvSpPr/>
          <p:nvPr/>
        </p:nvSpPr>
        <p:spPr>
          <a:xfrm>
            <a:off x="5846135" y="4053889"/>
            <a:ext cx="1652700" cy="4659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a:ea typeface="DM Sans"/>
                <a:cs typeface="DM Sans"/>
                <a:sym typeface="DM Sans"/>
              </a:rPr>
              <a:t>Shared</a:t>
            </a:r>
            <a:endParaRPr sz="1200">
              <a:latin typeface="DM Sans"/>
              <a:ea typeface="DM Sans"/>
              <a:cs typeface="DM Sans"/>
              <a:sym typeface="DM Sans"/>
            </a:endParaRPr>
          </a:p>
        </p:txBody>
      </p:sp>
      <p:sp>
        <p:nvSpPr>
          <p:cNvPr id="1967" name="Google Shape;1967;p94"/>
          <p:cNvSpPr/>
          <p:nvPr/>
        </p:nvSpPr>
        <p:spPr>
          <a:xfrm>
            <a:off x="5846152" y="4737073"/>
            <a:ext cx="1652700" cy="4659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Repos</a:t>
            </a:r>
            <a:endParaRPr sz="1300">
              <a:latin typeface="DM Sans"/>
              <a:ea typeface="DM Sans"/>
              <a:cs typeface="DM Sans"/>
              <a:sym typeface="DM Sans"/>
            </a:endParaRPr>
          </a:p>
        </p:txBody>
      </p:sp>
      <p:cxnSp>
        <p:nvCxnSpPr>
          <p:cNvPr id="1971" name="Google Shape;1971;p94"/>
          <p:cNvCxnSpPr>
            <a:stCxn id="1959" idx="3"/>
            <a:endCxn id="1970" idx="1"/>
          </p:cNvCxnSpPr>
          <p:nvPr/>
        </p:nvCxnSpPr>
        <p:spPr>
          <a:xfrm flipH="1" rot="10800000">
            <a:off x="5054630" y="3451639"/>
            <a:ext cx="791400" cy="834000"/>
          </a:xfrm>
          <a:prstGeom prst="curvedConnector3">
            <a:avLst>
              <a:gd fmla="val 50002" name="adj1"/>
            </a:avLst>
          </a:prstGeom>
          <a:noFill/>
          <a:ln cap="flat" cmpd="sng" w="9525">
            <a:solidFill>
              <a:srgbClr val="000000"/>
            </a:solidFill>
            <a:prstDash val="solid"/>
            <a:round/>
            <a:headEnd len="med" w="med" type="none"/>
            <a:tailEnd len="med" w="med" type="triangle"/>
          </a:ln>
        </p:spPr>
      </p:cxnSp>
      <p:cxnSp>
        <p:nvCxnSpPr>
          <p:cNvPr id="1972" name="Google Shape;1972;p94"/>
          <p:cNvCxnSpPr>
            <a:endCxn id="1973" idx="1"/>
          </p:cNvCxnSpPr>
          <p:nvPr/>
        </p:nvCxnSpPr>
        <p:spPr>
          <a:xfrm>
            <a:off x="5061078" y="19271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73" name="Google Shape;1973;p94"/>
          <p:cNvSpPr/>
          <p:nvPr/>
        </p:nvSpPr>
        <p:spPr>
          <a:xfrm>
            <a:off x="5739978" y="16950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&lt;mnt_name&gt;</a:t>
            </a:r>
            <a:endParaRPr sz="1300">
              <a:latin typeface="DM Sans"/>
              <a:ea typeface="DM Sans"/>
              <a:cs typeface="DM Sans"/>
              <a:sym typeface="DM Sans"/>
            </a:endParaRPr>
          </a:p>
        </p:txBody>
      </p:sp>
      <p:sp>
        <p:nvSpPr>
          <p:cNvPr id="1954" name="Google Shape;1954;p94"/>
          <p:cNvSpPr/>
          <p:nvPr/>
        </p:nvSpPr>
        <p:spPr>
          <a:xfrm>
            <a:off x="3462615" y="2565206"/>
            <a:ext cx="1652700" cy="465900"/>
          </a:xfrm>
          <a:prstGeom prst="roundRect">
            <a:avLst>
              <a:gd fmla="val 16667" name="adj"/>
            </a:avLst>
          </a:prstGeom>
          <a:solidFill>
            <a:schemeClr val="lt1"/>
          </a:solidFill>
          <a:ln cap="flat" cmpd="sng" w="9525">
            <a:solidFill>
              <a:srgbClr val="1B5162"/>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DBFS root</a:t>
            </a:r>
            <a:endParaRPr sz="1300">
              <a:latin typeface="DM Sans"/>
              <a:ea typeface="DM Sans"/>
              <a:cs typeface="DM Sans"/>
              <a:sym typeface="DM Sans"/>
            </a:endParaRPr>
          </a:p>
        </p:txBody>
      </p:sp>
      <p:cxnSp>
        <p:nvCxnSpPr>
          <p:cNvPr id="1974" name="Google Shape;1974;p94"/>
          <p:cNvCxnSpPr>
            <a:endCxn id="1975" idx="1"/>
          </p:cNvCxnSpPr>
          <p:nvPr/>
        </p:nvCxnSpPr>
        <p:spPr>
          <a:xfrm>
            <a:off x="7498935" y="34506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75" name="Google Shape;1975;p94"/>
          <p:cNvSpPr/>
          <p:nvPr/>
        </p:nvSpPr>
        <p:spPr>
          <a:xfrm>
            <a:off x="8177835" y="32185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&lt;user_folder&gt;</a:t>
            </a:r>
            <a:endParaRPr sz="1300">
              <a:latin typeface="DM Sans"/>
              <a:ea typeface="DM Sans"/>
              <a:cs typeface="DM Sans"/>
              <a:sym typeface="DM Sans"/>
            </a:endParaRPr>
          </a:p>
        </p:txBody>
      </p:sp>
      <p:cxnSp>
        <p:nvCxnSpPr>
          <p:cNvPr id="1976" name="Google Shape;1976;p94"/>
          <p:cNvCxnSpPr>
            <a:endCxn id="1977" idx="1"/>
          </p:cNvCxnSpPr>
          <p:nvPr/>
        </p:nvCxnSpPr>
        <p:spPr>
          <a:xfrm>
            <a:off x="7498868" y="4969106"/>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77" name="Google Shape;1977;p94"/>
          <p:cNvSpPr/>
          <p:nvPr/>
        </p:nvSpPr>
        <p:spPr>
          <a:xfrm>
            <a:off x="8177768" y="4737056"/>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&lt;user_folder&gt;</a:t>
            </a:r>
            <a:endParaRPr sz="1300">
              <a:latin typeface="DM Sans"/>
              <a:ea typeface="DM Sans"/>
              <a:cs typeface="DM Sans"/>
              <a:sym typeface="DM Sans"/>
            </a:endParaRPr>
          </a:p>
        </p:txBody>
      </p:sp>
      <p:sp>
        <p:nvSpPr>
          <p:cNvPr id="1978" name="Google Shape;1978;p94"/>
          <p:cNvSpPr/>
          <p:nvPr/>
        </p:nvSpPr>
        <p:spPr>
          <a:xfrm>
            <a:off x="5679146" y="2971800"/>
            <a:ext cx="5612100" cy="26244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None/>
            </a:pPr>
            <a:r>
              <a:rPr lang="en" sz="1300">
                <a:solidFill>
                  <a:schemeClr val="dk1"/>
                </a:solidFill>
                <a:latin typeface="DM Sans"/>
                <a:ea typeface="DM Sans"/>
                <a:cs typeface="DM Sans"/>
                <a:sym typeface="DM Sans"/>
              </a:rPr>
              <a:t>Workspace files</a:t>
            </a:r>
            <a:endParaRPr sz="1300">
              <a:solidFill>
                <a:schemeClr val="dk1"/>
              </a:solidFill>
              <a:latin typeface="DM Sans"/>
              <a:ea typeface="DM Sans"/>
              <a:cs typeface="DM Sans"/>
              <a:sym typeface="DM Sans"/>
            </a:endParaRPr>
          </a:p>
        </p:txBody>
      </p:sp>
      <p:sp>
        <p:nvSpPr>
          <p:cNvPr id="1961" name="Google Shape;1961;p94"/>
          <p:cNvSpPr/>
          <p:nvPr/>
        </p:nvSpPr>
        <p:spPr>
          <a:xfrm>
            <a:off x="723686" y="40533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file:/</a:t>
            </a:r>
            <a:endParaRPr sz="1300">
              <a:latin typeface="DM Sans"/>
              <a:ea typeface="DM Sans"/>
              <a:cs typeface="DM Sans"/>
              <a:sym typeface="DM Sans"/>
            </a:endParaRPr>
          </a:p>
        </p:txBody>
      </p:sp>
      <p:sp>
        <p:nvSpPr>
          <p:cNvPr id="1979" name="Google Shape;1979;p94"/>
          <p:cNvSpPr/>
          <p:nvPr/>
        </p:nvSpPr>
        <p:spPr>
          <a:xfrm>
            <a:off x="3408214" y="5773200"/>
            <a:ext cx="59082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&lt;container_name&gt;@&lt;storage_account_name&gt;.dfs.core.windows.net</a:t>
            </a:r>
            <a:endParaRPr sz="1300">
              <a:latin typeface="DM Sans"/>
              <a:ea typeface="DM Sans"/>
              <a:cs typeface="DM Sans"/>
              <a:sym typeface="DM Sans"/>
            </a:endParaRPr>
          </a:p>
        </p:txBody>
      </p:sp>
      <p:cxnSp>
        <p:nvCxnSpPr>
          <p:cNvPr id="1980" name="Google Shape;1980;p94"/>
          <p:cNvCxnSpPr>
            <a:stCxn id="1981" idx="3"/>
            <a:endCxn id="1979" idx="1"/>
          </p:cNvCxnSpPr>
          <p:nvPr/>
        </p:nvCxnSpPr>
        <p:spPr>
          <a:xfrm>
            <a:off x="2523069" y="6006150"/>
            <a:ext cx="885000" cy="600"/>
          </a:xfrm>
          <a:prstGeom prst="curvedConnector3">
            <a:avLst>
              <a:gd fmla="val 50001" name="adj1"/>
            </a:avLst>
          </a:prstGeom>
          <a:noFill/>
          <a:ln cap="flat" cmpd="sng" w="9525">
            <a:solidFill>
              <a:srgbClr val="1B5162"/>
            </a:solidFill>
            <a:prstDash val="solid"/>
            <a:round/>
            <a:headEnd len="med" w="med" type="none"/>
            <a:tailEnd len="med" w="med" type="triangle"/>
          </a:ln>
        </p:spPr>
      </p:cxnSp>
      <p:sp>
        <p:nvSpPr>
          <p:cNvPr id="1981" name="Google Shape;1981;p94"/>
          <p:cNvSpPr/>
          <p:nvPr/>
        </p:nvSpPr>
        <p:spPr>
          <a:xfrm>
            <a:off x="723669" y="57732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abfss://</a:t>
            </a:r>
            <a:endParaRPr sz="1300">
              <a:latin typeface="DM Sans"/>
              <a:ea typeface="DM Sans"/>
              <a:cs typeface="DM Sans"/>
              <a:sym typeface="DM San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5" name="Shape 1985"/>
        <p:cNvGrpSpPr/>
        <p:nvPr/>
      </p:nvGrpSpPr>
      <p:grpSpPr>
        <a:xfrm>
          <a:off x="0" y="0"/>
          <a:ext cx="0" cy="0"/>
          <a:chOff x="0" y="0"/>
          <a:chExt cx="0" cy="0"/>
        </a:xfrm>
      </p:grpSpPr>
      <p:sp>
        <p:nvSpPr>
          <p:cNvPr id="1986" name="Google Shape;1986;p95"/>
          <p:cNvSpPr/>
          <p:nvPr/>
        </p:nvSpPr>
        <p:spPr>
          <a:xfrm>
            <a:off x="3347444" y="11295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Volumes</a:t>
            </a:r>
            <a:endParaRPr sz="1300">
              <a:latin typeface="DM Sans"/>
              <a:ea typeface="DM Sans"/>
              <a:cs typeface="DM Sans"/>
              <a:sym typeface="DM Sans"/>
            </a:endParaRPr>
          </a:p>
        </p:txBody>
      </p:sp>
      <p:sp>
        <p:nvSpPr>
          <p:cNvPr id="1987" name="Google Shape;1987;p95"/>
          <p:cNvSpPr/>
          <p:nvPr/>
        </p:nvSpPr>
        <p:spPr>
          <a:xfrm>
            <a:off x="723686" y="18520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dbfs:/</a:t>
            </a:r>
            <a:endParaRPr sz="1300">
              <a:latin typeface="DM Sans"/>
              <a:ea typeface="DM Sans"/>
              <a:cs typeface="DM Sans"/>
              <a:sym typeface="DM Sans"/>
            </a:endParaRPr>
          </a:p>
        </p:txBody>
      </p:sp>
      <p:sp>
        <p:nvSpPr>
          <p:cNvPr id="1988" name="Google Shape;1988;p95"/>
          <p:cNvSpPr/>
          <p:nvPr/>
        </p:nvSpPr>
        <p:spPr>
          <a:xfrm>
            <a:off x="1489945" y="3882282"/>
            <a:ext cx="109500" cy="145200"/>
          </a:xfrm>
          <a:prstGeom prst="ellipse">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1900">
              <a:latin typeface="Barlow"/>
              <a:ea typeface="Barlow"/>
              <a:cs typeface="Barlow"/>
              <a:sym typeface="Barlow"/>
            </a:endParaRPr>
          </a:p>
        </p:txBody>
      </p:sp>
      <p:cxnSp>
        <p:nvCxnSpPr>
          <p:cNvPr id="1989" name="Google Shape;1989;p95"/>
          <p:cNvCxnSpPr>
            <a:stCxn id="1987" idx="3"/>
            <a:endCxn id="1986" idx="1"/>
          </p:cNvCxnSpPr>
          <p:nvPr/>
        </p:nvCxnSpPr>
        <p:spPr>
          <a:xfrm flipH="1" rot="10800000">
            <a:off x="2523086" y="1362550"/>
            <a:ext cx="824400" cy="722400"/>
          </a:xfrm>
          <a:prstGeom prst="curvedConnector3">
            <a:avLst>
              <a:gd fmla="val 50001" name="adj1"/>
            </a:avLst>
          </a:prstGeom>
          <a:noFill/>
          <a:ln cap="flat" cmpd="sng" w="9525">
            <a:solidFill>
              <a:srgbClr val="1B5162"/>
            </a:solidFill>
            <a:prstDash val="solid"/>
            <a:round/>
            <a:headEnd len="med" w="med" type="none"/>
            <a:tailEnd len="med" w="med" type="triangle"/>
          </a:ln>
        </p:spPr>
      </p:cxnSp>
      <p:cxnSp>
        <p:nvCxnSpPr>
          <p:cNvPr id="1990" name="Google Shape;1990;p95"/>
          <p:cNvCxnSpPr>
            <a:stCxn id="1986" idx="3"/>
            <a:endCxn id="1991" idx="1"/>
          </p:cNvCxnSpPr>
          <p:nvPr/>
        </p:nvCxnSpPr>
        <p:spPr>
          <a:xfrm>
            <a:off x="5000144" y="1362539"/>
            <a:ext cx="678900" cy="600"/>
          </a:xfrm>
          <a:prstGeom prst="curvedConnector3">
            <a:avLst>
              <a:gd fmla="val 50002" name="adj1"/>
            </a:avLst>
          </a:prstGeom>
          <a:noFill/>
          <a:ln cap="flat" cmpd="sng" w="9525">
            <a:solidFill>
              <a:srgbClr val="000000"/>
            </a:solidFill>
            <a:prstDash val="solid"/>
            <a:round/>
            <a:headEnd len="med" w="med" type="none"/>
            <a:tailEnd len="med" w="med" type="triangle"/>
          </a:ln>
        </p:spPr>
      </p:cxnSp>
      <p:cxnSp>
        <p:nvCxnSpPr>
          <p:cNvPr id="1992" name="Google Shape;1992;p95"/>
          <p:cNvCxnSpPr>
            <a:stCxn id="1987" idx="3"/>
            <a:endCxn id="1993" idx="1"/>
          </p:cNvCxnSpPr>
          <p:nvPr/>
        </p:nvCxnSpPr>
        <p:spPr>
          <a:xfrm>
            <a:off x="2523086" y="2084950"/>
            <a:ext cx="939600" cy="8655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1994" name="Google Shape;1994;p95"/>
          <p:cNvSpPr txBox="1"/>
          <p:nvPr/>
        </p:nvSpPr>
        <p:spPr>
          <a:xfrm>
            <a:off x="313921" y="344633"/>
            <a:ext cx="10451100" cy="465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Clr>
                <a:schemeClr val="dk1"/>
              </a:buClr>
              <a:buSzPts val="1500"/>
              <a:buFont typeface="Arial"/>
              <a:buNone/>
            </a:pPr>
            <a:r>
              <a:rPr lang="en" sz="1900">
                <a:solidFill>
                  <a:schemeClr val="dk1"/>
                </a:solidFill>
                <a:latin typeface="DM Sans"/>
                <a:ea typeface="DM Sans"/>
                <a:cs typeface="DM Sans"/>
                <a:sym typeface="DM Sans"/>
              </a:rPr>
              <a:t>/_static/images/files/uri-paths-gcp.png</a:t>
            </a:r>
            <a:endParaRPr sz="1900">
              <a:solidFill>
                <a:schemeClr val="dk1"/>
              </a:solidFill>
              <a:latin typeface="DM Sans"/>
              <a:ea typeface="DM Sans"/>
              <a:cs typeface="DM Sans"/>
              <a:sym typeface="DM Sans"/>
            </a:endParaRPr>
          </a:p>
        </p:txBody>
      </p:sp>
      <p:sp>
        <p:nvSpPr>
          <p:cNvPr id="1995" name="Google Shape;1995;p95"/>
          <p:cNvSpPr/>
          <p:nvPr/>
        </p:nvSpPr>
        <p:spPr>
          <a:xfrm>
            <a:off x="3303907" y="1709267"/>
            <a:ext cx="5495100" cy="7317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None/>
            </a:pPr>
            <a:r>
              <a:rPr lang="en" sz="1300">
                <a:solidFill>
                  <a:schemeClr val="dk1"/>
                </a:solidFill>
                <a:latin typeface="DM Sans"/>
                <a:ea typeface="DM Sans"/>
                <a:cs typeface="DM Sans"/>
                <a:sym typeface="DM Sans"/>
              </a:rPr>
              <a:t>Mounts</a:t>
            </a:r>
            <a:endParaRPr sz="1900"/>
          </a:p>
        </p:txBody>
      </p:sp>
      <p:sp>
        <p:nvSpPr>
          <p:cNvPr id="1991" name="Google Shape;1991;p95"/>
          <p:cNvSpPr/>
          <p:nvPr/>
        </p:nvSpPr>
        <p:spPr>
          <a:xfrm>
            <a:off x="5679160" y="11295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&lt;catalog_name&gt;</a:t>
            </a:r>
            <a:endParaRPr sz="1300">
              <a:latin typeface="DM Sans"/>
              <a:ea typeface="DM Sans"/>
              <a:cs typeface="DM Sans"/>
              <a:sym typeface="DM Sans"/>
            </a:endParaRPr>
          </a:p>
        </p:txBody>
      </p:sp>
      <p:sp>
        <p:nvSpPr>
          <p:cNvPr id="1996" name="Google Shape;1996;p95"/>
          <p:cNvSpPr/>
          <p:nvPr/>
        </p:nvSpPr>
        <p:spPr>
          <a:xfrm>
            <a:off x="3408162" y="18519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mnt</a:t>
            </a:r>
            <a:endParaRPr sz="1300">
              <a:latin typeface="DM Sans"/>
              <a:ea typeface="DM Sans"/>
              <a:cs typeface="DM Sans"/>
              <a:sym typeface="DM Sans"/>
            </a:endParaRPr>
          </a:p>
        </p:txBody>
      </p:sp>
      <p:cxnSp>
        <p:nvCxnSpPr>
          <p:cNvPr id="1997" name="Google Shape;1997;p95"/>
          <p:cNvCxnSpPr>
            <a:stCxn id="1987" idx="3"/>
            <a:endCxn id="1996" idx="1"/>
          </p:cNvCxnSpPr>
          <p:nvPr/>
        </p:nvCxnSpPr>
        <p:spPr>
          <a:xfrm>
            <a:off x="2523086" y="2084950"/>
            <a:ext cx="885000" cy="600"/>
          </a:xfrm>
          <a:prstGeom prst="curvedConnector3">
            <a:avLst>
              <a:gd fmla="val 49999" name="adj1"/>
            </a:avLst>
          </a:prstGeom>
          <a:noFill/>
          <a:ln cap="flat" cmpd="sng" w="9525">
            <a:solidFill>
              <a:srgbClr val="000000"/>
            </a:solidFill>
            <a:prstDash val="solid"/>
            <a:round/>
            <a:headEnd len="med" w="med" type="none"/>
            <a:tailEnd len="med" w="med" type="triangle"/>
          </a:ln>
        </p:spPr>
      </p:cxnSp>
      <p:sp>
        <p:nvSpPr>
          <p:cNvPr id="1998" name="Google Shape;1998;p95"/>
          <p:cNvSpPr/>
          <p:nvPr/>
        </p:nvSpPr>
        <p:spPr>
          <a:xfrm>
            <a:off x="3401930" y="42050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Workspace</a:t>
            </a:r>
            <a:endParaRPr sz="1300">
              <a:latin typeface="DM Sans"/>
              <a:ea typeface="DM Sans"/>
              <a:cs typeface="DM Sans"/>
              <a:sym typeface="DM Sans"/>
            </a:endParaRPr>
          </a:p>
        </p:txBody>
      </p:sp>
      <p:cxnSp>
        <p:nvCxnSpPr>
          <p:cNvPr id="1999" name="Google Shape;1999;p95"/>
          <p:cNvCxnSpPr>
            <a:stCxn id="2000" idx="3"/>
            <a:endCxn id="1998" idx="1"/>
          </p:cNvCxnSpPr>
          <p:nvPr/>
        </p:nvCxnSpPr>
        <p:spPr>
          <a:xfrm>
            <a:off x="2523086" y="4438050"/>
            <a:ext cx="878700" cy="600"/>
          </a:xfrm>
          <a:prstGeom prst="curvedConnector3">
            <a:avLst>
              <a:gd fmla="val 50007" name="adj1"/>
            </a:avLst>
          </a:prstGeom>
          <a:noFill/>
          <a:ln cap="flat" cmpd="sng" w="9525">
            <a:solidFill>
              <a:srgbClr val="1B5162"/>
            </a:solidFill>
            <a:prstDash val="solid"/>
            <a:round/>
            <a:headEnd len="med" w="med" type="none"/>
            <a:tailEnd len="med" w="med" type="triangle"/>
          </a:ln>
        </p:spPr>
      </p:cxnSp>
      <p:cxnSp>
        <p:nvCxnSpPr>
          <p:cNvPr id="2001" name="Google Shape;2001;p95"/>
          <p:cNvCxnSpPr>
            <a:stCxn id="1991" idx="3"/>
            <a:endCxn id="2002" idx="1"/>
          </p:cNvCxnSpPr>
          <p:nvPr/>
        </p:nvCxnSpPr>
        <p:spPr>
          <a:xfrm>
            <a:off x="7331860" y="1362539"/>
            <a:ext cx="678900" cy="600"/>
          </a:xfrm>
          <a:prstGeom prst="curvedConnector3">
            <a:avLst>
              <a:gd fmla="val 49993" name="adj1"/>
            </a:avLst>
          </a:prstGeom>
          <a:noFill/>
          <a:ln cap="flat" cmpd="sng" w="9525">
            <a:solidFill>
              <a:srgbClr val="000000"/>
            </a:solidFill>
            <a:prstDash val="solid"/>
            <a:round/>
            <a:headEnd len="med" w="med" type="none"/>
            <a:tailEnd len="med" w="med" type="triangle"/>
          </a:ln>
        </p:spPr>
      </p:cxnSp>
      <p:sp>
        <p:nvSpPr>
          <p:cNvPr id="2002" name="Google Shape;2002;p95"/>
          <p:cNvSpPr/>
          <p:nvPr/>
        </p:nvSpPr>
        <p:spPr>
          <a:xfrm>
            <a:off x="8010877" y="11295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&lt;schema_name&gt;</a:t>
            </a:r>
            <a:endParaRPr sz="1300">
              <a:latin typeface="DM Sans"/>
              <a:ea typeface="DM Sans"/>
              <a:cs typeface="DM Sans"/>
              <a:sym typeface="DM Sans"/>
            </a:endParaRPr>
          </a:p>
        </p:txBody>
      </p:sp>
      <p:cxnSp>
        <p:nvCxnSpPr>
          <p:cNvPr id="2003" name="Google Shape;2003;p95"/>
          <p:cNvCxnSpPr>
            <a:endCxn id="2004" idx="1"/>
          </p:cNvCxnSpPr>
          <p:nvPr/>
        </p:nvCxnSpPr>
        <p:spPr>
          <a:xfrm>
            <a:off x="9663793" y="13620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2004" name="Google Shape;2004;p95"/>
          <p:cNvSpPr/>
          <p:nvPr/>
        </p:nvSpPr>
        <p:spPr>
          <a:xfrm>
            <a:off x="10342693" y="11299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&lt;volume_name&gt;</a:t>
            </a:r>
            <a:endParaRPr sz="1300">
              <a:latin typeface="DM Sans"/>
              <a:ea typeface="DM Sans"/>
              <a:cs typeface="DM Sans"/>
              <a:sym typeface="DM Sans"/>
            </a:endParaRPr>
          </a:p>
        </p:txBody>
      </p:sp>
      <p:cxnSp>
        <p:nvCxnSpPr>
          <p:cNvPr id="2005" name="Google Shape;2005;p95"/>
          <p:cNvCxnSpPr>
            <a:endCxn id="2006" idx="1"/>
          </p:cNvCxnSpPr>
          <p:nvPr/>
        </p:nvCxnSpPr>
        <p:spPr>
          <a:xfrm>
            <a:off x="5054752" y="4439323"/>
            <a:ext cx="791400" cy="683100"/>
          </a:xfrm>
          <a:prstGeom prst="curvedConnector3">
            <a:avLst>
              <a:gd fmla="val 50000" name="adj1"/>
            </a:avLst>
          </a:prstGeom>
          <a:noFill/>
          <a:ln cap="flat" cmpd="sng" w="9525">
            <a:solidFill>
              <a:srgbClr val="000000"/>
            </a:solidFill>
            <a:prstDash val="solid"/>
            <a:round/>
            <a:headEnd len="med" w="med" type="none"/>
            <a:tailEnd len="med" w="med" type="triangle"/>
          </a:ln>
        </p:spPr>
      </p:cxnSp>
      <p:cxnSp>
        <p:nvCxnSpPr>
          <p:cNvPr id="2007" name="Google Shape;2007;p95"/>
          <p:cNvCxnSpPr>
            <a:endCxn id="2008" idx="1"/>
          </p:cNvCxnSpPr>
          <p:nvPr/>
        </p:nvCxnSpPr>
        <p:spPr>
          <a:xfrm>
            <a:off x="5054735" y="4438339"/>
            <a:ext cx="7914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2009" name="Google Shape;2009;p95"/>
          <p:cNvSpPr/>
          <p:nvPr/>
        </p:nvSpPr>
        <p:spPr>
          <a:xfrm>
            <a:off x="5846152" y="33709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Users</a:t>
            </a:r>
            <a:endParaRPr sz="1300">
              <a:latin typeface="DM Sans"/>
              <a:ea typeface="DM Sans"/>
              <a:cs typeface="DM Sans"/>
              <a:sym typeface="DM Sans"/>
            </a:endParaRPr>
          </a:p>
        </p:txBody>
      </p:sp>
      <p:sp>
        <p:nvSpPr>
          <p:cNvPr id="2008" name="Google Shape;2008;p95"/>
          <p:cNvSpPr/>
          <p:nvPr/>
        </p:nvSpPr>
        <p:spPr>
          <a:xfrm>
            <a:off x="5846135" y="4206289"/>
            <a:ext cx="1652700" cy="4659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a:ea typeface="DM Sans"/>
                <a:cs typeface="DM Sans"/>
                <a:sym typeface="DM Sans"/>
              </a:rPr>
              <a:t>Shared</a:t>
            </a:r>
            <a:endParaRPr sz="1200">
              <a:latin typeface="DM Sans"/>
              <a:ea typeface="DM Sans"/>
              <a:cs typeface="DM Sans"/>
              <a:sym typeface="DM Sans"/>
            </a:endParaRPr>
          </a:p>
        </p:txBody>
      </p:sp>
      <p:sp>
        <p:nvSpPr>
          <p:cNvPr id="2006" name="Google Shape;2006;p95"/>
          <p:cNvSpPr/>
          <p:nvPr/>
        </p:nvSpPr>
        <p:spPr>
          <a:xfrm>
            <a:off x="5846152" y="4889473"/>
            <a:ext cx="1652700" cy="4659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Repos</a:t>
            </a:r>
            <a:endParaRPr sz="1300">
              <a:latin typeface="DM Sans"/>
              <a:ea typeface="DM Sans"/>
              <a:cs typeface="DM Sans"/>
              <a:sym typeface="DM Sans"/>
            </a:endParaRPr>
          </a:p>
        </p:txBody>
      </p:sp>
      <p:cxnSp>
        <p:nvCxnSpPr>
          <p:cNvPr id="2010" name="Google Shape;2010;p95"/>
          <p:cNvCxnSpPr>
            <a:stCxn id="1998" idx="3"/>
            <a:endCxn id="2009" idx="1"/>
          </p:cNvCxnSpPr>
          <p:nvPr/>
        </p:nvCxnSpPr>
        <p:spPr>
          <a:xfrm flipH="1" rot="10800000">
            <a:off x="5054630" y="3604039"/>
            <a:ext cx="791400" cy="834000"/>
          </a:xfrm>
          <a:prstGeom prst="curvedConnector3">
            <a:avLst>
              <a:gd fmla="val 50002" name="adj1"/>
            </a:avLst>
          </a:prstGeom>
          <a:noFill/>
          <a:ln cap="flat" cmpd="sng" w="9525">
            <a:solidFill>
              <a:srgbClr val="000000"/>
            </a:solidFill>
            <a:prstDash val="solid"/>
            <a:round/>
            <a:headEnd len="med" w="med" type="none"/>
            <a:tailEnd len="med" w="med" type="triangle"/>
          </a:ln>
        </p:spPr>
      </p:cxnSp>
      <p:cxnSp>
        <p:nvCxnSpPr>
          <p:cNvPr id="2011" name="Google Shape;2011;p95"/>
          <p:cNvCxnSpPr>
            <a:endCxn id="2012" idx="1"/>
          </p:cNvCxnSpPr>
          <p:nvPr/>
        </p:nvCxnSpPr>
        <p:spPr>
          <a:xfrm>
            <a:off x="5061078" y="20795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2012" name="Google Shape;2012;p95"/>
          <p:cNvSpPr/>
          <p:nvPr/>
        </p:nvSpPr>
        <p:spPr>
          <a:xfrm>
            <a:off x="5739978" y="18474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&lt;mnt_name&gt;</a:t>
            </a:r>
            <a:endParaRPr sz="1300">
              <a:latin typeface="DM Sans"/>
              <a:ea typeface="DM Sans"/>
              <a:cs typeface="DM Sans"/>
              <a:sym typeface="DM Sans"/>
            </a:endParaRPr>
          </a:p>
        </p:txBody>
      </p:sp>
      <p:sp>
        <p:nvSpPr>
          <p:cNvPr id="1993" name="Google Shape;1993;p95"/>
          <p:cNvSpPr/>
          <p:nvPr/>
        </p:nvSpPr>
        <p:spPr>
          <a:xfrm>
            <a:off x="3462615" y="2717606"/>
            <a:ext cx="1652700" cy="465900"/>
          </a:xfrm>
          <a:prstGeom prst="roundRect">
            <a:avLst>
              <a:gd fmla="val 16667" name="adj"/>
            </a:avLst>
          </a:prstGeom>
          <a:solidFill>
            <a:schemeClr val="lt1"/>
          </a:solidFill>
          <a:ln cap="flat" cmpd="sng" w="9525">
            <a:solidFill>
              <a:srgbClr val="1B5162"/>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DBFS root</a:t>
            </a:r>
            <a:endParaRPr sz="1300">
              <a:latin typeface="DM Sans"/>
              <a:ea typeface="DM Sans"/>
              <a:cs typeface="DM Sans"/>
              <a:sym typeface="DM Sans"/>
            </a:endParaRPr>
          </a:p>
        </p:txBody>
      </p:sp>
      <p:cxnSp>
        <p:nvCxnSpPr>
          <p:cNvPr id="2013" name="Google Shape;2013;p95"/>
          <p:cNvCxnSpPr>
            <a:endCxn id="2014" idx="1"/>
          </p:cNvCxnSpPr>
          <p:nvPr/>
        </p:nvCxnSpPr>
        <p:spPr>
          <a:xfrm>
            <a:off x="7498935" y="3603039"/>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2014" name="Google Shape;2014;p95"/>
          <p:cNvSpPr/>
          <p:nvPr/>
        </p:nvSpPr>
        <p:spPr>
          <a:xfrm>
            <a:off x="8177835" y="33709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&lt;user_folder&gt;</a:t>
            </a:r>
            <a:endParaRPr sz="1300">
              <a:latin typeface="DM Sans"/>
              <a:ea typeface="DM Sans"/>
              <a:cs typeface="DM Sans"/>
              <a:sym typeface="DM Sans"/>
            </a:endParaRPr>
          </a:p>
        </p:txBody>
      </p:sp>
      <p:cxnSp>
        <p:nvCxnSpPr>
          <p:cNvPr id="2015" name="Google Shape;2015;p95"/>
          <p:cNvCxnSpPr>
            <a:endCxn id="2016" idx="1"/>
          </p:cNvCxnSpPr>
          <p:nvPr/>
        </p:nvCxnSpPr>
        <p:spPr>
          <a:xfrm>
            <a:off x="7498868" y="5121506"/>
            <a:ext cx="678900" cy="900"/>
          </a:xfrm>
          <a:prstGeom prst="curvedConnector3">
            <a:avLst>
              <a:gd fmla="val 50000" name="adj1"/>
            </a:avLst>
          </a:prstGeom>
          <a:noFill/>
          <a:ln cap="flat" cmpd="sng" w="9525">
            <a:solidFill>
              <a:srgbClr val="000000"/>
            </a:solidFill>
            <a:prstDash val="solid"/>
            <a:round/>
            <a:headEnd len="med" w="med" type="none"/>
            <a:tailEnd len="med" w="med" type="triangle"/>
          </a:ln>
        </p:spPr>
      </p:cxnSp>
      <p:sp>
        <p:nvSpPr>
          <p:cNvPr id="2016" name="Google Shape;2016;p95"/>
          <p:cNvSpPr/>
          <p:nvPr/>
        </p:nvSpPr>
        <p:spPr>
          <a:xfrm>
            <a:off x="8177768" y="4889456"/>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&lt;user_folder&gt;</a:t>
            </a:r>
            <a:endParaRPr sz="1300">
              <a:latin typeface="DM Sans"/>
              <a:ea typeface="DM Sans"/>
              <a:cs typeface="DM Sans"/>
              <a:sym typeface="DM Sans"/>
            </a:endParaRPr>
          </a:p>
        </p:txBody>
      </p:sp>
      <p:sp>
        <p:nvSpPr>
          <p:cNvPr id="2017" name="Google Shape;2017;p95"/>
          <p:cNvSpPr/>
          <p:nvPr/>
        </p:nvSpPr>
        <p:spPr>
          <a:xfrm>
            <a:off x="5679146" y="3124200"/>
            <a:ext cx="5612100" cy="2624400"/>
          </a:xfrm>
          <a:prstGeom prst="roundRect">
            <a:avLst>
              <a:gd fmla="val 16667" name="adj"/>
            </a:avLst>
          </a:prstGeom>
          <a:noFill/>
          <a:ln cap="flat" cmpd="sng" w="9525">
            <a:solidFill>
              <a:srgbClr val="1B5162"/>
            </a:solidFill>
            <a:prstDash val="dot"/>
            <a:round/>
            <a:headEnd len="sm" w="sm" type="none"/>
            <a:tailEnd len="sm" w="sm" type="none"/>
          </a:ln>
        </p:spPr>
        <p:txBody>
          <a:bodyPr anchorCtr="0" anchor="ctr" bIns="121875" lIns="121875" spcFirstLastPara="1" rIns="121875" wrap="square" tIns="121875">
            <a:noAutofit/>
          </a:bodyPr>
          <a:lstStyle/>
          <a:p>
            <a:pPr indent="0" lvl="0" marL="0" rtl="0" algn="r">
              <a:spcBef>
                <a:spcPts val="0"/>
              </a:spcBef>
              <a:spcAft>
                <a:spcPts val="0"/>
              </a:spcAft>
              <a:buNone/>
            </a:pPr>
            <a:r>
              <a:rPr lang="en" sz="1300">
                <a:solidFill>
                  <a:schemeClr val="dk1"/>
                </a:solidFill>
                <a:latin typeface="DM Sans"/>
                <a:ea typeface="DM Sans"/>
                <a:cs typeface="DM Sans"/>
                <a:sym typeface="DM Sans"/>
              </a:rPr>
              <a:t>Workspace files</a:t>
            </a:r>
            <a:endParaRPr sz="1300">
              <a:solidFill>
                <a:schemeClr val="dk1"/>
              </a:solidFill>
              <a:latin typeface="DM Sans"/>
              <a:ea typeface="DM Sans"/>
              <a:cs typeface="DM Sans"/>
              <a:sym typeface="DM Sans"/>
            </a:endParaRPr>
          </a:p>
        </p:txBody>
      </p:sp>
      <p:sp>
        <p:nvSpPr>
          <p:cNvPr id="2000" name="Google Shape;2000;p95"/>
          <p:cNvSpPr/>
          <p:nvPr/>
        </p:nvSpPr>
        <p:spPr>
          <a:xfrm>
            <a:off x="723686" y="42051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file:/</a:t>
            </a:r>
            <a:endParaRPr sz="1300">
              <a:latin typeface="DM Sans"/>
              <a:ea typeface="DM Sans"/>
              <a:cs typeface="DM Sans"/>
              <a:sym typeface="DM Sans"/>
            </a:endParaRPr>
          </a:p>
        </p:txBody>
      </p:sp>
      <p:sp>
        <p:nvSpPr>
          <p:cNvPr id="2018" name="Google Shape;2018;p95"/>
          <p:cNvSpPr/>
          <p:nvPr/>
        </p:nvSpPr>
        <p:spPr>
          <a:xfrm>
            <a:off x="3401913" y="5925589"/>
            <a:ext cx="16527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&lt;bucket_name&gt;</a:t>
            </a:r>
            <a:endParaRPr sz="1300">
              <a:latin typeface="DM Sans"/>
              <a:ea typeface="DM Sans"/>
              <a:cs typeface="DM Sans"/>
              <a:sym typeface="DM Sans"/>
            </a:endParaRPr>
          </a:p>
        </p:txBody>
      </p:sp>
      <p:cxnSp>
        <p:nvCxnSpPr>
          <p:cNvPr id="2019" name="Google Shape;2019;p95"/>
          <p:cNvCxnSpPr>
            <a:stCxn id="2020" idx="3"/>
            <a:endCxn id="2018" idx="1"/>
          </p:cNvCxnSpPr>
          <p:nvPr/>
        </p:nvCxnSpPr>
        <p:spPr>
          <a:xfrm>
            <a:off x="2523086" y="6158550"/>
            <a:ext cx="878700" cy="600"/>
          </a:xfrm>
          <a:prstGeom prst="curvedConnector3">
            <a:avLst>
              <a:gd fmla="val 50006" name="adj1"/>
            </a:avLst>
          </a:prstGeom>
          <a:noFill/>
          <a:ln cap="flat" cmpd="sng" w="9525">
            <a:solidFill>
              <a:srgbClr val="1B5162"/>
            </a:solidFill>
            <a:prstDash val="solid"/>
            <a:round/>
            <a:headEnd len="med" w="med" type="none"/>
            <a:tailEnd len="med" w="med" type="triangle"/>
          </a:ln>
        </p:spPr>
      </p:cxnSp>
      <p:sp>
        <p:nvSpPr>
          <p:cNvPr id="2020" name="Google Shape;2020;p95"/>
          <p:cNvSpPr/>
          <p:nvPr/>
        </p:nvSpPr>
        <p:spPr>
          <a:xfrm>
            <a:off x="723686" y="5925600"/>
            <a:ext cx="1799400" cy="465900"/>
          </a:xfrm>
          <a:prstGeom prst="roundRect">
            <a:avLst>
              <a:gd fmla="val 16667" name="adj"/>
            </a:avLst>
          </a:prstGeom>
          <a:solidFill>
            <a:schemeClr val="lt1"/>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300">
                <a:latin typeface="DM Sans"/>
                <a:ea typeface="DM Sans"/>
                <a:cs typeface="DM Sans"/>
                <a:sym typeface="DM Sans"/>
              </a:rPr>
              <a:t>gs://</a:t>
            </a:r>
            <a:endParaRPr sz="1300">
              <a:latin typeface="DM Sans"/>
              <a:ea typeface="DM Sans"/>
              <a:cs typeface="DM Sans"/>
              <a:sym typeface="DM San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5" name="Shape 2025"/>
        <p:cNvGrpSpPr/>
        <p:nvPr/>
      </p:nvGrpSpPr>
      <p:grpSpPr>
        <a:xfrm>
          <a:off x="0" y="0"/>
          <a:ext cx="0" cy="0"/>
          <a:chOff x="0" y="0"/>
          <a:chExt cx="0" cy="0"/>
        </a:xfrm>
      </p:grpSpPr>
      <p:sp>
        <p:nvSpPr>
          <p:cNvPr id="2026" name="Google Shape;2026;p96"/>
          <p:cNvSpPr/>
          <p:nvPr/>
        </p:nvSpPr>
        <p:spPr>
          <a:xfrm>
            <a:off x="3296825" y="1963913"/>
            <a:ext cx="5829300" cy="1777800"/>
          </a:xfrm>
          <a:prstGeom prst="roundRect">
            <a:avLst>
              <a:gd fmla="val 8790"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96"/>
          <p:cNvSpPr/>
          <p:nvPr/>
        </p:nvSpPr>
        <p:spPr>
          <a:xfrm>
            <a:off x="3280775" y="3852375"/>
            <a:ext cx="5861100" cy="1317300"/>
          </a:xfrm>
          <a:prstGeom prst="roundRect">
            <a:avLst>
              <a:gd fmla="val 12651"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96"/>
          <p:cNvSpPr/>
          <p:nvPr/>
        </p:nvSpPr>
        <p:spPr>
          <a:xfrm>
            <a:off x="3280775" y="5290850"/>
            <a:ext cx="5861400" cy="8010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96"/>
          <p:cNvSpPr/>
          <p:nvPr/>
        </p:nvSpPr>
        <p:spPr>
          <a:xfrm>
            <a:off x="6889475" y="2039678"/>
            <a:ext cx="2068500" cy="4002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3869" rtl="0" algn="ctr">
              <a:spcBef>
                <a:spcPts val="0"/>
              </a:spcBef>
              <a:spcAft>
                <a:spcPts val="0"/>
              </a:spcAft>
              <a:buNone/>
            </a:pPr>
            <a:r>
              <a:rPr lang="en" sz="1200">
                <a:latin typeface="DM Sans"/>
                <a:ea typeface="DM Sans"/>
                <a:cs typeface="DM Sans"/>
                <a:sym typeface="DM Sans"/>
              </a:rPr>
              <a:t>Managed storage location</a:t>
            </a:r>
            <a:endParaRPr sz="1200">
              <a:latin typeface="DM Sans"/>
              <a:ea typeface="DM Sans"/>
              <a:cs typeface="DM Sans"/>
              <a:sym typeface="DM Sans"/>
            </a:endParaRPr>
          </a:p>
        </p:txBody>
      </p:sp>
      <p:sp>
        <p:nvSpPr>
          <p:cNvPr id="2030" name="Google Shape;2030;p96"/>
          <p:cNvSpPr/>
          <p:nvPr/>
        </p:nvSpPr>
        <p:spPr>
          <a:xfrm>
            <a:off x="3477377" y="2065028"/>
            <a:ext cx="1136100" cy="3489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Metastore</a:t>
            </a:r>
            <a:endParaRPr sz="1200">
              <a:latin typeface="DM Sans Medium"/>
              <a:ea typeface="DM Sans Medium"/>
              <a:cs typeface="DM Sans Medium"/>
              <a:sym typeface="DM Sans Medium"/>
            </a:endParaRPr>
          </a:p>
        </p:txBody>
      </p:sp>
      <p:sp>
        <p:nvSpPr>
          <p:cNvPr id="2031" name="Google Shape;2031;p96"/>
          <p:cNvSpPr txBox="1"/>
          <p:nvPr>
            <p:ph idx="12" type="sldNum"/>
          </p:nvPr>
        </p:nvSpPr>
        <p:spPr>
          <a:xfrm>
            <a:off x="10760109" y="6333309"/>
            <a:ext cx="666900" cy="524700"/>
          </a:xfrm>
          <a:prstGeom prst="rect">
            <a:avLst/>
          </a:prstGeom>
        </p:spPr>
        <p:txBody>
          <a:bodyPr anchorCtr="0" anchor="t" bIns="121875" lIns="121875" spcFirstLastPara="1" rIns="121875" wrap="square" tIns="121875">
            <a:norm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pic>
        <p:nvPicPr>
          <p:cNvPr descr="Databricks · GitHub" id="2032" name="Google Shape;2032;p96"/>
          <p:cNvPicPr preferRelativeResize="0"/>
          <p:nvPr/>
        </p:nvPicPr>
        <p:blipFill>
          <a:blip r:embed="rId3">
            <a:alphaModFix/>
          </a:blip>
          <a:stretch>
            <a:fillRect/>
          </a:stretch>
        </p:blipFill>
        <p:spPr>
          <a:xfrm>
            <a:off x="4206200" y="1379425"/>
            <a:ext cx="336300" cy="336300"/>
          </a:xfrm>
          <a:prstGeom prst="rect">
            <a:avLst/>
          </a:prstGeom>
          <a:noFill/>
          <a:ln>
            <a:noFill/>
          </a:ln>
        </p:spPr>
      </p:pic>
      <p:cxnSp>
        <p:nvCxnSpPr>
          <p:cNvPr id="2033" name="Google Shape;2033;p96"/>
          <p:cNvCxnSpPr>
            <a:stCxn id="2034" idx="1"/>
            <a:endCxn id="2035" idx="2"/>
          </p:cNvCxnSpPr>
          <p:nvPr/>
        </p:nvCxnSpPr>
        <p:spPr>
          <a:xfrm flipH="1">
            <a:off x="5808875" y="5693603"/>
            <a:ext cx="1080600" cy="294000"/>
          </a:xfrm>
          <a:prstGeom prst="straightConnector1">
            <a:avLst/>
          </a:prstGeom>
          <a:noFill/>
          <a:ln cap="flat" cmpd="sng" w="9525">
            <a:solidFill>
              <a:schemeClr val="dk2"/>
            </a:solidFill>
            <a:prstDash val="solid"/>
            <a:round/>
            <a:headEnd len="med" w="med" type="none"/>
            <a:tailEnd len="med" w="med" type="none"/>
          </a:ln>
        </p:spPr>
      </p:cxnSp>
      <p:cxnSp>
        <p:nvCxnSpPr>
          <p:cNvPr id="2036" name="Google Shape;2036;p96"/>
          <p:cNvCxnSpPr>
            <a:stCxn id="2037" idx="2"/>
            <a:endCxn id="2038" idx="1"/>
          </p:cNvCxnSpPr>
          <p:nvPr/>
        </p:nvCxnSpPr>
        <p:spPr>
          <a:xfrm flipH="1" rot="-5400000">
            <a:off x="4883452" y="2932278"/>
            <a:ext cx="403200" cy="285300"/>
          </a:xfrm>
          <a:prstGeom prst="bentConnector2">
            <a:avLst/>
          </a:prstGeom>
          <a:noFill/>
          <a:ln cap="flat" cmpd="sng" w="9525">
            <a:solidFill>
              <a:schemeClr val="dk1"/>
            </a:solidFill>
            <a:prstDash val="solid"/>
            <a:round/>
            <a:headEnd len="med" w="med" type="none"/>
            <a:tailEnd len="med" w="med" type="triangle"/>
          </a:ln>
        </p:spPr>
      </p:cxnSp>
      <p:cxnSp>
        <p:nvCxnSpPr>
          <p:cNvPr id="2039" name="Google Shape;2039;p96"/>
          <p:cNvCxnSpPr>
            <a:stCxn id="2040" idx="2"/>
            <a:endCxn id="2041" idx="1"/>
          </p:cNvCxnSpPr>
          <p:nvPr/>
        </p:nvCxnSpPr>
        <p:spPr>
          <a:xfrm flipH="1" rot="-5400000">
            <a:off x="4884052" y="4397178"/>
            <a:ext cx="402000" cy="285300"/>
          </a:xfrm>
          <a:prstGeom prst="bentConnector2">
            <a:avLst/>
          </a:prstGeom>
          <a:noFill/>
          <a:ln cap="flat" cmpd="sng" w="9525">
            <a:solidFill>
              <a:schemeClr val="dk1"/>
            </a:solidFill>
            <a:prstDash val="solid"/>
            <a:round/>
            <a:headEnd len="med" w="med" type="none"/>
            <a:tailEnd len="med" w="med" type="triangle"/>
          </a:ln>
        </p:spPr>
      </p:cxnSp>
      <p:cxnSp>
        <p:nvCxnSpPr>
          <p:cNvPr id="2042" name="Google Shape;2042;p96"/>
          <p:cNvCxnSpPr>
            <a:stCxn id="2029" idx="1"/>
            <a:endCxn id="2030" idx="3"/>
          </p:cNvCxnSpPr>
          <p:nvPr/>
        </p:nvCxnSpPr>
        <p:spPr>
          <a:xfrm rot="10800000">
            <a:off x="4613375" y="2239478"/>
            <a:ext cx="2276100" cy="300"/>
          </a:xfrm>
          <a:prstGeom prst="straightConnector1">
            <a:avLst/>
          </a:prstGeom>
          <a:noFill/>
          <a:ln cap="flat" cmpd="sng" w="9525">
            <a:solidFill>
              <a:schemeClr val="dk2"/>
            </a:solidFill>
            <a:prstDash val="solid"/>
            <a:round/>
            <a:headEnd len="med" w="med" type="none"/>
            <a:tailEnd len="med" w="med" type="none"/>
          </a:ln>
        </p:spPr>
      </p:cxnSp>
      <p:cxnSp>
        <p:nvCxnSpPr>
          <p:cNvPr id="2043" name="Google Shape;2043;p96"/>
          <p:cNvCxnSpPr>
            <a:stCxn id="2044" idx="1"/>
            <a:endCxn id="2040" idx="3"/>
          </p:cNvCxnSpPr>
          <p:nvPr/>
        </p:nvCxnSpPr>
        <p:spPr>
          <a:xfrm rot="10800000">
            <a:off x="5510452" y="4164378"/>
            <a:ext cx="2486700" cy="0"/>
          </a:xfrm>
          <a:prstGeom prst="straightConnector1">
            <a:avLst/>
          </a:prstGeom>
          <a:noFill/>
          <a:ln cap="flat" cmpd="sng" w="9525">
            <a:solidFill>
              <a:schemeClr val="dk2"/>
            </a:solidFill>
            <a:prstDash val="solid"/>
            <a:round/>
            <a:headEnd len="med" w="med" type="none"/>
            <a:tailEnd len="med" w="med" type="none"/>
          </a:ln>
        </p:spPr>
      </p:cxnSp>
      <p:cxnSp>
        <p:nvCxnSpPr>
          <p:cNvPr id="2045" name="Google Shape;2045;p96"/>
          <p:cNvCxnSpPr>
            <a:stCxn id="2040" idx="2"/>
            <a:endCxn id="2035" idx="1"/>
          </p:cNvCxnSpPr>
          <p:nvPr/>
        </p:nvCxnSpPr>
        <p:spPr>
          <a:xfrm flipH="1" rot="-5400000">
            <a:off x="4406602" y="4874628"/>
            <a:ext cx="1356900" cy="285300"/>
          </a:xfrm>
          <a:prstGeom prst="bentConnector2">
            <a:avLst/>
          </a:prstGeom>
          <a:noFill/>
          <a:ln cap="flat" cmpd="sng" w="9525">
            <a:solidFill>
              <a:schemeClr val="dk1"/>
            </a:solidFill>
            <a:prstDash val="solid"/>
            <a:round/>
            <a:headEnd len="med" w="med" type="none"/>
            <a:tailEnd len="med" w="med" type="triangle"/>
          </a:ln>
        </p:spPr>
      </p:cxnSp>
      <p:cxnSp>
        <p:nvCxnSpPr>
          <p:cNvPr id="2046" name="Google Shape;2046;p96"/>
          <p:cNvCxnSpPr>
            <a:stCxn id="2030" idx="2"/>
          </p:cNvCxnSpPr>
          <p:nvPr/>
        </p:nvCxnSpPr>
        <p:spPr>
          <a:xfrm flipH="1" rot="-5400000">
            <a:off x="4068977" y="2390378"/>
            <a:ext cx="281700" cy="328800"/>
          </a:xfrm>
          <a:prstGeom prst="bentConnector2">
            <a:avLst/>
          </a:prstGeom>
          <a:noFill/>
          <a:ln cap="flat" cmpd="sng" w="9525">
            <a:solidFill>
              <a:schemeClr val="dk1"/>
            </a:solidFill>
            <a:prstDash val="solid"/>
            <a:round/>
            <a:headEnd len="med" w="med" type="none"/>
            <a:tailEnd len="med" w="med" type="triangle"/>
          </a:ln>
        </p:spPr>
      </p:cxnSp>
      <p:cxnSp>
        <p:nvCxnSpPr>
          <p:cNvPr id="2047" name="Google Shape;2047;p96"/>
          <p:cNvCxnSpPr>
            <a:stCxn id="2030" idx="2"/>
            <a:endCxn id="2040" idx="1"/>
          </p:cNvCxnSpPr>
          <p:nvPr/>
        </p:nvCxnSpPr>
        <p:spPr>
          <a:xfrm flipH="1" rot="-5400000">
            <a:off x="3334577" y="3124778"/>
            <a:ext cx="1750500" cy="328800"/>
          </a:xfrm>
          <a:prstGeom prst="bentConnector2">
            <a:avLst/>
          </a:prstGeom>
          <a:noFill/>
          <a:ln cap="flat" cmpd="sng" w="9525">
            <a:solidFill>
              <a:schemeClr val="dk1"/>
            </a:solidFill>
            <a:prstDash val="solid"/>
            <a:round/>
            <a:headEnd len="med" w="med" type="none"/>
            <a:tailEnd len="med" w="med" type="triangle"/>
          </a:ln>
        </p:spPr>
      </p:cxnSp>
      <p:sp>
        <p:nvSpPr>
          <p:cNvPr id="2048" name="Google Shape;2048;p96"/>
          <p:cNvSpPr txBox="1"/>
          <p:nvPr/>
        </p:nvSpPr>
        <p:spPr>
          <a:xfrm>
            <a:off x="1020125" y="2562837"/>
            <a:ext cx="226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Medium"/>
                <a:ea typeface="DM Sans Medium"/>
                <a:cs typeface="DM Sans Medium"/>
                <a:sym typeface="DM Sans Medium"/>
              </a:rPr>
              <a:t>M</a:t>
            </a:r>
            <a:r>
              <a:rPr lang="en">
                <a:latin typeface="DM Sans Medium"/>
                <a:ea typeface="DM Sans Medium"/>
                <a:cs typeface="DM Sans Medium"/>
                <a:sym typeface="DM Sans Medium"/>
              </a:rPr>
              <a:t>etastore-level storage</a:t>
            </a:r>
            <a:endParaRPr>
              <a:latin typeface="DM Sans Medium"/>
              <a:ea typeface="DM Sans Medium"/>
              <a:cs typeface="DM Sans Medium"/>
              <a:sym typeface="DM Sans Medium"/>
            </a:endParaRPr>
          </a:p>
        </p:txBody>
      </p:sp>
      <p:sp>
        <p:nvSpPr>
          <p:cNvPr id="2049" name="Google Shape;2049;p96"/>
          <p:cNvSpPr txBox="1"/>
          <p:nvPr/>
        </p:nvSpPr>
        <p:spPr>
          <a:xfrm>
            <a:off x="1020125" y="4171323"/>
            <a:ext cx="226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Medium"/>
                <a:ea typeface="DM Sans Medium"/>
                <a:cs typeface="DM Sans Medium"/>
                <a:sym typeface="DM Sans Medium"/>
              </a:rPr>
              <a:t>Catalog-level storage</a:t>
            </a:r>
            <a:endParaRPr>
              <a:latin typeface="DM Sans Medium"/>
              <a:ea typeface="DM Sans Medium"/>
              <a:cs typeface="DM Sans Medium"/>
              <a:sym typeface="DM Sans Medium"/>
            </a:endParaRPr>
          </a:p>
        </p:txBody>
      </p:sp>
      <p:sp>
        <p:nvSpPr>
          <p:cNvPr id="2050" name="Google Shape;2050;p96"/>
          <p:cNvSpPr txBox="1"/>
          <p:nvPr/>
        </p:nvSpPr>
        <p:spPr>
          <a:xfrm>
            <a:off x="1020125" y="5425137"/>
            <a:ext cx="226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Medium"/>
                <a:ea typeface="DM Sans Medium"/>
                <a:cs typeface="DM Sans Medium"/>
                <a:sym typeface="DM Sans Medium"/>
              </a:rPr>
              <a:t>S</a:t>
            </a:r>
            <a:r>
              <a:rPr lang="en">
                <a:latin typeface="DM Sans Medium"/>
                <a:ea typeface="DM Sans Medium"/>
                <a:cs typeface="DM Sans Medium"/>
                <a:sym typeface="DM Sans Medium"/>
              </a:rPr>
              <a:t>chema-level storage</a:t>
            </a:r>
            <a:endParaRPr>
              <a:latin typeface="DM Sans Medium"/>
              <a:ea typeface="DM Sans Medium"/>
              <a:cs typeface="DM Sans Medium"/>
              <a:sym typeface="DM Sans Medium"/>
            </a:endParaRPr>
          </a:p>
        </p:txBody>
      </p:sp>
      <p:sp>
        <p:nvSpPr>
          <p:cNvPr id="2051" name="Google Shape;2051;p96"/>
          <p:cNvSpPr txBox="1"/>
          <p:nvPr/>
        </p:nvSpPr>
        <p:spPr>
          <a:xfrm>
            <a:off x="4542500" y="1328550"/>
            <a:ext cx="22605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Unity Catalog</a:t>
            </a:r>
            <a:endParaRPr>
              <a:solidFill>
                <a:schemeClr val="dk1"/>
              </a:solidFill>
              <a:latin typeface="DM Sans"/>
              <a:ea typeface="DM Sans"/>
              <a:cs typeface="DM Sans"/>
              <a:sym typeface="DM Sans"/>
            </a:endParaRPr>
          </a:p>
        </p:txBody>
      </p:sp>
      <p:sp>
        <p:nvSpPr>
          <p:cNvPr id="2052" name="Google Shape;2052;p96"/>
          <p:cNvSpPr txBox="1"/>
          <p:nvPr/>
        </p:nvSpPr>
        <p:spPr>
          <a:xfrm>
            <a:off x="9425900" y="1685375"/>
            <a:ext cx="2721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chemeClr val="dk1"/>
              </a:solidFill>
              <a:latin typeface="DM Sans"/>
              <a:ea typeface="DM Sans"/>
              <a:cs typeface="DM Sans"/>
              <a:sym typeface="DM Sans"/>
            </a:endParaRPr>
          </a:p>
        </p:txBody>
      </p:sp>
      <p:sp>
        <p:nvSpPr>
          <p:cNvPr id="2053" name="Google Shape;2053;p96"/>
          <p:cNvSpPr txBox="1"/>
          <p:nvPr/>
        </p:nvSpPr>
        <p:spPr>
          <a:xfrm>
            <a:off x="6989675" y="1328550"/>
            <a:ext cx="1929600" cy="52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Cloud storage</a:t>
            </a:r>
            <a:br>
              <a:rPr lang="en">
                <a:solidFill>
                  <a:schemeClr val="dk1"/>
                </a:solidFill>
                <a:latin typeface="DM Sans"/>
                <a:ea typeface="DM Sans"/>
                <a:cs typeface="DM Sans"/>
                <a:sym typeface="DM Sans"/>
              </a:rPr>
            </a:br>
            <a:r>
              <a:rPr lang="en">
                <a:solidFill>
                  <a:schemeClr val="dk1"/>
                </a:solidFill>
                <a:latin typeface="DM Sans"/>
                <a:ea typeface="DM Sans"/>
                <a:cs typeface="DM Sans"/>
                <a:sym typeface="DM Sans"/>
              </a:rPr>
              <a:t> </a:t>
            </a:r>
            <a:r>
              <a:rPr lang="en" sz="1200">
                <a:solidFill>
                  <a:schemeClr val="dk1"/>
                </a:solidFill>
                <a:latin typeface="DM Sans"/>
                <a:ea typeface="DM Sans"/>
                <a:cs typeface="DM Sans"/>
                <a:sym typeface="DM Sans"/>
              </a:rPr>
              <a:t>(S3, ADLS2, GCS)</a:t>
            </a:r>
            <a:endParaRPr sz="1200">
              <a:solidFill>
                <a:schemeClr val="dk1"/>
              </a:solidFill>
              <a:latin typeface="DM Sans"/>
              <a:ea typeface="DM Sans"/>
              <a:cs typeface="DM Sans"/>
              <a:sym typeface="DM Sans"/>
            </a:endParaRPr>
          </a:p>
        </p:txBody>
      </p:sp>
      <p:sp>
        <p:nvSpPr>
          <p:cNvPr id="2037" name="Google Shape;2037;p96"/>
          <p:cNvSpPr/>
          <p:nvPr/>
        </p:nvSpPr>
        <p:spPr>
          <a:xfrm>
            <a:off x="4374352" y="2524428"/>
            <a:ext cx="1136100" cy="3489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Catalog 1</a:t>
            </a:r>
            <a:endParaRPr sz="1200">
              <a:latin typeface="DM Sans Medium"/>
              <a:ea typeface="DM Sans Medium"/>
              <a:cs typeface="DM Sans Medium"/>
              <a:sym typeface="DM Sans Medium"/>
            </a:endParaRPr>
          </a:p>
        </p:txBody>
      </p:sp>
      <p:sp>
        <p:nvSpPr>
          <p:cNvPr id="2054" name="Google Shape;2054;p96"/>
          <p:cNvSpPr/>
          <p:nvPr/>
        </p:nvSpPr>
        <p:spPr>
          <a:xfrm>
            <a:off x="6889475" y="3964278"/>
            <a:ext cx="2068500" cy="4002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3869" rtl="0" algn="ctr">
              <a:spcBef>
                <a:spcPts val="0"/>
              </a:spcBef>
              <a:spcAft>
                <a:spcPts val="0"/>
              </a:spcAft>
              <a:buNone/>
            </a:pPr>
            <a:r>
              <a:rPr lang="en" sz="1200">
                <a:latin typeface="DM Sans"/>
                <a:ea typeface="DM Sans"/>
                <a:cs typeface="DM Sans"/>
                <a:sym typeface="DM Sans"/>
              </a:rPr>
              <a:t>Managed storage location</a:t>
            </a:r>
            <a:endParaRPr sz="1200">
              <a:latin typeface="DM Sans"/>
              <a:ea typeface="DM Sans"/>
              <a:cs typeface="DM Sans"/>
              <a:sym typeface="DM Sans"/>
            </a:endParaRPr>
          </a:p>
        </p:txBody>
      </p:sp>
      <p:sp>
        <p:nvSpPr>
          <p:cNvPr id="2034" name="Google Shape;2034;p96"/>
          <p:cNvSpPr/>
          <p:nvPr/>
        </p:nvSpPr>
        <p:spPr>
          <a:xfrm>
            <a:off x="6889475" y="5493503"/>
            <a:ext cx="2068500" cy="4002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3869" rtl="0" algn="ctr">
              <a:spcBef>
                <a:spcPts val="0"/>
              </a:spcBef>
              <a:spcAft>
                <a:spcPts val="0"/>
              </a:spcAft>
              <a:buNone/>
            </a:pPr>
            <a:r>
              <a:rPr lang="en" sz="1200">
                <a:latin typeface="DM Sans"/>
                <a:ea typeface="DM Sans"/>
                <a:cs typeface="DM Sans"/>
                <a:sym typeface="DM Sans"/>
              </a:rPr>
              <a:t>Managed storage location</a:t>
            </a:r>
            <a:endParaRPr sz="1200">
              <a:latin typeface="DM Sans"/>
              <a:ea typeface="DM Sans"/>
              <a:cs typeface="DM Sans"/>
              <a:sym typeface="DM Sans"/>
            </a:endParaRPr>
          </a:p>
        </p:txBody>
      </p:sp>
      <p:sp>
        <p:nvSpPr>
          <p:cNvPr id="2040" name="Google Shape;2040;p96"/>
          <p:cNvSpPr/>
          <p:nvPr/>
        </p:nvSpPr>
        <p:spPr>
          <a:xfrm>
            <a:off x="4374352" y="3989928"/>
            <a:ext cx="1136100" cy="3489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Catalog 2</a:t>
            </a:r>
            <a:endParaRPr sz="1200">
              <a:latin typeface="DM Sans Medium"/>
              <a:ea typeface="DM Sans Medium"/>
              <a:cs typeface="DM Sans Medium"/>
              <a:sym typeface="DM Sans Medium"/>
            </a:endParaRPr>
          </a:p>
        </p:txBody>
      </p:sp>
      <p:grpSp>
        <p:nvGrpSpPr>
          <p:cNvPr id="2055" name="Google Shape;2055;p96"/>
          <p:cNvGrpSpPr/>
          <p:nvPr/>
        </p:nvGrpSpPr>
        <p:grpSpPr>
          <a:xfrm>
            <a:off x="5227850" y="2930650"/>
            <a:ext cx="1162200" cy="637648"/>
            <a:chOff x="5227850" y="3159250"/>
            <a:chExt cx="1162200" cy="637648"/>
          </a:xfrm>
        </p:grpSpPr>
        <p:sp>
          <p:nvSpPr>
            <p:cNvPr id="2038" name="Google Shape;2038;p96"/>
            <p:cNvSpPr/>
            <p:nvPr/>
          </p:nvSpPr>
          <p:spPr>
            <a:xfrm>
              <a:off x="5227850" y="3213398"/>
              <a:ext cx="1162200" cy="5835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p:txBody>
        </p:sp>
        <p:sp>
          <p:nvSpPr>
            <p:cNvPr id="2056" name="Google Shape;2056;p96"/>
            <p:cNvSpPr txBox="1"/>
            <p:nvPr/>
          </p:nvSpPr>
          <p:spPr>
            <a:xfrm>
              <a:off x="5366900" y="3159250"/>
              <a:ext cx="884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DM Sans Medium"/>
                  <a:ea typeface="DM Sans Medium"/>
                  <a:cs typeface="DM Sans Medium"/>
                  <a:sym typeface="DM Sans Medium"/>
                </a:rPr>
                <a:t>Schema 1</a:t>
              </a:r>
              <a:endParaRPr sz="1200">
                <a:latin typeface="DM Sans Medium"/>
                <a:ea typeface="DM Sans Medium"/>
                <a:cs typeface="DM Sans Medium"/>
                <a:sym typeface="DM Sans Medium"/>
              </a:endParaRPr>
            </a:p>
          </p:txBody>
        </p:sp>
        <p:pic>
          <p:nvPicPr>
            <p:cNvPr id="2057" name="Google Shape;2057;p96"/>
            <p:cNvPicPr preferRelativeResize="0"/>
            <p:nvPr/>
          </p:nvPicPr>
          <p:blipFill rotWithShape="1">
            <a:blip r:embed="rId4">
              <a:alphaModFix/>
            </a:blip>
            <a:srcRect b="0" l="0" r="0" t="0"/>
            <a:stretch/>
          </p:blipFill>
          <p:spPr>
            <a:xfrm>
              <a:off x="5280649" y="3426400"/>
              <a:ext cx="336300" cy="336300"/>
            </a:xfrm>
            <a:prstGeom prst="rect">
              <a:avLst/>
            </a:prstGeom>
            <a:noFill/>
            <a:ln>
              <a:noFill/>
            </a:ln>
          </p:spPr>
        </p:pic>
        <p:pic>
          <p:nvPicPr>
            <p:cNvPr id="2058" name="Google Shape;2058;p96"/>
            <p:cNvPicPr preferRelativeResize="0"/>
            <p:nvPr/>
          </p:nvPicPr>
          <p:blipFill rotWithShape="1">
            <a:blip r:embed="rId4">
              <a:alphaModFix/>
            </a:blip>
            <a:srcRect b="0" l="0" r="0" t="0"/>
            <a:stretch/>
          </p:blipFill>
          <p:spPr>
            <a:xfrm>
              <a:off x="5640799" y="3434900"/>
              <a:ext cx="336300" cy="336300"/>
            </a:xfrm>
            <a:prstGeom prst="rect">
              <a:avLst/>
            </a:prstGeom>
            <a:noFill/>
            <a:ln>
              <a:noFill/>
            </a:ln>
          </p:spPr>
        </p:pic>
        <p:pic>
          <p:nvPicPr>
            <p:cNvPr id="2059" name="Google Shape;2059;p96"/>
            <p:cNvPicPr preferRelativeResize="0"/>
            <p:nvPr/>
          </p:nvPicPr>
          <p:blipFill rotWithShape="1">
            <a:blip r:embed="rId4">
              <a:alphaModFix/>
            </a:blip>
            <a:srcRect b="0" l="0" r="0" t="0"/>
            <a:stretch/>
          </p:blipFill>
          <p:spPr>
            <a:xfrm>
              <a:off x="6000949" y="3434900"/>
              <a:ext cx="336300" cy="336300"/>
            </a:xfrm>
            <a:prstGeom prst="rect">
              <a:avLst/>
            </a:prstGeom>
            <a:noFill/>
            <a:ln>
              <a:noFill/>
            </a:ln>
          </p:spPr>
        </p:pic>
      </p:grpSp>
      <p:grpSp>
        <p:nvGrpSpPr>
          <p:cNvPr id="2060" name="Google Shape;2060;p96"/>
          <p:cNvGrpSpPr/>
          <p:nvPr/>
        </p:nvGrpSpPr>
        <p:grpSpPr>
          <a:xfrm>
            <a:off x="5227850" y="5349875"/>
            <a:ext cx="1162200" cy="637648"/>
            <a:chOff x="5227850" y="3159250"/>
            <a:chExt cx="1162200" cy="637648"/>
          </a:xfrm>
        </p:grpSpPr>
        <p:sp>
          <p:nvSpPr>
            <p:cNvPr id="2035" name="Google Shape;2035;p96"/>
            <p:cNvSpPr/>
            <p:nvPr/>
          </p:nvSpPr>
          <p:spPr>
            <a:xfrm>
              <a:off x="5227850" y="3213398"/>
              <a:ext cx="1162200" cy="5835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p:txBody>
        </p:sp>
        <p:sp>
          <p:nvSpPr>
            <p:cNvPr id="2061" name="Google Shape;2061;p96"/>
            <p:cNvSpPr txBox="1"/>
            <p:nvPr/>
          </p:nvSpPr>
          <p:spPr>
            <a:xfrm>
              <a:off x="5366900" y="3159250"/>
              <a:ext cx="970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DM Sans Medium"/>
                  <a:ea typeface="DM Sans Medium"/>
                  <a:cs typeface="DM Sans Medium"/>
                  <a:sym typeface="DM Sans Medium"/>
                </a:rPr>
                <a:t>Schema 3</a:t>
              </a:r>
              <a:endParaRPr sz="1200">
                <a:latin typeface="DM Sans Medium"/>
                <a:ea typeface="DM Sans Medium"/>
                <a:cs typeface="DM Sans Medium"/>
                <a:sym typeface="DM Sans Medium"/>
              </a:endParaRPr>
            </a:p>
          </p:txBody>
        </p:sp>
        <p:pic>
          <p:nvPicPr>
            <p:cNvPr id="2062" name="Google Shape;2062;p96"/>
            <p:cNvPicPr preferRelativeResize="0"/>
            <p:nvPr/>
          </p:nvPicPr>
          <p:blipFill rotWithShape="1">
            <a:blip r:embed="rId4">
              <a:alphaModFix/>
            </a:blip>
            <a:srcRect b="0" l="0" r="0" t="0"/>
            <a:stretch/>
          </p:blipFill>
          <p:spPr>
            <a:xfrm>
              <a:off x="5280649" y="3426400"/>
              <a:ext cx="336300" cy="336300"/>
            </a:xfrm>
            <a:prstGeom prst="rect">
              <a:avLst/>
            </a:prstGeom>
            <a:noFill/>
            <a:ln>
              <a:noFill/>
            </a:ln>
          </p:spPr>
        </p:pic>
        <p:pic>
          <p:nvPicPr>
            <p:cNvPr id="2063" name="Google Shape;2063;p96"/>
            <p:cNvPicPr preferRelativeResize="0"/>
            <p:nvPr/>
          </p:nvPicPr>
          <p:blipFill rotWithShape="1">
            <a:blip r:embed="rId4">
              <a:alphaModFix/>
            </a:blip>
            <a:srcRect b="0" l="0" r="0" t="0"/>
            <a:stretch/>
          </p:blipFill>
          <p:spPr>
            <a:xfrm>
              <a:off x="5640799" y="3434900"/>
              <a:ext cx="336300" cy="336300"/>
            </a:xfrm>
            <a:prstGeom prst="rect">
              <a:avLst/>
            </a:prstGeom>
            <a:noFill/>
            <a:ln>
              <a:noFill/>
            </a:ln>
          </p:spPr>
        </p:pic>
        <p:pic>
          <p:nvPicPr>
            <p:cNvPr id="2064" name="Google Shape;2064;p96"/>
            <p:cNvPicPr preferRelativeResize="0"/>
            <p:nvPr/>
          </p:nvPicPr>
          <p:blipFill rotWithShape="1">
            <a:blip r:embed="rId4">
              <a:alphaModFix/>
            </a:blip>
            <a:srcRect b="0" l="0" r="0" t="0"/>
            <a:stretch/>
          </p:blipFill>
          <p:spPr>
            <a:xfrm>
              <a:off x="6000949" y="3434900"/>
              <a:ext cx="336300" cy="336300"/>
            </a:xfrm>
            <a:prstGeom prst="rect">
              <a:avLst/>
            </a:prstGeom>
            <a:noFill/>
            <a:ln>
              <a:noFill/>
            </a:ln>
          </p:spPr>
        </p:pic>
      </p:grpSp>
      <p:grpSp>
        <p:nvGrpSpPr>
          <p:cNvPr id="2065" name="Google Shape;2065;p96"/>
          <p:cNvGrpSpPr/>
          <p:nvPr/>
        </p:nvGrpSpPr>
        <p:grpSpPr>
          <a:xfrm>
            <a:off x="5227850" y="4421938"/>
            <a:ext cx="1162200" cy="611950"/>
            <a:chOff x="5227850" y="3159250"/>
            <a:chExt cx="1162200" cy="611950"/>
          </a:xfrm>
        </p:grpSpPr>
        <p:sp>
          <p:nvSpPr>
            <p:cNvPr id="2041" name="Google Shape;2041;p96"/>
            <p:cNvSpPr/>
            <p:nvPr/>
          </p:nvSpPr>
          <p:spPr>
            <a:xfrm>
              <a:off x="5227850" y="3186335"/>
              <a:ext cx="1162200" cy="5835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p:txBody>
        </p:sp>
        <p:pic>
          <p:nvPicPr>
            <p:cNvPr id="2066" name="Google Shape;2066;p96"/>
            <p:cNvPicPr preferRelativeResize="0"/>
            <p:nvPr/>
          </p:nvPicPr>
          <p:blipFill rotWithShape="1">
            <a:blip r:embed="rId4">
              <a:alphaModFix/>
            </a:blip>
            <a:srcRect b="0" l="0" r="0" t="0"/>
            <a:stretch/>
          </p:blipFill>
          <p:spPr>
            <a:xfrm>
              <a:off x="5280649" y="3426400"/>
              <a:ext cx="336300" cy="336300"/>
            </a:xfrm>
            <a:prstGeom prst="rect">
              <a:avLst/>
            </a:prstGeom>
            <a:noFill/>
            <a:ln>
              <a:noFill/>
            </a:ln>
          </p:spPr>
        </p:pic>
        <p:pic>
          <p:nvPicPr>
            <p:cNvPr id="2067" name="Google Shape;2067;p96"/>
            <p:cNvPicPr preferRelativeResize="0"/>
            <p:nvPr/>
          </p:nvPicPr>
          <p:blipFill rotWithShape="1">
            <a:blip r:embed="rId4">
              <a:alphaModFix/>
            </a:blip>
            <a:srcRect b="0" l="0" r="0" t="0"/>
            <a:stretch/>
          </p:blipFill>
          <p:spPr>
            <a:xfrm>
              <a:off x="5640799" y="3434900"/>
              <a:ext cx="336300" cy="336300"/>
            </a:xfrm>
            <a:prstGeom prst="rect">
              <a:avLst/>
            </a:prstGeom>
            <a:noFill/>
            <a:ln>
              <a:noFill/>
            </a:ln>
          </p:spPr>
        </p:pic>
        <p:pic>
          <p:nvPicPr>
            <p:cNvPr id="2068" name="Google Shape;2068;p96"/>
            <p:cNvPicPr preferRelativeResize="0"/>
            <p:nvPr/>
          </p:nvPicPr>
          <p:blipFill rotWithShape="1">
            <a:blip r:embed="rId4">
              <a:alphaModFix/>
            </a:blip>
            <a:srcRect b="0" l="0" r="0" t="0"/>
            <a:stretch/>
          </p:blipFill>
          <p:spPr>
            <a:xfrm>
              <a:off x="6000949" y="3434900"/>
              <a:ext cx="336300" cy="336300"/>
            </a:xfrm>
            <a:prstGeom prst="rect">
              <a:avLst/>
            </a:prstGeom>
            <a:noFill/>
            <a:ln>
              <a:noFill/>
            </a:ln>
          </p:spPr>
        </p:pic>
        <p:sp>
          <p:nvSpPr>
            <p:cNvPr id="2069" name="Google Shape;2069;p96"/>
            <p:cNvSpPr txBox="1"/>
            <p:nvPr/>
          </p:nvSpPr>
          <p:spPr>
            <a:xfrm>
              <a:off x="5366900" y="3159250"/>
              <a:ext cx="92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DM Sans Medium"/>
                  <a:ea typeface="DM Sans Medium"/>
                  <a:cs typeface="DM Sans Medium"/>
                  <a:sym typeface="DM Sans Medium"/>
                </a:rPr>
                <a:t>Schema 2</a:t>
              </a:r>
              <a:endParaRPr sz="1200">
                <a:latin typeface="DM Sans Medium"/>
                <a:ea typeface="DM Sans Medium"/>
                <a:cs typeface="DM Sans Medium"/>
                <a:sym typeface="DM Sans Medium"/>
              </a:endParaRPr>
            </a:p>
          </p:txBody>
        </p:sp>
      </p:grpSp>
      <p:sp>
        <p:nvSpPr>
          <p:cNvPr id="2070" name="Google Shape;2070;p96"/>
          <p:cNvSpPr txBox="1"/>
          <p:nvPr/>
        </p:nvSpPr>
        <p:spPr>
          <a:xfrm>
            <a:off x="199650" y="266275"/>
            <a:ext cx="103815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Three-level hierarchy of managed table/volume storage</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/_static/images/unity-catalog/managed-storage.png</a:t>
            </a:r>
            <a:endParaRPr sz="1500">
              <a:solidFill>
                <a:schemeClr val="accent1"/>
              </a:solidFill>
              <a:latin typeface="DM Sans Medium"/>
              <a:ea typeface="DM Sans Medium"/>
              <a:cs typeface="DM Sans Medium"/>
              <a:sym typeface="DM Sans Medium"/>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4" name="Shape 2074"/>
        <p:cNvGrpSpPr/>
        <p:nvPr/>
      </p:nvGrpSpPr>
      <p:grpSpPr>
        <a:xfrm>
          <a:off x="0" y="0"/>
          <a:ext cx="0" cy="0"/>
          <a:chOff x="0" y="0"/>
          <a:chExt cx="0" cy="0"/>
        </a:xfrm>
      </p:grpSpPr>
      <p:sp>
        <p:nvSpPr>
          <p:cNvPr id="2075" name="Google Shape;2075;p97"/>
          <p:cNvSpPr/>
          <p:nvPr/>
        </p:nvSpPr>
        <p:spPr>
          <a:xfrm>
            <a:off x="1297775" y="2018275"/>
            <a:ext cx="5557800" cy="3472500"/>
          </a:xfrm>
          <a:prstGeom prst="roundRect">
            <a:avLst>
              <a:gd fmla="val 16667" name="adj"/>
            </a:avLst>
          </a:prstGeom>
          <a:no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DM Sans"/>
              <a:ea typeface="DM Sans"/>
              <a:cs typeface="DM Sans"/>
              <a:sym typeface="DM Sans"/>
            </a:endParaRPr>
          </a:p>
        </p:txBody>
      </p:sp>
      <p:sp>
        <p:nvSpPr>
          <p:cNvPr id="2076" name="Google Shape;2076;p9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077" name="Google Shape;2077;p97"/>
          <p:cNvSpPr txBox="1"/>
          <p:nvPr/>
        </p:nvSpPr>
        <p:spPr>
          <a:xfrm>
            <a:off x="0" y="228600"/>
            <a:ext cx="93363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Metastore-level vs catalog-level ownership</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/_static/images/unity-catalog/ownership.png</a:t>
            </a:r>
            <a:endParaRPr/>
          </a:p>
        </p:txBody>
      </p:sp>
      <p:sp>
        <p:nvSpPr>
          <p:cNvPr id="2078" name="Google Shape;2078;p97"/>
          <p:cNvSpPr txBox="1"/>
          <p:nvPr/>
        </p:nvSpPr>
        <p:spPr>
          <a:xfrm>
            <a:off x="3462125" y="2018275"/>
            <a:ext cx="12291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DM Sans"/>
                <a:ea typeface="DM Sans"/>
                <a:cs typeface="DM Sans"/>
                <a:sym typeface="DM Sans"/>
              </a:rPr>
              <a:t>Metastore</a:t>
            </a:r>
            <a:endParaRPr sz="1600">
              <a:solidFill>
                <a:schemeClr val="dk1"/>
              </a:solidFill>
              <a:latin typeface="DM Sans"/>
              <a:ea typeface="DM Sans"/>
              <a:cs typeface="DM Sans"/>
              <a:sym typeface="DM Sans"/>
            </a:endParaRPr>
          </a:p>
        </p:txBody>
      </p:sp>
      <p:sp>
        <p:nvSpPr>
          <p:cNvPr id="2079" name="Google Shape;2079;p97"/>
          <p:cNvSpPr txBox="1"/>
          <p:nvPr/>
        </p:nvSpPr>
        <p:spPr>
          <a:xfrm>
            <a:off x="2667275" y="4952175"/>
            <a:ext cx="2818800" cy="41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Metastore admin (optional)</a:t>
            </a:r>
            <a:endParaRPr>
              <a:solidFill>
                <a:schemeClr val="accent1"/>
              </a:solidFill>
              <a:latin typeface="DM Sans"/>
              <a:ea typeface="DM Sans"/>
              <a:cs typeface="DM Sans"/>
              <a:sym typeface="DM Sans"/>
            </a:endParaRPr>
          </a:p>
        </p:txBody>
      </p:sp>
      <p:grpSp>
        <p:nvGrpSpPr>
          <p:cNvPr id="2080" name="Google Shape;2080;p97"/>
          <p:cNvGrpSpPr/>
          <p:nvPr/>
        </p:nvGrpSpPr>
        <p:grpSpPr>
          <a:xfrm>
            <a:off x="1599775" y="2367175"/>
            <a:ext cx="2476900" cy="2433575"/>
            <a:chOff x="1599775" y="2290975"/>
            <a:chExt cx="2476900" cy="2433575"/>
          </a:xfrm>
        </p:grpSpPr>
        <p:sp>
          <p:nvSpPr>
            <p:cNvPr id="2081" name="Google Shape;2081;p97"/>
            <p:cNvSpPr/>
            <p:nvPr/>
          </p:nvSpPr>
          <p:spPr>
            <a:xfrm>
              <a:off x="1599775" y="2570850"/>
              <a:ext cx="2255100" cy="2153700"/>
            </a:xfrm>
            <a:prstGeom prst="roundRect">
              <a:avLst>
                <a:gd fmla="val 8790" name="adj"/>
              </a:avLst>
            </a:prstGeom>
            <a:solidFill>
              <a:srgbClr val="FFFFFF"/>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97"/>
            <p:cNvSpPr/>
            <p:nvPr/>
          </p:nvSpPr>
          <p:spPr>
            <a:xfrm>
              <a:off x="1742952" y="2724828"/>
              <a:ext cx="1136100" cy="3489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accent3"/>
                  </a:solidFill>
                  <a:latin typeface="DM Sans Medium"/>
                  <a:ea typeface="DM Sans Medium"/>
                  <a:cs typeface="DM Sans Medium"/>
                  <a:sym typeface="DM Sans Medium"/>
                </a:rPr>
                <a:t>Catalog 1</a:t>
              </a:r>
              <a:endParaRPr sz="1200">
                <a:solidFill>
                  <a:schemeClr val="accent3"/>
                </a:solidFill>
                <a:latin typeface="DM Sans Medium"/>
                <a:ea typeface="DM Sans Medium"/>
                <a:cs typeface="DM Sans Medium"/>
                <a:sym typeface="DM Sans Medium"/>
              </a:endParaRPr>
            </a:p>
          </p:txBody>
        </p:sp>
        <p:sp>
          <p:nvSpPr>
            <p:cNvPr id="2083" name="Google Shape;2083;p97"/>
            <p:cNvSpPr/>
            <p:nvPr/>
          </p:nvSpPr>
          <p:spPr>
            <a:xfrm>
              <a:off x="2550052" y="3263316"/>
              <a:ext cx="1136100" cy="3489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accent3"/>
                  </a:solidFill>
                  <a:latin typeface="DM Sans Medium"/>
                  <a:ea typeface="DM Sans Medium"/>
                  <a:cs typeface="DM Sans Medium"/>
                  <a:sym typeface="DM Sans Medium"/>
                </a:rPr>
                <a:t>Schema 1</a:t>
              </a:r>
              <a:endParaRPr sz="1200">
                <a:solidFill>
                  <a:schemeClr val="accent3"/>
                </a:solidFill>
                <a:latin typeface="DM Sans Medium"/>
                <a:ea typeface="DM Sans Medium"/>
                <a:cs typeface="DM Sans Medium"/>
                <a:sym typeface="DM Sans Medium"/>
              </a:endParaRPr>
            </a:p>
          </p:txBody>
        </p:sp>
        <p:sp>
          <p:nvSpPr>
            <p:cNvPr id="2084" name="Google Shape;2084;p97"/>
            <p:cNvSpPr txBox="1"/>
            <p:nvPr/>
          </p:nvSpPr>
          <p:spPr>
            <a:xfrm>
              <a:off x="1970475" y="4214150"/>
              <a:ext cx="1735500" cy="41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801C17"/>
                  </a:solidFill>
                  <a:latin typeface="DM Sans"/>
                  <a:ea typeface="DM Sans"/>
                  <a:cs typeface="DM Sans"/>
                  <a:sym typeface="DM Sans"/>
                </a:rPr>
                <a:t>Catalog 1 owner</a:t>
              </a:r>
              <a:endParaRPr>
                <a:solidFill>
                  <a:srgbClr val="801C17"/>
                </a:solidFill>
                <a:latin typeface="DM Sans"/>
                <a:ea typeface="DM Sans"/>
                <a:cs typeface="DM Sans"/>
                <a:sym typeface="DM Sans"/>
              </a:endParaRPr>
            </a:p>
          </p:txBody>
        </p:sp>
        <p:cxnSp>
          <p:nvCxnSpPr>
            <p:cNvPr id="2085" name="Google Shape;2085;p97"/>
            <p:cNvCxnSpPr>
              <a:stCxn id="2082" idx="2"/>
              <a:endCxn id="2083" idx="1"/>
            </p:cNvCxnSpPr>
            <p:nvPr/>
          </p:nvCxnSpPr>
          <p:spPr>
            <a:xfrm flipH="1" rot="-5400000">
              <a:off x="2248602" y="3136128"/>
              <a:ext cx="363900" cy="239100"/>
            </a:xfrm>
            <a:prstGeom prst="bentConnector2">
              <a:avLst/>
            </a:prstGeom>
            <a:noFill/>
            <a:ln cap="flat" cmpd="sng" w="9525">
              <a:solidFill>
                <a:schemeClr val="dk1"/>
              </a:solidFill>
              <a:prstDash val="solid"/>
              <a:round/>
              <a:headEnd len="med" w="med" type="none"/>
              <a:tailEnd len="med" w="med" type="triangle"/>
            </a:ln>
          </p:spPr>
        </p:cxnSp>
        <p:cxnSp>
          <p:nvCxnSpPr>
            <p:cNvPr id="2086" name="Google Shape;2086;p97"/>
            <p:cNvCxnSpPr>
              <a:stCxn id="2082" idx="2"/>
            </p:cNvCxnSpPr>
            <p:nvPr/>
          </p:nvCxnSpPr>
          <p:spPr>
            <a:xfrm>
              <a:off x="2311002" y="3073728"/>
              <a:ext cx="0" cy="0"/>
            </a:xfrm>
            <a:prstGeom prst="straightConnector1">
              <a:avLst/>
            </a:prstGeom>
            <a:noFill/>
            <a:ln cap="flat" cmpd="sng" w="9525">
              <a:solidFill>
                <a:schemeClr val="dk2"/>
              </a:solidFill>
              <a:prstDash val="solid"/>
              <a:round/>
              <a:headEnd len="med" w="med" type="none"/>
              <a:tailEnd len="med" w="med" type="none"/>
            </a:ln>
          </p:spPr>
        </p:cxnSp>
        <p:cxnSp>
          <p:nvCxnSpPr>
            <p:cNvPr id="2087" name="Google Shape;2087;p97"/>
            <p:cNvCxnSpPr>
              <a:stCxn id="2078" idx="2"/>
              <a:endCxn id="2082" idx="0"/>
            </p:cNvCxnSpPr>
            <p:nvPr/>
          </p:nvCxnSpPr>
          <p:spPr>
            <a:xfrm rot="5400000">
              <a:off x="2976875" y="1624975"/>
              <a:ext cx="433800" cy="1765800"/>
            </a:xfrm>
            <a:prstGeom prst="bentConnector3">
              <a:avLst>
                <a:gd fmla="val 23553" name="adj1"/>
              </a:avLst>
            </a:prstGeom>
            <a:noFill/>
            <a:ln cap="flat" cmpd="sng" w="9525">
              <a:solidFill>
                <a:schemeClr val="dk1"/>
              </a:solidFill>
              <a:prstDash val="solid"/>
              <a:round/>
              <a:headEnd len="med" w="med" type="none"/>
              <a:tailEnd len="med" w="med" type="triangle"/>
            </a:ln>
          </p:spPr>
        </p:cxnSp>
      </p:grpSp>
      <p:grpSp>
        <p:nvGrpSpPr>
          <p:cNvPr id="2088" name="Google Shape;2088;p97"/>
          <p:cNvGrpSpPr/>
          <p:nvPr/>
        </p:nvGrpSpPr>
        <p:grpSpPr>
          <a:xfrm>
            <a:off x="4076675" y="2367175"/>
            <a:ext cx="2432425" cy="2433575"/>
            <a:chOff x="4076675" y="2290975"/>
            <a:chExt cx="2432425" cy="2433575"/>
          </a:xfrm>
        </p:grpSpPr>
        <p:sp>
          <p:nvSpPr>
            <p:cNvPr id="2089" name="Google Shape;2089;p97"/>
            <p:cNvSpPr/>
            <p:nvPr/>
          </p:nvSpPr>
          <p:spPr>
            <a:xfrm>
              <a:off x="4254000" y="2570850"/>
              <a:ext cx="2255100" cy="2153700"/>
            </a:xfrm>
            <a:prstGeom prst="roundRect">
              <a:avLst>
                <a:gd fmla="val 8790" name="adj"/>
              </a:avLst>
            </a:prstGeom>
            <a:solidFill>
              <a:srgbClr val="FFFFFF"/>
            </a:solidFill>
            <a:ln cap="flat" cmpd="sng" w="9525">
              <a:solidFill>
                <a:srgbClr val="0087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97"/>
            <p:cNvSpPr/>
            <p:nvPr/>
          </p:nvSpPr>
          <p:spPr>
            <a:xfrm>
              <a:off x="4404902" y="2724828"/>
              <a:ext cx="1136100" cy="3489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rgbClr val="00875C"/>
                  </a:solidFill>
                  <a:latin typeface="DM Sans Medium"/>
                  <a:ea typeface="DM Sans Medium"/>
                  <a:cs typeface="DM Sans Medium"/>
                  <a:sym typeface="DM Sans Medium"/>
                </a:rPr>
                <a:t>Catalog 2</a:t>
              </a:r>
              <a:endParaRPr sz="1200">
                <a:solidFill>
                  <a:srgbClr val="00875C"/>
                </a:solidFill>
                <a:latin typeface="DM Sans Medium"/>
                <a:ea typeface="DM Sans Medium"/>
                <a:cs typeface="DM Sans Medium"/>
                <a:sym typeface="DM Sans Medium"/>
              </a:endParaRPr>
            </a:p>
          </p:txBody>
        </p:sp>
        <p:sp>
          <p:nvSpPr>
            <p:cNvPr id="2091" name="Google Shape;2091;p97"/>
            <p:cNvSpPr/>
            <p:nvPr/>
          </p:nvSpPr>
          <p:spPr>
            <a:xfrm>
              <a:off x="5225852" y="3734566"/>
              <a:ext cx="1136100" cy="3489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rgbClr val="00875C"/>
                  </a:solidFill>
                  <a:latin typeface="DM Sans Medium"/>
                  <a:ea typeface="DM Sans Medium"/>
                  <a:cs typeface="DM Sans Medium"/>
                  <a:sym typeface="DM Sans Medium"/>
                </a:rPr>
                <a:t>Schema 3</a:t>
              </a:r>
              <a:r>
                <a:rPr lang="en" sz="1200">
                  <a:latin typeface="DM Sans Medium"/>
                  <a:ea typeface="DM Sans Medium"/>
                  <a:cs typeface="DM Sans Medium"/>
                  <a:sym typeface="DM Sans Medium"/>
                </a:rPr>
                <a:t> </a:t>
              </a:r>
              <a:endParaRPr sz="1200">
                <a:latin typeface="DM Sans Medium"/>
                <a:ea typeface="DM Sans Medium"/>
                <a:cs typeface="DM Sans Medium"/>
                <a:sym typeface="DM Sans Medium"/>
              </a:endParaRPr>
            </a:p>
          </p:txBody>
        </p:sp>
        <p:sp>
          <p:nvSpPr>
            <p:cNvPr id="2092" name="Google Shape;2092;p97"/>
            <p:cNvSpPr/>
            <p:nvPr/>
          </p:nvSpPr>
          <p:spPr>
            <a:xfrm>
              <a:off x="5225852" y="3240478"/>
              <a:ext cx="1136100" cy="3489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rgbClr val="00875C"/>
                  </a:solidFill>
                  <a:latin typeface="DM Sans Medium"/>
                  <a:ea typeface="DM Sans Medium"/>
                  <a:cs typeface="DM Sans Medium"/>
                  <a:sym typeface="DM Sans Medium"/>
                </a:rPr>
                <a:t>Schema 2</a:t>
              </a:r>
              <a:endParaRPr sz="1200">
                <a:solidFill>
                  <a:srgbClr val="00875C"/>
                </a:solidFill>
                <a:latin typeface="DM Sans Medium"/>
                <a:ea typeface="DM Sans Medium"/>
                <a:cs typeface="DM Sans Medium"/>
                <a:sym typeface="DM Sans Medium"/>
              </a:endParaRPr>
            </a:p>
          </p:txBody>
        </p:sp>
        <p:sp>
          <p:nvSpPr>
            <p:cNvPr id="2093" name="Google Shape;2093;p97"/>
            <p:cNvSpPr txBox="1"/>
            <p:nvPr/>
          </p:nvSpPr>
          <p:spPr>
            <a:xfrm>
              <a:off x="4641500" y="4228663"/>
              <a:ext cx="1735500" cy="41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875C"/>
                  </a:solidFill>
                  <a:latin typeface="DM Sans"/>
                  <a:ea typeface="DM Sans"/>
                  <a:cs typeface="DM Sans"/>
                  <a:sym typeface="DM Sans"/>
                </a:rPr>
                <a:t>Catalog 2 owner</a:t>
              </a:r>
              <a:endParaRPr>
                <a:solidFill>
                  <a:srgbClr val="00875C"/>
                </a:solidFill>
                <a:latin typeface="DM Sans"/>
                <a:ea typeface="DM Sans"/>
                <a:cs typeface="DM Sans"/>
                <a:sym typeface="DM Sans"/>
              </a:endParaRPr>
            </a:p>
          </p:txBody>
        </p:sp>
        <p:cxnSp>
          <p:nvCxnSpPr>
            <p:cNvPr id="2094" name="Google Shape;2094;p97"/>
            <p:cNvCxnSpPr>
              <a:stCxn id="2090" idx="2"/>
              <a:endCxn id="2092" idx="1"/>
            </p:cNvCxnSpPr>
            <p:nvPr/>
          </p:nvCxnSpPr>
          <p:spPr>
            <a:xfrm flipH="1" rot="-5400000">
              <a:off x="4928852" y="3117828"/>
              <a:ext cx="341100" cy="252900"/>
            </a:xfrm>
            <a:prstGeom prst="bentConnector2">
              <a:avLst/>
            </a:prstGeom>
            <a:noFill/>
            <a:ln cap="flat" cmpd="sng" w="9525">
              <a:solidFill>
                <a:schemeClr val="dk1"/>
              </a:solidFill>
              <a:prstDash val="solid"/>
              <a:round/>
              <a:headEnd len="med" w="med" type="none"/>
              <a:tailEnd len="med" w="med" type="triangle"/>
            </a:ln>
          </p:spPr>
        </p:cxnSp>
        <p:cxnSp>
          <p:nvCxnSpPr>
            <p:cNvPr id="2095" name="Google Shape;2095;p97"/>
            <p:cNvCxnSpPr>
              <a:stCxn id="2090" idx="2"/>
              <a:endCxn id="2091" idx="1"/>
            </p:cNvCxnSpPr>
            <p:nvPr/>
          </p:nvCxnSpPr>
          <p:spPr>
            <a:xfrm flipH="1" rot="-5400000">
              <a:off x="4681802" y="3364878"/>
              <a:ext cx="835200" cy="252900"/>
            </a:xfrm>
            <a:prstGeom prst="bentConnector2">
              <a:avLst/>
            </a:prstGeom>
            <a:noFill/>
            <a:ln cap="flat" cmpd="sng" w="9525">
              <a:solidFill>
                <a:schemeClr val="dk1"/>
              </a:solidFill>
              <a:prstDash val="solid"/>
              <a:round/>
              <a:headEnd len="med" w="med" type="none"/>
              <a:tailEnd len="med" w="med" type="triangle"/>
            </a:ln>
          </p:spPr>
        </p:cxnSp>
        <p:cxnSp>
          <p:nvCxnSpPr>
            <p:cNvPr id="2096" name="Google Shape;2096;p97"/>
            <p:cNvCxnSpPr>
              <a:stCxn id="2078" idx="2"/>
              <a:endCxn id="2090" idx="0"/>
            </p:cNvCxnSpPr>
            <p:nvPr/>
          </p:nvCxnSpPr>
          <p:spPr>
            <a:xfrm flipH="1" rot="-5400000">
              <a:off x="4307975" y="2059675"/>
              <a:ext cx="433800" cy="896400"/>
            </a:xfrm>
            <a:prstGeom prst="bentConnector3">
              <a:avLst>
                <a:gd fmla="val 23553" name="adj1"/>
              </a:avLst>
            </a:prstGeom>
            <a:noFill/>
            <a:ln cap="flat" cmpd="sng" w="9525">
              <a:solidFill>
                <a:schemeClr val="dk1"/>
              </a:solidFill>
              <a:prstDash val="solid"/>
              <a:round/>
              <a:headEnd len="med" w="med" type="none"/>
              <a:tailEnd len="med" w="med" type="triangle"/>
            </a:ln>
          </p:spPr>
        </p:cxnSp>
      </p:grpSp>
      <p:pic>
        <p:nvPicPr>
          <p:cNvPr id="2097" name="Google Shape;2097;p97"/>
          <p:cNvPicPr preferRelativeResize="0"/>
          <p:nvPr/>
        </p:nvPicPr>
        <p:blipFill rotWithShape="1">
          <a:blip r:embed="rId3">
            <a:alphaModFix/>
          </a:blip>
          <a:srcRect b="0" l="0" r="0" t="0"/>
          <a:stretch/>
        </p:blipFill>
        <p:spPr>
          <a:xfrm>
            <a:off x="2494625" y="4952175"/>
            <a:ext cx="413099" cy="413099"/>
          </a:xfrm>
          <a:prstGeom prst="rect">
            <a:avLst/>
          </a:prstGeom>
          <a:noFill/>
          <a:ln>
            <a:noFill/>
          </a:ln>
        </p:spPr>
      </p:pic>
      <p:pic>
        <p:nvPicPr>
          <p:cNvPr id="2098" name="Google Shape;2098;p97"/>
          <p:cNvPicPr preferRelativeResize="0"/>
          <p:nvPr/>
        </p:nvPicPr>
        <p:blipFill rotWithShape="1">
          <a:blip r:embed="rId3">
            <a:alphaModFix/>
          </a:blip>
          <a:srcRect b="0" l="0" r="0" t="0"/>
          <a:stretch/>
        </p:blipFill>
        <p:spPr>
          <a:xfrm>
            <a:off x="1752425" y="4290350"/>
            <a:ext cx="413099" cy="413099"/>
          </a:xfrm>
          <a:prstGeom prst="rect">
            <a:avLst/>
          </a:prstGeom>
          <a:noFill/>
          <a:ln>
            <a:noFill/>
          </a:ln>
        </p:spPr>
      </p:pic>
      <p:pic>
        <p:nvPicPr>
          <p:cNvPr id="2099" name="Google Shape;2099;p97"/>
          <p:cNvPicPr preferRelativeResize="0"/>
          <p:nvPr/>
        </p:nvPicPr>
        <p:blipFill rotWithShape="1">
          <a:blip r:embed="rId3">
            <a:alphaModFix/>
          </a:blip>
          <a:srcRect b="0" l="0" r="0" t="0"/>
          <a:stretch/>
        </p:blipFill>
        <p:spPr>
          <a:xfrm>
            <a:off x="4374350" y="4290350"/>
            <a:ext cx="413099" cy="41309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3" name="Shape 2103"/>
        <p:cNvGrpSpPr/>
        <p:nvPr/>
      </p:nvGrpSpPr>
      <p:grpSpPr>
        <a:xfrm>
          <a:off x="0" y="0"/>
          <a:ext cx="0" cy="0"/>
          <a:chOff x="0" y="0"/>
          <a:chExt cx="0" cy="0"/>
        </a:xfrm>
      </p:grpSpPr>
      <p:sp>
        <p:nvSpPr>
          <p:cNvPr id="2104" name="Google Shape;2104;p98"/>
          <p:cNvSpPr txBox="1"/>
          <p:nvPr>
            <p:ph idx="1" type="subTitle"/>
          </p:nvPr>
        </p:nvSpPr>
        <p:spPr>
          <a:xfrm>
            <a:off x="764800" y="609598"/>
            <a:ext cx="10659300" cy="1148700"/>
          </a:xfrm>
          <a:prstGeom prst="rect">
            <a:avLst/>
          </a:prstGeom>
        </p:spPr>
        <p:txBody>
          <a:bodyPr anchorCtr="0" anchor="t" bIns="121875" lIns="121875" spcFirstLastPara="1" rIns="121875" wrap="square" tIns="121875">
            <a:normAutofit lnSpcReduction="20000"/>
          </a:bodyPr>
          <a:lstStyle/>
          <a:p>
            <a:pPr indent="0" lvl="0" marL="0" rtl="0" algn="l">
              <a:spcBef>
                <a:spcPts val="0"/>
              </a:spcBef>
              <a:spcAft>
                <a:spcPts val="0"/>
              </a:spcAft>
              <a:buNone/>
            </a:pPr>
            <a:r>
              <a:rPr lang="en"/>
              <a:t>Networking classic compute plane and serverless compute plane</a:t>
            </a:r>
            <a:endParaRPr/>
          </a:p>
          <a:p>
            <a:pPr indent="0" lvl="0" marL="0" rtl="0" algn="l">
              <a:spcBef>
                <a:spcPts val="1600"/>
              </a:spcBef>
              <a:spcAft>
                <a:spcPts val="1600"/>
              </a:spcAft>
              <a:buNone/>
            </a:pPr>
            <a:r>
              <a:rPr lang="en"/>
              <a:t>/_static/images/security/network/networking-classic-serverless.png</a:t>
            </a:r>
            <a:endParaRPr/>
          </a:p>
        </p:txBody>
      </p:sp>
      <p:sp>
        <p:nvSpPr>
          <p:cNvPr id="2105" name="Google Shape;2105;p9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106" name="Google Shape;2106;p98"/>
          <p:cNvSpPr/>
          <p:nvPr/>
        </p:nvSpPr>
        <p:spPr>
          <a:xfrm>
            <a:off x="7968225" y="5138850"/>
            <a:ext cx="2619900" cy="9357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Your resources </a:t>
            </a:r>
            <a:endParaRPr sz="1200">
              <a:solidFill>
                <a:srgbClr val="1B5162"/>
              </a:solidFill>
              <a:latin typeface="DM Sans Medium"/>
              <a:ea typeface="DM Sans Medium"/>
              <a:cs typeface="DM Sans Medium"/>
              <a:sym typeface="DM Sans Medium"/>
            </a:endParaRPr>
          </a:p>
        </p:txBody>
      </p:sp>
      <p:sp>
        <p:nvSpPr>
          <p:cNvPr id="2107" name="Google Shape;2107;p98"/>
          <p:cNvSpPr/>
          <p:nvPr/>
        </p:nvSpPr>
        <p:spPr>
          <a:xfrm>
            <a:off x="7968225" y="2379450"/>
            <a:ext cx="2619900" cy="15615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108" name="Google Shape;2108;p98"/>
          <p:cNvSpPr/>
          <p:nvPr/>
        </p:nvSpPr>
        <p:spPr>
          <a:xfrm>
            <a:off x="3219325" y="1538300"/>
            <a:ext cx="3329100" cy="48054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109" name="Google Shape;2109;p98"/>
          <p:cNvCxnSpPr>
            <a:stCxn id="2108" idx="1"/>
            <a:endCxn id="2110" idx="3"/>
          </p:cNvCxnSpPr>
          <p:nvPr/>
        </p:nvCxnSpPr>
        <p:spPr>
          <a:xfrm rot="10800000">
            <a:off x="1916725" y="3941000"/>
            <a:ext cx="1302600" cy="0"/>
          </a:xfrm>
          <a:prstGeom prst="straightConnector1">
            <a:avLst/>
          </a:prstGeom>
          <a:noFill/>
          <a:ln cap="flat" cmpd="sng" w="19050">
            <a:solidFill>
              <a:srgbClr val="618794"/>
            </a:solidFill>
            <a:prstDash val="solid"/>
            <a:round/>
            <a:headEnd len="med" w="med" type="triangle"/>
            <a:tailEnd len="sm" w="sm" type="triangle"/>
          </a:ln>
        </p:spPr>
      </p:cxnSp>
      <p:grpSp>
        <p:nvGrpSpPr>
          <p:cNvPr id="2111" name="Google Shape;2111;p98"/>
          <p:cNvGrpSpPr/>
          <p:nvPr/>
        </p:nvGrpSpPr>
        <p:grpSpPr>
          <a:xfrm>
            <a:off x="787622" y="3448126"/>
            <a:ext cx="1129192" cy="985751"/>
            <a:chOff x="91762" y="2601287"/>
            <a:chExt cx="1189500" cy="1083600"/>
          </a:xfrm>
        </p:grpSpPr>
        <p:sp>
          <p:nvSpPr>
            <p:cNvPr id="2110" name="Google Shape;2110;p98"/>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Users and applications</a:t>
              </a:r>
              <a:endParaRPr sz="1200">
                <a:solidFill>
                  <a:srgbClr val="1B5162"/>
                </a:solidFill>
                <a:latin typeface="DM Sans Medium"/>
                <a:ea typeface="DM Sans Medium"/>
                <a:cs typeface="DM Sans Medium"/>
                <a:sym typeface="DM Sans Medium"/>
              </a:endParaRPr>
            </a:p>
          </p:txBody>
        </p:sp>
        <p:pic>
          <p:nvPicPr>
            <p:cNvPr id="2112" name="Google Shape;2112;p98"/>
            <p:cNvPicPr preferRelativeResize="0"/>
            <p:nvPr/>
          </p:nvPicPr>
          <p:blipFill rotWithShape="1">
            <a:blip r:embed="rId3">
              <a:alphaModFix/>
            </a:blip>
            <a:srcRect b="0" l="0" r="0" t="0"/>
            <a:stretch/>
          </p:blipFill>
          <p:spPr>
            <a:xfrm>
              <a:off x="452892" y="3143220"/>
              <a:ext cx="467236" cy="437700"/>
            </a:xfrm>
            <a:prstGeom prst="rect">
              <a:avLst/>
            </a:prstGeom>
            <a:noFill/>
            <a:ln>
              <a:noFill/>
            </a:ln>
          </p:spPr>
        </p:pic>
      </p:grpSp>
      <p:grpSp>
        <p:nvGrpSpPr>
          <p:cNvPr id="2113" name="Google Shape;2113;p98"/>
          <p:cNvGrpSpPr/>
          <p:nvPr/>
        </p:nvGrpSpPr>
        <p:grpSpPr>
          <a:xfrm>
            <a:off x="3676163" y="2063624"/>
            <a:ext cx="2143616" cy="2235448"/>
            <a:chOff x="1013125" y="382029"/>
            <a:chExt cx="2245800" cy="2282700"/>
          </a:xfrm>
        </p:grpSpPr>
        <p:sp>
          <p:nvSpPr>
            <p:cNvPr id="2114" name="Google Shape;2114;p98"/>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Control plane</a:t>
              </a:r>
              <a:endParaRPr sz="1200">
                <a:solidFill>
                  <a:srgbClr val="1B5162"/>
                </a:solidFill>
                <a:latin typeface="DM Sans Medium"/>
                <a:ea typeface="DM Sans Medium"/>
                <a:cs typeface="DM Sans Medium"/>
                <a:sym typeface="DM Sans Medium"/>
              </a:endParaRPr>
            </a:p>
          </p:txBody>
        </p:sp>
        <p:sp>
          <p:nvSpPr>
            <p:cNvPr id="2115" name="Google Shape;2115;p98"/>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1000" u="none" cap="none" strike="noStrike">
                  <a:solidFill>
                    <a:srgbClr val="1B3038"/>
                  </a:solidFill>
                  <a:latin typeface="DM Sans"/>
                  <a:ea typeface="DM Sans"/>
                  <a:cs typeface="DM Sans"/>
                  <a:sym typeface="DM Sans"/>
                </a:rPr>
                <a:t>Web </a:t>
              </a:r>
              <a:r>
                <a:rPr lang="en" sz="1000">
                  <a:solidFill>
                    <a:srgbClr val="1B3038"/>
                  </a:solidFill>
                  <a:latin typeface="DM Sans"/>
                  <a:ea typeface="DM Sans"/>
                  <a:cs typeface="DM Sans"/>
                  <a:sym typeface="DM Sans"/>
                </a:rPr>
                <a:t>a</a:t>
              </a:r>
              <a:r>
                <a:rPr i="0" lang="en" sz="1000" u="none" cap="none" strike="noStrike">
                  <a:solidFill>
                    <a:srgbClr val="1B3038"/>
                  </a:solidFill>
                  <a:latin typeface="DM Sans"/>
                  <a:ea typeface="DM Sans"/>
                  <a:cs typeface="DM Sans"/>
                  <a:sym typeface="DM Sans"/>
                </a:rPr>
                <a:t>pplication</a:t>
              </a:r>
              <a:endParaRPr i="0" sz="1000" u="none" cap="none" strike="noStrike">
                <a:solidFill>
                  <a:srgbClr val="1B3038"/>
                </a:solidFill>
                <a:latin typeface="DM Sans"/>
                <a:ea typeface="DM Sans"/>
                <a:cs typeface="DM Sans"/>
                <a:sym typeface="DM Sans"/>
              </a:endParaRPr>
            </a:p>
          </p:txBody>
        </p:sp>
        <p:sp>
          <p:nvSpPr>
            <p:cNvPr id="2116" name="Google Shape;2116;p98"/>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Unity Catalog</a:t>
              </a:r>
              <a:endParaRPr sz="1000">
                <a:solidFill>
                  <a:srgbClr val="1B3038"/>
                </a:solidFill>
                <a:latin typeface="DM Sans"/>
                <a:ea typeface="DM Sans"/>
                <a:cs typeface="DM Sans"/>
                <a:sym typeface="DM Sans"/>
              </a:endParaRPr>
            </a:p>
          </p:txBody>
        </p:sp>
        <p:sp>
          <p:nvSpPr>
            <p:cNvPr id="2117" name="Google Shape;2117;p98"/>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Queries and code</a:t>
              </a:r>
              <a:endParaRPr sz="1000">
                <a:solidFill>
                  <a:srgbClr val="1B3038"/>
                </a:solidFill>
                <a:latin typeface="DM Sans"/>
                <a:ea typeface="DM Sans"/>
                <a:cs typeface="DM Sans"/>
                <a:sym typeface="DM Sans"/>
              </a:endParaRPr>
            </a:p>
          </p:txBody>
        </p:sp>
        <p:sp>
          <p:nvSpPr>
            <p:cNvPr id="2118" name="Google Shape;2118;p98"/>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 orchestration</a:t>
              </a:r>
              <a:endParaRPr sz="1000">
                <a:solidFill>
                  <a:srgbClr val="1B3038"/>
                </a:solidFill>
                <a:latin typeface="DM Sans"/>
                <a:ea typeface="DM Sans"/>
                <a:cs typeface="DM Sans"/>
                <a:sym typeface="DM Sans"/>
              </a:endParaRPr>
            </a:p>
          </p:txBody>
        </p:sp>
      </p:grpSp>
      <p:grpSp>
        <p:nvGrpSpPr>
          <p:cNvPr id="2119" name="Google Shape;2119;p98"/>
          <p:cNvGrpSpPr/>
          <p:nvPr/>
        </p:nvGrpSpPr>
        <p:grpSpPr>
          <a:xfrm>
            <a:off x="8045037" y="2893163"/>
            <a:ext cx="2425385" cy="809098"/>
            <a:chOff x="2348936" y="3137729"/>
            <a:chExt cx="2541000" cy="826200"/>
          </a:xfrm>
        </p:grpSpPr>
        <p:sp>
          <p:nvSpPr>
            <p:cNvPr id="2120" name="Google Shape;2120;p98"/>
            <p:cNvSpPr/>
            <p:nvPr/>
          </p:nvSpPr>
          <p:spPr>
            <a:xfrm>
              <a:off x="2348936" y="3137729"/>
              <a:ext cx="25410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Classic compute workloads</a:t>
              </a:r>
              <a:endParaRPr sz="1200">
                <a:solidFill>
                  <a:srgbClr val="1B5162"/>
                </a:solidFill>
                <a:latin typeface="DM Sans Medium"/>
                <a:ea typeface="DM Sans Medium"/>
                <a:cs typeface="DM Sans Medium"/>
                <a:sym typeface="DM Sans Medium"/>
              </a:endParaRPr>
            </a:p>
          </p:txBody>
        </p:sp>
        <p:sp>
          <p:nvSpPr>
            <p:cNvPr id="2121" name="Google Shape;2121;p98"/>
            <p:cNvSpPr/>
            <p:nvPr/>
          </p:nvSpPr>
          <p:spPr>
            <a:xfrm>
              <a:off x="2664101" y="3480727"/>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sp>
          <p:nvSpPr>
            <p:cNvPr id="2122" name="Google Shape;2122;p98"/>
            <p:cNvSpPr/>
            <p:nvPr/>
          </p:nvSpPr>
          <p:spPr>
            <a:xfrm>
              <a:off x="3668164" y="3480727"/>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grpSp>
      <p:pic>
        <p:nvPicPr>
          <p:cNvPr id="2123" name="Google Shape;2123;p98"/>
          <p:cNvPicPr preferRelativeResize="0"/>
          <p:nvPr/>
        </p:nvPicPr>
        <p:blipFill>
          <a:blip r:embed="rId4">
            <a:alphaModFix/>
          </a:blip>
          <a:stretch>
            <a:fillRect/>
          </a:stretch>
        </p:blipFill>
        <p:spPr>
          <a:xfrm>
            <a:off x="3359349" y="1738748"/>
            <a:ext cx="251450" cy="283777"/>
          </a:xfrm>
          <a:prstGeom prst="rect">
            <a:avLst/>
          </a:prstGeom>
          <a:noFill/>
          <a:ln>
            <a:noFill/>
          </a:ln>
        </p:spPr>
      </p:pic>
      <p:sp>
        <p:nvSpPr>
          <p:cNvPr id="2124" name="Google Shape;2124;p98"/>
          <p:cNvSpPr/>
          <p:nvPr/>
        </p:nvSpPr>
        <p:spPr>
          <a:xfrm>
            <a:off x="2381325" y="3805551"/>
            <a:ext cx="373500" cy="270900"/>
          </a:xfrm>
          <a:prstGeom prst="ellipse">
            <a:avLst/>
          </a:prstGeom>
          <a:solidFill>
            <a:srgbClr val="00A972"/>
          </a:solidFill>
          <a:ln cap="flat" cmpd="sng" w="9525">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DM Sans"/>
                <a:ea typeface="DM Sans"/>
                <a:cs typeface="DM Sans"/>
                <a:sym typeface="DM Sans"/>
              </a:rPr>
              <a:t>1</a:t>
            </a:r>
            <a:endParaRPr b="1" sz="800">
              <a:solidFill>
                <a:srgbClr val="FFFFFF"/>
              </a:solidFill>
              <a:latin typeface="DM Sans"/>
              <a:ea typeface="DM Sans"/>
              <a:cs typeface="DM Sans"/>
              <a:sym typeface="DM Sans"/>
            </a:endParaRPr>
          </a:p>
        </p:txBody>
      </p:sp>
      <p:sp>
        <p:nvSpPr>
          <p:cNvPr id="2125" name="Google Shape;2125;p98"/>
          <p:cNvSpPr txBox="1"/>
          <p:nvPr/>
        </p:nvSpPr>
        <p:spPr>
          <a:xfrm>
            <a:off x="3676175" y="1648413"/>
            <a:ext cx="2425500" cy="16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Your Databricks account</a:t>
            </a:r>
            <a:endParaRPr sz="1800">
              <a:solidFill>
                <a:srgbClr val="1B3139"/>
              </a:solidFill>
              <a:latin typeface="DM Sans"/>
              <a:ea typeface="DM Sans"/>
              <a:cs typeface="DM Sans"/>
              <a:sym typeface="DM Sans"/>
            </a:endParaRPr>
          </a:p>
        </p:txBody>
      </p:sp>
      <p:sp>
        <p:nvSpPr>
          <p:cNvPr id="2126" name="Google Shape;2126;p98"/>
          <p:cNvSpPr txBox="1"/>
          <p:nvPr/>
        </p:nvSpPr>
        <p:spPr>
          <a:xfrm>
            <a:off x="8366375" y="2443275"/>
            <a:ext cx="1619400" cy="1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Your cloud  account</a:t>
            </a:r>
            <a:endParaRPr sz="1200">
              <a:solidFill>
                <a:srgbClr val="1B3139"/>
              </a:solidFill>
              <a:latin typeface="DM Sans"/>
              <a:ea typeface="DM Sans"/>
              <a:cs typeface="DM Sans"/>
              <a:sym typeface="DM Sans"/>
            </a:endParaRPr>
          </a:p>
        </p:txBody>
      </p:sp>
      <p:cxnSp>
        <p:nvCxnSpPr>
          <p:cNvPr id="2127" name="Google Shape;2127;p98"/>
          <p:cNvCxnSpPr>
            <a:stCxn id="2107" idx="2"/>
            <a:endCxn id="2106" idx="0"/>
          </p:cNvCxnSpPr>
          <p:nvPr/>
        </p:nvCxnSpPr>
        <p:spPr>
          <a:xfrm>
            <a:off x="9278175" y="3940950"/>
            <a:ext cx="0" cy="1197900"/>
          </a:xfrm>
          <a:prstGeom prst="straightConnector1">
            <a:avLst/>
          </a:prstGeom>
          <a:noFill/>
          <a:ln cap="flat" cmpd="sng" w="19050">
            <a:solidFill>
              <a:srgbClr val="618794"/>
            </a:solidFill>
            <a:prstDash val="solid"/>
            <a:round/>
            <a:headEnd len="med" w="med" type="triangle"/>
            <a:tailEnd len="sm" w="sm" type="triangle"/>
          </a:ln>
        </p:spPr>
      </p:cxnSp>
      <p:grpSp>
        <p:nvGrpSpPr>
          <p:cNvPr id="2128" name="Google Shape;2128;p98"/>
          <p:cNvGrpSpPr/>
          <p:nvPr/>
        </p:nvGrpSpPr>
        <p:grpSpPr>
          <a:xfrm>
            <a:off x="9091400" y="4330513"/>
            <a:ext cx="373550" cy="373550"/>
            <a:chOff x="5836225" y="2826950"/>
            <a:chExt cx="373550" cy="373550"/>
          </a:xfrm>
        </p:grpSpPr>
        <p:sp>
          <p:nvSpPr>
            <p:cNvPr id="2129" name="Google Shape;2129;p98"/>
            <p:cNvSpPr/>
            <p:nvPr/>
          </p:nvSpPr>
          <p:spPr>
            <a:xfrm>
              <a:off x="5836238" y="2832375"/>
              <a:ext cx="373500" cy="362700"/>
            </a:xfrm>
            <a:prstGeom prst="rect">
              <a:avLst/>
            </a:prstGeom>
            <a:solidFill>
              <a:srgbClr val="FFFFFF">
                <a:alpha val="940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130" name="Google Shape;2130;p98"/>
            <p:cNvPicPr preferRelativeResize="0"/>
            <p:nvPr/>
          </p:nvPicPr>
          <p:blipFill>
            <a:blip r:embed="rId5">
              <a:alphaModFix/>
            </a:blip>
            <a:stretch>
              <a:fillRect/>
            </a:stretch>
          </p:blipFill>
          <p:spPr>
            <a:xfrm>
              <a:off x="5836225" y="2826950"/>
              <a:ext cx="373550" cy="373550"/>
            </a:xfrm>
            <a:prstGeom prst="rect">
              <a:avLst/>
            </a:prstGeom>
            <a:noFill/>
            <a:ln>
              <a:noFill/>
            </a:ln>
          </p:spPr>
        </p:pic>
      </p:grpSp>
      <p:cxnSp>
        <p:nvCxnSpPr>
          <p:cNvPr id="2131" name="Google Shape;2131;p98"/>
          <p:cNvCxnSpPr>
            <a:stCxn id="2107" idx="1"/>
            <a:endCxn id="2114" idx="3"/>
          </p:cNvCxnSpPr>
          <p:nvPr/>
        </p:nvCxnSpPr>
        <p:spPr>
          <a:xfrm flipH="1">
            <a:off x="5819925" y="3160200"/>
            <a:ext cx="2148300" cy="21000"/>
          </a:xfrm>
          <a:prstGeom prst="straightConnector1">
            <a:avLst/>
          </a:prstGeom>
          <a:noFill/>
          <a:ln cap="flat" cmpd="sng" w="19050">
            <a:solidFill>
              <a:srgbClr val="618794"/>
            </a:solidFill>
            <a:prstDash val="solid"/>
            <a:round/>
            <a:headEnd len="med" w="med" type="triangle"/>
            <a:tailEnd len="sm" w="sm" type="triangle"/>
          </a:ln>
        </p:spPr>
      </p:cxnSp>
      <p:sp>
        <p:nvSpPr>
          <p:cNvPr id="2132" name="Google Shape;2132;p98"/>
          <p:cNvSpPr/>
          <p:nvPr/>
        </p:nvSpPr>
        <p:spPr>
          <a:xfrm>
            <a:off x="6832750" y="3058000"/>
            <a:ext cx="430800" cy="283800"/>
          </a:xfrm>
          <a:prstGeom prst="ellipse">
            <a:avLst/>
          </a:prstGeom>
          <a:solidFill>
            <a:srgbClr val="00A972"/>
          </a:solidFill>
          <a:ln cap="flat" cmpd="sng" w="9525">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DM Sans"/>
                <a:ea typeface="DM Sans"/>
                <a:cs typeface="DM Sans"/>
                <a:sym typeface="DM Sans"/>
              </a:rPr>
              <a:t>2</a:t>
            </a:r>
            <a:endParaRPr b="1" sz="800">
              <a:solidFill>
                <a:srgbClr val="FFFFFF"/>
              </a:solidFill>
              <a:latin typeface="DM Sans"/>
              <a:ea typeface="DM Sans"/>
              <a:cs typeface="DM Sans"/>
              <a:sym typeface="DM Sans"/>
            </a:endParaRPr>
          </a:p>
        </p:txBody>
      </p:sp>
      <p:cxnSp>
        <p:nvCxnSpPr>
          <p:cNvPr id="2133" name="Google Shape;2133;p98"/>
          <p:cNvCxnSpPr>
            <a:stCxn id="2134" idx="0"/>
            <a:endCxn id="2114" idx="2"/>
          </p:cNvCxnSpPr>
          <p:nvPr/>
        </p:nvCxnSpPr>
        <p:spPr>
          <a:xfrm rot="10800000">
            <a:off x="4747971" y="4299122"/>
            <a:ext cx="0" cy="891900"/>
          </a:xfrm>
          <a:prstGeom prst="straightConnector1">
            <a:avLst/>
          </a:prstGeom>
          <a:noFill/>
          <a:ln cap="flat" cmpd="sng" w="19050">
            <a:solidFill>
              <a:srgbClr val="618794"/>
            </a:solidFill>
            <a:prstDash val="solid"/>
            <a:round/>
            <a:headEnd len="med" w="med" type="triangle"/>
            <a:tailEnd len="sm" w="sm" type="triangle"/>
          </a:ln>
        </p:spPr>
      </p:cxnSp>
      <p:grpSp>
        <p:nvGrpSpPr>
          <p:cNvPr id="2135" name="Google Shape;2135;p98"/>
          <p:cNvGrpSpPr/>
          <p:nvPr/>
        </p:nvGrpSpPr>
        <p:grpSpPr>
          <a:xfrm>
            <a:off x="3689764" y="5191022"/>
            <a:ext cx="2116413" cy="809098"/>
            <a:chOff x="4610013" y="2827768"/>
            <a:chExt cx="2217300" cy="826200"/>
          </a:xfrm>
        </p:grpSpPr>
        <p:sp>
          <p:nvSpPr>
            <p:cNvPr id="2134" name="Google Shape;2134;p98"/>
            <p:cNvSpPr/>
            <p:nvPr/>
          </p:nvSpPr>
          <p:spPr>
            <a:xfrm>
              <a:off x="4610013" y="2827768"/>
              <a:ext cx="22173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Serverless workloads</a:t>
              </a:r>
              <a:endParaRPr sz="1200">
                <a:solidFill>
                  <a:srgbClr val="1B5162"/>
                </a:solidFill>
                <a:latin typeface="DM Sans Medium"/>
                <a:ea typeface="DM Sans Medium"/>
                <a:cs typeface="DM Sans Medium"/>
                <a:sym typeface="DM Sans Medium"/>
              </a:endParaRPr>
            </a:p>
          </p:txBody>
        </p:sp>
        <p:sp>
          <p:nvSpPr>
            <p:cNvPr id="2136" name="Google Shape;2136;p98"/>
            <p:cNvSpPr/>
            <p:nvPr/>
          </p:nvSpPr>
          <p:spPr>
            <a:xfrm>
              <a:off x="4792921"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sp>
          <p:nvSpPr>
            <p:cNvPr id="2137" name="Google Shape;2137;p98"/>
            <p:cNvSpPr/>
            <p:nvPr/>
          </p:nvSpPr>
          <p:spPr>
            <a:xfrm>
              <a:off x="5769036"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grpSp>
      <p:grpSp>
        <p:nvGrpSpPr>
          <p:cNvPr id="2138" name="Google Shape;2138;p98"/>
          <p:cNvGrpSpPr/>
          <p:nvPr/>
        </p:nvGrpSpPr>
        <p:grpSpPr>
          <a:xfrm>
            <a:off x="4561200" y="4558275"/>
            <a:ext cx="373550" cy="373550"/>
            <a:chOff x="5836225" y="2826950"/>
            <a:chExt cx="373550" cy="373550"/>
          </a:xfrm>
        </p:grpSpPr>
        <p:sp>
          <p:nvSpPr>
            <p:cNvPr id="2139" name="Google Shape;2139;p98"/>
            <p:cNvSpPr/>
            <p:nvPr/>
          </p:nvSpPr>
          <p:spPr>
            <a:xfrm>
              <a:off x="5836238" y="2832375"/>
              <a:ext cx="373500" cy="362700"/>
            </a:xfrm>
            <a:prstGeom prst="rect">
              <a:avLst/>
            </a:prstGeom>
            <a:solidFill>
              <a:srgbClr val="FFFFFF">
                <a:alpha val="940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140" name="Google Shape;2140;p98"/>
            <p:cNvPicPr preferRelativeResize="0"/>
            <p:nvPr/>
          </p:nvPicPr>
          <p:blipFill>
            <a:blip r:embed="rId5">
              <a:alphaModFix/>
            </a:blip>
            <a:stretch>
              <a:fillRect/>
            </a:stretch>
          </p:blipFill>
          <p:spPr>
            <a:xfrm>
              <a:off x="5836225" y="2826950"/>
              <a:ext cx="373550" cy="373550"/>
            </a:xfrm>
            <a:prstGeom prst="rect">
              <a:avLst/>
            </a:prstGeom>
            <a:noFill/>
            <a:ln>
              <a:noFill/>
            </a:ln>
          </p:spPr>
        </p:pic>
      </p:grpSp>
      <p:cxnSp>
        <p:nvCxnSpPr>
          <p:cNvPr id="2141" name="Google Shape;2141;p98"/>
          <p:cNvCxnSpPr>
            <a:stCxn id="2106" idx="1"/>
            <a:endCxn id="2134" idx="3"/>
          </p:cNvCxnSpPr>
          <p:nvPr/>
        </p:nvCxnSpPr>
        <p:spPr>
          <a:xfrm rot="10800000">
            <a:off x="5806125" y="5595600"/>
            <a:ext cx="2162100" cy="11100"/>
          </a:xfrm>
          <a:prstGeom prst="straightConnector1">
            <a:avLst/>
          </a:prstGeom>
          <a:noFill/>
          <a:ln cap="flat" cmpd="sng" w="19050">
            <a:solidFill>
              <a:srgbClr val="618794"/>
            </a:solidFill>
            <a:prstDash val="solid"/>
            <a:round/>
            <a:headEnd len="med" w="med" type="triangle"/>
            <a:tailEnd len="sm" w="sm" type="triangle"/>
          </a:ln>
        </p:spPr>
      </p:cxnSp>
      <p:sp>
        <p:nvSpPr>
          <p:cNvPr id="2142" name="Google Shape;2142;p98"/>
          <p:cNvSpPr/>
          <p:nvPr/>
        </p:nvSpPr>
        <p:spPr>
          <a:xfrm>
            <a:off x="6832750" y="5464800"/>
            <a:ext cx="430800" cy="283800"/>
          </a:xfrm>
          <a:prstGeom prst="ellipse">
            <a:avLst/>
          </a:prstGeom>
          <a:solidFill>
            <a:srgbClr val="00A972"/>
          </a:solidFill>
          <a:ln cap="flat" cmpd="sng" w="9525">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DM Sans"/>
                <a:ea typeface="DM Sans"/>
                <a:cs typeface="DM Sans"/>
                <a:sym typeface="DM Sans"/>
              </a:rPr>
              <a:t>3</a:t>
            </a:r>
            <a:endParaRPr b="1" sz="800">
              <a:solidFill>
                <a:srgbClr val="FFFFFF"/>
              </a:solidFill>
              <a:latin typeface="DM Sans"/>
              <a:ea typeface="DM Sans"/>
              <a:cs typeface="DM Sans"/>
              <a:sym typeface="DM Sans"/>
            </a:endParaRPr>
          </a:p>
        </p:txBody>
      </p:sp>
      <p:pic>
        <p:nvPicPr>
          <p:cNvPr id="2143" name="Google Shape;2143;p98"/>
          <p:cNvPicPr preferRelativeResize="0"/>
          <p:nvPr/>
        </p:nvPicPr>
        <p:blipFill rotWithShape="1">
          <a:blip r:embed="rId6">
            <a:alphaModFix/>
          </a:blip>
          <a:srcRect b="0" l="0" r="0" t="0"/>
          <a:stretch/>
        </p:blipFill>
        <p:spPr>
          <a:xfrm>
            <a:off x="9816383" y="5464812"/>
            <a:ext cx="512776" cy="515324"/>
          </a:xfrm>
          <a:prstGeom prst="rect">
            <a:avLst/>
          </a:prstGeom>
          <a:noFill/>
          <a:ln>
            <a:noFill/>
          </a:ln>
        </p:spPr>
      </p:pic>
      <p:pic>
        <p:nvPicPr>
          <p:cNvPr id="2144" name="Google Shape;2144;p98"/>
          <p:cNvPicPr preferRelativeResize="0"/>
          <p:nvPr/>
        </p:nvPicPr>
        <p:blipFill rotWithShape="1">
          <a:blip r:embed="rId7">
            <a:alphaModFix/>
          </a:blip>
          <a:srcRect b="0" l="0" r="0" t="0"/>
          <a:stretch/>
        </p:blipFill>
        <p:spPr>
          <a:xfrm>
            <a:off x="8366375" y="5466088"/>
            <a:ext cx="512776" cy="512750"/>
          </a:xfrm>
          <a:prstGeom prst="rect">
            <a:avLst/>
          </a:prstGeom>
          <a:noFill/>
          <a:ln>
            <a:noFill/>
          </a:ln>
        </p:spPr>
      </p:pic>
      <p:pic>
        <p:nvPicPr>
          <p:cNvPr id="2145" name="Google Shape;2145;p98"/>
          <p:cNvPicPr preferRelativeResize="0"/>
          <p:nvPr/>
        </p:nvPicPr>
        <p:blipFill rotWithShape="1">
          <a:blip r:embed="rId8">
            <a:alphaModFix/>
          </a:blip>
          <a:srcRect b="0" l="39" r="39" t="0"/>
          <a:stretch/>
        </p:blipFill>
        <p:spPr>
          <a:xfrm>
            <a:off x="9091375" y="5466087"/>
            <a:ext cx="512776" cy="5127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9" name="Shape 2149"/>
        <p:cNvGrpSpPr/>
        <p:nvPr/>
      </p:nvGrpSpPr>
      <p:grpSpPr>
        <a:xfrm>
          <a:off x="0" y="0"/>
          <a:ext cx="0" cy="0"/>
          <a:chOff x="0" y="0"/>
          <a:chExt cx="0" cy="0"/>
        </a:xfrm>
      </p:grpSpPr>
      <p:sp>
        <p:nvSpPr>
          <p:cNvPr id="2150" name="Google Shape;2150;p99"/>
          <p:cNvSpPr txBox="1"/>
          <p:nvPr>
            <p:ph idx="1" type="subTitle"/>
          </p:nvPr>
        </p:nvSpPr>
        <p:spPr>
          <a:xfrm>
            <a:off x="764800" y="609598"/>
            <a:ext cx="10659300" cy="1148700"/>
          </a:xfrm>
          <a:prstGeom prst="rect">
            <a:avLst/>
          </a:prstGeom>
        </p:spPr>
        <p:txBody>
          <a:bodyPr anchorCtr="0" anchor="t" bIns="121875" lIns="121875" spcFirstLastPara="1" rIns="121875" wrap="square" tIns="121875">
            <a:normAutofit lnSpcReduction="20000"/>
          </a:bodyPr>
          <a:lstStyle/>
          <a:p>
            <a:pPr indent="0" lvl="0" marL="0" rtl="0" algn="l">
              <a:spcBef>
                <a:spcPts val="0"/>
              </a:spcBef>
              <a:spcAft>
                <a:spcPts val="0"/>
              </a:spcAft>
              <a:buNone/>
            </a:pPr>
            <a:r>
              <a:rPr lang="en"/>
              <a:t>Networking classic compute plane</a:t>
            </a:r>
            <a:endParaRPr/>
          </a:p>
          <a:p>
            <a:pPr indent="0" lvl="0" marL="0" rtl="0" algn="l">
              <a:spcBef>
                <a:spcPts val="1600"/>
              </a:spcBef>
              <a:spcAft>
                <a:spcPts val="1600"/>
              </a:spcAft>
              <a:buNone/>
            </a:pPr>
            <a:r>
              <a:rPr lang="en"/>
              <a:t>/_static/images/security/network/networking-classic.png</a:t>
            </a:r>
            <a:endParaRPr/>
          </a:p>
        </p:txBody>
      </p:sp>
      <p:sp>
        <p:nvSpPr>
          <p:cNvPr id="2151" name="Google Shape;2151;p9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152" name="Google Shape;2152;p99"/>
          <p:cNvSpPr/>
          <p:nvPr/>
        </p:nvSpPr>
        <p:spPr>
          <a:xfrm>
            <a:off x="10114647" y="3336051"/>
            <a:ext cx="1129200" cy="9858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Your resources </a:t>
            </a:r>
            <a:endParaRPr sz="1200">
              <a:solidFill>
                <a:srgbClr val="1B5162"/>
              </a:solidFill>
              <a:latin typeface="DM Sans Medium"/>
              <a:ea typeface="DM Sans Medium"/>
              <a:cs typeface="DM Sans Medium"/>
              <a:sym typeface="DM Sans Medium"/>
            </a:endParaRPr>
          </a:p>
        </p:txBody>
      </p:sp>
      <p:sp>
        <p:nvSpPr>
          <p:cNvPr id="2153" name="Google Shape;2153;p99"/>
          <p:cNvSpPr/>
          <p:nvPr/>
        </p:nvSpPr>
        <p:spPr>
          <a:xfrm>
            <a:off x="6536125" y="3027050"/>
            <a:ext cx="2536800" cy="16038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154" name="Google Shape;2154;p99"/>
          <p:cNvSpPr/>
          <p:nvPr/>
        </p:nvSpPr>
        <p:spPr>
          <a:xfrm>
            <a:off x="2609725" y="2300300"/>
            <a:ext cx="3057300" cy="30573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155" name="Google Shape;2155;p99"/>
          <p:cNvCxnSpPr>
            <a:stCxn id="2154" idx="1"/>
            <a:endCxn id="2156" idx="3"/>
          </p:cNvCxnSpPr>
          <p:nvPr/>
        </p:nvCxnSpPr>
        <p:spPr>
          <a:xfrm rot="10800000">
            <a:off x="1810225" y="3828950"/>
            <a:ext cx="799500" cy="0"/>
          </a:xfrm>
          <a:prstGeom prst="straightConnector1">
            <a:avLst/>
          </a:prstGeom>
          <a:noFill/>
          <a:ln cap="flat" cmpd="sng" w="19050">
            <a:solidFill>
              <a:srgbClr val="618794"/>
            </a:solidFill>
            <a:prstDash val="solid"/>
            <a:round/>
            <a:headEnd len="med" w="med" type="triangle"/>
            <a:tailEnd len="sm" w="sm" type="triangle"/>
          </a:ln>
        </p:spPr>
      </p:cxnSp>
      <p:grpSp>
        <p:nvGrpSpPr>
          <p:cNvPr id="2157" name="Google Shape;2157;p99"/>
          <p:cNvGrpSpPr/>
          <p:nvPr/>
        </p:nvGrpSpPr>
        <p:grpSpPr>
          <a:xfrm>
            <a:off x="681022" y="3336076"/>
            <a:ext cx="1129192" cy="985751"/>
            <a:chOff x="621626" y="1640476"/>
            <a:chExt cx="1189500" cy="1083600"/>
          </a:xfrm>
        </p:grpSpPr>
        <p:sp>
          <p:nvSpPr>
            <p:cNvPr id="2156" name="Google Shape;2156;p99"/>
            <p:cNvSpPr/>
            <p:nvPr/>
          </p:nvSpPr>
          <p:spPr>
            <a:xfrm>
              <a:off x="621626" y="1640476"/>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Users and applications</a:t>
              </a:r>
              <a:endParaRPr sz="1200">
                <a:solidFill>
                  <a:srgbClr val="1B5162"/>
                </a:solidFill>
                <a:latin typeface="DM Sans Medium"/>
                <a:ea typeface="DM Sans Medium"/>
                <a:cs typeface="DM Sans Medium"/>
                <a:sym typeface="DM Sans Medium"/>
              </a:endParaRPr>
            </a:p>
          </p:txBody>
        </p:sp>
        <p:pic>
          <p:nvPicPr>
            <p:cNvPr id="2158" name="Google Shape;2158;p99"/>
            <p:cNvPicPr preferRelativeResize="0"/>
            <p:nvPr/>
          </p:nvPicPr>
          <p:blipFill rotWithShape="1">
            <a:blip r:embed="rId3">
              <a:alphaModFix/>
            </a:blip>
            <a:srcRect b="0" l="0" r="0" t="0"/>
            <a:stretch/>
          </p:blipFill>
          <p:spPr>
            <a:xfrm>
              <a:off x="982756" y="2182409"/>
              <a:ext cx="467236" cy="437700"/>
            </a:xfrm>
            <a:prstGeom prst="rect">
              <a:avLst/>
            </a:prstGeom>
            <a:noFill/>
            <a:ln>
              <a:noFill/>
            </a:ln>
          </p:spPr>
        </p:pic>
      </p:grpSp>
      <p:grpSp>
        <p:nvGrpSpPr>
          <p:cNvPr id="2159" name="Google Shape;2159;p99"/>
          <p:cNvGrpSpPr/>
          <p:nvPr/>
        </p:nvGrpSpPr>
        <p:grpSpPr>
          <a:xfrm>
            <a:off x="3066563" y="2825624"/>
            <a:ext cx="2143616" cy="2235448"/>
            <a:chOff x="1013125" y="382029"/>
            <a:chExt cx="2245800" cy="2282700"/>
          </a:xfrm>
        </p:grpSpPr>
        <p:sp>
          <p:nvSpPr>
            <p:cNvPr id="2160" name="Google Shape;2160;p99"/>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Control plane</a:t>
              </a:r>
              <a:endParaRPr sz="1200">
                <a:solidFill>
                  <a:srgbClr val="1B5162"/>
                </a:solidFill>
                <a:latin typeface="DM Sans Medium"/>
                <a:ea typeface="DM Sans Medium"/>
                <a:cs typeface="DM Sans Medium"/>
                <a:sym typeface="DM Sans Medium"/>
              </a:endParaRPr>
            </a:p>
          </p:txBody>
        </p:sp>
        <p:sp>
          <p:nvSpPr>
            <p:cNvPr id="2161" name="Google Shape;2161;p99"/>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1000" u="none" cap="none" strike="noStrike">
                  <a:solidFill>
                    <a:srgbClr val="1B3038"/>
                  </a:solidFill>
                  <a:latin typeface="DM Sans"/>
                  <a:ea typeface="DM Sans"/>
                  <a:cs typeface="DM Sans"/>
                  <a:sym typeface="DM Sans"/>
                </a:rPr>
                <a:t>Web </a:t>
              </a:r>
              <a:r>
                <a:rPr lang="en" sz="1000">
                  <a:solidFill>
                    <a:srgbClr val="1B3038"/>
                  </a:solidFill>
                  <a:latin typeface="DM Sans"/>
                  <a:ea typeface="DM Sans"/>
                  <a:cs typeface="DM Sans"/>
                  <a:sym typeface="DM Sans"/>
                </a:rPr>
                <a:t>a</a:t>
              </a:r>
              <a:r>
                <a:rPr i="0" lang="en" sz="1000" u="none" cap="none" strike="noStrike">
                  <a:solidFill>
                    <a:srgbClr val="1B3038"/>
                  </a:solidFill>
                  <a:latin typeface="DM Sans"/>
                  <a:ea typeface="DM Sans"/>
                  <a:cs typeface="DM Sans"/>
                  <a:sym typeface="DM Sans"/>
                </a:rPr>
                <a:t>pplication</a:t>
              </a:r>
              <a:endParaRPr i="0" sz="1000" u="none" cap="none" strike="noStrike">
                <a:solidFill>
                  <a:srgbClr val="1B3038"/>
                </a:solidFill>
                <a:latin typeface="DM Sans"/>
                <a:ea typeface="DM Sans"/>
                <a:cs typeface="DM Sans"/>
                <a:sym typeface="DM Sans"/>
              </a:endParaRPr>
            </a:p>
          </p:txBody>
        </p:sp>
        <p:sp>
          <p:nvSpPr>
            <p:cNvPr id="2162" name="Google Shape;2162;p99"/>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Unity Catalog</a:t>
              </a:r>
              <a:endParaRPr sz="1000">
                <a:solidFill>
                  <a:srgbClr val="1B3038"/>
                </a:solidFill>
                <a:latin typeface="DM Sans"/>
                <a:ea typeface="DM Sans"/>
                <a:cs typeface="DM Sans"/>
                <a:sym typeface="DM Sans"/>
              </a:endParaRPr>
            </a:p>
          </p:txBody>
        </p:sp>
        <p:sp>
          <p:nvSpPr>
            <p:cNvPr id="2163" name="Google Shape;2163;p99"/>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Queries and code</a:t>
              </a:r>
              <a:endParaRPr sz="1000">
                <a:solidFill>
                  <a:srgbClr val="1B3038"/>
                </a:solidFill>
                <a:latin typeface="DM Sans"/>
                <a:ea typeface="DM Sans"/>
                <a:cs typeface="DM Sans"/>
                <a:sym typeface="DM Sans"/>
              </a:endParaRPr>
            </a:p>
          </p:txBody>
        </p:sp>
        <p:sp>
          <p:nvSpPr>
            <p:cNvPr id="2164" name="Google Shape;2164;p99"/>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 orchestration</a:t>
              </a:r>
              <a:endParaRPr sz="1000">
                <a:solidFill>
                  <a:srgbClr val="1B3038"/>
                </a:solidFill>
                <a:latin typeface="DM Sans"/>
                <a:ea typeface="DM Sans"/>
                <a:cs typeface="DM Sans"/>
                <a:sym typeface="DM Sans"/>
              </a:endParaRPr>
            </a:p>
          </p:txBody>
        </p:sp>
      </p:grpSp>
      <p:grpSp>
        <p:nvGrpSpPr>
          <p:cNvPr id="2165" name="Google Shape;2165;p99"/>
          <p:cNvGrpSpPr/>
          <p:nvPr/>
        </p:nvGrpSpPr>
        <p:grpSpPr>
          <a:xfrm>
            <a:off x="6727750" y="3538800"/>
            <a:ext cx="2201745" cy="809098"/>
            <a:chOff x="2533562" y="3135725"/>
            <a:chExt cx="2306700" cy="826200"/>
          </a:xfrm>
        </p:grpSpPr>
        <p:sp>
          <p:nvSpPr>
            <p:cNvPr id="2166" name="Google Shape;2166;p99"/>
            <p:cNvSpPr/>
            <p:nvPr/>
          </p:nvSpPr>
          <p:spPr>
            <a:xfrm>
              <a:off x="2533562" y="3135725"/>
              <a:ext cx="23067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Classic compute workloads</a:t>
              </a:r>
              <a:endParaRPr sz="1200">
                <a:solidFill>
                  <a:srgbClr val="1B5162"/>
                </a:solidFill>
                <a:latin typeface="DM Sans Medium"/>
                <a:ea typeface="DM Sans Medium"/>
                <a:cs typeface="DM Sans Medium"/>
                <a:sym typeface="DM Sans Medium"/>
              </a:endParaRPr>
            </a:p>
          </p:txBody>
        </p:sp>
        <p:sp>
          <p:nvSpPr>
            <p:cNvPr id="2167" name="Google Shape;2167;p99"/>
            <p:cNvSpPr/>
            <p:nvPr/>
          </p:nvSpPr>
          <p:spPr>
            <a:xfrm>
              <a:off x="2664101" y="3480727"/>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sp>
          <p:nvSpPr>
            <p:cNvPr id="2168" name="Google Shape;2168;p99"/>
            <p:cNvSpPr/>
            <p:nvPr/>
          </p:nvSpPr>
          <p:spPr>
            <a:xfrm>
              <a:off x="3668164" y="3480727"/>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grpSp>
      <p:pic>
        <p:nvPicPr>
          <p:cNvPr id="2169" name="Google Shape;2169;p99"/>
          <p:cNvPicPr preferRelativeResize="0"/>
          <p:nvPr/>
        </p:nvPicPr>
        <p:blipFill>
          <a:blip r:embed="rId4">
            <a:alphaModFix/>
          </a:blip>
          <a:stretch>
            <a:fillRect/>
          </a:stretch>
        </p:blipFill>
        <p:spPr>
          <a:xfrm>
            <a:off x="2749749" y="2500748"/>
            <a:ext cx="251450" cy="283777"/>
          </a:xfrm>
          <a:prstGeom prst="rect">
            <a:avLst/>
          </a:prstGeom>
          <a:noFill/>
          <a:ln>
            <a:noFill/>
          </a:ln>
        </p:spPr>
      </p:pic>
      <p:sp>
        <p:nvSpPr>
          <p:cNvPr id="2170" name="Google Shape;2170;p99"/>
          <p:cNvSpPr/>
          <p:nvPr/>
        </p:nvSpPr>
        <p:spPr>
          <a:xfrm>
            <a:off x="2023225" y="3693501"/>
            <a:ext cx="373500" cy="270900"/>
          </a:xfrm>
          <a:prstGeom prst="ellipse">
            <a:avLst/>
          </a:prstGeom>
          <a:solidFill>
            <a:srgbClr val="00A972"/>
          </a:solidFill>
          <a:ln cap="flat" cmpd="sng" w="9525">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DM Sans"/>
                <a:ea typeface="DM Sans"/>
                <a:cs typeface="DM Sans"/>
                <a:sym typeface="DM Sans"/>
              </a:rPr>
              <a:t>1</a:t>
            </a:r>
            <a:endParaRPr b="1" sz="800">
              <a:solidFill>
                <a:srgbClr val="FFFFFF"/>
              </a:solidFill>
              <a:latin typeface="DM Sans"/>
              <a:ea typeface="DM Sans"/>
              <a:cs typeface="DM Sans"/>
              <a:sym typeface="DM Sans"/>
            </a:endParaRPr>
          </a:p>
        </p:txBody>
      </p:sp>
      <p:sp>
        <p:nvSpPr>
          <p:cNvPr id="2171" name="Google Shape;2171;p99"/>
          <p:cNvSpPr txBox="1"/>
          <p:nvPr/>
        </p:nvSpPr>
        <p:spPr>
          <a:xfrm>
            <a:off x="3066575" y="2410413"/>
            <a:ext cx="2425500" cy="16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Your Databricks account</a:t>
            </a:r>
            <a:endParaRPr sz="1800">
              <a:solidFill>
                <a:srgbClr val="1B3139"/>
              </a:solidFill>
              <a:latin typeface="DM Sans"/>
              <a:ea typeface="DM Sans"/>
              <a:cs typeface="DM Sans"/>
              <a:sym typeface="DM Sans"/>
            </a:endParaRPr>
          </a:p>
        </p:txBody>
      </p:sp>
      <p:sp>
        <p:nvSpPr>
          <p:cNvPr id="2172" name="Google Shape;2172;p99"/>
          <p:cNvSpPr txBox="1"/>
          <p:nvPr/>
        </p:nvSpPr>
        <p:spPr>
          <a:xfrm>
            <a:off x="7024675" y="3090875"/>
            <a:ext cx="1619400" cy="1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Your cloud  account</a:t>
            </a:r>
            <a:endParaRPr sz="1200">
              <a:solidFill>
                <a:srgbClr val="1B3139"/>
              </a:solidFill>
              <a:latin typeface="DM Sans"/>
              <a:ea typeface="DM Sans"/>
              <a:cs typeface="DM Sans"/>
              <a:sym typeface="DM Sans"/>
            </a:endParaRPr>
          </a:p>
        </p:txBody>
      </p:sp>
      <p:cxnSp>
        <p:nvCxnSpPr>
          <p:cNvPr id="2173" name="Google Shape;2173;p99"/>
          <p:cNvCxnSpPr>
            <a:stCxn id="2153" idx="3"/>
            <a:endCxn id="2152" idx="1"/>
          </p:cNvCxnSpPr>
          <p:nvPr/>
        </p:nvCxnSpPr>
        <p:spPr>
          <a:xfrm>
            <a:off x="9072925" y="3828950"/>
            <a:ext cx="1041600" cy="0"/>
          </a:xfrm>
          <a:prstGeom prst="straightConnector1">
            <a:avLst/>
          </a:prstGeom>
          <a:noFill/>
          <a:ln cap="flat" cmpd="sng" w="19050">
            <a:solidFill>
              <a:srgbClr val="618794"/>
            </a:solidFill>
            <a:prstDash val="solid"/>
            <a:round/>
            <a:headEnd len="med" w="med" type="triangle"/>
            <a:tailEnd len="sm" w="sm" type="triangle"/>
          </a:ln>
        </p:spPr>
      </p:cxnSp>
      <p:grpSp>
        <p:nvGrpSpPr>
          <p:cNvPr id="2174" name="Google Shape;2174;p99"/>
          <p:cNvGrpSpPr/>
          <p:nvPr/>
        </p:nvGrpSpPr>
        <p:grpSpPr>
          <a:xfrm>
            <a:off x="9407013" y="3642175"/>
            <a:ext cx="373550" cy="373550"/>
            <a:chOff x="5836225" y="2826950"/>
            <a:chExt cx="373550" cy="373550"/>
          </a:xfrm>
        </p:grpSpPr>
        <p:sp>
          <p:nvSpPr>
            <p:cNvPr id="2175" name="Google Shape;2175;p99"/>
            <p:cNvSpPr/>
            <p:nvPr/>
          </p:nvSpPr>
          <p:spPr>
            <a:xfrm>
              <a:off x="5836238" y="2832375"/>
              <a:ext cx="373500" cy="362700"/>
            </a:xfrm>
            <a:prstGeom prst="rect">
              <a:avLst/>
            </a:prstGeom>
            <a:solidFill>
              <a:srgbClr val="FFFFFF">
                <a:alpha val="940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176" name="Google Shape;2176;p99"/>
            <p:cNvPicPr preferRelativeResize="0"/>
            <p:nvPr/>
          </p:nvPicPr>
          <p:blipFill>
            <a:blip r:embed="rId5">
              <a:alphaModFix/>
            </a:blip>
            <a:stretch>
              <a:fillRect/>
            </a:stretch>
          </p:blipFill>
          <p:spPr>
            <a:xfrm>
              <a:off x="5836225" y="2826950"/>
              <a:ext cx="373550" cy="373550"/>
            </a:xfrm>
            <a:prstGeom prst="rect">
              <a:avLst/>
            </a:prstGeom>
            <a:noFill/>
            <a:ln>
              <a:noFill/>
            </a:ln>
          </p:spPr>
        </p:pic>
      </p:grpSp>
      <p:cxnSp>
        <p:nvCxnSpPr>
          <p:cNvPr id="2177" name="Google Shape;2177;p99"/>
          <p:cNvCxnSpPr>
            <a:stCxn id="2153" idx="1"/>
            <a:endCxn id="2154" idx="3"/>
          </p:cNvCxnSpPr>
          <p:nvPr/>
        </p:nvCxnSpPr>
        <p:spPr>
          <a:xfrm rot="10800000">
            <a:off x="5667025" y="3828950"/>
            <a:ext cx="869100" cy="0"/>
          </a:xfrm>
          <a:prstGeom prst="straightConnector1">
            <a:avLst/>
          </a:prstGeom>
          <a:noFill/>
          <a:ln cap="flat" cmpd="sng" w="19050">
            <a:solidFill>
              <a:srgbClr val="618794"/>
            </a:solidFill>
            <a:prstDash val="solid"/>
            <a:round/>
            <a:headEnd len="med" w="med" type="triangle"/>
            <a:tailEnd len="sm" w="sm" type="triangle"/>
          </a:ln>
        </p:spPr>
      </p:cxnSp>
      <p:sp>
        <p:nvSpPr>
          <p:cNvPr id="2178" name="Google Shape;2178;p99"/>
          <p:cNvSpPr/>
          <p:nvPr/>
        </p:nvSpPr>
        <p:spPr>
          <a:xfrm>
            <a:off x="5876725" y="3693501"/>
            <a:ext cx="373500" cy="270900"/>
          </a:xfrm>
          <a:prstGeom prst="ellipse">
            <a:avLst/>
          </a:prstGeom>
          <a:solidFill>
            <a:srgbClr val="00A972"/>
          </a:solidFill>
          <a:ln cap="flat" cmpd="sng" w="9525">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DM Sans"/>
                <a:ea typeface="DM Sans"/>
                <a:cs typeface="DM Sans"/>
                <a:sym typeface="DM Sans"/>
              </a:rPr>
              <a:t>2</a:t>
            </a:r>
            <a:endParaRPr b="1" sz="800">
              <a:solidFill>
                <a:srgbClr val="FFFFFF"/>
              </a:solidFill>
              <a:latin typeface="DM Sans"/>
              <a:ea typeface="DM Sans"/>
              <a:cs typeface="DM Sans"/>
              <a:sym typeface="DM Sans"/>
            </a:endParaRPr>
          </a:p>
        </p:txBody>
      </p:sp>
      <p:pic>
        <p:nvPicPr>
          <p:cNvPr id="2179" name="Google Shape;2179;p99"/>
          <p:cNvPicPr preferRelativeResize="0"/>
          <p:nvPr/>
        </p:nvPicPr>
        <p:blipFill rotWithShape="1">
          <a:blip r:embed="rId6">
            <a:alphaModFix/>
          </a:blip>
          <a:srcRect b="0" l="0" r="0" t="0"/>
          <a:stretch/>
        </p:blipFill>
        <p:spPr>
          <a:xfrm>
            <a:off x="10447075" y="3739988"/>
            <a:ext cx="512776" cy="5127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3" name="Shape 2183"/>
        <p:cNvGrpSpPr/>
        <p:nvPr/>
      </p:nvGrpSpPr>
      <p:grpSpPr>
        <a:xfrm>
          <a:off x="0" y="0"/>
          <a:ext cx="0" cy="0"/>
          <a:chOff x="0" y="0"/>
          <a:chExt cx="0" cy="0"/>
        </a:xfrm>
      </p:grpSpPr>
      <p:sp>
        <p:nvSpPr>
          <p:cNvPr id="2184" name="Google Shape;2184;p100"/>
          <p:cNvSpPr txBox="1"/>
          <p:nvPr>
            <p:ph idx="1" type="subTitle"/>
          </p:nvPr>
        </p:nvSpPr>
        <p:spPr>
          <a:xfrm>
            <a:off x="764800" y="609598"/>
            <a:ext cx="10659300" cy="1148700"/>
          </a:xfrm>
          <a:prstGeom prst="rect">
            <a:avLst/>
          </a:prstGeom>
        </p:spPr>
        <p:txBody>
          <a:bodyPr anchorCtr="0" anchor="t" bIns="121875" lIns="121875" spcFirstLastPara="1" rIns="121875" wrap="square" tIns="121875">
            <a:normAutofit lnSpcReduction="20000"/>
          </a:bodyPr>
          <a:lstStyle/>
          <a:p>
            <a:pPr indent="0" lvl="0" marL="0" rtl="0" algn="l">
              <a:spcBef>
                <a:spcPts val="0"/>
              </a:spcBef>
              <a:spcAft>
                <a:spcPts val="0"/>
              </a:spcAft>
              <a:buNone/>
            </a:pPr>
            <a:r>
              <a:rPr lang="en"/>
              <a:t>Networking serverless compute plane</a:t>
            </a:r>
            <a:endParaRPr/>
          </a:p>
          <a:p>
            <a:pPr indent="0" lvl="0" marL="0" rtl="0" algn="l">
              <a:spcBef>
                <a:spcPts val="1600"/>
              </a:spcBef>
              <a:spcAft>
                <a:spcPts val="1600"/>
              </a:spcAft>
              <a:buNone/>
            </a:pPr>
            <a:r>
              <a:rPr lang="en"/>
              <a:t>/_static/images/security/network/networking-serverless.png</a:t>
            </a:r>
            <a:endParaRPr/>
          </a:p>
        </p:txBody>
      </p:sp>
      <p:sp>
        <p:nvSpPr>
          <p:cNvPr id="2185" name="Google Shape;2185;p10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186" name="Google Shape;2186;p100"/>
          <p:cNvSpPr/>
          <p:nvPr/>
        </p:nvSpPr>
        <p:spPr>
          <a:xfrm>
            <a:off x="2549675" y="2166650"/>
            <a:ext cx="6156900" cy="31722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187" name="Google Shape;2187;p100"/>
          <p:cNvCxnSpPr>
            <a:stCxn id="2188" idx="1"/>
            <a:endCxn id="2189" idx="3"/>
          </p:cNvCxnSpPr>
          <p:nvPr/>
        </p:nvCxnSpPr>
        <p:spPr>
          <a:xfrm rot="10800000">
            <a:off x="5099114" y="3818721"/>
            <a:ext cx="981900" cy="0"/>
          </a:xfrm>
          <a:prstGeom prst="straightConnector1">
            <a:avLst/>
          </a:prstGeom>
          <a:noFill/>
          <a:ln cap="flat" cmpd="sng" w="19050">
            <a:solidFill>
              <a:srgbClr val="618794"/>
            </a:solidFill>
            <a:prstDash val="solid"/>
            <a:round/>
            <a:headEnd len="med" w="med" type="triangle"/>
            <a:tailEnd len="sm" w="sm" type="triangle"/>
          </a:ln>
        </p:spPr>
      </p:cxnSp>
      <p:cxnSp>
        <p:nvCxnSpPr>
          <p:cNvPr id="2190" name="Google Shape;2190;p100"/>
          <p:cNvCxnSpPr>
            <a:stCxn id="2186" idx="1"/>
            <a:endCxn id="2191" idx="3"/>
          </p:cNvCxnSpPr>
          <p:nvPr/>
        </p:nvCxnSpPr>
        <p:spPr>
          <a:xfrm rot="10800000">
            <a:off x="1505375" y="3752750"/>
            <a:ext cx="1044300" cy="0"/>
          </a:xfrm>
          <a:prstGeom prst="straightConnector1">
            <a:avLst/>
          </a:prstGeom>
          <a:noFill/>
          <a:ln cap="flat" cmpd="sng" w="19050">
            <a:solidFill>
              <a:srgbClr val="618794"/>
            </a:solidFill>
            <a:prstDash val="solid"/>
            <a:round/>
            <a:headEnd len="med" w="med" type="triangle"/>
            <a:tailEnd len="sm" w="sm" type="triangle"/>
          </a:ln>
        </p:spPr>
      </p:cxnSp>
      <p:grpSp>
        <p:nvGrpSpPr>
          <p:cNvPr id="2192" name="Google Shape;2192;p100"/>
          <p:cNvGrpSpPr/>
          <p:nvPr/>
        </p:nvGrpSpPr>
        <p:grpSpPr>
          <a:xfrm>
            <a:off x="376222" y="3259876"/>
            <a:ext cx="1129192" cy="985751"/>
            <a:chOff x="621626" y="1640476"/>
            <a:chExt cx="1189500" cy="1083600"/>
          </a:xfrm>
        </p:grpSpPr>
        <p:sp>
          <p:nvSpPr>
            <p:cNvPr id="2191" name="Google Shape;2191;p100"/>
            <p:cNvSpPr/>
            <p:nvPr/>
          </p:nvSpPr>
          <p:spPr>
            <a:xfrm>
              <a:off x="621626" y="1640476"/>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Users and applications</a:t>
              </a:r>
              <a:endParaRPr sz="1200">
                <a:solidFill>
                  <a:srgbClr val="1B5162"/>
                </a:solidFill>
                <a:latin typeface="DM Sans Medium"/>
                <a:ea typeface="DM Sans Medium"/>
                <a:cs typeface="DM Sans Medium"/>
                <a:sym typeface="DM Sans Medium"/>
              </a:endParaRPr>
            </a:p>
          </p:txBody>
        </p:sp>
        <p:pic>
          <p:nvPicPr>
            <p:cNvPr id="2193" name="Google Shape;2193;p100"/>
            <p:cNvPicPr preferRelativeResize="0"/>
            <p:nvPr/>
          </p:nvPicPr>
          <p:blipFill rotWithShape="1">
            <a:blip r:embed="rId3">
              <a:alphaModFix/>
            </a:blip>
            <a:srcRect b="0" l="0" r="0" t="0"/>
            <a:stretch/>
          </p:blipFill>
          <p:spPr>
            <a:xfrm>
              <a:off x="982756" y="2182409"/>
              <a:ext cx="467236" cy="437700"/>
            </a:xfrm>
            <a:prstGeom prst="rect">
              <a:avLst/>
            </a:prstGeom>
            <a:noFill/>
            <a:ln>
              <a:noFill/>
            </a:ln>
          </p:spPr>
        </p:pic>
      </p:grpSp>
      <p:grpSp>
        <p:nvGrpSpPr>
          <p:cNvPr id="2194" name="Google Shape;2194;p100"/>
          <p:cNvGrpSpPr/>
          <p:nvPr/>
        </p:nvGrpSpPr>
        <p:grpSpPr>
          <a:xfrm>
            <a:off x="2955463" y="2701011"/>
            <a:ext cx="2143616" cy="2235448"/>
            <a:chOff x="1013125" y="382029"/>
            <a:chExt cx="2245800" cy="2282700"/>
          </a:xfrm>
        </p:grpSpPr>
        <p:sp>
          <p:nvSpPr>
            <p:cNvPr id="2189" name="Google Shape;2189;p100"/>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Control plane</a:t>
              </a:r>
              <a:endParaRPr sz="1200">
                <a:solidFill>
                  <a:srgbClr val="1B5162"/>
                </a:solidFill>
                <a:latin typeface="DM Sans Medium"/>
                <a:ea typeface="DM Sans Medium"/>
                <a:cs typeface="DM Sans Medium"/>
                <a:sym typeface="DM Sans Medium"/>
              </a:endParaRPr>
            </a:p>
          </p:txBody>
        </p:sp>
        <p:sp>
          <p:nvSpPr>
            <p:cNvPr id="2195" name="Google Shape;2195;p100"/>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1000" u="none" cap="none" strike="noStrike">
                  <a:solidFill>
                    <a:srgbClr val="1B3038"/>
                  </a:solidFill>
                  <a:latin typeface="DM Sans"/>
                  <a:ea typeface="DM Sans"/>
                  <a:cs typeface="DM Sans"/>
                  <a:sym typeface="DM Sans"/>
                </a:rPr>
                <a:t>Web </a:t>
              </a:r>
              <a:r>
                <a:rPr lang="en" sz="1000">
                  <a:solidFill>
                    <a:srgbClr val="1B3038"/>
                  </a:solidFill>
                  <a:latin typeface="DM Sans"/>
                  <a:ea typeface="DM Sans"/>
                  <a:cs typeface="DM Sans"/>
                  <a:sym typeface="DM Sans"/>
                </a:rPr>
                <a:t>a</a:t>
              </a:r>
              <a:r>
                <a:rPr i="0" lang="en" sz="1000" u="none" cap="none" strike="noStrike">
                  <a:solidFill>
                    <a:srgbClr val="1B3038"/>
                  </a:solidFill>
                  <a:latin typeface="DM Sans"/>
                  <a:ea typeface="DM Sans"/>
                  <a:cs typeface="DM Sans"/>
                  <a:sym typeface="DM Sans"/>
                </a:rPr>
                <a:t>pplication</a:t>
              </a:r>
              <a:endParaRPr i="0" sz="1000" u="none" cap="none" strike="noStrike">
                <a:solidFill>
                  <a:srgbClr val="1B3038"/>
                </a:solidFill>
                <a:latin typeface="DM Sans"/>
                <a:ea typeface="DM Sans"/>
                <a:cs typeface="DM Sans"/>
                <a:sym typeface="DM Sans"/>
              </a:endParaRPr>
            </a:p>
          </p:txBody>
        </p:sp>
        <p:sp>
          <p:nvSpPr>
            <p:cNvPr id="2196" name="Google Shape;2196;p100"/>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Unity Catalog</a:t>
              </a:r>
              <a:endParaRPr sz="1000">
                <a:solidFill>
                  <a:srgbClr val="1B3038"/>
                </a:solidFill>
                <a:latin typeface="DM Sans"/>
                <a:ea typeface="DM Sans"/>
                <a:cs typeface="DM Sans"/>
                <a:sym typeface="DM Sans"/>
              </a:endParaRPr>
            </a:p>
          </p:txBody>
        </p:sp>
        <p:sp>
          <p:nvSpPr>
            <p:cNvPr id="2197" name="Google Shape;2197;p100"/>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Queries and code</a:t>
              </a:r>
              <a:endParaRPr sz="1000">
                <a:solidFill>
                  <a:srgbClr val="1B3038"/>
                </a:solidFill>
                <a:latin typeface="DM Sans"/>
                <a:ea typeface="DM Sans"/>
                <a:cs typeface="DM Sans"/>
                <a:sym typeface="DM Sans"/>
              </a:endParaRPr>
            </a:p>
          </p:txBody>
        </p:sp>
        <p:sp>
          <p:nvSpPr>
            <p:cNvPr id="2198" name="Google Shape;2198;p100"/>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 orchestration</a:t>
              </a:r>
              <a:endParaRPr sz="1000">
                <a:solidFill>
                  <a:srgbClr val="1B3038"/>
                </a:solidFill>
                <a:latin typeface="DM Sans"/>
                <a:ea typeface="DM Sans"/>
                <a:cs typeface="DM Sans"/>
                <a:sym typeface="DM Sans"/>
              </a:endParaRPr>
            </a:p>
          </p:txBody>
        </p:sp>
      </p:grpSp>
      <p:grpSp>
        <p:nvGrpSpPr>
          <p:cNvPr id="2199" name="Google Shape;2199;p100"/>
          <p:cNvGrpSpPr/>
          <p:nvPr/>
        </p:nvGrpSpPr>
        <p:grpSpPr>
          <a:xfrm>
            <a:off x="6081014" y="3414172"/>
            <a:ext cx="2116413" cy="809098"/>
            <a:chOff x="4610013" y="2827768"/>
            <a:chExt cx="2217300" cy="826200"/>
          </a:xfrm>
        </p:grpSpPr>
        <p:sp>
          <p:nvSpPr>
            <p:cNvPr id="2188" name="Google Shape;2188;p100"/>
            <p:cNvSpPr/>
            <p:nvPr/>
          </p:nvSpPr>
          <p:spPr>
            <a:xfrm>
              <a:off x="4610013" y="2827768"/>
              <a:ext cx="22173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Serverless workloads</a:t>
              </a:r>
              <a:endParaRPr sz="1200">
                <a:solidFill>
                  <a:srgbClr val="1B5162"/>
                </a:solidFill>
                <a:latin typeface="DM Sans Medium"/>
                <a:ea typeface="DM Sans Medium"/>
                <a:cs typeface="DM Sans Medium"/>
                <a:sym typeface="DM Sans Medium"/>
              </a:endParaRPr>
            </a:p>
          </p:txBody>
        </p:sp>
        <p:sp>
          <p:nvSpPr>
            <p:cNvPr id="2200" name="Google Shape;2200;p100"/>
            <p:cNvSpPr/>
            <p:nvPr/>
          </p:nvSpPr>
          <p:spPr>
            <a:xfrm>
              <a:off x="4792921"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sp>
          <p:nvSpPr>
            <p:cNvPr id="2201" name="Google Shape;2201;p100"/>
            <p:cNvSpPr/>
            <p:nvPr/>
          </p:nvSpPr>
          <p:spPr>
            <a:xfrm>
              <a:off x="5769036"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grpSp>
      <p:sp>
        <p:nvSpPr>
          <p:cNvPr id="2202" name="Google Shape;2202;p100"/>
          <p:cNvSpPr/>
          <p:nvPr/>
        </p:nvSpPr>
        <p:spPr>
          <a:xfrm>
            <a:off x="1832725" y="3617301"/>
            <a:ext cx="373500" cy="270900"/>
          </a:xfrm>
          <a:prstGeom prst="ellipse">
            <a:avLst/>
          </a:prstGeom>
          <a:solidFill>
            <a:srgbClr val="00A972"/>
          </a:solidFill>
          <a:ln cap="flat" cmpd="sng" w="9525">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DM Sans"/>
                <a:ea typeface="DM Sans"/>
                <a:cs typeface="DM Sans"/>
                <a:sym typeface="DM Sans"/>
              </a:rPr>
              <a:t>1</a:t>
            </a:r>
            <a:endParaRPr b="1" sz="800">
              <a:solidFill>
                <a:srgbClr val="FFFFFF"/>
              </a:solidFill>
              <a:latin typeface="DM Sans"/>
              <a:ea typeface="DM Sans"/>
              <a:cs typeface="DM Sans"/>
              <a:sym typeface="DM Sans"/>
            </a:endParaRPr>
          </a:p>
        </p:txBody>
      </p:sp>
      <p:grpSp>
        <p:nvGrpSpPr>
          <p:cNvPr id="2203" name="Google Shape;2203;p100"/>
          <p:cNvGrpSpPr/>
          <p:nvPr/>
        </p:nvGrpSpPr>
        <p:grpSpPr>
          <a:xfrm>
            <a:off x="5403275" y="3631950"/>
            <a:ext cx="373550" cy="373550"/>
            <a:chOff x="5836225" y="2826950"/>
            <a:chExt cx="373550" cy="373550"/>
          </a:xfrm>
        </p:grpSpPr>
        <p:sp>
          <p:nvSpPr>
            <p:cNvPr id="2204" name="Google Shape;2204;p100"/>
            <p:cNvSpPr/>
            <p:nvPr/>
          </p:nvSpPr>
          <p:spPr>
            <a:xfrm>
              <a:off x="5836238" y="2832375"/>
              <a:ext cx="373500" cy="362700"/>
            </a:xfrm>
            <a:prstGeom prst="rect">
              <a:avLst/>
            </a:prstGeom>
            <a:solidFill>
              <a:srgbClr val="FFFFFF">
                <a:alpha val="940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205" name="Google Shape;2205;p100"/>
            <p:cNvPicPr preferRelativeResize="0"/>
            <p:nvPr/>
          </p:nvPicPr>
          <p:blipFill>
            <a:blip r:embed="rId4">
              <a:alphaModFix/>
            </a:blip>
            <a:stretch>
              <a:fillRect/>
            </a:stretch>
          </p:blipFill>
          <p:spPr>
            <a:xfrm>
              <a:off x="5836225" y="2826950"/>
              <a:ext cx="373550" cy="373550"/>
            </a:xfrm>
            <a:prstGeom prst="rect">
              <a:avLst/>
            </a:prstGeom>
            <a:noFill/>
            <a:ln>
              <a:noFill/>
            </a:ln>
          </p:spPr>
        </p:pic>
      </p:grpSp>
      <p:pic>
        <p:nvPicPr>
          <p:cNvPr id="2206" name="Google Shape;2206;p100"/>
          <p:cNvPicPr preferRelativeResize="0"/>
          <p:nvPr/>
        </p:nvPicPr>
        <p:blipFill>
          <a:blip r:embed="rId5">
            <a:alphaModFix/>
          </a:blip>
          <a:stretch>
            <a:fillRect/>
          </a:stretch>
        </p:blipFill>
        <p:spPr>
          <a:xfrm>
            <a:off x="4416087" y="2298373"/>
            <a:ext cx="251450" cy="283777"/>
          </a:xfrm>
          <a:prstGeom prst="rect">
            <a:avLst/>
          </a:prstGeom>
          <a:noFill/>
          <a:ln>
            <a:noFill/>
          </a:ln>
        </p:spPr>
      </p:pic>
      <p:sp>
        <p:nvSpPr>
          <p:cNvPr id="2207" name="Google Shape;2207;p100"/>
          <p:cNvSpPr txBox="1"/>
          <p:nvPr/>
        </p:nvSpPr>
        <p:spPr>
          <a:xfrm>
            <a:off x="4663913" y="2239875"/>
            <a:ext cx="2425500" cy="1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Your Databricks account</a:t>
            </a:r>
            <a:endParaRPr sz="1800">
              <a:solidFill>
                <a:srgbClr val="1B3139"/>
              </a:solidFill>
              <a:latin typeface="DM Sans"/>
              <a:ea typeface="DM Sans"/>
              <a:cs typeface="DM Sans"/>
              <a:sym typeface="DM Sans"/>
            </a:endParaRPr>
          </a:p>
        </p:txBody>
      </p:sp>
      <p:sp>
        <p:nvSpPr>
          <p:cNvPr id="2208" name="Google Shape;2208;p100"/>
          <p:cNvSpPr/>
          <p:nvPr/>
        </p:nvSpPr>
        <p:spPr>
          <a:xfrm>
            <a:off x="9750847" y="3328376"/>
            <a:ext cx="1129200" cy="9858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Your resources </a:t>
            </a:r>
            <a:endParaRPr sz="1200">
              <a:solidFill>
                <a:srgbClr val="1B5162"/>
              </a:solidFill>
              <a:latin typeface="DM Sans Medium"/>
              <a:ea typeface="DM Sans Medium"/>
              <a:cs typeface="DM Sans Medium"/>
              <a:sym typeface="DM Sans Medium"/>
            </a:endParaRPr>
          </a:p>
        </p:txBody>
      </p:sp>
      <p:cxnSp>
        <p:nvCxnSpPr>
          <p:cNvPr id="2209" name="Google Shape;2209;p100"/>
          <p:cNvCxnSpPr>
            <a:stCxn id="2188" idx="3"/>
            <a:endCxn id="2208" idx="1"/>
          </p:cNvCxnSpPr>
          <p:nvPr/>
        </p:nvCxnSpPr>
        <p:spPr>
          <a:xfrm>
            <a:off x="8197427" y="3818721"/>
            <a:ext cx="1553400" cy="2700"/>
          </a:xfrm>
          <a:prstGeom prst="straightConnector1">
            <a:avLst/>
          </a:prstGeom>
          <a:noFill/>
          <a:ln cap="flat" cmpd="sng" w="19050">
            <a:solidFill>
              <a:srgbClr val="618794"/>
            </a:solidFill>
            <a:prstDash val="solid"/>
            <a:round/>
            <a:headEnd len="med" w="med" type="triangle"/>
            <a:tailEnd len="sm" w="sm" type="triangle"/>
          </a:ln>
        </p:spPr>
      </p:cxnSp>
      <p:sp>
        <p:nvSpPr>
          <p:cNvPr id="2210" name="Google Shape;2210;p100"/>
          <p:cNvSpPr/>
          <p:nvPr/>
        </p:nvSpPr>
        <p:spPr>
          <a:xfrm>
            <a:off x="8839175" y="3685826"/>
            <a:ext cx="373500" cy="270900"/>
          </a:xfrm>
          <a:prstGeom prst="ellipse">
            <a:avLst/>
          </a:prstGeom>
          <a:solidFill>
            <a:srgbClr val="00A972"/>
          </a:solidFill>
          <a:ln cap="flat" cmpd="sng" w="9525">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DM Sans"/>
                <a:ea typeface="DM Sans"/>
                <a:cs typeface="DM Sans"/>
                <a:sym typeface="DM Sans"/>
              </a:rPr>
              <a:t>2</a:t>
            </a:r>
            <a:endParaRPr b="1" sz="800">
              <a:solidFill>
                <a:srgbClr val="FFFFFF"/>
              </a:solidFill>
              <a:latin typeface="DM Sans"/>
              <a:ea typeface="DM Sans"/>
              <a:cs typeface="DM Sans"/>
              <a:sym typeface="DM Sans"/>
            </a:endParaRPr>
          </a:p>
        </p:txBody>
      </p:sp>
      <p:pic>
        <p:nvPicPr>
          <p:cNvPr id="2211" name="Google Shape;2211;p100"/>
          <p:cNvPicPr preferRelativeResize="0"/>
          <p:nvPr/>
        </p:nvPicPr>
        <p:blipFill rotWithShape="1">
          <a:blip r:embed="rId6">
            <a:alphaModFix/>
          </a:blip>
          <a:srcRect b="0" l="0" r="0" t="0"/>
          <a:stretch/>
        </p:blipFill>
        <p:spPr>
          <a:xfrm>
            <a:off x="10059062" y="3752738"/>
            <a:ext cx="512776" cy="5127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5" name="Shape 2215"/>
        <p:cNvGrpSpPr/>
        <p:nvPr/>
      </p:nvGrpSpPr>
      <p:grpSpPr>
        <a:xfrm>
          <a:off x="0" y="0"/>
          <a:ext cx="0" cy="0"/>
          <a:chOff x="0" y="0"/>
          <a:chExt cx="0" cy="0"/>
        </a:xfrm>
      </p:grpSpPr>
      <p:sp>
        <p:nvSpPr>
          <p:cNvPr id="2216" name="Google Shape;2216;p101"/>
          <p:cNvSpPr/>
          <p:nvPr/>
        </p:nvSpPr>
        <p:spPr>
          <a:xfrm>
            <a:off x="3596500" y="3028300"/>
            <a:ext cx="1772100" cy="2709300"/>
          </a:xfrm>
          <a:prstGeom prst="roundRect">
            <a:avLst>
              <a:gd fmla="val 102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a:t>
            </a:r>
            <a:endParaRPr sz="1500">
              <a:solidFill>
                <a:schemeClr val="dk1"/>
              </a:solidFill>
              <a:latin typeface="DM Sans"/>
              <a:ea typeface="DM Sans"/>
              <a:cs typeface="DM Sans"/>
              <a:sym typeface="DM Sans"/>
            </a:endParaRPr>
          </a:p>
        </p:txBody>
      </p:sp>
      <p:sp>
        <p:nvSpPr>
          <p:cNvPr id="2217" name="Google Shape;2217;p101"/>
          <p:cNvSpPr txBox="1"/>
          <p:nvPr>
            <p:ph idx="12" type="sldNum"/>
          </p:nvPr>
        </p:nvSpPr>
        <p:spPr>
          <a:xfrm>
            <a:off x="14793191" y="8631067"/>
            <a:ext cx="432300" cy="2487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218" name="Google Shape;2218;p101"/>
          <p:cNvSpPr/>
          <p:nvPr/>
        </p:nvSpPr>
        <p:spPr>
          <a:xfrm>
            <a:off x="746092" y="2046275"/>
            <a:ext cx="5085000" cy="556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800">
                <a:solidFill>
                  <a:srgbClr val="1B5162"/>
                </a:solidFill>
                <a:latin typeface="DM Sans Medium"/>
                <a:ea typeface="DM Sans Medium"/>
                <a:cs typeface="DM Sans Medium"/>
                <a:sym typeface="DM Sans Medium"/>
              </a:rPr>
              <a:t>Without Unity Catalog</a:t>
            </a:r>
            <a:endParaRPr sz="2800">
              <a:solidFill>
                <a:srgbClr val="1B5162"/>
              </a:solidFill>
              <a:latin typeface="DM Sans Medium"/>
              <a:ea typeface="DM Sans Medium"/>
              <a:cs typeface="DM Sans Medium"/>
              <a:sym typeface="DM Sans Medium"/>
            </a:endParaRPr>
          </a:p>
        </p:txBody>
      </p:sp>
      <p:sp>
        <p:nvSpPr>
          <p:cNvPr id="2219" name="Google Shape;2219;p101"/>
          <p:cNvSpPr/>
          <p:nvPr/>
        </p:nvSpPr>
        <p:spPr>
          <a:xfrm>
            <a:off x="6305858" y="2046275"/>
            <a:ext cx="5085000" cy="556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1B5162"/>
                </a:solidFill>
                <a:latin typeface="DM Sans Medium"/>
                <a:ea typeface="DM Sans Medium"/>
                <a:cs typeface="DM Sans Medium"/>
                <a:sym typeface="DM Sans Medium"/>
              </a:rPr>
              <a:t>With Unity Catalog</a:t>
            </a:r>
            <a:endParaRPr sz="2800">
              <a:solidFill>
                <a:srgbClr val="1B5162"/>
              </a:solidFill>
              <a:latin typeface="DM Sans Medium"/>
              <a:ea typeface="DM Sans Medium"/>
              <a:cs typeface="DM Sans Medium"/>
              <a:sym typeface="DM Sans Medium"/>
            </a:endParaRPr>
          </a:p>
        </p:txBody>
      </p:sp>
      <p:sp>
        <p:nvSpPr>
          <p:cNvPr id="2220" name="Google Shape;2220;p101"/>
          <p:cNvSpPr/>
          <p:nvPr/>
        </p:nvSpPr>
        <p:spPr>
          <a:xfrm>
            <a:off x="1228000" y="3028300"/>
            <a:ext cx="1772100" cy="2709300"/>
          </a:xfrm>
          <a:prstGeom prst="roundRect">
            <a:avLst>
              <a:gd fmla="val 102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a:t>
            </a:r>
            <a:endParaRPr sz="1500">
              <a:solidFill>
                <a:schemeClr val="dk1"/>
              </a:solidFill>
              <a:latin typeface="DM Sans"/>
              <a:ea typeface="DM Sans"/>
              <a:cs typeface="DM Sans"/>
              <a:sym typeface="DM Sans"/>
            </a:endParaRPr>
          </a:p>
        </p:txBody>
      </p:sp>
      <p:sp>
        <p:nvSpPr>
          <p:cNvPr id="2221" name="Google Shape;2221;p101"/>
          <p:cNvSpPr/>
          <p:nvPr/>
        </p:nvSpPr>
        <p:spPr>
          <a:xfrm>
            <a:off x="1466875" y="3981625"/>
            <a:ext cx="1294200" cy="400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User Management</a:t>
            </a:r>
            <a:endParaRPr sz="1200"/>
          </a:p>
        </p:txBody>
      </p:sp>
      <p:sp>
        <p:nvSpPr>
          <p:cNvPr id="2222" name="Google Shape;2222;p101"/>
          <p:cNvSpPr/>
          <p:nvPr/>
        </p:nvSpPr>
        <p:spPr>
          <a:xfrm>
            <a:off x="1466875" y="4568838"/>
            <a:ext cx="1294200" cy="400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Metastore</a:t>
            </a:r>
            <a:endParaRPr sz="1200"/>
          </a:p>
        </p:txBody>
      </p:sp>
      <p:sp>
        <p:nvSpPr>
          <p:cNvPr id="2223" name="Google Shape;2223;p101"/>
          <p:cNvSpPr/>
          <p:nvPr/>
        </p:nvSpPr>
        <p:spPr>
          <a:xfrm>
            <a:off x="6841650" y="4375050"/>
            <a:ext cx="1772100" cy="1362900"/>
          </a:xfrm>
          <a:prstGeom prst="roundRect">
            <a:avLst>
              <a:gd fmla="val 16667"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a:t>
            </a:r>
            <a:endParaRPr sz="1500">
              <a:solidFill>
                <a:schemeClr val="dk1"/>
              </a:solidFill>
              <a:latin typeface="DM Sans"/>
              <a:ea typeface="DM Sans"/>
              <a:cs typeface="DM Sans"/>
              <a:sym typeface="DM Sans"/>
            </a:endParaRPr>
          </a:p>
        </p:txBody>
      </p:sp>
      <p:sp>
        <p:nvSpPr>
          <p:cNvPr id="2224" name="Google Shape;2224;p101"/>
          <p:cNvSpPr/>
          <p:nvPr/>
        </p:nvSpPr>
        <p:spPr>
          <a:xfrm>
            <a:off x="9210150" y="4375050"/>
            <a:ext cx="1772100" cy="1362900"/>
          </a:xfrm>
          <a:prstGeom prst="roundRect">
            <a:avLst>
              <a:gd fmla="val 16667"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a:t>
            </a:r>
            <a:endParaRPr sz="1500">
              <a:solidFill>
                <a:schemeClr val="dk1"/>
              </a:solidFill>
              <a:latin typeface="DM Sans"/>
              <a:ea typeface="DM Sans"/>
              <a:cs typeface="DM Sans"/>
              <a:sym typeface="DM Sans"/>
            </a:endParaRPr>
          </a:p>
        </p:txBody>
      </p:sp>
      <p:sp>
        <p:nvSpPr>
          <p:cNvPr id="2225" name="Google Shape;2225;p101"/>
          <p:cNvSpPr/>
          <p:nvPr/>
        </p:nvSpPr>
        <p:spPr>
          <a:xfrm>
            <a:off x="6858450" y="2952100"/>
            <a:ext cx="4109100" cy="1022100"/>
          </a:xfrm>
          <a:prstGeom prst="roundRect">
            <a:avLst>
              <a:gd fmla="val 16667" name="adj"/>
            </a:avLst>
          </a:prstGeom>
          <a:solidFill>
            <a:srgbClr val="FFFFFF"/>
          </a:solidFill>
          <a:ln cap="flat" cmpd="sng" w="19050">
            <a:solidFill>
              <a:srgbClr val="FFAB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1B3139"/>
                </a:solidFill>
                <a:latin typeface="DM Sans Medium"/>
                <a:ea typeface="DM Sans Medium"/>
                <a:cs typeface="DM Sans Medium"/>
                <a:sym typeface="DM Sans Medium"/>
              </a:rPr>
              <a:t>Unity Catalog</a:t>
            </a:r>
            <a:endParaRPr sz="1600">
              <a:solidFill>
                <a:srgbClr val="1B3139"/>
              </a:solidFill>
              <a:latin typeface="DM Sans"/>
              <a:ea typeface="DM Sans"/>
              <a:cs typeface="DM Sans"/>
              <a:sym typeface="DM Sans"/>
            </a:endParaRPr>
          </a:p>
        </p:txBody>
      </p:sp>
      <p:sp>
        <p:nvSpPr>
          <p:cNvPr id="2226" name="Google Shape;2226;p101"/>
          <p:cNvSpPr/>
          <p:nvPr/>
        </p:nvSpPr>
        <p:spPr>
          <a:xfrm>
            <a:off x="7619210" y="3412670"/>
            <a:ext cx="1142100" cy="4005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User Management</a:t>
            </a:r>
            <a:endParaRPr sz="1200"/>
          </a:p>
        </p:txBody>
      </p:sp>
      <p:sp>
        <p:nvSpPr>
          <p:cNvPr id="2227" name="Google Shape;2227;p101"/>
          <p:cNvSpPr/>
          <p:nvPr/>
        </p:nvSpPr>
        <p:spPr>
          <a:xfrm>
            <a:off x="9064685" y="3412675"/>
            <a:ext cx="1142100" cy="4005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Metastore</a:t>
            </a:r>
            <a:endParaRPr sz="1200"/>
          </a:p>
        </p:txBody>
      </p:sp>
      <p:sp>
        <p:nvSpPr>
          <p:cNvPr id="2228" name="Google Shape;2228;p101"/>
          <p:cNvSpPr/>
          <p:nvPr/>
        </p:nvSpPr>
        <p:spPr>
          <a:xfrm>
            <a:off x="7601125" y="4064663"/>
            <a:ext cx="157200" cy="219900"/>
          </a:xfrm>
          <a:prstGeom prst="upDown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01"/>
          <p:cNvSpPr/>
          <p:nvPr/>
        </p:nvSpPr>
        <p:spPr>
          <a:xfrm>
            <a:off x="10017600" y="4064663"/>
            <a:ext cx="157200" cy="219900"/>
          </a:xfrm>
          <a:prstGeom prst="upDown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01"/>
          <p:cNvSpPr/>
          <p:nvPr/>
        </p:nvSpPr>
        <p:spPr>
          <a:xfrm>
            <a:off x="1466875" y="5156050"/>
            <a:ext cx="1294200" cy="400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Compute</a:t>
            </a:r>
            <a:endParaRPr sz="1200"/>
          </a:p>
        </p:txBody>
      </p:sp>
      <p:sp>
        <p:nvSpPr>
          <p:cNvPr id="2231" name="Google Shape;2231;p101"/>
          <p:cNvSpPr/>
          <p:nvPr/>
        </p:nvSpPr>
        <p:spPr>
          <a:xfrm>
            <a:off x="3847947" y="3981625"/>
            <a:ext cx="1294200" cy="400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User Management</a:t>
            </a:r>
            <a:endParaRPr sz="1200"/>
          </a:p>
        </p:txBody>
      </p:sp>
      <p:sp>
        <p:nvSpPr>
          <p:cNvPr id="2232" name="Google Shape;2232;p101"/>
          <p:cNvSpPr/>
          <p:nvPr/>
        </p:nvSpPr>
        <p:spPr>
          <a:xfrm>
            <a:off x="3847947" y="4568838"/>
            <a:ext cx="1294200" cy="400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Metastore</a:t>
            </a:r>
            <a:endParaRPr sz="1200"/>
          </a:p>
        </p:txBody>
      </p:sp>
      <p:sp>
        <p:nvSpPr>
          <p:cNvPr id="2233" name="Google Shape;2233;p101"/>
          <p:cNvSpPr/>
          <p:nvPr/>
        </p:nvSpPr>
        <p:spPr>
          <a:xfrm>
            <a:off x="3847947" y="5156050"/>
            <a:ext cx="1294200" cy="400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Compute</a:t>
            </a:r>
            <a:endParaRPr sz="1200"/>
          </a:p>
        </p:txBody>
      </p:sp>
      <p:sp>
        <p:nvSpPr>
          <p:cNvPr id="2234" name="Google Shape;2234;p101"/>
          <p:cNvSpPr/>
          <p:nvPr/>
        </p:nvSpPr>
        <p:spPr>
          <a:xfrm>
            <a:off x="7080600" y="5156050"/>
            <a:ext cx="1294200" cy="400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Compute</a:t>
            </a:r>
            <a:endParaRPr sz="1200"/>
          </a:p>
        </p:txBody>
      </p:sp>
      <p:sp>
        <p:nvSpPr>
          <p:cNvPr id="2235" name="Google Shape;2235;p101"/>
          <p:cNvSpPr/>
          <p:nvPr/>
        </p:nvSpPr>
        <p:spPr>
          <a:xfrm>
            <a:off x="9449097" y="5156050"/>
            <a:ext cx="1294200" cy="400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Compute</a:t>
            </a:r>
            <a:endParaRPr sz="1200"/>
          </a:p>
        </p:txBody>
      </p:sp>
      <p:pic>
        <p:nvPicPr>
          <p:cNvPr id="2236" name="Google Shape;2236;p101"/>
          <p:cNvPicPr preferRelativeResize="0"/>
          <p:nvPr/>
        </p:nvPicPr>
        <p:blipFill rotWithShape="1">
          <a:blip r:embed="rId3">
            <a:alphaModFix/>
          </a:blip>
          <a:srcRect b="0" l="0" r="62874" t="0"/>
          <a:stretch/>
        </p:blipFill>
        <p:spPr>
          <a:xfrm>
            <a:off x="6870124" y="3209928"/>
            <a:ext cx="588902" cy="583500"/>
          </a:xfrm>
          <a:prstGeom prst="rect">
            <a:avLst/>
          </a:prstGeom>
          <a:noFill/>
          <a:ln>
            <a:noFill/>
          </a:ln>
        </p:spPr>
      </p:pic>
      <p:sp>
        <p:nvSpPr>
          <p:cNvPr id="2237" name="Google Shape;2237;p101"/>
          <p:cNvSpPr txBox="1"/>
          <p:nvPr/>
        </p:nvSpPr>
        <p:spPr>
          <a:xfrm>
            <a:off x="0" y="0"/>
            <a:ext cx="11357100" cy="1323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Unity Catalog workspace high-level diagram, comparison with non-UC workspace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/_static/images/unity-catalog</a:t>
            </a:r>
            <a:r>
              <a:rPr lang="en" sz="2400">
                <a:solidFill>
                  <a:schemeClr val="accent1"/>
                </a:solidFill>
                <a:latin typeface="DM Sans Medium"/>
                <a:ea typeface="DM Sans Medium"/>
                <a:cs typeface="DM Sans Medium"/>
                <a:sym typeface="DM Sans Medium"/>
              </a:rPr>
              <a:t>/with-unity-catalog.png</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1" name="Shape 2241"/>
        <p:cNvGrpSpPr/>
        <p:nvPr/>
      </p:nvGrpSpPr>
      <p:grpSpPr>
        <a:xfrm>
          <a:off x="0" y="0"/>
          <a:ext cx="0" cy="0"/>
          <a:chOff x="0" y="0"/>
          <a:chExt cx="0" cy="0"/>
        </a:xfrm>
      </p:grpSpPr>
      <p:sp>
        <p:nvSpPr>
          <p:cNvPr id="2242" name="Google Shape;2242;p10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243" name="Google Shape;2243;p102"/>
          <p:cNvSpPr/>
          <p:nvPr/>
        </p:nvSpPr>
        <p:spPr>
          <a:xfrm>
            <a:off x="7968225" y="4834050"/>
            <a:ext cx="2619900" cy="9357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Your resources </a:t>
            </a:r>
            <a:endParaRPr sz="1200">
              <a:solidFill>
                <a:srgbClr val="1B5162"/>
              </a:solidFill>
              <a:latin typeface="DM Sans Medium"/>
              <a:ea typeface="DM Sans Medium"/>
              <a:cs typeface="DM Sans Medium"/>
              <a:sym typeface="DM Sans Medium"/>
            </a:endParaRPr>
          </a:p>
        </p:txBody>
      </p:sp>
      <p:sp>
        <p:nvSpPr>
          <p:cNvPr id="2244" name="Google Shape;2244;p102"/>
          <p:cNvSpPr/>
          <p:nvPr/>
        </p:nvSpPr>
        <p:spPr>
          <a:xfrm>
            <a:off x="7968225" y="2074650"/>
            <a:ext cx="2619900" cy="15615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245" name="Google Shape;2245;p102"/>
          <p:cNvSpPr/>
          <p:nvPr/>
        </p:nvSpPr>
        <p:spPr>
          <a:xfrm>
            <a:off x="3219325" y="1233500"/>
            <a:ext cx="3329100" cy="48054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246" name="Google Shape;2246;p102"/>
          <p:cNvCxnSpPr>
            <a:stCxn id="2245" idx="1"/>
            <a:endCxn id="2247" idx="3"/>
          </p:cNvCxnSpPr>
          <p:nvPr/>
        </p:nvCxnSpPr>
        <p:spPr>
          <a:xfrm rot="10800000">
            <a:off x="1916725" y="3636200"/>
            <a:ext cx="1302600" cy="0"/>
          </a:xfrm>
          <a:prstGeom prst="straightConnector1">
            <a:avLst/>
          </a:prstGeom>
          <a:noFill/>
          <a:ln cap="flat" cmpd="sng" w="19050">
            <a:solidFill>
              <a:srgbClr val="618794"/>
            </a:solidFill>
            <a:prstDash val="solid"/>
            <a:round/>
            <a:headEnd len="med" w="med" type="triangle"/>
            <a:tailEnd len="sm" w="sm" type="triangle"/>
          </a:ln>
        </p:spPr>
      </p:cxnSp>
      <p:grpSp>
        <p:nvGrpSpPr>
          <p:cNvPr id="2248" name="Google Shape;2248;p102"/>
          <p:cNvGrpSpPr/>
          <p:nvPr/>
        </p:nvGrpSpPr>
        <p:grpSpPr>
          <a:xfrm>
            <a:off x="787622" y="3143326"/>
            <a:ext cx="1129192" cy="985751"/>
            <a:chOff x="91762" y="2601287"/>
            <a:chExt cx="1189500" cy="1083600"/>
          </a:xfrm>
        </p:grpSpPr>
        <p:sp>
          <p:nvSpPr>
            <p:cNvPr id="2247" name="Google Shape;2247;p102"/>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Users and applications</a:t>
              </a:r>
              <a:endParaRPr sz="1200">
                <a:solidFill>
                  <a:srgbClr val="1B5162"/>
                </a:solidFill>
                <a:latin typeface="DM Sans Medium"/>
                <a:ea typeface="DM Sans Medium"/>
                <a:cs typeface="DM Sans Medium"/>
                <a:sym typeface="DM Sans Medium"/>
              </a:endParaRPr>
            </a:p>
          </p:txBody>
        </p:sp>
        <p:pic>
          <p:nvPicPr>
            <p:cNvPr id="2249" name="Google Shape;2249;p102"/>
            <p:cNvPicPr preferRelativeResize="0"/>
            <p:nvPr/>
          </p:nvPicPr>
          <p:blipFill rotWithShape="1">
            <a:blip r:embed="rId3">
              <a:alphaModFix/>
            </a:blip>
            <a:srcRect b="0" l="0" r="0" t="0"/>
            <a:stretch/>
          </p:blipFill>
          <p:spPr>
            <a:xfrm>
              <a:off x="452892" y="3143220"/>
              <a:ext cx="467236" cy="437700"/>
            </a:xfrm>
            <a:prstGeom prst="rect">
              <a:avLst/>
            </a:prstGeom>
            <a:noFill/>
            <a:ln>
              <a:noFill/>
            </a:ln>
          </p:spPr>
        </p:pic>
      </p:grpSp>
      <p:grpSp>
        <p:nvGrpSpPr>
          <p:cNvPr id="2250" name="Google Shape;2250;p102"/>
          <p:cNvGrpSpPr/>
          <p:nvPr/>
        </p:nvGrpSpPr>
        <p:grpSpPr>
          <a:xfrm>
            <a:off x="3676163" y="1758824"/>
            <a:ext cx="2143616" cy="2235448"/>
            <a:chOff x="1013125" y="382029"/>
            <a:chExt cx="2245800" cy="2282700"/>
          </a:xfrm>
        </p:grpSpPr>
        <p:sp>
          <p:nvSpPr>
            <p:cNvPr id="2251" name="Google Shape;2251;p102"/>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Control plane</a:t>
              </a:r>
              <a:endParaRPr sz="1200">
                <a:solidFill>
                  <a:srgbClr val="1B5162"/>
                </a:solidFill>
                <a:latin typeface="DM Sans Medium"/>
                <a:ea typeface="DM Sans Medium"/>
                <a:cs typeface="DM Sans Medium"/>
                <a:sym typeface="DM Sans Medium"/>
              </a:endParaRPr>
            </a:p>
          </p:txBody>
        </p:sp>
        <p:sp>
          <p:nvSpPr>
            <p:cNvPr id="2252" name="Google Shape;2252;p102"/>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1000" u="none" cap="none" strike="noStrike">
                  <a:solidFill>
                    <a:srgbClr val="1B3038"/>
                  </a:solidFill>
                  <a:latin typeface="DM Sans"/>
                  <a:ea typeface="DM Sans"/>
                  <a:cs typeface="DM Sans"/>
                  <a:sym typeface="DM Sans"/>
                </a:rPr>
                <a:t>Web </a:t>
              </a:r>
              <a:r>
                <a:rPr lang="en" sz="1000">
                  <a:solidFill>
                    <a:srgbClr val="1B3038"/>
                  </a:solidFill>
                  <a:latin typeface="DM Sans"/>
                  <a:ea typeface="DM Sans"/>
                  <a:cs typeface="DM Sans"/>
                  <a:sym typeface="DM Sans"/>
                </a:rPr>
                <a:t>a</a:t>
              </a:r>
              <a:r>
                <a:rPr i="0" lang="en" sz="1000" u="none" cap="none" strike="noStrike">
                  <a:solidFill>
                    <a:srgbClr val="1B3038"/>
                  </a:solidFill>
                  <a:latin typeface="DM Sans"/>
                  <a:ea typeface="DM Sans"/>
                  <a:cs typeface="DM Sans"/>
                  <a:sym typeface="DM Sans"/>
                </a:rPr>
                <a:t>pplication</a:t>
              </a:r>
              <a:endParaRPr i="0" sz="1000" u="none" cap="none" strike="noStrike">
                <a:solidFill>
                  <a:srgbClr val="1B3038"/>
                </a:solidFill>
                <a:latin typeface="DM Sans"/>
                <a:ea typeface="DM Sans"/>
                <a:cs typeface="DM Sans"/>
                <a:sym typeface="DM Sans"/>
              </a:endParaRPr>
            </a:p>
          </p:txBody>
        </p:sp>
        <p:sp>
          <p:nvSpPr>
            <p:cNvPr id="2253" name="Google Shape;2253;p102"/>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Unity Catalog</a:t>
              </a:r>
              <a:endParaRPr sz="1000">
                <a:solidFill>
                  <a:srgbClr val="1B3038"/>
                </a:solidFill>
                <a:latin typeface="DM Sans"/>
                <a:ea typeface="DM Sans"/>
                <a:cs typeface="DM Sans"/>
                <a:sym typeface="DM Sans"/>
              </a:endParaRPr>
            </a:p>
          </p:txBody>
        </p:sp>
        <p:sp>
          <p:nvSpPr>
            <p:cNvPr id="2254" name="Google Shape;2254;p102"/>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Queries and code</a:t>
              </a:r>
              <a:endParaRPr sz="1000">
                <a:solidFill>
                  <a:srgbClr val="1B3038"/>
                </a:solidFill>
                <a:latin typeface="DM Sans"/>
                <a:ea typeface="DM Sans"/>
                <a:cs typeface="DM Sans"/>
                <a:sym typeface="DM Sans"/>
              </a:endParaRPr>
            </a:p>
          </p:txBody>
        </p:sp>
        <p:sp>
          <p:nvSpPr>
            <p:cNvPr id="2255" name="Google Shape;2255;p102"/>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 orchestration</a:t>
              </a:r>
              <a:endParaRPr sz="1000">
                <a:solidFill>
                  <a:srgbClr val="1B3038"/>
                </a:solidFill>
                <a:latin typeface="DM Sans"/>
                <a:ea typeface="DM Sans"/>
                <a:cs typeface="DM Sans"/>
                <a:sym typeface="DM Sans"/>
              </a:endParaRPr>
            </a:p>
          </p:txBody>
        </p:sp>
      </p:grpSp>
      <p:grpSp>
        <p:nvGrpSpPr>
          <p:cNvPr id="2256" name="Google Shape;2256;p102"/>
          <p:cNvGrpSpPr/>
          <p:nvPr/>
        </p:nvGrpSpPr>
        <p:grpSpPr>
          <a:xfrm>
            <a:off x="8045037" y="2588363"/>
            <a:ext cx="2425385" cy="809098"/>
            <a:chOff x="2348936" y="3137729"/>
            <a:chExt cx="2541000" cy="826200"/>
          </a:xfrm>
        </p:grpSpPr>
        <p:sp>
          <p:nvSpPr>
            <p:cNvPr id="2257" name="Google Shape;2257;p102"/>
            <p:cNvSpPr/>
            <p:nvPr/>
          </p:nvSpPr>
          <p:spPr>
            <a:xfrm>
              <a:off x="2348936" y="3137729"/>
              <a:ext cx="25410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Classic compute plane</a:t>
              </a:r>
              <a:endParaRPr sz="1200">
                <a:solidFill>
                  <a:srgbClr val="1B5162"/>
                </a:solidFill>
                <a:latin typeface="DM Sans Medium"/>
                <a:ea typeface="DM Sans Medium"/>
                <a:cs typeface="DM Sans Medium"/>
                <a:sym typeface="DM Sans Medium"/>
              </a:endParaRPr>
            </a:p>
          </p:txBody>
        </p:sp>
        <p:sp>
          <p:nvSpPr>
            <p:cNvPr id="2258" name="Google Shape;2258;p102"/>
            <p:cNvSpPr/>
            <p:nvPr/>
          </p:nvSpPr>
          <p:spPr>
            <a:xfrm>
              <a:off x="2664101" y="3480727"/>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sp>
          <p:nvSpPr>
            <p:cNvPr id="2259" name="Google Shape;2259;p102"/>
            <p:cNvSpPr/>
            <p:nvPr/>
          </p:nvSpPr>
          <p:spPr>
            <a:xfrm>
              <a:off x="3668164" y="3480727"/>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grpSp>
      <p:pic>
        <p:nvPicPr>
          <p:cNvPr id="2260" name="Google Shape;2260;p102"/>
          <p:cNvPicPr preferRelativeResize="0"/>
          <p:nvPr/>
        </p:nvPicPr>
        <p:blipFill>
          <a:blip r:embed="rId4">
            <a:alphaModFix/>
          </a:blip>
          <a:stretch>
            <a:fillRect/>
          </a:stretch>
        </p:blipFill>
        <p:spPr>
          <a:xfrm>
            <a:off x="3359349" y="1433948"/>
            <a:ext cx="251450" cy="283777"/>
          </a:xfrm>
          <a:prstGeom prst="rect">
            <a:avLst/>
          </a:prstGeom>
          <a:noFill/>
          <a:ln>
            <a:noFill/>
          </a:ln>
        </p:spPr>
      </p:pic>
      <p:sp>
        <p:nvSpPr>
          <p:cNvPr id="2261" name="Google Shape;2261;p102"/>
          <p:cNvSpPr txBox="1"/>
          <p:nvPr/>
        </p:nvSpPr>
        <p:spPr>
          <a:xfrm>
            <a:off x="3676175" y="1343613"/>
            <a:ext cx="2425500" cy="16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Your Databricks account</a:t>
            </a:r>
            <a:endParaRPr sz="1800">
              <a:solidFill>
                <a:srgbClr val="1B3139"/>
              </a:solidFill>
              <a:latin typeface="DM Sans"/>
              <a:ea typeface="DM Sans"/>
              <a:cs typeface="DM Sans"/>
              <a:sym typeface="DM Sans"/>
            </a:endParaRPr>
          </a:p>
        </p:txBody>
      </p:sp>
      <p:sp>
        <p:nvSpPr>
          <p:cNvPr id="2262" name="Google Shape;2262;p102"/>
          <p:cNvSpPr txBox="1"/>
          <p:nvPr/>
        </p:nvSpPr>
        <p:spPr>
          <a:xfrm>
            <a:off x="8366375" y="2138475"/>
            <a:ext cx="1619400" cy="1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Your cloud  account</a:t>
            </a:r>
            <a:endParaRPr sz="1200">
              <a:solidFill>
                <a:srgbClr val="1B3139"/>
              </a:solidFill>
              <a:latin typeface="DM Sans"/>
              <a:ea typeface="DM Sans"/>
              <a:cs typeface="DM Sans"/>
              <a:sym typeface="DM Sans"/>
            </a:endParaRPr>
          </a:p>
        </p:txBody>
      </p:sp>
      <p:cxnSp>
        <p:nvCxnSpPr>
          <p:cNvPr id="2263" name="Google Shape;2263;p102"/>
          <p:cNvCxnSpPr>
            <a:stCxn id="2244" idx="2"/>
            <a:endCxn id="2243" idx="0"/>
          </p:cNvCxnSpPr>
          <p:nvPr/>
        </p:nvCxnSpPr>
        <p:spPr>
          <a:xfrm>
            <a:off x="9278175" y="3636150"/>
            <a:ext cx="0" cy="1197900"/>
          </a:xfrm>
          <a:prstGeom prst="straightConnector1">
            <a:avLst/>
          </a:prstGeom>
          <a:noFill/>
          <a:ln cap="flat" cmpd="sng" w="19050">
            <a:solidFill>
              <a:srgbClr val="618794"/>
            </a:solidFill>
            <a:prstDash val="solid"/>
            <a:round/>
            <a:headEnd len="med" w="med" type="triangle"/>
            <a:tailEnd len="sm" w="sm" type="triangle"/>
          </a:ln>
        </p:spPr>
      </p:cxnSp>
      <p:cxnSp>
        <p:nvCxnSpPr>
          <p:cNvPr id="2264" name="Google Shape;2264;p102"/>
          <p:cNvCxnSpPr>
            <a:stCxn id="2244" idx="1"/>
            <a:endCxn id="2251" idx="3"/>
          </p:cNvCxnSpPr>
          <p:nvPr/>
        </p:nvCxnSpPr>
        <p:spPr>
          <a:xfrm flipH="1">
            <a:off x="5819925" y="2855400"/>
            <a:ext cx="2148300" cy="21000"/>
          </a:xfrm>
          <a:prstGeom prst="straightConnector1">
            <a:avLst/>
          </a:prstGeom>
          <a:noFill/>
          <a:ln cap="flat" cmpd="sng" w="19050">
            <a:solidFill>
              <a:srgbClr val="618794"/>
            </a:solidFill>
            <a:prstDash val="solid"/>
            <a:round/>
            <a:headEnd len="med" w="med" type="triangle"/>
            <a:tailEnd len="sm" w="sm" type="triangle"/>
          </a:ln>
        </p:spPr>
      </p:cxnSp>
      <p:cxnSp>
        <p:nvCxnSpPr>
          <p:cNvPr id="2265" name="Google Shape;2265;p102"/>
          <p:cNvCxnSpPr>
            <a:stCxn id="2266" idx="0"/>
            <a:endCxn id="2251" idx="2"/>
          </p:cNvCxnSpPr>
          <p:nvPr/>
        </p:nvCxnSpPr>
        <p:spPr>
          <a:xfrm rot="10800000">
            <a:off x="4747971" y="3994322"/>
            <a:ext cx="0" cy="891900"/>
          </a:xfrm>
          <a:prstGeom prst="straightConnector1">
            <a:avLst/>
          </a:prstGeom>
          <a:noFill/>
          <a:ln cap="flat" cmpd="sng" w="19050">
            <a:solidFill>
              <a:srgbClr val="618794"/>
            </a:solidFill>
            <a:prstDash val="solid"/>
            <a:round/>
            <a:headEnd len="med" w="med" type="triangle"/>
            <a:tailEnd len="sm" w="sm" type="triangle"/>
          </a:ln>
        </p:spPr>
      </p:cxnSp>
      <p:grpSp>
        <p:nvGrpSpPr>
          <p:cNvPr id="2267" name="Google Shape;2267;p102"/>
          <p:cNvGrpSpPr/>
          <p:nvPr/>
        </p:nvGrpSpPr>
        <p:grpSpPr>
          <a:xfrm>
            <a:off x="3689764" y="4886222"/>
            <a:ext cx="2116413" cy="809098"/>
            <a:chOff x="4610013" y="2827768"/>
            <a:chExt cx="2217300" cy="826200"/>
          </a:xfrm>
        </p:grpSpPr>
        <p:sp>
          <p:nvSpPr>
            <p:cNvPr id="2266" name="Google Shape;2266;p102"/>
            <p:cNvSpPr/>
            <p:nvPr/>
          </p:nvSpPr>
          <p:spPr>
            <a:xfrm>
              <a:off x="4610013" y="2827768"/>
              <a:ext cx="22173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Serverless compute plane</a:t>
              </a:r>
              <a:endParaRPr sz="1200">
                <a:solidFill>
                  <a:srgbClr val="1B5162"/>
                </a:solidFill>
                <a:latin typeface="DM Sans Medium"/>
                <a:ea typeface="DM Sans Medium"/>
                <a:cs typeface="DM Sans Medium"/>
                <a:sym typeface="DM Sans Medium"/>
              </a:endParaRPr>
            </a:p>
          </p:txBody>
        </p:sp>
        <p:sp>
          <p:nvSpPr>
            <p:cNvPr id="2268" name="Google Shape;2268;p102"/>
            <p:cNvSpPr/>
            <p:nvPr/>
          </p:nvSpPr>
          <p:spPr>
            <a:xfrm>
              <a:off x="4792921"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sp>
          <p:nvSpPr>
            <p:cNvPr id="2269" name="Google Shape;2269;p102"/>
            <p:cNvSpPr/>
            <p:nvPr/>
          </p:nvSpPr>
          <p:spPr>
            <a:xfrm>
              <a:off x="5769036"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Compute</a:t>
              </a:r>
              <a:endParaRPr i="0" sz="1000" u="none" cap="none" strike="noStrike">
                <a:solidFill>
                  <a:srgbClr val="1B3038"/>
                </a:solidFill>
                <a:latin typeface="DM Sans"/>
                <a:ea typeface="DM Sans"/>
                <a:cs typeface="DM Sans"/>
                <a:sym typeface="DM Sans"/>
              </a:endParaRPr>
            </a:p>
          </p:txBody>
        </p:sp>
      </p:grpSp>
      <p:cxnSp>
        <p:nvCxnSpPr>
          <p:cNvPr id="2270" name="Google Shape;2270;p102"/>
          <p:cNvCxnSpPr>
            <a:stCxn id="2243" idx="1"/>
            <a:endCxn id="2266" idx="3"/>
          </p:cNvCxnSpPr>
          <p:nvPr/>
        </p:nvCxnSpPr>
        <p:spPr>
          <a:xfrm rot="10800000">
            <a:off x="5806125" y="5290800"/>
            <a:ext cx="2162100" cy="11100"/>
          </a:xfrm>
          <a:prstGeom prst="straightConnector1">
            <a:avLst/>
          </a:prstGeom>
          <a:noFill/>
          <a:ln cap="flat" cmpd="sng" w="19050">
            <a:solidFill>
              <a:srgbClr val="618794"/>
            </a:solidFill>
            <a:prstDash val="solid"/>
            <a:round/>
            <a:headEnd len="med" w="med" type="triangle"/>
            <a:tailEnd len="sm" w="sm" type="triangle"/>
          </a:ln>
        </p:spPr>
      </p:cxnSp>
      <p:pic>
        <p:nvPicPr>
          <p:cNvPr id="2271" name="Google Shape;2271;p102"/>
          <p:cNvPicPr preferRelativeResize="0"/>
          <p:nvPr/>
        </p:nvPicPr>
        <p:blipFill rotWithShape="1">
          <a:blip r:embed="rId5">
            <a:alphaModFix/>
          </a:blip>
          <a:srcRect b="0" l="0" r="0" t="0"/>
          <a:stretch/>
        </p:blipFill>
        <p:spPr>
          <a:xfrm>
            <a:off x="9816383" y="5160012"/>
            <a:ext cx="512776" cy="515324"/>
          </a:xfrm>
          <a:prstGeom prst="rect">
            <a:avLst/>
          </a:prstGeom>
          <a:noFill/>
          <a:ln>
            <a:noFill/>
          </a:ln>
        </p:spPr>
      </p:pic>
      <p:pic>
        <p:nvPicPr>
          <p:cNvPr id="2272" name="Google Shape;2272;p102"/>
          <p:cNvPicPr preferRelativeResize="0"/>
          <p:nvPr/>
        </p:nvPicPr>
        <p:blipFill rotWithShape="1">
          <a:blip r:embed="rId6">
            <a:alphaModFix/>
          </a:blip>
          <a:srcRect b="0" l="0" r="0" t="0"/>
          <a:stretch/>
        </p:blipFill>
        <p:spPr>
          <a:xfrm>
            <a:off x="8366375" y="5161288"/>
            <a:ext cx="512776" cy="512750"/>
          </a:xfrm>
          <a:prstGeom prst="rect">
            <a:avLst/>
          </a:prstGeom>
          <a:noFill/>
          <a:ln>
            <a:noFill/>
          </a:ln>
        </p:spPr>
      </p:pic>
      <p:pic>
        <p:nvPicPr>
          <p:cNvPr id="2273" name="Google Shape;2273;p102"/>
          <p:cNvPicPr preferRelativeResize="0"/>
          <p:nvPr/>
        </p:nvPicPr>
        <p:blipFill rotWithShape="1">
          <a:blip r:embed="rId7">
            <a:alphaModFix/>
          </a:blip>
          <a:srcRect b="0" l="39" r="39" t="0"/>
          <a:stretch/>
        </p:blipFill>
        <p:spPr>
          <a:xfrm>
            <a:off x="9091375" y="5161287"/>
            <a:ext cx="512776" cy="512775"/>
          </a:xfrm>
          <a:prstGeom prst="rect">
            <a:avLst/>
          </a:prstGeom>
          <a:noFill/>
          <a:ln>
            <a:noFill/>
          </a:ln>
        </p:spPr>
      </p:pic>
      <p:sp>
        <p:nvSpPr>
          <p:cNvPr id="2274" name="Google Shape;2274;p102"/>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/_static/images/getting-started/architecture.png</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8" name="Shape 2278"/>
        <p:cNvGrpSpPr/>
        <p:nvPr/>
      </p:nvGrpSpPr>
      <p:grpSpPr>
        <a:xfrm>
          <a:off x="0" y="0"/>
          <a:ext cx="0" cy="0"/>
          <a:chOff x="0" y="0"/>
          <a:chExt cx="0" cy="0"/>
        </a:xfrm>
      </p:grpSpPr>
      <p:sp>
        <p:nvSpPr>
          <p:cNvPr id="2279" name="Google Shape;2279;p10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280" name="Google Shape;2280;p103"/>
          <p:cNvSpPr/>
          <p:nvPr/>
        </p:nvSpPr>
        <p:spPr>
          <a:xfrm>
            <a:off x="7086475" y="2710650"/>
            <a:ext cx="2984400" cy="14079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2281" name="Google Shape;2281;p103"/>
          <p:cNvSpPr/>
          <p:nvPr/>
        </p:nvSpPr>
        <p:spPr>
          <a:xfrm>
            <a:off x="3805525" y="2095000"/>
            <a:ext cx="2445300" cy="36042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cxnSp>
        <p:nvCxnSpPr>
          <p:cNvPr id="2282" name="Google Shape;2282;p103"/>
          <p:cNvCxnSpPr>
            <a:stCxn id="2281" idx="1"/>
            <a:endCxn id="2283" idx="3"/>
          </p:cNvCxnSpPr>
          <p:nvPr/>
        </p:nvCxnSpPr>
        <p:spPr>
          <a:xfrm rot="10800000">
            <a:off x="3344125" y="3897100"/>
            <a:ext cx="461400" cy="0"/>
          </a:xfrm>
          <a:prstGeom prst="straightConnector1">
            <a:avLst/>
          </a:prstGeom>
          <a:noFill/>
          <a:ln cap="flat" cmpd="sng" w="19050">
            <a:solidFill>
              <a:srgbClr val="618794"/>
            </a:solidFill>
            <a:prstDash val="solid"/>
            <a:round/>
            <a:headEnd len="med" w="med" type="triangle"/>
            <a:tailEnd len="sm" w="sm" type="triangle"/>
          </a:ln>
        </p:spPr>
      </p:cxnSp>
      <p:grpSp>
        <p:nvGrpSpPr>
          <p:cNvPr id="2284" name="Google Shape;2284;p103"/>
          <p:cNvGrpSpPr/>
          <p:nvPr/>
        </p:nvGrpSpPr>
        <p:grpSpPr>
          <a:xfrm>
            <a:off x="2496844" y="3527435"/>
            <a:ext cx="847162" cy="739340"/>
            <a:chOff x="91762" y="2601287"/>
            <a:chExt cx="1189500" cy="1083600"/>
          </a:xfrm>
        </p:grpSpPr>
        <p:sp>
          <p:nvSpPr>
            <p:cNvPr id="2283" name="Google Shape;2283;p103"/>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2285" name="Google Shape;2285;p103"/>
            <p:cNvPicPr preferRelativeResize="0"/>
            <p:nvPr/>
          </p:nvPicPr>
          <p:blipFill rotWithShape="1">
            <a:blip r:embed="rId3">
              <a:alphaModFix/>
            </a:blip>
            <a:srcRect b="0" l="0" r="0" t="0"/>
            <a:stretch/>
          </p:blipFill>
          <p:spPr>
            <a:xfrm>
              <a:off x="452892" y="3143220"/>
              <a:ext cx="467236" cy="437700"/>
            </a:xfrm>
            <a:prstGeom prst="rect">
              <a:avLst/>
            </a:prstGeom>
            <a:noFill/>
            <a:ln>
              <a:noFill/>
            </a:ln>
          </p:spPr>
        </p:pic>
      </p:grpSp>
      <p:grpSp>
        <p:nvGrpSpPr>
          <p:cNvPr id="2286" name="Google Shape;2286;p103"/>
          <p:cNvGrpSpPr/>
          <p:nvPr/>
        </p:nvGrpSpPr>
        <p:grpSpPr>
          <a:xfrm>
            <a:off x="4149777" y="2488981"/>
            <a:ext cx="1819547" cy="1869988"/>
            <a:chOff x="1013125" y="382029"/>
            <a:chExt cx="2245800" cy="2282700"/>
          </a:xfrm>
        </p:grpSpPr>
        <p:sp>
          <p:nvSpPr>
            <p:cNvPr id="2287" name="Google Shape;2287;p103"/>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2288" name="Google Shape;2288;p103"/>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2289" name="Google Shape;2289;p103"/>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2290" name="Google Shape;2290;p103"/>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2291" name="Google Shape;2291;p103"/>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sp>
        <p:nvSpPr>
          <p:cNvPr id="2292" name="Google Shape;2292;p103"/>
          <p:cNvSpPr/>
          <p:nvPr/>
        </p:nvSpPr>
        <p:spPr>
          <a:xfrm>
            <a:off x="7185500" y="3001125"/>
            <a:ext cx="1215000" cy="10140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Classic compute plane</a:t>
            </a:r>
            <a:endParaRPr sz="900">
              <a:solidFill>
                <a:srgbClr val="1B5162"/>
              </a:solidFill>
              <a:latin typeface="DM Sans Medium"/>
              <a:ea typeface="DM Sans Medium"/>
              <a:cs typeface="DM Sans Medium"/>
              <a:sym typeface="DM Sans Medium"/>
            </a:endParaRPr>
          </a:p>
        </p:txBody>
      </p:sp>
      <p:sp>
        <p:nvSpPr>
          <p:cNvPr id="2293" name="Google Shape;2293;p103"/>
          <p:cNvSpPr/>
          <p:nvPr/>
        </p:nvSpPr>
        <p:spPr>
          <a:xfrm>
            <a:off x="7487386" y="3363119"/>
            <a:ext cx="617700" cy="2475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sp>
        <p:nvSpPr>
          <p:cNvPr id="2294" name="Google Shape;2294;p103"/>
          <p:cNvSpPr/>
          <p:nvPr/>
        </p:nvSpPr>
        <p:spPr>
          <a:xfrm>
            <a:off x="7487382" y="3681894"/>
            <a:ext cx="617700" cy="2475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pic>
        <p:nvPicPr>
          <p:cNvPr id="2295" name="Google Shape;2295;p103"/>
          <p:cNvPicPr preferRelativeResize="0"/>
          <p:nvPr/>
        </p:nvPicPr>
        <p:blipFill>
          <a:blip r:embed="rId4">
            <a:alphaModFix/>
          </a:blip>
          <a:stretch>
            <a:fillRect/>
          </a:stretch>
        </p:blipFill>
        <p:spPr>
          <a:xfrm>
            <a:off x="3912093" y="2245336"/>
            <a:ext cx="188635" cy="212833"/>
          </a:xfrm>
          <a:prstGeom prst="rect">
            <a:avLst/>
          </a:prstGeom>
          <a:noFill/>
          <a:ln>
            <a:noFill/>
          </a:ln>
        </p:spPr>
      </p:pic>
      <p:sp>
        <p:nvSpPr>
          <p:cNvPr id="2296" name="Google Shape;2296;p103"/>
          <p:cNvSpPr txBox="1"/>
          <p:nvPr/>
        </p:nvSpPr>
        <p:spPr>
          <a:xfrm>
            <a:off x="4149771" y="2177584"/>
            <a:ext cx="18195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 Databricks account</a:t>
            </a:r>
            <a:endParaRPr sz="1400">
              <a:solidFill>
                <a:srgbClr val="1B3139"/>
              </a:solidFill>
              <a:latin typeface="DM Sans"/>
              <a:ea typeface="DM Sans"/>
              <a:cs typeface="DM Sans"/>
              <a:sym typeface="DM Sans"/>
            </a:endParaRPr>
          </a:p>
        </p:txBody>
      </p:sp>
      <p:sp>
        <p:nvSpPr>
          <p:cNvPr id="2297" name="Google Shape;2297;p103"/>
          <p:cNvSpPr txBox="1"/>
          <p:nvPr/>
        </p:nvSpPr>
        <p:spPr>
          <a:xfrm>
            <a:off x="7971176" y="2698956"/>
            <a:ext cx="1215000" cy="126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Your cloud  account</a:t>
            </a:r>
            <a:endParaRPr sz="900">
              <a:solidFill>
                <a:srgbClr val="1B3139"/>
              </a:solidFill>
              <a:latin typeface="DM Sans"/>
              <a:ea typeface="DM Sans"/>
              <a:cs typeface="DM Sans"/>
              <a:sym typeface="DM Sans"/>
            </a:endParaRPr>
          </a:p>
        </p:txBody>
      </p:sp>
      <p:cxnSp>
        <p:nvCxnSpPr>
          <p:cNvPr id="2298" name="Google Shape;2298;p103"/>
          <p:cNvCxnSpPr>
            <a:stCxn id="2280" idx="2"/>
            <a:endCxn id="2299" idx="0"/>
          </p:cNvCxnSpPr>
          <p:nvPr/>
        </p:nvCxnSpPr>
        <p:spPr>
          <a:xfrm>
            <a:off x="8578675" y="4118550"/>
            <a:ext cx="0" cy="667200"/>
          </a:xfrm>
          <a:prstGeom prst="straightConnector1">
            <a:avLst/>
          </a:prstGeom>
          <a:noFill/>
          <a:ln cap="flat" cmpd="sng" w="19050">
            <a:solidFill>
              <a:srgbClr val="618794"/>
            </a:solidFill>
            <a:prstDash val="solid"/>
            <a:round/>
            <a:headEnd len="med" w="med" type="triangle"/>
            <a:tailEnd len="sm" w="sm" type="triangle"/>
          </a:ln>
        </p:spPr>
      </p:cxnSp>
      <p:cxnSp>
        <p:nvCxnSpPr>
          <p:cNvPr id="2300" name="Google Shape;2300;p103"/>
          <p:cNvCxnSpPr>
            <a:stCxn id="2280" idx="1"/>
            <a:endCxn id="2287" idx="3"/>
          </p:cNvCxnSpPr>
          <p:nvPr/>
        </p:nvCxnSpPr>
        <p:spPr>
          <a:xfrm flipH="1">
            <a:off x="5969275" y="3414600"/>
            <a:ext cx="1117200" cy="9300"/>
          </a:xfrm>
          <a:prstGeom prst="straightConnector1">
            <a:avLst/>
          </a:prstGeom>
          <a:noFill/>
          <a:ln cap="flat" cmpd="sng" w="19050">
            <a:solidFill>
              <a:srgbClr val="618794"/>
            </a:solidFill>
            <a:prstDash val="solid"/>
            <a:round/>
            <a:headEnd len="med" w="med" type="triangle"/>
            <a:tailEnd len="sm" w="sm" type="triangle"/>
          </a:ln>
        </p:spPr>
      </p:cxnSp>
      <p:cxnSp>
        <p:nvCxnSpPr>
          <p:cNvPr id="2301" name="Google Shape;2301;p103"/>
          <p:cNvCxnSpPr>
            <a:stCxn id="2302" idx="0"/>
            <a:endCxn id="2287" idx="2"/>
          </p:cNvCxnSpPr>
          <p:nvPr/>
        </p:nvCxnSpPr>
        <p:spPr>
          <a:xfrm rot="10800000">
            <a:off x="5059612" y="4358865"/>
            <a:ext cx="5100" cy="475800"/>
          </a:xfrm>
          <a:prstGeom prst="straightConnector1">
            <a:avLst/>
          </a:prstGeom>
          <a:noFill/>
          <a:ln cap="flat" cmpd="sng" w="19050">
            <a:solidFill>
              <a:srgbClr val="618794"/>
            </a:solidFill>
            <a:prstDash val="solid"/>
            <a:round/>
            <a:headEnd len="med" w="med" type="triangle"/>
            <a:tailEnd len="sm" w="sm" type="triangle"/>
          </a:ln>
        </p:spPr>
      </p:cxnSp>
      <p:grpSp>
        <p:nvGrpSpPr>
          <p:cNvPr id="2303" name="Google Shape;2303;p103"/>
          <p:cNvGrpSpPr/>
          <p:nvPr/>
        </p:nvGrpSpPr>
        <p:grpSpPr>
          <a:xfrm>
            <a:off x="4160164" y="4834665"/>
            <a:ext cx="1809095" cy="606844"/>
            <a:chOff x="4610013" y="2827768"/>
            <a:chExt cx="2217300" cy="826200"/>
          </a:xfrm>
        </p:grpSpPr>
        <p:sp>
          <p:nvSpPr>
            <p:cNvPr id="2302" name="Google Shape;2302;p103"/>
            <p:cNvSpPr/>
            <p:nvPr/>
          </p:nvSpPr>
          <p:spPr>
            <a:xfrm>
              <a:off x="4610013" y="2827768"/>
              <a:ext cx="22173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Serverless compute plane</a:t>
              </a:r>
              <a:endParaRPr sz="900">
                <a:solidFill>
                  <a:srgbClr val="1B5162"/>
                </a:solidFill>
                <a:latin typeface="DM Sans Medium"/>
                <a:ea typeface="DM Sans Medium"/>
                <a:cs typeface="DM Sans Medium"/>
                <a:sym typeface="DM Sans Medium"/>
              </a:endParaRPr>
            </a:p>
          </p:txBody>
        </p:sp>
        <p:sp>
          <p:nvSpPr>
            <p:cNvPr id="2304" name="Google Shape;2304;p103"/>
            <p:cNvSpPr/>
            <p:nvPr/>
          </p:nvSpPr>
          <p:spPr>
            <a:xfrm>
              <a:off x="4792921"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sp>
          <p:nvSpPr>
            <p:cNvPr id="2305" name="Google Shape;2305;p103"/>
            <p:cNvSpPr/>
            <p:nvPr/>
          </p:nvSpPr>
          <p:spPr>
            <a:xfrm>
              <a:off x="5769036"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grpSp>
      <p:cxnSp>
        <p:nvCxnSpPr>
          <p:cNvPr id="2306" name="Google Shape;2306;p103"/>
          <p:cNvCxnSpPr>
            <a:stCxn id="2299" idx="1"/>
            <a:endCxn id="2302" idx="3"/>
          </p:cNvCxnSpPr>
          <p:nvPr/>
        </p:nvCxnSpPr>
        <p:spPr>
          <a:xfrm flipH="1">
            <a:off x="5969114" y="5136600"/>
            <a:ext cx="1626900" cy="1500"/>
          </a:xfrm>
          <a:prstGeom prst="straightConnector1">
            <a:avLst/>
          </a:prstGeom>
          <a:noFill/>
          <a:ln cap="flat" cmpd="sng" w="19050">
            <a:solidFill>
              <a:srgbClr val="618794"/>
            </a:solidFill>
            <a:prstDash val="solid"/>
            <a:round/>
            <a:headEnd len="med" w="med" type="triangle"/>
            <a:tailEnd len="sm" w="sm" type="triangle"/>
          </a:ln>
        </p:spPr>
      </p:cxnSp>
      <p:grpSp>
        <p:nvGrpSpPr>
          <p:cNvPr id="2307" name="Google Shape;2307;p103"/>
          <p:cNvGrpSpPr/>
          <p:nvPr/>
        </p:nvGrpSpPr>
        <p:grpSpPr>
          <a:xfrm>
            <a:off x="7596014" y="4785750"/>
            <a:ext cx="1965300" cy="701700"/>
            <a:chOff x="5953814" y="3268775"/>
            <a:chExt cx="1965300" cy="701700"/>
          </a:xfrm>
        </p:grpSpPr>
        <p:sp>
          <p:nvSpPr>
            <p:cNvPr id="2299" name="Google Shape;2299;p103"/>
            <p:cNvSpPr/>
            <p:nvPr/>
          </p:nvSpPr>
          <p:spPr>
            <a:xfrm>
              <a:off x="5953814" y="3268775"/>
              <a:ext cx="1965300" cy="7017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 resources </a:t>
              </a:r>
              <a:endParaRPr sz="900">
                <a:solidFill>
                  <a:srgbClr val="1B5162"/>
                </a:solidFill>
                <a:latin typeface="DM Sans Medium"/>
                <a:ea typeface="DM Sans Medium"/>
                <a:cs typeface="DM Sans Medium"/>
                <a:sym typeface="DM Sans Medium"/>
              </a:endParaRPr>
            </a:p>
          </p:txBody>
        </p:sp>
        <p:pic>
          <p:nvPicPr>
            <p:cNvPr id="2308" name="Google Shape;2308;p103"/>
            <p:cNvPicPr preferRelativeResize="0"/>
            <p:nvPr/>
          </p:nvPicPr>
          <p:blipFill rotWithShape="1">
            <a:blip r:embed="rId5">
              <a:alphaModFix/>
            </a:blip>
            <a:srcRect b="0" l="0" r="0" t="0"/>
            <a:stretch/>
          </p:blipFill>
          <p:spPr>
            <a:xfrm>
              <a:off x="7340280" y="3513246"/>
              <a:ext cx="384582" cy="386493"/>
            </a:xfrm>
            <a:prstGeom prst="rect">
              <a:avLst/>
            </a:prstGeom>
            <a:noFill/>
            <a:ln>
              <a:noFill/>
            </a:ln>
          </p:spPr>
        </p:pic>
        <p:pic>
          <p:nvPicPr>
            <p:cNvPr id="2309" name="Google Shape;2309;p103"/>
            <p:cNvPicPr preferRelativeResize="0"/>
            <p:nvPr/>
          </p:nvPicPr>
          <p:blipFill rotWithShape="1">
            <a:blip r:embed="rId6">
              <a:alphaModFix/>
            </a:blip>
            <a:srcRect b="0" l="0" r="0" t="0"/>
            <a:stretch/>
          </p:blipFill>
          <p:spPr>
            <a:xfrm>
              <a:off x="6252501" y="3514204"/>
              <a:ext cx="384582" cy="384564"/>
            </a:xfrm>
            <a:prstGeom prst="rect">
              <a:avLst/>
            </a:prstGeom>
            <a:noFill/>
            <a:ln>
              <a:noFill/>
            </a:ln>
          </p:spPr>
        </p:pic>
        <p:pic>
          <p:nvPicPr>
            <p:cNvPr id="2310" name="Google Shape;2310;p103"/>
            <p:cNvPicPr preferRelativeResize="0"/>
            <p:nvPr/>
          </p:nvPicPr>
          <p:blipFill rotWithShape="1">
            <a:blip r:embed="rId7">
              <a:alphaModFix/>
            </a:blip>
            <a:srcRect b="0" l="39" r="39" t="0"/>
            <a:stretch/>
          </p:blipFill>
          <p:spPr>
            <a:xfrm>
              <a:off x="6796388" y="3514203"/>
              <a:ext cx="384582" cy="384581"/>
            </a:xfrm>
            <a:prstGeom prst="rect">
              <a:avLst/>
            </a:prstGeom>
            <a:noFill/>
            <a:ln>
              <a:noFill/>
            </a:ln>
          </p:spPr>
        </p:pic>
      </p:grpSp>
      <p:sp>
        <p:nvSpPr>
          <p:cNvPr id="2311" name="Google Shape;2311;p103"/>
          <p:cNvSpPr/>
          <p:nvPr/>
        </p:nvSpPr>
        <p:spPr>
          <a:xfrm>
            <a:off x="8773775" y="3001125"/>
            <a:ext cx="1117200" cy="10140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Workspace storage bucket</a:t>
            </a:r>
            <a:endParaRPr sz="900">
              <a:solidFill>
                <a:srgbClr val="1B5162"/>
              </a:solidFill>
              <a:latin typeface="DM Sans Medium"/>
              <a:ea typeface="DM Sans Medium"/>
              <a:cs typeface="DM Sans Medium"/>
              <a:sym typeface="DM Sans Medium"/>
            </a:endParaRPr>
          </a:p>
        </p:txBody>
      </p:sp>
      <p:pic>
        <p:nvPicPr>
          <p:cNvPr id="2312" name="Google Shape;2312;p103"/>
          <p:cNvPicPr preferRelativeResize="0"/>
          <p:nvPr/>
        </p:nvPicPr>
        <p:blipFill rotWithShape="1">
          <a:blip r:embed="rId6">
            <a:alphaModFix/>
          </a:blip>
          <a:srcRect b="0" l="0" r="0" t="0"/>
          <a:stretch/>
        </p:blipFill>
        <p:spPr>
          <a:xfrm>
            <a:off x="9065075" y="3363125"/>
            <a:ext cx="534599" cy="534599"/>
          </a:xfrm>
          <a:prstGeom prst="rect">
            <a:avLst/>
          </a:prstGeom>
          <a:noFill/>
          <a:ln>
            <a:noFill/>
          </a:ln>
        </p:spPr>
      </p:pic>
      <p:sp>
        <p:nvSpPr>
          <p:cNvPr id="2313" name="Google Shape;2313;p103"/>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/_static/images/getting-started/architecture.png</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7" name="Shape 2317"/>
        <p:cNvGrpSpPr/>
        <p:nvPr/>
      </p:nvGrpSpPr>
      <p:grpSpPr>
        <a:xfrm>
          <a:off x="0" y="0"/>
          <a:ext cx="0" cy="0"/>
          <a:chOff x="0" y="0"/>
          <a:chExt cx="0" cy="0"/>
        </a:xfrm>
      </p:grpSpPr>
      <p:sp>
        <p:nvSpPr>
          <p:cNvPr id="2318" name="Google Shape;2318;p104"/>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319" name="Google Shape;2319;p104"/>
          <p:cNvSpPr/>
          <p:nvPr/>
        </p:nvSpPr>
        <p:spPr>
          <a:xfrm>
            <a:off x="7086475" y="2710650"/>
            <a:ext cx="3170700" cy="14079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2320" name="Google Shape;2320;p104"/>
          <p:cNvSpPr/>
          <p:nvPr/>
        </p:nvSpPr>
        <p:spPr>
          <a:xfrm>
            <a:off x="3805525" y="2095000"/>
            <a:ext cx="2445300" cy="36042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cxnSp>
        <p:nvCxnSpPr>
          <p:cNvPr id="2321" name="Google Shape;2321;p104"/>
          <p:cNvCxnSpPr>
            <a:stCxn id="2320" idx="1"/>
            <a:endCxn id="2322" idx="3"/>
          </p:cNvCxnSpPr>
          <p:nvPr/>
        </p:nvCxnSpPr>
        <p:spPr>
          <a:xfrm rot="10800000">
            <a:off x="3344125" y="3897100"/>
            <a:ext cx="461400" cy="0"/>
          </a:xfrm>
          <a:prstGeom prst="straightConnector1">
            <a:avLst/>
          </a:prstGeom>
          <a:noFill/>
          <a:ln cap="flat" cmpd="sng" w="19050">
            <a:solidFill>
              <a:srgbClr val="618794"/>
            </a:solidFill>
            <a:prstDash val="solid"/>
            <a:round/>
            <a:headEnd len="med" w="med" type="triangle"/>
            <a:tailEnd len="sm" w="sm" type="triangle"/>
          </a:ln>
        </p:spPr>
      </p:cxnSp>
      <p:grpSp>
        <p:nvGrpSpPr>
          <p:cNvPr id="2323" name="Google Shape;2323;p104"/>
          <p:cNvGrpSpPr/>
          <p:nvPr/>
        </p:nvGrpSpPr>
        <p:grpSpPr>
          <a:xfrm>
            <a:off x="2496844" y="3527435"/>
            <a:ext cx="847162" cy="739340"/>
            <a:chOff x="91762" y="2601287"/>
            <a:chExt cx="1189500" cy="1083600"/>
          </a:xfrm>
        </p:grpSpPr>
        <p:sp>
          <p:nvSpPr>
            <p:cNvPr id="2322" name="Google Shape;2322;p104"/>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2324" name="Google Shape;2324;p104"/>
            <p:cNvPicPr preferRelativeResize="0"/>
            <p:nvPr/>
          </p:nvPicPr>
          <p:blipFill rotWithShape="1">
            <a:blip r:embed="rId3">
              <a:alphaModFix/>
            </a:blip>
            <a:srcRect b="0" l="0" r="0" t="0"/>
            <a:stretch/>
          </p:blipFill>
          <p:spPr>
            <a:xfrm>
              <a:off x="452892" y="3143220"/>
              <a:ext cx="467236" cy="437700"/>
            </a:xfrm>
            <a:prstGeom prst="rect">
              <a:avLst/>
            </a:prstGeom>
            <a:noFill/>
            <a:ln>
              <a:noFill/>
            </a:ln>
          </p:spPr>
        </p:pic>
      </p:grpSp>
      <p:grpSp>
        <p:nvGrpSpPr>
          <p:cNvPr id="2325" name="Google Shape;2325;p104"/>
          <p:cNvGrpSpPr/>
          <p:nvPr/>
        </p:nvGrpSpPr>
        <p:grpSpPr>
          <a:xfrm>
            <a:off x="4149777" y="2488981"/>
            <a:ext cx="1819547" cy="1869988"/>
            <a:chOff x="1013125" y="382029"/>
            <a:chExt cx="2245800" cy="2282700"/>
          </a:xfrm>
        </p:grpSpPr>
        <p:sp>
          <p:nvSpPr>
            <p:cNvPr id="2326" name="Google Shape;2326;p104"/>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2327" name="Google Shape;2327;p104"/>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2328" name="Google Shape;2328;p104"/>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2329" name="Google Shape;2329;p104"/>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2330" name="Google Shape;2330;p104"/>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sp>
        <p:nvSpPr>
          <p:cNvPr id="2331" name="Google Shape;2331;p104"/>
          <p:cNvSpPr/>
          <p:nvPr/>
        </p:nvSpPr>
        <p:spPr>
          <a:xfrm>
            <a:off x="7185500" y="3001125"/>
            <a:ext cx="1215000" cy="10140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Classic compute plane</a:t>
            </a:r>
            <a:endParaRPr sz="900">
              <a:solidFill>
                <a:srgbClr val="1B5162"/>
              </a:solidFill>
              <a:latin typeface="DM Sans Medium"/>
              <a:ea typeface="DM Sans Medium"/>
              <a:cs typeface="DM Sans Medium"/>
              <a:sym typeface="DM Sans Medium"/>
            </a:endParaRPr>
          </a:p>
        </p:txBody>
      </p:sp>
      <p:sp>
        <p:nvSpPr>
          <p:cNvPr id="2332" name="Google Shape;2332;p104"/>
          <p:cNvSpPr/>
          <p:nvPr/>
        </p:nvSpPr>
        <p:spPr>
          <a:xfrm>
            <a:off x="7487386" y="3384369"/>
            <a:ext cx="617700" cy="2475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sp>
        <p:nvSpPr>
          <p:cNvPr id="2333" name="Google Shape;2333;p104"/>
          <p:cNvSpPr/>
          <p:nvPr/>
        </p:nvSpPr>
        <p:spPr>
          <a:xfrm>
            <a:off x="7487382" y="3681894"/>
            <a:ext cx="617700" cy="2475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pic>
        <p:nvPicPr>
          <p:cNvPr id="2334" name="Google Shape;2334;p104"/>
          <p:cNvPicPr preferRelativeResize="0"/>
          <p:nvPr/>
        </p:nvPicPr>
        <p:blipFill>
          <a:blip r:embed="rId4">
            <a:alphaModFix/>
          </a:blip>
          <a:stretch>
            <a:fillRect/>
          </a:stretch>
        </p:blipFill>
        <p:spPr>
          <a:xfrm>
            <a:off x="3912093" y="2245336"/>
            <a:ext cx="188635" cy="212833"/>
          </a:xfrm>
          <a:prstGeom prst="rect">
            <a:avLst/>
          </a:prstGeom>
          <a:noFill/>
          <a:ln>
            <a:noFill/>
          </a:ln>
        </p:spPr>
      </p:pic>
      <p:sp>
        <p:nvSpPr>
          <p:cNvPr id="2335" name="Google Shape;2335;p104"/>
          <p:cNvSpPr txBox="1"/>
          <p:nvPr/>
        </p:nvSpPr>
        <p:spPr>
          <a:xfrm>
            <a:off x="4149771" y="2177584"/>
            <a:ext cx="18195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 Databricks account</a:t>
            </a:r>
            <a:endParaRPr sz="1400">
              <a:solidFill>
                <a:srgbClr val="1B3139"/>
              </a:solidFill>
              <a:latin typeface="DM Sans"/>
              <a:ea typeface="DM Sans"/>
              <a:cs typeface="DM Sans"/>
              <a:sym typeface="DM Sans"/>
            </a:endParaRPr>
          </a:p>
        </p:txBody>
      </p:sp>
      <p:sp>
        <p:nvSpPr>
          <p:cNvPr id="2336" name="Google Shape;2336;p104"/>
          <p:cNvSpPr txBox="1"/>
          <p:nvPr/>
        </p:nvSpPr>
        <p:spPr>
          <a:xfrm>
            <a:off x="8064326" y="2698956"/>
            <a:ext cx="1215000" cy="126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Your cloud  account</a:t>
            </a:r>
            <a:endParaRPr sz="900">
              <a:solidFill>
                <a:srgbClr val="1B3139"/>
              </a:solidFill>
              <a:latin typeface="DM Sans"/>
              <a:ea typeface="DM Sans"/>
              <a:cs typeface="DM Sans"/>
              <a:sym typeface="DM Sans"/>
            </a:endParaRPr>
          </a:p>
        </p:txBody>
      </p:sp>
      <p:cxnSp>
        <p:nvCxnSpPr>
          <p:cNvPr id="2337" name="Google Shape;2337;p104"/>
          <p:cNvCxnSpPr>
            <a:stCxn id="2319" idx="2"/>
            <a:endCxn id="2338" idx="0"/>
          </p:cNvCxnSpPr>
          <p:nvPr/>
        </p:nvCxnSpPr>
        <p:spPr>
          <a:xfrm>
            <a:off x="8671825" y="4118550"/>
            <a:ext cx="0" cy="667200"/>
          </a:xfrm>
          <a:prstGeom prst="straightConnector1">
            <a:avLst/>
          </a:prstGeom>
          <a:noFill/>
          <a:ln cap="flat" cmpd="sng" w="19050">
            <a:solidFill>
              <a:srgbClr val="618794"/>
            </a:solidFill>
            <a:prstDash val="solid"/>
            <a:round/>
            <a:headEnd len="med" w="med" type="triangle"/>
            <a:tailEnd len="sm" w="sm" type="triangle"/>
          </a:ln>
        </p:spPr>
      </p:cxnSp>
      <p:cxnSp>
        <p:nvCxnSpPr>
          <p:cNvPr id="2339" name="Google Shape;2339;p104"/>
          <p:cNvCxnSpPr>
            <a:stCxn id="2319" idx="1"/>
            <a:endCxn id="2326" idx="3"/>
          </p:cNvCxnSpPr>
          <p:nvPr/>
        </p:nvCxnSpPr>
        <p:spPr>
          <a:xfrm flipH="1">
            <a:off x="5969275" y="3414600"/>
            <a:ext cx="1117200" cy="9300"/>
          </a:xfrm>
          <a:prstGeom prst="straightConnector1">
            <a:avLst/>
          </a:prstGeom>
          <a:noFill/>
          <a:ln cap="flat" cmpd="sng" w="19050">
            <a:solidFill>
              <a:srgbClr val="618794"/>
            </a:solidFill>
            <a:prstDash val="solid"/>
            <a:round/>
            <a:headEnd len="med" w="med" type="triangle"/>
            <a:tailEnd len="sm" w="sm" type="triangle"/>
          </a:ln>
        </p:spPr>
      </p:cxnSp>
      <p:cxnSp>
        <p:nvCxnSpPr>
          <p:cNvPr id="2340" name="Google Shape;2340;p104"/>
          <p:cNvCxnSpPr>
            <a:stCxn id="2341" idx="0"/>
            <a:endCxn id="2326" idx="2"/>
          </p:cNvCxnSpPr>
          <p:nvPr/>
        </p:nvCxnSpPr>
        <p:spPr>
          <a:xfrm rot="10800000">
            <a:off x="5059612" y="4358865"/>
            <a:ext cx="5100" cy="475800"/>
          </a:xfrm>
          <a:prstGeom prst="straightConnector1">
            <a:avLst/>
          </a:prstGeom>
          <a:noFill/>
          <a:ln cap="flat" cmpd="sng" w="19050">
            <a:solidFill>
              <a:srgbClr val="618794"/>
            </a:solidFill>
            <a:prstDash val="solid"/>
            <a:round/>
            <a:headEnd len="med" w="med" type="triangle"/>
            <a:tailEnd len="sm" w="sm" type="triangle"/>
          </a:ln>
        </p:spPr>
      </p:cxnSp>
      <p:grpSp>
        <p:nvGrpSpPr>
          <p:cNvPr id="2342" name="Google Shape;2342;p104"/>
          <p:cNvGrpSpPr/>
          <p:nvPr/>
        </p:nvGrpSpPr>
        <p:grpSpPr>
          <a:xfrm>
            <a:off x="4160164" y="4834665"/>
            <a:ext cx="1809095" cy="606844"/>
            <a:chOff x="4610013" y="2827768"/>
            <a:chExt cx="2217300" cy="826200"/>
          </a:xfrm>
        </p:grpSpPr>
        <p:sp>
          <p:nvSpPr>
            <p:cNvPr id="2341" name="Google Shape;2341;p104"/>
            <p:cNvSpPr/>
            <p:nvPr/>
          </p:nvSpPr>
          <p:spPr>
            <a:xfrm>
              <a:off x="4610013" y="2827768"/>
              <a:ext cx="22173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Serverless compute plane</a:t>
              </a:r>
              <a:endParaRPr sz="900">
                <a:solidFill>
                  <a:srgbClr val="1B5162"/>
                </a:solidFill>
                <a:latin typeface="DM Sans Medium"/>
                <a:ea typeface="DM Sans Medium"/>
                <a:cs typeface="DM Sans Medium"/>
                <a:sym typeface="DM Sans Medium"/>
              </a:endParaRPr>
            </a:p>
          </p:txBody>
        </p:sp>
        <p:sp>
          <p:nvSpPr>
            <p:cNvPr id="2343" name="Google Shape;2343;p104"/>
            <p:cNvSpPr/>
            <p:nvPr/>
          </p:nvSpPr>
          <p:spPr>
            <a:xfrm>
              <a:off x="4792921"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sp>
          <p:nvSpPr>
            <p:cNvPr id="2344" name="Google Shape;2344;p104"/>
            <p:cNvSpPr/>
            <p:nvPr/>
          </p:nvSpPr>
          <p:spPr>
            <a:xfrm>
              <a:off x="5769036" y="3240885"/>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grpSp>
      <p:cxnSp>
        <p:nvCxnSpPr>
          <p:cNvPr id="2345" name="Google Shape;2345;p104"/>
          <p:cNvCxnSpPr>
            <a:stCxn id="2338" idx="1"/>
            <a:endCxn id="2341" idx="3"/>
          </p:cNvCxnSpPr>
          <p:nvPr/>
        </p:nvCxnSpPr>
        <p:spPr>
          <a:xfrm flipH="1">
            <a:off x="5969264" y="5136600"/>
            <a:ext cx="1719900" cy="1500"/>
          </a:xfrm>
          <a:prstGeom prst="straightConnector1">
            <a:avLst/>
          </a:prstGeom>
          <a:noFill/>
          <a:ln cap="flat" cmpd="sng" w="19050">
            <a:solidFill>
              <a:srgbClr val="618794"/>
            </a:solidFill>
            <a:prstDash val="solid"/>
            <a:round/>
            <a:headEnd len="med" w="med" type="triangle"/>
            <a:tailEnd len="sm" w="sm" type="triangle"/>
          </a:ln>
        </p:spPr>
      </p:cxnSp>
      <p:grpSp>
        <p:nvGrpSpPr>
          <p:cNvPr id="2346" name="Google Shape;2346;p104"/>
          <p:cNvGrpSpPr/>
          <p:nvPr/>
        </p:nvGrpSpPr>
        <p:grpSpPr>
          <a:xfrm>
            <a:off x="7689164" y="4785750"/>
            <a:ext cx="1965300" cy="701700"/>
            <a:chOff x="5953814" y="3268775"/>
            <a:chExt cx="1965300" cy="701700"/>
          </a:xfrm>
        </p:grpSpPr>
        <p:sp>
          <p:nvSpPr>
            <p:cNvPr id="2338" name="Google Shape;2338;p104"/>
            <p:cNvSpPr/>
            <p:nvPr/>
          </p:nvSpPr>
          <p:spPr>
            <a:xfrm>
              <a:off x="5953814" y="3268775"/>
              <a:ext cx="1965300" cy="7017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 resources </a:t>
              </a:r>
              <a:endParaRPr sz="900">
                <a:solidFill>
                  <a:srgbClr val="1B5162"/>
                </a:solidFill>
                <a:latin typeface="DM Sans Medium"/>
                <a:ea typeface="DM Sans Medium"/>
                <a:cs typeface="DM Sans Medium"/>
                <a:sym typeface="DM Sans Medium"/>
              </a:endParaRPr>
            </a:p>
          </p:txBody>
        </p:sp>
        <p:pic>
          <p:nvPicPr>
            <p:cNvPr id="2347" name="Google Shape;2347;p104"/>
            <p:cNvPicPr preferRelativeResize="0"/>
            <p:nvPr/>
          </p:nvPicPr>
          <p:blipFill rotWithShape="1">
            <a:blip r:embed="rId5">
              <a:alphaModFix/>
            </a:blip>
            <a:srcRect b="0" l="0" r="0" t="0"/>
            <a:stretch/>
          </p:blipFill>
          <p:spPr>
            <a:xfrm>
              <a:off x="7340280" y="3513246"/>
              <a:ext cx="384582" cy="386493"/>
            </a:xfrm>
            <a:prstGeom prst="rect">
              <a:avLst/>
            </a:prstGeom>
            <a:noFill/>
            <a:ln>
              <a:noFill/>
            </a:ln>
          </p:spPr>
        </p:pic>
        <p:pic>
          <p:nvPicPr>
            <p:cNvPr id="2348" name="Google Shape;2348;p104"/>
            <p:cNvPicPr preferRelativeResize="0"/>
            <p:nvPr/>
          </p:nvPicPr>
          <p:blipFill rotWithShape="1">
            <a:blip r:embed="rId6">
              <a:alphaModFix/>
            </a:blip>
            <a:srcRect b="0" l="0" r="0" t="0"/>
            <a:stretch/>
          </p:blipFill>
          <p:spPr>
            <a:xfrm>
              <a:off x="6252501" y="3514204"/>
              <a:ext cx="384582" cy="384564"/>
            </a:xfrm>
            <a:prstGeom prst="rect">
              <a:avLst/>
            </a:prstGeom>
            <a:noFill/>
            <a:ln>
              <a:noFill/>
            </a:ln>
          </p:spPr>
        </p:pic>
        <p:pic>
          <p:nvPicPr>
            <p:cNvPr id="2349" name="Google Shape;2349;p104"/>
            <p:cNvPicPr preferRelativeResize="0"/>
            <p:nvPr/>
          </p:nvPicPr>
          <p:blipFill rotWithShape="1">
            <a:blip r:embed="rId7">
              <a:alphaModFix/>
            </a:blip>
            <a:srcRect b="0" l="39" r="39" t="0"/>
            <a:stretch/>
          </p:blipFill>
          <p:spPr>
            <a:xfrm>
              <a:off x="6796388" y="3514203"/>
              <a:ext cx="384582" cy="384581"/>
            </a:xfrm>
            <a:prstGeom prst="rect">
              <a:avLst/>
            </a:prstGeom>
            <a:noFill/>
            <a:ln>
              <a:noFill/>
            </a:ln>
          </p:spPr>
        </p:pic>
      </p:grpSp>
      <p:sp>
        <p:nvSpPr>
          <p:cNvPr id="2350" name="Google Shape;2350;p104"/>
          <p:cNvSpPr/>
          <p:nvPr/>
        </p:nvSpPr>
        <p:spPr>
          <a:xfrm>
            <a:off x="8505975" y="3001125"/>
            <a:ext cx="1626600" cy="10140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Workspace storage buckets</a:t>
            </a:r>
            <a:endParaRPr sz="900">
              <a:solidFill>
                <a:srgbClr val="1B5162"/>
              </a:solidFill>
              <a:latin typeface="DM Sans Medium"/>
              <a:ea typeface="DM Sans Medium"/>
              <a:cs typeface="DM Sans Medium"/>
              <a:sym typeface="DM Sans Medium"/>
            </a:endParaRPr>
          </a:p>
        </p:txBody>
      </p:sp>
      <p:pic>
        <p:nvPicPr>
          <p:cNvPr id="2351" name="Google Shape;2351;p104"/>
          <p:cNvPicPr preferRelativeResize="0"/>
          <p:nvPr/>
        </p:nvPicPr>
        <p:blipFill rotWithShape="1">
          <a:blip r:embed="rId6">
            <a:alphaModFix/>
          </a:blip>
          <a:srcRect b="0" l="0" r="0" t="0"/>
          <a:stretch/>
        </p:blipFill>
        <p:spPr>
          <a:xfrm>
            <a:off x="8630175" y="3414600"/>
            <a:ext cx="461400" cy="461400"/>
          </a:xfrm>
          <a:prstGeom prst="rect">
            <a:avLst/>
          </a:prstGeom>
          <a:noFill/>
          <a:ln>
            <a:noFill/>
          </a:ln>
        </p:spPr>
      </p:pic>
      <p:sp>
        <p:nvSpPr>
          <p:cNvPr id="2352" name="Google Shape;2352;p104"/>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/_static/images/getting-started/architecture-gcp.png</a:t>
            </a:r>
            <a:endParaRPr/>
          </a:p>
        </p:txBody>
      </p:sp>
      <p:pic>
        <p:nvPicPr>
          <p:cNvPr id="2353" name="Google Shape;2353;p104"/>
          <p:cNvPicPr preferRelativeResize="0"/>
          <p:nvPr/>
        </p:nvPicPr>
        <p:blipFill rotWithShape="1">
          <a:blip r:embed="rId6">
            <a:alphaModFix/>
          </a:blip>
          <a:srcRect b="0" l="0" r="0" t="0"/>
          <a:stretch/>
        </p:blipFill>
        <p:spPr>
          <a:xfrm>
            <a:off x="9123425" y="3414600"/>
            <a:ext cx="461400" cy="461400"/>
          </a:xfrm>
          <a:prstGeom prst="rect">
            <a:avLst/>
          </a:prstGeom>
          <a:noFill/>
          <a:ln>
            <a:noFill/>
          </a:ln>
        </p:spPr>
      </p:pic>
      <p:pic>
        <p:nvPicPr>
          <p:cNvPr id="2354" name="Google Shape;2354;p104"/>
          <p:cNvPicPr preferRelativeResize="0"/>
          <p:nvPr/>
        </p:nvPicPr>
        <p:blipFill rotWithShape="1">
          <a:blip r:embed="rId6">
            <a:alphaModFix/>
          </a:blip>
          <a:srcRect b="0" l="0" r="0" t="0"/>
          <a:stretch/>
        </p:blipFill>
        <p:spPr>
          <a:xfrm>
            <a:off x="9616675" y="3414600"/>
            <a:ext cx="461400" cy="4614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8" name="Shape 2358"/>
        <p:cNvGrpSpPr/>
        <p:nvPr/>
      </p:nvGrpSpPr>
      <p:grpSpPr>
        <a:xfrm>
          <a:off x="0" y="0"/>
          <a:ext cx="0" cy="0"/>
          <a:chOff x="0" y="0"/>
          <a:chExt cx="0" cy="0"/>
        </a:xfrm>
      </p:grpSpPr>
      <p:sp>
        <p:nvSpPr>
          <p:cNvPr id="2359" name="Google Shape;2359;p105"/>
          <p:cNvSpPr txBox="1"/>
          <p:nvPr>
            <p:ph idx="1" type="subTitle"/>
          </p:nvPr>
        </p:nvSpPr>
        <p:spPr>
          <a:xfrm>
            <a:off x="714175" y="32848"/>
            <a:ext cx="10659300" cy="1148700"/>
          </a:xfrm>
          <a:prstGeom prst="rect">
            <a:avLst/>
          </a:prstGeom>
        </p:spPr>
        <p:txBody>
          <a:bodyPr anchorCtr="0" anchor="t" bIns="121875" lIns="121875" spcFirstLastPara="1" rIns="121875" wrap="square" tIns="121875">
            <a:normAutofit lnSpcReduction="20000"/>
          </a:bodyPr>
          <a:lstStyle/>
          <a:p>
            <a:pPr indent="0" lvl="0" marL="0" rtl="0" algn="l">
              <a:spcBef>
                <a:spcPts val="0"/>
              </a:spcBef>
              <a:spcAft>
                <a:spcPts val="0"/>
              </a:spcAft>
              <a:buNone/>
            </a:pPr>
            <a:r>
              <a:rPr lang="en"/>
              <a:t>High level arch with serverless workspaces</a:t>
            </a:r>
            <a:endParaRPr/>
          </a:p>
          <a:p>
            <a:pPr indent="0" lvl="0" marL="0" rtl="0" algn="l">
              <a:spcBef>
                <a:spcPts val="1600"/>
              </a:spcBef>
              <a:spcAft>
                <a:spcPts val="1600"/>
              </a:spcAft>
              <a:buNone/>
            </a:pPr>
            <a:r>
              <a:rPr lang="en"/>
              <a:t>/_static/images/getting-started/serverless-workspaces.png</a:t>
            </a:r>
            <a:endParaRPr/>
          </a:p>
        </p:txBody>
      </p:sp>
      <p:sp>
        <p:nvSpPr>
          <p:cNvPr id="2360" name="Google Shape;2360;p105"/>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361" name="Google Shape;2361;p105"/>
          <p:cNvSpPr/>
          <p:nvPr/>
        </p:nvSpPr>
        <p:spPr>
          <a:xfrm>
            <a:off x="6888503" y="4256874"/>
            <a:ext cx="1965300" cy="12633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2362" name="Google Shape;2362;p105"/>
          <p:cNvSpPr/>
          <p:nvPr/>
        </p:nvSpPr>
        <p:spPr>
          <a:xfrm>
            <a:off x="3805525" y="2095000"/>
            <a:ext cx="2445300" cy="43428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cxnSp>
        <p:nvCxnSpPr>
          <p:cNvPr id="2363" name="Google Shape;2363;p105"/>
          <p:cNvCxnSpPr>
            <a:stCxn id="2362" idx="1"/>
            <a:endCxn id="2364" idx="3"/>
          </p:cNvCxnSpPr>
          <p:nvPr/>
        </p:nvCxnSpPr>
        <p:spPr>
          <a:xfrm rot="10800000">
            <a:off x="3202225" y="4266400"/>
            <a:ext cx="603300" cy="0"/>
          </a:xfrm>
          <a:prstGeom prst="straightConnector1">
            <a:avLst/>
          </a:prstGeom>
          <a:noFill/>
          <a:ln cap="flat" cmpd="sng" w="19050">
            <a:solidFill>
              <a:srgbClr val="618794"/>
            </a:solidFill>
            <a:prstDash val="solid"/>
            <a:round/>
            <a:headEnd len="med" w="med" type="triangle"/>
            <a:tailEnd len="sm" w="sm" type="triangle"/>
          </a:ln>
        </p:spPr>
      </p:cxnSp>
      <p:grpSp>
        <p:nvGrpSpPr>
          <p:cNvPr id="2365" name="Google Shape;2365;p105"/>
          <p:cNvGrpSpPr/>
          <p:nvPr/>
        </p:nvGrpSpPr>
        <p:grpSpPr>
          <a:xfrm>
            <a:off x="2355019" y="3896735"/>
            <a:ext cx="847162" cy="739340"/>
            <a:chOff x="91762" y="2601287"/>
            <a:chExt cx="1189500" cy="1083600"/>
          </a:xfrm>
        </p:grpSpPr>
        <p:sp>
          <p:nvSpPr>
            <p:cNvPr id="2364" name="Google Shape;2364;p105"/>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2366" name="Google Shape;2366;p105"/>
            <p:cNvPicPr preferRelativeResize="0"/>
            <p:nvPr/>
          </p:nvPicPr>
          <p:blipFill rotWithShape="1">
            <a:blip r:embed="rId3">
              <a:alphaModFix/>
            </a:blip>
            <a:srcRect b="0" l="0" r="0" t="0"/>
            <a:stretch/>
          </p:blipFill>
          <p:spPr>
            <a:xfrm>
              <a:off x="452892" y="3143220"/>
              <a:ext cx="467236" cy="437700"/>
            </a:xfrm>
            <a:prstGeom prst="rect">
              <a:avLst/>
            </a:prstGeom>
            <a:noFill/>
            <a:ln>
              <a:noFill/>
            </a:ln>
          </p:spPr>
        </p:pic>
      </p:grpSp>
      <p:grpSp>
        <p:nvGrpSpPr>
          <p:cNvPr id="2367" name="Google Shape;2367;p105"/>
          <p:cNvGrpSpPr/>
          <p:nvPr/>
        </p:nvGrpSpPr>
        <p:grpSpPr>
          <a:xfrm>
            <a:off x="4149777" y="2488981"/>
            <a:ext cx="1819547" cy="1869988"/>
            <a:chOff x="1013125" y="382029"/>
            <a:chExt cx="2245800" cy="2282700"/>
          </a:xfrm>
        </p:grpSpPr>
        <p:sp>
          <p:nvSpPr>
            <p:cNvPr id="2368" name="Google Shape;2368;p105"/>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2369" name="Google Shape;2369;p105"/>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2370" name="Google Shape;2370;p105"/>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2371" name="Google Shape;2371;p105"/>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2372" name="Google Shape;2372;p105"/>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pic>
        <p:nvPicPr>
          <p:cNvPr id="2373" name="Google Shape;2373;p105"/>
          <p:cNvPicPr preferRelativeResize="0"/>
          <p:nvPr/>
        </p:nvPicPr>
        <p:blipFill>
          <a:blip r:embed="rId4">
            <a:alphaModFix/>
          </a:blip>
          <a:stretch>
            <a:fillRect/>
          </a:stretch>
        </p:blipFill>
        <p:spPr>
          <a:xfrm>
            <a:off x="3912093" y="2245336"/>
            <a:ext cx="188635" cy="212833"/>
          </a:xfrm>
          <a:prstGeom prst="rect">
            <a:avLst/>
          </a:prstGeom>
          <a:noFill/>
          <a:ln>
            <a:noFill/>
          </a:ln>
        </p:spPr>
      </p:pic>
      <p:sp>
        <p:nvSpPr>
          <p:cNvPr id="2374" name="Google Shape;2374;p105"/>
          <p:cNvSpPr txBox="1"/>
          <p:nvPr/>
        </p:nvSpPr>
        <p:spPr>
          <a:xfrm>
            <a:off x="4149771" y="2177584"/>
            <a:ext cx="18195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 Databricks account</a:t>
            </a:r>
            <a:endParaRPr sz="1400">
              <a:solidFill>
                <a:srgbClr val="1B3139"/>
              </a:solidFill>
              <a:latin typeface="DM Sans"/>
              <a:ea typeface="DM Sans"/>
              <a:cs typeface="DM Sans"/>
              <a:sym typeface="DM Sans"/>
            </a:endParaRPr>
          </a:p>
        </p:txBody>
      </p:sp>
      <p:sp>
        <p:nvSpPr>
          <p:cNvPr id="2375" name="Google Shape;2375;p105"/>
          <p:cNvSpPr txBox="1"/>
          <p:nvPr/>
        </p:nvSpPr>
        <p:spPr>
          <a:xfrm>
            <a:off x="7305319" y="4287848"/>
            <a:ext cx="1215000" cy="126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Your cloud account</a:t>
            </a:r>
            <a:endParaRPr sz="900">
              <a:solidFill>
                <a:srgbClr val="1B3139"/>
              </a:solidFill>
              <a:latin typeface="DM Sans"/>
              <a:ea typeface="DM Sans"/>
              <a:cs typeface="DM Sans"/>
              <a:sym typeface="DM Sans"/>
            </a:endParaRPr>
          </a:p>
        </p:txBody>
      </p:sp>
      <p:cxnSp>
        <p:nvCxnSpPr>
          <p:cNvPr id="2376" name="Google Shape;2376;p105"/>
          <p:cNvCxnSpPr>
            <a:stCxn id="2377" idx="0"/>
            <a:endCxn id="2368" idx="2"/>
          </p:cNvCxnSpPr>
          <p:nvPr/>
        </p:nvCxnSpPr>
        <p:spPr>
          <a:xfrm rot="10800000">
            <a:off x="5059525" y="4358889"/>
            <a:ext cx="0" cy="298500"/>
          </a:xfrm>
          <a:prstGeom prst="straightConnector1">
            <a:avLst/>
          </a:prstGeom>
          <a:noFill/>
          <a:ln cap="flat" cmpd="sng" w="19050">
            <a:solidFill>
              <a:srgbClr val="618794"/>
            </a:solidFill>
            <a:prstDash val="solid"/>
            <a:round/>
            <a:headEnd len="med" w="med" type="triangle"/>
            <a:tailEnd len="sm" w="sm" type="triangle"/>
          </a:ln>
        </p:spPr>
      </p:cxnSp>
      <p:grpSp>
        <p:nvGrpSpPr>
          <p:cNvPr id="2378" name="Google Shape;2378;p105"/>
          <p:cNvGrpSpPr/>
          <p:nvPr/>
        </p:nvGrpSpPr>
        <p:grpSpPr>
          <a:xfrm>
            <a:off x="4154977" y="4657389"/>
            <a:ext cx="1809095" cy="606844"/>
            <a:chOff x="4610013" y="2726599"/>
            <a:chExt cx="2217300" cy="826200"/>
          </a:xfrm>
        </p:grpSpPr>
        <p:sp>
          <p:nvSpPr>
            <p:cNvPr id="2377" name="Google Shape;2377;p105"/>
            <p:cNvSpPr/>
            <p:nvPr/>
          </p:nvSpPr>
          <p:spPr>
            <a:xfrm>
              <a:off x="4610013" y="2726599"/>
              <a:ext cx="2217300" cy="8262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Serverless compute plane</a:t>
              </a:r>
              <a:endParaRPr sz="900">
                <a:solidFill>
                  <a:srgbClr val="1B5162"/>
                </a:solidFill>
                <a:latin typeface="DM Sans Medium"/>
                <a:ea typeface="DM Sans Medium"/>
                <a:cs typeface="DM Sans Medium"/>
                <a:sym typeface="DM Sans Medium"/>
              </a:endParaRPr>
            </a:p>
          </p:txBody>
        </p:sp>
        <p:sp>
          <p:nvSpPr>
            <p:cNvPr id="2379" name="Google Shape;2379;p105"/>
            <p:cNvSpPr/>
            <p:nvPr/>
          </p:nvSpPr>
          <p:spPr>
            <a:xfrm>
              <a:off x="4792921" y="3139716"/>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sp>
          <p:nvSpPr>
            <p:cNvPr id="2380" name="Google Shape;2380;p105"/>
            <p:cNvSpPr/>
            <p:nvPr/>
          </p:nvSpPr>
          <p:spPr>
            <a:xfrm>
              <a:off x="5769036" y="3139716"/>
              <a:ext cx="862500" cy="336900"/>
            </a:xfrm>
            <a:prstGeom prst="roundRect">
              <a:avLst>
                <a:gd fmla="val 16667" name="adj"/>
              </a:avLst>
            </a:prstGeom>
            <a:no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a:t>
              </a:r>
              <a:endParaRPr i="0" sz="800" u="none" cap="none" strike="noStrike">
                <a:solidFill>
                  <a:srgbClr val="1B3038"/>
                </a:solidFill>
                <a:latin typeface="DM Sans"/>
                <a:ea typeface="DM Sans"/>
                <a:cs typeface="DM Sans"/>
                <a:sym typeface="DM Sans"/>
              </a:endParaRPr>
            </a:p>
          </p:txBody>
        </p:sp>
      </p:grpSp>
      <p:cxnSp>
        <p:nvCxnSpPr>
          <p:cNvPr id="2381" name="Google Shape;2381;p105"/>
          <p:cNvCxnSpPr>
            <a:stCxn id="2361" idx="1"/>
          </p:cNvCxnSpPr>
          <p:nvPr/>
        </p:nvCxnSpPr>
        <p:spPr>
          <a:xfrm rot="10800000">
            <a:off x="5964803" y="4877424"/>
            <a:ext cx="923700" cy="11100"/>
          </a:xfrm>
          <a:prstGeom prst="straightConnector1">
            <a:avLst/>
          </a:prstGeom>
          <a:noFill/>
          <a:ln cap="flat" cmpd="sng" w="19050">
            <a:solidFill>
              <a:srgbClr val="618794"/>
            </a:solidFill>
            <a:prstDash val="solid"/>
            <a:round/>
            <a:headEnd len="med" w="med" type="triangle"/>
            <a:tailEnd len="sm" w="sm" type="triangle"/>
          </a:ln>
        </p:spPr>
      </p:cxnSp>
      <p:sp>
        <p:nvSpPr>
          <p:cNvPr id="2382" name="Google Shape;2382;p105"/>
          <p:cNvSpPr/>
          <p:nvPr/>
        </p:nvSpPr>
        <p:spPr>
          <a:xfrm>
            <a:off x="7069003" y="4586074"/>
            <a:ext cx="1626600" cy="8439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S</a:t>
            </a:r>
            <a:r>
              <a:rPr lang="en" sz="900">
                <a:solidFill>
                  <a:srgbClr val="1B5162"/>
                </a:solidFill>
                <a:latin typeface="DM Sans Medium"/>
                <a:ea typeface="DM Sans Medium"/>
                <a:cs typeface="DM Sans Medium"/>
                <a:sym typeface="DM Sans Medium"/>
              </a:rPr>
              <a:t>torage buckets</a:t>
            </a:r>
            <a:endParaRPr sz="900">
              <a:solidFill>
                <a:srgbClr val="1B5162"/>
              </a:solidFill>
              <a:latin typeface="DM Sans Medium"/>
              <a:ea typeface="DM Sans Medium"/>
              <a:cs typeface="DM Sans Medium"/>
              <a:sym typeface="DM Sans Medium"/>
            </a:endParaRPr>
          </a:p>
        </p:txBody>
      </p:sp>
      <p:pic>
        <p:nvPicPr>
          <p:cNvPr id="2383" name="Google Shape;2383;p105"/>
          <p:cNvPicPr preferRelativeResize="0"/>
          <p:nvPr/>
        </p:nvPicPr>
        <p:blipFill rotWithShape="1">
          <a:blip r:embed="rId5">
            <a:alphaModFix/>
          </a:blip>
          <a:srcRect b="0" l="0" r="0" t="0"/>
          <a:stretch/>
        </p:blipFill>
        <p:spPr>
          <a:xfrm>
            <a:off x="7193203" y="4902206"/>
            <a:ext cx="461400" cy="461400"/>
          </a:xfrm>
          <a:prstGeom prst="rect">
            <a:avLst/>
          </a:prstGeom>
          <a:noFill/>
          <a:ln>
            <a:noFill/>
          </a:ln>
        </p:spPr>
      </p:pic>
      <p:pic>
        <p:nvPicPr>
          <p:cNvPr id="2384" name="Google Shape;2384;p105"/>
          <p:cNvPicPr preferRelativeResize="0"/>
          <p:nvPr/>
        </p:nvPicPr>
        <p:blipFill rotWithShape="1">
          <a:blip r:embed="rId5">
            <a:alphaModFix/>
          </a:blip>
          <a:srcRect b="0" l="0" r="0" t="0"/>
          <a:stretch/>
        </p:blipFill>
        <p:spPr>
          <a:xfrm>
            <a:off x="7686453" y="4902206"/>
            <a:ext cx="461400" cy="461400"/>
          </a:xfrm>
          <a:prstGeom prst="rect">
            <a:avLst/>
          </a:prstGeom>
          <a:noFill/>
          <a:ln>
            <a:noFill/>
          </a:ln>
        </p:spPr>
      </p:pic>
      <p:pic>
        <p:nvPicPr>
          <p:cNvPr id="2385" name="Google Shape;2385;p105"/>
          <p:cNvPicPr preferRelativeResize="0"/>
          <p:nvPr/>
        </p:nvPicPr>
        <p:blipFill rotWithShape="1">
          <a:blip r:embed="rId5">
            <a:alphaModFix/>
          </a:blip>
          <a:srcRect b="0" l="0" r="0" t="0"/>
          <a:stretch/>
        </p:blipFill>
        <p:spPr>
          <a:xfrm>
            <a:off x="8179703" y="4902206"/>
            <a:ext cx="461400" cy="461400"/>
          </a:xfrm>
          <a:prstGeom prst="rect">
            <a:avLst/>
          </a:prstGeom>
          <a:noFill/>
          <a:ln>
            <a:noFill/>
          </a:ln>
        </p:spPr>
      </p:pic>
      <p:sp>
        <p:nvSpPr>
          <p:cNvPr id="2386" name="Google Shape;2386;p105"/>
          <p:cNvSpPr/>
          <p:nvPr/>
        </p:nvSpPr>
        <p:spPr>
          <a:xfrm>
            <a:off x="4123625" y="5594752"/>
            <a:ext cx="1809000" cy="701700"/>
          </a:xfrm>
          <a:prstGeom prst="roundRect">
            <a:avLst>
              <a:gd fmla="val 6398" name="adj"/>
            </a:avLst>
          </a:prstGeom>
          <a:solidFill>
            <a:srgbClr val="FFFFFF">
              <a:alpha val="94050"/>
            </a:srgbClr>
          </a:solidFill>
          <a:ln cap="flat" cmpd="sng" w="9525">
            <a:solidFill>
              <a:srgbClr val="1B5162"/>
            </a:solidFill>
            <a:prstDash val="solid"/>
            <a:round/>
            <a:headEnd len="sm" w="sm" type="none"/>
            <a:tailEnd len="sm" w="sm" type="none"/>
          </a:ln>
        </p:spPr>
        <p:txBody>
          <a:bodyPr anchorCtr="0" anchor="t" bIns="51450" lIns="51450" spcFirstLastPara="1" rIns="51450" wrap="square" tIns="514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Default storage</a:t>
            </a:r>
            <a:endParaRPr sz="900">
              <a:solidFill>
                <a:srgbClr val="1B5162"/>
              </a:solidFill>
              <a:latin typeface="DM Sans Medium"/>
              <a:ea typeface="DM Sans Medium"/>
              <a:cs typeface="DM Sans Medium"/>
              <a:sym typeface="DM Sans Medium"/>
            </a:endParaRPr>
          </a:p>
        </p:txBody>
      </p:sp>
      <p:pic>
        <p:nvPicPr>
          <p:cNvPr id="2387" name="Google Shape;2387;p105"/>
          <p:cNvPicPr preferRelativeResize="0"/>
          <p:nvPr/>
        </p:nvPicPr>
        <p:blipFill rotWithShape="1">
          <a:blip r:embed="rId5">
            <a:alphaModFix/>
          </a:blip>
          <a:srcRect b="0" l="0" r="0" t="0"/>
          <a:stretch/>
        </p:blipFill>
        <p:spPr>
          <a:xfrm>
            <a:off x="4797424" y="5808033"/>
            <a:ext cx="461400" cy="461400"/>
          </a:xfrm>
          <a:prstGeom prst="rect">
            <a:avLst/>
          </a:prstGeom>
          <a:noFill/>
          <a:ln>
            <a:noFill/>
          </a:ln>
        </p:spPr>
      </p:pic>
      <p:cxnSp>
        <p:nvCxnSpPr>
          <p:cNvPr id="2388" name="Google Shape;2388;p105"/>
          <p:cNvCxnSpPr>
            <a:stCxn id="2386" idx="0"/>
          </p:cNvCxnSpPr>
          <p:nvPr/>
        </p:nvCxnSpPr>
        <p:spPr>
          <a:xfrm rot="10800000">
            <a:off x="5023025" y="5270152"/>
            <a:ext cx="5100" cy="324600"/>
          </a:xfrm>
          <a:prstGeom prst="straightConnector1">
            <a:avLst/>
          </a:prstGeom>
          <a:noFill/>
          <a:ln cap="flat" cmpd="sng" w="19050">
            <a:solidFill>
              <a:srgbClr val="618794"/>
            </a:solidFill>
            <a:prstDash val="solid"/>
            <a:round/>
            <a:headEnd len="med" w="med" type="triangle"/>
            <a:tailEnd len="sm" w="sm" type="triangle"/>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2" name="Shape 2392"/>
        <p:cNvGrpSpPr/>
        <p:nvPr/>
      </p:nvGrpSpPr>
      <p:grpSpPr>
        <a:xfrm>
          <a:off x="0" y="0"/>
          <a:ext cx="0" cy="0"/>
          <a:chOff x="0" y="0"/>
          <a:chExt cx="0" cy="0"/>
        </a:xfrm>
      </p:grpSpPr>
      <p:sp>
        <p:nvSpPr>
          <p:cNvPr id="2393" name="Google Shape;2393;p10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394" name="Google Shape;2394;p106"/>
          <p:cNvSpPr txBox="1"/>
          <p:nvPr/>
        </p:nvSpPr>
        <p:spPr>
          <a:xfrm>
            <a:off x="345675" y="226150"/>
            <a:ext cx="11357100" cy="879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RAG LLMOps lifecycle overview</a:t>
            </a:r>
            <a:endParaRPr sz="20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/_static/images/generative-ai/llm-ops-simplified.png</a:t>
            </a:r>
            <a:endParaRPr sz="1000"/>
          </a:p>
        </p:txBody>
      </p:sp>
      <p:sp>
        <p:nvSpPr>
          <p:cNvPr id="2395" name="Google Shape;2395;p106"/>
          <p:cNvSpPr/>
          <p:nvPr/>
        </p:nvSpPr>
        <p:spPr>
          <a:xfrm>
            <a:off x="541500" y="1145275"/>
            <a:ext cx="10815600" cy="53685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396" name="Google Shape;2396;p106"/>
          <p:cNvSpPr/>
          <p:nvPr/>
        </p:nvSpPr>
        <p:spPr>
          <a:xfrm>
            <a:off x="4530150" y="2340250"/>
            <a:ext cx="2745000" cy="2745000"/>
          </a:xfrm>
          <a:prstGeom prst="ellipse">
            <a:avLst/>
          </a:prstGeom>
          <a:noFill/>
          <a:ln cap="flat" cmpd="sng" w="19050">
            <a:solidFill>
              <a:srgbClr val="618794"/>
            </a:solidFill>
            <a:prstDash val="dash"/>
            <a:round/>
            <a:headEnd len="med" w="med" type="none"/>
            <a:tailEnd len="med" w="med"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397" name="Google Shape;2397;p106"/>
          <p:cNvSpPr/>
          <p:nvPr/>
        </p:nvSpPr>
        <p:spPr>
          <a:xfrm>
            <a:off x="6906082" y="2783016"/>
            <a:ext cx="1089600" cy="2302800"/>
          </a:xfrm>
          <a:prstGeom prst="roundRect">
            <a:avLst>
              <a:gd fmla="val 16667" name="adj"/>
            </a:avLst>
          </a:prstGeom>
          <a:solidFill>
            <a:srgbClr val="FFFFFF"/>
          </a:solidFill>
          <a:ln cap="flat" cmpd="sng" w="19050">
            <a:solidFill>
              <a:srgbClr val="FF5F46"/>
            </a:solidFill>
            <a:prstDash val="dash"/>
            <a:round/>
            <a:headEnd len="sm" w="sm" type="none"/>
            <a:tailEnd len="sm" w="sm" type="none"/>
          </a:ln>
        </p:spPr>
        <p:txBody>
          <a:bodyPr anchorCtr="0" anchor="t" bIns="0" lIns="0" spcFirstLastPara="1" rIns="0" wrap="square" tIns="91425">
            <a:noAutofit/>
          </a:bodyPr>
          <a:lstStyle/>
          <a:p>
            <a:pPr indent="0" lvl="0" marL="0" marR="0" rtl="0" algn="ctr">
              <a:lnSpc>
                <a:spcPct val="100000"/>
              </a:lnSpc>
              <a:spcBef>
                <a:spcPts val="0"/>
              </a:spcBef>
              <a:spcAft>
                <a:spcPts val="0"/>
              </a:spcAft>
              <a:buNone/>
            </a:pPr>
            <a:r>
              <a:rPr b="1" lang="en" sz="1100">
                <a:latin typeface="DM Sans"/>
                <a:ea typeface="DM Sans"/>
                <a:cs typeface="DM Sans"/>
                <a:sym typeface="DM Sans"/>
              </a:rPr>
              <a:t>Optimize cost / latency</a:t>
            </a:r>
            <a:endParaRPr b="1" sz="1100">
              <a:latin typeface="DM Sans"/>
              <a:ea typeface="DM Sans"/>
              <a:cs typeface="DM Sans"/>
              <a:sym typeface="DM Sans"/>
            </a:endParaRPr>
          </a:p>
        </p:txBody>
      </p:sp>
      <p:sp>
        <p:nvSpPr>
          <p:cNvPr id="2398" name="Google Shape;2398;p106"/>
          <p:cNvSpPr txBox="1"/>
          <p:nvPr/>
        </p:nvSpPr>
        <p:spPr>
          <a:xfrm>
            <a:off x="3261000" y="1206025"/>
            <a:ext cx="5376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LLMOps governance and lifecycle management</a:t>
            </a:r>
            <a:endParaRPr b="1">
              <a:solidFill>
                <a:srgbClr val="00A972"/>
              </a:solidFill>
              <a:latin typeface="DM Sans"/>
              <a:ea typeface="DM Sans"/>
              <a:cs typeface="DM Sans"/>
              <a:sym typeface="DM Sans"/>
            </a:endParaRPr>
          </a:p>
        </p:txBody>
      </p:sp>
      <p:sp>
        <p:nvSpPr>
          <p:cNvPr id="2399" name="Google Shape;2399;p106"/>
          <p:cNvSpPr/>
          <p:nvPr/>
        </p:nvSpPr>
        <p:spPr>
          <a:xfrm>
            <a:off x="713650" y="2782750"/>
            <a:ext cx="1089600" cy="10884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Gather requirements</a:t>
            </a:r>
            <a:endParaRPr b="1" sz="1100">
              <a:latin typeface="DM Sans"/>
              <a:ea typeface="DM Sans"/>
              <a:cs typeface="DM Sans"/>
              <a:sym typeface="DM Sans"/>
            </a:endParaRPr>
          </a:p>
        </p:txBody>
      </p:sp>
      <p:sp>
        <p:nvSpPr>
          <p:cNvPr id="2400" name="Google Shape;2400;p106"/>
          <p:cNvSpPr/>
          <p:nvPr/>
        </p:nvSpPr>
        <p:spPr>
          <a:xfrm>
            <a:off x="2261758" y="2782749"/>
            <a:ext cx="10896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Proof of Concept</a:t>
            </a:r>
            <a:endParaRPr b="1" sz="1100">
              <a:latin typeface="DM Sans"/>
              <a:ea typeface="DM Sans"/>
              <a:cs typeface="DM Sans"/>
              <a:sym typeface="DM Sans"/>
            </a:endParaRPr>
          </a:p>
        </p:txBody>
      </p:sp>
      <p:sp>
        <p:nvSpPr>
          <p:cNvPr id="2401" name="Google Shape;2401;p106"/>
          <p:cNvSpPr/>
          <p:nvPr/>
        </p:nvSpPr>
        <p:spPr>
          <a:xfrm>
            <a:off x="5357975" y="1639750"/>
            <a:ext cx="1089600" cy="1788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Iterate to improve</a:t>
            </a:r>
            <a:endParaRPr b="1" sz="1100">
              <a:latin typeface="DM Sans"/>
              <a:ea typeface="DM Sans"/>
              <a:cs typeface="DM Sans"/>
              <a:sym typeface="DM Sans"/>
            </a:endParaRPr>
          </a:p>
        </p:txBody>
      </p:sp>
      <p:cxnSp>
        <p:nvCxnSpPr>
          <p:cNvPr id="2402" name="Google Shape;2402;p106"/>
          <p:cNvCxnSpPr/>
          <p:nvPr/>
        </p:nvCxnSpPr>
        <p:spPr>
          <a:xfrm>
            <a:off x="1808475" y="3427975"/>
            <a:ext cx="444600" cy="0"/>
          </a:xfrm>
          <a:prstGeom prst="straightConnector1">
            <a:avLst/>
          </a:prstGeom>
          <a:noFill/>
          <a:ln cap="flat" cmpd="sng" w="19050">
            <a:solidFill>
              <a:srgbClr val="618794"/>
            </a:solidFill>
            <a:prstDash val="dash"/>
            <a:round/>
            <a:headEnd len="med" w="med" type="none"/>
            <a:tailEnd len="med" w="med" type="triangle"/>
          </a:ln>
        </p:spPr>
      </p:cxnSp>
      <p:cxnSp>
        <p:nvCxnSpPr>
          <p:cNvPr id="2403" name="Google Shape;2403;p106"/>
          <p:cNvCxnSpPr/>
          <p:nvPr/>
        </p:nvCxnSpPr>
        <p:spPr>
          <a:xfrm>
            <a:off x="3361550" y="3427975"/>
            <a:ext cx="430200" cy="0"/>
          </a:xfrm>
          <a:prstGeom prst="straightConnector1">
            <a:avLst/>
          </a:prstGeom>
          <a:noFill/>
          <a:ln cap="flat" cmpd="sng" w="19050">
            <a:solidFill>
              <a:srgbClr val="618794"/>
            </a:solidFill>
            <a:prstDash val="dash"/>
            <a:round/>
            <a:headEnd len="med" w="med" type="none"/>
            <a:tailEnd len="med" w="med" type="triangle"/>
          </a:ln>
        </p:spPr>
      </p:cxnSp>
      <p:sp>
        <p:nvSpPr>
          <p:cNvPr id="2404" name="Google Shape;2404;p106"/>
          <p:cNvSpPr/>
          <p:nvPr/>
        </p:nvSpPr>
        <p:spPr>
          <a:xfrm>
            <a:off x="3809866" y="2782609"/>
            <a:ext cx="10896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Test with stakeholders</a:t>
            </a:r>
            <a:endParaRPr b="1" sz="1100">
              <a:latin typeface="DM Sans"/>
              <a:ea typeface="DM Sans"/>
              <a:cs typeface="DM Sans"/>
              <a:sym typeface="DM Sans"/>
            </a:endParaRPr>
          </a:p>
        </p:txBody>
      </p:sp>
      <p:sp>
        <p:nvSpPr>
          <p:cNvPr id="2405" name="Google Shape;2405;p106"/>
          <p:cNvSpPr/>
          <p:nvPr/>
        </p:nvSpPr>
        <p:spPr>
          <a:xfrm>
            <a:off x="2207615" y="3823750"/>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MLflow</a:t>
            </a:r>
            <a:endParaRPr sz="1200">
              <a:latin typeface="DM Sans"/>
              <a:ea typeface="DM Sans"/>
              <a:cs typeface="DM Sans"/>
              <a:sym typeface="DM Sans"/>
            </a:endParaRPr>
          </a:p>
        </p:txBody>
      </p:sp>
      <p:sp>
        <p:nvSpPr>
          <p:cNvPr id="2406" name="Google Shape;2406;p106"/>
          <p:cNvSpPr/>
          <p:nvPr/>
        </p:nvSpPr>
        <p:spPr>
          <a:xfrm>
            <a:off x="3755700" y="3823750"/>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Review App</a:t>
            </a:r>
            <a:endParaRPr sz="1200">
              <a:latin typeface="DM Sans"/>
              <a:ea typeface="DM Sans"/>
              <a:cs typeface="DM Sans"/>
              <a:sym typeface="DM Sans"/>
            </a:endParaRPr>
          </a:p>
        </p:txBody>
      </p:sp>
      <p:sp>
        <p:nvSpPr>
          <p:cNvPr id="2407" name="Google Shape;2407;p106"/>
          <p:cNvSpPr/>
          <p:nvPr/>
        </p:nvSpPr>
        <p:spPr>
          <a:xfrm>
            <a:off x="5303813" y="2680750"/>
            <a:ext cx="1197900" cy="396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parameters</a:t>
            </a:r>
            <a:endParaRPr sz="1200">
              <a:latin typeface="DM Sans"/>
              <a:ea typeface="DM Sans"/>
              <a:cs typeface="DM Sans"/>
              <a:sym typeface="DM Sans"/>
            </a:endParaRPr>
          </a:p>
        </p:txBody>
      </p:sp>
      <p:sp>
        <p:nvSpPr>
          <p:cNvPr id="2408" name="Google Shape;2408;p106"/>
          <p:cNvSpPr/>
          <p:nvPr/>
        </p:nvSpPr>
        <p:spPr>
          <a:xfrm>
            <a:off x="8454190" y="2783016"/>
            <a:ext cx="10896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Deploy to production</a:t>
            </a:r>
            <a:endParaRPr b="1" sz="1100">
              <a:latin typeface="DM Sans"/>
              <a:ea typeface="DM Sans"/>
              <a:cs typeface="DM Sans"/>
              <a:sym typeface="DM Sans"/>
            </a:endParaRPr>
          </a:p>
        </p:txBody>
      </p:sp>
      <p:sp>
        <p:nvSpPr>
          <p:cNvPr id="2409" name="Google Shape;2409;p106"/>
          <p:cNvSpPr/>
          <p:nvPr/>
        </p:nvSpPr>
        <p:spPr>
          <a:xfrm>
            <a:off x="10002225" y="2782761"/>
            <a:ext cx="10896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Monitor in production</a:t>
            </a:r>
            <a:endParaRPr b="1" sz="1100">
              <a:latin typeface="DM Sans"/>
              <a:ea typeface="DM Sans"/>
              <a:cs typeface="DM Sans"/>
              <a:sym typeface="DM Sans"/>
            </a:endParaRPr>
          </a:p>
        </p:txBody>
      </p:sp>
      <p:sp>
        <p:nvSpPr>
          <p:cNvPr id="2410" name="Google Shape;2410;p106"/>
          <p:cNvSpPr/>
          <p:nvPr/>
        </p:nvSpPr>
        <p:spPr>
          <a:xfrm>
            <a:off x="8394663" y="3823750"/>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serve</a:t>
            </a:r>
            <a:endParaRPr sz="1200">
              <a:latin typeface="DM Sans"/>
              <a:ea typeface="DM Sans"/>
              <a:cs typeface="DM Sans"/>
              <a:sym typeface="DM Sans"/>
            </a:endParaRPr>
          </a:p>
        </p:txBody>
      </p:sp>
      <p:sp>
        <p:nvSpPr>
          <p:cNvPr id="2411" name="Google Shape;2411;p106"/>
          <p:cNvSpPr/>
          <p:nvPr/>
        </p:nvSpPr>
        <p:spPr>
          <a:xfrm>
            <a:off x="2271950" y="5468800"/>
            <a:ext cx="8628300" cy="782700"/>
          </a:xfrm>
          <a:prstGeom prst="roundRect">
            <a:avLst>
              <a:gd fmla="val 16667" name="adj"/>
            </a:avLst>
          </a:prstGeom>
          <a:solidFill>
            <a:srgbClr val="FFFFFF"/>
          </a:solidFill>
          <a:ln cap="flat" cmpd="sng" w="19050">
            <a:solidFill>
              <a:srgbClr val="00A972"/>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Evaluate &amp; monitor quality, cost, &amp; latency</a:t>
            </a:r>
            <a:endParaRPr b="1" sz="1100">
              <a:latin typeface="DM Sans"/>
              <a:ea typeface="DM Sans"/>
              <a:cs typeface="DM Sans"/>
              <a:sym typeface="DM Sans"/>
            </a:endParaRPr>
          </a:p>
        </p:txBody>
      </p:sp>
      <p:sp>
        <p:nvSpPr>
          <p:cNvPr id="2412" name="Google Shape;2412;p106"/>
          <p:cNvSpPr/>
          <p:nvPr/>
        </p:nvSpPr>
        <p:spPr>
          <a:xfrm>
            <a:off x="6849247" y="3823750"/>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metrics</a:t>
            </a:r>
            <a:endParaRPr sz="1200">
              <a:latin typeface="DM Sans"/>
              <a:ea typeface="DM Sans"/>
              <a:cs typeface="DM Sans"/>
              <a:sym typeface="DM Sans"/>
            </a:endParaRPr>
          </a:p>
        </p:txBody>
      </p:sp>
      <p:sp>
        <p:nvSpPr>
          <p:cNvPr id="2413" name="Google Shape;2413;p106"/>
          <p:cNvSpPr/>
          <p:nvPr/>
        </p:nvSpPr>
        <p:spPr>
          <a:xfrm>
            <a:off x="5019025" y="5858275"/>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trace</a:t>
            </a:r>
            <a:endParaRPr sz="1200">
              <a:latin typeface="DM Sans"/>
              <a:ea typeface="DM Sans"/>
              <a:cs typeface="DM Sans"/>
              <a:sym typeface="DM Sans"/>
            </a:endParaRPr>
          </a:p>
        </p:txBody>
      </p:sp>
      <p:sp>
        <p:nvSpPr>
          <p:cNvPr id="2414" name="Google Shape;2414;p106"/>
          <p:cNvSpPr/>
          <p:nvPr/>
        </p:nvSpPr>
        <p:spPr>
          <a:xfrm>
            <a:off x="6332672" y="5858275"/>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LLM judges</a:t>
            </a:r>
            <a:endParaRPr sz="1200">
              <a:latin typeface="DM Sans"/>
              <a:ea typeface="DM Sans"/>
              <a:cs typeface="DM Sans"/>
              <a:sym typeface="DM Sans"/>
            </a:endParaRPr>
          </a:p>
        </p:txBody>
      </p:sp>
      <p:sp>
        <p:nvSpPr>
          <p:cNvPr id="2415" name="Google Shape;2415;p106"/>
          <p:cNvSpPr/>
          <p:nvPr/>
        </p:nvSpPr>
        <p:spPr>
          <a:xfrm>
            <a:off x="7646325" y="5858275"/>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metrics</a:t>
            </a:r>
            <a:endParaRPr sz="1200">
              <a:latin typeface="DM Sans"/>
              <a:ea typeface="DM Sans"/>
              <a:cs typeface="DM Sans"/>
              <a:sym typeface="DM Sans"/>
            </a:endParaRPr>
          </a:p>
        </p:txBody>
      </p:sp>
      <p:sp>
        <p:nvSpPr>
          <p:cNvPr id="2416" name="Google Shape;2416;p106"/>
          <p:cNvSpPr/>
          <p:nvPr/>
        </p:nvSpPr>
        <p:spPr>
          <a:xfrm>
            <a:off x="6849247" y="4206400"/>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LLM judges</a:t>
            </a:r>
            <a:endParaRPr sz="1200">
              <a:latin typeface="DM Sans"/>
              <a:ea typeface="DM Sans"/>
              <a:cs typeface="DM Sans"/>
              <a:sym typeface="DM Sans"/>
            </a:endParaRPr>
          </a:p>
        </p:txBody>
      </p:sp>
      <p:sp>
        <p:nvSpPr>
          <p:cNvPr id="2417" name="Google Shape;2417;p106"/>
          <p:cNvSpPr/>
          <p:nvPr/>
        </p:nvSpPr>
        <p:spPr>
          <a:xfrm>
            <a:off x="6849247" y="4589050"/>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trace</a:t>
            </a:r>
            <a:endParaRPr sz="1200">
              <a:latin typeface="DM Sans"/>
              <a:ea typeface="DM Sans"/>
              <a:cs typeface="DM Sans"/>
              <a:sym typeface="DM Sans"/>
            </a:endParaRPr>
          </a:p>
        </p:txBody>
      </p:sp>
      <p:cxnSp>
        <p:nvCxnSpPr>
          <p:cNvPr id="2418" name="Google Shape;2418;p106"/>
          <p:cNvCxnSpPr/>
          <p:nvPr/>
        </p:nvCxnSpPr>
        <p:spPr>
          <a:xfrm>
            <a:off x="4378925" y="5085274"/>
            <a:ext cx="0" cy="338100"/>
          </a:xfrm>
          <a:prstGeom prst="straightConnector1">
            <a:avLst/>
          </a:prstGeom>
          <a:noFill/>
          <a:ln cap="flat" cmpd="sng" w="19050">
            <a:solidFill>
              <a:srgbClr val="618794"/>
            </a:solidFill>
            <a:prstDash val="dash"/>
            <a:round/>
            <a:headEnd len="med" w="med" type="none"/>
            <a:tailEnd len="med" w="med" type="triangle"/>
          </a:ln>
        </p:spPr>
      </p:cxnSp>
      <p:cxnSp>
        <p:nvCxnSpPr>
          <p:cNvPr id="2419" name="Google Shape;2419;p106"/>
          <p:cNvCxnSpPr/>
          <p:nvPr/>
        </p:nvCxnSpPr>
        <p:spPr>
          <a:xfrm>
            <a:off x="7503150" y="5108278"/>
            <a:ext cx="0" cy="338100"/>
          </a:xfrm>
          <a:prstGeom prst="straightConnector1">
            <a:avLst/>
          </a:prstGeom>
          <a:noFill/>
          <a:ln cap="flat" cmpd="sng" w="19050">
            <a:solidFill>
              <a:srgbClr val="618794"/>
            </a:solidFill>
            <a:prstDash val="dash"/>
            <a:round/>
            <a:headEnd len="med" w="med" type="triangle"/>
            <a:tailEnd len="med" w="med" type="triangle"/>
          </a:ln>
        </p:spPr>
      </p:cxnSp>
      <p:cxnSp>
        <p:nvCxnSpPr>
          <p:cNvPr id="2420" name="Google Shape;2420;p106"/>
          <p:cNvCxnSpPr/>
          <p:nvPr/>
        </p:nvCxnSpPr>
        <p:spPr>
          <a:xfrm>
            <a:off x="10547025" y="5085278"/>
            <a:ext cx="0" cy="338100"/>
          </a:xfrm>
          <a:prstGeom prst="straightConnector1">
            <a:avLst/>
          </a:prstGeom>
          <a:noFill/>
          <a:ln cap="flat" cmpd="sng" w="19050">
            <a:solidFill>
              <a:srgbClr val="618794"/>
            </a:solidFill>
            <a:prstDash val="dash"/>
            <a:round/>
            <a:headEnd len="med" w="med" type="triangle"/>
            <a:tailEnd len="med" w="med" type="triangle"/>
          </a:ln>
        </p:spPr>
      </p:cxnSp>
      <p:pic>
        <p:nvPicPr>
          <p:cNvPr id="2421" name="Google Shape;2421;p106"/>
          <p:cNvPicPr preferRelativeResize="0"/>
          <p:nvPr/>
        </p:nvPicPr>
        <p:blipFill rotWithShape="1">
          <a:blip r:embed="rId3">
            <a:alphaModFix/>
          </a:blip>
          <a:srcRect b="0" l="0" r="0" t="0"/>
          <a:stretch/>
        </p:blipFill>
        <p:spPr>
          <a:xfrm>
            <a:off x="2578901" y="3229662"/>
            <a:ext cx="571482" cy="571472"/>
          </a:xfrm>
          <a:prstGeom prst="rect">
            <a:avLst/>
          </a:prstGeom>
          <a:noFill/>
          <a:ln>
            <a:noFill/>
          </a:ln>
        </p:spPr>
      </p:pic>
      <p:pic>
        <p:nvPicPr>
          <p:cNvPr id="2422" name="Google Shape;2422;p106"/>
          <p:cNvPicPr preferRelativeResize="0"/>
          <p:nvPr/>
        </p:nvPicPr>
        <p:blipFill rotWithShape="1">
          <a:blip r:embed="rId4">
            <a:alphaModFix/>
          </a:blip>
          <a:srcRect b="0" l="0" r="0" t="0"/>
          <a:stretch/>
        </p:blipFill>
        <p:spPr>
          <a:xfrm>
            <a:off x="10261275" y="3252050"/>
            <a:ext cx="571476" cy="571476"/>
          </a:xfrm>
          <a:prstGeom prst="rect">
            <a:avLst/>
          </a:prstGeom>
          <a:noFill/>
          <a:ln>
            <a:noFill/>
          </a:ln>
        </p:spPr>
      </p:pic>
      <p:pic>
        <p:nvPicPr>
          <p:cNvPr id="2423" name="Google Shape;2423;p106"/>
          <p:cNvPicPr preferRelativeResize="0"/>
          <p:nvPr/>
        </p:nvPicPr>
        <p:blipFill rotWithShape="1">
          <a:blip r:embed="rId5">
            <a:alphaModFix/>
          </a:blip>
          <a:srcRect b="0" l="0" r="0" t="0"/>
          <a:stretch/>
        </p:blipFill>
        <p:spPr>
          <a:xfrm>
            <a:off x="980001" y="3254887"/>
            <a:ext cx="586550" cy="586525"/>
          </a:xfrm>
          <a:prstGeom prst="rect">
            <a:avLst/>
          </a:prstGeom>
          <a:noFill/>
          <a:ln>
            <a:noFill/>
          </a:ln>
        </p:spPr>
      </p:pic>
      <p:pic>
        <p:nvPicPr>
          <p:cNvPr id="2424" name="Google Shape;2424;p106"/>
          <p:cNvPicPr preferRelativeResize="0"/>
          <p:nvPr/>
        </p:nvPicPr>
        <p:blipFill rotWithShape="1">
          <a:blip r:embed="rId6">
            <a:alphaModFix/>
          </a:blip>
          <a:srcRect b="0" l="0" r="0" t="0"/>
          <a:stretch/>
        </p:blipFill>
        <p:spPr>
          <a:xfrm>
            <a:off x="7193188" y="3279825"/>
            <a:ext cx="515387" cy="515365"/>
          </a:xfrm>
          <a:prstGeom prst="rect">
            <a:avLst/>
          </a:prstGeom>
          <a:noFill/>
          <a:ln>
            <a:noFill/>
          </a:ln>
        </p:spPr>
      </p:pic>
      <p:pic>
        <p:nvPicPr>
          <p:cNvPr id="2425" name="Google Shape;2425;p106"/>
          <p:cNvPicPr preferRelativeResize="0"/>
          <p:nvPr/>
        </p:nvPicPr>
        <p:blipFill rotWithShape="1">
          <a:blip r:embed="rId7">
            <a:alphaModFix/>
          </a:blip>
          <a:srcRect b="0" l="0" r="0" t="0"/>
          <a:stretch/>
        </p:blipFill>
        <p:spPr>
          <a:xfrm>
            <a:off x="4084604" y="3254886"/>
            <a:ext cx="588561" cy="588546"/>
          </a:xfrm>
          <a:prstGeom prst="rect">
            <a:avLst/>
          </a:prstGeom>
          <a:noFill/>
          <a:ln>
            <a:noFill/>
          </a:ln>
        </p:spPr>
      </p:pic>
      <p:pic>
        <p:nvPicPr>
          <p:cNvPr id="2426" name="Google Shape;2426;p106"/>
          <p:cNvPicPr preferRelativeResize="0"/>
          <p:nvPr/>
        </p:nvPicPr>
        <p:blipFill rotWithShape="1">
          <a:blip r:embed="rId8">
            <a:alphaModFix/>
          </a:blip>
          <a:srcRect b="0" l="0" r="0" t="0"/>
          <a:stretch/>
        </p:blipFill>
        <p:spPr>
          <a:xfrm>
            <a:off x="5704812" y="2134476"/>
            <a:ext cx="472500" cy="472500"/>
          </a:xfrm>
          <a:prstGeom prst="rect">
            <a:avLst/>
          </a:prstGeom>
          <a:noFill/>
          <a:ln>
            <a:noFill/>
          </a:ln>
        </p:spPr>
      </p:pic>
      <p:pic>
        <p:nvPicPr>
          <p:cNvPr id="2427" name="Google Shape;2427;p106"/>
          <p:cNvPicPr preferRelativeResize="0"/>
          <p:nvPr/>
        </p:nvPicPr>
        <p:blipFill rotWithShape="1">
          <a:blip r:embed="rId9">
            <a:alphaModFix/>
          </a:blip>
          <a:srcRect b="0" l="0" r="0" t="0"/>
          <a:stretch/>
        </p:blipFill>
        <p:spPr>
          <a:xfrm>
            <a:off x="8700337" y="3254886"/>
            <a:ext cx="586553" cy="586534"/>
          </a:xfrm>
          <a:prstGeom prst="rect">
            <a:avLst/>
          </a:prstGeom>
          <a:noFill/>
          <a:ln>
            <a:noFill/>
          </a:ln>
        </p:spPr>
      </p:pic>
      <p:cxnSp>
        <p:nvCxnSpPr>
          <p:cNvPr id="2428" name="Google Shape;2428;p106"/>
          <p:cNvCxnSpPr/>
          <p:nvPr/>
        </p:nvCxnSpPr>
        <p:spPr>
          <a:xfrm>
            <a:off x="8013550" y="3427975"/>
            <a:ext cx="415200" cy="0"/>
          </a:xfrm>
          <a:prstGeom prst="straightConnector1">
            <a:avLst/>
          </a:prstGeom>
          <a:noFill/>
          <a:ln cap="flat" cmpd="sng" w="19050">
            <a:solidFill>
              <a:srgbClr val="618794"/>
            </a:solidFill>
            <a:prstDash val="dash"/>
            <a:round/>
            <a:headEnd len="med" w="med" type="none"/>
            <a:tailEnd len="med" w="med" type="triangle"/>
          </a:ln>
        </p:spPr>
      </p:cxnSp>
      <p:cxnSp>
        <p:nvCxnSpPr>
          <p:cNvPr id="2429" name="Google Shape;2429;p106"/>
          <p:cNvCxnSpPr/>
          <p:nvPr/>
        </p:nvCxnSpPr>
        <p:spPr>
          <a:xfrm>
            <a:off x="9565250" y="3427975"/>
            <a:ext cx="410100" cy="0"/>
          </a:xfrm>
          <a:prstGeom prst="straightConnector1">
            <a:avLst/>
          </a:prstGeom>
          <a:noFill/>
          <a:ln cap="flat" cmpd="sng" w="19050">
            <a:solidFill>
              <a:srgbClr val="618794"/>
            </a:solidFill>
            <a:prstDash val="dash"/>
            <a:round/>
            <a:headEnd len="med" w="med" type="none"/>
            <a:tailEnd len="med" w="med" type="triangle"/>
          </a:ln>
        </p:spPr>
      </p:cxnSp>
      <p:cxnSp>
        <p:nvCxnSpPr>
          <p:cNvPr id="2430" name="Google Shape;2430;p106"/>
          <p:cNvCxnSpPr/>
          <p:nvPr/>
        </p:nvCxnSpPr>
        <p:spPr>
          <a:xfrm rot="10800000">
            <a:off x="4910450" y="4663550"/>
            <a:ext cx="92700" cy="81900"/>
          </a:xfrm>
          <a:prstGeom prst="straightConnector1">
            <a:avLst/>
          </a:prstGeom>
          <a:noFill/>
          <a:ln cap="flat" cmpd="sng" w="19050">
            <a:solidFill>
              <a:srgbClr val="618794"/>
            </a:solidFill>
            <a:prstDash val="solid"/>
            <a:round/>
            <a:headEnd len="med" w="med" type="none"/>
            <a:tailEnd len="med" w="med" type="triangle"/>
          </a:ln>
        </p:spPr>
      </p:cxnSp>
      <p:cxnSp>
        <p:nvCxnSpPr>
          <p:cNvPr id="2431" name="Google Shape;2431;p106"/>
          <p:cNvCxnSpPr/>
          <p:nvPr/>
        </p:nvCxnSpPr>
        <p:spPr>
          <a:xfrm flipH="1" rot="10800000">
            <a:off x="5235500" y="2459875"/>
            <a:ext cx="114000" cy="51000"/>
          </a:xfrm>
          <a:prstGeom prst="straightConnector1">
            <a:avLst/>
          </a:prstGeom>
          <a:noFill/>
          <a:ln cap="flat" cmpd="sng" w="19050">
            <a:solidFill>
              <a:srgbClr val="618794"/>
            </a:solidFill>
            <a:prstDash val="solid"/>
            <a:round/>
            <a:headEnd len="med" w="med" type="none"/>
            <a:tailEnd len="med" w="med" type="triangle"/>
          </a:ln>
        </p:spPr>
      </p:cxnSp>
      <p:cxnSp>
        <p:nvCxnSpPr>
          <p:cNvPr id="2432" name="Google Shape;2432;p106"/>
          <p:cNvCxnSpPr/>
          <p:nvPr/>
        </p:nvCxnSpPr>
        <p:spPr>
          <a:xfrm>
            <a:off x="6865450" y="2732450"/>
            <a:ext cx="101100" cy="112500"/>
          </a:xfrm>
          <a:prstGeom prst="straightConnector1">
            <a:avLst/>
          </a:prstGeom>
          <a:noFill/>
          <a:ln cap="flat" cmpd="sng" w="19050">
            <a:solidFill>
              <a:srgbClr val="618794"/>
            </a:solidFill>
            <a:prstDash val="solid"/>
            <a:round/>
            <a:headEnd len="med" w="med" type="none"/>
            <a:tailEnd len="med" w="med" type="triangle"/>
          </a:ln>
        </p:spPr>
      </p:cxn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6" name="Shape 2436"/>
        <p:cNvGrpSpPr/>
        <p:nvPr/>
      </p:nvGrpSpPr>
      <p:grpSpPr>
        <a:xfrm>
          <a:off x="0" y="0"/>
          <a:ext cx="0" cy="0"/>
          <a:chOff x="0" y="0"/>
          <a:chExt cx="0" cy="0"/>
        </a:xfrm>
      </p:grpSpPr>
      <p:sp>
        <p:nvSpPr>
          <p:cNvPr id="2437" name="Google Shape;2437;p10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438" name="Google Shape;2438;p107"/>
          <p:cNvSpPr txBox="1"/>
          <p:nvPr/>
        </p:nvSpPr>
        <p:spPr>
          <a:xfrm>
            <a:off x="199975" y="2450"/>
            <a:ext cx="11357100" cy="879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RAG development &amp; LLMops lifecycle</a:t>
            </a:r>
            <a:endParaRPr sz="20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/_static/images/generative-ai/development-lifecycle.png</a:t>
            </a:r>
            <a:endParaRPr sz="1000"/>
          </a:p>
        </p:txBody>
      </p:sp>
      <p:grpSp>
        <p:nvGrpSpPr>
          <p:cNvPr id="2439" name="Google Shape;2439;p107"/>
          <p:cNvGrpSpPr/>
          <p:nvPr/>
        </p:nvGrpSpPr>
        <p:grpSpPr>
          <a:xfrm>
            <a:off x="-310036" y="882350"/>
            <a:ext cx="12377100" cy="5760000"/>
            <a:chOff x="481639" y="990550"/>
            <a:chExt cx="12377100" cy="5760000"/>
          </a:xfrm>
        </p:grpSpPr>
        <p:sp>
          <p:nvSpPr>
            <p:cNvPr id="2440" name="Google Shape;2440;p107"/>
            <p:cNvSpPr/>
            <p:nvPr/>
          </p:nvSpPr>
          <p:spPr>
            <a:xfrm flipH="1">
              <a:off x="481639" y="990550"/>
              <a:ext cx="12377100" cy="57600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441" name="Google Shape;2441;p107"/>
            <p:cNvSpPr/>
            <p:nvPr/>
          </p:nvSpPr>
          <p:spPr>
            <a:xfrm>
              <a:off x="5891400" y="1758050"/>
              <a:ext cx="3088500" cy="3088500"/>
            </a:xfrm>
            <a:prstGeom prst="ellipse">
              <a:avLst/>
            </a:prstGeom>
            <a:noFill/>
            <a:ln cap="flat" cmpd="sng" w="19050">
              <a:solidFill>
                <a:srgbClr val="618794"/>
              </a:solidFill>
              <a:prstDash val="dash"/>
              <a:round/>
              <a:headEnd len="med" w="med" type="none"/>
              <a:tailEnd len="med" w="med"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442" name="Google Shape;2442;p107"/>
            <p:cNvSpPr/>
            <p:nvPr/>
          </p:nvSpPr>
          <p:spPr>
            <a:xfrm>
              <a:off x="8460975" y="2941316"/>
              <a:ext cx="1087200" cy="2302800"/>
            </a:xfrm>
            <a:prstGeom prst="roundRect">
              <a:avLst>
                <a:gd fmla="val 16667" name="adj"/>
              </a:avLst>
            </a:prstGeom>
            <a:solidFill>
              <a:srgbClr val="FFFFFF"/>
            </a:solidFill>
            <a:ln cap="flat" cmpd="sng" w="19050">
              <a:solidFill>
                <a:srgbClr val="FF5F46"/>
              </a:solidFill>
              <a:prstDash val="dash"/>
              <a:round/>
              <a:headEnd len="sm" w="sm" type="none"/>
              <a:tailEnd len="sm" w="sm" type="none"/>
            </a:ln>
          </p:spPr>
          <p:txBody>
            <a:bodyPr anchorCtr="0" anchor="t" bIns="0" lIns="0" spcFirstLastPara="1" rIns="0" wrap="square" tIns="91425">
              <a:noAutofit/>
            </a:bodyPr>
            <a:lstStyle/>
            <a:p>
              <a:pPr indent="0" lvl="0" marL="0" marR="0" rtl="0" algn="ctr">
                <a:lnSpc>
                  <a:spcPct val="100000"/>
                </a:lnSpc>
                <a:spcBef>
                  <a:spcPts val="0"/>
                </a:spcBef>
                <a:spcAft>
                  <a:spcPts val="0"/>
                </a:spcAft>
                <a:buNone/>
              </a:pPr>
              <a:r>
                <a:rPr b="1" lang="en" sz="1100">
                  <a:latin typeface="DM Sans"/>
                  <a:ea typeface="DM Sans"/>
                  <a:cs typeface="DM Sans"/>
                  <a:sym typeface="DM Sans"/>
                </a:rPr>
                <a:t>Optimize cost / latency</a:t>
              </a:r>
              <a:endParaRPr b="1" sz="1100">
                <a:latin typeface="DM Sans"/>
                <a:ea typeface="DM Sans"/>
                <a:cs typeface="DM Sans"/>
                <a:sym typeface="DM Sans"/>
              </a:endParaRPr>
            </a:p>
          </p:txBody>
        </p:sp>
        <p:sp>
          <p:nvSpPr>
            <p:cNvPr id="2443" name="Google Shape;2443;p107"/>
            <p:cNvSpPr txBox="1"/>
            <p:nvPr/>
          </p:nvSpPr>
          <p:spPr>
            <a:xfrm>
              <a:off x="4777441" y="990550"/>
              <a:ext cx="536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RAG development: Evaluation-driven workflow</a:t>
              </a:r>
              <a:endParaRPr b="1">
                <a:solidFill>
                  <a:srgbClr val="00A972"/>
                </a:solidFill>
                <a:latin typeface="DM Sans"/>
                <a:ea typeface="DM Sans"/>
                <a:cs typeface="DM Sans"/>
                <a:sym typeface="DM Sans"/>
              </a:endParaRPr>
            </a:p>
          </p:txBody>
        </p:sp>
        <p:sp>
          <p:nvSpPr>
            <p:cNvPr id="2444" name="Google Shape;2444;p107"/>
            <p:cNvSpPr/>
            <p:nvPr/>
          </p:nvSpPr>
          <p:spPr>
            <a:xfrm>
              <a:off x="609378" y="2941050"/>
              <a:ext cx="1087200" cy="10884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Gather requirements</a:t>
              </a:r>
              <a:endParaRPr b="1" sz="1100">
                <a:latin typeface="DM Sans"/>
                <a:ea typeface="DM Sans"/>
                <a:cs typeface="DM Sans"/>
                <a:sym typeface="DM Sans"/>
              </a:endParaRPr>
            </a:p>
          </p:txBody>
        </p:sp>
        <p:sp>
          <p:nvSpPr>
            <p:cNvPr id="2445" name="Google Shape;2445;p107"/>
            <p:cNvSpPr/>
            <p:nvPr/>
          </p:nvSpPr>
          <p:spPr>
            <a:xfrm>
              <a:off x="2154095" y="2941049"/>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Proof of Concept</a:t>
              </a:r>
              <a:endParaRPr b="1" sz="1100">
                <a:latin typeface="DM Sans"/>
                <a:ea typeface="DM Sans"/>
                <a:cs typeface="DM Sans"/>
                <a:sym typeface="DM Sans"/>
              </a:endParaRPr>
            </a:p>
          </p:txBody>
        </p:sp>
        <p:cxnSp>
          <p:nvCxnSpPr>
            <p:cNvPr id="2446" name="Google Shape;2446;p107"/>
            <p:cNvCxnSpPr/>
            <p:nvPr/>
          </p:nvCxnSpPr>
          <p:spPr>
            <a:xfrm>
              <a:off x="1701805" y="3586275"/>
              <a:ext cx="443700" cy="0"/>
            </a:xfrm>
            <a:prstGeom prst="straightConnector1">
              <a:avLst/>
            </a:prstGeom>
            <a:noFill/>
            <a:ln cap="flat" cmpd="sng" w="19050">
              <a:solidFill>
                <a:srgbClr val="618794"/>
              </a:solidFill>
              <a:prstDash val="dash"/>
              <a:round/>
              <a:headEnd len="med" w="med" type="none"/>
              <a:tailEnd len="med" w="med" type="triangle"/>
            </a:ln>
          </p:spPr>
        </p:cxnSp>
        <p:cxnSp>
          <p:nvCxnSpPr>
            <p:cNvPr id="2447" name="Google Shape;2447;p107"/>
            <p:cNvCxnSpPr/>
            <p:nvPr/>
          </p:nvCxnSpPr>
          <p:spPr>
            <a:xfrm>
              <a:off x="3251478" y="3586275"/>
              <a:ext cx="429300" cy="0"/>
            </a:xfrm>
            <a:prstGeom prst="straightConnector1">
              <a:avLst/>
            </a:prstGeom>
            <a:noFill/>
            <a:ln cap="flat" cmpd="sng" w="19050">
              <a:solidFill>
                <a:srgbClr val="618794"/>
              </a:solidFill>
              <a:prstDash val="dash"/>
              <a:round/>
              <a:headEnd len="med" w="med" type="none"/>
              <a:tailEnd len="med" w="med" type="triangle"/>
            </a:ln>
          </p:spPr>
        </p:cxnSp>
        <p:sp>
          <p:nvSpPr>
            <p:cNvPr id="2448" name="Google Shape;2448;p107"/>
            <p:cNvSpPr/>
            <p:nvPr/>
          </p:nvSpPr>
          <p:spPr>
            <a:xfrm>
              <a:off x="3698812" y="2940909"/>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Test with stakeholders</a:t>
              </a:r>
              <a:endParaRPr b="1" sz="1100">
                <a:latin typeface="DM Sans"/>
                <a:ea typeface="DM Sans"/>
                <a:cs typeface="DM Sans"/>
                <a:sym typeface="DM Sans"/>
              </a:endParaRPr>
            </a:p>
          </p:txBody>
        </p:sp>
        <p:sp>
          <p:nvSpPr>
            <p:cNvPr id="2449" name="Google Shape;2449;p107"/>
            <p:cNvSpPr/>
            <p:nvPr/>
          </p:nvSpPr>
          <p:spPr>
            <a:xfrm>
              <a:off x="2100071" y="398205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MLflow</a:t>
              </a:r>
              <a:endParaRPr sz="1200">
                <a:latin typeface="DM Sans"/>
                <a:ea typeface="DM Sans"/>
                <a:cs typeface="DM Sans"/>
                <a:sym typeface="DM Sans"/>
              </a:endParaRPr>
            </a:p>
          </p:txBody>
        </p:sp>
        <p:sp>
          <p:nvSpPr>
            <p:cNvPr id="2450" name="Google Shape;2450;p107"/>
            <p:cNvSpPr/>
            <p:nvPr/>
          </p:nvSpPr>
          <p:spPr>
            <a:xfrm>
              <a:off x="3644765" y="398205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Review App</a:t>
              </a:r>
              <a:endParaRPr sz="1200">
                <a:latin typeface="DM Sans"/>
                <a:ea typeface="DM Sans"/>
                <a:cs typeface="DM Sans"/>
                <a:sym typeface="DM Sans"/>
              </a:endParaRPr>
            </a:p>
          </p:txBody>
        </p:sp>
        <p:sp>
          <p:nvSpPr>
            <p:cNvPr id="2451" name="Google Shape;2451;p107"/>
            <p:cNvSpPr/>
            <p:nvPr/>
          </p:nvSpPr>
          <p:spPr>
            <a:xfrm>
              <a:off x="10005692" y="2941316"/>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Deploy to production</a:t>
              </a:r>
              <a:endParaRPr b="1" sz="1100">
                <a:latin typeface="DM Sans"/>
                <a:ea typeface="DM Sans"/>
                <a:cs typeface="DM Sans"/>
                <a:sym typeface="DM Sans"/>
              </a:endParaRPr>
            </a:p>
          </p:txBody>
        </p:sp>
        <p:sp>
          <p:nvSpPr>
            <p:cNvPr id="2452" name="Google Shape;2452;p107"/>
            <p:cNvSpPr/>
            <p:nvPr/>
          </p:nvSpPr>
          <p:spPr>
            <a:xfrm>
              <a:off x="11550336" y="2941061"/>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Monitor in production</a:t>
              </a:r>
              <a:endParaRPr b="1" sz="1100">
                <a:latin typeface="DM Sans"/>
                <a:ea typeface="DM Sans"/>
                <a:cs typeface="DM Sans"/>
                <a:sym typeface="DM Sans"/>
              </a:endParaRPr>
            </a:p>
          </p:txBody>
        </p:sp>
        <p:sp>
          <p:nvSpPr>
            <p:cNvPr id="2453" name="Google Shape;2453;p107"/>
            <p:cNvSpPr/>
            <p:nvPr/>
          </p:nvSpPr>
          <p:spPr>
            <a:xfrm>
              <a:off x="9946295" y="398205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serve</a:t>
              </a:r>
              <a:endParaRPr sz="1200">
                <a:latin typeface="DM Sans"/>
                <a:ea typeface="DM Sans"/>
                <a:cs typeface="DM Sans"/>
                <a:sym typeface="DM Sans"/>
              </a:endParaRPr>
            </a:p>
          </p:txBody>
        </p:sp>
        <p:sp>
          <p:nvSpPr>
            <p:cNvPr id="2454" name="Google Shape;2454;p107"/>
            <p:cNvSpPr/>
            <p:nvPr/>
          </p:nvSpPr>
          <p:spPr>
            <a:xfrm>
              <a:off x="3760960" y="5627100"/>
              <a:ext cx="8820000" cy="782700"/>
            </a:xfrm>
            <a:prstGeom prst="roundRect">
              <a:avLst>
                <a:gd fmla="val 16667" name="adj"/>
              </a:avLst>
            </a:prstGeom>
            <a:solidFill>
              <a:srgbClr val="FFFFFF"/>
            </a:solidFill>
            <a:ln cap="flat" cmpd="sng" w="19050">
              <a:solidFill>
                <a:srgbClr val="00A972"/>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Evaluate &amp; monitor quality, cost, &amp; latency</a:t>
              </a:r>
              <a:endParaRPr b="1" sz="1100">
                <a:latin typeface="DM Sans"/>
                <a:ea typeface="DM Sans"/>
                <a:cs typeface="DM Sans"/>
                <a:sym typeface="DM Sans"/>
              </a:endParaRPr>
            </a:p>
          </p:txBody>
        </p:sp>
        <p:sp>
          <p:nvSpPr>
            <p:cNvPr id="2455" name="Google Shape;2455;p107"/>
            <p:cNvSpPr/>
            <p:nvPr/>
          </p:nvSpPr>
          <p:spPr>
            <a:xfrm>
              <a:off x="8404264" y="398205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metrics</a:t>
              </a:r>
              <a:endParaRPr sz="1200">
                <a:latin typeface="DM Sans"/>
                <a:ea typeface="DM Sans"/>
                <a:cs typeface="DM Sans"/>
                <a:sym typeface="DM Sans"/>
              </a:endParaRPr>
            </a:p>
          </p:txBody>
        </p:sp>
        <p:sp>
          <p:nvSpPr>
            <p:cNvPr id="2456" name="Google Shape;2456;p107"/>
            <p:cNvSpPr/>
            <p:nvPr/>
          </p:nvSpPr>
          <p:spPr>
            <a:xfrm>
              <a:off x="6502018" y="6016575"/>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trace</a:t>
              </a:r>
              <a:endParaRPr sz="1200">
                <a:latin typeface="DM Sans"/>
                <a:ea typeface="DM Sans"/>
                <a:cs typeface="DM Sans"/>
                <a:sym typeface="DM Sans"/>
              </a:endParaRPr>
            </a:p>
          </p:txBody>
        </p:sp>
        <p:sp>
          <p:nvSpPr>
            <p:cNvPr id="2457" name="Google Shape;2457;p107"/>
            <p:cNvSpPr/>
            <p:nvPr/>
          </p:nvSpPr>
          <p:spPr>
            <a:xfrm>
              <a:off x="7812787" y="6016575"/>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LLM judges</a:t>
              </a:r>
              <a:endParaRPr sz="1200">
                <a:latin typeface="DM Sans"/>
                <a:ea typeface="DM Sans"/>
                <a:cs typeface="DM Sans"/>
                <a:sym typeface="DM Sans"/>
              </a:endParaRPr>
            </a:p>
          </p:txBody>
        </p:sp>
        <p:sp>
          <p:nvSpPr>
            <p:cNvPr id="2458" name="Google Shape;2458;p107"/>
            <p:cNvSpPr/>
            <p:nvPr/>
          </p:nvSpPr>
          <p:spPr>
            <a:xfrm>
              <a:off x="9123563" y="6016575"/>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metrics</a:t>
              </a:r>
              <a:endParaRPr sz="1200">
                <a:latin typeface="DM Sans"/>
                <a:ea typeface="DM Sans"/>
                <a:cs typeface="DM Sans"/>
                <a:sym typeface="DM Sans"/>
              </a:endParaRPr>
            </a:p>
          </p:txBody>
        </p:sp>
        <p:sp>
          <p:nvSpPr>
            <p:cNvPr id="2459" name="Google Shape;2459;p107"/>
            <p:cNvSpPr/>
            <p:nvPr/>
          </p:nvSpPr>
          <p:spPr>
            <a:xfrm>
              <a:off x="8404264" y="436470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LLM judges</a:t>
              </a:r>
              <a:endParaRPr sz="1200">
                <a:latin typeface="DM Sans"/>
                <a:ea typeface="DM Sans"/>
                <a:cs typeface="DM Sans"/>
                <a:sym typeface="DM Sans"/>
              </a:endParaRPr>
            </a:p>
          </p:txBody>
        </p:sp>
        <p:sp>
          <p:nvSpPr>
            <p:cNvPr id="2460" name="Google Shape;2460;p107"/>
            <p:cNvSpPr/>
            <p:nvPr/>
          </p:nvSpPr>
          <p:spPr>
            <a:xfrm>
              <a:off x="8404264" y="474735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trace</a:t>
              </a:r>
              <a:endParaRPr sz="1200">
                <a:latin typeface="DM Sans"/>
                <a:ea typeface="DM Sans"/>
                <a:cs typeface="DM Sans"/>
                <a:sym typeface="DM Sans"/>
              </a:endParaRPr>
            </a:p>
          </p:txBody>
        </p:sp>
        <p:cxnSp>
          <p:nvCxnSpPr>
            <p:cNvPr id="2461" name="Google Shape;2461;p107"/>
            <p:cNvCxnSpPr/>
            <p:nvPr/>
          </p:nvCxnSpPr>
          <p:spPr>
            <a:xfrm>
              <a:off x="4266625" y="5243574"/>
              <a:ext cx="0" cy="338100"/>
            </a:xfrm>
            <a:prstGeom prst="straightConnector1">
              <a:avLst/>
            </a:prstGeom>
            <a:noFill/>
            <a:ln cap="flat" cmpd="sng" w="19050">
              <a:solidFill>
                <a:srgbClr val="618794"/>
              </a:solidFill>
              <a:prstDash val="dash"/>
              <a:round/>
              <a:headEnd len="med" w="med" type="none"/>
              <a:tailEnd len="med" w="med" type="triangle"/>
            </a:ln>
          </p:spPr>
        </p:cxnSp>
        <p:cxnSp>
          <p:nvCxnSpPr>
            <p:cNvPr id="2462" name="Google Shape;2462;p107"/>
            <p:cNvCxnSpPr/>
            <p:nvPr/>
          </p:nvCxnSpPr>
          <p:spPr>
            <a:xfrm>
              <a:off x="9056735" y="5266578"/>
              <a:ext cx="0" cy="338100"/>
            </a:xfrm>
            <a:prstGeom prst="straightConnector1">
              <a:avLst/>
            </a:prstGeom>
            <a:noFill/>
            <a:ln cap="flat" cmpd="sng" w="19050">
              <a:solidFill>
                <a:srgbClr val="618794"/>
              </a:solidFill>
              <a:prstDash val="dash"/>
              <a:round/>
              <a:headEnd len="med" w="med" type="triangle"/>
              <a:tailEnd len="med" w="med" type="triangle"/>
            </a:ln>
          </p:spPr>
        </p:cxnSp>
        <p:cxnSp>
          <p:nvCxnSpPr>
            <p:cNvPr id="2463" name="Google Shape;2463;p107"/>
            <p:cNvCxnSpPr/>
            <p:nvPr/>
          </p:nvCxnSpPr>
          <p:spPr>
            <a:xfrm>
              <a:off x="12093942" y="5243578"/>
              <a:ext cx="0" cy="338100"/>
            </a:xfrm>
            <a:prstGeom prst="straightConnector1">
              <a:avLst/>
            </a:prstGeom>
            <a:noFill/>
            <a:ln cap="flat" cmpd="sng" w="19050">
              <a:solidFill>
                <a:srgbClr val="618794"/>
              </a:solidFill>
              <a:prstDash val="dash"/>
              <a:round/>
              <a:headEnd len="med" w="med" type="triangle"/>
              <a:tailEnd len="med" w="med" type="triangle"/>
            </a:ln>
          </p:spPr>
        </p:cxnSp>
        <p:pic>
          <p:nvPicPr>
            <p:cNvPr id="2464" name="Google Shape;2464;p107"/>
            <p:cNvPicPr preferRelativeResize="0"/>
            <p:nvPr/>
          </p:nvPicPr>
          <p:blipFill rotWithShape="1">
            <a:blip r:embed="rId3">
              <a:alphaModFix/>
            </a:blip>
            <a:srcRect b="0" l="0" r="0" t="0"/>
            <a:stretch/>
          </p:blipFill>
          <p:spPr>
            <a:xfrm>
              <a:off x="2470551" y="3387950"/>
              <a:ext cx="539925" cy="571476"/>
            </a:xfrm>
            <a:prstGeom prst="rect">
              <a:avLst/>
            </a:prstGeom>
            <a:noFill/>
            <a:ln>
              <a:noFill/>
            </a:ln>
          </p:spPr>
        </p:pic>
        <p:pic>
          <p:nvPicPr>
            <p:cNvPr id="2465" name="Google Shape;2465;p107"/>
            <p:cNvPicPr preferRelativeResize="0"/>
            <p:nvPr/>
          </p:nvPicPr>
          <p:blipFill rotWithShape="1">
            <a:blip r:embed="rId4">
              <a:alphaModFix/>
            </a:blip>
            <a:srcRect b="0" l="0" r="0" t="0"/>
            <a:stretch/>
          </p:blipFill>
          <p:spPr>
            <a:xfrm>
              <a:off x="11808825" y="3410350"/>
              <a:ext cx="560977" cy="571476"/>
            </a:xfrm>
            <a:prstGeom prst="rect">
              <a:avLst/>
            </a:prstGeom>
            <a:noFill/>
            <a:ln>
              <a:noFill/>
            </a:ln>
          </p:spPr>
        </p:pic>
        <p:pic>
          <p:nvPicPr>
            <p:cNvPr id="2466" name="Google Shape;2466;p107"/>
            <p:cNvPicPr preferRelativeResize="0"/>
            <p:nvPr/>
          </p:nvPicPr>
          <p:blipFill rotWithShape="1">
            <a:blip r:embed="rId5">
              <a:alphaModFix/>
            </a:blip>
            <a:srcRect b="0" l="0" r="0" t="0"/>
            <a:stretch/>
          </p:blipFill>
          <p:spPr>
            <a:xfrm>
              <a:off x="938520" y="3402837"/>
              <a:ext cx="487599" cy="586525"/>
            </a:xfrm>
            <a:prstGeom prst="rect">
              <a:avLst/>
            </a:prstGeom>
            <a:noFill/>
            <a:ln>
              <a:noFill/>
            </a:ln>
          </p:spPr>
        </p:pic>
        <p:pic>
          <p:nvPicPr>
            <p:cNvPr id="2467" name="Google Shape;2467;p107"/>
            <p:cNvPicPr preferRelativeResize="0"/>
            <p:nvPr/>
          </p:nvPicPr>
          <p:blipFill rotWithShape="1">
            <a:blip r:embed="rId6">
              <a:alphaModFix/>
            </a:blip>
            <a:srcRect b="0" l="0" r="0" t="0"/>
            <a:stretch/>
          </p:blipFill>
          <p:spPr>
            <a:xfrm>
              <a:off x="8760800" y="3458851"/>
              <a:ext cx="487599" cy="472500"/>
            </a:xfrm>
            <a:prstGeom prst="rect">
              <a:avLst/>
            </a:prstGeom>
            <a:noFill/>
            <a:ln>
              <a:noFill/>
            </a:ln>
          </p:spPr>
        </p:pic>
        <p:pic>
          <p:nvPicPr>
            <p:cNvPr id="2468" name="Google Shape;2468;p107"/>
            <p:cNvPicPr preferRelativeResize="0"/>
            <p:nvPr/>
          </p:nvPicPr>
          <p:blipFill rotWithShape="1">
            <a:blip r:embed="rId7">
              <a:alphaModFix/>
            </a:blip>
            <a:srcRect b="0" l="0" r="0" t="0"/>
            <a:stretch/>
          </p:blipFill>
          <p:spPr>
            <a:xfrm>
              <a:off x="3969213" y="3412175"/>
              <a:ext cx="560988" cy="588550"/>
            </a:xfrm>
            <a:prstGeom prst="rect">
              <a:avLst/>
            </a:prstGeom>
            <a:noFill/>
            <a:ln>
              <a:noFill/>
            </a:ln>
          </p:spPr>
        </p:pic>
        <p:pic>
          <p:nvPicPr>
            <p:cNvPr id="2469" name="Google Shape;2469;p107"/>
            <p:cNvPicPr preferRelativeResize="0"/>
            <p:nvPr/>
          </p:nvPicPr>
          <p:blipFill rotWithShape="1">
            <a:blip r:embed="rId8">
              <a:alphaModFix/>
            </a:blip>
            <a:srcRect b="0" l="0" r="0" t="0"/>
            <a:stretch/>
          </p:blipFill>
          <p:spPr>
            <a:xfrm>
              <a:off x="10251300" y="3413175"/>
              <a:ext cx="539925" cy="586550"/>
            </a:xfrm>
            <a:prstGeom prst="rect">
              <a:avLst/>
            </a:prstGeom>
            <a:noFill/>
            <a:ln>
              <a:noFill/>
            </a:ln>
          </p:spPr>
        </p:pic>
        <p:cxnSp>
          <p:nvCxnSpPr>
            <p:cNvPr id="2470" name="Google Shape;2470;p107"/>
            <p:cNvCxnSpPr/>
            <p:nvPr/>
          </p:nvCxnSpPr>
          <p:spPr>
            <a:xfrm>
              <a:off x="9566017" y="3586275"/>
              <a:ext cx="414300" cy="0"/>
            </a:xfrm>
            <a:prstGeom prst="straightConnector1">
              <a:avLst/>
            </a:prstGeom>
            <a:noFill/>
            <a:ln cap="flat" cmpd="sng" w="19050">
              <a:solidFill>
                <a:srgbClr val="618794"/>
              </a:solidFill>
              <a:prstDash val="dash"/>
              <a:round/>
              <a:headEnd len="med" w="med" type="none"/>
              <a:tailEnd len="med" w="med" type="triangle"/>
            </a:ln>
          </p:spPr>
        </p:cxnSp>
        <p:sp>
          <p:nvSpPr>
            <p:cNvPr id="2471" name="Google Shape;2471;p107"/>
            <p:cNvSpPr/>
            <p:nvPr/>
          </p:nvSpPr>
          <p:spPr>
            <a:xfrm>
              <a:off x="6916269" y="1405799"/>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Iterate to improve</a:t>
              </a:r>
              <a:endParaRPr b="1" sz="1100">
                <a:latin typeface="DM Sans"/>
                <a:ea typeface="DM Sans"/>
                <a:cs typeface="DM Sans"/>
                <a:sym typeface="DM Sans"/>
              </a:endParaRPr>
            </a:p>
          </p:txBody>
        </p:sp>
        <p:sp>
          <p:nvSpPr>
            <p:cNvPr id="2472" name="Google Shape;2472;p107"/>
            <p:cNvSpPr/>
            <p:nvPr/>
          </p:nvSpPr>
          <p:spPr>
            <a:xfrm>
              <a:off x="6862213" y="2472225"/>
              <a:ext cx="1195200" cy="396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parameters</a:t>
              </a:r>
              <a:endParaRPr sz="1200">
                <a:latin typeface="DM Sans"/>
                <a:ea typeface="DM Sans"/>
                <a:cs typeface="DM Sans"/>
                <a:sym typeface="DM Sans"/>
              </a:endParaRPr>
            </a:p>
          </p:txBody>
        </p:sp>
        <p:pic>
          <p:nvPicPr>
            <p:cNvPr id="2473" name="Google Shape;2473;p107"/>
            <p:cNvPicPr preferRelativeResize="0"/>
            <p:nvPr/>
          </p:nvPicPr>
          <p:blipFill rotWithShape="1">
            <a:blip r:embed="rId9">
              <a:alphaModFix/>
            </a:blip>
            <a:srcRect b="7850" l="0" r="0" t="-7850"/>
            <a:stretch/>
          </p:blipFill>
          <p:spPr>
            <a:xfrm>
              <a:off x="7224096" y="1890726"/>
              <a:ext cx="471465" cy="472500"/>
            </a:xfrm>
            <a:prstGeom prst="rect">
              <a:avLst/>
            </a:prstGeom>
            <a:noFill/>
            <a:ln>
              <a:noFill/>
            </a:ln>
          </p:spPr>
        </p:pic>
        <p:cxnSp>
          <p:nvCxnSpPr>
            <p:cNvPr id="2474" name="Google Shape;2474;p107"/>
            <p:cNvCxnSpPr/>
            <p:nvPr/>
          </p:nvCxnSpPr>
          <p:spPr>
            <a:xfrm>
              <a:off x="11114318" y="3586275"/>
              <a:ext cx="409200" cy="0"/>
            </a:xfrm>
            <a:prstGeom prst="straightConnector1">
              <a:avLst/>
            </a:prstGeom>
            <a:noFill/>
            <a:ln cap="flat" cmpd="sng" w="19050">
              <a:solidFill>
                <a:srgbClr val="618794"/>
              </a:solidFill>
              <a:prstDash val="dash"/>
              <a:round/>
              <a:headEnd len="med" w="med" type="none"/>
              <a:tailEnd len="med" w="med" type="triangle"/>
            </a:ln>
          </p:spPr>
        </p:cxnSp>
        <p:cxnSp>
          <p:nvCxnSpPr>
            <p:cNvPr id="2475" name="Google Shape;2475;p107"/>
            <p:cNvCxnSpPr/>
            <p:nvPr/>
          </p:nvCxnSpPr>
          <p:spPr>
            <a:xfrm>
              <a:off x="5831190" y="5243574"/>
              <a:ext cx="0" cy="338100"/>
            </a:xfrm>
            <a:prstGeom prst="straightConnector1">
              <a:avLst/>
            </a:prstGeom>
            <a:noFill/>
            <a:ln cap="flat" cmpd="sng" w="19050">
              <a:solidFill>
                <a:srgbClr val="618794"/>
              </a:solidFill>
              <a:prstDash val="dash"/>
              <a:round/>
              <a:headEnd len="med" w="med" type="none"/>
              <a:tailEnd len="med" w="med" type="triangle"/>
            </a:ln>
          </p:spPr>
        </p:cxnSp>
        <p:sp>
          <p:nvSpPr>
            <p:cNvPr id="2476" name="Google Shape;2476;p107"/>
            <p:cNvSpPr/>
            <p:nvPr/>
          </p:nvSpPr>
          <p:spPr>
            <a:xfrm>
              <a:off x="5280515" y="2940909"/>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Measure baseline quality</a:t>
              </a:r>
              <a:endParaRPr b="1" sz="1100">
                <a:latin typeface="DM Sans"/>
                <a:ea typeface="DM Sans"/>
                <a:cs typeface="DM Sans"/>
                <a:sym typeface="DM Sans"/>
              </a:endParaRPr>
            </a:p>
          </p:txBody>
        </p:sp>
        <p:sp>
          <p:nvSpPr>
            <p:cNvPr id="2477" name="Google Shape;2477;p107"/>
            <p:cNvSpPr/>
            <p:nvPr/>
          </p:nvSpPr>
          <p:spPr>
            <a:xfrm>
              <a:off x="5252174" y="398205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RAG metrics</a:t>
              </a:r>
              <a:endParaRPr sz="1200">
                <a:latin typeface="DM Sans"/>
                <a:ea typeface="DM Sans"/>
                <a:cs typeface="DM Sans"/>
                <a:sym typeface="DM Sans"/>
              </a:endParaRPr>
            </a:p>
          </p:txBody>
        </p:sp>
        <p:cxnSp>
          <p:nvCxnSpPr>
            <p:cNvPr id="2478" name="Google Shape;2478;p107"/>
            <p:cNvCxnSpPr/>
            <p:nvPr/>
          </p:nvCxnSpPr>
          <p:spPr>
            <a:xfrm>
              <a:off x="4818651" y="3586275"/>
              <a:ext cx="429300" cy="0"/>
            </a:xfrm>
            <a:prstGeom prst="straightConnector1">
              <a:avLst/>
            </a:prstGeom>
            <a:noFill/>
            <a:ln cap="flat" cmpd="sng" w="19050">
              <a:solidFill>
                <a:srgbClr val="618794"/>
              </a:solidFill>
              <a:prstDash val="dash"/>
              <a:round/>
              <a:headEnd len="med" w="med" type="none"/>
              <a:tailEnd len="med" w="med" type="triangle"/>
            </a:ln>
          </p:spPr>
        </p:cxnSp>
        <p:sp>
          <p:nvSpPr>
            <p:cNvPr id="2479" name="Google Shape;2479;p107"/>
            <p:cNvSpPr/>
            <p:nvPr/>
          </p:nvSpPr>
          <p:spPr>
            <a:xfrm>
              <a:off x="5239562" y="436170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LLM judges</a:t>
              </a:r>
              <a:endParaRPr sz="1200">
                <a:latin typeface="DM Sans"/>
                <a:ea typeface="DM Sans"/>
                <a:cs typeface="DM Sans"/>
                <a:sym typeface="DM Sans"/>
              </a:endParaRPr>
            </a:p>
          </p:txBody>
        </p:sp>
        <p:sp>
          <p:nvSpPr>
            <p:cNvPr id="2480" name="Google Shape;2480;p107"/>
            <p:cNvSpPr/>
            <p:nvPr/>
          </p:nvSpPr>
          <p:spPr>
            <a:xfrm>
              <a:off x="5239543" y="4742650"/>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trace</a:t>
              </a:r>
              <a:endParaRPr sz="1200">
                <a:latin typeface="DM Sans"/>
                <a:ea typeface="DM Sans"/>
                <a:cs typeface="DM Sans"/>
                <a:sym typeface="DM Sans"/>
              </a:endParaRPr>
            </a:p>
          </p:txBody>
        </p:sp>
        <p:cxnSp>
          <p:nvCxnSpPr>
            <p:cNvPr id="2481" name="Google Shape;2481;p107"/>
            <p:cNvCxnSpPr/>
            <p:nvPr/>
          </p:nvCxnSpPr>
          <p:spPr>
            <a:xfrm flipH="1" rot="10800000">
              <a:off x="6829425" y="1833725"/>
              <a:ext cx="87600" cy="57000"/>
            </a:xfrm>
            <a:prstGeom prst="straightConnector1">
              <a:avLst/>
            </a:prstGeom>
            <a:noFill/>
            <a:ln cap="flat" cmpd="sng" w="9525">
              <a:solidFill>
                <a:srgbClr val="618794"/>
              </a:solidFill>
              <a:prstDash val="solid"/>
              <a:round/>
              <a:headEnd len="med" w="med" type="none"/>
              <a:tailEnd len="med" w="med" type="triangle"/>
            </a:ln>
          </p:spPr>
        </p:cxnSp>
        <p:cxnSp>
          <p:nvCxnSpPr>
            <p:cNvPr id="2482" name="Google Shape;2482;p107"/>
            <p:cNvCxnSpPr/>
            <p:nvPr/>
          </p:nvCxnSpPr>
          <p:spPr>
            <a:xfrm rot="10800000">
              <a:off x="6447500" y="4495850"/>
              <a:ext cx="94500" cy="71400"/>
            </a:xfrm>
            <a:prstGeom prst="straightConnector1">
              <a:avLst/>
            </a:prstGeom>
            <a:noFill/>
            <a:ln cap="flat" cmpd="sng" w="9525">
              <a:solidFill>
                <a:srgbClr val="618794"/>
              </a:solidFill>
              <a:prstDash val="solid"/>
              <a:round/>
              <a:headEnd len="med" w="med" type="none"/>
              <a:tailEnd len="med" w="med" type="triangle"/>
            </a:ln>
          </p:spPr>
        </p:cxnSp>
        <p:cxnSp>
          <p:nvCxnSpPr>
            <p:cNvPr id="2483" name="Google Shape;2483;p107"/>
            <p:cNvCxnSpPr/>
            <p:nvPr/>
          </p:nvCxnSpPr>
          <p:spPr>
            <a:xfrm>
              <a:off x="8915425" y="2833775"/>
              <a:ext cx="26400" cy="87900"/>
            </a:xfrm>
            <a:prstGeom prst="straightConnector1">
              <a:avLst/>
            </a:prstGeom>
            <a:noFill/>
            <a:ln cap="flat" cmpd="sng" w="9525">
              <a:solidFill>
                <a:srgbClr val="618794"/>
              </a:solidFill>
              <a:prstDash val="solid"/>
              <a:round/>
              <a:headEnd len="med" w="med" type="none"/>
              <a:tailEnd len="med" w="med" type="triangle"/>
            </a:ln>
          </p:spPr>
        </p:cxnSp>
      </p:gr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7" name="Shape 2487"/>
        <p:cNvGrpSpPr/>
        <p:nvPr/>
      </p:nvGrpSpPr>
      <p:grpSpPr>
        <a:xfrm>
          <a:off x="0" y="0"/>
          <a:ext cx="0" cy="0"/>
          <a:chOff x="0" y="0"/>
          <a:chExt cx="0" cy="0"/>
        </a:xfrm>
      </p:grpSpPr>
      <p:sp>
        <p:nvSpPr>
          <p:cNvPr id="2488" name="Google Shape;2488;p10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489" name="Google Shape;2489;p108"/>
          <p:cNvSpPr txBox="1"/>
          <p:nvPr/>
        </p:nvSpPr>
        <p:spPr>
          <a:xfrm>
            <a:off x="199975" y="2450"/>
            <a:ext cx="11357100" cy="879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RAG development &amp; LLMops lifecycle</a:t>
            </a:r>
            <a:endParaRPr sz="20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/_static/images/generative-ai/development-lifecycle.png</a:t>
            </a:r>
            <a:endParaRPr sz="1000"/>
          </a:p>
        </p:txBody>
      </p:sp>
      <p:sp>
        <p:nvSpPr>
          <p:cNvPr id="2490" name="Google Shape;2490;p108"/>
          <p:cNvSpPr/>
          <p:nvPr/>
        </p:nvSpPr>
        <p:spPr>
          <a:xfrm flipH="1">
            <a:off x="-310025" y="882350"/>
            <a:ext cx="12377100" cy="56808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491" name="Google Shape;2491;p108"/>
          <p:cNvSpPr/>
          <p:nvPr/>
        </p:nvSpPr>
        <p:spPr>
          <a:xfrm>
            <a:off x="5099725" y="1862088"/>
            <a:ext cx="3088500" cy="3088500"/>
          </a:xfrm>
          <a:prstGeom prst="ellipse">
            <a:avLst/>
          </a:prstGeom>
          <a:noFill/>
          <a:ln cap="flat" cmpd="sng" w="19050">
            <a:solidFill>
              <a:srgbClr val="618794"/>
            </a:solidFill>
            <a:prstDash val="dash"/>
            <a:round/>
            <a:headEnd len="med" w="med" type="none"/>
            <a:tailEnd len="med" w="med"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492" name="Google Shape;2492;p108"/>
          <p:cNvSpPr/>
          <p:nvPr/>
        </p:nvSpPr>
        <p:spPr>
          <a:xfrm>
            <a:off x="7669300" y="3045353"/>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marR="0" rtl="0" algn="ctr">
              <a:lnSpc>
                <a:spcPct val="100000"/>
              </a:lnSpc>
              <a:spcBef>
                <a:spcPts val="0"/>
              </a:spcBef>
              <a:spcAft>
                <a:spcPts val="0"/>
              </a:spcAft>
              <a:buNone/>
            </a:pPr>
            <a:r>
              <a:rPr b="1" lang="en" sz="1100">
                <a:latin typeface="DM Sans"/>
                <a:ea typeface="DM Sans"/>
                <a:cs typeface="DM Sans"/>
                <a:sym typeface="DM Sans"/>
              </a:rPr>
              <a:t>Collect feedback </a:t>
            </a:r>
            <a:endParaRPr b="1" sz="1100">
              <a:latin typeface="DM Sans"/>
              <a:ea typeface="DM Sans"/>
              <a:cs typeface="DM Sans"/>
              <a:sym typeface="DM Sans"/>
            </a:endParaRPr>
          </a:p>
        </p:txBody>
      </p:sp>
      <p:sp>
        <p:nvSpPr>
          <p:cNvPr id="2493" name="Google Shape;2493;p108"/>
          <p:cNvSpPr txBox="1"/>
          <p:nvPr/>
        </p:nvSpPr>
        <p:spPr>
          <a:xfrm>
            <a:off x="3196066" y="958550"/>
            <a:ext cx="536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AI agent development lifecycle</a:t>
            </a:r>
            <a:endParaRPr b="1">
              <a:solidFill>
                <a:srgbClr val="00A972"/>
              </a:solidFill>
              <a:latin typeface="DM Sans"/>
              <a:ea typeface="DM Sans"/>
              <a:cs typeface="DM Sans"/>
              <a:sym typeface="DM Sans"/>
            </a:endParaRPr>
          </a:p>
        </p:txBody>
      </p:sp>
      <p:sp>
        <p:nvSpPr>
          <p:cNvPr id="2494" name="Google Shape;2494;p108"/>
          <p:cNvSpPr/>
          <p:nvPr/>
        </p:nvSpPr>
        <p:spPr>
          <a:xfrm>
            <a:off x="-182300" y="3045088"/>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Prepare data</a:t>
            </a:r>
            <a:endParaRPr b="1" sz="1100">
              <a:latin typeface="DM Sans"/>
              <a:ea typeface="DM Sans"/>
              <a:cs typeface="DM Sans"/>
              <a:sym typeface="DM Sans"/>
            </a:endParaRPr>
          </a:p>
        </p:txBody>
      </p:sp>
      <p:sp>
        <p:nvSpPr>
          <p:cNvPr id="2495" name="Google Shape;2495;p108"/>
          <p:cNvSpPr/>
          <p:nvPr/>
        </p:nvSpPr>
        <p:spPr>
          <a:xfrm>
            <a:off x="1362420" y="3045087"/>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Create agent tools</a:t>
            </a:r>
            <a:endParaRPr b="1" sz="1100">
              <a:latin typeface="DM Sans"/>
              <a:ea typeface="DM Sans"/>
              <a:cs typeface="DM Sans"/>
              <a:sym typeface="DM Sans"/>
            </a:endParaRPr>
          </a:p>
        </p:txBody>
      </p:sp>
      <p:cxnSp>
        <p:nvCxnSpPr>
          <p:cNvPr id="2496" name="Google Shape;2496;p108"/>
          <p:cNvCxnSpPr/>
          <p:nvPr/>
        </p:nvCxnSpPr>
        <p:spPr>
          <a:xfrm>
            <a:off x="910130" y="3690313"/>
            <a:ext cx="443700" cy="0"/>
          </a:xfrm>
          <a:prstGeom prst="straightConnector1">
            <a:avLst/>
          </a:prstGeom>
          <a:noFill/>
          <a:ln cap="flat" cmpd="sng" w="19050">
            <a:solidFill>
              <a:srgbClr val="618794"/>
            </a:solidFill>
            <a:prstDash val="dash"/>
            <a:round/>
            <a:headEnd len="med" w="med" type="none"/>
            <a:tailEnd len="med" w="med" type="triangle"/>
          </a:ln>
        </p:spPr>
      </p:cxnSp>
      <p:cxnSp>
        <p:nvCxnSpPr>
          <p:cNvPr id="2497" name="Google Shape;2497;p108"/>
          <p:cNvCxnSpPr/>
          <p:nvPr/>
        </p:nvCxnSpPr>
        <p:spPr>
          <a:xfrm>
            <a:off x="2459803" y="3690313"/>
            <a:ext cx="429300" cy="0"/>
          </a:xfrm>
          <a:prstGeom prst="straightConnector1">
            <a:avLst/>
          </a:prstGeom>
          <a:noFill/>
          <a:ln cap="flat" cmpd="sng" w="19050">
            <a:solidFill>
              <a:srgbClr val="618794"/>
            </a:solidFill>
            <a:prstDash val="dash"/>
            <a:round/>
            <a:headEnd len="med" w="med" type="none"/>
            <a:tailEnd len="med" w="med" type="triangle"/>
          </a:ln>
        </p:spPr>
      </p:cxnSp>
      <p:sp>
        <p:nvSpPr>
          <p:cNvPr id="2498" name="Google Shape;2498;p108"/>
          <p:cNvSpPr/>
          <p:nvPr/>
        </p:nvSpPr>
        <p:spPr>
          <a:xfrm>
            <a:off x="2907137" y="3044946"/>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Build prototype</a:t>
            </a:r>
            <a:endParaRPr b="1" sz="1100">
              <a:latin typeface="DM Sans"/>
              <a:ea typeface="DM Sans"/>
              <a:cs typeface="DM Sans"/>
              <a:sym typeface="DM Sans"/>
            </a:endParaRPr>
          </a:p>
        </p:txBody>
      </p:sp>
      <p:sp>
        <p:nvSpPr>
          <p:cNvPr id="2499" name="Google Shape;2499;p108"/>
          <p:cNvSpPr/>
          <p:nvPr/>
        </p:nvSpPr>
        <p:spPr>
          <a:xfrm>
            <a:off x="1308400" y="4086088"/>
            <a:ext cx="1195200" cy="396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Unity Catalog functions</a:t>
            </a:r>
            <a:endParaRPr sz="1200">
              <a:latin typeface="DM Sans"/>
              <a:ea typeface="DM Sans"/>
              <a:cs typeface="DM Sans"/>
              <a:sym typeface="DM Sans"/>
            </a:endParaRPr>
          </a:p>
        </p:txBody>
      </p:sp>
      <p:sp>
        <p:nvSpPr>
          <p:cNvPr id="2500" name="Google Shape;2500;p108"/>
          <p:cNvSpPr/>
          <p:nvPr/>
        </p:nvSpPr>
        <p:spPr>
          <a:xfrm>
            <a:off x="2853090" y="40860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AI Playground</a:t>
            </a:r>
            <a:endParaRPr sz="1200">
              <a:latin typeface="DM Sans"/>
              <a:ea typeface="DM Sans"/>
              <a:cs typeface="DM Sans"/>
              <a:sym typeface="DM Sans"/>
            </a:endParaRPr>
          </a:p>
        </p:txBody>
      </p:sp>
      <p:sp>
        <p:nvSpPr>
          <p:cNvPr id="2501" name="Google Shape;2501;p108"/>
          <p:cNvSpPr/>
          <p:nvPr/>
        </p:nvSpPr>
        <p:spPr>
          <a:xfrm>
            <a:off x="9214017" y="3045353"/>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Deploy to production</a:t>
            </a:r>
            <a:endParaRPr b="1" sz="1100">
              <a:latin typeface="DM Sans"/>
              <a:ea typeface="DM Sans"/>
              <a:cs typeface="DM Sans"/>
              <a:sym typeface="DM Sans"/>
            </a:endParaRPr>
          </a:p>
        </p:txBody>
      </p:sp>
      <p:sp>
        <p:nvSpPr>
          <p:cNvPr id="2502" name="Google Shape;2502;p108"/>
          <p:cNvSpPr/>
          <p:nvPr/>
        </p:nvSpPr>
        <p:spPr>
          <a:xfrm>
            <a:off x="10758661" y="3045098"/>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Monitor in production</a:t>
            </a:r>
            <a:endParaRPr b="1" sz="1100">
              <a:latin typeface="DM Sans"/>
              <a:ea typeface="DM Sans"/>
              <a:cs typeface="DM Sans"/>
              <a:sym typeface="DM Sans"/>
            </a:endParaRPr>
          </a:p>
        </p:txBody>
      </p:sp>
      <p:sp>
        <p:nvSpPr>
          <p:cNvPr id="2503" name="Google Shape;2503;p108"/>
          <p:cNvSpPr/>
          <p:nvPr/>
        </p:nvSpPr>
        <p:spPr>
          <a:xfrm>
            <a:off x="9154620" y="40860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a:t>
            </a:r>
            <a:r>
              <a:rPr lang="en" sz="1200">
                <a:latin typeface="DM Sans"/>
                <a:ea typeface="DM Sans"/>
                <a:cs typeface="DM Sans"/>
                <a:sym typeface="DM Sans"/>
              </a:rPr>
              <a:t> Serving</a:t>
            </a:r>
            <a:endParaRPr sz="1200">
              <a:latin typeface="DM Sans"/>
              <a:ea typeface="DM Sans"/>
              <a:cs typeface="DM Sans"/>
              <a:sym typeface="DM Sans"/>
            </a:endParaRPr>
          </a:p>
        </p:txBody>
      </p:sp>
      <p:pic>
        <p:nvPicPr>
          <p:cNvPr id="2504" name="Google Shape;2504;p108"/>
          <p:cNvPicPr preferRelativeResize="0"/>
          <p:nvPr/>
        </p:nvPicPr>
        <p:blipFill rotWithShape="1">
          <a:blip r:embed="rId3">
            <a:alphaModFix/>
          </a:blip>
          <a:srcRect b="0" l="0" r="0" t="0"/>
          <a:stretch/>
        </p:blipFill>
        <p:spPr>
          <a:xfrm>
            <a:off x="1678876" y="3491988"/>
            <a:ext cx="539925" cy="571476"/>
          </a:xfrm>
          <a:prstGeom prst="rect">
            <a:avLst/>
          </a:prstGeom>
          <a:noFill/>
          <a:ln>
            <a:noFill/>
          </a:ln>
        </p:spPr>
      </p:pic>
      <p:pic>
        <p:nvPicPr>
          <p:cNvPr id="2505" name="Google Shape;2505;p108"/>
          <p:cNvPicPr preferRelativeResize="0"/>
          <p:nvPr/>
        </p:nvPicPr>
        <p:blipFill rotWithShape="1">
          <a:blip r:embed="rId4">
            <a:alphaModFix/>
          </a:blip>
          <a:srcRect b="0" l="0" r="0" t="0"/>
          <a:stretch/>
        </p:blipFill>
        <p:spPr>
          <a:xfrm>
            <a:off x="11017150" y="3514388"/>
            <a:ext cx="560977" cy="571476"/>
          </a:xfrm>
          <a:prstGeom prst="rect">
            <a:avLst/>
          </a:prstGeom>
          <a:noFill/>
          <a:ln>
            <a:noFill/>
          </a:ln>
        </p:spPr>
      </p:pic>
      <p:cxnSp>
        <p:nvCxnSpPr>
          <p:cNvPr id="2506" name="Google Shape;2506;p108"/>
          <p:cNvCxnSpPr/>
          <p:nvPr/>
        </p:nvCxnSpPr>
        <p:spPr>
          <a:xfrm>
            <a:off x="8774342" y="3690313"/>
            <a:ext cx="414300" cy="0"/>
          </a:xfrm>
          <a:prstGeom prst="straightConnector1">
            <a:avLst/>
          </a:prstGeom>
          <a:noFill/>
          <a:ln cap="flat" cmpd="sng" w="19050">
            <a:solidFill>
              <a:srgbClr val="618794"/>
            </a:solidFill>
            <a:prstDash val="dash"/>
            <a:round/>
            <a:headEnd len="med" w="med" type="none"/>
            <a:tailEnd len="med" w="med" type="triangle"/>
          </a:ln>
        </p:spPr>
      </p:cxnSp>
      <p:pic>
        <p:nvPicPr>
          <p:cNvPr id="2507" name="Google Shape;2507;p108"/>
          <p:cNvPicPr preferRelativeResize="0"/>
          <p:nvPr/>
        </p:nvPicPr>
        <p:blipFill rotWithShape="1">
          <a:blip r:embed="rId5">
            <a:alphaModFix/>
          </a:blip>
          <a:srcRect b="0" l="0" r="0" t="0"/>
          <a:stretch/>
        </p:blipFill>
        <p:spPr>
          <a:xfrm>
            <a:off x="7969125" y="3562889"/>
            <a:ext cx="487599" cy="472500"/>
          </a:xfrm>
          <a:prstGeom prst="rect">
            <a:avLst/>
          </a:prstGeom>
          <a:noFill/>
          <a:ln>
            <a:noFill/>
          </a:ln>
        </p:spPr>
      </p:pic>
      <p:pic>
        <p:nvPicPr>
          <p:cNvPr id="2508" name="Google Shape;2508;p108"/>
          <p:cNvPicPr preferRelativeResize="0"/>
          <p:nvPr/>
        </p:nvPicPr>
        <p:blipFill rotWithShape="1">
          <a:blip r:embed="rId6">
            <a:alphaModFix/>
          </a:blip>
          <a:srcRect b="0" l="0" r="0" t="0"/>
          <a:stretch/>
        </p:blipFill>
        <p:spPr>
          <a:xfrm>
            <a:off x="3177538" y="3516213"/>
            <a:ext cx="560988" cy="588550"/>
          </a:xfrm>
          <a:prstGeom prst="rect">
            <a:avLst/>
          </a:prstGeom>
          <a:noFill/>
          <a:ln>
            <a:noFill/>
          </a:ln>
        </p:spPr>
      </p:pic>
      <p:pic>
        <p:nvPicPr>
          <p:cNvPr id="2509" name="Google Shape;2509;p108"/>
          <p:cNvPicPr preferRelativeResize="0"/>
          <p:nvPr/>
        </p:nvPicPr>
        <p:blipFill rotWithShape="1">
          <a:blip r:embed="rId7">
            <a:alphaModFix/>
          </a:blip>
          <a:srcRect b="0" l="0" r="0" t="0"/>
          <a:stretch/>
        </p:blipFill>
        <p:spPr>
          <a:xfrm>
            <a:off x="9459625" y="3517213"/>
            <a:ext cx="539925" cy="586550"/>
          </a:xfrm>
          <a:prstGeom prst="rect">
            <a:avLst/>
          </a:prstGeom>
          <a:noFill/>
          <a:ln>
            <a:noFill/>
          </a:ln>
        </p:spPr>
      </p:pic>
      <p:sp>
        <p:nvSpPr>
          <p:cNvPr id="2510" name="Google Shape;2510;p108"/>
          <p:cNvSpPr/>
          <p:nvPr/>
        </p:nvSpPr>
        <p:spPr>
          <a:xfrm>
            <a:off x="6124600" y="1509825"/>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Iterate to improve</a:t>
            </a:r>
            <a:endParaRPr b="1" sz="1100">
              <a:latin typeface="DM Sans"/>
              <a:ea typeface="DM Sans"/>
              <a:cs typeface="DM Sans"/>
              <a:sym typeface="DM Sans"/>
            </a:endParaRPr>
          </a:p>
        </p:txBody>
      </p:sp>
      <p:cxnSp>
        <p:nvCxnSpPr>
          <p:cNvPr id="2511" name="Google Shape;2511;p108"/>
          <p:cNvCxnSpPr/>
          <p:nvPr/>
        </p:nvCxnSpPr>
        <p:spPr>
          <a:xfrm>
            <a:off x="10322643" y="3690313"/>
            <a:ext cx="409200" cy="0"/>
          </a:xfrm>
          <a:prstGeom prst="straightConnector1">
            <a:avLst/>
          </a:prstGeom>
          <a:noFill/>
          <a:ln cap="flat" cmpd="sng" w="19050">
            <a:solidFill>
              <a:srgbClr val="618794"/>
            </a:solidFill>
            <a:prstDash val="dash"/>
            <a:round/>
            <a:headEnd len="med" w="med" type="none"/>
            <a:tailEnd len="med" w="med" type="triangle"/>
          </a:ln>
        </p:spPr>
      </p:cxnSp>
      <p:pic>
        <p:nvPicPr>
          <p:cNvPr id="2512" name="Google Shape;2512;p108"/>
          <p:cNvPicPr preferRelativeResize="0"/>
          <p:nvPr/>
        </p:nvPicPr>
        <p:blipFill rotWithShape="1">
          <a:blip r:embed="rId8">
            <a:alphaModFix/>
          </a:blip>
          <a:srcRect b="7850" l="0" r="0" t="-7850"/>
          <a:stretch/>
        </p:blipFill>
        <p:spPr>
          <a:xfrm>
            <a:off x="6432421" y="1994763"/>
            <a:ext cx="471465" cy="472500"/>
          </a:xfrm>
          <a:prstGeom prst="rect">
            <a:avLst/>
          </a:prstGeom>
          <a:noFill/>
          <a:ln>
            <a:noFill/>
          </a:ln>
        </p:spPr>
      </p:pic>
      <p:sp>
        <p:nvSpPr>
          <p:cNvPr id="2513" name="Google Shape;2513;p108"/>
          <p:cNvSpPr/>
          <p:nvPr/>
        </p:nvSpPr>
        <p:spPr>
          <a:xfrm>
            <a:off x="4488840" y="3044946"/>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Label evaluation data</a:t>
            </a:r>
            <a:endParaRPr b="1" sz="1100">
              <a:latin typeface="DM Sans"/>
              <a:ea typeface="DM Sans"/>
              <a:cs typeface="DM Sans"/>
              <a:sym typeface="DM Sans"/>
            </a:endParaRPr>
          </a:p>
        </p:txBody>
      </p:sp>
      <p:pic>
        <p:nvPicPr>
          <p:cNvPr id="2514" name="Google Shape;2514;p108"/>
          <p:cNvPicPr preferRelativeResize="0"/>
          <p:nvPr/>
        </p:nvPicPr>
        <p:blipFill rotWithShape="1">
          <a:blip r:embed="rId9">
            <a:alphaModFix/>
          </a:blip>
          <a:srcRect b="0" l="0" r="0" t="0"/>
          <a:stretch/>
        </p:blipFill>
        <p:spPr>
          <a:xfrm>
            <a:off x="146845" y="3397062"/>
            <a:ext cx="487599" cy="586525"/>
          </a:xfrm>
          <a:prstGeom prst="rect">
            <a:avLst/>
          </a:prstGeom>
          <a:noFill/>
          <a:ln>
            <a:noFill/>
          </a:ln>
        </p:spPr>
      </p:pic>
      <p:sp>
        <p:nvSpPr>
          <p:cNvPr id="2515" name="Google Shape;2515;p108"/>
          <p:cNvSpPr/>
          <p:nvPr/>
        </p:nvSpPr>
        <p:spPr>
          <a:xfrm>
            <a:off x="4433513" y="40860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Evaluation</a:t>
            </a:r>
            <a:endParaRPr sz="1200">
              <a:latin typeface="DM Sans"/>
              <a:ea typeface="DM Sans"/>
              <a:cs typeface="DM Sans"/>
              <a:sym typeface="DM Sans"/>
            </a:endParaRPr>
          </a:p>
        </p:txBody>
      </p:sp>
      <p:cxnSp>
        <p:nvCxnSpPr>
          <p:cNvPr id="2516" name="Google Shape;2516;p108"/>
          <p:cNvCxnSpPr/>
          <p:nvPr/>
        </p:nvCxnSpPr>
        <p:spPr>
          <a:xfrm>
            <a:off x="4026976" y="3690313"/>
            <a:ext cx="429300" cy="0"/>
          </a:xfrm>
          <a:prstGeom prst="straightConnector1">
            <a:avLst/>
          </a:prstGeom>
          <a:noFill/>
          <a:ln cap="flat" cmpd="sng" w="19050">
            <a:solidFill>
              <a:srgbClr val="618794"/>
            </a:solidFill>
            <a:prstDash val="dash"/>
            <a:round/>
            <a:headEnd len="med" w="med" type="none"/>
            <a:tailEnd len="med" w="med" type="triangle"/>
          </a:ln>
        </p:spPr>
      </p:cxnSp>
      <p:cxnSp>
        <p:nvCxnSpPr>
          <p:cNvPr id="2517" name="Google Shape;2517;p108"/>
          <p:cNvCxnSpPr/>
          <p:nvPr/>
        </p:nvCxnSpPr>
        <p:spPr>
          <a:xfrm flipH="1" rot="10800000">
            <a:off x="6037750" y="1937763"/>
            <a:ext cx="87600" cy="57000"/>
          </a:xfrm>
          <a:prstGeom prst="straightConnector1">
            <a:avLst/>
          </a:prstGeom>
          <a:noFill/>
          <a:ln cap="flat" cmpd="sng" w="9525">
            <a:solidFill>
              <a:srgbClr val="618794"/>
            </a:solidFill>
            <a:prstDash val="solid"/>
            <a:round/>
            <a:headEnd len="med" w="med" type="none"/>
            <a:tailEnd len="med" w="med" type="triangle"/>
          </a:ln>
        </p:spPr>
      </p:cxnSp>
      <p:cxnSp>
        <p:nvCxnSpPr>
          <p:cNvPr id="2518" name="Google Shape;2518;p108"/>
          <p:cNvCxnSpPr/>
          <p:nvPr/>
        </p:nvCxnSpPr>
        <p:spPr>
          <a:xfrm rot="10800000">
            <a:off x="5655825" y="4599888"/>
            <a:ext cx="94500" cy="71400"/>
          </a:xfrm>
          <a:prstGeom prst="straightConnector1">
            <a:avLst/>
          </a:prstGeom>
          <a:noFill/>
          <a:ln cap="flat" cmpd="sng" w="9525">
            <a:solidFill>
              <a:srgbClr val="618794"/>
            </a:solidFill>
            <a:prstDash val="solid"/>
            <a:round/>
            <a:headEnd len="med" w="med" type="none"/>
            <a:tailEnd len="med" w="med" type="triangle"/>
          </a:ln>
        </p:spPr>
      </p:cxnSp>
      <p:cxnSp>
        <p:nvCxnSpPr>
          <p:cNvPr id="2519" name="Google Shape;2519;p108"/>
          <p:cNvCxnSpPr/>
          <p:nvPr/>
        </p:nvCxnSpPr>
        <p:spPr>
          <a:xfrm>
            <a:off x="8123750" y="2937813"/>
            <a:ext cx="26400" cy="87900"/>
          </a:xfrm>
          <a:prstGeom prst="straightConnector1">
            <a:avLst/>
          </a:prstGeom>
          <a:noFill/>
          <a:ln cap="flat" cmpd="sng" w="9525">
            <a:solidFill>
              <a:srgbClr val="618794"/>
            </a:solidFill>
            <a:prstDash val="solid"/>
            <a:round/>
            <a:headEnd len="med" w="med" type="none"/>
            <a:tailEnd len="med" w="med" type="triangle"/>
          </a:ln>
        </p:spPr>
      </p:cxnSp>
      <p:sp>
        <p:nvSpPr>
          <p:cNvPr id="2520" name="Google Shape;2520;p108"/>
          <p:cNvSpPr/>
          <p:nvPr/>
        </p:nvSpPr>
        <p:spPr>
          <a:xfrm>
            <a:off x="-228051" y="4081263"/>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ETL pipeline</a:t>
            </a:r>
            <a:endParaRPr sz="1200">
              <a:latin typeface="DM Sans"/>
              <a:ea typeface="DM Sans"/>
              <a:cs typeface="DM Sans"/>
              <a:sym typeface="DM Sans"/>
            </a:endParaRPr>
          </a:p>
        </p:txBody>
      </p:sp>
      <p:sp>
        <p:nvSpPr>
          <p:cNvPr id="2521" name="Google Shape;2521;p108"/>
          <p:cNvSpPr/>
          <p:nvPr/>
        </p:nvSpPr>
        <p:spPr>
          <a:xfrm>
            <a:off x="4438338" y="45738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Synthetic data</a:t>
            </a:r>
            <a:endParaRPr sz="1200">
              <a:latin typeface="DM Sans"/>
              <a:ea typeface="DM Sans"/>
              <a:cs typeface="DM Sans"/>
              <a:sym typeface="DM Sans"/>
            </a:endParaRPr>
          </a:p>
        </p:txBody>
      </p:sp>
      <p:sp>
        <p:nvSpPr>
          <p:cNvPr id="2522" name="Google Shape;2522;p108"/>
          <p:cNvSpPr/>
          <p:nvPr/>
        </p:nvSpPr>
        <p:spPr>
          <a:xfrm>
            <a:off x="6070564" y="259633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metrics</a:t>
            </a:r>
            <a:endParaRPr sz="1200">
              <a:latin typeface="DM Sans"/>
              <a:ea typeface="DM Sans"/>
              <a:cs typeface="DM Sans"/>
              <a:sym typeface="DM Sans"/>
            </a:endParaRPr>
          </a:p>
        </p:txBody>
      </p:sp>
      <p:sp>
        <p:nvSpPr>
          <p:cNvPr id="2523" name="Google Shape;2523;p108"/>
          <p:cNvSpPr/>
          <p:nvPr/>
        </p:nvSpPr>
        <p:spPr>
          <a:xfrm>
            <a:off x="6070564" y="2937813"/>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trace</a:t>
            </a:r>
            <a:endParaRPr sz="1200">
              <a:latin typeface="DM Sans"/>
              <a:ea typeface="DM Sans"/>
              <a:cs typeface="DM Sans"/>
              <a:sym typeface="DM Sans"/>
            </a:endParaRPr>
          </a:p>
        </p:txBody>
      </p:sp>
      <p:sp>
        <p:nvSpPr>
          <p:cNvPr id="2524" name="Google Shape;2524;p108"/>
          <p:cNvSpPr/>
          <p:nvPr/>
        </p:nvSpPr>
        <p:spPr>
          <a:xfrm>
            <a:off x="7598500" y="4087897"/>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Review App</a:t>
            </a:r>
            <a:endParaRPr sz="1200">
              <a:latin typeface="DM Sans"/>
              <a:ea typeface="DM Sans"/>
              <a:cs typeface="DM Sans"/>
              <a:sym typeface="DM Sans"/>
            </a:endParaRPr>
          </a:p>
        </p:txBody>
      </p:sp>
      <p:sp>
        <p:nvSpPr>
          <p:cNvPr id="2525" name="Google Shape;2525;p108"/>
          <p:cNvSpPr/>
          <p:nvPr/>
        </p:nvSpPr>
        <p:spPr>
          <a:xfrm>
            <a:off x="10696645" y="40681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Evaluation job</a:t>
            </a:r>
            <a:endParaRPr sz="1200">
              <a:latin typeface="DM Sans"/>
              <a:ea typeface="DM Sans"/>
              <a:cs typeface="DM Sans"/>
              <a:sym typeface="DM Sans"/>
            </a:endParaRPr>
          </a:p>
        </p:txBody>
      </p:sp>
      <p:sp>
        <p:nvSpPr>
          <p:cNvPr id="2526" name="Google Shape;2526;p108"/>
          <p:cNvSpPr/>
          <p:nvPr/>
        </p:nvSpPr>
        <p:spPr>
          <a:xfrm>
            <a:off x="2853100" y="44670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Framework</a:t>
            </a:r>
            <a:endParaRPr sz="1200">
              <a:latin typeface="DM Sans"/>
              <a:ea typeface="DM Sans"/>
              <a:cs typeface="DM Sans"/>
              <a:sym typeface="DM Sans"/>
            </a:endParaRPr>
          </a:p>
        </p:txBody>
      </p:sp>
      <p:sp>
        <p:nvSpPr>
          <p:cNvPr id="2527" name="Google Shape;2527;p108"/>
          <p:cNvSpPr/>
          <p:nvPr/>
        </p:nvSpPr>
        <p:spPr>
          <a:xfrm>
            <a:off x="7596076" y="44199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LLM judges</a:t>
            </a:r>
            <a:endParaRPr sz="1200">
              <a:latin typeface="DM Sans"/>
              <a:ea typeface="DM Sans"/>
              <a:cs typeface="DM Sans"/>
              <a:sym typeface="DM Sans"/>
            </a:endParaRPr>
          </a:p>
        </p:txBody>
      </p:sp>
      <p:sp>
        <p:nvSpPr>
          <p:cNvPr id="2528" name="Google Shape;2528;p108"/>
          <p:cNvSpPr/>
          <p:nvPr/>
        </p:nvSpPr>
        <p:spPr>
          <a:xfrm>
            <a:off x="2881975" y="5665550"/>
            <a:ext cx="7419300" cy="571500"/>
          </a:xfrm>
          <a:prstGeom prst="roundRect">
            <a:avLst>
              <a:gd fmla="val 16667" name="adj"/>
            </a:avLst>
          </a:prstGeom>
          <a:solidFill>
            <a:srgbClr val="FFFFFF"/>
          </a:solidFill>
          <a:ln cap="flat" cmpd="sng" w="19050">
            <a:solidFill>
              <a:srgbClr val="00A972"/>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MLflow tracking</a:t>
            </a:r>
            <a:endParaRPr b="1" sz="1100">
              <a:latin typeface="DM Sans"/>
              <a:ea typeface="DM Sans"/>
              <a:cs typeface="DM Sans"/>
              <a:sym typeface="DM Sans"/>
            </a:endParaRPr>
          </a:p>
        </p:txBody>
      </p:sp>
      <p:cxnSp>
        <p:nvCxnSpPr>
          <p:cNvPr id="2529" name="Google Shape;2529;p108"/>
          <p:cNvCxnSpPr>
            <a:stCxn id="2498" idx="2"/>
          </p:cNvCxnSpPr>
          <p:nvPr/>
        </p:nvCxnSpPr>
        <p:spPr>
          <a:xfrm>
            <a:off x="3450737" y="5347746"/>
            <a:ext cx="0" cy="311700"/>
          </a:xfrm>
          <a:prstGeom prst="straightConnector1">
            <a:avLst/>
          </a:prstGeom>
          <a:noFill/>
          <a:ln cap="flat" cmpd="sng" w="19050">
            <a:solidFill>
              <a:srgbClr val="618794"/>
            </a:solidFill>
            <a:prstDash val="dash"/>
            <a:round/>
            <a:headEnd len="med" w="med" type="none"/>
            <a:tailEnd len="med" w="med" type="triangle"/>
          </a:ln>
        </p:spPr>
      </p:cxnSp>
      <p:cxnSp>
        <p:nvCxnSpPr>
          <p:cNvPr id="2530" name="Google Shape;2530;p108"/>
          <p:cNvCxnSpPr/>
          <p:nvPr/>
        </p:nvCxnSpPr>
        <p:spPr>
          <a:xfrm>
            <a:off x="5035962" y="5347746"/>
            <a:ext cx="0" cy="311700"/>
          </a:xfrm>
          <a:prstGeom prst="straightConnector1">
            <a:avLst/>
          </a:prstGeom>
          <a:noFill/>
          <a:ln cap="flat" cmpd="sng" w="19050">
            <a:solidFill>
              <a:srgbClr val="618794"/>
            </a:solidFill>
            <a:prstDash val="dash"/>
            <a:round/>
            <a:headEnd len="med" w="med" type="none"/>
            <a:tailEnd len="med" w="med" type="triangle"/>
          </a:ln>
        </p:spPr>
      </p:cxnSp>
      <p:cxnSp>
        <p:nvCxnSpPr>
          <p:cNvPr id="2531" name="Google Shape;2531;p108"/>
          <p:cNvCxnSpPr/>
          <p:nvPr/>
        </p:nvCxnSpPr>
        <p:spPr>
          <a:xfrm>
            <a:off x="6668212" y="3579696"/>
            <a:ext cx="0" cy="2045400"/>
          </a:xfrm>
          <a:prstGeom prst="straightConnector1">
            <a:avLst/>
          </a:prstGeom>
          <a:noFill/>
          <a:ln cap="flat" cmpd="sng" w="19050">
            <a:solidFill>
              <a:srgbClr val="618794"/>
            </a:solidFill>
            <a:prstDash val="dash"/>
            <a:round/>
            <a:headEnd len="med" w="med" type="none"/>
            <a:tailEnd len="med" w="med" type="triangle"/>
          </a:ln>
        </p:spPr>
      </p:cxnSp>
      <p:cxnSp>
        <p:nvCxnSpPr>
          <p:cNvPr id="2532" name="Google Shape;2532;p108"/>
          <p:cNvCxnSpPr>
            <a:stCxn id="2492" idx="2"/>
          </p:cNvCxnSpPr>
          <p:nvPr/>
        </p:nvCxnSpPr>
        <p:spPr>
          <a:xfrm>
            <a:off x="8212900" y="5348153"/>
            <a:ext cx="0" cy="301500"/>
          </a:xfrm>
          <a:prstGeom prst="straightConnector1">
            <a:avLst/>
          </a:prstGeom>
          <a:noFill/>
          <a:ln cap="flat" cmpd="sng" w="19050">
            <a:solidFill>
              <a:srgbClr val="618794"/>
            </a:solidFill>
            <a:prstDash val="dash"/>
            <a:round/>
            <a:headEnd len="med" w="med" type="none"/>
            <a:tailEnd len="med" w="med" type="triangle"/>
          </a:ln>
        </p:spPr>
      </p:cxnSp>
      <p:cxnSp>
        <p:nvCxnSpPr>
          <p:cNvPr id="2533" name="Google Shape;2533;p108"/>
          <p:cNvCxnSpPr/>
          <p:nvPr/>
        </p:nvCxnSpPr>
        <p:spPr>
          <a:xfrm>
            <a:off x="9752225" y="5352853"/>
            <a:ext cx="0" cy="301500"/>
          </a:xfrm>
          <a:prstGeom prst="straightConnector1">
            <a:avLst/>
          </a:prstGeom>
          <a:noFill/>
          <a:ln cap="flat" cmpd="sng" w="19050">
            <a:solidFill>
              <a:srgbClr val="618794"/>
            </a:solidFill>
            <a:prstDash val="dash"/>
            <a:round/>
            <a:headEnd len="med" w="med" type="none"/>
            <a:tailEnd len="med" w="med" type="triangle"/>
          </a:ln>
        </p:spPr>
      </p:cxnSp>
      <p:sp>
        <p:nvSpPr>
          <p:cNvPr id="2534" name="Google Shape;2534;p108"/>
          <p:cNvSpPr/>
          <p:nvPr/>
        </p:nvSpPr>
        <p:spPr>
          <a:xfrm>
            <a:off x="6070575" y="3279304"/>
            <a:ext cx="1195200" cy="365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 versioning</a:t>
            </a:r>
            <a:endParaRPr sz="1200">
              <a:latin typeface="DM Sans"/>
              <a:ea typeface="DM Sans"/>
              <a:cs typeface="DM Sans"/>
              <a:sym typeface="DM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8" name="Shape 2538"/>
        <p:cNvGrpSpPr/>
        <p:nvPr/>
      </p:nvGrpSpPr>
      <p:grpSpPr>
        <a:xfrm>
          <a:off x="0" y="0"/>
          <a:ext cx="0" cy="0"/>
          <a:chOff x="0" y="0"/>
          <a:chExt cx="0" cy="0"/>
        </a:xfrm>
      </p:grpSpPr>
      <p:sp>
        <p:nvSpPr>
          <p:cNvPr id="2539" name="Google Shape;2539;p10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540" name="Google Shape;2540;p109"/>
          <p:cNvSpPr txBox="1"/>
          <p:nvPr/>
        </p:nvSpPr>
        <p:spPr>
          <a:xfrm>
            <a:off x="0" y="0"/>
            <a:ext cx="3320100" cy="1655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RAG Chain workflow</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/_static/images/generative-ai/rag-agent-workflow.png</a:t>
            </a:r>
            <a:endParaRPr/>
          </a:p>
        </p:txBody>
      </p:sp>
      <p:sp>
        <p:nvSpPr>
          <p:cNvPr id="2541" name="Google Shape;2541;p109"/>
          <p:cNvSpPr/>
          <p:nvPr/>
        </p:nvSpPr>
        <p:spPr>
          <a:xfrm>
            <a:off x="4374350" y="-365550"/>
            <a:ext cx="7586700" cy="7381500"/>
          </a:xfrm>
          <a:prstGeom prst="roundRect">
            <a:avLst>
              <a:gd fmla="val 16667" name="adj"/>
            </a:avLst>
          </a:prstGeom>
          <a:solidFill>
            <a:srgbClr val="FFFFFF"/>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542" name="Google Shape;2542;p109"/>
          <p:cNvCxnSpPr>
            <a:stCxn id="2543" idx="3"/>
            <a:endCxn id="2544" idx="1"/>
          </p:cNvCxnSpPr>
          <p:nvPr/>
        </p:nvCxnSpPr>
        <p:spPr>
          <a:xfrm flipH="1" rot="10800000">
            <a:off x="6743632" y="311101"/>
            <a:ext cx="1125900" cy="300"/>
          </a:xfrm>
          <a:prstGeom prst="straightConnector1">
            <a:avLst/>
          </a:prstGeom>
          <a:noFill/>
          <a:ln cap="flat" cmpd="sng" w="19050">
            <a:solidFill>
              <a:srgbClr val="618794"/>
            </a:solidFill>
            <a:prstDash val="dash"/>
            <a:round/>
            <a:headEnd len="med" w="med" type="none"/>
            <a:tailEnd len="med" w="med" type="triangle"/>
          </a:ln>
        </p:spPr>
      </p:cxnSp>
      <p:grpSp>
        <p:nvGrpSpPr>
          <p:cNvPr id="2545" name="Google Shape;2545;p109"/>
          <p:cNvGrpSpPr/>
          <p:nvPr/>
        </p:nvGrpSpPr>
        <p:grpSpPr>
          <a:xfrm>
            <a:off x="5654105" y="-86769"/>
            <a:ext cx="1089527" cy="796339"/>
            <a:chOff x="579727" y="3932083"/>
            <a:chExt cx="1136700" cy="834300"/>
          </a:xfrm>
        </p:grpSpPr>
        <p:sp>
          <p:nvSpPr>
            <p:cNvPr id="2543" name="Google Shape;2543;p109"/>
            <p:cNvSpPr/>
            <p:nvPr/>
          </p:nvSpPr>
          <p:spPr>
            <a:xfrm>
              <a:off x="579727" y="3932083"/>
              <a:ext cx="11367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User</a:t>
              </a:r>
              <a:endParaRPr b="1" sz="1100">
                <a:latin typeface="DM Sans"/>
                <a:ea typeface="DM Sans"/>
                <a:cs typeface="DM Sans"/>
                <a:sym typeface="DM Sans"/>
              </a:endParaRPr>
            </a:p>
          </p:txBody>
        </p:sp>
        <p:pic>
          <p:nvPicPr>
            <p:cNvPr id="2546" name="Google Shape;2546;p109"/>
            <p:cNvPicPr preferRelativeResize="0"/>
            <p:nvPr/>
          </p:nvPicPr>
          <p:blipFill rotWithShape="1">
            <a:blip r:embed="rId3">
              <a:alphaModFix/>
            </a:blip>
            <a:srcRect b="0" l="0" r="0" t="0"/>
            <a:stretch/>
          </p:blipFill>
          <p:spPr>
            <a:xfrm>
              <a:off x="902076" y="4036810"/>
              <a:ext cx="492600" cy="492766"/>
            </a:xfrm>
            <a:prstGeom prst="rect">
              <a:avLst/>
            </a:prstGeom>
            <a:noFill/>
            <a:ln>
              <a:noFill/>
            </a:ln>
          </p:spPr>
        </p:pic>
      </p:grpSp>
      <p:sp>
        <p:nvSpPr>
          <p:cNvPr id="2547" name="Google Shape;2547;p109"/>
          <p:cNvSpPr txBox="1"/>
          <p:nvPr/>
        </p:nvSpPr>
        <p:spPr>
          <a:xfrm>
            <a:off x="7163975" y="2240825"/>
            <a:ext cx="590100" cy="4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Vector </a:t>
            </a:r>
            <a:endParaRPr sz="1000">
              <a:solidFill>
                <a:srgbClr val="595959"/>
              </a:solidFill>
              <a:latin typeface="DM Sans Medium"/>
              <a:ea typeface="DM Sans Medium"/>
              <a:cs typeface="DM Sans Medium"/>
              <a:sym typeface="DM Sans Medium"/>
            </a:endParaRPr>
          </a:p>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search</a:t>
            </a:r>
            <a:endParaRPr sz="1000">
              <a:solidFill>
                <a:srgbClr val="595959"/>
              </a:solidFill>
              <a:latin typeface="DM Sans Medium"/>
              <a:ea typeface="DM Sans Medium"/>
              <a:cs typeface="DM Sans Medium"/>
              <a:sym typeface="DM Sans Medium"/>
            </a:endParaRPr>
          </a:p>
        </p:txBody>
      </p:sp>
      <p:sp>
        <p:nvSpPr>
          <p:cNvPr id="2548" name="Google Shape;2548;p109"/>
          <p:cNvSpPr/>
          <p:nvPr/>
        </p:nvSpPr>
        <p:spPr>
          <a:xfrm>
            <a:off x="8459500" y="3537754"/>
            <a:ext cx="1047600" cy="920100"/>
          </a:xfrm>
          <a:prstGeom prst="ellipse">
            <a:avLst/>
          </a:prstGeom>
          <a:solidFill>
            <a:srgbClr val="FFFFFF"/>
          </a:solidFill>
          <a:ln cap="flat" cmpd="sng" w="19050">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latin typeface="DM Sans Medium"/>
                <a:ea typeface="DM Sans Medium"/>
                <a:cs typeface="DM Sans Medium"/>
                <a:sym typeface="DM Sans Medium"/>
              </a:rPr>
              <a:t>Combine</a:t>
            </a:r>
            <a:endParaRPr sz="1000">
              <a:latin typeface="DM Sans Medium"/>
              <a:ea typeface="DM Sans Medium"/>
              <a:cs typeface="DM Sans Medium"/>
              <a:sym typeface="DM Sans Medium"/>
            </a:endParaRPr>
          </a:p>
          <a:p>
            <a:pPr indent="0" lvl="0" marL="0" rtl="0" algn="ctr">
              <a:lnSpc>
                <a:spcPct val="100000"/>
              </a:lnSpc>
              <a:spcBef>
                <a:spcPts val="0"/>
              </a:spcBef>
              <a:spcAft>
                <a:spcPts val="0"/>
              </a:spcAft>
              <a:buNone/>
            </a:pPr>
            <a:r>
              <a:rPr lang="en" sz="1000">
                <a:latin typeface="DM Sans Medium"/>
                <a:ea typeface="DM Sans Medium"/>
                <a:cs typeface="DM Sans Medium"/>
                <a:sym typeface="DM Sans Medium"/>
              </a:rPr>
              <a:t>query &amp; relevant content</a:t>
            </a:r>
            <a:endParaRPr b="1" sz="1100">
              <a:latin typeface="DM Sans"/>
              <a:ea typeface="DM Sans"/>
              <a:cs typeface="DM Sans"/>
              <a:sym typeface="DM Sans"/>
            </a:endParaRPr>
          </a:p>
        </p:txBody>
      </p:sp>
      <p:sp>
        <p:nvSpPr>
          <p:cNvPr id="2544" name="Google Shape;2544;p109"/>
          <p:cNvSpPr/>
          <p:nvPr/>
        </p:nvSpPr>
        <p:spPr>
          <a:xfrm>
            <a:off x="7869500" y="-87050"/>
            <a:ext cx="2227500" cy="796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Application</a:t>
            </a:r>
            <a:endParaRPr b="1" sz="1100">
              <a:latin typeface="DM Sans"/>
              <a:ea typeface="DM Sans"/>
              <a:cs typeface="DM Sans"/>
              <a:sym typeface="DM Sans"/>
            </a:endParaRPr>
          </a:p>
        </p:txBody>
      </p:sp>
      <p:pic>
        <p:nvPicPr>
          <p:cNvPr id="2549" name="Google Shape;2549;p109"/>
          <p:cNvPicPr preferRelativeResize="0"/>
          <p:nvPr/>
        </p:nvPicPr>
        <p:blipFill rotWithShape="1">
          <a:blip r:embed="rId4">
            <a:alphaModFix/>
          </a:blip>
          <a:srcRect b="0" l="0" r="0" t="0"/>
          <a:stretch/>
        </p:blipFill>
        <p:spPr>
          <a:xfrm>
            <a:off x="8049424" y="10543"/>
            <a:ext cx="472159" cy="470185"/>
          </a:xfrm>
          <a:prstGeom prst="rect">
            <a:avLst/>
          </a:prstGeom>
          <a:noFill/>
          <a:ln>
            <a:noFill/>
          </a:ln>
        </p:spPr>
      </p:pic>
      <p:sp>
        <p:nvSpPr>
          <p:cNvPr id="2550" name="Google Shape;2550;p109"/>
          <p:cNvSpPr txBox="1"/>
          <p:nvPr/>
        </p:nvSpPr>
        <p:spPr>
          <a:xfrm>
            <a:off x="10216350" y="1343950"/>
            <a:ext cx="35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2.</a:t>
            </a:r>
            <a:endParaRPr b="1">
              <a:solidFill>
                <a:srgbClr val="00A972"/>
              </a:solidFill>
              <a:latin typeface="DM Sans"/>
              <a:ea typeface="DM Sans"/>
              <a:cs typeface="DM Sans"/>
              <a:sym typeface="DM Sans"/>
            </a:endParaRPr>
          </a:p>
        </p:txBody>
      </p:sp>
      <p:sp>
        <p:nvSpPr>
          <p:cNvPr id="2551" name="Google Shape;2551;p109"/>
          <p:cNvSpPr txBox="1"/>
          <p:nvPr/>
        </p:nvSpPr>
        <p:spPr>
          <a:xfrm>
            <a:off x="10216350" y="2664920"/>
            <a:ext cx="167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3. Retrieval</a:t>
            </a:r>
            <a:endParaRPr b="1">
              <a:solidFill>
                <a:srgbClr val="00A972"/>
              </a:solidFill>
              <a:latin typeface="DM Sans"/>
              <a:ea typeface="DM Sans"/>
              <a:cs typeface="DM Sans"/>
              <a:sym typeface="DM Sans"/>
            </a:endParaRPr>
          </a:p>
        </p:txBody>
      </p:sp>
      <p:sp>
        <p:nvSpPr>
          <p:cNvPr id="2552" name="Google Shape;2552;p109"/>
          <p:cNvSpPr txBox="1"/>
          <p:nvPr/>
        </p:nvSpPr>
        <p:spPr>
          <a:xfrm>
            <a:off x="10216350" y="3797692"/>
            <a:ext cx="167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4. Augmentation</a:t>
            </a:r>
            <a:endParaRPr b="1">
              <a:solidFill>
                <a:srgbClr val="00A972"/>
              </a:solidFill>
              <a:latin typeface="DM Sans"/>
              <a:ea typeface="DM Sans"/>
              <a:cs typeface="DM Sans"/>
              <a:sym typeface="DM Sans"/>
            </a:endParaRPr>
          </a:p>
        </p:txBody>
      </p:sp>
      <p:sp>
        <p:nvSpPr>
          <p:cNvPr id="2553" name="Google Shape;2553;p109"/>
          <p:cNvSpPr txBox="1"/>
          <p:nvPr/>
        </p:nvSpPr>
        <p:spPr>
          <a:xfrm>
            <a:off x="10216350" y="4966240"/>
            <a:ext cx="167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5. Generation</a:t>
            </a:r>
            <a:endParaRPr b="1">
              <a:solidFill>
                <a:srgbClr val="00A972"/>
              </a:solidFill>
              <a:latin typeface="DM Sans"/>
              <a:ea typeface="DM Sans"/>
              <a:cs typeface="DM Sans"/>
              <a:sym typeface="DM Sans"/>
            </a:endParaRPr>
          </a:p>
        </p:txBody>
      </p:sp>
      <p:cxnSp>
        <p:nvCxnSpPr>
          <p:cNvPr id="2554" name="Google Shape;2554;p109"/>
          <p:cNvCxnSpPr>
            <a:stCxn id="2544" idx="2"/>
            <a:endCxn id="2555" idx="0"/>
          </p:cNvCxnSpPr>
          <p:nvPr/>
        </p:nvCxnSpPr>
        <p:spPr>
          <a:xfrm>
            <a:off x="8983250" y="709450"/>
            <a:ext cx="0" cy="436500"/>
          </a:xfrm>
          <a:prstGeom prst="straightConnector1">
            <a:avLst/>
          </a:prstGeom>
          <a:noFill/>
          <a:ln cap="flat" cmpd="sng" w="19050">
            <a:solidFill>
              <a:srgbClr val="618794"/>
            </a:solidFill>
            <a:prstDash val="dash"/>
            <a:round/>
            <a:headEnd len="med" w="med" type="none"/>
            <a:tailEnd len="med" w="med" type="triangle"/>
          </a:ln>
        </p:spPr>
      </p:cxnSp>
      <p:cxnSp>
        <p:nvCxnSpPr>
          <p:cNvPr id="2556" name="Google Shape;2556;p109"/>
          <p:cNvCxnSpPr>
            <a:stCxn id="2557" idx="2"/>
          </p:cNvCxnSpPr>
          <p:nvPr/>
        </p:nvCxnSpPr>
        <p:spPr>
          <a:xfrm>
            <a:off x="8983356" y="5564514"/>
            <a:ext cx="0" cy="386400"/>
          </a:xfrm>
          <a:prstGeom prst="straightConnector1">
            <a:avLst/>
          </a:prstGeom>
          <a:noFill/>
          <a:ln cap="flat" cmpd="sng" w="19050">
            <a:solidFill>
              <a:srgbClr val="618794"/>
            </a:solidFill>
            <a:prstDash val="dash"/>
            <a:round/>
            <a:headEnd len="med" w="med" type="none"/>
            <a:tailEnd len="med" w="med" type="triangle"/>
          </a:ln>
        </p:spPr>
      </p:cxnSp>
      <p:cxnSp>
        <p:nvCxnSpPr>
          <p:cNvPr id="2558" name="Google Shape;2558;p109"/>
          <p:cNvCxnSpPr>
            <a:stCxn id="2559" idx="2"/>
            <a:endCxn id="2548" idx="0"/>
          </p:cNvCxnSpPr>
          <p:nvPr/>
        </p:nvCxnSpPr>
        <p:spPr>
          <a:xfrm>
            <a:off x="8983306" y="3227414"/>
            <a:ext cx="0" cy="310200"/>
          </a:xfrm>
          <a:prstGeom prst="straightConnector1">
            <a:avLst/>
          </a:prstGeom>
          <a:noFill/>
          <a:ln cap="flat" cmpd="sng" w="19050">
            <a:solidFill>
              <a:srgbClr val="618794"/>
            </a:solidFill>
            <a:prstDash val="dash"/>
            <a:round/>
            <a:headEnd len="med" w="med" type="none"/>
            <a:tailEnd len="med" w="med" type="triangle"/>
          </a:ln>
        </p:spPr>
      </p:cxnSp>
      <p:cxnSp>
        <p:nvCxnSpPr>
          <p:cNvPr id="2560" name="Google Shape;2560;p109"/>
          <p:cNvCxnSpPr>
            <a:stCxn id="2555" idx="2"/>
            <a:endCxn id="2559" idx="0"/>
          </p:cNvCxnSpPr>
          <p:nvPr/>
        </p:nvCxnSpPr>
        <p:spPr>
          <a:xfrm>
            <a:off x="8983281" y="1942227"/>
            <a:ext cx="0" cy="488700"/>
          </a:xfrm>
          <a:prstGeom prst="straightConnector1">
            <a:avLst/>
          </a:prstGeom>
          <a:noFill/>
          <a:ln cap="flat" cmpd="sng" w="19050">
            <a:solidFill>
              <a:srgbClr val="618794"/>
            </a:solidFill>
            <a:prstDash val="dash"/>
            <a:round/>
            <a:headEnd len="med" w="med" type="none"/>
            <a:tailEnd len="med" w="med" type="triangle"/>
          </a:ln>
        </p:spPr>
      </p:cxnSp>
      <p:cxnSp>
        <p:nvCxnSpPr>
          <p:cNvPr id="2561" name="Google Shape;2561;p109"/>
          <p:cNvCxnSpPr>
            <a:stCxn id="2548" idx="4"/>
            <a:endCxn id="2557" idx="0"/>
          </p:cNvCxnSpPr>
          <p:nvPr/>
        </p:nvCxnSpPr>
        <p:spPr>
          <a:xfrm>
            <a:off x="8983300" y="4457854"/>
            <a:ext cx="0" cy="310200"/>
          </a:xfrm>
          <a:prstGeom prst="straightConnector1">
            <a:avLst/>
          </a:prstGeom>
          <a:noFill/>
          <a:ln cap="flat" cmpd="sng" w="19050">
            <a:solidFill>
              <a:srgbClr val="618794"/>
            </a:solidFill>
            <a:prstDash val="dash"/>
            <a:round/>
            <a:headEnd len="med" w="med" type="none"/>
            <a:tailEnd len="med" w="med" type="triangle"/>
          </a:ln>
        </p:spPr>
      </p:cxnSp>
      <p:cxnSp>
        <p:nvCxnSpPr>
          <p:cNvPr id="2562" name="Google Shape;2562;p109"/>
          <p:cNvCxnSpPr/>
          <p:nvPr/>
        </p:nvCxnSpPr>
        <p:spPr>
          <a:xfrm>
            <a:off x="6896013" y="3017485"/>
            <a:ext cx="1125900" cy="0"/>
          </a:xfrm>
          <a:prstGeom prst="straightConnector1">
            <a:avLst/>
          </a:prstGeom>
          <a:noFill/>
          <a:ln cap="flat" cmpd="sng" w="19050">
            <a:solidFill>
              <a:srgbClr val="618794"/>
            </a:solidFill>
            <a:prstDash val="dash"/>
            <a:round/>
            <a:headEnd len="med" w="med" type="none"/>
            <a:tailEnd len="med" w="med" type="triangle"/>
          </a:ln>
        </p:spPr>
      </p:cxnSp>
      <p:cxnSp>
        <p:nvCxnSpPr>
          <p:cNvPr id="2563" name="Google Shape;2563;p109"/>
          <p:cNvCxnSpPr/>
          <p:nvPr/>
        </p:nvCxnSpPr>
        <p:spPr>
          <a:xfrm rot="10800000">
            <a:off x="6896127" y="2712689"/>
            <a:ext cx="1125900" cy="0"/>
          </a:xfrm>
          <a:prstGeom prst="straightConnector1">
            <a:avLst/>
          </a:prstGeom>
          <a:noFill/>
          <a:ln cap="flat" cmpd="sng" w="19050">
            <a:solidFill>
              <a:srgbClr val="618794"/>
            </a:solidFill>
            <a:prstDash val="dash"/>
            <a:round/>
            <a:headEnd len="med" w="med" type="none"/>
            <a:tailEnd len="med" w="med" type="triangle"/>
          </a:ln>
        </p:spPr>
      </p:cxnSp>
      <p:sp>
        <p:nvSpPr>
          <p:cNvPr id="2564" name="Google Shape;2564;p109"/>
          <p:cNvSpPr txBox="1"/>
          <p:nvPr/>
        </p:nvSpPr>
        <p:spPr>
          <a:xfrm>
            <a:off x="7100663" y="3018625"/>
            <a:ext cx="716700" cy="4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Relevant content</a:t>
            </a:r>
            <a:endParaRPr sz="1000">
              <a:solidFill>
                <a:srgbClr val="595959"/>
              </a:solidFill>
              <a:latin typeface="DM Sans Medium"/>
              <a:ea typeface="DM Sans Medium"/>
              <a:cs typeface="DM Sans Medium"/>
              <a:sym typeface="DM Sans Medium"/>
            </a:endParaRPr>
          </a:p>
        </p:txBody>
      </p:sp>
      <p:sp>
        <p:nvSpPr>
          <p:cNvPr id="2565" name="Google Shape;2565;p109"/>
          <p:cNvSpPr txBox="1"/>
          <p:nvPr/>
        </p:nvSpPr>
        <p:spPr>
          <a:xfrm>
            <a:off x="8357650" y="733188"/>
            <a:ext cx="590100" cy="33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595959"/>
                </a:solidFill>
                <a:latin typeface="DM Sans Medium"/>
                <a:ea typeface="DM Sans Medium"/>
                <a:cs typeface="DM Sans Medium"/>
                <a:sym typeface="DM Sans Medium"/>
              </a:rPr>
              <a:t>Query</a:t>
            </a:r>
            <a:endParaRPr sz="1000">
              <a:solidFill>
                <a:srgbClr val="595959"/>
              </a:solidFill>
              <a:latin typeface="DM Sans Medium"/>
              <a:ea typeface="DM Sans Medium"/>
              <a:cs typeface="DM Sans Medium"/>
              <a:sym typeface="DM Sans Medium"/>
            </a:endParaRPr>
          </a:p>
        </p:txBody>
      </p:sp>
      <p:sp>
        <p:nvSpPr>
          <p:cNvPr id="2566" name="Google Shape;2566;p109"/>
          <p:cNvSpPr txBox="1"/>
          <p:nvPr/>
        </p:nvSpPr>
        <p:spPr>
          <a:xfrm>
            <a:off x="7011560" y="1338"/>
            <a:ext cx="5901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Query</a:t>
            </a:r>
            <a:endParaRPr sz="1000">
              <a:solidFill>
                <a:srgbClr val="595959"/>
              </a:solidFill>
              <a:latin typeface="DM Sans Medium"/>
              <a:ea typeface="DM Sans Medium"/>
              <a:cs typeface="DM Sans Medium"/>
              <a:sym typeface="DM Sans Medium"/>
            </a:endParaRPr>
          </a:p>
        </p:txBody>
      </p:sp>
      <p:sp>
        <p:nvSpPr>
          <p:cNvPr id="2567" name="Google Shape;2567;p109"/>
          <p:cNvSpPr txBox="1"/>
          <p:nvPr/>
        </p:nvSpPr>
        <p:spPr>
          <a:xfrm>
            <a:off x="8024050" y="1992263"/>
            <a:ext cx="923700" cy="33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595959"/>
                </a:solidFill>
                <a:latin typeface="DM Sans Medium"/>
                <a:ea typeface="DM Sans Medium"/>
                <a:cs typeface="DM Sans Medium"/>
                <a:sym typeface="DM Sans Medium"/>
              </a:rPr>
              <a:t>Vectorized</a:t>
            </a:r>
            <a:endParaRPr sz="1000">
              <a:solidFill>
                <a:srgbClr val="595959"/>
              </a:solidFill>
              <a:latin typeface="DM Sans Medium"/>
              <a:ea typeface="DM Sans Medium"/>
              <a:cs typeface="DM Sans Medium"/>
              <a:sym typeface="DM Sans Medium"/>
            </a:endParaRPr>
          </a:p>
          <a:p>
            <a:pPr indent="0" lvl="0" marL="0" rtl="0" algn="r">
              <a:spcBef>
                <a:spcPts val="0"/>
              </a:spcBef>
              <a:spcAft>
                <a:spcPts val="0"/>
              </a:spcAft>
              <a:buNone/>
            </a:pPr>
            <a:r>
              <a:rPr lang="en" sz="1000">
                <a:solidFill>
                  <a:srgbClr val="595959"/>
                </a:solidFill>
                <a:latin typeface="DM Sans Medium"/>
                <a:ea typeface="DM Sans Medium"/>
                <a:cs typeface="DM Sans Medium"/>
                <a:sym typeface="DM Sans Medium"/>
              </a:rPr>
              <a:t>query</a:t>
            </a:r>
            <a:endParaRPr sz="1000">
              <a:solidFill>
                <a:srgbClr val="595959"/>
              </a:solidFill>
              <a:latin typeface="DM Sans Medium"/>
              <a:ea typeface="DM Sans Medium"/>
              <a:cs typeface="DM Sans Medium"/>
              <a:sym typeface="DM Sans Medium"/>
            </a:endParaRPr>
          </a:p>
        </p:txBody>
      </p:sp>
      <p:sp>
        <p:nvSpPr>
          <p:cNvPr id="2568" name="Google Shape;2568;p109"/>
          <p:cNvSpPr txBox="1"/>
          <p:nvPr/>
        </p:nvSpPr>
        <p:spPr>
          <a:xfrm>
            <a:off x="7795450" y="4316213"/>
            <a:ext cx="923700" cy="492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n" sz="1000">
                <a:solidFill>
                  <a:srgbClr val="595959"/>
                </a:solidFill>
                <a:latin typeface="DM Sans Medium"/>
                <a:ea typeface="DM Sans Medium"/>
                <a:cs typeface="DM Sans Medium"/>
                <a:sym typeface="DM Sans Medium"/>
              </a:rPr>
              <a:t>Augmented </a:t>
            </a:r>
            <a:endParaRPr sz="1000">
              <a:solidFill>
                <a:srgbClr val="595959"/>
              </a:solidFill>
              <a:latin typeface="DM Sans Medium"/>
              <a:ea typeface="DM Sans Medium"/>
              <a:cs typeface="DM Sans Medium"/>
              <a:sym typeface="DM Sans Medium"/>
            </a:endParaRPr>
          </a:p>
          <a:p>
            <a:pPr indent="0" lvl="0" marL="0" rtl="0" algn="r">
              <a:lnSpc>
                <a:spcPct val="100000"/>
              </a:lnSpc>
              <a:spcBef>
                <a:spcPts val="0"/>
              </a:spcBef>
              <a:spcAft>
                <a:spcPts val="0"/>
              </a:spcAft>
              <a:buNone/>
            </a:pPr>
            <a:r>
              <a:rPr lang="en" sz="1000">
                <a:solidFill>
                  <a:srgbClr val="595959"/>
                </a:solidFill>
                <a:latin typeface="DM Sans Medium"/>
                <a:ea typeface="DM Sans Medium"/>
                <a:cs typeface="DM Sans Medium"/>
                <a:sym typeface="DM Sans Medium"/>
              </a:rPr>
              <a:t>query</a:t>
            </a:r>
            <a:endParaRPr sz="1000">
              <a:solidFill>
                <a:srgbClr val="595959"/>
              </a:solidFill>
              <a:latin typeface="DM Sans Medium"/>
              <a:ea typeface="DM Sans Medium"/>
              <a:cs typeface="DM Sans Medium"/>
              <a:sym typeface="DM Sans Medium"/>
            </a:endParaRPr>
          </a:p>
        </p:txBody>
      </p:sp>
      <p:sp>
        <p:nvSpPr>
          <p:cNvPr id="2569" name="Google Shape;2569;p109"/>
          <p:cNvSpPr txBox="1"/>
          <p:nvPr/>
        </p:nvSpPr>
        <p:spPr>
          <a:xfrm>
            <a:off x="8132050" y="5588438"/>
            <a:ext cx="815700" cy="33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rgbClr val="595959"/>
                </a:solidFill>
                <a:latin typeface="DM Sans Medium"/>
                <a:ea typeface="DM Sans Medium"/>
                <a:cs typeface="DM Sans Medium"/>
                <a:sym typeface="DM Sans Medium"/>
              </a:rPr>
              <a:t>Response</a:t>
            </a:r>
            <a:endParaRPr sz="1000">
              <a:solidFill>
                <a:srgbClr val="595959"/>
              </a:solidFill>
              <a:latin typeface="DM Sans Medium"/>
              <a:ea typeface="DM Sans Medium"/>
              <a:cs typeface="DM Sans Medium"/>
              <a:sym typeface="DM Sans Medium"/>
            </a:endParaRPr>
          </a:p>
        </p:txBody>
      </p:sp>
      <p:grpSp>
        <p:nvGrpSpPr>
          <p:cNvPr id="2570" name="Google Shape;2570;p109"/>
          <p:cNvGrpSpPr/>
          <p:nvPr/>
        </p:nvGrpSpPr>
        <p:grpSpPr>
          <a:xfrm>
            <a:off x="7869625" y="2431075"/>
            <a:ext cx="2227362" cy="796339"/>
            <a:chOff x="4484544" y="2564564"/>
            <a:chExt cx="2323800" cy="834300"/>
          </a:xfrm>
        </p:grpSpPr>
        <p:sp>
          <p:nvSpPr>
            <p:cNvPr id="2559" name="Google Shape;2559;p109"/>
            <p:cNvSpPr/>
            <p:nvPr/>
          </p:nvSpPr>
          <p:spPr>
            <a:xfrm>
              <a:off x="4484544" y="2564564"/>
              <a:ext cx="23238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Retriever</a:t>
              </a:r>
              <a:endParaRPr b="1" sz="1100">
                <a:latin typeface="DM Sans"/>
                <a:ea typeface="DM Sans"/>
                <a:cs typeface="DM Sans"/>
                <a:sym typeface="DM Sans"/>
              </a:endParaRPr>
            </a:p>
          </p:txBody>
        </p:sp>
        <p:pic>
          <p:nvPicPr>
            <p:cNvPr id="2571" name="Google Shape;2571;p109"/>
            <p:cNvPicPr preferRelativeResize="0"/>
            <p:nvPr/>
          </p:nvPicPr>
          <p:blipFill rotWithShape="1">
            <a:blip r:embed="rId5">
              <a:alphaModFix/>
            </a:blip>
            <a:srcRect b="0" l="0" r="0" t="0"/>
            <a:stretch/>
          </p:blipFill>
          <p:spPr>
            <a:xfrm>
              <a:off x="4686527" y="2720428"/>
              <a:ext cx="492600" cy="492600"/>
            </a:xfrm>
            <a:prstGeom prst="rect">
              <a:avLst/>
            </a:prstGeom>
            <a:noFill/>
            <a:ln>
              <a:noFill/>
            </a:ln>
          </p:spPr>
        </p:pic>
      </p:grpSp>
      <p:grpSp>
        <p:nvGrpSpPr>
          <p:cNvPr id="2572" name="Google Shape;2572;p109"/>
          <p:cNvGrpSpPr/>
          <p:nvPr/>
        </p:nvGrpSpPr>
        <p:grpSpPr>
          <a:xfrm>
            <a:off x="7869675" y="4768175"/>
            <a:ext cx="2227362" cy="796339"/>
            <a:chOff x="8490517" y="2564563"/>
            <a:chExt cx="2323800" cy="834300"/>
          </a:xfrm>
        </p:grpSpPr>
        <p:sp>
          <p:nvSpPr>
            <p:cNvPr id="2557" name="Google Shape;2557;p109"/>
            <p:cNvSpPr/>
            <p:nvPr/>
          </p:nvSpPr>
          <p:spPr>
            <a:xfrm>
              <a:off x="8490517" y="2564563"/>
              <a:ext cx="23238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LLM</a:t>
              </a:r>
              <a:endParaRPr b="1" sz="1100">
                <a:latin typeface="DM Sans"/>
                <a:ea typeface="DM Sans"/>
                <a:cs typeface="DM Sans"/>
                <a:sym typeface="DM Sans"/>
              </a:endParaRPr>
            </a:p>
          </p:txBody>
        </p:sp>
        <p:pic>
          <p:nvPicPr>
            <p:cNvPr id="2573" name="Google Shape;2573;p109"/>
            <p:cNvPicPr preferRelativeResize="0"/>
            <p:nvPr/>
          </p:nvPicPr>
          <p:blipFill rotWithShape="1">
            <a:blip r:embed="rId6">
              <a:alphaModFix/>
            </a:blip>
            <a:srcRect b="0" l="0" r="0" t="0"/>
            <a:stretch/>
          </p:blipFill>
          <p:spPr>
            <a:xfrm>
              <a:off x="8690363" y="2773972"/>
              <a:ext cx="415513" cy="415501"/>
            </a:xfrm>
            <a:prstGeom prst="rect">
              <a:avLst/>
            </a:prstGeom>
            <a:noFill/>
            <a:ln>
              <a:noFill/>
            </a:ln>
          </p:spPr>
        </p:pic>
      </p:grpSp>
      <p:grpSp>
        <p:nvGrpSpPr>
          <p:cNvPr id="2574" name="Google Shape;2574;p109"/>
          <p:cNvGrpSpPr/>
          <p:nvPr/>
        </p:nvGrpSpPr>
        <p:grpSpPr>
          <a:xfrm>
            <a:off x="7869600" y="1145888"/>
            <a:ext cx="2227362" cy="796339"/>
            <a:chOff x="2471305" y="2564586"/>
            <a:chExt cx="2323800" cy="834300"/>
          </a:xfrm>
        </p:grpSpPr>
        <p:sp>
          <p:nvSpPr>
            <p:cNvPr id="2555" name="Google Shape;2555;p109"/>
            <p:cNvSpPr/>
            <p:nvPr/>
          </p:nvSpPr>
          <p:spPr>
            <a:xfrm>
              <a:off x="2471305" y="2564586"/>
              <a:ext cx="23238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Embedding model</a:t>
              </a:r>
              <a:endParaRPr b="1" sz="1100">
                <a:latin typeface="DM Sans"/>
                <a:ea typeface="DM Sans"/>
                <a:cs typeface="DM Sans"/>
                <a:sym typeface="DM Sans"/>
              </a:endParaRPr>
            </a:p>
          </p:txBody>
        </p:sp>
        <p:pic>
          <p:nvPicPr>
            <p:cNvPr id="2575" name="Google Shape;2575;p109"/>
            <p:cNvPicPr preferRelativeResize="0"/>
            <p:nvPr/>
          </p:nvPicPr>
          <p:blipFill rotWithShape="1">
            <a:blip r:embed="rId6">
              <a:alphaModFix/>
            </a:blip>
            <a:srcRect b="0" l="0" r="0" t="0"/>
            <a:stretch/>
          </p:blipFill>
          <p:spPr>
            <a:xfrm>
              <a:off x="2700934" y="2720529"/>
              <a:ext cx="413459" cy="413465"/>
            </a:xfrm>
            <a:prstGeom prst="rect">
              <a:avLst/>
            </a:prstGeom>
            <a:noFill/>
            <a:ln>
              <a:noFill/>
            </a:ln>
          </p:spPr>
        </p:pic>
      </p:grpSp>
      <p:sp>
        <p:nvSpPr>
          <p:cNvPr id="2576" name="Google Shape;2576;p109"/>
          <p:cNvSpPr/>
          <p:nvPr/>
        </p:nvSpPr>
        <p:spPr>
          <a:xfrm>
            <a:off x="4610449" y="2466925"/>
            <a:ext cx="2285400" cy="79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Vector database</a:t>
            </a:r>
            <a:endParaRPr b="1" sz="1100">
              <a:latin typeface="DM Sans"/>
              <a:ea typeface="DM Sans"/>
              <a:cs typeface="DM Sans"/>
              <a:sym typeface="DM Sans"/>
            </a:endParaRPr>
          </a:p>
        </p:txBody>
      </p:sp>
      <p:pic>
        <p:nvPicPr>
          <p:cNvPr id="2577" name="Google Shape;2577;p109"/>
          <p:cNvPicPr preferRelativeResize="0"/>
          <p:nvPr/>
        </p:nvPicPr>
        <p:blipFill rotWithShape="1">
          <a:blip r:embed="rId7">
            <a:alphaModFix/>
          </a:blip>
          <a:srcRect b="0" l="0" r="0" t="0"/>
          <a:stretch/>
        </p:blipFill>
        <p:spPr>
          <a:xfrm>
            <a:off x="6249050" y="2526575"/>
            <a:ext cx="519650" cy="538799"/>
          </a:xfrm>
          <a:prstGeom prst="rect">
            <a:avLst/>
          </a:prstGeom>
          <a:noFill/>
          <a:ln>
            <a:noFill/>
          </a:ln>
        </p:spPr>
      </p:pic>
      <p:cxnSp>
        <p:nvCxnSpPr>
          <p:cNvPr id="2578" name="Google Shape;2578;p109"/>
          <p:cNvCxnSpPr>
            <a:endCxn id="2579" idx="3"/>
          </p:cNvCxnSpPr>
          <p:nvPr/>
        </p:nvCxnSpPr>
        <p:spPr>
          <a:xfrm rot="10800000">
            <a:off x="6743624" y="6349226"/>
            <a:ext cx="1778100" cy="0"/>
          </a:xfrm>
          <a:prstGeom prst="straightConnector1">
            <a:avLst/>
          </a:prstGeom>
          <a:noFill/>
          <a:ln cap="flat" cmpd="sng" w="19050">
            <a:solidFill>
              <a:srgbClr val="618794"/>
            </a:solidFill>
            <a:prstDash val="dash"/>
            <a:round/>
            <a:headEnd len="med" w="med" type="none"/>
            <a:tailEnd len="med" w="med" type="triangle"/>
          </a:ln>
        </p:spPr>
      </p:cxnSp>
      <p:grpSp>
        <p:nvGrpSpPr>
          <p:cNvPr id="2580" name="Google Shape;2580;p109"/>
          <p:cNvGrpSpPr/>
          <p:nvPr/>
        </p:nvGrpSpPr>
        <p:grpSpPr>
          <a:xfrm>
            <a:off x="5654097" y="5951056"/>
            <a:ext cx="1089527" cy="796339"/>
            <a:chOff x="579727" y="3932083"/>
            <a:chExt cx="1136700" cy="834300"/>
          </a:xfrm>
        </p:grpSpPr>
        <p:sp>
          <p:nvSpPr>
            <p:cNvPr id="2579" name="Google Shape;2579;p109"/>
            <p:cNvSpPr/>
            <p:nvPr/>
          </p:nvSpPr>
          <p:spPr>
            <a:xfrm>
              <a:off x="579727" y="3932083"/>
              <a:ext cx="11367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User</a:t>
              </a:r>
              <a:endParaRPr b="1" sz="1100">
                <a:latin typeface="DM Sans"/>
                <a:ea typeface="DM Sans"/>
                <a:cs typeface="DM Sans"/>
                <a:sym typeface="DM Sans"/>
              </a:endParaRPr>
            </a:p>
          </p:txBody>
        </p:sp>
        <p:pic>
          <p:nvPicPr>
            <p:cNvPr id="2581" name="Google Shape;2581;p109"/>
            <p:cNvPicPr preferRelativeResize="0"/>
            <p:nvPr/>
          </p:nvPicPr>
          <p:blipFill rotWithShape="1">
            <a:blip r:embed="rId3">
              <a:alphaModFix/>
            </a:blip>
            <a:srcRect b="0" l="0" r="0" t="0"/>
            <a:stretch/>
          </p:blipFill>
          <p:spPr>
            <a:xfrm>
              <a:off x="902076" y="4036810"/>
              <a:ext cx="492600" cy="492766"/>
            </a:xfrm>
            <a:prstGeom prst="rect">
              <a:avLst/>
            </a:prstGeom>
            <a:noFill/>
            <a:ln>
              <a:noFill/>
            </a:ln>
          </p:spPr>
        </p:pic>
      </p:grpSp>
      <p:sp>
        <p:nvSpPr>
          <p:cNvPr id="2582" name="Google Shape;2582;p109"/>
          <p:cNvSpPr txBox="1"/>
          <p:nvPr/>
        </p:nvSpPr>
        <p:spPr>
          <a:xfrm>
            <a:off x="6862807" y="5999850"/>
            <a:ext cx="8877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Response</a:t>
            </a:r>
            <a:endParaRPr sz="1000">
              <a:solidFill>
                <a:srgbClr val="595959"/>
              </a:solidFill>
              <a:latin typeface="DM Sans Medium"/>
              <a:ea typeface="DM Sans Medium"/>
              <a:cs typeface="DM Sans Medium"/>
              <a:sym typeface="DM Sans Medium"/>
            </a:endParaRPr>
          </a:p>
        </p:txBody>
      </p:sp>
      <p:sp>
        <p:nvSpPr>
          <p:cNvPr id="2583" name="Google Shape;2583;p109"/>
          <p:cNvSpPr/>
          <p:nvPr/>
        </p:nvSpPr>
        <p:spPr>
          <a:xfrm>
            <a:off x="4758450" y="2606825"/>
            <a:ext cx="1278300" cy="30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Vector Search</a:t>
            </a:r>
            <a:endParaRPr sz="1200">
              <a:latin typeface="DM Sans"/>
              <a:ea typeface="DM Sans"/>
              <a:cs typeface="DM Sans"/>
              <a:sym typeface="DM Sans"/>
            </a:endParaRPr>
          </a:p>
        </p:txBody>
      </p:sp>
      <p:sp>
        <p:nvSpPr>
          <p:cNvPr id="2584" name="Google Shape;2584;p109"/>
          <p:cNvSpPr/>
          <p:nvPr/>
        </p:nvSpPr>
        <p:spPr>
          <a:xfrm>
            <a:off x="8675188" y="4926763"/>
            <a:ext cx="1278300" cy="30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 Serving</a:t>
            </a:r>
            <a:endParaRPr sz="1200">
              <a:latin typeface="DM Sans"/>
              <a:ea typeface="DM Sans"/>
              <a:cs typeface="DM Sans"/>
              <a:sym typeface="DM Sans"/>
            </a:endParaRPr>
          </a:p>
        </p:txBody>
      </p:sp>
      <p:sp>
        <p:nvSpPr>
          <p:cNvPr id="2585" name="Google Shape;2585;p109"/>
          <p:cNvSpPr/>
          <p:nvPr/>
        </p:nvSpPr>
        <p:spPr>
          <a:xfrm>
            <a:off x="8675188" y="1311475"/>
            <a:ext cx="1278300" cy="30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 Serving</a:t>
            </a:r>
            <a:endParaRPr sz="1200">
              <a:latin typeface="DM Sans"/>
              <a:ea typeface="DM Sans"/>
              <a:cs typeface="DM Sans"/>
              <a:sym typeface="DM Sans"/>
            </a:endParaRPr>
          </a:p>
        </p:txBody>
      </p:sp>
      <p:sp>
        <p:nvSpPr>
          <p:cNvPr id="2586" name="Google Shape;2586;p109"/>
          <p:cNvSpPr/>
          <p:nvPr/>
        </p:nvSpPr>
        <p:spPr>
          <a:xfrm>
            <a:off x="8675188" y="52440"/>
            <a:ext cx="1278300" cy="386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Orchestration framework</a:t>
            </a:r>
            <a:endParaRPr sz="1200">
              <a:latin typeface="DM Sans"/>
              <a:ea typeface="DM Sans"/>
              <a:cs typeface="DM Sans"/>
              <a:sym typeface="DM Sans"/>
            </a:endParaRPr>
          </a:p>
        </p:txBody>
      </p:sp>
      <p:sp>
        <p:nvSpPr>
          <p:cNvPr id="2587" name="Google Shape;2587;p109"/>
          <p:cNvSpPr/>
          <p:nvPr/>
        </p:nvSpPr>
        <p:spPr>
          <a:xfrm>
            <a:off x="7869675" y="5951063"/>
            <a:ext cx="2227500" cy="796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Application</a:t>
            </a:r>
            <a:endParaRPr b="1" sz="1100">
              <a:latin typeface="DM Sans"/>
              <a:ea typeface="DM Sans"/>
              <a:cs typeface="DM Sans"/>
              <a:sym typeface="DM Sans"/>
            </a:endParaRPr>
          </a:p>
        </p:txBody>
      </p:sp>
      <p:pic>
        <p:nvPicPr>
          <p:cNvPr id="2588" name="Google Shape;2588;p109"/>
          <p:cNvPicPr preferRelativeResize="0"/>
          <p:nvPr/>
        </p:nvPicPr>
        <p:blipFill rotWithShape="1">
          <a:blip r:embed="rId4">
            <a:alphaModFix/>
          </a:blip>
          <a:srcRect b="0" l="0" r="0" t="0"/>
          <a:stretch/>
        </p:blipFill>
        <p:spPr>
          <a:xfrm>
            <a:off x="8049599" y="6084743"/>
            <a:ext cx="472159" cy="470185"/>
          </a:xfrm>
          <a:prstGeom prst="rect">
            <a:avLst/>
          </a:prstGeom>
          <a:noFill/>
          <a:ln>
            <a:noFill/>
          </a:ln>
        </p:spPr>
      </p:pic>
      <p:sp>
        <p:nvSpPr>
          <p:cNvPr id="2589" name="Google Shape;2589;p109"/>
          <p:cNvSpPr/>
          <p:nvPr/>
        </p:nvSpPr>
        <p:spPr>
          <a:xfrm>
            <a:off x="8675188" y="6090553"/>
            <a:ext cx="1278300" cy="386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Orchestration framework</a:t>
            </a:r>
            <a:endParaRPr sz="1200">
              <a:latin typeface="DM Sans"/>
              <a:ea typeface="DM Sans"/>
              <a:cs typeface="DM Sans"/>
              <a:sym typeface="DM Sans"/>
            </a:endParaRPr>
          </a:p>
        </p:txBody>
      </p:sp>
      <p:sp>
        <p:nvSpPr>
          <p:cNvPr id="2590" name="Google Shape;2590;p109"/>
          <p:cNvSpPr/>
          <p:nvPr/>
        </p:nvSpPr>
        <p:spPr>
          <a:xfrm>
            <a:off x="8675188" y="2568415"/>
            <a:ext cx="1278300" cy="386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Orchestration framework</a:t>
            </a:r>
            <a:endParaRPr sz="1200">
              <a:latin typeface="DM Sans"/>
              <a:ea typeface="DM Sans"/>
              <a:cs typeface="DM Sans"/>
              <a:sym typeface="DM Sans"/>
            </a:endParaRPr>
          </a:p>
        </p:txBody>
      </p:sp>
      <p:grpSp>
        <p:nvGrpSpPr>
          <p:cNvPr id="2591" name="Google Shape;2591;p109"/>
          <p:cNvGrpSpPr/>
          <p:nvPr/>
        </p:nvGrpSpPr>
        <p:grpSpPr>
          <a:xfrm>
            <a:off x="5523737" y="-722087"/>
            <a:ext cx="2327138" cy="342300"/>
            <a:chOff x="9222012" y="7092438"/>
            <a:chExt cx="2327138" cy="342300"/>
          </a:xfrm>
        </p:grpSpPr>
        <p:pic>
          <p:nvPicPr>
            <p:cNvPr id="2592" name="Google Shape;2592;p109"/>
            <p:cNvPicPr preferRelativeResize="0"/>
            <p:nvPr/>
          </p:nvPicPr>
          <p:blipFill>
            <a:blip r:embed="rId8">
              <a:alphaModFix/>
            </a:blip>
            <a:stretch>
              <a:fillRect/>
            </a:stretch>
          </p:blipFill>
          <p:spPr>
            <a:xfrm>
              <a:off x="9222012" y="7121698"/>
              <a:ext cx="251450" cy="283777"/>
            </a:xfrm>
            <a:prstGeom prst="rect">
              <a:avLst/>
            </a:prstGeom>
            <a:noFill/>
            <a:ln>
              <a:noFill/>
            </a:ln>
          </p:spPr>
        </p:pic>
        <p:sp>
          <p:nvSpPr>
            <p:cNvPr id="2593" name="Google Shape;2593;p109"/>
            <p:cNvSpPr txBox="1"/>
            <p:nvPr/>
          </p:nvSpPr>
          <p:spPr>
            <a:xfrm>
              <a:off x="9469850" y="7092438"/>
              <a:ext cx="2079300" cy="3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RAG application</a:t>
              </a:r>
              <a:endParaRPr sz="1200">
                <a:solidFill>
                  <a:srgbClr val="1B5162"/>
                </a:solidFill>
                <a:latin typeface="DM Sans Medium"/>
                <a:ea typeface="DM Sans Medium"/>
                <a:cs typeface="DM Sans Medium"/>
                <a:sym typeface="DM Sans Medium"/>
              </a:endParaRPr>
            </a:p>
          </p:txBody>
        </p:sp>
      </p:grpSp>
      <p:sp>
        <p:nvSpPr>
          <p:cNvPr id="2594" name="Google Shape;2594;p109"/>
          <p:cNvSpPr txBox="1"/>
          <p:nvPr/>
        </p:nvSpPr>
        <p:spPr>
          <a:xfrm>
            <a:off x="10417400" y="1258310"/>
            <a:ext cx="167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Query embedding</a:t>
            </a:r>
            <a:endParaRPr b="1">
              <a:solidFill>
                <a:srgbClr val="00A972"/>
              </a:solidFill>
              <a:latin typeface="DM Sans"/>
              <a:ea typeface="DM Sans"/>
              <a:cs typeface="DM Sans"/>
              <a:sym typeface="DM Sans"/>
            </a:endParaRPr>
          </a:p>
        </p:txBody>
      </p:sp>
      <p:sp>
        <p:nvSpPr>
          <p:cNvPr id="2595" name="Google Shape;2595;p109"/>
          <p:cNvSpPr txBox="1"/>
          <p:nvPr/>
        </p:nvSpPr>
        <p:spPr>
          <a:xfrm>
            <a:off x="10216350" y="89250"/>
            <a:ext cx="35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1.</a:t>
            </a:r>
            <a:endParaRPr b="1">
              <a:solidFill>
                <a:srgbClr val="00A972"/>
              </a:solidFill>
              <a:latin typeface="DM Sans"/>
              <a:ea typeface="DM Sans"/>
              <a:cs typeface="DM Sans"/>
              <a:sym typeface="DM Sans"/>
            </a:endParaRPr>
          </a:p>
        </p:txBody>
      </p:sp>
      <p:sp>
        <p:nvSpPr>
          <p:cNvPr id="2596" name="Google Shape;2596;p109"/>
          <p:cNvSpPr txBox="1"/>
          <p:nvPr/>
        </p:nvSpPr>
        <p:spPr>
          <a:xfrm>
            <a:off x="10417400" y="3610"/>
            <a:ext cx="167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Query preprocessing</a:t>
            </a:r>
            <a:endParaRPr b="1">
              <a:solidFill>
                <a:srgbClr val="00A972"/>
              </a:solidFill>
              <a:latin typeface="DM Sans"/>
              <a:ea typeface="DM Sans"/>
              <a:cs typeface="DM Sans"/>
              <a:sym typeface="DM Sans"/>
            </a:endParaRPr>
          </a:p>
        </p:txBody>
      </p:sp>
      <p:sp>
        <p:nvSpPr>
          <p:cNvPr id="2597" name="Google Shape;2597;p109"/>
          <p:cNvSpPr txBox="1"/>
          <p:nvPr/>
        </p:nvSpPr>
        <p:spPr>
          <a:xfrm>
            <a:off x="10216350" y="6127163"/>
            <a:ext cx="35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6.</a:t>
            </a:r>
            <a:endParaRPr b="1">
              <a:solidFill>
                <a:srgbClr val="00A972"/>
              </a:solidFill>
              <a:latin typeface="DM Sans"/>
              <a:ea typeface="DM Sans"/>
              <a:cs typeface="DM Sans"/>
              <a:sym typeface="DM Sans"/>
            </a:endParaRPr>
          </a:p>
        </p:txBody>
      </p:sp>
      <p:sp>
        <p:nvSpPr>
          <p:cNvPr id="2598" name="Google Shape;2598;p109"/>
          <p:cNvSpPr txBox="1"/>
          <p:nvPr/>
        </p:nvSpPr>
        <p:spPr>
          <a:xfrm>
            <a:off x="10445025" y="6041513"/>
            <a:ext cx="1474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Post processing</a:t>
            </a:r>
            <a:endParaRPr b="1">
              <a:solidFill>
                <a:srgbClr val="00A972"/>
              </a:solidFill>
              <a:latin typeface="DM Sans"/>
              <a:ea typeface="DM Sans"/>
              <a:cs typeface="DM Sans"/>
              <a:sym typeface="DM Sans"/>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2" name="Shape 2602"/>
        <p:cNvGrpSpPr/>
        <p:nvPr/>
      </p:nvGrpSpPr>
      <p:grpSpPr>
        <a:xfrm>
          <a:off x="0" y="0"/>
          <a:ext cx="0" cy="0"/>
          <a:chOff x="0" y="0"/>
          <a:chExt cx="0" cy="0"/>
        </a:xfrm>
      </p:grpSpPr>
      <p:sp>
        <p:nvSpPr>
          <p:cNvPr id="2603" name="Google Shape;2603;p110"/>
          <p:cNvSpPr txBox="1"/>
          <p:nvPr>
            <p:ph idx="12" type="sldNum"/>
          </p:nvPr>
        </p:nvSpPr>
        <p:spPr>
          <a:xfrm>
            <a:off x="110214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604" name="Google Shape;2604;p110"/>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RAG indexing pipeline  /_static/images/generative-ai/rag-data-pipeline.png</a:t>
            </a:r>
            <a:endParaRPr sz="200"/>
          </a:p>
        </p:txBody>
      </p:sp>
      <p:sp>
        <p:nvSpPr>
          <p:cNvPr id="2605" name="Google Shape;2605;p110"/>
          <p:cNvSpPr/>
          <p:nvPr/>
        </p:nvSpPr>
        <p:spPr>
          <a:xfrm>
            <a:off x="9765225" y="1041450"/>
            <a:ext cx="1860300" cy="53142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606" name="Google Shape;2606;p110"/>
          <p:cNvCxnSpPr>
            <a:stCxn id="2607" idx="2"/>
            <a:endCxn id="2608" idx="0"/>
          </p:cNvCxnSpPr>
          <p:nvPr/>
        </p:nvCxnSpPr>
        <p:spPr>
          <a:xfrm>
            <a:off x="10695369" y="2169775"/>
            <a:ext cx="0" cy="203400"/>
          </a:xfrm>
          <a:prstGeom prst="straightConnector1">
            <a:avLst/>
          </a:prstGeom>
          <a:noFill/>
          <a:ln cap="flat" cmpd="sng" w="19050">
            <a:solidFill>
              <a:srgbClr val="618794"/>
            </a:solidFill>
            <a:prstDash val="solid"/>
            <a:round/>
            <a:headEnd len="med" w="med" type="none"/>
            <a:tailEnd len="med" w="med" type="triangle"/>
          </a:ln>
        </p:spPr>
      </p:cxnSp>
      <p:sp>
        <p:nvSpPr>
          <p:cNvPr id="2607" name="Google Shape;2607;p110"/>
          <p:cNvSpPr/>
          <p:nvPr/>
        </p:nvSpPr>
        <p:spPr>
          <a:xfrm>
            <a:off x="10150569" y="1616875"/>
            <a:ext cx="1089600" cy="5529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lang="en" sz="1100">
                <a:solidFill>
                  <a:srgbClr val="434343"/>
                </a:solidFill>
                <a:latin typeface="DM Sans Medium"/>
                <a:ea typeface="DM Sans Medium"/>
                <a:cs typeface="DM Sans Medium"/>
                <a:sym typeface="DM Sans Medium"/>
              </a:rPr>
              <a:t>Query submission</a:t>
            </a:r>
            <a:endParaRPr sz="1100">
              <a:solidFill>
                <a:srgbClr val="434343"/>
              </a:solidFill>
              <a:latin typeface="DM Sans Medium"/>
              <a:ea typeface="DM Sans Medium"/>
              <a:cs typeface="DM Sans Medium"/>
              <a:sym typeface="DM Sans Medium"/>
            </a:endParaRPr>
          </a:p>
        </p:txBody>
      </p:sp>
      <p:sp>
        <p:nvSpPr>
          <p:cNvPr id="2608" name="Google Shape;2608;p110"/>
          <p:cNvSpPr/>
          <p:nvPr/>
        </p:nvSpPr>
        <p:spPr>
          <a:xfrm>
            <a:off x="10150569" y="2373085"/>
            <a:ext cx="1089600" cy="5529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lang="en" sz="1100">
                <a:solidFill>
                  <a:srgbClr val="434343"/>
                </a:solidFill>
                <a:latin typeface="DM Sans Medium"/>
                <a:ea typeface="DM Sans Medium"/>
                <a:cs typeface="DM Sans Medium"/>
                <a:sym typeface="DM Sans Medium"/>
              </a:rPr>
              <a:t>Query embedding</a:t>
            </a:r>
            <a:endParaRPr sz="1100">
              <a:solidFill>
                <a:srgbClr val="434343"/>
              </a:solidFill>
              <a:latin typeface="DM Sans Medium"/>
              <a:ea typeface="DM Sans Medium"/>
              <a:cs typeface="DM Sans Medium"/>
              <a:sym typeface="DM Sans Medium"/>
            </a:endParaRPr>
          </a:p>
        </p:txBody>
      </p:sp>
      <p:sp>
        <p:nvSpPr>
          <p:cNvPr id="2609" name="Google Shape;2609;p110"/>
          <p:cNvSpPr/>
          <p:nvPr/>
        </p:nvSpPr>
        <p:spPr>
          <a:xfrm>
            <a:off x="10150569" y="3129295"/>
            <a:ext cx="1089600" cy="5529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Retrieval phase</a:t>
            </a:r>
            <a:endParaRPr b="1" sz="1100">
              <a:latin typeface="DM Sans"/>
              <a:ea typeface="DM Sans"/>
              <a:cs typeface="DM Sans"/>
              <a:sym typeface="DM Sans"/>
            </a:endParaRPr>
          </a:p>
        </p:txBody>
      </p:sp>
      <p:sp>
        <p:nvSpPr>
          <p:cNvPr id="2610" name="Google Shape;2610;p110"/>
          <p:cNvSpPr/>
          <p:nvPr/>
        </p:nvSpPr>
        <p:spPr>
          <a:xfrm>
            <a:off x="10150569" y="3885505"/>
            <a:ext cx="1089600" cy="5529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lang="en" sz="1100">
                <a:solidFill>
                  <a:srgbClr val="434343"/>
                </a:solidFill>
                <a:latin typeface="DM Sans Medium"/>
                <a:ea typeface="DM Sans Medium"/>
                <a:cs typeface="DM Sans Medium"/>
                <a:sym typeface="DM Sans Medium"/>
              </a:rPr>
              <a:t>Augmentation</a:t>
            </a:r>
            <a:endParaRPr sz="1100">
              <a:solidFill>
                <a:srgbClr val="434343"/>
              </a:solidFill>
              <a:latin typeface="DM Sans Medium"/>
              <a:ea typeface="DM Sans Medium"/>
              <a:cs typeface="DM Sans Medium"/>
              <a:sym typeface="DM Sans Medium"/>
            </a:endParaRPr>
          </a:p>
        </p:txBody>
      </p:sp>
      <p:sp>
        <p:nvSpPr>
          <p:cNvPr id="2611" name="Google Shape;2611;p110"/>
          <p:cNvSpPr/>
          <p:nvPr/>
        </p:nvSpPr>
        <p:spPr>
          <a:xfrm>
            <a:off x="10150569" y="4641715"/>
            <a:ext cx="1089600" cy="5529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lang="en" sz="1100">
                <a:solidFill>
                  <a:srgbClr val="434343"/>
                </a:solidFill>
                <a:latin typeface="DM Sans Medium"/>
                <a:ea typeface="DM Sans Medium"/>
                <a:cs typeface="DM Sans Medium"/>
                <a:sym typeface="DM Sans Medium"/>
              </a:rPr>
              <a:t>Generation</a:t>
            </a:r>
            <a:endParaRPr sz="1100">
              <a:solidFill>
                <a:srgbClr val="434343"/>
              </a:solidFill>
              <a:latin typeface="DM Sans Medium"/>
              <a:ea typeface="DM Sans Medium"/>
              <a:cs typeface="DM Sans Medium"/>
              <a:sym typeface="DM Sans Medium"/>
            </a:endParaRPr>
          </a:p>
        </p:txBody>
      </p:sp>
      <p:sp>
        <p:nvSpPr>
          <p:cNvPr id="2612" name="Google Shape;2612;p110"/>
          <p:cNvSpPr/>
          <p:nvPr/>
        </p:nvSpPr>
        <p:spPr>
          <a:xfrm>
            <a:off x="10150569" y="5397925"/>
            <a:ext cx="1089600" cy="5529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lang="en" sz="1100">
                <a:solidFill>
                  <a:srgbClr val="434343"/>
                </a:solidFill>
                <a:latin typeface="DM Sans Medium"/>
                <a:ea typeface="DM Sans Medium"/>
                <a:cs typeface="DM Sans Medium"/>
                <a:sym typeface="DM Sans Medium"/>
              </a:rPr>
              <a:t>Response handling</a:t>
            </a:r>
            <a:endParaRPr sz="1100">
              <a:solidFill>
                <a:srgbClr val="434343"/>
              </a:solidFill>
              <a:latin typeface="DM Sans Medium"/>
              <a:ea typeface="DM Sans Medium"/>
              <a:cs typeface="DM Sans Medium"/>
              <a:sym typeface="DM Sans Medium"/>
            </a:endParaRPr>
          </a:p>
        </p:txBody>
      </p:sp>
      <p:cxnSp>
        <p:nvCxnSpPr>
          <p:cNvPr id="2613" name="Google Shape;2613;p110"/>
          <p:cNvCxnSpPr>
            <a:stCxn id="2608" idx="2"/>
            <a:endCxn id="2609" idx="0"/>
          </p:cNvCxnSpPr>
          <p:nvPr/>
        </p:nvCxnSpPr>
        <p:spPr>
          <a:xfrm>
            <a:off x="10695369" y="2925985"/>
            <a:ext cx="0" cy="203400"/>
          </a:xfrm>
          <a:prstGeom prst="straightConnector1">
            <a:avLst/>
          </a:prstGeom>
          <a:noFill/>
          <a:ln cap="flat" cmpd="sng" w="19050">
            <a:solidFill>
              <a:srgbClr val="618794"/>
            </a:solidFill>
            <a:prstDash val="solid"/>
            <a:round/>
            <a:headEnd len="med" w="med" type="none"/>
            <a:tailEnd len="med" w="med" type="triangle"/>
          </a:ln>
        </p:spPr>
      </p:cxnSp>
      <p:cxnSp>
        <p:nvCxnSpPr>
          <p:cNvPr id="2614" name="Google Shape;2614;p110"/>
          <p:cNvCxnSpPr>
            <a:stCxn id="2609" idx="2"/>
            <a:endCxn id="2610" idx="0"/>
          </p:cNvCxnSpPr>
          <p:nvPr/>
        </p:nvCxnSpPr>
        <p:spPr>
          <a:xfrm>
            <a:off x="10695369" y="3682195"/>
            <a:ext cx="0" cy="203400"/>
          </a:xfrm>
          <a:prstGeom prst="straightConnector1">
            <a:avLst/>
          </a:prstGeom>
          <a:noFill/>
          <a:ln cap="flat" cmpd="sng" w="19050">
            <a:solidFill>
              <a:srgbClr val="618794"/>
            </a:solidFill>
            <a:prstDash val="solid"/>
            <a:round/>
            <a:headEnd len="med" w="med" type="none"/>
            <a:tailEnd len="med" w="med" type="triangle"/>
          </a:ln>
        </p:spPr>
      </p:cxnSp>
      <p:cxnSp>
        <p:nvCxnSpPr>
          <p:cNvPr id="2615" name="Google Shape;2615;p110"/>
          <p:cNvCxnSpPr>
            <a:stCxn id="2610" idx="2"/>
            <a:endCxn id="2611" idx="0"/>
          </p:cNvCxnSpPr>
          <p:nvPr/>
        </p:nvCxnSpPr>
        <p:spPr>
          <a:xfrm>
            <a:off x="10695369" y="4438405"/>
            <a:ext cx="0" cy="203400"/>
          </a:xfrm>
          <a:prstGeom prst="straightConnector1">
            <a:avLst/>
          </a:prstGeom>
          <a:noFill/>
          <a:ln cap="flat" cmpd="sng" w="19050">
            <a:solidFill>
              <a:srgbClr val="618794"/>
            </a:solidFill>
            <a:prstDash val="solid"/>
            <a:round/>
            <a:headEnd len="med" w="med" type="none"/>
            <a:tailEnd len="med" w="med" type="triangle"/>
          </a:ln>
        </p:spPr>
      </p:cxnSp>
      <p:cxnSp>
        <p:nvCxnSpPr>
          <p:cNvPr id="2616" name="Google Shape;2616;p110"/>
          <p:cNvCxnSpPr>
            <a:stCxn id="2611" idx="2"/>
            <a:endCxn id="2612" idx="0"/>
          </p:cNvCxnSpPr>
          <p:nvPr/>
        </p:nvCxnSpPr>
        <p:spPr>
          <a:xfrm>
            <a:off x="10695369" y="5194615"/>
            <a:ext cx="0" cy="203400"/>
          </a:xfrm>
          <a:prstGeom prst="straightConnector1">
            <a:avLst/>
          </a:prstGeom>
          <a:noFill/>
          <a:ln cap="flat" cmpd="sng" w="19050">
            <a:solidFill>
              <a:srgbClr val="618794"/>
            </a:solidFill>
            <a:prstDash val="solid"/>
            <a:round/>
            <a:headEnd len="med" w="med" type="none"/>
            <a:tailEnd len="med" w="med" type="triangle"/>
          </a:ln>
        </p:spPr>
      </p:cxnSp>
      <p:sp>
        <p:nvSpPr>
          <p:cNvPr id="2617" name="Google Shape;2617;p110"/>
          <p:cNvSpPr txBox="1"/>
          <p:nvPr/>
        </p:nvSpPr>
        <p:spPr>
          <a:xfrm>
            <a:off x="9958325" y="1101450"/>
            <a:ext cx="1437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RAG chain</a:t>
            </a:r>
            <a:endParaRPr b="1">
              <a:solidFill>
                <a:srgbClr val="00A972"/>
              </a:solidFill>
              <a:latin typeface="DM Sans"/>
              <a:ea typeface="DM Sans"/>
              <a:cs typeface="DM Sans"/>
              <a:sym typeface="DM Sans"/>
            </a:endParaRPr>
          </a:p>
        </p:txBody>
      </p:sp>
      <p:sp>
        <p:nvSpPr>
          <p:cNvPr id="2618" name="Google Shape;2618;p110"/>
          <p:cNvSpPr/>
          <p:nvPr/>
        </p:nvSpPr>
        <p:spPr>
          <a:xfrm>
            <a:off x="281750" y="1840050"/>
            <a:ext cx="8810400" cy="31266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619" name="Google Shape;2619;p110"/>
          <p:cNvSpPr txBox="1"/>
          <p:nvPr/>
        </p:nvSpPr>
        <p:spPr>
          <a:xfrm>
            <a:off x="9133638" y="2757800"/>
            <a:ext cx="590100" cy="4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Vector </a:t>
            </a:r>
            <a:endParaRPr sz="1000">
              <a:solidFill>
                <a:srgbClr val="595959"/>
              </a:solidFill>
              <a:latin typeface="DM Sans Medium"/>
              <a:ea typeface="DM Sans Medium"/>
              <a:cs typeface="DM Sans Medium"/>
              <a:sym typeface="DM Sans Medium"/>
            </a:endParaRPr>
          </a:p>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search</a:t>
            </a:r>
            <a:endParaRPr sz="1000">
              <a:solidFill>
                <a:srgbClr val="595959"/>
              </a:solidFill>
              <a:latin typeface="DM Sans Medium"/>
              <a:ea typeface="DM Sans Medium"/>
              <a:cs typeface="DM Sans Medium"/>
              <a:sym typeface="DM Sans Medium"/>
            </a:endParaRPr>
          </a:p>
        </p:txBody>
      </p:sp>
      <p:cxnSp>
        <p:nvCxnSpPr>
          <p:cNvPr id="2620" name="Google Shape;2620;p110"/>
          <p:cNvCxnSpPr/>
          <p:nvPr/>
        </p:nvCxnSpPr>
        <p:spPr>
          <a:xfrm>
            <a:off x="8824000" y="3534450"/>
            <a:ext cx="1278300" cy="0"/>
          </a:xfrm>
          <a:prstGeom prst="straightConnector1">
            <a:avLst/>
          </a:prstGeom>
          <a:noFill/>
          <a:ln cap="flat" cmpd="sng" w="19050">
            <a:solidFill>
              <a:srgbClr val="618794"/>
            </a:solidFill>
            <a:prstDash val="dash"/>
            <a:round/>
            <a:headEnd len="med" w="med" type="none"/>
            <a:tailEnd len="med" w="med" type="triangle"/>
          </a:ln>
        </p:spPr>
      </p:cxnSp>
      <p:cxnSp>
        <p:nvCxnSpPr>
          <p:cNvPr id="2621" name="Google Shape;2621;p110"/>
          <p:cNvCxnSpPr/>
          <p:nvPr/>
        </p:nvCxnSpPr>
        <p:spPr>
          <a:xfrm rot="10800000">
            <a:off x="8824100" y="3229675"/>
            <a:ext cx="1278300" cy="0"/>
          </a:xfrm>
          <a:prstGeom prst="straightConnector1">
            <a:avLst/>
          </a:prstGeom>
          <a:noFill/>
          <a:ln cap="flat" cmpd="sng" w="19050">
            <a:solidFill>
              <a:srgbClr val="618794"/>
            </a:solidFill>
            <a:prstDash val="dash"/>
            <a:round/>
            <a:headEnd len="med" w="med" type="none"/>
            <a:tailEnd len="med" w="med" type="triangle"/>
          </a:ln>
        </p:spPr>
      </p:cxnSp>
      <p:sp>
        <p:nvSpPr>
          <p:cNvPr id="2622" name="Google Shape;2622;p110"/>
          <p:cNvSpPr txBox="1"/>
          <p:nvPr/>
        </p:nvSpPr>
        <p:spPr>
          <a:xfrm>
            <a:off x="9070338" y="3535600"/>
            <a:ext cx="716700" cy="4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Relevant content</a:t>
            </a:r>
            <a:endParaRPr sz="1000">
              <a:solidFill>
                <a:srgbClr val="595959"/>
              </a:solidFill>
              <a:latin typeface="DM Sans Medium"/>
              <a:ea typeface="DM Sans Medium"/>
              <a:cs typeface="DM Sans Medium"/>
              <a:sym typeface="DM Sans Medium"/>
            </a:endParaRPr>
          </a:p>
        </p:txBody>
      </p:sp>
      <p:grpSp>
        <p:nvGrpSpPr>
          <p:cNvPr id="2623" name="Google Shape;2623;p110"/>
          <p:cNvGrpSpPr/>
          <p:nvPr/>
        </p:nvGrpSpPr>
        <p:grpSpPr>
          <a:xfrm>
            <a:off x="7734350" y="2169775"/>
            <a:ext cx="1089527" cy="2566835"/>
            <a:chOff x="4484537" y="4086974"/>
            <a:chExt cx="1136700" cy="1472400"/>
          </a:xfrm>
        </p:grpSpPr>
        <p:sp>
          <p:nvSpPr>
            <p:cNvPr id="2624" name="Google Shape;2624;p110"/>
            <p:cNvSpPr/>
            <p:nvPr/>
          </p:nvSpPr>
          <p:spPr>
            <a:xfrm>
              <a:off x="4484537" y="4086974"/>
              <a:ext cx="1136700" cy="14724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Vector database</a:t>
              </a:r>
              <a:endParaRPr b="1" sz="1100">
                <a:latin typeface="DM Sans"/>
                <a:ea typeface="DM Sans"/>
                <a:cs typeface="DM Sans"/>
                <a:sym typeface="DM Sans"/>
              </a:endParaRPr>
            </a:p>
          </p:txBody>
        </p:sp>
        <p:pic>
          <p:nvPicPr>
            <p:cNvPr id="2625" name="Google Shape;2625;p110"/>
            <p:cNvPicPr preferRelativeResize="0"/>
            <p:nvPr/>
          </p:nvPicPr>
          <p:blipFill rotWithShape="1">
            <a:blip r:embed="rId3">
              <a:alphaModFix/>
            </a:blip>
            <a:srcRect b="0" l="0" r="0" t="0"/>
            <a:stretch/>
          </p:blipFill>
          <p:spPr>
            <a:xfrm>
              <a:off x="4829999" y="4346877"/>
              <a:ext cx="488888" cy="307737"/>
            </a:xfrm>
            <a:prstGeom prst="rect">
              <a:avLst/>
            </a:prstGeom>
            <a:noFill/>
            <a:ln>
              <a:noFill/>
            </a:ln>
          </p:spPr>
        </p:pic>
      </p:grpSp>
      <p:sp>
        <p:nvSpPr>
          <p:cNvPr id="2626" name="Google Shape;2626;p110"/>
          <p:cNvSpPr txBox="1"/>
          <p:nvPr/>
        </p:nvSpPr>
        <p:spPr>
          <a:xfrm>
            <a:off x="385925" y="2126575"/>
            <a:ext cx="954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Data</a:t>
            </a:r>
            <a:endParaRPr b="1">
              <a:solidFill>
                <a:srgbClr val="00A972"/>
              </a:solidFill>
              <a:latin typeface="DM Sans"/>
              <a:ea typeface="DM Sans"/>
              <a:cs typeface="DM Sans"/>
              <a:sym typeface="DM Sans"/>
            </a:endParaRPr>
          </a:p>
          <a:p>
            <a:pPr indent="0" lvl="0" marL="0" rtl="0" algn="l">
              <a:spcBef>
                <a:spcPts val="0"/>
              </a:spcBef>
              <a:spcAft>
                <a:spcPts val="0"/>
              </a:spcAft>
              <a:buNone/>
            </a:pPr>
            <a:r>
              <a:rPr b="1" lang="en">
                <a:solidFill>
                  <a:srgbClr val="00A972"/>
                </a:solidFill>
                <a:latin typeface="DM Sans"/>
                <a:ea typeface="DM Sans"/>
                <a:cs typeface="DM Sans"/>
                <a:sym typeface="DM Sans"/>
              </a:rPr>
              <a:t>pipeline</a:t>
            </a:r>
            <a:endParaRPr b="1">
              <a:solidFill>
                <a:srgbClr val="00A972"/>
              </a:solidFill>
              <a:latin typeface="DM Sans"/>
              <a:ea typeface="DM Sans"/>
              <a:cs typeface="DM Sans"/>
              <a:sym typeface="DM Sans"/>
            </a:endParaRPr>
          </a:p>
        </p:txBody>
      </p:sp>
      <p:sp>
        <p:nvSpPr>
          <p:cNvPr id="2627" name="Google Shape;2627;p110"/>
          <p:cNvSpPr/>
          <p:nvPr/>
        </p:nvSpPr>
        <p:spPr>
          <a:xfrm>
            <a:off x="1489625" y="2169775"/>
            <a:ext cx="1089600" cy="2566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Ingestion</a:t>
            </a:r>
            <a:endParaRPr b="1" sz="1100">
              <a:latin typeface="DM Sans"/>
              <a:ea typeface="DM Sans"/>
              <a:cs typeface="DM Sans"/>
              <a:sym typeface="DM Sans"/>
            </a:endParaRPr>
          </a:p>
        </p:txBody>
      </p:sp>
      <p:sp>
        <p:nvSpPr>
          <p:cNvPr id="2628" name="Google Shape;2628;p110"/>
          <p:cNvSpPr/>
          <p:nvPr/>
        </p:nvSpPr>
        <p:spPr>
          <a:xfrm>
            <a:off x="3047925" y="2169775"/>
            <a:ext cx="1089600" cy="2566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Document processing</a:t>
            </a:r>
            <a:endParaRPr b="1" sz="1100">
              <a:latin typeface="DM Sans"/>
              <a:ea typeface="DM Sans"/>
              <a:cs typeface="DM Sans"/>
              <a:sym typeface="DM Sans"/>
            </a:endParaRPr>
          </a:p>
        </p:txBody>
      </p:sp>
      <p:sp>
        <p:nvSpPr>
          <p:cNvPr id="2629" name="Google Shape;2629;p110"/>
          <p:cNvSpPr/>
          <p:nvPr/>
        </p:nvSpPr>
        <p:spPr>
          <a:xfrm>
            <a:off x="6172275" y="2169775"/>
            <a:ext cx="1089600" cy="2566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Storage</a:t>
            </a:r>
            <a:endParaRPr b="1" sz="1100">
              <a:latin typeface="DM Sans"/>
              <a:ea typeface="DM Sans"/>
              <a:cs typeface="DM Sans"/>
              <a:sym typeface="DM Sans"/>
            </a:endParaRPr>
          </a:p>
        </p:txBody>
      </p:sp>
      <p:cxnSp>
        <p:nvCxnSpPr>
          <p:cNvPr id="2630" name="Google Shape;2630;p110"/>
          <p:cNvCxnSpPr/>
          <p:nvPr/>
        </p:nvCxnSpPr>
        <p:spPr>
          <a:xfrm>
            <a:off x="2579225" y="2834050"/>
            <a:ext cx="468600" cy="0"/>
          </a:xfrm>
          <a:prstGeom prst="straightConnector1">
            <a:avLst/>
          </a:prstGeom>
          <a:noFill/>
          <a:ln cap="flat" cmpd="sng" w="19050">
            <a:solidFill>
              <a:srgbClr val="618794"/>
            </a:solidFill>
            <a:prstDash val="dash"/>
            <a:round/>
            <a:headEnd len="med" w="med" type="none"/>
            <a:tailEnd len="med" w="med" type="triangle"/>
          </a:ln>
        </p:spPr>
      </p:cxnSp>
      <p:cxnSp>
        <p:nvCxnSpPr>
          <p:cNvPr id="2631" name="Google Shape;2631;p110"/>
          <p:cNvCxnSpPr/>
          <p:nvPr/>
        </p:nvCxnSpPr>
        <p:spPr>
          <a:xfrm>
            <a:off x="4137525" y="2834050"/>
            <a:ext cx="472500" cy="0"/>
          </a:xfrm>
          <a:prstGeom prst="straightConnector1">
            <a:avLst/>
          </a:prstGeom>
          <a:noFill/>
          <a:ln cap="flat" cmpd="sng" w="19050">
            <a:solidFill>
              <a:srgbClr val="618794"/>
            </a:solidFill>
            <a:prstDash val="dash"/>
            <a:round/>
            <a:headEnd len="med" w="med" type="none"/>
            <a:tailEnd len="med" w="med" type="triangle"/>
          </a:ln>
        </p:spPr>
      </p:cxnSp>
      <p:cxnSp>
        <p:nvCxnSpPr>
          <p:cNvPr id="2632" name="Google Shape;2632;p110"/>
          <p:cNvCxnSpPr/>
          <p:nvPr/>
        </p:nvCxnSpPr>
        <p:spPr>
          <a:xfrm>
            <a:off x="5699700" y="2834050"/>
            <a:ext cx="472500" cy="0"/>
          </a:xfrm>
          <a:prstGeom prst="straightConnector1">
            <a:avLst/>
          </a:prstGeom>
          <a:noFill/>
          <a:ln cap="flat" cmpd="sng" w="19050">
            <a:solidFill>
              <a:srgbClr val="618794"/>
            </a:solidFill>
            <a:prstDash val="dash"/>
            <a:round/>
            <a:headEnd len="med" w="med" type="none"/>
            <a:tailEnd len="med" w="med" type="triangle"/>
          </a:ln>
        </p:spPr>
      </p:cxnSp>
      <p:cxnSp>
        <p:nvCxnSpPr>
          <p:cNvPr id="2633" name="Google Shape;2633;p110"/>
          <p:cNvCxnSpPr/>
          <p:nvPr/>
        </p:nvCxnSpPr>
        <p:spPr>
          <a:xfrm>
            <a:off x="7261875" y="2834050"/>
            <a:ext cx="472500" cy="0"/>
          </a:xfrm>
          <a:prstGeom prst="straightConnector1">
            <a:avLst/>
          </a:prstGeom>
          <a:noFill/>
          <a:ln cap="flat" cmpd="sng" w="19050">
            <a:solidFill>
              <a:srgbClr val="618794"/>
            </a:solidFill>
            <a:prstDash val="dash"/>
            <a:round/>
            <a:headEnd len="med" w="med" type="none"/>
            <a:tailEnd len="med" w="med" type="triangle"/>
          </a:ln>
        </p:spPr>
      </p:cxnSp>
      <p:grpSp>
        <p:nvGrpSpPr>
          <p:cNvPr id="2634" name="Google Shape;2634;p110"/>
          <p:cNvGrpSpPr/>
          <p:nvPr/>
        </p:nvGrpSpPr>
        <p:grpSpPr>
          <a:xfrm>
            <a:off x="4610100" y="2169775"/>
            <a:ext cx="1089600" cy="2566800"/>
            <a:chOff x="6635550" y="11971100"/>
            <a:chExt cx="1089600" cy="2566800"/>
          </a:xfrm>
        </p:grpSpPr>
        <p:sp>
          <p:nvSpPr>
            <p:cNvPr id="2635" name="Google Shape;2635;p110"/>
            <p:cNvSpPr/>
            <p:nvPr/>
          </p:nvSpPr>
          <p:spPr>
            <a:xfrm>
              <a:off x="6635550" y="11971100"/>
              <a:ext cx="1089600" cy="2566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Embedding</a:t>
              </a:r>
              <a:endParaRPr b="1" sz="1100">
                <a:latin typeface="DM Sans"/>
                <a:ea typeface="DM Sans"/>
                <a:cs typeface="DM Sans"/>
                <a:sym typeface="DM Sans"/>
              </a:endParaRPr>
            </a:p>
          </p:txBody>
        </p:sp>
        <p:pic>
          <p:nvPicPr>
            <p:cNvPr id="2636" name="Google Shape;2636;p110"/>
            <p:cNvPicPr preferRelativeResize="0"/>
            <p:nvPr/>
          </p:nvPicPr>
          <p:blipFill rotWithShape="1">
            <a:blip r:embed="rId4">
              <a:alphaModFix/>
            </a:blip>
            <a:srcRect b="0" l="0" r="0" t="0"/>
            <a:stretch/>
          </p:blipFill>
          <p:spPr>
            <a:xfrm>
              <a:off x="6982097" y="12442375"/>
              <a:ext cx="396601" cy="394950"/>
            </a:xfrm>
            <a:prstGeom prst="rect">
              <a:avLst/>
            </a:prstGeom>
            <a:noFill/>
            <a:ln>
              <a:noFill/>
            </a:ln>
          </p:spPr>
        </p:pic>
      </p:grpSp>
      <p:pic>
        <p:nvPicPr>
          <p:cNvPr id="2637" name="Google Shape;2637;p110"/>
          <p:cNvPicPr preferRelativeResize="0"/>
          <p:nvPr/>
        </p:nvPicPr>
        <p:blipFill rotWithShape="1">
          <a:blip r:embed="rId5">
            <a:alphaModFix/>
          </a:blip>
          <a:srcRect b="0" l="0" r="0" t="0"/>
          <a:stretch/>
        </p:blipFill>
        <p:spPr>
          <a:xfrm>
            <a:off x="6470800" y="2566525"/>
            <a:ext cx="492622" cy="492600"/>
          </a:xfrm>
          <a:prstGeom prst="rect">
            <a:avLst/>
          </a:prstGeom>
          <a:noFill/>
          <a:ln>
            <a:noFill/>
          </a:ln>
        </p:spPr>
      </p:pic>
      <p:pic>
        <p:nvPicPr>
          <p:cNvPr id="2638" name="Google Shape;2638;p110"/>
          <p:cNvPicPr preferRelativeResize="0"/>
          <p:nvPr/>
        </p:nvPicPr>
        <p:blipFill rotWithShape="1">
          <a:blip r:embed="rId6">
            <a:alphaModFix/>
          </a:blip>
          <a:srcRect b="0" l="0" r="0" t="0"/>
          <a:stretch/>
        </p:blipFill>
        <p:spPr>
          <a:xfrm>
            <a:off x="3394453" y="2692803"/>
            <a:ext cx="396600" cy="396600"/>
          </a:xfrm>
          <a:prstGeom prst="rect">
            <a:avLst/>
          </a:prstGeom>
          <a:noFill/>
          <a:ln>
            <a:noFill/>
          </a:ln>
        </p:spPr>
      </p:pic>
      <p:pic>
        <p:nvPicPr>
          <p:cNvPr id="2639" name="Google Shape;2639;p110"/>
          <p:cNvPicPr preferRelativeResize="0"/>
          <p:nvPr/>
        </p:nvPicPr>
        <p:blipFill rotWithShape="1">
          <a:blip r:embed="rId7">
            <a:alphaModFix/>
          </a:blip>
          <a:srcRect b="0" l="0" r="0" t="0"/>
          <a:stretch/>
        </p:blipFill>
        <p:spPr>
          <a:xfrm>
            <a:off x="1836137" y="2635750"/>
            <a:ext cx="396601" cy="396601"/>
          </a:xfrm>
          <a:prstGeom prst="rect">
            <a:avLst/>
          </a:prstGeom>
          <a:noFill/>
          <a:ln>
            <a:noFill/>
          </a:ln>
        </p:spPr>
      </p:pic>
      <p:sp>
        <p:nvSpPr>
          <p:cNvPr id="2640" name="Google Shape;2640;p110"/>
          <p:cNvSpPr/>
          <p:nvPr/>
        </p:nvSpPr>
        <p:spPr>
          <a:xfrm>
            <a:off x="1416438" y="3148775"/>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Delta Table</a:t>
            </a:r>
            <a:endParaRPr sz="1200">
              <a:latin typeface="DM Sans"/>
              <a:ea typeface="DM Sans"/>
              <a:cs typeface="DM Sans"/>
              <a:sym typeface="DM Sans"/>
            </a:endParaRPr>
          </a:p>
        </p:txBody>
      </p:sp>
      <p:sp>
        <p:nvSpPr>
          <p:cNvPr id="2641" name="Google Shape;2641;p110"/>
          <p:cNvSpPr/>
          <p:nvPr/>
        </p:nvSpPr>
        <p:spPr>
          <a:xfrm>
            <a:off x="1416438" y="3507277"/>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Volumes</a:t>
            </a:r>
            <a:endParaRPr sz="1200">
              <a:latin typeface="DM Sans"/>
              <a:ea typeface="DM Sans"/>
              <a:cs typeface="DM Sans"/>
              <a:sym typeface="DM Sans"/>
            </a:endParaRPr>
          </a:p>
        </p:txBody>
      </p:sp>
      <p:sp>
        <p:nvSpPr>
          <p:cNvPr id="2642" name="Google Shape;2642;p110"/>
          <p:cNvSpPr/>
          <p:nvPr/>
        </p:nvSpPr>
        <p:spPr>
          <a:xfrm>
            <a:off x="2990577" y="3148775"/>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Workflows</a:t>
            </a:r>
            <a:endParaRPr sz="1200">
              <a:latin typeface="DM Sans"/>
              <a:ea typeface="DM Sans"/>
              <a:cs typeface="DM Sans"/>
              <a:sym typeface="DM Sans"/>
            </a:endParaRPr>
          </a:p>
        </p:txBody>
      </p:sp>
      <p:sp>
        <p:nvSpPr>
          <p:cNvPr id="2643" name="Google Shape;2643;p110"/>
          <p:cNvSpPr/>
          <p:nvPr/>
        </p:nvSpPr>
        <p:spPr>
          <a:xfrm>
            <a:off x="2990577" y="3507277"/>
            <a:ext cx="1197900" cy="396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Delta Live Tables</a:t>
            </a:r>
            <a:endParaRPr sz="1200">
              <a:latin typeface="DM Sans"/>
              <a:ea typeface="DM Sans"/>
              <a:cs typeface="DM Sans"/>
              <a:sym typeface="DM Sans"/>
            </a:endParaRPr>
          </a:p>
        </p:txBody>
      </p:sp>
      <p:sp>
        <p:nvSpPr>
          <p:cNvPr id="2644" name="Google Shape;2644;p110"/>
          <p:cNvSpPr/>
          <p:nvPr/>
        </p:nvSpPr>
        <p:spPr>
          <a:xfrm>
            <a:off x="2990577" y="3982778"/>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Notebooks</a:t>
            </a:r>
            <a:endParaRPr sz="1200">
              <a:latin typeface="DM Sans"/>
              <a:ea typeface="DM Sans"/>
              <a:cs typeface="DM Sans"/>
              <a:sym typeface="DM Sans"/>
            </a:endParaRPr>
          </a:p>
        </p:txBody>
      </p:sp>
      <p:sp>
        <p:nvSpPr>
          <p:cNvPr id="2645" name="Google Shape;2645;p110"/>
          <p:cNvSpPr/>
          <p:nvPr/>
        </p:nvSpPr>
        <p:spPr>
          <a:xfrm>
            <a:off x="4564697" y="3148775"/>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Workflows</a:t>
            </a:r>
            <a:endParaRPr sz="1200">
              <a:latin typeface="DM Sans"/>
              <a:ea typeface="DM Sans"/>
              <a:cs typeface="DM Sans"/>
              <a:sym typeface="DM Sans"/>
            </a:endParaRPr>
          </a:p>
        </p:txBody>
      </p:sp>
      <p:sp>
        <p:nvSpPr>
          <p:cNvPr id="2646" name="Google Shape;2646;p110"/>
          <p:cNvSpPr/>
          <p:nvPr/>
        </p:nvSpPr>
        <p:spPr>
          <a:xfrm>
            <a:off x="6118075" y="3148775"/>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Delta Table</a:t>
            </a:r>
            <a:endParaRPr sz="1200">
              <a:latin typeface="DM Sans"/>
              <a:ea typeface="DM Sans"/>
              <a:cs typeface="DM Sans"/>
              <a:sym typeface="DM Sans"/>
            </a:endParaRPr>
          </a:p>
        </p:txBody>
      </p:sp>
      <p:sp>
        <p:nvSpPr>
          <p:cNvPr id="2647" name="Google Shape;2647;p110"/>
          <p:cNvSpPr/>
          <p:nvPr/>
        </p:nvSpPr>
        <p:spPr>
          <a:xfrm>
            <a:off x="4564697" y="3507277"/>
            <a:ext cx="1197900" cy="396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Delta Live Tables</a:t>
            </a:r>
            <a:endParaRPr sz="1200">
              <a:latin typeface="DM Sans"/>
              <a:ea typeface="DM Sans"/>
              <a:cs typeface="DM Sans"/>
              <a:sym typeface="DM Sans"/>
            </a:endParaRPr>
          </a:p>
        </p:txBody>
      </p:sp>
      <p:sp>
        <p:nvSpPr>
          <p:cNvPr id="2648" name="Google Shape;2648;p110"/>
          <p:cNvSpPr/>
          <p:nvPr/>
        </p:nvSpPr>
        <p:spPr>
          <a:xfrm>
            <a:off x="7671450" y="3148775"/>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Vector Search</a:t>
            </a:r>
            <a:endParaRPr sz="1200">
              <a:latin typeface="DM Sans"/>
              <a:ea typeface="DM Sans"/>
              <a:cs typeface="DM Sans"/>
              <a:sym typeface="DM Sans"/>
            </a:endParaRPr>
          </a:p>
        </p:txBody>
      </p:sp>
      <p:sp>
        <p:nvSpPr>
          <p:cNvPr id="2649" name="Google Shape;2649;p110"/>
          <p:cNvSpPr/>
          <p:nvPr/>
        </p:nvSpPr>
        <p:spPr>
          <a:xfrm>
            <a:off x="4564697" y="3982778"/>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Notebooks</a:t>
            </a:r>
            <a:endParaRPr sz="1200">
              <a:latin typeface="DM Sans"/>
              <a:ea typeface="DM Sans"/>
              <a:cs typeface="DM Sans"/>
              <a:sym typeface="DM Sans"/>
            </a:endParaRPr>
          </a:p>
        </p:txBody>
      </p:sp>
      <p:sp>
        <p:nvSpPr>
          <p:cNvPr id="2650" name="Google Shape;2650;p110"/>
          <p:cNvSpPr/>
          <p:nvPr/>
        </p:nvSpPr>
        <p:spPr>
          <a:xfrm>
            <a:off x="4564697" y="4341280"/>
            <a:ext cx="11979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 Serving</a:t>
            </a:r>
            <a:endParaRPr sz="1200">
              <a:latin typeface="DM Sans"/>
              <a:ea typeface="DM Sans"/>
              <a:cs typeface="DM Sans"/>
              <a:sym typeface="DM San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4" name="Shape 2654"/>
        <p:cNvGrpSpPr/>
        <p:nvPr/>
      </p:nvGrpSpPr>
      <p:grpSpPr>
        <a:xfrm>
          <a:off x="0" y="0"/>
          <a:ext cx="0" cy="0"/>
          <a:chOff x="0" y="0"/>
          <a:chExt cx="0" cy="0"/>
        </a:xfrm>
      </p:grpSpPr>
      <p:sp>
        <p:nvSpPr>
          <p:cNvPr id="2655" name="Google Shape;2655;p111"/>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Chunk relevance precision</a:t>
            </a:r>
            <a:r>
              <a:rPr lang="en" sz="1200">
                <a:solidFill>
                  <a:schemeClr val="accent1"/>
                </a:solidFill>
                <a:latin typeface="DM Sans Medium"/>
                <a:ea typeface="DM Sans Medium"/>
                <a:cs typeface="DM Sans Medium"/>
                <a:sym typeface="DM Sans Medium"/>
              </a:rPr>
              <a:t>  /_static/images/generative-ai/retrieved-chunks-precision.png</a:t>
            </a:r>
            <a:endParaRPr sz="200"/>
          </a:p>
        </p:txBody>
      </p:sp>
      <p:sp>
        <p:nvSpPr>
          <p:cNvPr id="2656" name="Google Shape;2656;p111"/>
          <p:cNvSpPr/>
          <p:nvPr/>
        </p:nvSpPr>
        <p:spPr>
          <a:xfrm>
            <a:off x="5308400" y="3126900"/>
            <a:ext cx="3486600" cy="1035300"/>
          </a:xfrm>
          <a:prstGeom prst="roundRect">
            <a:avLst>
              <a:gd fmla="val 16667" name="adj"/>
            </a:avLst>
          </a:prstGeom>
          <a:solidFill>
            <a:srgbClr val="FFFFFF"/>
          </a:solidFill>
          <a:ln cap="flat" cmpd="sng" w="19050">
            <a:solidFill>
              <a:srgbClr val="618794"/>
            </a:solidFill>
            <a:prstDash val="dash"/>
            <a:round/>
            <a:headEnd len="med" w="med" type="none"/>
            <a:tailEnd len="med" w="med"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657" name="Google Shape;2657;p111"/>
          <p:cNvSpPr/>
          <p:nvPr/>
        </p:nvSpPr>
        <p:spPr>
          <a:xfrm>
            <a:off x="2447550" y="1607559"/>
            <a:ext cx="1704300" cy="728400"/>
          </a:xfrm>
          <a:prstGeom prst="rect">
            <a:avLst/>
          </a:prstGeom>
          <a:solidFill>
            <a:srgbClr val="F9F7F4"/>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114300" marR="0" rtl="0" algn="l">
              <a:lnSpc>
                <a:spcPct val="100000"/>
              </a:lnSpc>
              <a:spcBef>
                <a:spcPts val="0"/>
              </a:spcBef>
              <a:spcAft>
                <a:spcPts val="0"/>
              </a:spcAft>
              <a:buNone/>
            </a:pPr>
            <a:r>
              <a:rPr b="1" lang="en" sz="1200">
                <a:solidFill>
                  <a:srgbClr val="000000"/>
                </a:solidFill>
                <a:latin typeface="DM Sans"/>
                <a:ea typeface="DM Sans"/>
                <a:cs typeface="DM Sans"/>
                <a:sym typeface="DM Sans"/>
              </a:rPr>
              <a:t>doc_uri:</a:t>
            </a:r>
            <a:r>
              <a:rPr lang="en" sz="1200">
                <a:solidFill>
                  <a:srgbClr val="000000"/>
                </a:solidFill>
                <a:latin typeface="DM Sans"/>
                <a:ea typeface="DM Sans"/>
                <a:cs typeface="DM Sans"/>
                <a:sym typeface="DM Sans"/>
              </a:rPr>
              <a:t> doc1</a:t>
            </a:r>
            <a:endParaRPr sz="1200">
              <a:solidFill>
                <a:srgbClr val="000000"/>
              </a:solidFill>
              <a:latin typeface="DM Sans"/>
              <a:ea typeface="DM Sans"/>
              <a:cs typeface="DM Sans"/>
              <a:sym typeface="DM Sans"/>
            </a:endParaRPr>
          </a:p>
          <a:p>
            <a:pPr indent="0" lvl="0" marL="114300" marR="0" rtl="0" algn="l">
              <a:lnSpc>
                <a:spcPct val="100000"/>
              </a:lnSpc>
              <a:spcBef>
                <a:spcPts val="0"/>
              </a:spcBef>
              <a:spcAft>
                <a:spcPts val="0"/>
              </a:spcAft>
              <a:buNone/>
            </a:pPr>
            <a:r>
              <a:rPr b="1" lang="en" sz="1200">
                <a:solidFill>
                  <a:srgbClr val="000000"/>
                </a:solidFill>
                <a:latin typeface="DM Sans"/>
                <a:ea typeface="DM Sans"/>
                <a:cs typeface="DM Sans"/>
                <a:sym typeface="DM Sans"/>
              </a:rPr>
              <a:t>content:</a:t>
            </a:r>
            <a:r>
              <a:rPr lang="en" sz="1200">
                <a:solidFill>
                  <a:srgbClr val="000000"/>
                </a:solidFill>
                <a:latin typeface="DM Sans"/>
                <a:ea typeface="DM Sans"/>
                <a:cs typeface="DM Sans"/>
                <a:sym typeface="DM Sans"/>
              </a:rPr>
              <a:t> …</a:t>
            </a:r>
            <a:endParaRPr sz="1200">
              <a:solidFill>
                <a:srgbClr val="000000"/>
              </a:solidFill>
              <a:latin typeface="DM Sans"/>
              <a:ea typeface="DM Sans"/>
              <a:cs typeface="DM Sans"/>
              <a:sym typeface="DM Sans"/>
            </a:endParaRPr>
          </a:p>
          <a:p>
            <a:pPr indent="0" lvl="0" marL="114300" marR="0" rtl="0" algn="l">
              <a:lnSpc>
                <a:spcPct val="100000"/>
              </a:lnSpc>
              <a:spcBef>
                <a:spcPts val="0"/>
              </a:spcBef>
              <a:spcAft>
                <a:spcPts val="0"/>
              </a:spcAft>
              <a:buNone/>
            </a:pPr>
            <a:r>
              <a:rPr b="1" lang="en" sz="1200">
                <a:solidFill>
                  <a:srgbClr val="000000"/>
                </a:solidFill>
                <a:latin typeface="DM Sans"/>
                <a:ea typeface="DM Sans"/>
                <a:cs typeface="DM Sans"/>
                <a:sym typeface="DM Sans"/>
              </a:rPr>
              <a:t>chunk_id: </a:t>
            </a:r>
            <a:r>
              <a:rPr lang="en" sz="1200">
                <a:solidFill>
                  <a:srgbClr val="000000"/>
                </a:solidFill>
                <a:latin typeface="DM Sans"/>
                <a:ea typeface="DM Sans"/>
                <a:cs typeface="DM Sans"/>
                <a:sym typeface="DM Sans"/>
              </a:rPr>
              <a:t>chunk1</a:t>
            </a:r>
            <a:endParaRPr sz="1200">
              <a:solidFill>
                <a:srgbClr val="000000"/>
              </a:solidFill>
              <a:latin typeface="DM Sans"/>
              <a:ea typeface="DM Sans"/>
              <a:cs typeface="DM Sans"/>
              <a:sym typeface="DM Sans"/>
            </a:endParaRPr>
          </a:p>
        </p:txBody>
      </p:sp>
      <p:sp>
        <p:nvSpPr>
          <p:cNvPr id="2658" name="Google Shape;2658;p111"/>
          <p:cNvSpPr/>
          <p:nvPr/>
        </p:nvSpPr>
        <p:spPr>
          <a:xfrm>
            <a:off x="2447550" y="1252888"/>
            <a:ext cx="1704300" cy="354600"/>
          </a:xfrm>
          <a:prstGeom prst="round2SameRect">
            <a:avLst>
              <a:gd fmla="val 16667" name="adj1"/>
              <a:gd fmla="val 0" name="adj2"/>
            </a:avLst>
          </a:prstGeom>
          <a:solidFill>
            <a:srgbClr val="00A972"/>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a:solidFill>
                  <a:srgbClr val="FFFFFF"/>
                </a:solidFill>
                <a:latin typeface="DM Sans"/>
                <a:ea typeface="DM Sans"/>
                <a:cs typeface="DM Sans"/>
                <a:sym typeface="DM Sans"/>
              </a:rPr>
              <a:t>Relevant</a:t>
            </a:r>
            <a:endParaRPr b="1">
              <a:solidFill>
                <a:srgbClr val="FFFFFF"/>
              </a:solidFill>
              <a:latin typeface="DM Sans"/>
              <a:ea typeface="DM Sans"/>
              <a:cs typeface="DM Sans"/>
              <a:sym typeface="DM Sans"/>
            </a:endParaRPr>
          </a:p>
        </p:txBody>
      </p:sp>
      <p:sp>
        <p:nvSpPr>
          <p:cNvPr id="2659" name="Google Shape;2659;p111"/>
          <p:cNvSpPr/>
          <p:nvPr/>
        </p:nvSpPr>
        <p:spPr>
          <a:xfrm>
            <a:off x="2447550" y="2857226"/>
            <a:ext cx="1704300" cy="728400"/>
          </a:xfrm>
          <a:prstGeom prst="rect">
            <a:avLst/>
          </a:prstGeom>
          <a:solidFill>
            <a:srgbClr val="F9F7F4"/>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None/>
            </a:pPr>
            <a:r>
              <a:rPr b="1" lang="en" sz="1200">
                <a:solidFill>
                  <a:srgbClr val="000000"/>
                </a:solidFill>
                <a:latin typeface="DM Sans"/>
                <a:ea typeface="DM Sans"/>
                <a:cs typeface="DM Sans"/>
                <a:sym typeface="DM Sans"/>
              </a:rPr>
              <a:t>doc_uri: </a:t>
            </a:r>
            <a:r>
              <a:rPr lang="en" sz="1200">
                <a:solidFill>
                  <a:srgbClr val="000000"/>
                </a:solidFill>
                <a:latin typeface="DM Sans"/>
                <a:ea typeface="DM Sans"/>
                <a:cs typeface="DM Sans"/>
                <a:sym typeface="DM Sans"/>
              </a:rPr>
              <a:t>doc1</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content:</a:t>
            </a:r>
            <a:r>
              <a:rPr lang="en" sz="1200">
                <a:solidFill>
                  <a:srgbClr val="000000"/>
                </a:solidFill>
                <a:latin typeface="DM Sans"/>
                <a:ea typeface="DM Sans"/>
                <a:cs typeface="DM Sans"/>
                <a:sym typeface="DM Sans"/>
              </a:rPr>
              <a:t> …</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chunk_id: </a:t>
            </a:r>
            <a:r>
              <a:rPr lang="en" sz="1200">
                <a:solidFill>
                  <a:srgbClr val="000000"/>
                </a:solidFill>
                <a:latin typeface="DM Sans"/>
                <a:ea typeface="DM Sans"/>
                <a:cs typeface="DM Sans"/>
                <a:sym typeface="DM Sans"/>
              </a:rPr>
              <a:t>chunk10</a:t>
            </a:r>
            <a:endParaRPr sz="1300"/>
          </a:p>
        </p:txBody>
      </p:sp>
      <p:sp>
        <p:nvSpPr>
          <p:cNvPr id="2660" name="Google Shape;2660;p111"/>
          <p:cNvSpPr/>
          <p:nvPr/>
        </p:nvSpPr>
        <p:spPr>
          <a:xfrm>
            <a:off x="2447550" y="2502555"/>
            <a:ext cx="1704300" cy="354600"/>
          </a:xfrm>
          <a:prstGeom prst="round2SameRect">
            <a:avLst>
              <a:gd fmla="val 16667" name="adj1"/>
              <a:gd fmla="val 0" name="adj2"/>
            </a:avLst>
          </a:prstGeom>
          <a:solidFill>
            <a:srgbClr val="00A972"/>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Relevant</a:t>
            </a:r>
            <a:endParaRPr sz="1200"/>
          </a:p>
        </p:txBody>
      </p:sp>
      <p:sp>
        <p:nvSpPr>
          <p:cNvPr id="2661" name="Google Shape;2661;p111"/>
          <p:cNvSpPr/>
          <p:nvPr/>
        </p:nvSpPr>
        <p:spPr>
          <a:xfrm>
            <a:off x="2447550" y="4106894"/>
            <a:ext cx="1704300" cy="728400"/>
          </a:xfrm>
          <a:prstGeom prst="rect">
            <a:avLst/>
          </a:prstGeom>
          <a:solidFill>
            <a:srgbClr val="F9F7F4"/>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None/>
            </a:pPr>
            <a:r>
              <a:rPr b="1" lang="en" sz="1200">
                <a:solidFill>
                  <a:srgbClr val="000000"/>
                </a:solidFill>
                <a:latin typeface="DM Sans"/>
                <a:ea typeface="DM Sans"/>
                <a:cs typeface="DM Sans"/>
                <a:sym typeface="DM Sans"/>
              </a:rPr>
              <a:t>doc_uri: </a:t>
            </a:r>
            <a:r>
              <a:rPr lang="en" sz="1200">
                <a:solidFill>
                  <a:srgbClr val="000000"/>
                </a:solidFill>
                <a:latin typeface="DM Sans"/>
                <a:ea typeface="DM Sans"/>
                <a:cs typeface="DM Sans"/>
                <a:sym typeface="DM Sans"/>
              </a:rPr>
              <a:t>doc2</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content:</a:t>
            </a:r>
            <a:r>
              <a:rPr lang="en" sz="1200">
                <a:solidFill>
                  <a:srgbClr val="000000"/>
                </a:solidFill>
                <a:latin typeface="DM Sans"/>
                <a:ea typeface="DM Sans"/>
                <a:cs typeface="DM Sans"/>
                <a:sym typeface="DM Sans"/>
              </a:rPr>
              <a:t> …</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chunk_id: </a:t>
            </a:r>
            <a:r>
              <a:rPr lang="en" sz="1200">
                <a:solidFill>
                  <a:srgbClr val="000000"/>
                </a:solidFill>
                <a:latin typeface="DM Sans"/>
                <a:ea typeface="DM Sans"/>
                <a:cs typeface="DM Sans"/>
                <a:sym typeface="DM Sans"/>
              </a:rPr>
              <a:t>chunk1</a:t>
            </a:r>
            <a:endParaRPr sz="1300"/>
          </a:p>
        </p:txBody>
      </p:sp>
      <p:sp>
        <p:nvSpPr>
          <p:cNvPr id="2662" name="Google Shape;2662;p111"/>
          <p:cNvSpPr/>
          <p:nvPr/>
        </p:nvSpPr>
        <p:spPr>
          <a:xfrm>
            <a:off x="2447550" y="3752223"/>
            <a:ext cx="1704300" cy="354600"/>
          </a:xfrm>
          <a:prstGeom prst="round2SameRect">
            <a:avLst>
              <a:gd fmla="val 16667" name="adj1"/>
              <a:gd fmla="val 0" name="adj2"/>
            </a:avLst>
          </a:prstGeom>
          <a:solidFill>
            <a:srgbClr val="00A972"/>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Relevant</a:t>
            </a:r>
            <a:endParaRPr sz="1200"/>
          </a:p>
        </p:txBody>
      </p:sp>
      <p:sp>
        <p:nvSpPr>
          <p:cNvPr id="2663" name="Google Shape;2663;p111"/>
          <p:cNvSpPr/>
          <p:nvPr/>
        </p:nvSpPr>
        <p:spPr>
          <a:xfrm>
            <a:off x="2447550" y="5356562"/>
            <a:ext cx="1704300" cy="728400"/>
          </a:xfrm>
          <a:prstGeom prst="rect">
            <a:avLst/>
          </a:prstGeom>
          <a:solidFill>
            <a:srgbClr val="F9F7F4"/>
          </a:solidFill>
          <a:ln cap="flat" cmpd="sng" w="19050">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None/>
            </a:pPr>
            <a:r>
              <a:rPr b="1" lang="en" sz="1200">
                <a:solidFill>
                  <a:srgbClr val="000000"/>
                </a:solidFill>
                <a:latin typeface="DM Sans"/>
                <a:ea typeface="DM Sans"/>
                <a:cs typeface="DM Sans"/>
                <a:sym typeface="DM Sans"/>
              </a:rPr>
              <a:t>doc_uri: </a:t>
            </a:r>
            <a:r>
              <a:rPr lang="en" sz="1200">
                <a:solidFill>
                  <a:srgbClr val="000000"/>
                </a:solidFill>
                <a:latin typeface="DM Sans"/>
                <a:ea typeface="DM Sans"/>
                <a:cs typeface="DM Sans"/>
                <a:sym typeface="DM Sans"/>
              </a:rPr>
              <a:t>doc3</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content:</a:t>
            </a:r>
            <a:r>
              <a:rPr lang="en" sz="1200">
                <a:solidFill>
                  <a:srgbClr val="000000"/>
                </a:solidFill>
                <a:latin typeface="DM Sans"/>
                <a:ea typeface="DM Sans"/>
                <a:cs typeface="DM Sans"/>
                <a:sym typeface="DM Sans"/>
              </a:rPr>
              <a:t> …</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chunk_id: </a:t>
            </a:r>
            <a:r>
              <a:rPr lang="en" sz="1200">
                <a:solidFill>
                  <a:srgbClr val="000000"/>
                </a:solidFill>
                <a:latin typeface="DM Sans"/>
                <a:ea typeface="DM Sans"/>
                <a:cs typeface="DM Sans"/>
                <a:sym typeface="DM Sans"/>
              </a:rPr>
              <a:t>chunk6</a:t>
            </a:r>
            <a:endParaRPr sz="1300"/>
          </a:p>
        </p:txBody>
      </p:sp>
      <p:sp>
        <p:nvSpPr>
          <p:cNvPr id="2664" name="Google Shape;2664;p111"/>
          <p:cNvSpPr/>
          <p:nvPr/>
        </p:nvSpPr>
        <p:spPr>
          <a:xfrm>
            <a:off x="2447550" y="5001891"/>
            <a:ext cx="1704300" cy="354600"/>
          </a:xfrm>
          <a:prstGeom prst="round2SameRect">
            <a:avLst>
              <a:gd fmla="val 16667" name="adj1"/>
              <a:gd fmla="val 0" name="adj2"/>
            </a:avLst>
          </a:prstGeom>
          <a:solidFill>
            <a:srgbClr val="FF6952"/>
          </a:solidFill>
          <a:ln cap="flat" cmpd="sng" w="19050">
            <a:solidFill>
              <a:srgbClr val="FF69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a:solidFill>
                  <a:srgbClr val="FFFFFF"/>
                </a:solidFill>
                <a:latin typeface="DM Sans"/>
                <a:ea typeface="DM Sans"/>
                <a:cs typeface="DM Sans"/>
                <a:sym typeface="DM Sans"/>
              </a:rPr>
              <a:t>Not relevant</a:t>
            </a:r>
            <a:endParaRPr sz="1200"/>
          </a:p>
        </p:txBody>
      </p:sp>
      <p:sp>
        <p:nvSpPr>
          <p:cNvPr id="2665" name="Google Shape;2665;p111"/>
          <p:cNvSpPr txBox="1"/>
          <p:nvPr/>
        </p:nvSpPr>
        <p:spPr>
          <a:xfrm>
            <a:off x="2390400" y="803500"/>
            <a:ext cx="1837800" cy="3423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1600">
                <a:solidFill>
                  <a:srgbClr val="1B3139"/>
                </a:solidFill>
                <a:latin typeface="DM Sans Medium"/>
                <a:ea typeface="DM Sans Medium"/>
                <a:cs typeface="DM Sans Medium"/>
                <a:sym typeface="DM Sans Medium"/>
              </a:rPr>
              <a:t>Retrieved chunks </a:t>
            </a:r>
            <a:endParaRPr sz="1600">
              <a:solidFill>
                <a:srgbClr val="1B3139"/>
              </a:solidFill>
              <a:latin typeface="DM Sans Medium"/>
              <a:ea typeface="DM Sans Medium"/>
              <a:cs typeface="DM Sans Medium"/>
              <a:sym typeface="DM Sans Medium"/>
            </a:endParaRPr>
          </a:p>
        </p:txBody>
      </p:sp>
      <p:sp>
        <p:nvSpPr>
          <p:cNvPr id="2666" name="Google Shape;2666;p111"/>
          <p:cNvSpPr txBox="1"/>
          <p:nvPr/>
        </p:nvSpPr>
        <p:spPr>
          <a:xfrm>
            <a:off x="7535900" y="3282610"/>
            <a:ext cx="428400" cy="40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1B5162"/>
                </a:solidFill>
                <a:latin typeface="DM Sans"/>
                <a:ea typeface="DM Sans"/>
                <a:cs typeface="DM Sans"/>
                <a:sym typeface="DM Sans"/>
              </a:rPr>
              <a:t>3</a:t>
            </a:r>
            <a:endParaRPr b="1">
              <a:solidFill>
                <a:srgbClr val="1B3139"/>
              </a:solidFill>
              <a:latin typeface="DM Sans"/>
              <a:ea typeface="DM Sans"/>
              <a:cs typeface="DM Sans"/>
              <a:sym typeface="DM Sans"/>
            </a:endParaRPr>
          </a:p>
        </p:txBody>
      </p:sp>
      <p:sp>
        <p:nvSpPr>
          <p:cNvPr id="2667" name="Google Shape;2667;p111"/>
          <p:cNvSpPr txBox="1"/>
          <p:nvPr/>
        </p:nvSpPr>
        <p:spPr>
          <a:xfrm>
            <a:off x="7535900" y="3669457"/>
            <a:ext cx="428400" cy="40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1B5162"/>
                </a:solidFill>
                <a:latin typeface="DM Sans"/>
                <a:ea typeface="DM Sans"/>
                <a:cs typeface="DM Sans"/>
                <a:sym typeface="DM Sans"/>
              </a:rPr>
              <a:t>4</a:t>
            </a:r>
            <a:endParaRPr b="1">
              <a:solidFill>
                <a:srgbClr val="1B3139"/>
              </a:solidFill>
              <a:latin typeface="DM Sans"/>
              <a:ea typeface="DM Sans"/>
              <a:cs typeface="DM Sans"/>
              <a:sym typeface="DM Sans"/>
            </a:endParaRPr>
          </a:p>
        </p:txBody>
      </p:sp>
      <p:sp>
        <p:nvSpPr>
          <p:cNvPr id="2668" name="Google Shape;2668;p111"/>
          <p:cNvSpPr txBox="1"/>
          <p:nvPr/>
        </p:nvSpPr>
        <p:spPr>
          <a:xfrm>
            <a:off x="5308450" y="3389000"/>
            <a:ext cx="2181300" cy="280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
                <a:solidFill>
                  <a:srgbClr val="1B5162"/>
                </a:solidFill>
                <a:latin typeface="DM Sans"/>
                <a:ea typeface="DM Sans"/>
                <a:cs typeface="DM Sans"/>
                <a:sym typeface="DM Sans"/>
              </a:rPr>
              <a:t>relevant chunks returned</a:t>
            </a:r>
            <a:endParaRPr b="1" sz="1200">
              <a:solidFill>
                <a:srgbClr val="1B3139"/>
              </a:solidFill>
              <a:latin typeface="DM Sans"/>
              <a:ea typeface="DM Sans"/>
              <a:cs typeface="DM Sans"/>
              <a:sym typeface="DM Sans"/>
            </a:endParaRPr>
          </a:p>
        </p:txBody>
      </p:sp>
      <p:cxnSp>
        <p:nvCxnSpPr>
          <p:cNvPr id="2669" name="Google Shape;2669;p111"/>
          <p:cNvCxnSpPr/>
          <p:nvPr/>
        </p:nvCxnSpPr>
        <p:spPr>
          <a:xfrm>
            <a:off x="5545697" y="3669457"/>
            <a:ext cx="1706400" cy="0"/>
          </a:xfrm>
          <a:prstGeom prst="straightConnector1">
            <a:avLst/>
          </a:prstGeom>
          <a:noFill/>
          <a:ln cap="flat" cmpd="sng" w="28575">
            <a:solidFill>
              <a:srgbClr val="1B5162"/>
            </a:solidFill>
            <a:prstDash val="solid"/>
            <a:round/>
            <a:headEnd len="med" w="med" type="none"/>
            <a:tailEnd len="med" w="med" type="none"/>
          </a:ln>
        </p:spPr>
      </p:cxnSp>
      <p:sp>
        <p:nvSpPr>
          <p:cNvPr id="2670" name="Google Shape;2670;p111"/>
          <p:cNvSpPr txBox="1"/>
          <p:nvPr/>
        </p:nvSpPr>
        <p:spPr>
          <a:xfrm>
            <a:off x="5308400" y="3717367"/>
            <a:ext cx="2181300" cy="28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B5162"/>
                </a:solidFill>
                <a:latin typeface="DM Sans"/>
                <a:ea typeface="DM Sans"/>
                <a:cs typeface="DM Sans"/>
                <a:sym typeface="DM Sans"/>
              </a:rPr>
              <a:t>total chunks returned</a:t>
            </a:r>
            <a:endParaRPr b="1" sz="1200">
              <a:solidFill>
                <a:srgbClr val="1B3139"/>
              </a:solidFill>
              <a:latin typeface="DM Sans"/>
              <a:ea typeface="DM Sans"/>
              <a:cs typeface="DM Sans"/>
              <a:sym typeface="DM Sans"/>
            </a:endParaRPr>
          </a:p>
        </p:txBody>
      </p:sp>
      <p:sp>
        <p:nvSpPr>
          <p:cNvPr id="2671" name="Google Shape;2671;p111"/>
          <p:cNvSpPr txBox="1"/>
          <p:nvPr/>
        </p:nvSpPr>
        <p:spPr>
          <a:xfrm>
            <a:off x="7276392" y="3453181"/>
            <a:ext cx="316200" cy="40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solidFill>
                  <a:srgbClr val="1B5162"/>
                </a:solidFill>
                <a:latin typeface="DM Sans"/>
                <a:ea typeface="DM Sans"/>
                <a:cs typeface="DM Sans"/>
                <a:sym typeface="DM Sans"/>
              </a:rPr>
              <a:t>=</a:t>
            </a:r>
            <a:endParaRPr b="1" sz="2200">
              <a:solidFill>
                <a:srgbClr val="1B3139"/>
              </a:solidFill>
              <a:latin typeface="DM Sans"/>
              <a:ea typeface="DM Sans"/>
              <a:cs typeface="DM Sans"/>
              <a:sym typeface="DM Sans"/>
            </a:endParaRPr>
          </a:p>
        </p:txBody>
      </p:sp>
      <p:cxnSp>
        <p:nvCxnSpPr>
          <p:cNvPr id="2672" name="Google Shape;2672;p111"/>
          <p:cNvCxnSpPr/>
          <p:nvPr/>
        </p:nvCxnSpPr>
        <p:spPr>
          <a:xfrm>
            <a:off x="7633035" y="3669457"/>
            <a:ext cx="234300" cy="0"/>
          </a:xfrm>
          <a:prstGeom prst="straightConnector1">
            <a:avLst/>
          </a:prstGeom>
          <a:noFill/>
          <a:ln cap="flat" cmpd="sng" w="28575">
            <a:solidFill>
              <a:srgbClr val="1B5162"/>
            </a:solidFill>
            <a:prstDash val="solid"/>
            <a:round/>
            <a:headEnd len="med" w="med" type="none"/>
            <a:tailEnd len="med" w="med" type="none"/>
          </a:ln>
        </p:spPr>
      </p:cxnSp>
      <p:sp>
        <p:nvSpPr>
          <p:cNvPr id="2673" name="Google Shape;2673;p111"/>
          <p:cNvSpPr txBox="1"/>
          <p:nvPr/>
        </p:nvSpPr>
        <p:spPr>
          <a:xfrm>
            <a:off x="8111129" y="3453183"/>
            <a:ext cx="684000" cy="40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1B5162"/>
                </a:solidFill>
                <a:latin typeface="DM Sans"/>
                <a:ea typeface="DM Sans"/>
                <a:cs typeface="DM Sans"/>
                <a:sym typeface="DM Sans"/>
              </a:rPr>
              <a:t>75%</a:t>
            </a:r>
            <a:endParaRPr b="1" sz="1500">
              <a:solidFill>
                <a:srgbClr val="1B3139"/>
              </a:solidFill>
              <a:latin typeface="DM Sans"/>
              <a:ea typeface="DM Sans"/>
              <a:cs typeface="DM Sans"/>
              <a:sym typeface="DM Sans"/>
            </a:endParaRPr>
          </a:p>
        </p:txBody>
      </p:sp>
      <p:sp>
        <p:nvSpPr>
          <p:cNvPr id="2674" name="Google Shape;2674;p111"/>
          <p:cNvSpPr txBox="1"/>
          <p:nvPr/>
        </p:nvSpPr>
        <p:spPr>
          <a:xfrm>
            <a:off x="7892686" y="3453166"/>
            <a:ext cx="316200" cy="40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solidFill>
                  <a:srgbClr val="1B5162"/>
                </a:solidFill>
                <a:latin typeface="DM Sans"/>
                <a:ea typeface="DM Sans"/>
                <a:cs typeface="DM Sans"/>
                <a:sym typeface="DM Sans"/>
              </a:rPr>
              <a:t>=</a:t>
            </a:r>
            <a:endParaRPr b="1" sz="2200">
              <a:solidFill>
                <a:srgbClr val="1B3139"/>
              </a:solidFill>
              <a:latin typeface="DM Sans"/>
              <a:ea typeface="DM Sans"/>
              <a:cs typeface="DM Sans"/>
              <a:sym typeface="DM Sans"/>
            </a:endParaRPr>
          </a:p>
        </p:txBody>
      </p:sp>
      <p:sp>
        <p:nvSpPr>
          <p:cNvPr id="2675" name="Google Shape;2675;p111"/>
          <p:cNvSpPr txBox="1"/>
          <p:nvPr/>
        </p:nvSpPr>
        <p:spPr>
          <a:xfrm>
            <a:off x="5308400" y="2543400"/>
            <a:ext cx="3603000" cy="5835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2000">
                <a:solidFill>
                  <a:srgbClr val="1B3139"/>
                </a:solidFill>
                <a:latin typeface="DM Sans Medium"/>
                <a:ea typeface="DM Sans Medium"/>
                <a:cs typeface="DM Sans Medium"/>
                <a:sym typeface="DM Sans Medium"/>
              </a:rPr>
              <a:t>chunk_relevance/precision</a:t>
            </a:r>
            <a:endParaRPr sz="2000">
              <a:solidFill>
                <a:srgbClr val="1B3139"/>
              </a:solidFill>
              <a:latin typeface="DM Sans Medium"/>
              <a:ea typeface="DM Sans Medium"/>
              <a:cs typeface="DM Sans Medium"/>
              <a:sym typeface="DM Sans Medium"/>
            </a:endParaRPr>
          </a:p>
        </p:txBody>
      </p:sp>
      <p:cxnSp>
        <p:nvCxnSpPr>
          <p:cNvPr id="2676" name="Google Shape;2676;p111"/>
          <p:cNvCxnSpPr/>
          <p:nvPr/>
        </p:nvCxnSpPr>
        <p:spPr>
          <a:xfrm>
            <a:off x="4428200" y="3671700"/>
            <a:ext cx="630600" cy="0"/>
          </a:xfrm>
          <a:prstGeom prst="straightConnector1">
            <a:avLst/>
          </a:prstGeom>
          <a:noFill/>
          <a:ln cap="flat" cmpd="sng" w="28575">
            <a:solidFill>
              <a:srgbClr val="000000"/>
            </a:solidFill>
            <a:prstDash val="solid"/>
            <a:round/>
            <a:headEnd len="sm" w="sm" type="none"/>
            <a:tailEnd len="sm" w="sm" type="triangle"/>
          </a:ln>
        </p:spPr>
      </p:cxn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0" name="Shape 2680"/>
        <p:cNvGrpSpPr/>
        <p:nvPr/>
      </p:nvGrpSpPr>
      <p:grpSpPr>
        <a:xfrm>
          <a:off x="0" y="0"/>
          <a:ext cx="0" cy="0"/>
          <a:chOff x="0" y="0"/>
          <a:chExt cx="0" cy="0"/>
        </a:xfrm>
      </p:grpSpPr>
      <p:sp>
        <p:nvSpPr>
          <p:cNvPr id="2681" name="Google Shape;2681;p112"/>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Ground truth document recall</a:t>
            </a:r>
            <a:r>
              <a:rPr lang="en" sz="1200">
                <a:solidFill>
                  <a:schemeClr val="accent1"/>
                </a:solidFill>
                <a:latin typeface="DM Sans Medium"/>
                <a:ea typeface="DM Sans Medium"/>
                <a:cs typeface="DM Sans Medium"/>
                <a:sym typeface="DM Sans Medium"/>
              </a:rPr>
              <a:t>  /_static/images/generative-ai/ground-truth-document-recall.png</a:t>
            </a:r>
            <a:endParaRPr sz="200"/>
          </a:p>
        </p:txBody>
      </p:sp>
      <p:sp>
        <p:nvSpPr>
          <p:cNvPr id="2682" name="Google Shape;2682;p112"/>
          <p:cNvSpPr/>
          <p:nvPr/>
        </p:nvSpPr>
        <p:spPr>
          <a:xfrm>
            <a:off x="7442000" y="3203100"/>
            <a:ext cx="3613200" cy="1035300"/>
          </a:xfrm>
          <a:prstGeom prst="roundRect">
            <a:avLst>
              <a:gd fmla="val 16667" name="adj"/>
            </a:avLst>
          </a:prstGeom>
          <a:solidFill>
            <a:srgbClr val="FFFFFF"/>
          </a:solidFill>
          <a:ln cap="flat" cmpd="sng" w="19050">
            <a:solidFill>
              <a:srgbClr val="618794"/>
            </a:solidFill>
            <a:prstDash val="dash"/>
            <a:round/>
            <a:headEnd len="med" w="med" type="none"/>
            <a:tailEnd len="med" w="med"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683" name="Google Shape;2683;p112"/>
          <p:cNvSpPr/>
          <p:nvPr/>
        </p:nvSpPr>
        <p:spPr>
          <a:xfrm>
            <a:off x="4581150" y="1683759"/>
            <a:ext cx="1704300" cy="728400"/>
          </a:xfrm>
          <a:prstGeom prst="rect">
            <a:avLst/>
          </a:prstGeom>
          <a:solidFill>
            <a:srgbClr val="F9F7F4"/>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114300" marR="0" rtl="0" algn="l">
              <a:lnSpc>
                <a:spcPct val="100000"/>
              </a:lnSpc>
              <a:spcBef>
                <a:spcPts val="0"/>
              </a:spcBef>
              <a:spcAft>
                <a:spcPts val="0"/>
              </a:spcAft>
              <a:buNone/>
            </a:pPr>
            <a:r>
              <a:rPr b="1" lang="en" sz="1200">
                <a:solidFill>
                  <a:srgbClr val="000000"/>
                </a:solidFill>
                <a:latin typeface="DM Sans"/>
                <a:ea typeface="DM Sans"/>
                <a:cs typeface="DM Sans"/>
                <a:sym typeface="DM Sans"/>
              </a:rPr>
              <a:t>doc_uri:</a:t>
            </a:r>
            <a:r>
              <a:rPr lang="en" sz="1200">
                <a:solidFill>
                  <a:srgbClr val="000000"/>
                </a:solidFill>
                <a:latin typeface="DM Sans"/>
                <a:ea typeface="DM Sans"/>
                <a:cs typeface="DM Sans"/>
                <a:sym typeface="DM Sans"/>
              </a:rPr>
              <a:t> doc1</a:t>
            </a:r>
            <a:endParaRPr sz="1200">
              <a:solidFill>
                <a:srgbClr val="000000"/>
              </a:solidFill>
              <a:latin typeface="DM Sans"/>
              <a:ea typeface="DM Sans"/>
              <a:cs typeface="DM Sans"/>
              <a:sym typeface="DM Sans"/>
            </a:endParaRPr>
          </a:p>
          <a:p>
            <a:pPr indent="0" lvl="0" marL="114300" marR="0" rtl="0" algn="l">
              <a:lnSpc>
                <a:spcPct val="100000"/>
              </a:lnSpc>
              <a:spcBef>
                <a:spcPts val="0"/>
              </a:spcBef>
              <a:spcAft>
                <a:spcPts val="0"/>
              </a:spcAft>
              <a:buNone/>
            </a:pPr>
            <a:r>
              <a:rPr b="1" lang="en" sz="1200">
                <a:solidFill>
                  <a:srgbClr val="000000"/>
                </a:solidFill>
                <a:latin typeface="DM Sans"/>
                <a:ea typeface="DM Sans"/>
                <a:cs typeface="DM Sans"/>
                <a:sym typeface="DM Sans"/>
              </a:rPr>
              <a:t>content:</a:t>
            </a:r>
            <a:r>
              <a:rPr lang="en" sz="1200">
                <a:solidFill>
                  <a:srgbClr val="000000"/>
                </a:solidFill>
                <a:latin typeface="DM Sans"/>
                <a:ea typeface="DM Sans"/>
                <a:cs typeface="DM Sans"/>
                <a:sym typeface="DM Sans"/>
              </a:rPr>
              <a:t> …</a:t>
            </a:r>
            <a:endParaRPr sz="1200">
              <a:solidFill>
                <a:srgbClr val="000000"/>
              </a:solidFill>
              <a:latin typeface="DM Sans"/>
              <a:ea typeface="DM Sans"/>
              <a:cs typeface="DM Sans"/>
              <a:sym typeface="DM Sans"/>
            </a:endParaRPr>
          </a:p>
          <a:p>
            <a:pPr indent="0" lvl="0" marL="114300" marR="0" rtl="0" algn="l">
              <a:lnSpc>
                <a:spcPct val="100000"/>
              </a:lnSpc>
              <a:spcBef>
                <a:spcPts val="0"/>
              </a:spcBef>
              <a:spcAft>
                <a:spcPts val="0"/>
              </a:spcAft>
              <a:buNone/>
            </a:pPr>
            <a:r>
              <a:rPr b="1" lang="en" sz="1200">
                <a:solidFill>
                  <a:srgbClr val="000000"/>
                </a:solidFill>
                <a:latin typeface="DM Sans"/>
                <a:ea typeface="DM Sans"/>
                <a:cs typeface="DM Sans"/>
                <a:sym typeface="DM Sans"/>
              </a:rPr>
              <a:t>chunk_id: </a:t>
            </a:r>
            <a:r>
              <a:rPr lang="en" sz="1200">
                <a:solidFill>
                  <a:srgbClr val="000000"/>
                </a:solidFill>
                <a:latin typeface="DM Sans"/>
                <a:ea typeface="DM Sans"/>
                <a:cs typeface="DM Sans"/>
                <a:sym typeface="DM Sans"/>
              </a:rPr>
              <a:t>chunk1</a:t>
            </a:r>
            <a:endParaRPr sz="1200">
              <a:solidFill>
                <a:srgbClr val="000000"/>
              </a:solidFill>
              <a:latin typeface="DM Sans"/>
              <a:ea typeface="DM Sans"/>
              <a:cs typeface="DM Sans"/>
              <a:sym typeface="DM Sans"/>
            </a:endParaRPr>
          </a:p>
        </p:txBody>
      </p:sp>
      <p:sp>
        <p:nvSpPr>
          <p:cNvPr id="2684" name="Google Shape;2684;p112"/>
          <p:cNvSpPr/>
          <p:nvPr/>
        </p:nvSpPr>
        <p:spPr>
          <a:xfrm>
            <a:off x="4581150" y="1329088"/>
            <a:ext cx="1704300" cy="354600"/>
          </a:xfrm>
          <a:prstGeom prst="round2SameRect">
            <a:avLst>
              <a:gd fmla="val 16667" name="adj1"/>
              <a:gd fmla="val 0" name="adj2"/>
            </a:avLst>
          </a:prstGeom>
          <a:solidFill>
            <a:srgbClr val="00A972"/>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a:solidFill>
                  <a:srgbClr val="FFFFFF"/>
                </a:solidFill>
                <a:latin typeface="DM Sans"/>
                <a:ea typeface="DM Sans"/>
                <a:cs typeface="DM Sans"/>
                <a:sym typeface="DM Sans"/>
              </a:rPr>
              <a:t>Relevant</a:t>
            </a:r>
            <a:endParaRPr b="1">
              <a:solidFill>
                <a:srgbClr val="FFFFFF"/>
              </a:solidFill>
              <a:latin typeface="DM Sans"/>
              <a:ea typeface="DM Sans"/>
              <a:cs typeface="DM Sans"/>
              <a:sym typeface="DM Sans"/>
            </a:endParaRPr>
          </a:p>
        </p:txBody>
      </p:sp>
      <p:sp>
        <p:nvSpPr>
          <p:cNvPr id="2685" name="Google Shape;2685;p112"/>
          <p:cNvSpPr/>
          <p:nvPr/>
        </p:nvSpPr>
        <p:spPr>
          <a:xfrm>
            <a:off x="4581150" y="2933426"/>
            <a:ext cx="1704300" cy="728400"/>
          </a:xfrm>
          <a:prstGeom prst="rect">
            <a:avLst/>
          </a:prstGeom>
          <a:solidFill>
            <a:srgbClr val="F9F7F4"/>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None/>
            </a:pPr>
            <a:r>
              <a:rPr b="1" lang="en" sz="1200">
                <a:solidFill>
                  <a:srgbClr val="000000"/>
                </a:solidFill>
                <a:latin typeface="DM Sans"/>
                <a:ea typeface="DM Sans"/>
                <a:cs typeface="DM Sans"/>
                <a:sym typeface="DM Sans"/>
              </a:rPr>
              <a:t>doc_uri: </a:t>
            </a:r>
            <a:r>
              <a:rPr lang="en" sz="1200">
                <a:solidFill>
                  <a:srgbClr val="000000"/>
                </a:solidFill>
                <a:latin typeface="DM Sans"/>
                <a:ea typeface="DM Sans"/>
                <a:cs typeface="DM Sans"/>
                <a:sym typeface="DM Sans"/>
              </a:rPr>
              <a:t>doc1</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content:</a:t>
            </a:r>
            <a:r>
              <a:rPr lang="en" sz="1200">
                <a:solidFill>
                  <a:srgbClr val="000000"/>
                </a:solidFill>
                <a:latin typeface="DM Sans"/>
                <a:ea typeface="DM Sans"/>
                <a:cs typeface="DM Sans"/>
                <a:sym typeface="DM Sans"/>
              </a:rPr>
              <a:t> …</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chunk_id: </a:t>
            </a:r>
            <a:r>
              <a:rPr lang="en" sz="1200">
                <a:solidFill>
                  <a:srgbClr val="000000"/>
                </a:solidFill>
                <a:latin typeface="DM Sans"/>
                <a:ea typeface="DM Sans"/>
                <a:cs typeface="DM Sans"/>
                <a:sym typeface="DM Sans"/>
              </a:rPr>
              <a:t>chunk10</a:t>
            </a:r>
            <a:endParaRPr sz="1300"/>
          </a:p>
        </p:txBody>
      </p:sp>
      <p:sp>
        <p:nvSpPr>
          <p:cNvPr id="2686" name="Google Shape;2686;p112"/>
          <p:cNvSpPr/>
          <p:nvPr/>
        </p:nvSpPr>
        <p:spPr>
          <a:xfrm>
            <a:off x="4581150" y="2578755"/>
            <a:ext cx="1704300" cy="354600"/>
          </a:xfrm>
          <a:prstGeom prst="round2SameRect">
            <a:avLst>
              <a:gd fmla="val 16667" name="adj1"/>
              <a:gd fmla="val 0" name="adj2"/>
            </a:avLst>
          </a:prstGeom>
          <a:solidFill>
            <a:srgbClr val="00A972"/>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Relevant</a:t>
            </a:r>
            <a:endParaRPr sz="1200"/>
          </a:p>
        </p:txBody>
      </p:sp>
      <p:sp>
        <p:nvSpPr>
          <p:cNvPr id="2687" name="Google Shape;2687;p112"/>
          <p:cNvSpPr/>
          <p:nvPr/>
        </p:nvSpPr>
        <p:spPr>
          <a:xfrm>
            <a:off x="4581150" y="4183094"/>
            <a:ext cx="1704300" cy="728400"/>
          </a:xfrm>
          <a:prstGeom prst="rect">
            <a:avLst/>
          </a:prstGeom>
          <a:solidFill>
            <a:srgbClr val="F9F7F4"/>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None/>
            </a:pPr>
            <a:r>
              <a:rPr b="1" lang="en" sz="1200">
                <a:solidFill>
                  <a:srgbClr val="000000"/>
                </a:solidFill>
                <a:latin typeface="DM Sans"/>
                <a:ea typeface="DM Sans"/>
                <a:cs typeface="DM Sans"/>
                <a:sym typeface="DM Sans"/>
              </a:rPr>
              <a:t>doc_uri: </a:t>
            </a:r>
            <a:r>
              <a:rPr lang="en" sz="1200">
                <a:solidFill>
                  <a:srgbClr val="000000"/>
                </a:solidFill>
                <a:latin typeface="DM Sans"/>
                <a:ea typeface="DM Sans"/>
                <a:cs typeface="DM Sans"/>
                <a:sym typeface="DM Sans"/>
              </a:rPr>
              <a:t>doc2</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content:</a:t>
            </a:r>
            <a:r>
              <a:rPr lang="en" sz="1200">
                <a:solidFill>
                  <a:srgbClr val="000000"/>
                </a:solidFill>
                <a:latin typeface="DM Sans"/>
                <a:ea typeface="DM Sans"/>
                <a:cs typeface="DM Sans"/>
                <a:sym typeface="DM Sans"/>
              </a:rPr>
              <a:t> …</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chunk_id: </a:t>
            </a:r>
            <a:r>
              <a:rPr lang="en" sz="1200">
                <a:solidFill>
                  <a:srgbClr val="000000"/>
                </a:solidFill>
                <a:latin typeface="DM Sans"/>
                <a:ea typeface="DM Sans"/>
                <a:cs typeface="DM Sans"/>
                <a:sym typeface="DM Sans"/>
              </a:rPr>
              <a:t>chunk1</a:t>
            </a:r>
            <a:endParaRPr sz="1300"/>
          </a:p>
        </p:txBody>
      </p:sp>
      <p:sp>
        <p:nvSpPr>
          <p:cNvPr id="2688" name="Google Shape;2688;p112"/>
          <p:cNvSpPr/>
          <p:nvPr/>
        </p:nvSpPr>
        <p:spPr>
          <a:xfrm>
            <a:off x="4581150" y="3828423"/>
            <a:ext cx="1704300" cy="354600"/>
          </a:xfrm>
          <a:prstGeom prst="round2SameRect">
            <a:avLst>
              <a:gd fmla="val 16667" name="adj1"/>
              <a:gd fmla="val 0" name="adj2"/>
            </a:avLst>
          </a:prstGeom>
          <a:solidFill>
            <a:srgbClr val="00A972"/>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Relevant</a:t>
            </a:r>
            <a:endParaRPr sz="1200"/>
          </a:p>
        </p:txBody>
      </p:sp>
      <p:sp>
        <p:nvSpPr>
          <p:cNvPr id="2689" name="Google Shape;2689;p112"/>
          <p:cNvSpPr/>
          <p:nvPr/>
        </p:nvSpPr>
        <p:spPr>
          <a:xfrm>
            <a:off x="4581150" y="5432762"/>
            <a:ext cx="1704300" cy="728400"/>
          </a:xfrm>
          <a:prstGeom prst="rect">
            <a:avLst/>
          </a:prstGeom>
          <a:solidFill>
            <a:srgbClr val="F9F7F4"/>
          </a:solidFill>
          <a:ln cap="flat" cmpd="sng" w="19050">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None/>
            </a:pPr>
            <a:r>
              <a:rPr b="1" lang="en" sz="1200">
                <a:solidFill>
                  <a:srgbClr val="000000"/>
                </a:solidFill>
                <a:latin typeface="DM Sans"/>
                <a:ea typeface="DM Sans"/>
                <a:cs typeface="DM Sans"/>
                <a:sym typeface="DM Sans"/>
              </a:rPr>
              <a:t>doc_uri: </a:t>
            </a:r>
            <a:r>
              <a:rPr lang="en" sz="1200">
                <a:solidFill>
                  <a:srgbClr val="000000"/>
                </a:solidFill>
                <a:latin typeface="DM Sans"/>
                <a:ea typeface="DM Sans"/>
                <a:cs typeface="DM Sans"/>
                <a:sym typeface="DM Sans"/>
              </a:rPr>
              <a:t>doc3</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content:</a:t>
            </a:r>
            <a:r>
              <a:rPr lang="en" sz="1200">
                <a:solidFill>
                  <a:srgbClr val="000000"/>
                </a:solidFill>
                <a:latin typeface="DM Sans"/>
                <a:ea typeface="DM Sans"/>
                <a:cs typeface="DM Sans"/>
                <a:sym typeface="DM Sans"/>
              </a:rPr>
              <a:t> …</a:t>
            </a:r>
            <a:endParaRPr sz="1200">
              <a:solidFill>
                <a:srgbClr val="000000"/>
              </a:solidFill>
              <a:latin typeface="DM Sans"/>
              <a:ea typeface="DM Sans"/>
              <a:cs typeface="DM Sans"/>
              <a:sym typeface="DM Sans"/>
            </a:endParaRPr>
          </a:p>
          <a:p>
            <a:pPr indent="0" lvl="0" marL="114300" rtl="0" algn="l">
              <a:spcBef>
                <a:spcPts val="0"/>
              </a:spcBef>
              <a:spcAft>
                <a:spcPts val="0"/>
              </a:spcAft>
              <a:buNone/>
            </a:pPr>
            <a:r>
              <a:rPr b="1" lang="en" sz="1200">
                <a:solidFill>
                  <a:srgbClr val="000000"/>
                </a:solidFill>
                <a:latin typeface="DM Sans"/>
                <a:ea typeface="DM Sans"/>
                <a:cs typeface="DM Sans"/>
                <a:sym typeface="DM Sans"/>
              </a:rPr>
              <a:t>chunk_id: </a:t>
            </a:r>
            <a:r>
              <a:rPr lang="en" sz="1200">
                <a:solidFill>
                  <a:srgbClr val="000000"/>
                </a:solidFill>
                <a:latin typeface="DM Sans"/>
                <a:ea typeface="DM Sans"/>
                <a:cs typeface="DM Sans"/>
                <a:sym typeface="DM Sans"/>
              </a:rPr>
              <a:t>chunk6</a:t>
            </a:r>
            <a:endParaRPr sz="1300"/>
          </a:p>
        </p:txBody>
      </p:sp>
      <p:sp>
        <p:nvSpPr>
          <p:cNvPr id="2690" name="Google Shape;2690;p112"/>
          <p:cNvSpPr/>
          <p:nvPr/>
        </p:nvSpPr>
        <p:spPr>
          <a:xfrm>
            <a:off x="4581150" y="5078091"/>
            <a:ext cx="1704300" cy="354600"/>
          </a:xfrm>
          <a:prstGeom prst="round2SameRect">
            <a:avLst>
              <a:gd fmla="val 16667" name="adj1"/>
              <a:gd fmla="val 0" name="adj2"/>
            </a:avLst>
          </a:prstGeom>
          <a:solidFill>
            <a:srgbClr val="FF6952"/>
          </a:solidFill>
          <a:ln cap="flat" cmpd="sng" w="19050">
            <a:solidFill>
              <a:srgbClr val="FF69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a:solidFill>
                  <a:srgbClr val="FFFFFF"/>
                </a:solidFill>
                <a:latin typeface="DM Sans"/>
                <a:ea typeface="DM Sans"/>
                <a:cs typeface="DM Sans"/>
                <a:sym typeface="DM Sans"/>
              </a:rPr>
              <a:t>Not relevant</a:t>
            </a:r>
            <a:endParaRPr sz="1200"/>
          </a:p>
        </p:txBody>
      </p:sp>
      <p:sp>
        <p:nvSpPr>
          <p:cNvPr id="2691" name="Google Shape;2691;p112"/>
          <p:cNvSpPr txBox="1"/>
          <p:nvPr/>
        </p:nvSpPr>
        <p:spPr>
          <a:xfrm>
            <a:off x="4524000" y="879700"/>
            <a:ext cx="1837800" cy="3423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lang="en" sz="1600">
                <a:solidFill>
                  <a:srgbClr val="1B3139"/>
                </a:solidFill>
                <a:latin typeface="DM Sans Medium"/>
                <a:ea typeface="DM Sans Medium"/>
                <a:cs typeface="DM Sans Medium"/>
                <a:sym typeface="DM Sans Medium"/>
              </a:rPr>
              <a:t>Retrieved chunks </a:t>
            </a:r>
            <a:endParaRPr sz="1600">
              <a:solidFill>
                <a:srgbClr val="1B3139"/>
              </a:solidFill>
              <a:latin typeface="DM Sans Medium"/>
              <a:ea typeface="DM Sans Medium"/>
              <a:cs typeface="DM Sans Medium"/>
              <a:sym typeface="DM Sans Medium"/>
            </a:endParaRPr>
          </a:p>
        </p:txBody>
      </p:sp>
      <p:sp>
        <p:nvSpPr>
          <p:cNvPr id="2692" name="Google Shape;2692;p112"/>
          <p:cNvSpPr txBox="1"/>
          <p:nvPr/>
        </p:nvSpPr>
        <p:spPr>
          <a:xfrm>
            <a:off x="9669500" y="3358810"/>
            <a:ext cx="428400" cy="40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1B5162"/>
                </a:solidFill>
                <a:latin typeface="DM Sans"/>
                <a:ea typeface="DM Sans"/>
                <a:cs typeface="DM Sans"/>
                <a:sym typeface="DM Sans"/>
              </a:rPr>
              <a:t>2</a:t>
            </a:r>
            <a:endParaRPr b="1">
              <a:solidFill>
                <a:srgbClr val="1B3139"/>
              </a:solidFill>
              <a:latin typeface="DM Sans"/>
              <a:ea typeface="DM Sans"/>
              <a:cs typeface="DM Sans"/>
              <a:sym typeface="DM Sans"/>
            </a:endParaRPr>
          </a:p>
        </p:txBody>
      </p:sp>
      <p:sp>
        <p:nvSpPr>
          <p:cNvPr id="2693" name="Google Shape;2693;p112"/>
          <p:cNvSpPr txBox="1"/>
          <p:nvPr/>
        </p:nvSpPr>
        <p:spPr>
          <a:xfrm>
            <a:off x="9669500" y="3745657"/>
            <a:ext cx="428400" cy="40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1B5162"/>
                </a:solidFill>
                <a:latin typeface="DM Sans"/>
                <a:ea typeface="DM Sans"/>
                <a:cs typeface="DM Sans"/>
                <a:sym typeface="DM Sans"/>
              </a:rPr>
              <a:t>2</a:t>
            </a:r>
            <a:endParaRPr b="1">
              <a:solidFill>
                <a:srgbClr val="1B3139"/>
              </a:solidFill>
              <a:latin typeface="DM Sans"/>
              <a:ea typeface="DM Sans"/>
              <a:cs typeface="DM Sans"/>
              <a:sym typeface="DM Sans"/>
            </a:endParaRPr>
          </a:p>
        </p:txBody>
      </p:sp>
      <p:sp>
        <p:nvSpPr>
          <p:cNvPr id="2694" name="Google Shape;2694;p112"/>
          <p:cNvSpPr txBox="1"/>
          <p:nvPr/>
        </p:nvSpPr>
        <p:spPr>
          <a:xfrm>
            <a:off x="7442050" y="3465200"/>
            <a:ext cx="2181300" cy="280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
                <a:solidFill>
                  <a:srgbClr val="1B5162"/>
                </a:solidFill>
                <a:latin typeface="DM Sans"/>
                <a:ea typeface="DM Sans"/>
                <a:cs typeface="DM Sans"/>
                <a:sym typeface="DM Sans"/>
              </a:rPr>
              <a:t>relevant docs returned</a:t>
            </a:r>
            <a:endParaRPr b="1" sz="1200">
              <a:solidFill>
                <a:srgbClr val="1B3139"/>
              </a:solidFill>
              <a:latin typeface="DM Sans"/>
              <a:ea typeface="DM Sans"/>
              <a:cs typeface="DM Sans"/>
              <a:sym typeface="DM Sans"/>
            </a:endParaRPr>
          </a:p>
        </p:txBody>
      </p:sp>
      <p:cxnSp>
        <p:nvCxnSpPr>
          <p:cNvPr id="2695" name="Google Shape;2695;p112"/>
          <p:cNvCxnSpPr/>
          <p:nvPr/>
        </p:nvCxnSpPr>
        <p:spPr>
          <a:xfrm>
            <a:off x="7679297" y="3745657"/>
            <a:ext cx="1706400" cy="0"/>
          </a:xfrm>
          <a:prstGeom prst="straightConnector1">
            <a:avLst/>
          </a:prstGeom>
          <a:noFill/>
          <a:ln cap="flat" cmpd="sng" w="28575">
            <a:solidFill>
              <a:srgbClr val="1B5162"/>
            </a:solidFill>
            <a:prstDash val="solid"/>
            <a:round/>
            <a:headEnd len="med" w="med" type="none"/>
            <a:tailEnd len="med" w="med" type="none"/>
          </a:ln>
        </p:spPr>
      </p:cxnSp>
      <p:sp>
        <p:nvSpPr>
          <p:cNvPr id="2696" name="Google Shape;2696;p112"/>
          <p:cNvSpPr txBox="1"/>
          <p:nvPr/>
        </p:nvSpPr>
        <p:spPr>
          <a:xfrm>
            <a:off x="7442000" y="3793567"/>
            <a:ext cx="2181300" cy="28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B5162"/>
                </a:solidFill>
                <a:latin typeface="DM Sans"/>
                <a:ea typeface="DM Sans"/>
                <a:cs typeface="DM Sans"/>
                <a:sym typeface="DM Sans"/>
              </a:rPr>
              <a:t>total relevant docs</a:t>
            </a:r>
            <a:endParaRPr b="1" sz="1200">
              <a:solidFill>
                <a:srgbClr val="1B3139"/>
              </a:solidFill>
              <a:latin typeface="DM Sans"/>
              <a:ea typeface="DM Sans"/>
              <a:cs typeface="DM Sans"/>
              <a:sym typeface="DM Sans"/>
            </a:endParaRPr>
          </a:p>
        </p:txBody>
      </p:sp>
      <p:sp>
        <p:nvSpPr>
          <p:cNvPr id="2697" name="Google Shape;2697;p112"/>
          <p:cNvSpPr txBox="1"/>
          <p:nvPr/>
        </p:nvSpPr>
        <p:spPr>
          <a:xfrm>
            <a:off x="9409992" y="3529381"/>
            <a:ext cx="316200" cy="40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solidFill>
                  <a:srgbClr val="1B5162"/>
                </a:solidFill>
                <a:latin typeface="DM Sans"/>
                <a:ea typeface="DM Sans"/>
                <a:cs typeface="DM Sans"/>
                <a:sym typeface="DM Sans"/>
              </a:rPr>
              <a:t>=</a:t>
            </a:r>
            <a:endParaRPr b="1" sz="2200">
              <a:solidFill>
                <a:srgbClr val="1B3139"/>
              </a:solidFill>
              <a:latin typeface="DM Sans"/>
              <a:ea typeface="DM Sans"/>
              <a:cs typeface="DM Sans"/>
              <a:sym typeface="DM Sans"/>
            </a:endParaRPr>
          </a:p>
        </p:txBody>
      </p:sp>
      <p:cxnSp>
        <p:nvCxnSpPr>
          <p:cNvPr id="2698" name="Google Shape;2698;p112"/>
          <p:cNvCxnSpPr/>
          <p:nvPr/>
        </p:nvCxnSpPr>
        <p:spPr>
          <a:xfrm>
            <a:off x="9766635" y="3745657"/>
            <a:ext cx="234300" cy="0"/>
          </a:xfrm>
          <a:prstGeom prst="straightConnector1">
            <a:avLst/>
          </a:prstGeom>
          <a:noFill/>
          <a:ln cap="flat" cmpd="sng" w="28575">
            <a:solidFill>
              <a:srgbClr val="1B5162"/>
            </a:solidFill>
            <a:prstDash val="solid"/>
            <a:round/>
            <a:headEnd len="med" w="med" type="none"/>
            <a:tailEnd len="med" w="med" type="none"/>
          </a:ln>
        </p:spPr>
      </p:cxnSp>
      <p:sp>
        <p:nvSpPr>
          <p:cNvPr id="2699" name="Google Shape;2699;p112"/>
          <p:cNvSpPr txBox="1"/>
          <p:nvPr/>
        </p:nvSpPr>
        <p:spPr>
          <a:xfrm>
            <a:off x="10244725" y="3529375"/>
            <a:ext cx="760800" cy="40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1B5162"/>
                </a:solidFill>
                <a:latin typeface="DM Sans"/>
                <a:ea typeface="DM Sans"/>
                <a:cs typeface="DM Sans"/>
                <a:sym typeface="DM Sans"/>
              </a:rPr>
              <a:t>100%</a:t>
            </a:r>
            <a:endParaRPr b="1" sz="1500">
              <a:solidFill>
                <a:srgbClr val="1B3139"/>
              </a:solidFill>
              <a:latin typeface="DM Sans"/>
              <a:ea typeface="DM Sans"/>
              <a:cs typeface="DM Sans"/>
              <a:sym typeface="DM Sans"/>
            </a:endParaRPr>
          </a:p>
        </p:txBody>
      </p:sp>
      <p:sp>
        <p:nvSpPr>
          <p:cNvPr id="2700" name="Google Shape;2700;p112"/>
          <p:cNvSpPr txBox="1"/>
          <p:nvPr/>
        </p:nvSpPr>
        <p:spPr>
          <a:xfrm>
            <a:off x="10026286" y="3529366"/>
            <a:ext cx="316200" cy="40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solidFill>
                  <a:srgbClr val="1B5162"/>
                </a:solidFill>
                <a:latin typeface="DM Sans"/>
                <a:ea typeface="DM Sans"/>
                <a:cs typeface="DM Sans"/>
                <a:sym typeface="DM Sans"/>
              </a:rPr>
              <a:t>=</a:t>
            </a:r>
            <a:endParaRPr b="1" sz="2200">
              <a:solidFill>
                <a:srgbClr val="1B3139"/>
              </a:solidFill>
              <a:latin typeface="DM Sans"/>
              <a:ea typeface="DM Sans"/>
              <a:cs typeface="DM Sans"/>
              <a:sym typeface="DM Sans"/>
            </a:endParaRPr>
          </a:p>
        </p:txBody>
      </p:sp>
      <p:sp>
        <p:nvSpPr>
          <p:cNvPr id="2701" name="Google Shape;2701;p112"/>
          <p:cNvSpPr txBox="1"/>
          <p:nvPr/>
        </p:nvSpPr>
        <p:spPr>
          <a:xfrm>
            <a:off x="7442000" y="2619600"/>
            <a:ext cx="4003500" cy="5835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2000">
                <a:solidFill>
                  <a:srgbClr val="1B3139"/>
                </a:solidFill>
                <a:latin typeface="DM Sans Medium"/>
                <a:ea typeface="DM Sans Medium"/>
                <a:cs typeface="DM Sans Medium"/>
                <a:sym typeface="DM Sans Medium"/>
              </a:rPr>
              <a:t>ground_truth/document_recall</a:t>
            </a:r>
            <a:endParaRPr sz="2000">
              <a:solidFill>
                <a:srgbClr val="1B3139"/>
              </a:solidFill>
              <a:latin typeface="DM Sans Medium"/>
              <a:ea typeface="DM Sans Medium"/>
              <a:cs typeface="DM Sans Medium"/>
              <a:sym typeface="DM Sans Medium"/>
            </a:endParaRPr>
          </a:p>
        </p:txBody>
      </p:sp>
      <p:cxnSp>
        <p:nvCxnSpPr>
          <p:cNvPr id="2702" name="Google Shape;2702;p112"/>
          <p:cNvCxnSpPr/>
          <p:nvPr/>
        </p:nvCxnSpPr>
        <p:spPr>
          <a:xfrm>
            <a:off x="6561800" y="3747900"/>
            <a:ext cx="630600" cy="0"/>
          </a:xfrm>
          <a:prstGeom prst="straightConnector1">
            <a:avLst/>
          </a:prstGeom>
          <a:noFill/>
          <a:ln cap="flat" cmpd="sng" w="28575">
            <a:solidFill>
              <a:srgbClr val="000000"/>
            </a:solidFill>
            <a:prstDash val="solid"/>
            <a:round/>
            <a:headEnd len="sm" w="sm" type="none"/>
            <a:tailEnd len="sm" w="sm" type="triangle"/>
          </a:ln>
        </p:spPr>
      </p:cxnSp>
      <p:sp>
        <p:nvSpPr>
          <p:cNvPr id="2703" name="Google Shape;2703;p112"/>
          <p:cNvSpPr/>
          <p:nvPr/>
        </p:nvSpPr>
        <p:spPr>
          <a:xfrm>
            <a:off x="1752600" y="2821500"/>
            <a:ext cx="2078100" cy="1480500"/>
          </a:xfrm>
          <a:prstGeom prst="roundRect">
            <a:avLst>
              <a:gd fmla="val 16667" name="adj"/>
            </a:avLst>
          </a:prstGeom>
          <a:solidFill>
            <a:srgbClr val="FFFFFF"/>
          </a:solidFill>
          <a:ln cap="flat" cmpd="sng" w="19050">
            <a:solidFill>
              <a:srgbClr val="FFAB40"/>
            </a:solidFill>
            <a:prstDash val="dash"/>
            <a:round/>
            <a:headEnd len="med" w="med" type="none"/>
            <a:tailEnd len="med" w="med"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704" name="Google Shape;2704;p112"/>
          <p:cNvSpPr txBox="1"/>
          <p:nvPr/>
        </p:nvSpPr>
        <p:spPr>
          <a:xfrm>
            <a:off x="1828850" y="3527225"/>
            <a:ext cx="1406700" cy="675000"/>
          </a:xfrm>
          <a:prstGeom prst="rect">
            <a:avLst/>
          </a:prstGeom>
          <a:noFill/>
          <a:ln>
            <a:noFill/>
          </a:ln>
        </p:spPr>
        <p:txBody>
          <a:bodyPr anchorCtr="0" anchor="b" bIns="91425" lIns="91425" spcFirstLastPara="1" rIns="91425" wrap="square" tIns="91425">
            <a:noAutofit/>
          </a:bodyPr>
          <a:lstStyle/>
          <a:p>
            <a:pPr indent="-330200" lvl="0" marL="457200" rtl="0" algn="l">
              <a:spcBef>
                <a:spcPts val="0"/>
              </a:spcBef>
              <a:spcAft>
                <a:spcPts val="0"/>
              </a:spcAft>
              <a:buClr>
                <a:srgbClr val="1B5162"/>
              </a:buClr>
              <a:buSzPts val="1600"/>
              <a:buFont typeface="DM Sans Medium"/>
              <a:buChar char="●"/>
            </a:pPr>
            <a:r>
              <a:rPr lang="en" sz="1600">
                <a:solidFill>
                  <a:srgbClr val="1B5162"/>
                </a:solidFill>
                <a:latin typeface="DM Sans Medium"/>
                <a:ea typeface="DM Sans Medium"/>
                <a:cs typeface="DM Sans Medium"/>
                <a:sym typeface="DM Sans Medium"/>
              </a:rPr>
              <a:t>doc1</a:t>
            </a:r>
            <a:endParaRPr sz="1600">
              <a:solidFill>
                <a:srgbClr val="1B5162"/>
              </a:solidFill>
              <a:latin typeface="DM Sans Medium"/>
              <a:ea typeface="DM Sans Medium"/>
              <a:cs typeface="DM Sans Medium"/>
              <a:sym typeface="DM Sans Medium"/>
            </a:endParaRPr>
          </a:p>
          <a:p>
            <a:pPr indent="-330200" lvl="0" marL="457200" rtl="0" algn="l">
              <a:spcBef>
                <a:spcPts val="0"/>
              </a:spcBef>
              <a:spcAft>
                <a:spcPts val="0"/>
              </a:spcAft>
              <a:buClr>
                <a:srgbClr val="1B5162"/>
              </a:buClr>
              <a:buSzPts val="1600"/>
              <a:buFont typeface="DM Sans Medium"/>
              <a:buChar char="●"/>
            </a:pPr>
            <a:r>
              <a:rPr lang="en" sz="1600">
                <a:solidFill>
                  <a:srgbClr val="1B5162"/>
                </a:solidFill>
                <a:latin typeface="DM Sans Medium"/>
                <a:ea typeface="DM Sans Medium"/>
                <a:cs typeface="DM Sans Medium"/>
                <a:sym typeface="DM Sans Medium"/>
              </a:rPr>
              <a:t>doc2</a:t>
            </a:r>
            <a:endParaRPr sz="1600">
              <a:solidFill>
                <a:srgbClr val="1B5162"/>
              </a:solidFill>
              <a:latin typeface="DM Sans Medium"/>
              <a:ea typeface="DM Sans Medium"/>
              <a:cs typeface="DM Sans Medium"/>
              <a:sym typeface="DM Sans Medium"/>
            </a:endParaRPr>
          </a:p>
        </p:txBody>
      </p:sp>
      <p:sp>
        <p:nvSpPr>
          <p:cNvPr id="2705" name="Google Shape;2705;p112"/>
          <p:cNvSpPr txBox="1"/>
          <p:nvPr/>
        </p:nvSpPr>
        <p:spPr>
          <a:xfrm>
            <a:off x="1930650" y="2947625"/>
            <a:ext cx="1811700" cy="583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1800">
                <a:solidFill>
                  <a:srgbClr val="1B3139"/>
                </a:solidFill>
                <a:latin typeface="DM Sans Medium"/>
                <a:ea typeface="DM Sans Medium"/>
                <a:cs typeface="DM Sans Medium"/>
                <a:sym typeface="DM Sans Medium"/>
              </a:rPr>
              <a:t>Ground truth relevant docs:</a:t>
            </a:r>
            <a:endParaRPr sz="1800">
              <a:solidFill>
                <a:srgbClr val="1B3139"/>
              </a:solidFill>
              <a:latin typeface="DM Sans Medium"/>
              <a:ea typeface="DM Sans Medium"/>
              <a:cs typeface="DM Sans Medium"/>
              <a:sym typeface="DM Sans Medium"/>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9" name="Shape 2709"/>
        <p:cNvGrpSpPr/>
        <p:nvPr/>
      </p:nvGrpSpPr>
      <p:grpSpPr>
        <a:xfrm>
          <a:off x="0" y="0"/>
          <a:ext cx="0" cy="0"/>
          <a:chOff x="0" y="0"/>
          <a:chExt cx="0" cy="0"/>
        </a:xfrm>
      </p:grpSpPr>
      <p:sp>
        <p:nvSpPr>
          <p:cNvPr id="2710" name="Google Shape;2710;p113"/>
          <p:cNvSpPr txBox="1"/>
          <p:nvPr/>
        </p:nvSpPr>
        <p:spPr>
          <a:xfrm>
            <a:off x="0" y="0"/>
            <a:ext cx="11977800" cy="51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Agentic diagrams</a:t>
            </a:r>
            <a:r>
              <a:rPr lang="en" sz="1200">
                <a:solidFill>
                  <a:schemeClr val="accent1"/>
                </a:solidFill>
                <a:latin typeface="DM Sans Medium"/>
                <a:ea typeface="DM Sans Medium"/>
                <a:cs typeface="DM Sans Medium"/>
                <a:sym typeface="DM Sans Medium"/>
              </a:rPr>
              <a:t> </a:t>
            </a:r>
            <a:r>
              <a:rPr lang="en" sz="1200">
                <a:solidFill>
                  <a:schemeClr val="accent1"/>
                </a:solidFill>
                <a:latin typeface="DM Sans Medium"/>
                <a:ea typeface="DM Sans Medium"/>
                <a:cs typeface="DM Sans Medium"/>
                <a:sym typeface="DM Sans Medium"/>
              </a:rPr>
              <a:t>/_static/images/generative-ai/llms.png, /_static/images/generative-ai/llm-tools.png, /_static/images/generative-ai/ai-agent.png , /_static/images/generative-ai/multi-agent-system.png</a:t>
            </a:r>
            <a:endParaRPr sz="200"/>
          </a:p>
        </p:txBody>
      </p:sp>
      <p:grpSp>
        <p:nvGrpSpPr>
          <p:cNvPr id="2711" name="Google Shape;2711;p113"/>
          <p:cNvGrpSpPr/>
          <p:nvPr/>
        </p:nvGrpSpPr>
        <p:grpSpPr>
          <a:xfrm>
            <a:off x="1806842" y="493769"/>
            <a:ext cx="2592825" cy="796339"/>
            <a:chOff x="1971705" y="722369"/>
            <a:chExt cx="2592825" cy="796339"/>
          </a:xfrm>
        </p:grpSpPr>
        <p:grpSp>
          <p:nvGrpSpPr>
            <p:cNvPr id="2712" name="Google Shape;2712;p113"/>
            <p:cNvGrpSpPr/>
            <p:nvPr/>
          </p:nvGrpSpPr>
          <p:grpSpPr>
            <a:xfrm>
              <a:off x="1971705" y="722369"/>
              <a:ext cx="1089527" cy="796339"/>
              <a:chOff x="579727" y="3932083"/>
              <a:chExt cx="1136700" cy="834300"/>
            </a:xfrm>
          </p:grpSpPr>
          <p:sp>
            <p:nvSpPr>
              <p:cNvPr id="2713" name="Google Shape;2713;p113"/>
              <p:cNvSpPr/>
              <p:nvPr/>
            </p:nvSpPr>
            <p:spPr>
              <a:xfrm>
                <a:off x="579727" y="3932083"/>
                <a:ext cx="11367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User</a:t>
                </a:r>
                <a:endParaRPr b="1" sz="1100">
                  <a:latin typeface="DM Sans"/>
                  <a:ea typeface="DM Sans"/>
                  <a:cs typeface="DM Sans"/>
                  <a:sym typeface="DM Sans"/>
                </a:endParaRPr>
              </a:p>
            </p:txBody>
          </p:sp>
          <p:pic>
            <p:nvPicPr>
              <p:cNvPr id="2714" name="Google Shape;2714;p113"/>
              <p:cNvPicPr preferRelativeResize="0"/>
              <p:nvPr/>
            </p:nvPicPr>
            <p:blipFill rotWithShape="1">
              <a:blip r:embed="rId3">
                <a:alphaModFix/>
              </a:blip>
              <a:srcRect b="0" l="0" r="0" t="0"/>
              <a:stretch/>
            </p:blipFill>
            <p:spPr>
              <a:xfrm>
                <a:off x="902076" y="4036810"/>
                <a:ext cx="492600" cy="492766"/>
              </a:xfrm>
              <a:prstGeom prst="rect">
                <a:avLst/>
              </a:prstGeom>
              <a:noFill/>
              <a:ln>
                <a:noFill/>
              </a:ln>
            </p:spPr>
          </p:pic>
        </p:grpSp>
        <p:grpSp>
          <p:nvGrpSpPr>
            <p:cNvPr id="2715" name="Google Shape;2715;p113"/>
            <p:cNvGrpSpPr/>
            <p:nvPr/>
          </p:nvGrpSpPr>
          <p:grpSpPr>
            <a:xfrm>
              <a:off x="3474930" y="722369"/>
              <a:ext cx="1089600" cy="796200"/>
              <a:chOff x="5680405" y="2153119"/>
              <a:chExt cx="1089600" cy="796200"/>
            </a:xfrm>
          </p:grpSpPr>
          <p:sp>
            <p:nvSpPr>
              <p:cNvPr id="2716" name="Google Shape;2716;p113"/>
              <p:cNvSpPr/>
              <p:nvPr/>
            </p:nvSpPr>
            <p:spPr>
              <a:xfrm>
                <a:off x="5680405" y="2153119"/>
                <a:ext cx="1089600" cy="79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LLM</a:t>
                </a:r>
                <a:endParaRPr b="1" sz="1100">
                  <a:latin typeface="DM Sans"/>
                  <a:ea typeface="DM Sans"/>
                  <a:cs typeface="DM Sans"/>
                  <a:sym typeface="DM Sans"/>
                </a:endParaRPr>
              </a:p>
            </p:txBody>
          </p:sp>
          <p:pic>
            <p:nvPicPr>
              <p:cNvPr id="2717" name="Google Shape;2717;p113"/>
              <p:cNvPicPr preferRelativeResize="0"/>
              <p:nvPr/>
            </p:nvPicPr>
            <p:blipFill rotWithShape="1">
              <a:blip r:embed="rId4">
                <a:alphaModFix/>
              </a:blip>
              <a:srcRect b="0" l="0" r="0" t="0"/>
              <a:stretch/>
            </p:blipFill>
            <p:spPr>
              <a:xfrm>
                <a:off x="5989087" y="2260168"/>
                <a:ext cx="472159" cy="470185"/>
              </a:xfrm>
              <a:prstGeom prst="rect">
                <a:avLst/>
              </a:prstGeom>
              <a:noFill/>
              <a:ln>
                <a:noFill/>
              </a:ln>
            </p:spPr>
          </p:pic>
        </p:grpSp>
        <p:cxnSp>
          <p:nvCxnSpPr>
            <p:cNvPr id="2718" name="Google Shape;2718;p113"/>
            <p:cNvCxnSpPr/>
            <p:nvPr/>
          </p:nvCxnSpPr>
          <p:spPr>
            <a:xfrm>
              <a:off x="3061246" y="1192501"/>
              <a:ext cx="395700" cy="0"/>
            </a:xfrm>
            <a:prstGeom prst="straightConnector1">
              <a:avLst/>
            </a:prstGeom>
            <a:noFill/>
            <a:ln cap="flat" cmpd="sng" w="19050">
              <a:solidFill>
                <a:srgbClr val="618794"/>
              </a:solidFill>
              <a:prstDash val="dash"/>
              <a:round/>
              <a:headEnd len="med" w="med" type="none"/>
              <a:tailEnd len="med" w="med" type="triangle"/>
            </a:ln>
          </p:spPr>
        </p:cxnSp>
        <p:cxnSp>
          <p:nvCxnSpPr>
            <p:cNvPr id="2719" name="Google Shape;2719;p113"/>
            <p:cNvCxnSpPr/>
            <p:nvPr/>
          </p:nvCxnSpPr>
          <p:spPr>
            <a:xfrm rot="10800000">
              <a:off x="3061336" y="1048450"/>
              <a:ext cx="395700" cy="0"/>
            </a:xfrm>
            <a:prstGeom prst="straightConnector1">
              <a:avLst/>
            </a:prstGeom>
            <a:noFill/>
            <a:ln cap="flat" cmpd="sng" w="19050">
              <a:solidFill>
                <a:srgbClr val="618794"/>
              </a:solidFill>
              <a:prstDash val="dash"/>
              <a:round/>
              <a:headEnd len="med" w="med" type="none"/>
              <a:tailEnd len="med" w="med" type="triangle"/>
            </a:ln>
          </p:spPr>
        </p:cxnSp>
      </p:grpSp>
      <p:sp>
        <p:nvSpPr>
          <p:cNvPr id="2720" name="Google Shape;2720;p113"/>
          <p:cNvSpPr txBox="1"/>
          <p:nvPr/>
        </p:nvSpPr>
        <p:spPr>
          <a:xfrm>
            <a:off x="1675975" y="2965200"/>
            <a:ext cx="2854500" cy="477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500">
                <a:solidFill>
                  <a:srgbClr val="00A972"/>
                </a:solidFill>
                <a:latin typeface="DM Sans"/>
                <a:ea typeface="DM Sans"/>
                <a:cs typeface="DM Sans"/>
                <a:sym typeface="DM Sans"/>
              </a:rPr>
              <a:t>LLMs  + hardcoded tools</a:t>
            </a:r>
            <a:endParaRPr b="1" sz="1500">
              <a:solidFill>
                <a:srgbClr val="00A972"/>
              </a:solidFill>
              <a:latin typeface="DM Sans"/>
              <a:ea typeface="DM Sans"/>
              <a:cs typeface="DM Sans"/>
              <a:sym typeface="DM Sans"/>
            </a:endParaRPr>
          </a:p>
        </p:txBody>
      </p:sp>
      <p:grpSp>
        <p:nvGrpSpPr>
          <p:cNvPr id="2721" name="Google Shape;2721;p113"/>
          <p:cNvGrpSpPr/>
          <p:nvPr/>
        </p:nvGrpSpPr>
        <p:grpSpPr>
          <a:xfrm>
            <a:off x="1806842" y="2065763"/>
            <a:ext cx="8099458" cy="938400"/>
            <a:chOff x="1806842" y="2291063"/>
            <a:chExt cx="8099458" cy="938400"/>
          </a:xfrm>
        </p:grpSpPr>
        <p:grpSp>
          <p:nvGrpSpPr>
            <p:cNvPr id="2722" name="Google Shape;2722;p113"/>
            <p:cNvGrpSpPr/>
            <p:nvPr/>
          </p:nvGrpSpPr>
          <p:grpSpPr>
            <a:xfrm>
              <a:off x="1806842" y="2360606"/>
              <a:ext cx="1089527" cy="796339"/>
              <a:chOff x="579727" y="3932083"/>
              <a:chExt cx="1136700" cy="834300"/>
            </a:xfrm>
          </p:grpSpPr>
          <p:sp>
            <p:nvSpPr>
              <p:cNvPr id="2723" name="Google Shape;2723;p113"/>
              <p:cNvSpPr/>
              <p:nvPr/>
            </p:nvSpPr>
            <p:spPr>
              <a:xfrm>
                <a:off x="579727" y="3932083"/>
                <a:ext cx="11367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User</a:t>
                </a:r>
                <a:endParaRPr b="1" sz="1100">
                  <a:latin typeface="DM Sans"/>
                  <a:ea typeface="DM Sans"/>
                  <a:cs typeface="DM Sans"/>
                  <a:sym typeface="DM Sans"/>
                </a:endParaRPr>
              </a:p>
            </p:txBody>
          </p:sp>
          <p:pic>
            <p:nvPicPr>
              <p:cNvPr id="2724" name="Google Shape;2724;p113"/>
              <p:cNvPicPr preferRelativeResize="0"/>
              <p:nvPr/>
            </p:nvPicPr>
            <p:blipFill rotWithShape="1">
              <a:blip r:embed="rId3">
                <a:alphaModFix/>
              </a:blip>
              <a:srcRect b="0" l="0" r="0" t="0"/>
              <a:stretch/>
            </p:blipFill>
            <p:spPr>
              <a:xfrm>
                <a:off x="902076" y="4036810"/>
                <a:ext cx="492600" cy="492766"/>
              </a:xfrm>
              <a:prstGeom prst="rect">
                <a:avLst/>
              </a:prstGeom>
              <a:noFill/>
              <a:ln>
                <a:noFill/>
              </a:ln>
            </p:spPr>
          </p:pic>
        </p:grpSp>
        <p:grpSp>
          <p:nvGrpSpPr>
            <p:cNvPr id="2725" name="Google Shape;2725;p113"/>
            <p:cNvGrpSpPr/>
            <p:nvPr/>
          </p:nvGrpSpPr>
          <p:grpSpPr>
            <a:xfrm>
              <a:off x="3310067" y="2360606"/>
              <a:ext cx="1089600" cy="796200"/>
              <a:chOff x="5680405" y="2153119"/>
              <a:chExt cx="1089600" cy="796200"/>
            </a:xfrm>
          </p:grpSpPr>
          <p:sp>
            <p:nvSpPr>
              <p:cNvPr id="2726" name="Google Shape;2726;p113"/>
              <p:cNvSpPr/>
              <p:nvPr/>
            </p:nvSpPr>
            <p:spPr>
              <a:xfrm>
                <a:off x="5680405" y="2153119"/>
                <a:ext cx="1089600" cy="79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LLM</a:t>
                </a:r>
                <a:endParaRPr b="1" sz="1100">
                  <a:latin typeface="DM Sans"/>
                  <a:ea typeface="DM Sans"/>
                  <a:cs typeface="DM Sans"/>
                  <a:sym typeface="DM Sans"/>
                </a:endParaRPr>
              </a:p>
            </p:txBody>
          </p:sp>
          <p:pic>
            <p:nvPicPr>
              <p:cNvPr id="2727" name="Google Shape;2727;p113"/>
              <p:cNvPicPr preferRelativeResize="0"/>
              <p:nvPr/>
            </p:nvPicPr>
            <p:blipFill rotWithShape="1">
              <a:blip r:embed="rId4">
                <a:alphaModFix/>
              </a:blip>
              <a:srcRect b="0" l="0" r="0" t="0"/>
              <a:stretch/>
            </p:blipFill>
            <p:spPr>
              <a:xfrm>
                <a:off x="5989087" y="2260168"/>
                <a:ext cx="472159" cy="470185"/>
              </a:xfrm>
              <a:prstGeom prst="rect">
                <a:avLst/>
              </a:prstGeom>
              <a:noFill/>
              <a:ln>
                <a:noFill/>
              </a:ln>
            </p:spPr>
          </p:pic>
        </p:grpSp>
        <p:cxnSp>
          <p:nvCxnSpPr>
            <p:cNvPr id="2728" name="Google Shape;2728;p113"/>
            <p:cNvCxnSpPr/>
            <p:nvPr/>
          </p:nvCxnSpPr>
          <p:spPr>
            <a:xfrm>
              <a:off x="2896389" y="2830743"/>
              <a:ext cx="395700" cy="0"/>
            </a:xfrm>
            <a:prstGeom prst="straightConnector1">
              <a:avLst/>
            </a:prstGeom>
            <a:noFill/>
            <a:ln cap="flat" cmpd="sng" w="19050">
              <a:solidFill>
                <a:srgbClr val="618794"/>
              </a:solidFill>
              <a:prstDash val="dash"/>
              <a:round/>
              <a:headEnd len="med" w="med" type="none"/>
              <a:tailEnd len="med" w="med" type="triangle"/>
            </a:ln>
          </p:spPr>
        </p:cxnSp>
        <p:cxnSp>
          <p:nvCxnSpPr>
            <p:cNvPr id="2729" name="Google Shape;2729;p113"/>
            <p:cNvCxnSpPr/>
            <p:nvPr/>
          </p:nvCxnSpPr>
          <p:spPr>
            <a:xfrm rot="10800000">
              <a:off x="2896479" y="2686693"/>
              <a:ext cx="395700" cy="0"/>
            </a:xfrm>
            <a:prstGeom prst="straightConnector1">
              <a:avLst/>
            </a:prstGeom>
            <a:noFill/>
            <a:ln cap="flat" cmpd="sng" w="19050">
              <a:solidFill>
                <a:srgbClr val="618794"/>
              </a:solidFill>
              <a:prstDash val="dash"/>
              <a:round/>
              <a:headEnd len="med" w="med" type="none"/>
              <a:tailEnd len="med" w="med" type="triangle"/>
            </a:ln>
          </p:spPr>
        </p:cxnSp>
        <p:sp>
          <p:nvSpPr>
            <p:cNvPr id="2730" name="Google Shape;2730;p113"/>
            <p:cNvSpPr/>
            <p:nvPr/>
          </p:nvSpPr>
          <p:spPr>
            <a:xfrm>
              <a:off x="4599600" y="2291063"/>
              <a:ext cx="5306700" cy="9384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DM Sans"/>
                <a:ea typeface="DM Sans"/>
                <a:cs typeface="DM Sans"/>
                <a:sym typeface="DM Sans"/>
              </a:endParaRPr>
            </a:p>
          </p:txBody>
        </p:sp>
        <p:sp>
          <p:nvSpPr>
            <p:cNvPr id="2731" name="Google Shape;2731;p113"/>
            <p:cNvSpPr/>
            <p:nvPr/>
          </p:nvSpPr>
          <p:spPr>
            <a:xfrm>
              <a:off x="4813384" y="2479168"/>
              <a:ext cx="1090200" cy="5532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121875">
              <a:noAutofit/>
            </a:bodyPr>
            <a:lstStyle/>
            <a:p>
              <a:pPr indent="0" lvl="0" marL="0" rtl="0" algn="ctr">
                <a:spcBef>
                  <a:spcPts val="0"/>
                </a:spcBef>
                <a:spcAft>
                  <a:spcPts val="0"/>
                </a:spcAft>
                <a:buNone/>
              </a:pPr>
              <a:r>
                <a:rPr lang="en" sz="1200">
                  <a:solidFill>
                    <a:srgbClr val="434343"/>
                  </a:solidFill>
                  <a:latin typeface="DM Sans Medium"/>
                  <a:ea typeface="DM Sans Medium"/>
                  <a:cs typeface="DM Sans Medium"/>
                  <a:sym typeface="DM Sans Medium"/>
                </a:rPr>
                <a:t>Parse </a:t>
              </a:r>
              <a:endParaRPr sz="1200">
                <a:solidFill>
                  <a:srgbClr val="434343"/>
                </a:solidFill>
                <a:latin typeface="DM Sans Medium"/>
                <a:ea typeface="DM Sans Medium"/>
                <a:cs typeface="DM Sans Medium"/>
                <a:sym typeface="DM Sans Medium"/>
              </a:endParaRPr>
            </a:p>
            <a:p>
              <a:pPr indent="0" lvl="0" marL="0" rtl="0" algn="ctr">
                <a:spcBef>
                  <a:spcPts val="0"/>
                </a:spcBef>
                <a:spcAft>
                  <a:spcPts val="0"/>
                </a:spcAft>
                <a:buNone/>
              </a:pPr>
              <a:r>
                <a:rPr lang="en" sz="1200">
                  <a:solidFill>
                    <a:srgbClr val="434343"/>
                  </a:solidFill>
                  <a:latin typeface="DM Sans Medium"/>
                  <a:ea typeface="DM Sans Medium"/>
                  <a:cs typeface="DM Sans Medium"/>
                  <a:sym typeface="DM Sans Medium"/>
                </a:rPr>
                <a:t>query</a:t>
              </a:r>
              <a:endParaRPr sz="1200">
                <a:solidFill>
                  <a:srgbClr val="434343"/>
                </a:solidFill>
                <a:latin typeface="DM Sans Medium"/>
                <a:ea typeface="DM Sans Medium"/>
                <a:cs typeface="DM Sans Medium"/>
                <a:sym typeface="DM Sans Medium"/>
              </a:endParaRPr>
            </a:p>
          </p:txBody>
        </p:sp>
        <p:sp>
          <p:nvSpPr>
            <p:cNvPr id="2732" name="Google Shape;2732;p113"/>
            <p:cNvSpPr/>
            <p:nvPr/>
          </p:nvSpPr>
          <p:spPr>
            <a:xfrm>
              <a:off x="6084313" y="2479178"/>
              <a:ext cx="1090200" cy="5532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121875">
              <a:noAutofit/>
            </a:bodyPr>
            <a:lstStyle/>
            <a:p>
              <a:pPr indent="0" lvl="0" marL="0" rtl="0" algn="ctr">
                <a:spcBef>
                  <a:spcPts val="0"/>
                </a:spcBef>
                <a:spcAft>
                  <a:spcPts val="0"/>
                </a:spcAft>
                <a:buNone/>
              </a:pPr>
              <a:r>
                <a:rPr b="1" lang="en" sz="1200">
                  <a:solidFill>
                    <a:srgbClr val="00A972"/>
                  </a:solidFill>
                  <a:latin typeface="DM Sans"/>
                  <a:ea typeface="DM Sans"/>
                  <a:cs typeface="DM Sans"/>
                  <a:sym typeface="DM Sans"/>
                </a:rPr>
                <a:t>R</a:t>
              </a:r>
              <a:r>
                <a:rPr lang="en" sz="1200">
                  <a:solidFill>
                    <a:srgbClr val="434343"/>
                  </a:solidFill>
                  <a:latin typeface="DM Sans Medium"/>
                  <a:ea typeface="DM Sans Medium"/>
                  <a:cs typeface="DM Sans Medium"/>
                  <a:sym typeface="DM Sans Medium"/>
                </a:rPr>
                <a:t>etrieve related  docs</a:t>
              </a:r>
              <a:endParaRPr sz="1200">
                <a:solidFill>
                  <a:srgbClr val="434343"/>
                </a:solidFill>
                <a:latin typeface="DM Sans Medium"/>
                <a:ea typeface="DM Sans Medium"/>
                <a:cs typeface="DM Sans Medium"/>
                <a:sym typeface="DM Sans Medium"/>
              </a:endParaRPr>
            </a:p>
          </p:txBody>
        </p:sp>
        <p:sp>
          <p:nvSpPr>
            <p:cNvPr id="2733" name="Google Shape;2733;p113"/>
            <p:cNvSpPr/>
            <p:nvPr/>
          </p:nvSpPr>
          <p:spPr>
            <a:xfrm>
              <a:off x="7355241" y="2479163"/>
              <a:ext cx="1090200" cy="5532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121875">
              <a:noAutofit/>
            </a:bodyPr>
            <a:lstStyle/>
            <a:p>
              <a:pPr indent="0" lvl="0" marL="0" rtl="0" algn="ctr">
                <a:spcBef>
                  <a:spcPts val="0"/>
                </a:spcBef>
                <a:spcAft>
                  <a:spcPts val="0"/>
                </a:spcAft>
                <a:buNone/>
              </a:pPr>
              <a:r>
                <a:rPr b="1" lang="en" sz="1200">
                  <a:solidFill>
                    <a:srgbClr val="00A972"/>
                  </a:solidFill>
                  <a:latin typeface="DM Sans"/>
                  <a:ea typeface="DM Sans"/>
                  <a:cs typeface="DM Sans"/>
                  <a:sym typeface="DM Sans"/>
                </a:rPr>
                <a:t>A</a:t>
              </a:r>
              <a:r>
                <a:rPr lang="en" sz="1200">
                  <a:solidFill>
                    <a:srgbClr val="434343"/>
                  </a:solidFill>
                  <a:latin typeface="DM Sans Medium"/>
                  <a:ea typeface="DM Sans Medium"/>
                  <a:cs typeface="DM Sans Medium"/>
                  <a:sym typeface="DM Sans Medium"/>
                </a:rPr>
                <a:t>ugment prompt</a:t>
              </a:r>
              <a:endParaRPr sz="1200">
                <a:latin typeface="DM Sans Medium"/>
                <a:ea typeface="DM Sans Medium"/>
                <a:cs typeface="DM Sans Medium"/>
                <a:sym typeface="DM Sans Medium"/>
              </a:endParaRPr>
            </a:p>
          </p:txBody>
        </p:sp>
        <p:sp>
          <p:nvSpPr>
            <p:cNvPr id="2734" name="Google Shape;2734;p113"/>
            <p:cNvSpPr/>
            <p:nvPr/>
          </p:nvSpPr>
          <p:spPr>
            <a:xfrm>
              <a:off x="8626170" y="2479173"/>
              <a:ext cx="1090200" cy="5532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ctr" bIns="0" lIns="0" spcFirstLastPara="1" rIns="0" wrap="square" tIns="121875">
              <a:noAutofit/>
            </a:bodyPr>
            <a:lstStyle/>
            <a:p>
              <a:pPr indent="0" lvl="0" marL="0" rtl="0" algn="ctr">
                <a:spcBef>
                  <a:spcPts val="0"/>
                </a:spcBef>
                <a:spcAft>
                  <a:spcPts val="0"/>
                </a:spcAft>
                <a:buNone/>
              </a:pPr>
              <a:r>
                <a:rPr b="1" lang="en" sz="1200">
                  <a:solidFill>
                    <a:srgbClr val="00A972"/>
                  </a:solidFill>
                  <a:latin typeface="DM Sans"/>
                  <a:ea typeface="DM Sans"/>
                  <a:cs typeface="DM Sans"/>
                  <a:sym typeface="DM Sans"/>
                </a:rPr>
                <a:t>G</a:t>
              </a:r>
              <a:r>
                <a:rPr lang="en" sz="1200">
                  <a:solidFill>
                    <a:srgbClr val="434343"/>
                  </a:solidFill>
                  <a:latin typeface="DM Sans Medium"/>
                  <a:ea typeface="DM Sans Medium"/>
                  <a:cs typeface="DM Sans Medium"/>
                  <a:sym typeface="DM Sans Medium"/>
                </a:rPr>
                <a:t>enerate response</a:t>
              </a:r>
              <a:endParaRPr sz="1200">
                <a:solidFill>
                  <a:srgbClr val="434343"/>
                </a:solidFill>
                <a:latin typeface="DM Sans Medium"/>
                <a:ea typeface="DM Sans Medium"/>
                <a:cs typeface="DM Sans Medium"/>
                <a:sym typeface="DM Sans Medium"/>
              </a:endParaRPr>
            </a:p>
          </p:txBody>
        </p:sp>
        <p:pic>
          <p:nvPicPr>
            <p:cNvPr id="2735" name="Google Shape;2735;p113"/>
            <p:cNvPicPr preferRelativeResize="0"/>
            <p:nvPr/>
          </p:nvPicPr>
          <p:blipFill>
            <a:blip r:embed="rId5">
              <a:alphaModFix/>
            </a:blip>
            <a:stretch>
              <a:fillRect/>
            </a:stretch>
          </p:blipFill>
          <p:spPr>
            <a:xfrm rot="2699890">
              <a:off x="4405458" y="2576807"/>
              <a:ext cx="366791" cy="366791"/>
            </a:xfrm>
            <a:prstGeom prst="rect">
              <a:avLst/>
            </a:prstGeom>
            <a:noFill/>
            <a:ln>
              <a:noFill/>
            </a:ln>
          </p:spPr>
        </p:pic>
        <p:pic>
          <p:nvPicPr>
            <p:cNvPr id="2736" name="Google Shape;2736;p113"/>
            <p:cNvPicPr preferRelativeResize="0"/>
            <p:nvPr/>
          </p:nvPicPr>
          <p:blipFill>
            <a:blip r:embed="rId5">
              <a:alphaModFix/>
            </a:blip>
            <a:stretch>
              <a:fillRect/>
            </a:stretch>
          </p:blipFill>
          <p:spPr>
            <a:xfrm rot="2699939">
              <a:off x="5843812" y="2460920"/>
              <a:ext cx="305438" cy="305438"/>
            </a:xfrm>
            <a:prstGeom prst="rect">
              <a:avLst/>
            </a:prstGeom>
            <a:noFill/>
            <a:ln>
              <a:noFill/>
            </a:ln>
          </p:spPr>
        </p:pic>
        <p:pic>
          <p:nvPicPr>
            <p:cNvPr id="2737" name="Google Shape;2737;p113"/>
            <p:cNvPicPr preferRelativeResize="0"/>
            <p:nvPr/>
          </p:nvPicPr>
          <p:blipFill>
            <a:blip r:embed="rId5">
              <a:alphaModFix/>
            </a:blip>
            <a:stretch>
              <a:fillRect/>
            </a:stretch>
          </p:blipFill>
          <p:spPr>
            <a:xfrm rot="2699939">
              <a:off x="7100226" y="2460919"/>
              <a:ext cx="305438" cy="305438"/>
            </a:xfrm>
            <a:prstGeom prst="rect">
              <a:avLst/>
            </a:prstGeom>
            <a:noFill/>
            <a:ln>
              <a:noFill/>
            </a:ln>
          </p:spPr>
        </p:pic>
        <p:pic>
          <p:nvPicPr>
            <p:cNvPr id="2738" name="Google Shape;2738;p113"/>
            <p:cNvPicPr preferRelativeResize="0"/>
            <p:nvPr/>
          </p:nvPicPr>
          <p:blipFill>
            <a:blip r:embed="rId5">
              <a:alphaModFix/>
            </a:blip>
            <a:stretch>
              <a:fillRect/>
            </a:stretch>
          </p:blipFill>
          <p:spPr>
            <a:xfrm rot="2699939">
              <a:off x="8426676" y="2460917"/>
              <a:ext cx="305438" cy="305438"/>
            </a:xfrm>
            <a:prstGeom prst="rect">
              <a:avLst/>
            </a:prstGeom>
            <a:noFill/>
            <a:ln>
              <a:noFill/>
            </a:ln>
          </p:spPr>
        </p:pic>
      </p:grpSp>
      <p:grpSp>
        <p:nvGrpSpPr>
          <p:cNvPr id="2739" name="Google Shape;2739;p113"/>
          <p:cNvGrpSpPr/>
          <p:nvPr/>
        </p:nvGrpSpPr>
        <p:grpSpPr>
          <a:xfrm>
            <a:off x="1806842" y="3602331"/>
            <a:ext cx="1089527" cy="796339"/>
            <a:chOff x="579727" y="3932083"/>
            <a:chExt cx="1136700" cy="834300"/>
          </a:xfrm>
        </p:grpSpPr>
        <p:sp>
          <p:nvSpPr>
            <p:cNvPr id="2740" name="Google Shape;2740;p113"/>
            <p:cNvSpPr/>
            <p:nvPr/>
          </p:nvSpPr>
          <p:spPr>
            <a:xfrm>
              <a:off x="579727" y="3932083"/>
              <a:ext cx="11367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User</a:t>
              </a:r>
              <a:endParaRPr b="1" sz="1100">
                <a:latin typeface="DM Sans"/>
                <a:ea typeface="DM Sans"/>
                <a:cs typeface="DM Sans"/>
                <a:sym typeface="DM Sans"/>
              </a:endParaRPr>
            </a:p>
          </p:txBody>
        </p:sp>
        <p:pic>
          <p:nvPicPr>
            <p:cNvPr id="2741" name="Google Shape;2741;p113"/>
            <p:cNvPicPr preferRelativeResize="0"/>
            <p:nvPr/>
          </p:nvPicPr>
          <p:blipFill rotWithShape="1">
            <a:blip r:embed="rId3">
              <a:alphaModFix/>
            </a:blip>
            <a:srcRect b="0" l="0" r="0" t="0"/>
            <a:stretch/>
          </p:blipFill>
          <p:spPr>
            <a:xfrm>
              <a:off x="902076" y="4036810"/>
              <a:ext cx="492600" cy="492766"/>
            </a:xfrm>
            <a:prstGeom prst="rect">
              <a:avLst/>
            </a:prstGeom>
            <a:noFill/>
            <a:ln>
              <a:noFill/>
            </a:ln>
          </p:spPr>
        </p:pic>
      </p:grpSp>
      <p:sp>
        <p:nvSpPr>
          <p:cNvPr id="2742" name="Google Shape;2742;p113"/>
          <p:cNvSpPr/>
          <p:nvPr/>
        </p:nvSpPr>
        <p:spPr>
          <a:xfrm>
            <a:off x="3310051" y="3602400"/>
            <a:ext cx="2453400" cy="79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LLM      +     Tools   +    Planning</a:t>
            </a:r>
            <a:endParaRPr b="1" sz="1100">
              <a:latin typeface="DM Sans"/>
              <a:ea typeface="DM Sans"/>
              <a:cs typeface="DM Sans"/>
              <a:sym typeface="DM Sans"/>
            </a:endParaRPr>
          </a:p>
        </p:txBody>
      </p:sp>
      <p:pic>
        <p:nvPicPr>
          <p:cNvPr id="2743" name="Google Shape;2743;p113"/>
          <p:cNvPicPr preferRelativeResize="0"/>
          <p:nvPr/>
        </p:nvPicPr>
        <p:blipFill rotWithShape="1">
          <a:blip r:embed="rId4">
            <a:alphaModFix/>
          </a:blip>
          <a:srcRect b="0" l="0" r="0" t="0"/>
          <a:stretch/>
        </p:blipFill>
        <p:spPr>
          <a:xfrm>
            <a:off x="3501524" y="3653193"/>
            <a:ext cx="472159" cy="470185"/>
          </a:xfrm>
          <a:prstGeom prst="rect">
            <a:avLst/>
          </a:prstGeom>
          <a:noFill/>
          <a:ln>
            <a:noFill/>
          </a:ln>
        </p:spPr>
      </p:pic>
      <p:cxnSp>
        <p:nvCxnSpPr>
          <p:cNvPr id="2744" name="Google Shape;2744;p113"/>
          <p:cNvCxnSpPr/>
          <p:nvPr/>
        </p:nvCxnSpPr>
        <p:spPr>
          <a:xfrm>
            <a:off x="2896384" y="4072475"/>
            <a:ext cx="395700" cy="0"/>
          </a:xfrm>
          <a:prstGeom prst="straightConnector1">
            <a:avLst/>
          </a:prstGeom>
          <a:noFill/>
          <a:ln cap="flat" cmpd="sng" w="19050">
            <a:solidFill>
              <a:srgbClr val="618794"/>
            </a:solidFill>
            <a:prstDash val="dash"/>
            <a:round/>
            <a:headEnd len="med" w="med" type="none"/>
            <a:tailEnd len="med" w="med" type="triangle"/>
          </a:ln>
        </p:spPr>
      </p:cxnSp>
      <p:cxnSp>
        <p:nvCxnSpPr>
          <p:cNvPr id="2745" name="Google Shape;2745;p113"/>
          <p:cNvCxnSpPr/>
          <p:nvPr/>
        </p:nvCxnSpPr>
        <p:spPr>
          <a:xfrm rot="10800000">
            <a:off x="2896473" y="3928424"/>
            <a:ext cx="395700" cy="0"/>
          </a:xfrm>
          <a:prstGeom prst="straightConnector1">
            <a:avLst/>
          </a:prstGeom>
          <a:noFill/>
          <a:ln cap="flat" cmpd="sng" w="19050">
            <a:solidFill>
              <a:srgbClr val="618794"/>
            </a:solidFill>
            <a:prstDash val="dash"/>
            <a:round/>
            <a:headEnd len="med" w="med" type="none"/>
            <a:tailEnd len="med" w="med" type="triangle"/>
          </a:ln>
        </p:spPr>
      </p:cxnSp>
      <p:pic>
        <p:nvPicPr>
          <p:cNvPr id="2746" name="Google Shape;2746;p113"/>
          <p:cNvPicPr preferRelativeResize="0"/>
          <p:nvPr/>
        </p:nvPicPr>
        <p:blipFill rotWithShape="1">
          <a:blip r:embed="rId6">
            <a:alphaModFix/>
          </a:blip>
          <a:srcRect b="0" l="0" r="0" t="0"/>
          <a:stretch/>
        </p:blipFill>
        <p:spPr>
          <a:xfrm>
            <a:off x="4183037" y="3684959"/>
            <a:ext cx="518749" cy="518702"/>
          </a:xfrm>
          <a:prstGeom prst="rect">
            <a:avLst/>
          </a:prstGeom>
          <a:noFill/>
          <a:ln>
            <a:noFill/>
          </a:ln>
        </p:spPr>
      </p:pic>
      <p:grpSp>
        <p:nvGrpSpPr>
          <p:cNvPr id="2747" name="Google Shape;2747;p113"/>
          <p:cNvGrpSpPr/>
          <p:nvPr/>
        </p:nvGrpSpPr>
        <p:grpSpPr>
          <a:xfrm>
            <a:off x="4997011" y="3744990"/>
            <a:ext cx="472159" cy="398638"/>
            <a:chOff x="5539325" y="4204175"/>
            <a:chExt cx="709800" cy="599275"/>
          </a:xfrm>
        </p:grpSpPr>
        <p:cxnSp>
          <p:nvCxnSpPr>
            <p:cNvPr id="2748" name="Google Shape;2748;p113"/>
            <p:cNvCxnSpPr/>
            <p:nvPr/>
          </p:nvCxnSpPr>
          <p:spPr>
            <a:xfrm>
              <a:off x="5967600" y="4526550"/>
              <a:ext cx="159900" cy="276900"/>
            </a:xfrm>
            <a:prstGeom prst="straightConnector1">
              <a:avLst/>
            </a:prstGeom>
            <a:noFill/>
            <a:ln cap="flat" cmpd="sng" w="19050">
              <a:solidFill>
                <a:srgbClr val="1B3139"/>
              </a:solidFill>
              <a:prstDash val="solid"/>
              <a:round/>
              <a:headEnd len="sm" w="sm" type="none"/>
              <a:tailEnd len="sm" w="sm" type="none"/>
            </a:ln>
          </p:spPr>
        </p:cxnSp>
        <p:cxnSp>
          <p:nvCxnSpPr>
            <p:cNvPr id="2749" name="Google Shape;2749;p113"/>
            <p:cNvCxnSpPr/>
            <p:nvPr/>
          </p:nvCxnSpPr>
          <p:spPr>
            <a:xfrm flipH="1">
              <a:off x="5681325" y="4526550"/>
              <a:ext cx="159900" cy="276900"/>
            </a:xfrm>
            <a:prstGeom prst="straightConnector1">
              <a:avLst/>
            </a:prstGeom>
            <a:noFill/>
            <a:ln cap="flat" cmpd="sng" w="19050">
              <a:solidFill>
                <a:srgbClr val="1B3139"/>
              </a:solidFill>
              <a:prstDash val="solid"/>
              <a:round/>
              <a:headEnd len="sm" w="sm" type="none"/>
              <a:tailEnd len="sm" w="sm" type="none"/>
            </a:ln>
          </p:spPr>
        </p:cxnSp>
        <p:sp>
          <p:nvSpPr>
            <p:cNvPr id="2750" name="Google Shape;2750;p113"/>
            <p:cNvSpPr/>
            <p:nvPr/>
          </p:nvSpPr>
          <p:spPr>
            <a:xfrm>
              <a:off x="5591825" y="4204175"/>
              <a:ext cx="604800" cy="395100"/>
            </a:xfrm>
            <a:prstGeom prst="rect">
              <a:avLst/>
            </a:prstGeom>
            <a:solidFill>
              <a:srgbClr val="FFFFFF"/>
            </a:solidFill>
            <a:ln cap="flat" cmpd="sng" w="19050">
              <a:solidFill>
                <a:srgbClr val="1B313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751" name="Google Shape;2751;p113"/>
            <p:cNvCxnSpPr/>
            <p:nvPr/>
          </p:nvCxnSpPr>
          <p:spPr>
            <a:xfrm>
              <a:off x="5902913" y="4592400"/>
              <a:ext cx="0" cy="139500"/>
            </a:xfrm>
            <a:prstGeom prst="straightConnector1">
              <a:avLst/>
            </a:prstGeom>
            <a:noFill/>
            <a:ln cap="flat" cmpd="sng" w="19050">
              <a:solidFill>
                <a:srgbClr val="1B3139"/>
              </a:solidFill>
              <a:prstDash val="solid"/>
              <a:round/>
              <a:headEnd len="sm" w="sm" type="none"/>
              <a:tailEnd len="sm" w="sm" type="none"/>
            </a:ln>
          </p:spPr>
        </p:cxnSp>
        <p:sp>
          <p:nvSpPr>
            <p:cNvPr id="2752" name="Google Shape;2752;p113"/>
            <p:cNvSpPr/>
            <p:nvPr/>
          </p:nvSpPr>
          <p:spPr>
            <a:xfrm>
              <a:off x="5681325" y="4541975"/>
              <a:ext cx="139500" cy="50400"/>
            </a:xfrm>
            <a:prstGeom prst="roundRect">
              <a:avLst>
                <a:gd fmla="val 16667" name="adj"/>
              </a:avLst>
            </a:prstGeom>
            <a:solidFill>
              <a:schemeClr val="dk1"/>
            </a:solidFill>
            <a:ln cap="flat" cmpd="sng" w="19050">
              <a:solidFill>
                <a:srgbClr val="1B313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753" name="Google Shape;2753;p113"/>
            <p:cNvCxnSpPr/>
            <p:nvPr/>
          </p:nvCxnSpPr>
          <p:spPr>
            <a:xfrm flipH="1" rot="10800000">
              <a:off x="5539325" y="4599275"/>
              <a:ext cx="709800" cy="3600"/>
            </a:xfrm>
            <a:prstGeom prst="straightConnector1">
              <a:avLst/>
            </a:prstGeom>
            <a:noFill/>
            <a:ln cap="flat" cmpd="sng" w="19050">
              <a:solidFill>
                <a:srgbClr val="1B3139"/>
              </a:solidFill>
              <a:prstDash val="solid"/>
              <a:round/>
              <a:headEnd len="sm" w="sm" type="none"/>
              <a:tailEnd len="sm" w="sm" type="none"/>
            </a:ln>
          </p:spPr>
        </p:cxnSp>
      </p:grpSp>
      <p:grpSp>
        <p:nvGrpSpPr>
          <p:cNvPr id="2754" name="Google Shape;2754;p113"/>
          <p:cNvGrpSpPr/>
          <p:nvPr/>
        </p:nvGrpSpPr>
        <p:grpSpPr>
          <a:xfrm>
            <a:off x="6358473" y="3593387"/>
            <a:ext cx="291496" cy="169230"/>
            <a:chOff x="6779513" y="4091316"/>
            <a:chExt cx="235857" cy="141437"/>
          </a:xfrm>
        </p:grpSpPr>
        <p:pic>
          <p:nvPicPr>
            <p:cNvPr id="2755" name="Google Shape;2755;p113"/>
            <p:cNvPicPr preferRelativeResize="0"/>
            <p:nvPr/>
          </p:nvPicPr>
          <p:blipFill>
            <a:blip r:embed="rId5">
              <a:alphaModFix/>
            </a:blip>
            <a:stretch>
              <a:fillRect/>
            </a:stretch>
          </p:blipFill>
          <p:spPr>
            <a:xfrm rot="2699813">
              <a:off x="6800231" y="4112026"/>
              <a:ext cx="100017" cy="100017"/>
            </a:xfrm>
            <a:prstGeom prst="rect">
              <a:avLst/>
            </a:prstGeom>
            <a:noFill/>
            <a:ln>
              <a:noFill/>
            </a:ln>
          </p:spPr>
        </p:pic>
        <p:pic>
          <p:nvPicPr>
            <p:cNvPr id="2756" name="Google Shape;2756;p113"/>
            <p:cNvPicPr preferRelativeResize="0"/>
            <p:nvPr/>
          </p:nvPicPr>
          <p:blipFill>
            <a:blip r:embed="rId5">
              <a:alphaModFix/>
            </a:blip>
            <a:stretch>
              <a:fillRect/>
            </a:stretch>
          </p:blipFill>
          <p:spPr>
            <a:xfrm rot="2699813">
              <a:off x="6894635" y="4112026"/>
              <a:ext cx="100017" cy="100017"/>
            </a:xfrm>
            <a:prstGeom prst="rect">
              <a:avLst/>
            </a:prstGeom>
            <a:noFill/>
            <a:ln>
              <a:noFill/>
            </a:ln>
          </p:spPr>
        </p:pic>
      </p:grpSp>
      <p:cxnSp>
        <p:nvCxnSpPr>
          <p:cNvPr id="2757" name="Google Shape;2757;p113"/>
          <p:cNvCxnSpPr>
            <a:endCxn id="2758" idx="0"/>
          </p:cNvCxnSpPr>
          <p:nvPr/>
        </p:nvCxnSpPr>
        <p:spPr>
          <a:xfrm rot="5400000">
            <a:off x="6194079" y="3763680"/>
            <a:ext cx="269400" cy="91200"/>
          </a:xfrm>
          <a:prstGeom prst="bentConnector3">
            <a:avLst>
              <a:gd fmla="val 561" name="adj1"/>
            </a:avLst>
          </a:prstGeom>
          <a:noFill/>
          <a:ln cap="flat" cmpd="sng" w="19050">
            <a:solidFill>
              <a:schemeClr val="accent2"/>
            </a:solidFill>
            <a:prstDash val="solid"/>
            <a:round/>
            <a:headEnd len="med" w="med" type="none"/>
            <a:tailEnd len="med" w="med" type="none"/>
          </a:ln>
        </p:spPr>
      </p:cxnSp>
      <p:grpSp>
        <p:nvGrpSpPr>
          <p:cNvPr id="2759" name="Google Shape;2759;p113"/>
          <p:cNvGrpSpPr/>
          <p:nvPr/>
        </p:nvGrpSpPr>
        <p:grpSpPr>
          <a:xfrm>
            <a:off x="6605185" y="3593387"/>
            <a:ext cx="291496" cy="169230"/>
            <a:chOff x="6779513" y="4091316"/>
            <a:chExt cx="235857" cy="141437"/>
          </a:xfrm>
        </p:grpSpPr>
        <p:pic>
          <p:nvPicPr>
            <p:cNvPr id="2760" name="Google Shape;2760;p113"/>
            <p:cNvPicPr preferRelativeResize="0"/>
            <p:nvPr/>
          </p:nvPicPr>
          <p:blipFill>
            <a:blip r:embed="rId5">
              <a:alphaModFix/>
            </a:blip>
            <a:stretch>
              <a:fillRect/>
            </a:stretch>
          </p:blipFill>
          <p:spPr>
            <a:xfrm rot="2699813">
              <a:off x="6800231" y="4112026"/>
              <a:ext cx="100017" cy="100017"/>
            </a:xfrm>
            <a:prstGeom prst="rect">
              <a:avLst/>
            </a:prstGeom>
            <a:noFill/>
            <a:ln>
              <a:noFill/>
            </a:ln>
          </p:spPr>
        </p:pic>
        <p:pic>
          <p:nvPicPr>
            <p:cNvPr id="2761" name="Google Shape;2761;p113"/>
            <p:cNvPicPr preferRelativeResize="0"/>
            <p:nvPr/>
          </p:nvPicPr>
          <p:blipFill>
            <a:blip r:embed="rId5">
              <a:alphaModFix/>
            </a:blip>
            <a:stretch>
              <a:fillRect/>
            </a:stretch>
          </p:blipFill>
          <p:spPr>
            <a:xfrm rot="2699813">
              <a:off x="6894635" y="4112026"/>
              <a:ext cx="100017" cy="100017"/>
            </a:xfrm>
            <a:prstGeom prst="rect">
              <a:avLst/>
            </a:prstGeom>
            <a:noFill/>
            <a:ln>
              <a:noFill/>
            </a:ln>
          </p:spPr>
        </p:pic>
      </p:grpSp>
      <p:pic>
        <p:nvPicPr>
          <p:cNvPr id="2762" name="Google Shape;2762;p113"/>
          <p:cNvPicPr preferRelativeResize="0"/>
          <p:nvPr/>
        </p:nvPicPr>
        <p:blipFill>
          <a:blip r:embed="rId5">
            <a:alphaModFix/>
          </a:blip>
          <a:stretch>
            <a:fillRect/>
          </a:stretch>
        </p:blipFill>
        <p:spPr>
          <a:xfrm rot="2644138">
            <a:off x="6481829" y="3955822"/>
            <a:ext cx="121654" cy="121654"/>
          </a:xfrm>
          <a:prstGeom prst="rect">
            <a:avLst/>
          </a:prstGeom>
          <a:noFill/>
          <a:ln>
            <a:noFill/>
          </a:ln>
        </p:spPr>
      </p:pic>
      <p:pic>
        <p:nvPicPr>
          <p:cNvPr id="2763" name="Google Shape;2763;p113"/>
          <p:cNvPicPr preferRelativeResize="0"/>
          <p:nvPr/>
        </p:nvPicPr>
        <p:blipFill>
          <a:blip r:embed="rId5">
            <a:alphaModFix/>
          </a:blip>
          <a:stretch>
            <a:fillRect/>
          </a:stretch>
        </p:blipFill>
        <p:spPr>
          <a:xfrm rot="2644138">
            <a:off x="6598502" y="3955822"/>
            <a:ext cx="121654" cy="121654"/>
          </a:xfrm>
          <a:prstGeom prst="rect">
            <a:avLst/>
          </a:prstGeom>
          <a:noFill/>
          <a:ln>
            <a:noFill/>
          </a:ln>
        </p:spPr>
      </p:pic>
      <p:pic>
        <p:nvPicPr>
          <p:cNvPr id="2764" name="Google Shape;2764;p113"/>
          <p:cNvPicPr preferRelativeResize="0"/>
          <p:nvPr/>
        </p:nvPicPr>
        <p:blipFill>
          <a:blip r:embed="rId5">
            <a:alphaModFix/>
          </a:blip>
          <a:stretch>
            <a:fillRect/>
          </a:stretch>
        </p:blipFill>
        <p:spPr>
          <a:xfrm rot="2644138">
            <a:off x="6724208" y="3955822"/>
            <a:ext cx="121654" cy="121654"/>
          </a:xfrm>
          <a:prstGeom prst="rect">
            <a:avLst/>
          </a:prstGeom>
          <a:noFill/>
          <a:ln>
            <a:noFill/>
          </a:ln>
        </p:spPr>
      </p:pic>
      <p:pic>
        <p:nvPicPr>
          <p:cNvPr id="2765" name="Google Shape;2765;p113"/>
          <p:cNvPicPr preferRelativeResize="0"/>
          <p:nvPr/>
        </p:nvPicPr>
        <p:blipFill>
          <a:blip r:embed="rId5">
            <a:alphaModFix/>
          </a:blip>
          <a:stretch>
            <a:fillRect/>
          </a:stretch>
        </p:blipFill>
        <p:spPr>
          <a:xfrm rot="2644138">
            <a:off x="6840881" y="3955822"/>
            <a:ext cx="121654" cy="121654"/>
          </a:xfrm>
          <a:prstGeom prst="rect">
            <a:avLst/>
          </a:prstGeom>
          <a:noFill/>
          <a:ln>
            <a:noFill/>
          </a:ln>
        </p:spPr>
      </p:pic>
      <p:pic>
        <p:nvPicPr>
          <p:cNvPr id="2766" name="Google Shape;2766;p113"/>
          <p:cNvPicPr preferRelativeResize="0"/>
          <p:nvPr/>
        </p:nvPicPr>
        <p:blipFill>
          <a:blip r:embed="rId5">
            <a:alphaModFix/>
          </a:blip>
          <a:stretch>
            <a:fillRect/>
          </a:stretch>
        </p:blipFill>
        <p:spPr>
          <a:xfrm rot="2644138">
            <a:off x="7161500" y="3617099"/>
            <a:ext cx="121654" cy="121654"/>
          </a:xfrm>
          <a:prstGeom prst="rect">
            <a:avLst/>
          </a:prstGeom>
          <a:noFill/>
          <a:ln>
            <a:noFill/>
          </a:ln>
        </p:spPr>
      </p:pic>
      <p:pic>
        <p:nvPicPr>
          <p:cNvPr id="2767" name="Google Shape;2767;p113"/>
          <p:cNvPicPr preferRelativeResize="0"/>
          <p:nvPr/>
        </p:nvPicPr>
        <p:blipFill>
          <a:blip r:embed="rId5">
            <a:alphaModFix/>
          </a:blip>
          <a:stretch>
            <a:fillRect/>
          </a:stretch>
        </p:blipFill>
        <p:spPr>
          <a:xfrm rot="2644138">
            <a:off x="7278173" y="3617099"/>
            <a:ext cx="121654" cy="121654"/>
          </a:xfrm>
          <a:prstGeom prst="rect">
            <a:avLst/>
          </a:prstGeom>
          <a:noFill/>
          <a:ln>
            <a:noFill/>
          </a:ln>
        </p:spPr>
      </p:pic>
      <p:pic>
        <p:nvPicPr>
          <p:cNvPr id="2768" name="Google Shape;2768;p113"/>
          <p:cNvPicPr preferRelativeResize="0"/>
          <p:nvPr/>
        </p:nvPicPr>
        <p:blipFill>
          <a:blip r:embed="rId5">
            <a:alphaModFix/>
          </a:blip>
          <a:stretch>
            <a:fillRect/>
          </a:stretch>
        </p:blipFill>
        <p:spPr>
          <a:xfrm rot="2644138">
            <a:off x="7403879" y="3617099"/>
            <a:ext cx="121654" cy="121654"/>
          </a:xfrm>
          <a:prstGeom prst="rect">
            <a:avLst/>
          </a:prstGeom>
          <a:noFill/>
          <a:ln>
            <a:noFill/>
          </a:ln>
        </p:spPr>
      </p:pic>
      <p:pic>
        <p:nvPicPr>
          <p:cNvPr id="2769" name="Google Shape;2769;p113"/>
          <p:cNvPicPr preferRelativeResize="0"/>
          <p:nvPr/>
        </p:nvPicPr>
        <p:blipFill>
          <a:blip r:embed="rId5">
            <a:alphaModFix/>
          </a:blip>
          <a:stretch>
            <a:fillRect/>
          </a:stretch>
        </p:blipFill>
        <p:spPr>
          <a:xfrm rot="2644138">
            <a:off x="7520552" y="3617099"/>
            <a:ext cx="121654" cy="121654"/>
          </a:xfrm>
          <a:prstGeom prst="rect">
            <a:avLst/>
          </a:prstGeom>
          <a:noFill/>
          <a:ln>
            <a:noFill/>
          </a:ln>
        </p:spPr>
      </p:pic>
      <p:cxnSp>
        <p:nvCxnSpPr>
          <p:cNvPr id="2770" name="Google Shape;2770;p113"/>
          <p:cNvCxnSpPr>
            <a:endCxn id="2758" idx="4"/>
          </p:cNvCxnSpPr>
          <p:nvPr/>
        </p:nvCxnSpPr>
        <p:spPr>
          <a:xfrm flipH="1" rot="5400000">
            <a:off x="6197979" y="4174380"/>
            <a:ext cx="261600" cy="91200"/>
          </a:xfrm>
          <a:prstGeom prst="bentConnector3">
            <a:avLst>
              <a:gd fmla="val 1708" name="adj1"/>
            </a:avLst>
          </a:prstGeom>
          <a:noFill/>
          <a:ln cap="flat" cmpd="sng" w="19050">
            <a:solidFill>
              <a:schemeClr val="accent6"/>
            </a:solidFill>
            <a:prstDash val="solid"/>
            <a:round/>
            <a:headEnd len="med" w="med" type="none"/>
            <a:tailEnd len="med" w="med" type="none"/>
          </a:ln>
        </p:spPr>
      </p:cxnSp>
      <p:grpSp>
        <p:nvGrpSpPr>
          <p:cNvPr id="2771" name="Google Shape;2771;p113"/>
          <p:cNvGrpSpPr/>
          <p:nvPr/>
        </p:nvGrpSpPr>
        <p:grpSpPr>
          <a:xfrm>
            <a:off x="6358488" y="4262099"/>
            <a:ext cx="291496" cy="169230"/>
            <a:chOff x="6779513" y="4091316"/>
            <a:chExt cx="235857" cy="141437"/>
          </a:xfrm>
        </p:grpSpPr>
        <p:pic>
          <p:nvPicPr>
            <p:cNvPr id="2772" name="Google Shape;2772;p113"/>
            <p:cNvPicPr preferRelativeResize="0"/>
            <p:nvPr/>
          </p:nvPicPr>
          <p:blipFill>
            <a:blip r:embed="rId5">
              <a:alphaModFix/>
            </a:blip>
            <a:stretch>
              <a:fillRect/>
            </a:stretch>
          </p:blipFill>
          <p:spPr>
            <a:xfrm rot="2699813">
              <a:off x="6800231" y="4112026"/>
              <a:ext cx="100017" cy="100017"/>
            </a:xfrm>
            <a:prstGeom prst="rect">
              <a:avLst/>
            </a:prstGeom>
            <a:noFill/>
            <a:ln>
              <a:noFill/>
            </a:ln>
          </p:spPr>
        </p:pic>
        <p:pic>
          <p:nvPicPr>
            <p:cNvPr id="2773" name="Google Shape;2773;p113"/>
            <p:cNvPicPr preferRelativeResize="0"/>
            <p:nvPr/>
          </p:nvPicPr>
          <p:blipFill>
            <a:blip r:embed="rId5">
              <a:alphaModFix/>
            </a:blip>
            <a:stretch>
              <a:fillRect/>
            </a:stretch>
          </p:blipFill>
          <p:spPr>
            <a:xfrm rot="2699813">
              <a:off x="6894635" y="4112026"/>
              <a:ext cx="100017" cy="100017"/>
            </a:xfrm>
            <a:prstGeom prst="rect">
              <a:avLst/>
            </a:prstGeom>
            <a:noFill/>
            <a:ln>
              <a:noFill/>
            </a:ln>
          </p:spPr>
        </p:pic>
      </p:grpSp>
      <p:cxnSp>
        <p:nvCxnSpPr>
          <p:cNvPr id="2774" name="Google Shape;2774;p113"/>
          <p:cNvCxnSpPr/>
          <p:nvPr/>
        </p:nvCxnSpPr>
        <p:spPr>
          <a:xfrm>
            <a:off x="6365723" y="4016653"/>
            <a:ext cx="108600" cy="0"/>
          </a:xfrm>
          <a:prstGeom prst="straightConnector1">
            <a:avLst/>
          </a:prstGeom>
          <a:noFill/>
          <a:ln cap="flat" cmpd="sng" w="19050">
            <a:solidFill>
              <a:schemeClr val="dk2"/>
            </a:solidFill>
            <a:prstDash val="solid"/>
            <a:round/>
            <a:headEnd len="med" w="med" type="none"/>
            <a:tailEnd len="med" w="med" type="none"/>
          </a:ln>
        </p:spPr>
      </p:cxnSp>
      <p:sp>
        <p:nvSpPr>
          <p:cNvPr id="2775" name="Google Shape;2775;p113"/>
          <p:cNvSpPr/>
          <p:nvPr/>
        </p:nvSpPr>
        <p:spPr>
          <a:xfrm>
            <a:off x="6961416" y="3625329"/>
            <a:ext cx="108600" cy="105000"/>
          </a:xfrm>
          <a:prstGeom prst="ellipse">
            <a:avLst/>
          </a:prstGeom>
          <a:solidFill>
            <a:srgbClr val="FFFFFF"/>
          </a:solidFill>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776" name="Google Shape;2776;p113"/>
          <p:cNvPicPr preferRelativeResize="0"/>
          <p:nvPr/>
        </p:nvPicPr>
        <p:blipFill>
          <a:blip r:embed="rId5">
            <a:alphaModFix/>
          </a:blip>
          <a:stretch>
            <a:fillRect/>
          </a:stretch>
        </p:blipFill>
        <p:spPr>
          <a:xfrm rot="2644138">
            <a:off x="7120037" y="3412636"/>
            <a:ext cx="121654" cy="121654"/>
          </a:xfrm>
          <a:prstGeom prst="rect">
            <a:avLst/>
          </a:prstGeom>
          <a:noFill/>
          <a:ln>
            <a:noFill/>
          </a:ln>
        </p:spPr>
      </p:pic>
      <p:pic>
        <p:nvPicPr>
          <p:cNvPr id="2777" name="Google Shape;2777;p113"/>
          <p:cNvPicPr preferRelativeResize="0"/>
          <p:nvPr/>
        </p:nvPicPr>
        <p:blipFill>
          <a:blip r:embed="rId7">
            <a:alphaModFix/>
          </a:blip>
          <a:stretch>
            <a:fillRect/>
          </a:stretch>
        </p:blipFill>
        <p:spPr>
          <a:xfrm rot="2644138">
            <a:off x="7236709" y="3412636"/>
            <a:ext cx="121654" cy="121654"/>
          </a:xfrm>
          <a:prstGeom prst="rect">
            <a:avLst/>
          </a:prstGeom>
          <a:noFill/>
          <a:ln>
            <a:noFill/>
          </a:ln>
        </p:spPr>
      </p:pic>
      <p:cxnSp>
        <p:nvCxnSpPr>
          <p:cNvPr id="2778" name="Google Shape;2778;p113"/>
          <p:cNvCxnSpPr/>
          <p:nvPr/>
        </p:nvCxnSpPr>
        <p:spPr>
          <a:xfrm rot="5400000">
            <a:off x="6986250" y="3500629"/>
            <a:ext cx="151200" cy="98400"/>
          </a:xfrm>
          <a:prstGeom prst="bentConnector3">
            <a:avLst>
              <a:gd fmla="val 0" name="adj1"/>
            </a:avLst>
          </a:prstGeom>
          <a:noFill/>
          <a:ln cap="flat" cmpd="sng" w="19050">
            <a:solidFill>
              <a:schemeClr val="accent2"/>
            </a:solidFill>
            <a:prstDash val="solid"/>
            <a:round/>
            <a:headEnd len="med" w="med" type="none"/>
            <a:tailEnd len="med" w="med" type="none"/>
          </a:ln>
        </p:spPr>
      </p:cxnSp>
      <p:cxnSp>
        <p:nvCxnSpPr>
          <p:cNvPr id="2779" name="Google Shape;2779;p113"/>
          <p:cNvCxnSpPr>
            <a:endCxn id="2775" idx="2"/>
          </p:cNvCxnSpPr>
          <p:nvPr/>
        </p:nvCxnSpPr>
        <p:spPr>
          <a:xfrm>
            <a:off x="6872616" y="3677829"/>
            <a:ext cx="88800" cy="0"/>
          </a:xfrm>
          <a:prstGeom prst="straightConnector1">
            <a:avLst/>
          </a:prstGeom>
          <a:noFill/>
          <a:ln cap="flat" cmpd="sng" w="19050">
            <a:solidFill>
              <a:schemeClr val="accent2"/>
            </a:solidFill>
            <a:prstDash val="solid"/>
            <a:round/>
            <a:headEnd len="med" w="med" type="none"/>
            <a:tailEnd len="med" w="med" type="none"/>
          </a:ln>
        </p:spPr>
      </p:cxnSp>
      <p:cxnSp>
        <p:nvCxnSpPr>
          <p:cNvPr id="2780" name="Google Shape;2780;p113"/>
          <p:cNvCxnSpPr/>
          <p:nvPr/>
        </p:nvCxnSpPr>
        <p:spPr>
          <a:xfrm>
            <a:off x="7362397" y="3470595"/>
            <a:ext cx="192900" cy="0"/>
          </a:xfrm>
          <a:prstGeom prst="straightConnector1">
            <a:avLst/>
          </a:prstGeom>
          <a:noFill/>
          <a:ln cap="flat" cmpd="sng" w="19050">
            <a:solidFill>
              <a:schemeClr val="accent2"/>
            </a:solidFill>
            <a:prstDash val="solid"/>
            <a:round/>
            <a:headEnd len="med" w="med" type="none"/>
            <a:tailEnd len="med" w="med" type="diamond"/>
          </a:ln>
        </p:spPr>
      </p:cxnSp>
      <p:cxnSp>
        <p:nvCxnSpPr>
          <p:cNvPr id="2781" name="Google Shape;2781;p113"/>
          <p:cNvCxnSpPr/>
          <p:nvPr/>
        </p:nvCxnSpPr>
        <p:spPr>
          <a:xfrm>
            <a:off x="7070050" y="3677929"/>
            <a:ext cx="88800" cy="0"/>
          </a:xfrm>
          <a:prstGeom prst="straightConnector1">
            <a:avLst/>
          </a:prstGeom>
          <a:noFill/>
          <a:ln cap="flat" cmpd="sng" w="9525">
            <a:solidFill>
              <a:schemeClr val="accent2"/>
            </a:solidFill>
            <a:prstDash val="solid"/>
            <a:round/>
            <a:headEnd len="med" w="med" type="none"/>
            <a:tailEnd len="med" w="med" type="none"/>
          </a:ln>
        </p:spPr>
      </p:cxnSp>
      <p:cxnSp>
        <p:nvCxnSpPr>
          <p:cNvPr id="2782" name="Google Shape;2782;p113"/>
          <p:cNvCxnSpPr/>
          <p:nvPr/>
        </p:nvCxnSpPr>
        <p:spPr>
          <a:xfrm>
            <a:off x="7645196" y="3677885"/>
            <a:ext cx="192900" cy="0"/>
          </a:xfrm>
          <a:prstGeom prst="straightConnector1">
            <a:avLst/>
          </a:prstGeom>
          <a:noFill/>
          <a:ln cap="flat" cmpd="sng" w="19050">
            <a:solidFill>
              <a:schemeClr val="accent2"/>
            </a:solidFill>
            <a:prstDash val="solid"/>
            <a:round/>
            <a:headEnd len="med" w="med" type="none"/>
            <a:tailEnd len="med" w="med" type="diamond"/>
          </a:ln>
        </p:spPr>
      </p:cxnSp>
      <p:cxnSp>
        <p:nvCxnSpPr>
          <p:cNvPr id="2783" name="Google Shape;2783;p113"/>
          <p:cNvCxnSpPr/>
          <p:nvPr/>
        </p:nvCxnSpPr>
        <p:spPr>
          <a:xfrm>
            <a:off x="6974068" y="4016653"/>
            <a:ext cx="192900" cy="0"/>
          </a:xfrm>
          <a:prstGeom prst="straightConnector1">
            <a:avLst/>
          </a:prstGeom>
          <a:noFill/>
          <a:ln cap="flat" cmpd="sng" w="19050">
            <a:solidFill>
              <a:schemeClr val="dk2"/>
            </a:solidFill>
            <a:prstDash val="solid"/>
            <a:round/>
            <a:headEnd len="med" w="med" type="none"/>
            <a:tailEnd len="med" w="med" type="diamond"/>
          </a:ln>
        </p:spPr>
      </p:cxnSp>
      <p:pic>
        <p:nvPicPr>
          <p:cNvPr id="2784" name="Google Shape;2784;p113"/>
          <p:cNvPicPr preferRelativeResize="0"/>
          <p:nvPr/>
        </p:nvPicPr>
        <p:blipFill>
          <a:blip r:embed="rId5">
            <a:alphaModFix/>
          </a:blip>
          <a:stretch>
            <a:fillRect/>
          </a:stretch>
        </p:blipFill>
        <p:spPr>
          <a:xfrm flipH="1" rot="8155862">
            <a:off x="6916874" y="4285797"/>
            <a:ext cx="121654" cy="121654"/>
          </a:xfrm>
          <a:prstGeom prst="rect">
            <a:avLst/>
          </a:prstGeom>
          <a:noFill/>
          <a:ln>
            <a:noFill/>
          </a:ln>
        </p:spPr>
      </p:pic>
      <p:pic>
        <p:nvPicPr>
          <p:cNvPr id="2785" name="Google Shape;2785;p113"/>
          <p:cNvPicPr preferRelativeResize="0"/>
          <p:nvPr/>
        </p:nvPicPr>
        <p:blipFill>
          <a:blip r:embed="rId5">
            <a:alphaModFix/>
          </a:blip>
          <a:stretch>
            <a:fillRect/>
          </a:stretch>
        </p:blipFill>
        <p:spPr>
          <a:xfrm flipH="1" rot="8155862">
            <a:off x="7033546" y="4285797"/>
            <a:ext cx="121654" cy="121654"/>
          </a:xfrm>
          <a:prstGeom prst="rect">
            <a:avLst/>
          </a:prstGeom>
          <a:noFill/>
          <a:ln>
            <a:noFill/>
          </a:ln>
        </p:spPr>
      </p:pic>
      <p:sp>
        <p:nvSpPr>
          <p:cNvPr id="2786" name="Google Shape;2786;p113"/>
          <p:cNvSpPr/>
          <p:nvPr/>
        </p:nvSpPr>
        <p:spPr>
          <a:xfrm flipH="1" rot="10800000">
            <a:off x="6716789" y="4294221"/>
            <a:ext cx="108600" cy="105000"/>
          </a:xfrm>
          <a:prstGeom prst="ellipse">
            <a:avLst/>
          </a:prstGeom>
          <a:solidFill>
            <a:srgbClr val="FFFFFF"/>
          </a:solidFill>
          <a:ln cap="flat" cmpd="sng" w="19050">
            <a:solidFill>
              <a:schemeClr val="accent6"/>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787" name="Google Shape;2787;p113"/>
          <p:cNvPicPr preferRelativeResize="0"/>
          <p:nvPr/>
        </p:nvPicPr>
        <p:blipFill>
          <a:blip r:embed="rId5">
            <a:alphaModFix/>
          </a:blip>
          <a:stretch>
            <a:fillRect/>
          </a:stretch>
        </p:blipFill>
        <p:spPr>
          <a:xfrm flipH="1" rot="8155862">
            <a:off x="6875410" y="4490260"/>
            <a:ext cx="121654" cy="121654"/>
          </a:xfrm>
          <a:prstGeom prst="rect">
            <a:avLst/>
          </a:prstGeom>
          <a:noFill/>
          <a:ln>
            <a:noFill/>
          </a:ln>
        </p:spPr>
      </p:pic>
      <p:pic>
        <p:nvPicPr>
          <p:cNvPr id="2788" name="Google Shape;2788;p113"/>
          <p:cNvPicPr preferRelativeResize="0"/>
          <p:nvPr/>
        </p:nvPicPr>
        <p:blipFill>
          <a:blip r:embed="rId5">
            <a:alphaModFix/>
          </a:blip>
          <a:stretch>
            <a:fillRect/>
          </a:stretch>
        </p:blipFill>
        <p:spPr>
          <a:xfrm flipH="1" rot="8155862">
            <a:off x="6992083" y="4490260"/>
            <a:ext cx="121654" cy="121654"/>
          </a:xfrm>
          <a:prstGeom prst="rect">
            <a:avLst/>
          </a:prstGeom>
          <a:noFill/>
          <a:ln>
            <a:noFill/>
          </a:ln>
        </p:spPr>
      </p:pic>
      <p:cxnSp>
        <p:nvCxnSpPr>
          <p:cNvPr id="2789" name="Google Shape;2789;p113"/>
          <p:cNvCxnSpPr/>
          <p:nvPr/>
        </p:nvCxnSpPr>
        <p:spPr>
          <a:xfrm flipH="1" rot="5400000">
            <a:off x="6741623" y="4425521"/>
            <a:ext cx="151200" cy="98400"/>
          </a:xfrm>
          <a:prstGeom prst="bentConnector3">
            <a:avLst>
              <a:gd fmla="val 0" name="adj1"/>
            </a:avLst>
          </a:prstGeom>
          <a:noFill/>
          <a:ln cap="flat" cmpd="sng" w="19050">
            <a:solidFill>
              <a:schemeClr val="accent6"/>
            </a:solidFill>
            <a:prstDash val="solid"/>
            <a:round/>
            <a:headEnd len="med" w="med" type="none"/>
            <a:tailEnd len="med" w="med" type="none"/>
          </a:ln>
        </p:spPr>
      </p:cxnSp>
      <p:cxnSp>
        <p:nvCxnSpPr>
          <p:cNvPr id="2790" name="Google Shape;2790;p113"/>
          <p:cNvCxnSpPr/>
          <p:nvPr/>
        </p:nvCxnSpPr>
        <p:spPr>
          <a:xfrm>
            <a:off x="7117770" y="4553955"/>
            <a:ext cx="192900" cy="0"/>
          </a:xfrm>
          <a:prstGeom prst="straightConnector1">
            <a:avLst/>
          </a:prstGeom>
          <a:noFill/>
          <a:ln cap="flat" cmpd="sng" w="19050">
            <a:solidFill>
              <a:schemeClr val="accent6"/>
            </a:solidFill>
            <a:prstDash val="solid"/>
            <a:round/>
            <a:headEnd len="med" w="med" type="none"/>
            <a:tailEnd len="med" w="med" type="diamond"/>
          </a:ln>
        </p:spPr>
      </p:cxnSp>
      <p:cxnSp>
        <p:nvCxnSpPr>
          <p:cNvPr id="2791" name="Google Shape;2791;p113"/>
          <p:cNvCxnSpPr/>
          <p:nvPr/>
        </p:nvCxnSpPr>
        <p:spPr>
          <a:xfrm>
            <a:off x="6825423" y="4346621"/>
            <a:ext cx="88800" cy="0"/>
          </a:xfrm>
          <a:prstGeom prst="straightConnector1">
            <a:avLst/>
          </a:prstGeom>
          <a:noFill/>
          <a:ln cap="flat" cmpd="sng" w="19050">
            <a:solidFill>
              <a:schemeClr val="accent6"/>
            </a:solidFill>
            <a:prstDash val="solid"/>
            <a:round/>
            <a:headEnd len="med" w="med" type="none"/>
            <a:tailEnd len="med" w="med" type="none"/>
          </a:ln>
        </p:spPr>
      </p:cxnSp>
      <p:cxnSp>
        <p:nvCxnSpPr>
          <p:cNvPr id="2792" name="Google Shape;2792;p113"/>
          <p:cNvCxnSpPr/>
          <p:nvPr/>
        </p:nvCxnSpPr>
        <p:spPr>
          <a:xfrm>
            <a:off x="6630062" y="4346641"/>
            <a:ext cx="88800" cy="0"/>
          </a:xfrm>
          <a:prstGeom prst="straightConnector1">
            <a:avLst/>
          </a:prstGeom>
          <a:noFill/>
          <a:ln cap="flat" cmpd="sng" w="19050">
            <a:solidFill>
              <a:schemeClr val="accent6"/>
            </a:solidFill>
            <a:prstDash val="solid"/>
            <a:round/>
            <a:headEnd len="med" w="med" type="none"/>
            <a:tailEnd len="med" w="med" type="none"/>
          </a:ln>
        </p:spPr>
      </p:cxnSp>
      <p:cxnSp>
        <p:nvCxnSpPr>
          <p:cNvPr id="2793" name="Google Shape;2793;p113"/>
          <p:cNvCxnSpPr/>
          <p:nvPr/>
        </p:nvCxnSpPr>
        <p:spPr>
          <a:xfrm>
            <a:off x="7159017" y="4346605"/>
            <a:ext cx="192900" cy="0"/>
          </a:xfrm>
          <a:prstGeom prst="straightConnector1">
            <a:avLst/>
          </a:prstGeom>
          <a:noFill/>
          <a:ln cap="flat" cmpd="sng" w="19050">
            <a:solidFill>
              <a:schemeClr val="accent6"/>
            </a:solidFill>
            <a:prstDash val="solid"/>
            <a:round/>
            <a:headEnd len="med" w="med" type="none"/>
            <a:tailEnd len="med" w="med" type="diamond"/>
          </a:ln>
        </p:spPr>
      </p:cxnSp>
      <p:sp>
        <p:nvSpPr>
          <p:cNvPr id="2758" name="Google Shape;2758;p113"/>
          <p:cNvSpPr/>
          <p:nvPr/>
        </p:nvSpPr>
        <p:spPr>
          <a:xfrm>
            <a:off x="6208179" y="3943980"/>
            <a:ext cx="150000" cy="145200"/>
          </a:xfrm>
          <a:prstGeom prst="ellipse">
            <a:avLst/>
          </a:prstGeom>
          <a:solidFill>
            <a:srgbClr val="FFFFFF"/>
          </a:solidFill>
          <a:ln cap="flat" cmpd="sng" w="19050">
            <a:solidFill>
              <a:srgbClr val="212121"/>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794" name="Google Shape;2794;p113"/>
          <p:cNvPicPr preferRelativeResize="0"/>
          <p:nvPr/>
        </p:nvPicPr>
        <p:blipFill>
          <a:blip r:embed="rId5">
            <a:alphaModFix/>
          </a:blip>
          <a:stretch>
            <a:fillRect/>
          </a:stretch>
        </p:blipFill>
        <p:spPr>
          <a:xfrm rot="2700000">
            <a:off x="5774197" y="3894185"/>
            <a:ext cx="236156" cy="236156"/>
          </a:xfrm>
          <a:prstGeom prst="rect">
            <a:avLst/>
          </a:prstGeom>
          <a:noFill/>
          <a:ln>
            <a:noFill/>
          </a:ln>
        </p:spPr>
      </p:pic>
      <p:cxnSp>
        <p:nvCxnSpPr>
          <p:cNvPr id="2795" name="Google Shape;2795;p113"/>
          <p:cNvCxnSpPr>
            <a:endCxn id="2758" idx="2"/>
          </p:cNvCxnSpPr>
          <p:nvPr/>
        </p:nvCxnSpPr>
        <p:spPr>
          <a:xfrm>
            <a:off x="6026679" y="4016580"/>
            <a:ext cx="181500" cy="0"/>
          </a:xfrm>
          <a:prstGeom prst="straightConnector1">
            <a:avLst/>
          </a:prstGeom>
          <a:noFill/>
          <a:ln cap="flat" cmpd="sng" w="19050">
            <a:solidFill>
              <a:srgbClr val="212121"/>
            </a:solidFill>
            <a:prstDash val="solid"/>
            <a:round/>
            <a:headEnd len="med" w="med" type="none"/>
            <a:tailEnd len="med" w="med" type="none"/>
          </a:ln>
        </p:spPr>
      </p:cxnSp>
      <p:sp>
        <p:nvSpPr>
          <p:cNvPr id="2796" name="Google Shape;2796;p113"/>
          <p:cNvSpPr txBox="1"/>
          <p:nvPr/>
        </p:nvSpPr>
        <p:spPr>
          <a:xfrm>
            <a:off x="1448763" y="1349950"/>
            <a:ext cx="3309000" cy="477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500">
                <a:solidFill>
                  <a:srgbClr val="00A972"/>
                </a:solidFill>
                <a:latin typeface="DM Sans"/>
                <a:ea typeface="DM Sans"/>
                <a:cs typeface="DM Sans"/>
                <a:sym typeface="DM Sans"/>
              </a:rPr>
              <a:t>Large Language Models  (LLM)</a:t>
            </a:r>
            <a:endParaRPr b="1" sz="1500">
              <a:solidFill>
                <a:srgbClr val="00A972"/>
              </a:solidFill>
              <a:latin typeface="DM Sans"/>
              <a:ea typeface="DM Sans"/>
              <a:cs typeface="DM Sans"/>
              <a:sym typeface="DM Sans"/>
            </a:endParaRPr>
          </a:p>
        </p:txBody>
      </p:sp>
      <p:sp>
        <p:nvSpPr>
          <p:cNvPr id="2797" name="Google Shape;2797;p113"/>
          <p:cNvSpPr txBox="1"/>
          <p:nvPr/>
        </p:nvSpPr>
        <p:spPr>
          <a:xfrm>
            <a:off x="2145375" y="4439008"/>
            <a:ext cx="1915800" cy="477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500">
                <a:solidFill>
                  <a:srgbClr val="00A972"/>
                </a:solidFill>
                <a:latin typeface="DM Sans"/>
                <a:ea typeface="DM Sans"/>
                <a:cs typeface="DM Sans"/>
                <a:sym typeface="DM Sans"/>
              </a:rPr>
              <a:t>AI agent</a:t>
            </a:r>
            <a:endParaRPr b="1" sz="1500">
              <a:solidFill>
                <a:srgbClr val="00A972"/>
              </a:solidFill>
              <a:latin typeface="DM Sans"/>
              <a:ea typeface="DM Sans"/>
              <a:cs typeface="DM Sans"/>
              <a:sym typeface="DM Sans"/>
            </a:endParaRPr>
          </a:p>
        </p:txBody>
      </p:sp>
      <p:sp>
        <p:nvSpPr>
          <p:cNvPr id="2798" name="Google Shape;2798;p113"/>
          <p:cNvSpPr/>
          <p:nvPr/>
        </p:nvSpPr>
        <p:spPr>
          <a:xfrm>
            <a:off x="5484725" y="5309575"/>
            <a:ext cx="743700" cy="3594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000">
                <a:latin typeface="DM Sans"/>
                <a:ea typeface="DM Sans"/>
                <a:cs typeface="DM Sans"/>
                <a:sym typeface="DM Sans"/>
              </a:rPr>
              <a:t>Worker </a:t>
            </a:r>
            <a:endParaRPr b="1" sz="1000">
              <a:latin typeface="DM Sans"/>
              <a:ea typeface="DM Sans"/>
              <a:cs typeface="DM Sans"/>
              <a:sym typeface="DM Sans"/>
            </a:endParaRPr>
          </a:p>
          <a:p>
            <a:pPr indent="0" lvl="0" marL="0" rtl="0" algn="ctr">
              <a:spcBef>
                <a:spcPts val="0"/>
              </a:spcBef>
              <a:spcAft>
                <a:spcPts val="0"/>
              </a:spcAft>
              <a:buNone/>
            </a:pPr>
            <a:r>
              <a:rPr b="1" lang="en" sz="1000">
                <a:latin typeface="DM Sans"/>
                <a:ea typeface="DM Sans"/>
                <a:cs typeface="DM Sans"/>
                <a:sym typeface="DM Sans"/>
              </a:rPr>
              <a:t>agents</a:t>
            </a:r>
            <a:endParaRPr b="1" sz="1000">
              <a:latin typeface="DM Sans"/>
              <a:ea typeface="DM Sans"/>
              <a:cs typeface="DM Sans"/>
              <a:sym typeface="DM Sans"/>
            </a:endParaRPr>
          </a:p>
        </p:txBody>
      </p:sp>
      <p:pic>
        <p:nvPicPr>
          <p:cNvPr id="2799" name="Google Shape;2799;p113"/>
          <p:cNvPicPr preferRelativeResize="0"/>
          <p:nvPr/>
        </p:nvPicPr>
        <p:blipFill rotWithShape="1">
          <a:blip r:embed="rId4">
            <a:alphaModFix/>
          </a:blip>
          <a:srcRect b="0" l="0" r="0" t="0"/>
          <a:stretch/>
        </p:blipFill>
        <p:spPr>
          <a:xfrm>
            <a:off x="5164624" y="4956313"/>
            <a:ext cx="361014" cy="359503"/>
          </a:xfrm>
          <a:prstGeom prst="rect">
            <a:avLst/>
          </a:prstGeom>
          <a:noFill/>
          <a:ln>
            <a:noFill/>
          </a:ln>
        </p:spPr>
      </p:pic>
      <p:sp>
        <p:nvSpPr>
          <p:cNvPr id="2800" name="Google Shape;2800;p113"/>
          <p:cNvSpPr txBox="1"/>
          <p:nvPr/>
        </p:nvSpPr>
        <p:spPr>
          <a:xfrm>
            <a:off x="1675975" y="5920775"/>
            <a:ext cx="2854500" cy="477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500">
                <a:solidFill>
                  <a:srgbClr val="00A972"/>
                </a:solidFill>
                <a:latin typeface="DM Sans"/>
                <a:ea typeface="DM Sans"/>
                <a:cs typeface="DM Sans"/>
                <a:sym typeface="DM Sans"/>
              </a:rPr>
              <a:t>Multi-agent system</a:t>
            </a:r>
            <a:endParaRPr b="1" sz="1500">
              <a:solidFill>
                <a:srgbClr val="00A972"/>
              </a:solidFill>
              <a:latin typeface="DM Sans"/>
              <a:ea typeface="DM Sans"/>
              <a:cs typeface="DM Sans"/>
              <a:sym typeface="DM Sans"/>
            </a:endParaRPr>
          </a:p>
        </p:txBody>
      </p:sp>
      <p:grpSp>
        <p:nvGrpSpPr>
          <p:cNvPr id="2801" name="Google Shape;2801;p113"/>
          <p:cNvGrpSpPr/>
          <p:nvPr/>
        </p:nvGrpSpPr>
        <p:grpSpPr>
          <a:xfrm>
            <a:off x="1806842" y="5090881"/>
            <a:ext cx="1089527" cy="796339"/>
            <a:chOff x="579727" y="3932083"/>
            <a:chExt cx="1136700" cy="834300"/>
          </a:xfrm>
        </p:grpSpPr>
        <p:sp>
          <p:nvSpPr>
            <p:cNvPr id="2802" name="Google Shape;2802;p113"/>
            <p:cNvSpPr/>
            <p:nvPr/>
          </p:nvSpPr>
          <p:spPr>
            <a:xfrm>
              <a:off x="579727" y="3932083"/>
              <a:ext cx="1136700" cy="834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User</a:t>
              </a:r>
              <a:endParaRPr b="1" sz="1100">
                <a:latin typeface="DM Sans"/>
                <a:ea typeface="DM Sans"/>
                <a:cs typeface="DM Sans"/>
                <a:sym typeface="DM Sans"/>
              </a:endParaRPr>
            </a:p>
          </p:txBody>
        </p:sp>
        <p:pic>
          <p:nvPicPr>
            <p:cNvPr id="2803" name="Google Shape;2803;p113"/>
            <p:cNvPicPr preferRelativeResize="0"/>
            <p:nvPr/>
          </p:nvPicPr>
          <p:blipFill rotWithShape="1">
            <a:blip r:embed="rId3">
              <a:alphaModFix/>
            </a:blip>
            <a:srcRect b="0" l="0" r="0" t="0"/>
            <a:stretch/>
          </p:blipFill>
          <p:spPr>
            <a:xfrm>
              <a:off x="902076" y="4036810"/>
              <a:ext cx="492600" cy="492766"/>
            </a:xfrm>
            <a:prstGeom prst="rect">
              <a:avLst/>
            </a:prstGeom>
            <a:noFill/>
            <a:ln>
              <a:noFill/>
            </a:ln>
          </p:spPr>
        </p:pic>
      </p:grpSp>
      <p:grpSp>
        <p:nvGrpSpPr>
          <p:cNvPr id="2804" name="Google Shape;2804;p113"/>
          <p:cNvGrpSpPr/>
          <p:nvPr/>
        </p:nvGrpSpPr>
        <p:grpSpPr>
          <a:xfrm>
            <a:off x="3310067" y="5090881"/>
            <a:ext cx="1089600" cy="796200"/>
            <a:chOff x="5680405" y="2153119"/>
            <a:chExt cx="1089600" cy="796200"/>
          </a:xfrm>
        </p:grpSpPr>
        <p:sp>
          <p:nvSpPr>
            <p:cNvPr id="2805" name="Google Shape;2805;p113"/>
            <p:cNvSpPr/>
            <p:nvPr/>
          </p:nvSpPr>
          <p:spPr>
            <a:xfrm>
              <a:off x="5680405" y="2153119"/>
              <a:ext cx="1089600" cy="79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Coordinator</a:t>
              </a:r>
              <a:endParaRPr b="1" sz="1100">
                <a:latin typeface="DM Sans"/>
                <a:ea typeface="DM Sans"/>
                <a:cs typeface="DM Sans"/>
                <a:sym typeface="DM Sans"/>
              </a:endParaRPr>
            </a:p>
          </p:txBody>
        </p:sp>
        <p:pic>
          <p:nvPicPr>
            <p:cNvPr id="2806" name="Google Shape;2806;p113"/>
            <p:cNvPicPr preferRelativeResize="0"/>
            <p:nvPr/>
          </p:nvPicPr>
          <p:blipFill rotWithShape="1">
            <a:blip r:embed="rId4">
              <a:alphaModFix/>
            </a:blip>
            <a:srcRect b="0" l="0" r="0" t="0"/>
            <a:stretch/>
          </p:blipFill>
          <p:spPr>
            <a:xfrm>
              <a:off x="5989087" y="2260168"/>
              <a:ext cx="472159" cy="470185"/>
            </a:xfrm>
            <a:prstGeom prst="rect">
              <a:avLst/>
            </a:prstGeom>
            <a:noFill/>
            <a:ln>
              <a:noFill/>
            </a:ln>
          </p:spPr>
        </p:pic>
      </p:grpSp>
      <p:cxnSp>
        <p:nvCxnSpPr>
          <p:cNvPr id="2807" name="Google Shape;2807;p113"/>
          <p:cNvCxnSpPr/>
          <p:nvPr/>
        </p:nvCxnSpPr>
        <p:spPr>
          <a:xfrm>
            <a:off x="2896389" y="5561018"/>
            <a:ext cx="395700" cy="0"/>
          </a:xfrm>
          <a:prstGeom prst="straightConnector1">
            <a:avLst/>
          </a:prstGeom>
          <a:noFill/>
          <a:ln cap="flat" cmpd="sng" w="19050">
            <a:solidFill>
              <a:srgbClr val="618794"/>
            </a:solidFill>
            <a:prstDash val="dash"/>
            <a:round/>
            <a:headEnd len="med" w="med" type="none"/>
            <a:tailEnd len="med" w="med" type="triangle"/>
          </a:ln>
        </p:spPr>
      </p:cxnSp>
      <p:cxnSp>
        <p:nvCxnSpPr>
          <p:cNvPr id="2808" name="Google Shape;2808;p113"/>
          <p:cNvCxnSpPr/>
          <p:nvPr/>
        </p:nvCxnSpPr>
        <p:spPr>
          <a:xfrm rot="10800000">
            <a:off x="2896479" y="5416968"/>
            <a:ext cx="395700" cy="0"/>
          </a:xfrm>
          <a:prstGeom prst="straightConnector1">
            <a:avLst/>
          </a:prstGeom>
          <a:noFill/>
          <a:ln cap="flat" cmpd="sng" w="19050">
            <a:solidFill>
              <a:srgbClr val="618794"/>
            </a:solidFill>
            <a:prstDash val="dash"/>
            <a:round/>
            <a:headEnd len="med" w="med" type="none"/>
            <a:tailEnd len="med" w="med" type="triangle"/>
          </a:ln>
        </p:spPr>
      </p:cxnSp>
      <p:pic>
        <p:nvPicPr>
          <p:cNvPr id="2809" name="Google Shape;2809;p113"/>
          <p:cNvPicPr preferRelativeResize="0"/>
          <p:nvPr/>
        </p:nvPicPr>
        <p:blipFill rotWithShape="1">
          <a:blip r:embed="rId4">
            <a:alphaModFix/>
          </a:blip>
          <a:srcRect b="0" l="0" r="0" t="0"/>
          <a:stretch/>
        </p:blipFill>
        <p:spPr>
          <a:xfrm>
            <a:off x="5164624" y="5662263"/>
            <a:ext cx="361014" cy="359503"/>
          </a:xfrm>
          <a:prstGeom prst="rect">
            <a:avLst/>
          </a:prstGeom>
          <a:noFill/>
          <a:ln>
            <a:noFill/>
          </a:ln>
        </p:spPr>
      </p:pic>
      <p:cxnSp>
        <p:nvCxnSpPr>
          <p:cNvPr id="2810" name="Google Shape;2810;p113"/>
          <p:cNvCxnSpPr>
            <a:stCxn id="2805" idx="3"/>
            <a:endCxn id="2799" idx="1"/>
          </p:cNvCxnSpPr>
          <p:nvPr/>
        </p:nvCxnSpPr>
        <p:spPr>
          <a:xfrm flipH="1" rot="10800000">
            <a:off x="4399667" y="5136181"/>
            <a:ext cx="765000" cy="352800"/>
          </a:xfrm>
          <a:prstGeom prst="bentConnector3">
            <a:avLst>
              <a:gd fmla="val 49997" name="adj1"/>
            </a:avLst>
          </a:prstGeom>
          <a:noFill/>
          <a:ln cap="flat" cmpd="sng" w="19050">
            <a:solidFill>
              <a:srgbClr val="618794"/>
            </a:solidFill>
            <a:prstDash val="dash"/>
            <a:round/>
            <a:headEnd len="med" w="med" type="none"/>
            <a:tailEnd len="med" w="med" type="triangle"/>
          </a:ln>
        </p:spPr>
      </p:cxnSp>
      <p:cxnSp>
        <p:nvCxnSpPr>
          <p:cNvPr id="2811" name="Google Shape;2811;p113"/>
          <p:cNvCxnSpPr>
            <a:stCxn id="2805" idx="3"/>
            <a:endCxn id="2809" idx="1"/>
          </p:cNvCxnSpPr>
          <p:nvPr/>
        </p:nvCxnSpPr>
        <p:spPr>
          <a:xfrm>
            <a:off x="4399667" y="5488981"/>
            <a:ext cx="765000" cy="353100"/>
          </a:xfrm>
          <a:prstGeom prst="bentConnector3">
            <a:avLst>
              <a:gd fmla="val 49997" name="adj1"/>
            </a:avLst>
          </a:prstGeom>
          <a:noFill/>
          <a:ln cap="flat" cmpd="sng" w="19050">
            <a:solidFill>
              <a:srgbClr val="618794"/>
            </a:solidFill>
            <a:prstDash val="dash"/>
            <a:round/>
            <a:headEnd len="med" w="med" type="none"/>
            <a:tailEnd len="med" w="med" type="triangle"/>
          </a:ln>
        </p:spPr>
      </p:cxnSp>
      <p:pic>
        <p:nvPicPr>
          <p:cNvPr id="2812" name="Google Shape;2812;p113"/>
          <p:cNvPicPr preferRelativeResize="0"/>
          <p:nvPr/>
        </p:nvPicPr>
        <p:blipFill rotWithShape="1">
          <a:blip r:embed="rId4">
            <a:alphaModFix/>
          </a:blip>
          <a:srcRect b="0" l="0" r="0" t="0"/>
          <a:stretch/>
        </p:blipFill>
        <p:spPr>
          <a:xfrm>
            <a:off x="5164624" y="5309288"/>
            <a:ext cx="361014" cy="359503"/>
          </a:xfrm>
          <a:prstGeom prst="rect">
            <a:avLst/>
          </a:prstGeom>
          <a:noFill/>
          <a:ln>
            <a:noFill/>
          </a:ln>
        </p:spPr>
      </p:pic>
      <p:cxnSp>
        <p:nvCxnSpPr>
          <p:cNvPr id="2813" name="Google Shape;2813;p113"/>
          <p:cNvCxnSpPr>
            <a:stCxn id="2805" idx="3"/>
            <a:endCxn id="2812" idx="1"/>
          </p:cNvCxnSpPr>
          <p:nvPr/>
        </p:nvCxnSpPr>
        <p:spPr>
          <a:xfrm>
            <a:off x="4399667" y="5488981"/>
            <a:ext cx="765000" cy="600"/>
          </a:xfrm>
          <a:prstGeom prst="bentConnector3">
            <a:avLst>
              <a:gd fmla="val 49997" name="adj1"/>
            </a:avLst>
          </a:prstGeom>
          <a:noFill/>
          <a:ln cap="flat" cmpd="sng" w="19050">
            <a:solidFill>
              <a:srgbClr val="618794"/>
            </a:solidFill>
            <a:prstDash val="dash"/>
            <a:round/>
            <a:headEnd len="med" w="med" type="none"/>
            <a:tailEnd len="med" w="med" type="triangle"/>
          </a:ln>
        </p:spPr>
      </p:cxn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7" name="Shape 2817"/>
        <p:cNvGrpSpPr/>
        <p:nvPr/>
      </p:nvGrpSpPr>
      <p:grpSpPr>
        <a:xfrm>
          <a:off x="0" y="0"/>
          <a:ext cx="0" cy="0"/>
          <a:chOff x="0" y="0"/>
          <a:chExt cx="0" cy="0"/>
        </a:xfrm>
      </p:grpSpPr>
      <p:sp>
        <p:nvSpPr>
          <p:cNvPr id="2818" name="Google Shape;2818;p114"/>
          <p:cNvSpPr txBox="1"/>
          <p:nvPr/>
        </p:nvSpPr>
        <p:spPr>
          <a:xfrm>
            <a:off x="0" y="0"/>
            <a:ext cx="11977800" cy="51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Agentic diagrams /_static/images/generative-ai/llms.png, /_static/images/generative-ai/llm-tools.png, /_static/images/generative-ai/ai-agent.png , /_static/images/generative-ai/multi-agent-system.png</a:t>
            </a:r>
            <a:endParaRPr sz="200"/>
          </a:p>
        </p:txBody>
      </p:sp>
      <p:sp>
        <p:nvSpPr>
          <p:cNvPr id="2819" name="Google Shape;2819;p114"/>
          <p:cNvSpPr/>
          <p:nvPr/>
        </p:nvSpPr>
        <p:spPr>
          <a:xfrm>
            <a:off x="2111650" y="1307176"/>
            <a:ext cx="1089600" cy="8889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Unity Catalog functions</a:t>
            </a:r>
            <a:endParaRPr b="1" sz="1100">
              <a:latin typeface="DM Sans"/>
              <a:ea typeface="DM Sans"/>
              <a:cs typeface="DM Sans"/>
              <a:sym typeface="DM Sans"/>
            </a:endParaRPr>
          </a:p>
        </p:txBody>
      </p:sp>
      <p:sp>
        <p:nvSpPr>
          <p:cNvPr id="2820" name="Google Shape;2820;p114"/>
          <p:cNvSpPr/>
          <p:nvPr/>
        </p:nvSpPr>
        <p:spPr>
          <a:xfrm>
            <a:off x="4003775" y="1153725"/>
            <a:ext cx="1590600" cy="1195800"/>
          </a:xfrm>
          <a:prstGeom prst="roundRect">
            <a:avLst>
              <a:gd fmla="val 16667" name="adj"/>
            </a:avLst>
          </a:prstGeom>
          <a:solidFill>
            <a:srgbClr val="FFFFFF"/>
          </a:solidFill>
          <a:ln cap="flat" cmpd="sng" w="19050">
            <a:solidFill>
              <a:srgbClr val="FFFFFF"/>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Framework-agnostic AI agent</a:t>
            </a:r>
            <a:endParaRPr b="1" sz="1100">
              <a:latin typeface="DM Sans"/>
              <a:ea typeface="DM Sans"/>
              <a:cs typeface="DM Sans"/>
              <a:sym typeface="DM Sans"/>
            </a:endParaRPr>
          </a:p>
        </p:txBody>
      </p:sp>
      <p:cxnSp>
        <p:nvCxnSpPr>
          <p:cNvPr id="2821" name="Google Shape;2821;p114"/>
          <p:cNvCxnSpPr>
            <a:stCxn id="2819" idx="3"/>
            <a:endCxn id="2820" idx="1"/>
          </p:cNvCxnSpPr>
          <p:nvPr/>
        </p:nvCxnSpPr>
        <p:spPr>
          <a:xfrm>
            <a:off x="3201250" y="1751626"/>
            <a:ext cx="802500" cy="0"/>
          </a:xfrm>
          <a:prstGeom prst="straightConnector1">
            <a:avLst/>
          </a:prstGeom>
          <a:noFill/>
          <a:ln cap="flat" cmpd="sng" w="19050">
            <a:solidFill>
              <a:srgbClr val="618794"/>
            </a:solidFill>
            <a:prstDash val="dash"/>
            <a:round/>
            <a:headEnd len="med" w="med" type="none"/>
            <a:tailEnd len="med" w="med" type="triangle"/>
          </a:ln>
        </p:spPr>
      </p:cxnSp>
      <p:sp>
        <p:nvSpPr>
          <p:cNvPr id="2822" name="Google Shape;2822;p114"/>
          <p:cNvSpPr txBox="1"/>
          <p:nvPr/>
        </p:nvSpPr>
        <p:spPr>
          <a:xfrm>
            <a:off x="1675975" y="5920775"/>
            <a:ext cx="2854500" cy="477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500">
                <a:solidFill>
                  <a:srgbClr val="00A972"/>
                </a:solidFill>
                <a:latin typeface="DM Sans"/>
                <a:ea typeface="DM Sans"/>
                <a:cs typeface="DM Sans"/>
                <a:sym typeface="DM Sans"/>
              </a:rPr>
              <a:t>Multi-agent system</a:t>
            </a:r>
            <a:endParaRPr b="1" sz="1500">
              <a:solidFill>
                <a:srgbClr val="00A972"/>
              </a:solidFill>
              <a:latin typeface="DM Sans"/>
              <a:ea typeface="DM Sans"/>
              <a:cs typeface="DM Sans"/>
              <a:sym typeface="DM Sans"/>
            </a:endParaRPr>
          </a:p>
        </p:txBody>
      </p:sp>
      <p:pic>
        <p:nvPicPr>
          <p:cNvPr id="2823" name="Google Shape;2823;p114"/>
          <p:cNvPicPr preferRelativeResize="0"/>
          <p:nvPr/>
        </p:nvPicPr>
        <p:blipFill rotWithShape="1">
          <a:blip r:embed="rId3">
            <a:alphaModFix/>
          </a:blip>
          <a:srcRect b="0" l="0" r="0" t="0"/>
          <a:stretch/>
        </p:blipFill>
        <p:spPr>
          <a:xfrm>
            <a:off x="2441725" y="1348900"/>
            <a:ext cx="429446" cy="429425"/>
          </a:xfrm>
          <a:prstGeom prst="rect">
            <a:avLst/>
          </a:prstGeom>
          <a:noFill/>
          <a:ln>
            <a:noFill/>
          </a:ln>
        </p:spPr>
      </p:pic>
      <p:cxnSp>
        <p:nvCxnSpPr>
          <p:cNvPr id="2824" name="Google Shape;2824;p114"/>
          <p:cNvCxnSpPr>
            <a:stCxn id="2820" idx="2"/>
            <a:endCxn id="2825" idx="0"/>
          </p:cNvCxnSpPr>
          <p:nvPr/>
        </p:nvCxnSpPr>
        <p:spPr>
          <a:xfrm>
            <a:off x="4799075" y="2349525"/>
            <a:ext cx="300" cy="636600"/>
          </a:xfrm>
          <a:prstGeom prst="straightConnector1">
            <a:avLst/>
          </a:prstGeom>
          <a:noFill/>
          <a:ln cap="flat" cmpd="sng" w="19050">
            <a:solidFill>
              <a:srgbClr val="618794"/>
            </a:solidFill>
            <a:prstDash val="dash"/>
            <a:round/>
            <a:headEnd len="med" w="med" type="none"/>
            <a:tailEnd len="med" w="med" type="triangle"/>
          </a:ln>
        </p:spPr>
      </p:cxnSp>
      <p:sp>
        <p:nvSpPr>
          <p:cNvPr id="2826" name="Google Shape;2826;p114"/>
          <p:cNvSpPr/>
          <p:nvPr/>
        </p:nvSpPr>
        <p:spPr>
          <a:xfrm>
            <a:off x="4003775" y="3468488"/>
            <a:ext cx="1590600" cy="4293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ChatAgent</a:t>
            </a:r>
            <a:endParaRPr b="1" sz="1100">
              <a:latin typeface="DM Sans"/>
              <a:ea typeface="DM Sans"/>
              <a:cs typeface="DM Sans"/>
              <a:sym typeface="DM Sans"/>
            </a:endParaRPr>
          </a:p>
        </p:txBody>
      </p:sp>
      <p:pic>
        <p:nvPicPr>
          <p:cNvPr id="2827" name="Google Shape;2827;p114"/>
          <p:cNvPicPr preferRelativeResize="0"/>
          <p:nvPr/>
        </p:nvPicPr>
        <p:blipFill rotWithShape="1">
          <a:blip r:embed="rId4">
            <a:alphaModFix/>
          </a:blip>
          <a:srcRect b="0" l="0" r="0" t="0"/>
          <a:stretch/>
        </p:blipFill>
        <p:spPr>
          <a:xfrm>
            <a:off x="4541649" y="1410168"/>
            <a:ext cx="472159" cy="470185"/>
          </a:xfrm>
          <a:prstGeom prst="rect">
            <a:avLst/>
          </a:prstGeom>
          <a:noFill/>
          <a:ln>
            <a:noFill/>
          </a:ln>
        </p:spPr>
      </p:pic>
      <p:grpSp>
        <p:nvGrpSpPr>
          <p:cNvPr id="2828" name="Google Shape;2828;p114"/>
          <p:cNvGrpSpPr/>
          <p:nvPr/>
        </p:nvGrpSpPr>
        <p:grpSpPr>
          <a:xfrm>
            <a:off x="4318224" y="3074568"/>
            <a:ext cx="962422" cy="517557"/>
            <a:chOff x="4300524" y="1108368"/>
            <a:chExt cx="962422" cy="517557"/>
          </a:xfrm>
        </p:grpSpPr>
        <p:pic>
          <p:nvPicPr>
            <p:cNvPr id="2829" name="Google Shape;2829;p114"/>
            <p:cNvPicPr preferRelativeResize="0"/>
            <p:nvPr/>
          </p:nvPicPr>
          <p:blipFill rotWithShape="1">
            <a:blip r:embed="rId4">
              <a:alphaModFix/>
            </a:blip>
            <a:srcRect b="0" l="0" r="0" t="0"/>
            <a:stretch/>
          </p:blipFill>
          <p:spPr>
            <a:xfrm>
              <a:off x="4300524" y="1108368"/>
              <a:ext cx="472159" cy="470185"/>
            </a:xfrm>
            <a:prstGeom prst="rect">
              <a:avLst/>
            </a:prstGeom>
            <a:noFill/>
            <a:ln>
              <a:noFill/>
            </a:ln>
          </p:spPr>
        </p:pic>
        <p:pic>
          <p:nvPicPr>
            <p:cNvPr id="2830" name="Google Shape;2830;p114"/>
            <p:cNvPicPr preferRelativeResize="0"/>
            <p:nvPr/>
          </p:nvPicPr>
          <p:blipFill rotWithShape="1">
            <a:blip r:embed="rId3">
              <a:alphaModFix/>
            </a:blip>
            <a:srcRect b="0" l="0" r="0" t="0"/>
            <a:stretch/>
          </p:blipFill>
          <p:spPr>
            <a:xfrm>
              <a:off x="4833500" y="1196500"/>
              <a:ext cx="429446" cy="429425"/>
            </a:xfrm>
            <a:prstGeom prst="rect">
              <a:avLst/>
            </a:prstGeom>
            <a:noFill/>
            <a:ln>
              <a:noFill/>
            </a:ln>
          </p:spPr>
        </p:pic>
        <p:sp>
          <p:nvSpPr>
            <p:cNvPr id="2831" name="Google Shape;2831;p114"/>
            <p:cNvSpPr txBox="1"/>
            <p:nvPr/>
          </p:nvSpPr>
          <p:spPr>
            <a:xfrm>
              <a:off x="4661825" y="1251013"/>
              <a:ext cx="274500" cy="3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DM Sans"/>
                  <a:ea typeface="DM Sans"/>
                  <a:cs typeface="DM Sans"/>
                  <a:sym typeface="DM Sans"/>
                </a:rPr>
                <a:t>+</a:t>
              </a:r>
              <a:endParaRPr sz="1100">
                <a:solidFill>
                  <a:schemeClr val="dk1"/>
                </a:solidFill>
                <a:latin typeface="DM Sans"/>
                <a:ea typeface="DM Sans"/>
                <a:cs typeface="DM Sans"/>
                <a:sym typeface="DM Sans"/>
              </a:endParaRPr>
            </a:p>
          </p:txBody>
        </p:sp>
      </p:grpSp>
      <p:sp>
        <p:nvSpPr>
          <p:cNvPr id="2825" name="Google Shape;2825;p114"/>
          <p:cNvSpPr/>
          <p:nvPr/>
        </p:nvSpPr>
        <p:spPr>
          <a:xfrm>
            <a:off x="4254038" y="2986050"/>
            <a:ext cx="1090800" cy="6681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32" name="Google Shape;2832;p114"/>
          <p:cNvSpPr txBox="1"/>
          <p:nvPr/>
        </p:nvSpPr>
        <p:spPr>
          <a:xfrm>
            <a:off x="4953800" y="2374275"/>
            <a:ext cx="184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Standardize the agent using the ChatAgent interface</a:t>
            </a:r>
            <a:endParaRPr sz="900">
              <a:solidFill>
                <a:schemeClr val="dk1"/>
              </a:solidFill>
              <a:latin typeface="DM Sans"/>
              <a:ea typeface="DM Sans"/>
              <a:cs typeface="DM Sans"/>
              <a:sym typeface="DM Sans"/>
            </a:endParaRPr>
          </a:p>
        </p:txBody>
      </p:sp>
      <p:sp>
        <p:nvSpPr>
          <p:cNvPr id="2833" name="Google Shape;2833;p114"/>
          <p:cNvSpPr txBox="1"/>
          <p:nvPr/>
        </p:nvSpPr>
        <p:spPr>
          <a:xfrm>
            <a:off x="1747825" y="795625"/>
            <a:ext cx="172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Create agent tools as Unity Catalog functions.</a:t>
            </a:r>
            <a:endParaRPr sz="900">
              <a:solidFill>
                <a:schemeClr val="dk1"/>
              </a:solidFill>
              <a:latin typeface="DM Sans"/>
              <a:ea typeface="DM Sans"/>
              <a:cs typeface="DM Sans"/>
              <a:sym typeface="DM Sans"/>
            </a:endParaRPr>
          </a:p>
        </p:txBody>
      </p:sp>
      <p:sp>
        <p:nvSpPr>
          <p:cNvPr id="2834" name="Google Shape;2834;p114"/>
          <p:cNvSpPr txBox="1"/>
          <p:nvPr/>
        </p:nvSpPr>
        <p:spPr>
          <a:xfrm>
            <a:off x="5013800" y="948475"/>
            <a:ext cx="15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Build an AI agent using any framework.</a:t>
            </a:r>
            <a:endParaRPr sz="900">
              <a:solidFill>
                <a:schemeClr val="dk1"/>
              </a:solidFill>
              <a:latin typeface="DM Sans"/>
              <a:ea typeface="DM Sans"/>
              <a:cs typeface="DM Sans"/>
              <a:sym typeface="DM Sans"/>
            </a:endParaRPr>
          </a:p>
        </p:txBody>
      </p:sp>
      <p:sp>
        <p:nvSpPr>
          <p:cNvPr id="2835" name="Google Shape;2835;p114"/>
          <p:cNvSpPr/>
          <p:nvPr/>
        </p:nvSpPr>
        <p:spPr>
          <a:xfrm>
            <a:off x="4004150" y="4938813"/>
            <a:ext cx="1590600" cy="4293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ChatAgent</a:t>
            </a:r>
            <a:endParaRPr b="1" sz="1100">
              <a:latin typeface="DM Sans"/>
              <a:ea typeface="DM Sans"/>
              <a:cs typeface="DM Sans"/>
              <a:sym typeface="DM Sans"/>
            </a:endParaRPr>
          </a:p>
        </p:txBody>
      </p:sp>
      <p:grpSp>
        <p:nvGrpSpPr>
          <p:cNvPr id="2836" name="Google Shape;2836;p114"/>
          <p:cNvGrpSpPr/>
          <p:nvPr/>
        </p:nvGrpSpPr>
        <p:grpSpPr>
          <a:xfrm>
            <a:off x="4318599" y="4544893"/>
            <a:ext cx="962422" cy="517557"/>
            <a:chOff x="4300524" y="1108368"/>
            <a:chExt cx="962422" cy="517557"/>
          </a:xfrm>
        </p:grpSpPr>
        <p:pic>
          <p:nvPicPr>
            <p:cNvPr id="2837" name="Google Shape;2837;p114"/>
            <p:cNvPicPr preferRelativeResize="0"/>
            <p:nvPr/>
          </p:nvPicPr>
          <p:blipFill rotWithShape="1">
            <a:blip r:embed="rId4">
              <a:alphaModFix/>
            </a:blip>
            <a:srcRect b="0" l="0" r="0" t="0"/>
            <a:stretch/>
          </p:blipFill>
          <p:spPr>
            <a:xfrm>
              <a:off x="4300524" y="1108368"/>
              <a:ext cx="472159" cy="470185"/>
            </a:xfrm>
            <a:prstGeom prst="rect">
              <a:avLst/>
            </a:prstGeom>
            <a:noFill/>
            <a:ln>
              <a:noFill/>
            </a:ln>
          </p:spPr>
        </p:pic>
        <p:pic>
          <p:nvPicPr>
            <p:cNvPr id="2838" name="Google Shape;2838;p114"/>
            <p:cNvPicPr preferRelativeResize="0"/>
            <p:nvPr/>
          </p:nvPicPr>
          <p:blipFill rotWithShape="1">
            <a:blip r:embed="rId3">
              <a:alphaModFix/>
            </a:blip>
            <a:srcRect b="0" l="0" r="0" t="0"/>
            <a:stretch/>
          </p:blipFill>
          <p:spPr>
            <a:xfrm>
              <a:off x="4833500" y="1196500"/>
              <a:ext cx="429446" cy="429425"/>
            </a:xfrm>
            <a:prstGeom prst="rect">
              <a:avLst/>
            </a:prstGeom>
            <a:noFill/>
            <a:ln>
              <a:noFill/>
            </a:ln>
          </p:spPr>
        </p:pic>
        <p:sp>
          <p:nvSpPr>
            <p:cNvPr id="2839" name="Google Shape;2839;p114"/>
            <p:cNvSpPr txBox="1"/>
            <p:nvPr/>
          </p:nvSpPr>
          <p:spPr>
            <a:xfrm>
              <a:off x="4661825" y="1251013"/>
              <a:ext cx="274500" cy="3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DM Sans"/>
                  <a:ea typeface="DM Sans"/>
                  <a:cs typeface="DM Sans"/>
                  <a:sym typeface="DM Sans"/>
                </a:rPr>
                <a:t>+</a:t>
              </a:r>
              <a:endParaRPr sz="1100">
                <a:solidFill>
                  <a:schemeClr val="dk1"/>
                </a:solidFill>
                <a:latin typeface="DM Sans"/>
                <a:ea typeface="DM Sans"/>
                <a:cs typeface="DM Sans"/>
                <a:sym typeface="DM Sans"/>
              </a:endParaRPr>
            </a:p>
          </p:txBody>
        </p:sp>
      </p:grpSp>
      <p:sp>
        <p:nvSpPr>
          <p:cNvPr id="2840" name="Google Shape;2840;p114"/>
          <p:cNvSpPr/>
          <p:nvPr/>
        </p:nvSpPr>
        <p:spPr>
          <a:xfrm>
            <a:off x="4254413" y="4456375"/>
            <a:ext cx="1090800" cy="6681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41" name="Google Shape;2841;p114"/>
          <p:cNvSpPr txBox="1"/>
          <p:nvPr/>
        </p:nvSpPr>
        <p:spPr>
          <a:xfrm>
            <a:off x="5013800" y="3908138"/>
            <a:ext cx="172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Log the agent using MLflow to package it for deployment</a:t>
            </a:r>
            <a:endParaRPr sz="900">
              <a:solidFill>
                <a:schemeClr val="dk1"/>
              </a:solidFill>
              <a:latin typeface="DM Sans"/>
              <a:ea typeface="DM Sans"/>
              <a:cs typeface="DM Sans"/>
              <a:sym typeface="DM Sans"/>
            </a:endParaRPr>
          </a:p>
        </p:txBody>
      </p:sp>
      <p:cxnSp>
        <p:nvCxnSpPr>
          <p:cNvPr id="2842" name="Google Shape;2842;p114"/>
          <p:cNvCxnSpPr>
            <a:stCxn id="2826" idx="2"/>
            <a:endCxn id="2840" idx="0"/>
          </p:cNvCxnSpPr>
          <p:nvPr/>
        </p:nvCxnSpPr>
        <p:spPr>
          <a:xfrm>
            <a:off x="4799075" y="3897788"/>
            <a:ext cx="600" cy="558600"/>
          </a:xfrm>
          <a:prstGeom prst="straightConnector1">
            <a:avLst/>
          </a:prstGeom>
          <a:noFill/>
          <a:ln cap="flat" cmpd="sng" w="19050">
            <a:solidFill>
              <a:srgbClr val="618794"/>
            </a:solidFill>
            <a:prstDash val="dash"/>
            <a:round/>
            <a:headEnd len="med" w="med" type="none"/>
            <a:tailEnd len="med" w="med" type="triangle"/>
          </a:ln>
        </p:spPr>
      </p:cxn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6" name="Shape 2846"/>
        <p:cNvGrpSpPr/>
        <p:nvPr/>
      </p:nvGrpSpPr>
      <p:grpSpPr>
        <a:xfrm>
          <a:off x="0" y="0"/>
          <a:ext cx="0" cy="0"/>
          <a:chOff x="0" y="0"/>
          <a:chExt cx="0" cy="0"/>
        </a:xfrm>
      </p:grpSpPr>
      <p:sp>
        <p:nvSpPr>
          <p:cNvPr id="2847" name="Google Shape;2847;p115"/>
          <p:cNvSpPr/>
          <p:nvPr/>
        </p:nvSpPr>
        <p:spPr>
          <a:xfrm>
            <a:off x="3668375" y="1240734"/>
            <a:ext cx="3858000" cy="3858000"/>
          </a:xfrm>
          <a:prstGeom prst="ellipse">
            <a:avLst/>
          </a:prstGeom>
          <a:solidFill>
            <a:srgbClr val="1B5162">
              <a:alpha val="93080"/>
            </a:srgbClr>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48" name="Google Shape;2848;p115"/>
          <p:cNvSpPr/>
          <p:nvPr/>
        </p:nvSpPr>
        <p:spPr>
          <a:xfrm>
            <a:off x="4334225" y="2572499"/>
            <a:ext cx="2526300" cy="2526300"/>
          </a:xfrm>
          <a:prstGeom prst="ellipse">
            <a:avLst/>
          </a:prstGeom>
          <a:solidFill>
            <a:srgbClr val="009D6A">
              <a:alpha val="74840"/>
            </a:srgbClr>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49" name="Google Shape;2849;p115"/>
          <p:cNvSpPr txBox="1"/>
          <p:nvPr/>
        </p:nvSpPr>
        <p:spPr>
          <a:xfrm>
            <a:off x="0" y="0"/>
            <a:ext cx="11977800" cy="51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Agentic diagrams /_static/images/generative-ai/llms.png, /_static/images/generative-ai/llm-chain.png, /_static/images/generative-ai/agentic-vs-compound-ai-systems.png</a:t>
            </a:r>
            <a:endParaRPr sz="200"/>
          </a:p>
        </p:txBody>
      </p:sp>
      <p:sp>
        <p:nvSpPr>
          <p:cNvPr id="2850" name="Google Shape;2850;p115"/>
          <p:cNvSpPr txBox="1"/>
          <p:nvPr/>
        </p:nvSpPr>
        <p:spPr>
          <a:xfrm>
            <a:off x="4639474" y="3340533"/>
            <a:ext cx="1915800" cy="877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2050">
                <a:solidFill>
                  <a:schemeClr val="lt1"/>
                </a:solidFill>
                <a:latin typeface="DM Sans"/>
                <a:ea typeface="DM Sans"/>
                <a:cs typeface="DM Sans"/>
                <a:sym typeface="DM Sans"/>
              </a:rPr>
              <a:t>Agentic applications</a:t>
            </a:r>
            <a:endParaRPr b="1" sz="2050">
              <a:solidFill>
                <a:schemeClr val="lt1"/>
              </a:solidFill>
              <a:latin typeface="DM Sans"/>
              <a:ea typeface="DM Sans"/>
              <a:cs typeface="DM Sans"/>
              <a:sym typeface="DM Sans"/>
            </a:endParaRPr>
          </a:p>
        </p:txBody>
      </p:sp>
      <p:sp>
        <p:nvSpPr>
          <p:cNvPr id="2851" name="Google Shape;2851;p115"/>
          <p:cNvSpPr txBox="1"/>
          <p:nvPr/>
        </p:nvSpPr>
        <p:spPr>
          <a:xfrm>
            <a:off x="4639474" y="1582658"/>
            <a:ext cx="1915800" cy="8619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2000">
                <a:solidFill>
                  <a:schemeClr val="lt1"/>
                </a:solidFill>
                <a:latin typeface="DM Sans"/>
                <a:ea typeface="DM Sans"/>
                <a:cs typeface="DM Sans"/>
                <a:sym typeface="DM Sans"/>
              </a:rPr>
              <a:t>Compound AI systems</a:t>
            </a:r>
            <a:endParaRPr b="1" sz="2000">
              <a:solidFill>
                <a:schemeClr val="lt1"/>
              </a:solidFill>
              <a:latin typeface="DM Sans"/>
              <a:ea typeface="DM Sans"/>
              <a:cs typeface="DM Sans"/>
              <a:sym typeface="DM San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5" name="Shape 2855"/>
        <p:cNvGrpSpPr/>
        <p:nvPr/>
      </p:nvGrpSpPr>
      <p:grpSpPr>
        <a:xfrm>
          <a:off x="0" y="0"/>
          <a:ext cx="0" cy="0"/>
          <a:chOff x="0" y="0"/>
          <a:chExt cx="0" cy="0"/>
        </a:xfrm>
      </p:grpSpPr>
      <p:sp>
        <p:nvSpPr>
          <p:cNvPr id="2856" name="Google Shape;2856;p11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grpSp>
        <p:nvGrpSpPr>
          <p:cNvPr id="2857" name="Google Shape;2857;p116"/>
          <p:cNvGrpSpPr/>
          <p:nvPr/>
        </p:nvGrpSpPr>
        <p:grpSpPr>
          <a:xfrm>
            <a:off x="952500" y="2171700"/>
            <a:ext cx="8930700" cy="2788800"/>
            <a:chOff x="160025" y="1577350"/>
            <a:chExt cx="8930700" cy="2788800"/>
          </a:xfrm>
        </p:grpSpPr>
        <p:sp>
          <p:nvSpPr>
            <p:cNvPr id="2858" name="Google Shape;2858;p116"/>
            <p:cNvSpPr/>
            <p:nvPr/>
          </p:nvSpPr>
          <p:spPr>
            <a:xfrm>
              <a:off x="160025" y="1577350"/>
              <a:ext cx="8930700" cy="2788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9" name="Google Shape;2859;p116"/>
            <p:cNvSpPr/>
            <p:nvPr/>
          </p:nvSpPr>
          <p:spPr>
            <a:xfrm>
              <a:off x="498225" y="1721825"/>
              <a:ext cx="2183436" cy="681426"/>
            </a:xfrm>
            <a:prstGeom prst="flowChartDocument">
              <a:avLst/>
            </a:prstGeom>
            <a:solidFill>
              <a:srgbClr val="EFEFEF"/>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Eval set</a:t>
              </a:r>
              <a:endParaRPr>
                <a:latin typeface="DM Sans"/>
                <a:ea typeface="DM Sans"/>
                <a:cs typeface="DM Sans"/>
                <a:sym typeface="DM Sans"/>
              </a:endParaRPr>
            </a:p>
            <a:p>
              <a:pPr indent="0" lvl="0" marL="0" rtl="0" algn="ctr">
                <a:spcBef>
                  <a:spcPts val="0"/>
                </a:spcBef>
                <a:spcAft>
                  <a:spcPts val="0"/>
                </a:spcAft>
                <a:buNone/>
              </a:pPr>
              <a:r>
                <a:rPr lang="en" sz="900">
                  <a:latin typeface="Courier New"/>
                  <a:ea typeface="Courier New"/>
                  <a:cs typeface="Courier New"/>
                  <a:sym typeface="Courier New"/>
                </a:rPr>
                <a:t>catalog.schema.eval_table</a:t>
              </a:r>
              <a:endParaRPr sz="900">
                <a:latin typeface="Courier New"/>
                <a:ea typeface="Courier New"/>
                <a:cs typeface="Courier New"/>
                <a:sym typeface="Courier New"/>
              </a:endParaRPr>
            </a:p>
          </p:txBody>
        </p:sp>
        <p:sp>
          <p:nvSpPr>
            <p:cNvPr id="2860" name="Google Shape;2860;p116"/>
            <p:cNvSpPr/>
            <p:nvPr/>
          </p:nvSpPr>
          <p:spPr>
            <a:xfrm>
              <a:off x="498238" y="3758650"/>
              <a:ext cx="2183425" cy="485100"/>
            </a:xfrm>
            <a:prstGeom prst="flowChartProcess">
              <a:avLst/>
            </a:prstGeom>
            <a:solidFill>
              <a:srgbClr val="EEEDE9"/>
            </a:solidFill>
            <a:ln cap="flat" cmpd="sng" w="9525">
              <a:solidFill>
                <a:srgbClr val="143D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143D4A"/>
                  </a:solidFill>
                  <a:latin typeface="DM Sans"/>
                  <a:ea typeface="DM Sans"/>
                  <a:cs typeface="DM Sans"/>
                  <a:sym typeface="DM Sans"/>
                </a:rPr>
                <a:t>Your RAG app</a:t>
              </a:r>
              <a:endParaRPr b="1" sz="900">
                <a:solidFill>
                  <a:srgbClr val="143D4A"/>
                </a:solidFill>
                <a:latin typeface="Courier New"/>
                <a:ea typeface="Courier New"/>
                <a:cs typeface="Courier New"/>
                <a:sym typeface="Courier New"/>
              </a:endParaRPr>
            </a:p>
          </p:txBody>
        </p:sp>
        <p:sp>
          <p:nvSpPr>
            <p:cNvPr id="2861" name="Google Shape;2861;p116"/>
            <p:cNvSpPr/>
            <p:nvPr/>
          </p:nvSpPr>
          <p:spPr>
            <a:xfrm>
              <a:off x="498225" y="2716825"/>
              <a:ext cx="2183436" cy="681426"/>
            </a:xfrm>
            <a:prstGeom prst="flowChartDocument">
              <a:avLst/>
            </a:prstGeom>
            <a:solidFill>
              <a:srgbClr val="EFEFEF"/>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Answer table</a:t>
              </a:r>
              <a:endParaRPr>
                <a:latin typeface="DM Sans"/>
                <a:ea typeface="DM Sans"/>
                <a:cs typeface="DM Sans"/>
                <a:sym typeface="DM Sans"/>
              </a:endParaRPr>
            </a:p>
            <a:p>
              <a:pPr indent="0" lvl="0" marL="0" rtl="0" algn="ctr">
                <a:spcBef>
                  <a:spcPts val="0"/>
                </a:spcBef>
                <a:spcAft>
                  <a:spcPts val="0"/>
                </a:spcAft>
                <a:buNone/>
              </a:pPr>
              <a:r>
                <a:rPr lang="en" sz="900">
                  <a:latin typeface="Courier New"/>
                  <a:ea typeface="Courier New"/>
                  <a:cs typeface="Courier New"/>
                  <a:sym typeface="Courier New"/>
                </a:rPr>
                <a:t>catalog.schema.answer_table</a:t>
              </a:r>
              <a:endParaRPr sz="900">
                <a:latin typeface="Courier New"/>
                <a:ea typeface="Courier New"/>
                <a:cs typeface="Courier New"/>
                <a:sym typeface="Courier New"/>
              </a:endParaRPr>
            </a:p>
          </p:txBody>
        </p:sp>
        <p:cxnSp>
          <p:nvCxnSpPr>
            <p:cNvPr id="2862" name="Google Shape;2862;p116"/>
            <p:cNvCxnSpPr>
              <a:stCxn id="2860" idx="0"/>
              <a:endCxn id="2861" idx="2"/>
            </p:cNvCxnSpPr>
            <p:nvPr/>
          </p:nvCxnSpPr>
          <p:spPr>
            <a:xfrm rot="10800000">
              <a:off x="1589950" y="3353350"/>
              <a:ext cx="0" cy="405300"/>
            </a:xfrm>
            <a:prstGeom prst="straightConnector1">
              <a:avLst/>
            </a:prstGeom>
            <a:noFill/>
            <a:ln cap="flat" cmpd="sng" w="9525">
              <a:solidFill>
                <a:srgbClr val="595959"/>
              </a:solidFill>
              <a:prstDash val="solid"/>
              <a:round/>
              <a:headEnd len="med" w="med" type="none"/>
              <a:tailEnd len="med" w="med" type="triangle"/>
            </a:ln>
          </p:spPr>
        </p:cxnSp>
        <p:sp>
          <p:nvSpPr>
            <p:cNvPr id="2863" name="Google Shape;2863;p116"/>
            <p:cNvSpPr txBox="1"/>
            <p:nvPr/>
          </p:nvSpPr>
          <p:spPr>
            <a:xfrm>
              <a:off x="2180500" y="3409825"/>
              <a:ext cx="1062300" cy="33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595959"/>
                  </a:solidFill>
                  <a:latin typeface="DM Sans"/>
                  <a:ea typeface="DM Sans"/>
                  <a:cs typeface="DM Sans"/>
                  <a:sym typeface="DM Sans"/>
                </a:rPr>
                <a:t>ETL logs</a:t>
              </a:r>
              <a:endParaRPr>
                <a:solidFill>
                  <a:srgbClr val="595959"/>
                </a:solidFill>
                <a:latin typeface="DM Sans"/>
                <a:ea typeface="DM Sans"/>
                <a:cs typeface="DM Sans"/>
                <a:sym typeface="DM Sans"/>
              </a:endParaRPr>
            </a:p>
          </p:txBody>
        </p:sp>
        <p:cxnSp>
          <p:nvCxnSpPr>
            <p:cNvPr id="2864" name="Google Shape;2864;p116"/>
            <p:cNvCxnSpPr>
              <a:stCxn id="2861" idx="3"/>
            </p:cNvCxnSpPr>
            <p:nvPr/>
          </p:nvCxnSpPr>
          <p:spPr>
            <a:xfrm>
              <a:off x="2681661" y="3057538"/>
              <a:ext cx="124500" cy="0"/>
            </a:xfrm>
            <a:prstGeom prst="straightConnector1">
              <a:avLst/>
            </a:prstGeom>
            <a:noFill/>
            <a:ln cap="flat" cmpd="sng" w="9525">
              <a:solidFill>
                <a:srgbClr val="595959"/>
              </a:solidFill>
              <a:prstDash val="solid"/>
              <a:round/>
              <a:headEnd len="med" w="med" type="none"/>
              <a:tailEnd len="med" w="med" type="none"/>
            </a:ln>
          </p:spPr>
        </p:cxnSp>
        <p:cxnSp>
          <p:nvCxnSpPr>
            <p:cNvPr id="2865" name="Google Shape;2865;p116"/>
            <p:cNvCxnSpPr>
              <a:stCxn id="2859" idx="3"/>
            </p:cNvCxnSpPr>
            <p:nvPr/>
          </p:nvCxnSpPr>
          <p:spPr>
            <a:xfrm>
              <a:off x="2681661" y="2062538"/>
              <a:ext cx="124500" cy="0"/>
            </a:xfrm>
            <a:prstGeom prst="straightConnector1">
              <a:avLst/>
            </a:prstGeom>
            <a:noFill/>
            <a:ln cap="flat" cmpd="sng" w="9525">
              <a:solidFill>
                <a:srgbClr val="595959"/>
              </a:solidFill>
              <a:prstDash val="solid"/>
              <a:round/>
              <a:headEnd len="med" w="med" type="none"/>
              <a:tailEnd len="med" w="med" type="none"/>
            </a:ln>
          </p:spPr>
        </p:cxnSp>
        <p:cxnSp>
          <p:nvCxnSpPr>
            <p:cNvPr id="2866" name="Google Shape;2866;p116"/>
            <p:cNvCxnSpPr/>
            <p:nvPr/>
          </p:nvCxnSpPr>
          <p:spPr>
            <a:xfrm>
              <a:off x="2806150" y="2062525"/>
              <a:ext cx="0" cy="998100"/>
            </a:xfrm>
            <a:prstGeom prst="straightConnector1">
              <a:avLst/>
            </a:prstGeom>
            <a:noFill/>
            <a:ln cap="flat" cmpd="sng" w="9525">
              <a:solidFill>
                <a:srgbClr val="595959"/>
              </a:solidFill>
              <a:prstDash val="solid"/>
              <a:round/>
              <a:headEnd len="med" w="med" type="none"/>
              <a:tailEnd len="med" w="med" type="none"/>
            </a:ln>
          </p:spPr>
        </p:cxnSp>
        <p:cxnSp>
          <p:nvCxnSpPr>
            <p:cNvPr id="2867" name="Google Shape;2867;p116"/>
            <p:cNvCxnSpPr/>
            <p:nvPr/>
          </p:nvCxnSpPr>
          <p:spPr>
            <a:xfrm>
              <a:off x="2813050" y="2559050"/>
              <a:ext cx="126600" cy="0"/>
            </a:xfrm>
            <a:prstGeom prst="straightConnector1">
              <a:avLst/>
            </a:prstGeom>
            <a:noFill/>
            <a:ln cap="flat" cmpd="sng" w="9525">
              <a:solidFill>
                <a:srgbClr val="595959"/>
              </a:solidFill>
              <a:prstDash val="solid"/>
              <a:round/>
              <a:headEnd len="med" w="med" type="none"/>
              <a:tailEnd len="med" w="med" type="triangle"/>
            </a:ln>
          </p:spPr>
        </p:cxnSp>
        <p:sp>
          <p:nvSpPr>
            <p:cNvPr id="2868" name="Google Shape;2868;p116"/>
            <p:cNvSpPr/>
            <p:nvPr/>
          </p:nvSpPr>
          <p:spPr>
            <a:xfrm>
              <a:off x="2888313" y="2329200"/>
              <a:ext cx="1491600" cy="485100"/>
            </a:xfrm>
            <a:prstGeom prst="parallelogram">
              <a:avLst>
                <a:gd fmla="val 25000"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DM Sans"/>
                  <a:ea typeface="DM Sans"/>
                  <a:cs typeface="DM Sans"/>
                  <a:sym typeface="DM Sans"/>
                </a:rPr>
                <a:t>evaluate(...)</a:t>
              </a:r>
              <a:endParaRPr>
                <a:solidFill>
                  <a:srgbClr val="212121"/>
                </a:solidFill>
                <a:latin typeface="DM Sans"/>
                <a:ea typeface="DM Sans"/>
                <a:cs typeface="DM Sans"/>
                <a:sym typeface="DM Sans"/>
              </a:endParaRPr>
            </a:p>
          </p:txBody>
        </p:sp>
        <p:sp>
          <p:nvSpPr>
            <p:cNvPr id="2869" name="Google Shape;2869;p116"/>
            <p:cNvSpPr/>
            <p:nvPr/>
          </p:nvSpPr>
          <p:spPr>
            <a:xfrm>
              <a:off x="4572000" y="1819000"/>
              <a:ext cx="2851146" cy="584226"/>
            </a:xfrm>
            <a:prstGeom prst="flowChartDocumen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DM Sans"/>
                  <a:ea typeface="DM Sans"/>
                  <a:cs typeface="DM Sans"/>
                  <a:sym typeface="DM Sans"/>
                </a:rPr>
                <a:t>LLM judge outputs</a:t>
              </a:r>
              <a:endParaRPr>
                <a:solidFill>
                  <a:srgbClr val="212121"/>
                </a:solidFill>
                <a:latin typeface="DM Sans"/>
                <a:ea typeface="DM Sans"/>
                <a:cs typeface="DM Sans"/>
                <a:sym typeface="DM Sans"/>
              </a:endParaRPr>
            </a:p>
            <a:p>
              <a:pPr indent="0" lvl="0" marL="0" rtl="0" algn="ctr">
                <a:spcBef>
                  <a:spcPts val="0"/>
                </a:spcBef>
                <a:spcAft>
                  <a:spcPts val="0"/>
                </a:spcAft>
                <a:buClr>
                  <a:srgbClr val="000000"/>
                </a:buClr>
                <a:buSzPts val="1100"/>
                <a:buFont typeface="Arial"/>
                <a:buNone/>
              </a:pPr>
              <a:r>
                <a:rPr lang="en" sz="900">
                  <a:solidFill>
                    <a:srgbClr val="000000"/>
                  </a:solidFill>
                  <a:latin typeface="Courier New"/>
                  <a:ea typeface="Courier New"/>
                  <a:cs typeface="Courier New"/>
                  <a:sym typeface="Courier New"/>
                </a:rPr>
                <a:t>catalog.schema.eval_table_assessments</a:t>
              </a:r>
              <a:endParaRPr sz="900">
                <a:solidFill>
                  <a:srgbClr val="212121"/>
                </a:solidFill>
                <a:latin typeface="Courier New"/>
                <a:ea typeface="Courier New"/>
                <a:cs typeface="Courier New"/>
                <a:sym typeface="Courier New"/>
              </a:endParaRPr>
            </a:p>
          </p:txBody>
        </p:sp>
        <p:sp>
          <p:nvSpPr>
            <p:cNvPr id="2870" name="Google Shape;2870;p116"/>
            <p:cNvSpPr/>
            <p:nvPr/>
          </p:nvSpPr>
          <p:spPr>
            <a:xfrm>
              <a:off x="4572000" y="2716825"/>
              <a:ext cx="2851146" cy="584226"/>
            </a:xfrm>
            <a:prstGeom prst="flowChartDocumen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DM Sans"/>
                  <a:ea typeface="DM Sans"/>
                  <a:cs typeface="DM Sans"/>
                  <a:sym typeface="DM Sans"/>
                </a:rPr>
                <a:t>Metric computations</a:t>
              </a:r>
              <a:endParaRPr>
                <a:solidFill>
                  <a:srgbClr val="212121"/>
                </a:solidFill>
                <a:latin typeface="DM Sans"/>
                <a:ea typeface="DM Sans"/>
                <a:cs typeface="DM Sans"/>
                <a:sym typeface="DM Sans"/>
              </a:endParaRPr>
            </a:p>
            <a:p>
              <a:pPr indent="0" lvl="0" marL="0" rtl="0" algn="ctr">
                <a:spcBef>
                  <a:spcPts val="0"/>
                </a:spcBef>
                <a:spcAft>
                  <a:spcPts val="0"/>
                </a:spcAft>
                <a:buNone/>
              </a:pPr>
              <a:r>
                <a:rPr lang="en" sz="900">
                  <a:solidFill>
                    <a:srgbClr val="000000"/>
                  </a:solidFill>
                  <a:latin typeface="Courier New"/>
                  <a:ea typeface="Courier New"/>
                  <a:cs typeface="Courier New"/>
                  <a:sym typeface="Courier New"/>
                </a:rPr>
                <a:t>catalog.schema.eval_table_eval_metrics</a:t>
              </a:r>
              <a:endParaRPr sz="900">
                <a:solidFill>
                  <a:srgbClr val="212121"/>
                </a:solidFill>
                <a:latin typeface="Courier New"/>
                <a:ea typeface="Courier New"/>
                <a:cs typeface="Courier New"/>
                <a:sym typeface="Courier New"/>
              </a:endParaRPr>
            </a:p>
          </p:txBody>
        </p:sp>
        <p:cxnSp>
          <p:nvCxnSpPr>
            <p:cNvPr id="2871" name="Google Shape;2871;p116"/>
            <p:cNvCxnSpPr/>
            <p:nvPr/>
          </p:nvCxnSpPr>
          <p:spPr>
            <a:xfrm>
              <a:off x="4408475" y="2105025"/>
              <a:ext cx="0" cy="905100"/>
            </a:xfrm>
            <a:prstGeom prst="straightConnector1">
              <a:avLst/>
            </a:prstGeom>
            <a:noFill/>
            <a:ln cap="flat" cmpd="sng" w="9525">
              <a:solidFill>
                <a:srgbClr val="595959"/>
              </a:solidFill>
              <a:prstDash val="solid"/>
              <a:round/>
              <a:headEnd len="med" w="med" type="none"/>
              <a:tailEnd len="med" w="med" type="none"/>
            </a:ln>
          </p:spPr>
        </p:cxnSp>
        <p:cxnSp>
          <p:nvCxnSpPr>
            <p:cNvPr id="2872" name="Google Shape;2872;p116"/>
            <p:cNvCxnSpPr>
              <a:endCxn id="2869" idx="1"/>
            </p:cNvCxnSpPr>
            <p:nvPr/>
          </p:nvCxnSpPr>
          <p:spPr>
            <a:xfrm>
              <a:off x="4410000" y="2111113"/>
              <a:ext cx="162000" cy="0"/>
            </a:xfrm>
            <a:prstGeom prst="straightConnector1">
              <a:avLst/>
            </a:prstGeom>
            <a:noFill/>
            <a:ln cap="flat" cmpd="sng" w="9525">
              <a:solidFill>
                <a:srgbClr val="595959"/>
              </a:solidFill>
              <a:prstDash val="solid"/>
              <a:round/>
              <a:headEnd len="med" w="med" type="none"/>
              <a:tailEnd len="med" w="med" type="triangle"/>
            </a:ln>
          </p:spPr>
        </p:cxnSp>
        <p:cxnSp>
          <p:nvCxnSpPr>
            <p:cNvPr id="2873" name="Google Shape;2873;p116"/>
            <p:cNvCxnSpPr/>
            <p:nvPr/>
          </p:nvCxnSpPr>
          <p:spPr>
            <a:xfrm>
              <a:off x="4408475" y="3008938"/>
              <a:ext cx="166800" cy="0"/>
            </a:xfrm>
            <a:prstGeom prst="straightConnector1">
              <a:avLst/>
            </a:prstGeom>
            <a:noFill/>
            <a:ln cap="flat" cmpd="sng" w="9525">
              <a:solidFill>
                <a:srgbClr val="595959"/>
              </a:solidFill>
              <a:prstDash val="solid"/>
              <a:round/>
              <a:headEnd len="med" w="med" type="none"/>
              <a:tailEnd len="med" w="med" type="triangle"/>
            </a:ln>
          </p:spPr>
        </p:cxnSp>
        <p:sp>
          <p:nvSpPr>
            <p:cNvPr id="2874" name="Google Shape;2874;p116"/>
            <p:cNvSpPr/>
            <p:nvPr/>
          </p:nvSpPr>
          <p:spPr>
            <a:xfrm>
              <a:off x="7615225" y="2255250"/>
              <a:ext cx="1376375" cy="584225"/>
            </a:xfrm>
            <a:prstGeom prst="flowChartProcess">
              <a:avLst/>
            </a:prstGeom>
            <a:solidFill>
              <a:srgbClr val="143D4A"/>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EEEEE"/>
                  </a:solidFill>
                  <a:latin typeface="DM Sans"/>
                  <a:ea typeface="DM Sans"/>
                  <a:cs typeface="DM Sans"/>
                  <a:sym typeface="DM Sans"/>
                </a:rPr>
                <a:t>Dashboard</a:t>
              </a:r>
              <a:endParaRPr b="1">
                <a:solidFill>
                  <a:srgbClr val="EEEEEE"/>
                </a:solidFill>
                <a:latin typeface="DM Sans"/>
                <a:ea typeface="DM Sans"/>
                <a:cs typeface="DM Sans"/>
                <a:sym typeface="DM Sans"/>
              </a:endParaRPr>
            </a:p>
            <a:p>
              <a:pPr indent="0" lvl="0" marL="0" rtl="0" algn="ctr">
                <a:spcBef>
                  <a:spcPts val="0"/>
                </a:spcBef>
                <a:spcAft>
                  <a:spcPts val="0"/>
                </a:spcAft>
                <a:buNone/>
              </a:pPr>
              <a:r>
                <a:rPr b="1" lang="en">
                  <a:solidFill>
                    <a:srgbClr val="EEEEEE"/>
                  </a:solidFill>
                  <a:latin typeface="DM Sans"/>
                  <a:ea typeface="DM Sans"/>
                  <a:cs typeface="DM Sans"/>
                  <a:sym typeface="DM Sans"/>
                </a:rPr>
                <a:t>MLflow</a:t>
              </a:r>
              <a:endParaRPr b="1">
                <a:solidFill>
                  <a:srgbClr val="EEEEEE"/>
                </a:solidFill>
                <a:latin typeface="DM Sans"/>
                <a:ea typeface="DM Sans"/>
                <a:cs typeface="DM Sans"/>
                <a:sym typeface="DM Sans"/>
              </a:endParaRPr>
            </a:p>
          </p:txBody>
        </p:sp>
        <p:cxnSp>
          <p:nvCxnSpPr>
            <p:cNvPr id="2875" name="Google Shape;2875;p116"/>
            <p:cNvCxnSpPr>
              <a:stCxn id="2868" idx="2"/>
            </p:cNvCxnSpPr>
            <p:nvPr/>
          </p:nvCxnSpPr>
          <p:spPr>
            <a:xfrm>
              <a:off x="4319275" y="2571750"/>
              <a:ext cx="3219600" cy="0"/>
            </a:xfrm>
            <a:prstGeom prst="straightConnector1">
              <a:avLst/>
            </a:prstGeom>
            <a:noFill/>
            <a:ln cap="flat" cmpd="sng" w="9525">
              <a:solidFill>
                <a:srgbClr val="595959"/>
              </a:solidFill>
              <a:prstDash val="solid"/>
              <a:round/>
              <a:headEnd len="med" w="med" type="none"/>
              <a:tailEnd len="med" w="med" type="triangle"/>
            </a:ln>
          </p:spPr>
        </p:cxnSp>
        <p:cxnSp>
          <p:nvCxnSpPr>
            <p:cNvPr id="2876" name="Google Shape;2876;p116"/>
            <p:cNvCxnSpPr/>
            <p:nvPr/>
          </p:nvCxnSpPr>
          <p:spPr>
            <a:xfrm>
              <a:off x="7420746" y="3008926"/>
              <a:ext cx="887400" cy="0"/>
            </a:xfrm>
            <a:prstGeom prst="straightConnector1">
              <a:avLst/>
            </a:prstGeom>
            <a:noFill/>
            <a:ln cap="flat" cmpd="sng" w="9525">
              <a:solidFill>
                <a:srgbClr val="595959"/>
              </a:solidFill>
              <a:prstDash val="solid"/>
              <a:round/>
              <a:headEnd len="med" w="med" type="none"/>
              <a:tailEnd len="med" w="med" type="none"/>
            </a:ln>
          </p:spPr>
        </p:cxnSp>
        <p:cxnSp>
          <p:nvCxnSpPr>
            <p:cNvPr id="2877" name="Google Shape;2877;p116"/>
            <p:cNvCxnSpPr/>
            <p:nvPr/>
          </p:nvCxnSpPr>
          <p:spPr>
            <a:xfrm>
              <a:off x="7423146" y="2134538"/>
              <a:ext cx="882600" cy="0"/>
            </a:xfrm>
            <a:prstGeom prst="straightConnector1">
              <a:avLst/>
            </a:prstGeom>
            <a:noFill/>
            <a:ln cap="flat" cmpd="sng" w="9525">
              <a:solidFill>
                <a:srgbClr val="595959"/>
              </a:solidFill>
              <a:prstDash val="solid"/>
              <a:round/>
              <a:headEnd len="med" w="med" type="none"/>
              <a:tailEnd len="med" w="med" type="none"/>
            </a:ln>
          </p:spPr>
        </p:cxnSp>
        <p:cxnSp>
          <p:nvCxnSpPr>
            <p:cNvPr id="2878" name="Google Shape;2878;p116"/>
            <p:cNvCxnSpPr/>
            <p:nvPr/>
          </p:nvCxnSpPr>
          <p:spPr>
            <a:xfrm>
              <a:off x="8303413" y="2128650"/>
              <a:ext cx="0" cy="135300"/>
            </a:xfrm>
            <a:prstGeom prst="straightConnector1">
              <a:avLst/>
            </a:prstGeom>
            <a:noFill/>
            <a:ln cap="flat" cmpd="sng" w="9525">
              <a:solidFill>
                <a:srgbClr val="595959"/>
              </a:solidFill>
              <a:prstDash val="solid"/>
              <a:round/>
              <a:headEnd len="med" w="med" type="none"/>
              <a:tailEnd len="med" w="med" type="triangle"/>
            </a:ln>
          </p:spPr>
        </p:cxnSp>
        <p:cxnSp>
          <p:nvCxnSpPr>
            <p:cNvPr id="2879" name="Google Shape;2879;p116"/>
            <p:cNvCxnSpPr/>
            <p:nvPr/>
          </p:nvCxnSpPr>
          <p:spPr>
            <a:xfrm flipH="1" rot="10800000">
              <a:off x="8303413" y="2864850"/>
              <a:ext cx="6900" cy="140100"/>
            </a:xfrm>
            <a:prstGeom prst="straightConnector1">
              <a:avLst/>
            </a:prstGeom>
            <a:noFill/>
            <a:ln cap="flat" cmpd="sng" w="9525">
              <a:solidFill>
                <a:srgbClr val="595959"/>
              </a:solidFill>
              <a:prstDash val="solid"/>
              <a:round/>
              <a:headEnd len="med" w="med" type="none"/>
              <a:tailEnd len="med" w="med" type="triangle"/>
            </a:ln>
          </p:spPr>
        </p:cxnSp>
        <p:cxnSp>
          <p:nvCxnSpPr>
            <p:cNvPr id="2880" name="Google Shape;2880;p116"/>
            <p:cNvCxnSpPr/>
            <p:nvPr/>
          </p:nvCxnSpPr>
          <p:spPr>
            <a:xfrm>
              <a:off x="336225" y="4001188"/>
              <a:ext cx="162000" cy="0"/>
            </a:xfrm>
            <a:prstGeom prst="straightConnector1">
              <a:avLst/>
            </a:prstGeom>
            <a:noFill/>
            <a:ln cap="flat" cmpd="sng" w="9525">
              <a:solidFill>
                <a:srgbClr val="595959"/>
              </a:solidFill>
              <a:prstDash val="solid"/>
              <a:round/>
              <a:headEnd len="med" w="med" type="none"/>
              <a:tailEnd len="med" w="med" type="triangle"/>
            </a:ln>
          </p:spPr>
        </p:cxnSp>
        <p:cxnSp>
          <p:nvCxnSpPr>
            <p:cNvPr id="2881" name="Google Shape;2881;p116"/>
            <p:cNvCxnSpPr/>
            <p:nvPr/>
          </p:nvCxnSpPr>
          <p:spPr>
            <a:xfrm>
              <a:off x="333225" y="2043125"/>
              <a:ext cx="0" cy="1957500"/>
            </a:xfrm>
            <a:prstGeom prst="straightConnector1">
              <a:avLst/>
            </a:prstGeom>
            <a:noFill/>
            <a:ln cap="flat" cmpd="sng" w="9525">
              <a:solidFill>
                <a:srgbClr val="595959"/>
              </a:solidFill>
              <a:prstDash val="solid"/>
              <a:round/>
              <a:headEnd len="med" w="med" type="none"/>
              <a:tailEnd len="med" w="med" type="none"/>
            </a:ln>
          </p:spPr>
        </p:cxnSp>
        <p:cxnSp>
          <p:nvCxnSpPr>
            <p:cNvPr id="2882" name="Google Shape;2882;p116"/>
            <p:cNvCxnSpPr/>
            <p:nvPr/>
          </p:nvCxnSpPr>
          <p:spPr>
            <a:xfrm>
              <a:off x="336225" y="2043113"/>
              <a:ext cx="162000" cy="0"/>
            </a:xfrm>
            <a:prstGeom prst="straightConnector1">
              <a:avLst/>
            </a:prstGeom>
            <a:noFill/>
            <a:ln cap="flat" cmpd="sng" w="9525">
              <a:solidFill>
                <a:srgbClr val="595959"/>
              </a:solidFill>
              <a:prstDash val="solid"/>
              <a:round/>
              <a:headEnd len="med" w="med" type="none"/>
              <a:tailEnd len="med" w="med" type="none"/>
            </a:ln>
          </p:spPr>
        </p:cxnSp>
        <p:sp>
          <p:nvSpPr>
            <p:cNvPr id="2883" name="Google Shape;2883;p116"/>
            <p:cNvSpPr/>
            <p:nvPr/>
          </p:nvSpPr>
          <p:spPr>
            <a:xfrm>
              <a:off x="1738325" y="3449575"/>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2</a:t>
              </a:r>
              <a:endParaRPr b="1">
                <a:solidFill>
                  <a:srgbClr val="FFFFFF"/>
                </a:solidFill>
                <a:latin typeface="DM Sans"/>
                <a:ea typeface="DM Sans"/>
                <a:cs typeface="DM Sans"/>
                <a:sym typeface="DM Sans"/>
              </a:endParaRPr>
            </a:p>
          </p:txBody>
        </p:sp>
        <p:sp>
          <p:nvSpPr>
            <p:cNvPr id="2884" name="Google Shape;2884;p116"/>
            <p:cNvSpPr/>
            <p:nvPr/>
          </p:nvSpPr>
          <p:spPr>
            <a:xfrm>
              <a:off x="204375" y="3449638"/>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1</a:t>
              </a:r>
              <a:endParaRPr b="1">
                <a:solidFill>
                  <a:srgbClr val="FFFFFF"/>
                </a:solidFill>
                <a:latin typeface="DM Sans"/>
                <a:ea typeface="DM Sans"/>
                <a:cs typeface="DM Sans"/>
                <a:sym typeface="DM Sans"/>
              </a:endParaRPr>
            </a:p>
          </p:txBody>
        </p:sp>
        <p:sp>
          <p:nvSpPr>
            <p:cNvPr id="2885" name="Google Shape;2885;p116"/>
            <p:cNvSpPr/>
            <p:nvPr/>
          </p:nvSpPr>
          <p:spPr>
            <a:xfrm>
              <a:off x="2888325" y="2043113"/>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3</a:t>
              </a:r>
              <a:endParaRPr b="1">
                <a:solidFill>
                  <a:srgbClr val="FFFFFF"/>
                </a:solidFill>
                <a:latin typeface="DM Sans"/>
                <a:ea typeface="DM Sans"/>
                <a:cs typeface="DM Sans"/>
                <a:sym typeface="DM Sans"/>
              </a:endParaRPr>
            </a:p>
          </p:txBody>
        </p:sp>
        <p:sp>
          <p:nvSpPr>
            <p:cNvPr id="2886" name="Google Shape;2886;p116"/>
            <p:cNvSpPr/>
            <p:nvPr/>
          </p:nvSpPr>
          <p:spPr>
            <a:xfrm>
              <a:off x="6831675" y="2431163"/>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4</a:t>
              </a:r>
              <a:endParaRPr b="1">
                <a:solidFill>
                  <a:srgbClr val="FFFFFF"/>
                </a:solidFill>
                <a:latin typeface="DM Sans"/>
                <a:ea typeface="DM Sans"/>
                <a:cs typeface="DM Sans"/>
                <a:sym typeface="DM Sans"/>
              </a:endParaRPr>
            </a:p>
          </p:txBody>
        </p:sp>
        <p:sp>
          <p:nvSpPr>
            <p:cNvPr id="2887" name="Google Shape;2887;p116"/>
            <p:cNvSpPr/>
            <p:nvPr/>
          </p:nvSpPr>
          <p:spPr>
            <a:xfrm>
              <a:off x="7417225" y="3801750"/>
              <a:ext cx="1062300" cy="345300"/>
            </a:xfrm>
            <a:prstGeom prst="parallelogram">
              <a:avLst>
                <a:gd fmla="val 25000"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212121"/>
                  </a:solidFill>
                  <a:latin typeface="DM Sans"/>
                  <a:ea typeface="DM Sans"/>
                  <a:cs typeface="DM Sans"/>
                  <a:sym typeface="DM Sans"/>
                </a:rPr>
                <a:t>API</a:t>
              </a:r>
              <a:endParaRPr sz="1100">
                <a:solidFill>
                  <a:srgbClr val="212121"/>
                </a:solidFill>
                <a:latin typeface="DM Sans"/>
                <a:ea typeface="DM Sans"/>
                <a:cs typeface="DM Sans"/>
                <a:sym typeface="DM Sans"/>
              </a:endParaRPr>
            </a:p>
          </p:txBody>
        </p:sp>
        <p:sp>
          <p:nvSpPr>
            <p:cNvPr id="2888" name="Google Shape;2888;p116"/>
            <p:cNvSpPr/>
            <p:nvPr/>
          </p:nvSpPr>
          <p:spPr>
            <a:xfrm>
              <a:off x="6166899" y="3827325"/>
              <a:ext cx="1135782" cy="354456"/>
            </a:xfrm>
            <a:prstGeom prst="flowChartDocument">
              <a:avLst/>
            </a:prstGeom>
            <a:solidFill>
              <a:srgbClr val="EFEFEF"/>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DM Sans"/>
                  <a:ea typeface="DM Sans"/>
                  <a:cs typeface="DM Sans"/>
                  <a:sym typeface="DM Sans"/>
                </a:rPr>
                <a:t>Delta table</a:t>
              </a:r>
              <a:endParaRPr sz="1100">
                <a:latin typeface="DM Sans"/>
                <a:ea typeface="DM Sans"/>
                <a:cs typeface="DM Sans"/>
                <a:sym typeface="DM Sans"/>
              </a:endParaRPr>
            </a:p>
          </p:txBody>
        </p:sp>
        <p:sp>
          <p:nvSpPr>
            <p:cNvPr id="2889" name="Google Shape;2889;p116"/>
            <p:cNvSpPr txBox="1"/>
            <p:nvPr/>
          </p:nvSpPr>
          <p:spPr>
            <a:xfrm>
              <a:off x="4806100" y="3731850"/>
              <a:ext cx="1299600" cy="485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rgbClr val="595959"/>
                  </a:solidFill>
                  <a:latin typeface="DM Sans SemiBold"/>
                  <a:ea typeface="DM Sans SemiBold"/>
                  <a:cs typeface="DM Sans SemiBold"/>
                  <a:sym typeface="DM Sans SemiBold"/>
                </a:rPr>
                <a:t>Legend:</a:t>
              </a:r>
              <a:endParaRPr sz="1100">
                <a:solidFill>
                  <a:srgbClr val="595959"/>
                </a:solidFill>
                <a:latin typeface="DM Sans SemiBold"/>
                <a:ea typeface="DM Sans SemiBold"/>
                <a:cs typeface="DM Sans SemiBold"/>
                <a:sym typeface="DM Sans SemiBold"/>
              </a:endParaRPr>
            </a:p>
          </p:txBody>
        </p:sp>
        <p:cxnSp>
          <p:nvCxnSpPr>
            <p:cNvPr id="2890" name="Google Shape;2890;p116"/>
            <p:cNvCxnSpPr/>
            <p:nvPr/>
          </p:nvCxnSpPr>
          <p:spPr>
            <a:xfrm>
              <a:off x="7901000" y="2547950"/>
              <a:ext cx="804900" cy="0"/>
            </a:xfrm>
            <a:prstGeom prst="straightConnector1">
              <a:avLst/>
            </a:prstGeom>
            <a:noFill/>
            <a:ln cap="flat" cmpd="sng" w="9525">
              <a:solidFill>
                <a:srgbClr val="EEEEEE"/>
              </a:solidFill>
              <a:prstDash val="solid"/>
              <a:round/>
              <a:headEnd len="med" w="med" type="none"/>
              <a:tailEnd len="med" w="med" type="none"/>
            </a:ln>
          </p:spPr>
        </p:cxnSp>
      </p:grpSp>
      <p:sp>
        <p:nvSpPr>
          <p:cNvPr id="2891" name="Google Shape;2891;p116"/>
          <p:cNvSpPr txBox="1"/>
          <p:nvPr/>
        </p:nvSpPr>
        <p:spPr>
          <a:xfrm>
            <a:off x="1005850" y="1409700"/>
            <a:ext cx="41454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DM Sans"/>
                <a:ea typeface="DM Sans"/>
                <a:cs typeface="DM Sans"/>
                <a:sym typeface="DM Sans"/>
              </a:rPr>
              <a:t>RAG evaluation workflow</a:t>
            </a:r>
            <a:endParaRPr sz="2400">
              <a:solidFill>
                <a:schemeClr val="dk1"/>
              </a:solidFill>
              <a:latin typeface="DM Sans"/>
              <a:ea typeface="DM Sans"/>
              <a:cs typeface="DM Sans"/>
              <a:sym typeface="DM San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5" name="Shape 2895"/>
        <p:cNvGrpSpPr/>
        <p:nvPr/>
      </p:nvGrpSpPr>
      <p:grpSpPr>
        <a:xfrm>
          <a:off x="0" y="0"/>
          <a:ext cx="0" cy="0"/>
          <a:chOff x="0" y="0"/>
          <a:chExt cx="0" cy="0"/>
        </a:xfrm>
      </p:grpSpPr>
      <p:sp>
        <p:nvSpPr>
          <p:cNvPr id="2896" name="Google Shape;2896;p11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897" name="Google Shape;2897;p117"/>
          <p:cNvSpPr/>
          <p:nvPr/>
        </p:nvSpPr>
        <p:spPr>
          <a:xfrm>
            <a:off x="866775" y="409575"/>
            <a:ext cx="3857700" cy="5210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98" name="Google Shape;2898;p117"/>
          <p:cNvSpPr/>
          <p:nvPr/>
        </p:nvSpPr>
        <p:spPr>
          <a:xfrm>
            <a:off x="2921000" y="2670900"/>
            <a:ext cx="1287900" cy="361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Mono"/>
                <a:ea typeface="DM Mono"/>
                <a:cs typeface="DM Mono"/>
                <a:sym typeface="DM Mono"/>
              </a:rPr>
              <a:t>/invocations</a:t>
            </a:r>
            <a:endParaRPr sz="1200">
              <a:latin typeface="DM Mono"/>
              <a:ea typeface="DM Mono"/>
              <a:cs typeface="DM Mono"/>
              <a:sym typeface="DM Mono"/>
            </a:endParaRPr>
          </a:p>
        </p:txBody>
      </p:sp>
      <p:cxnSp>
        <p:nvCxnSpPr>
          <p:cNvPr id="2899" name="Google Shape;2899;p117"/>
          <p:cNvCxnSpPr/>
          <p:nvPr/>
        </p:nvCxnSpPr>
        <p:spPr>
          <a:xfrm>
            <a:off x="2795625" y="1189600"/>
            <a:ext cx="0" cy="410100"/>
          </a:xfrm>
          <a:prstGeom prst="straightConnector1">
            <a:avLst/>
          </a:prstGeom>
          <a:noFill/>
          <a:ln cap="flat" cmpd="sng" w="9525">
            <a:solidFill>
              <a:schemeClr val="dk1"/>
            </a:solidFill>
            <a:prstDash val="solid"/>
            <a:round/>
            <a:headEnd len="med" w="med" type="triangle"/>
            <a:tailEnd len="med" w="med" type="triangle"/>
          </a:ln>
        </p:spPr>
      </p:cxnSp>
      <p:sp>
        <p:nvSpPr>
          <p:cNvPr id="2900" name="Google Shape;2900;p117"/>
          <p:cNvSpPr/>
          <p:nvPr/>
        </p:nvSpPr>
        <p:spPr>
          <a:xfrm>
            <a:off x="2060550" y="1638425"/>
            <a:ext cx="1387200" cy="576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Review app</a:t>
            </a:r>
            <a:endParaRPr>
              <a:latin typeface="DM Sans"/>
              <a:ea typeface="DM Sans"/>
              <a:cs typeface="DM Sans"/>
              <a:sym typeface="DM Sans"/>
            </a:endParaRPr>
          </a:p>
        </p:txBody>
      </p:sp>
      <p:sp>
        <p:nvSpPr>
          <p:cNvPr id="2901" name="Google Shape;2901;p117"/>
          <p:cNvSpPr/>
          <p:nvPr/>
        </p:nvSpPr>
        <p:spPr>
          <a:xfrm>
            <a:off x="1299300" y="2670900"/>
            <a:ext cx="1287900" cy="361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Mono"/>
                <a:ea typeface="DM Mono"/>
                <a:cs typeface="DM Mono"/>
                <a:sym typeface="DM Mono"/>
              </a:rPr>
              <a:t>/feedback</a:t>
            </a:r>
            <a:endParaRPr sz="1200">
              <a:latin typeface="DM Mono"/>
              <a:ea typeface="DM Mono"/>
              <a:cs typeface="DM Mono"/>
              <a:sym typeface="DM Mono"/>
            </a:endParaRPr>
          </a:p>
        </p:txBody>
      </p:sp>
      <p:sp>
        <p:nvSpPr>
          <p:cNvPr id="2902" name="Google Shape;2902;p117"/>
          <p:cNvSpPr/>
          <p:nvPr/>
        </p:nvSpPr>
        <p:spPr>
          <a:xfrm>
            <a:off x="1299298" y="3028450"/>
            <a:ext cx="2909700" cy="576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Model serving endpoint</a:t>
            </a:r>
            <a:endParaRPr>
              <a:latin typeface="DM Sans"/>
              <a:ea typeface="DM Sans"/>
              <a:cs typeface="DM Sans"/>
              <a:sym typeface="DM Sans"/>
            </a:endParaRPr>
          </a:p>
        </p:txBody>
      </p:sp>
      <p:sp>
        <p:nvSpPr>
          <p:cNvPr id="2903" name="Google Shape;2903;p117"/>
          <p:cNvSpPr/>
          <p:nvPr/>
        </p:nvSpPr>
        <p:spPr>
          <a:xfrm>
            <a:off x="1962900" y="3897900"/>
            <a:ext cx="1582500" cy="644700"/>
          </a:xfrm>
          <a:prstGeom prst="can">
            <a:avLst>
              <a:gd fmla="val 25000" name="adj"/>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Inference table</a:t>
            </a:r>
            <a:endParaRPr>
              <a:latin typeface="DM Sans"/>
              <a:ea typeface="DM Sans"/>
              <a:cs typeface="DM Sans"/>
              <a:sym typeface="DM Sans"/>
            </a:endParaRPr>
          </a:p>
        </p:txBody>
      </p:sp>
      <p:sp>
        <p:nvSpPr>
          <p:cNvPr id="2904" name="Google Shape;2904;p117"/>
          <p:cNvSpPr/>
          <p:nvPr/>
        </p:nvSpPr>
        <p:spPr>
          <a:xfrm>
            <a:off x="2880025" y="4835750"/>
            <a:ext cx="1521900" cy="644700"/>
          </a:xfrm>
          <a:prstGeom prst="can">
            <a:avLst>
              <a:gd fmla="val 25000" name="adj"/>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Assessment log</a:t>
            </a:r>
            <a:endParaRPr>
              <a:latin typeface="DM Sans"/>
              <a:ea typeface="DM Sans"/>
              <a:cs typeface="DM Sans"/>
              <a:sym typeface="DM Sans"/>
            </a:endParaRPr>
          </a:p>
        </p:txBody>
      </p:sp>
      <p:sp>
        <p:nvSpPr>
          <p:cNvPr id="2905" name="Google Shape;2905;p117"/>
          <p:cNvSpPr/>
          <p:nvPr/>
        </p:nvSpPr>
        <p:spPr>
          <a:xfrm>
            <a:off x="1133800" y="4835750"/>
            <a:ext cx="1475100" cy="644700"/>
          </a:xfrm>
          <a:prstGeom prst="can">
            <a:avLst>
              <a:gd fmla="val 25000" name="adj"/>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Request log</a:t>
            </a:r>
            <a:endParaRPr>
              <a:latin typeface="DM Sans"/>
              <a:ea typeface="DM Sans"/>
              <a:cs typeface="DM Sans"/>
              <a:sym typeface="DM Sans"/>
            </a:endParaRPr>
          </a:p>
        </p:txBody>
      </p:sp>
      <p:sp>
        <p:nvSpPr>
          <p:cNvPr id="2906" name="Google Shape;2906;p117"/>
          <p:cNvSpPr/>
          <p:nvPr/>
        </p:nvSpPr>
        <p:spPr>
          <a:xfrm>
            <a:off x="1992300" y="711388"/>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A</a:t>
            </a:r>
            <a:endParaRPr b="1">
              <a:solidFill>
                <a:srgbClr val="FFFFFF"/>
              </a:solidFill>
              <a:latin typeface="DM Sans"/>
              <a:ea typeface="DM Sans"/>
              <a:cs typeface="DM Sans"/>
              <a:sym typeface="DM Sans"/>
            </a:endParaRPr>
          </a:p>
        </p:txBody>
      </p:sp>
      <p:sp>
        <p:nvSpPr>
          <p:cNvPr id="2907" name="Google Shape;2907;p117"/>
          <p:cNvSpPr/>
          <p:nvPr/>
        </p:nvSpPr>
        <p:spPr>
          <a:xfrm>
            <a:off x="1346925" y="2251075"/>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B</a:t>
            </a:r>
            <a:endParaRPr b="1">
              <a:solidFill>
                <a:srgbClr val="FFFFFF"/>
              </a:solidFill>
              <a:latin typeface="DM Sans"/>
              <a:ea typeface="DM Sans"/>
              <a:cs typeface="DM Sans"/>
              <a:sym typeface="DM Sans"/>
            </a:endParaRPr>
          </a:p>
        </p:txBody>
      </p:sp>
      <p:cxnSp>
        <p:nvCxnSpPr>
          <p:cNvPr id="2908" name="Google Shape;2908;p117"/>
          <p:cNvCxnSpPr>
            <a:stCxn id="2900" idx="3"/>
            <a:endCxn id="2898" idx="0"/>
          </p:cNvCxnSpPr>
          <p:nvPr/>
        </p:nvCxnSpPr>
        <p:spPr>
          <a:xfrm>
            <a:off x="3447750" y="1926575"/>
            <a:ext cx="117300" cy="744300"/>
          </a:xfrm>
          <a:prstGeom prst="bentConnector2">
            <a:avLst/>
          </a:prstGeom>
          <a:noFill/>
          <a:ln cap="flat" cmpd="sng" w="9525">
            <a:solidFill>
              <a:schemeClr val="dk1"/>
            </a:solidFill>
            <a:prstDash val="solid"/>
            <a:round/>
            <a:headEnd len="med" w="med" type="triangle"/>
            <a:tailEnd len="med" w="med" type="triangle"/>
          </a:ln>
        </p:spPr>
      </p:cxnSp>
      <p:cxnSp>
        <p:nvCxnSpPr>
          <p:cNvPr id="2909" name="Google Shape;2909;p117"/>
          <p:cNvCxnSpPr>
            <a:stCxn id="2900" idx="1"/>
            <a:endCxn id="2901" idx="0"/>
          </p:cNvCxnSpPr>
          <p:nvPr/>
        </p:nvCxnSpPr>
        <p:spPr>
          <a:xfrm flipH="1">
            <a:off x="1943250" y="1926575"/>
            <a:ext cx="117300" cy="744300"/>
          </a:xfrm>
          <a:prstGeom prst="bentConnector2">
            <a:avLst/>
          </a:prstGeom>
          <a:noFill/>
          <a:ln cap="flat" cmpd="sng" w="9525">
            <a:solidFill>
              <a:schemeClr val="dk1"/>
            </a:solidFill>
            <a:prstDash val="solid"/>
            <a:round/>
            <a:headEnd len="med" w="med" type="triangle"/>
            <a:tailEnd len="med" w="med" type="triangle"/>
          </a:ln>
        </p:spPr>
      </p:cxnSp>
      <p:cxnSp>
        <p:nvCxnSpPr>
          <p:cNvPr id="2910" name="Google Shape;2910;p117"/>
          <p:cNvCxnSpPr>
            <a:stCxn id="2902" idx="2"/>
            <a:endCxn id="2903" idx="1"/>
          </p:cNvCxnSpPr>
          <p:nvPr/>
        </p:nvCxnSpPr>
        <p:spPr>
          <a:xfrm>
            <a:off x="2754148" y="3604750"/>
            <a:ext cx="0" cy="293100"/>
          </a:xfrm>
          <a:prstGeom prst="straightConnector1">
            <a:avLst/>
          </a:prstGeom>
          <a:noFill/>
          <a:ln cap="flat" cmpd="sng" w="9525">
            <a:solidFill>
              <a:schemeClr val="dk1"/>
            </a:solidFill>
            <a:prstDash val="solid"/>
            <a:round/>
            <a:headEnd len="med" w="med" type="none"/>
            <a:tailEnd len="med" w="med" type="triangle"/>
          </a:ln>
        </p:spPr>
      </p:cxnSp>
      <p:cxnSp>
        <p:nvCxnSpPr>
          <p:cNvPr id="2911" name="Google Shape;2911;p117"/>
          <p:cNvCxnSpPr>
            <a:stCxn id="2903" idx="3"/>
          </p:cNvCxnSpPr>
          <p:nvPr/>
        </p:nvCxnSpPr>
        <p:spPr>
          <a:xfrm>
            <a:off x="2754150" y="4542600"/>
            <a:ext cx="0" cy="162900"/>
          </a:xfrm>
          <a:prstGeom prst="straightConnector1">
            <a:avLst/>
          </a:prstGeom>
          <a:noFill/>
          <a:ln cap="flat" cmpd="sng" w="9525">
            <a:solidFill>
              <a:schemeClr val="dk1"/>
            </a:solidFill>
            <a:prstDash val="solid"/>
            <a:round/>
            <a:headEnd len="med" w="med" type="none"/>
            <a:tailEnd len="med" w="med" type="none"/>
          </a:ln>
        </p:spPr>
      </p:cxnSp>
      <p:cxnSp>
        <p:nvCxnSpPr>
          <p:cNvPr id="2912" name="Google Shape;2912;p117"/>
          <p:cNvCxnSpPr>
            <a:endCxn id="2904" idx="1"/>
          </p:cNvCxnSpPr>
          <p:nvPr/>
        </p:nvCxnSpPr>
        <p:spPr>
          <a:xfrm>
            <a:off x="2754775" y="4698950"/>
            <a:ext cx="886200" cy="136800"/>
          </a:xfrm>
          <a:prstGeom prst="bentConnector2">
            <a:avLst/>
          </a:prstGeom>
          <a:noFill/>
          <a:ln cap="flat" cmpd="sng" w="9525">
            <a:solidFill>
              <a:schemeClr val="dk1"/>
            </a:solidFill>
            <a:prstDash val="solid"/>
            <a:round/>
            <a:headEnd len="med" w="med" type="none"/>
            <a:tailEnd len="med" w="med" type="triangle"/>
          </a:ln>
        </p:spPr>
      </p:cxnSp>
      <p:cxnSp>
        <p:nvCxnSpPr>
          <p:cNvPr id="2913" name="Google Shape;2913;p117"/>
          <p:cNvCxnSpPr/>
          <p:nvPr/>
        </p:nvCxnSpPr>
        <p:spPr>
          <a:xfrm flipH="1">
            <a:off x="1867325" y="4697050"/>
            <a:ext cx="886200" cy="136800"/>
          </a:xfrm>
          <a:prstGeom prst="bentConnector2">
            <a:avLst/>
          </a:prstGeom>
          <a:noFill/>
          <a:ln cap="flat" cmpd="sng" w="9525">
            <a:solidFill>
              <a:schemeClr val="dk1"/>
            </a:solidFill>
            <a:prstDash val="solid"/>
            <a:round/>
            <a:headEnd len="med" w="med" type="none"/>
            <a:tailEnd len="med" w="med" type="triangle"/>
          </a:ln>
        </p:spPr>
      </p:cxnSp>
      <p:sp>
        <p:nvSpPr>
          <p:cNvPr id="2914" name="Google Shape;2914;p117"/>
          <p:cNvSpPr/>
          <p:nvPr/>
        </p:nvSpPr>
        <p:spPr>
          <a:xfrm>
            <a:off x="3900825" y="2251075"/>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C</a:t>
            </a:r>
            <a:endParaRPr b="1">
              <a:solidFill>
                <a:srgbClr val="FFFFFF"/>
              </a:solidFill>
              <a:latin typeface="DM Sans"/>
              <a:ea typeface="DM Sans"/>
              <a:cs typeface="DM Sans"/>
              <a:sym typeface="DM Sans"/>
            </a:endParaRPr>
          </a:p>
        </p:txBody>
      </p:sp>
      <p:sp>
        <p:nvSpPr>
          <p:cNvPr id="2915" name="Google Shape;2915;p117"/>
          <p:cNvSpPr/>
          <p:nvPr/>
        </p:nvSpPr>
        <p:spPr>
          <a:xfrm>
            <a:off x="3777000" y="4439350"/>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D</a:t>
            </a:r>
            <a:endParaRPr b="1">
              <a:solidFill>
                <a:srgbClr val="FFFFFF"/>
              </a:solidFill>
              <a:latin typeface="DM Sans"/>
              <a:ea typeface="DM Sans"/>
              <a:cs typeface="DM Sans"/>
              <a:sym typeface="DM Sans"/>
            </a:endParaRPr>
          </a:p>
        </p:txBody>
      </p:sp>
      <p:grpSp>
        <p:nvGrpSpPr>
          <p:cNvPr id="2916" name="Google Shape;2916;p117"/>
          <p:cNvGrpSpPr/>
          <p:nvPr/>
        </p:nvGrpSpPr>
        <p:grpSpPr>
          <a:xfrm>
            <a:off x="2507485" y="586929"/>
            <a:ext cx="576300" cy="576300"/>
            <a:chOff x="1438035" y="1729929"/>
            <a:chExt cx="576300" cy="576300"/>
          </a:xfrm>
        </p:grpSpPr>
        <p:sp>
          <p:nvSpPr>
            <p:cNvPr id="2917" name="Google Shape;2917;p117"/>
            <p:cNvSpPr/>
            <p:nvPr/>
          </p:nvSpPr>
          <p:spPr>
            <a:xfrm>
              <a:off x="1438035" y="1729929"/>
              <a:ext cx="576300" cy="576300"/>
            </a:xfrm>
            <a:prstGeom prst="ellipse">
              <a:avLst/>
            </a:prstGeom>
            <a:solidFill>
              <a:srgbClr val="EEEE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18" name="Google Shape;2918;p117"/>
            <p:cNvSpPr/>
            <p:nvPr/>
          </p:nvSpPr>
          <p:spPr>
            <a:xfrm>
              <a:off x="151557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19" name="Google Shape;2919;p117"/>
            <p:cNvSpPr/>
            <p:nvPr/>
          </p:nvSpPr>
          <p:spPr>
            <a:xfrm>
              <a:off x="174829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920" name="Google Shape;2920;p117"/>
            <p:cNvCxnSpPr>
              <a:stCxn id="2919" idx="2"/>
              <a:endCxn id="2919"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21" name="Google Shape;2921;p117"/>
            <p:cNvCxnSpPr>
              <a:stCxn id="2919" idx="2"/>
              <a:endCxn id="2919"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22" name="Google Shape;2922;p117"/>
            <p:cNvCxnSpPr/>
            <p:nvPr/>
          </p:nvCxnSpPr>
          <p:spPr>
            <a:xfrm>
              <a:off x="1708172" y="1915026"/>
              <a:ext cx="52200" cy="0"/>
            </a:xfrm>
            <a:prstGeom prst="straightConnector1">
              <a:avLst/>
            </a:prstGeom>
            <a:noFill/>
            <a:ln cap="flat" cmpd="sng" w="28575">
              <a:solidFill>
                <a:schemeClr val="dk1"/>
              </a:solidFill>
              <a:prstDash val="solid"/>
              <a:round/>
              <a:headEnd len="med" w="med" type="none"/>
              <a:tailEnd len="med" w="med" type="none"/>
            </a:ln>
          </p:spPr>
        </p:cxnSp>
        <p:cxnSp>
          <p:nvCxnSpPr>
            <p:cNvPr id="2923" name="Google Shape;2923;p117"/>
            <p:cNvCxnSpPr/>
            <p:nvPr/>
          </p:nvCxnSpPr>
          <p:spPr>
            <a:xfrm>
              <a:off x="1597815" y="2133234"/>
              <a:ext cx="2607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7" name="Shape 2927"/>
        <p:cNvGrpSpPr/>
        <p:nvPr/>
      </p:nvGrpSpPr>
      <p:grpSpPr>
        <a:xfrm>
          <a:off x="0" y="0"/>
          <a:ext cx="0" cy="0"/>
          <a:chOff x="0" y="0"/>
          <a:chExt cx="0" cy="0"/>
        </a:xfrm>
      </p:grpSpPr>
      <p:sp>
        <p:nvSpPr>
          <p:cNvPr id="2928" name="Google Shape;2928;p118"/>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929" name="Google Shape;2929;p118"/>
          <p:cNvSpPr/>
          <p:nvPr/>
        </p:nvSpPr>
        <p:spPr>
          <a:xfrm>
            <a:off x="1257300" y="666750"/>
            <a:ext cx="7981800" cy="4953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30" name="Google Shape;2930;p118"/>
          <p:cNvSpPr/>
          <p:nvPr/>
        </p:nvSpPr>
        <p:spPr>
          <a:xfrm>
            <a:off x="4826000" y="2670900"/>
            <a:ext cx="1287900" cy="361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Mono"/>
                <a:ea typeface="DM Mono"/>
                <a:cs typeface="DM Mono"/>
                <a:sym typeface="DM Mono"/>
              </a:rPr>
              <a:t>/invocations</a:t>
            </a:r>
            <a:endParaRPr sz="1200">
              <a:latin typeface="DM Mono"/>
              <a:ea typeface="DM Mono"/>
              <a:cs typeface="DM Mono"/>
              <a:sym typeface="DM Mono"/>
            </a:endParaRPr>
          </a:p>
        </p:txBody>
      </p:sp>
      <p:cxnSp>
        <p:nvCxnSpPr>
          <p:cNvPr id="2931" name="Google Shape;2931;p118"/>
          <p:cNvCxnSpPr>
            <a:stCxn id="2932" idx="4"/>
            <a:endCxn id="2933" idx="0"/>
          </p:cNvCxnSpPr>
          <p:nvPr/>
        </p:nvCxnSpPr>
        <p:spPr>
          <a:xfrm>
            <a:off x="4659160" y="1373754"/>
            <a:ext cx="0" cy="264600"/>
          </a:xfrm>
          <a:prstGeom prst="straightConnector1">
            <a:avLst/>
          </a:prstGeom>
          <a:noFill/>
          <a:ln cap="flat" cmpd="sng" w="9525">
            <a:solidFill>
              <a:schemeClr val="dk1"/>
            </a:solidFill>
            <a:prstDash val="solid"/>
            <a:round/>
            <a:headEnd len="med" w="med" type="triangle"/>
            <a:tailEnd len="med" w="med" type="triangle"/>
          </a:ln>
        </p:spPr>
      </p:cxnSp>
      <p:sp>
        <p:nvSpPr>
          <p:cNvPr id="2933" name="Google Shape;2933;p118"/>
          <p:cNvSpPr/>
          <p:nvPr/>
        </p:nvSpPr>
        <p:spPr>
          <a:xfrm>
            <a:off x="3965550" y="1638425"/>
            <a:ext cx="1387200" cy="576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Review app</a:t>
            </a:r>
            <a:endParaRPr>
              <a:latin typeface="DM Sans"/>
              <a:ea typeface="DM Sans"/>
              <a:cs typeface="DM Sans"/>
              <a:sym typeface="DM Sans"/>
            </a:endParaRPr>
          </a:p>
        </p:txBody>
      </p:sp>
      <p:sp>
        <p:nvSpPr>
          <p:cNvPr id="2934" name="Google Shape;2934;p118"/>
          <p:cNvSpPr/>
          <p:nvPr/>
        </p:nvSpPr>
        <p:spPr>
          <a:xfrm>
            <a:off x="3204300" y="2670900"/>
            <a:ext cx="1287900" cy="361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Mono"/>
                <a:ea typeface="DM Mono"/>
                <a:cs typeface="DM Mono"/>
                <a:sym typeface="DM Mono"/>
              </a:rPr>
              <a:t>/feedback</a:t>
            </a:r>
            <a:endParaRPr sz="1200">
              <a:latin typeface="DM Mono"/>
              <a:ea typeface="DM Mono"/>
              <a:cs typeface="DM Mono"/>
              <a:sym typeface="DM Mono"/>
            </a:endParaRPr>
          </a:p>
        </p:txBody>
      </p:sp>
      <p:sp>
        <p:nvSpPr>
          <p:cNvPr id="2935" name="Google Shape;2935;p118"/>
          <p:cNvSpPr/>
          <p:nvPr/>
        </p:nvSpPr>
        <p:spPr>
          <a:xfrm>
            <a:off x="3204298" y="3028450"/>
            <a:ext cx="2909700" cy="576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Model serving endpoint</a:t>
            </a:r>
            <a:endParaRPr>
              <a:latin typeface="DM Sans"/>
              <a:ea typeface="DM Sans"/>
              <a:cs typeface="DM Sans"/>
              <a:sym typeface="DM Sans"/>
            </a:endParaRPr>
          </a:p>
        </p:txBody>
      </p:sp>
      <p:sp>
        <p:nvSpPr>
          <p:cNvPr id="2936" name="Google Shape;2936;p118"/>
          <p:cNvSpPr/>
          <p:nvPr/>
        </p:nvSpPr>
        <p:spPr>
          <a:xfrm>
            <a:off x="3867900" y="3897900"/>
            <a:ext cx="1582500" cy="644700"/>
          </a:xfrm>
          <a:prstGeom prst="can">
            <a:avLst>
              <a:gd fmla="val 25000" name="adj"/>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Inference table</a:t>
            </a:r>
            <a:endParaRPr>
              <a:latin typeface="DM Sans"/>
              <a:ea typeface="DM Sans"/>
              <a:cs typeface="DM Sans"/>
              <a:sym typeface="DM Sans"/>
            </a:endParaRPr>
          </a:p>
        </p:txBody>
      </p:sp>
      <p:sp>
        <p:nvSpPr>
          <p:cNvPr id="2937" name="Google Shape;2937;p118"/>
          <p:cNvSpPr/>
          <p:nvPr/>
        </p:nvSpPr>
        <p:spPr>
          <a:xfrm>
            <a:off x="4785025" y="4835750"/>
            <a:ext cx="1521900" cy="644700"/>
          </a:xfrm>
          <a:prstGeom prst="can">
            <a:avLst>
              <a:gd fmla="val 25000" name="adj"/>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Assessment log</a:t>
            </a:r>
            <a:endParaRPr>
              <a:latin typeface="DM Sans"/>
              <a:ea typeface="DM Sans"/>
              <a:cs typeface="DM Sans"/>
              <a:sym typeface="DM Sans"/>
            </a:endParaRPr>
          </a:p>
        </p:txBody>
      </p:sp>
      <p:sp>
        <p:nvSpPr>
          <p:cNvPr id="2938" name="Google Shape;2938;p118"/>
          <p:cNvSpPr/>
          <p:nvPr/>
        </p:nvSpPr>
        <p:spPr>
          <a:xfrm>
            <a:off x="3038800" y="4835750"/>
            <a:ext cx="1475100" cy="644700"/>
          </a:xfrm>
          <a:prstGeom prst="can">
            <a:avLst>
              <a:gd fmla="val 25000" name="adj"/>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Request log</a:t>
            </a:r>
            <a:endParaRPr>
              <a:latin typeface="DM Sans"/>
              <a:ea typeface="DM Sans"/>
              <a:cs typeface="DM Sans"/>
              <a:sym typeface="DM Sans"/>
            </a:endParaRPr>
          </a:p>
        </p:txBody>
      </p:sp>
      <p:sp>
        <p:nvSpPr>
          <p:cNvPr id="2939" name="Google Shape;2939;p118"/>
          <p:cNvSpPr/>
          <p:nvPr/>
        </p:nvSpPr>
        <p:spPr>
          <a:xfrm>
            <a:off x="3590550" y="1592338"/>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B</a:t>
            </a:r>
            <a:endParaRPr b="1">
              <a:solidFill>
                <a:srgbClr val="FFFFFF"/>
              </a:solidFill>
              <a:latin typeface="DM Sans"/>
              <a:ea typeface="DM Sans"/>
              <a:cs typeface="DM Sans"/>
              <a:sym typeface="DM Sans"/>
            </a:endParaRPr>
          </a:p>
        </p:txBody>
      </p:sp>
      <p:sp>
        <p:nvSpPr>
          <p:cNvPr id="2940" name="Google Shape;2940;p118"/>
          <p:cNvSpPr/>
          <p:nvPr/>
        </p:nvSpPr>
        <p:spPr>
          <a:xfrm>
            <a:off x="3924475" y="887900"/>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C</a:t>
            </a:r>
            <a:endParaRPr b="1">
              <a:solidFill>
                <a:srgbClr val="FFFFFF"/>
              </a:solidFill>
              <a:latin typeface="DM Sans"/>
              <a:ea typeface="DM Sans"/>
              <a:cs typeface="DM Sans"/>
              <a:sym typeface="DM Sans"/>
            </a:endParaRPr>
          </a:p>
        </p:txBody>
      </p:sp>
      <p:cxnSp>
        <p:nvCxnSpPr>
          <p:cNvPr id="2941" name="Google Shape;2941;p118"/>
          <p:cNvCxnSpPr>
            <a:stCxn id="2933" idx="2"/>
            <a:endCxn id="2934" idx="0"/>
          </p:cNvCxnSpPr>
          <p:nvPr/>
        </p:nvCxnSpPr>
        <p:spPr>
          <a:xfrm rot="5400000">
            <a:off x="4025550" y="2037425"/>
            <a:ext cx="456300" cy="810900"/>
          </a:xfrm>
          <a:prstGeom prst="bentConnector3">
            <a:avLst>
              <a:gd fmla="val 49986" name="adj1"/>
            </a:avLst>
          </a:prstGeom>
          <a:noFill/>
          <a:ln cap="flat" cmpd="sng" w="9525">
            <a:solidFill>
              <a:schemeClr val="dk1"/>
            </a:solidFill>
            <a:prstDash val="solid"/>
            <a:round/>
            <a:headEnd len="med" w="med" type="none"/>
            <a:tailEnd len="med" w="med" type="triangle"/>
          </a:ln>
        </p:spPr>
      </p:cxnSp>
      <p:cxnSp>
        <p:nvCxnSpPr>
          <p:cNvPr id="2942" name="Google Shape;2942;p118"/>
          <p:cNvCxnSpPr>
            <a:stCxn id="2933" idx="1"/>
          </p:cNvCxnSpPr>
          <p:nvPr/>
        </p:nvCxnSpPr>
        <p:spPr>
          <a:xfrm flipH="1">
            <a:off x="1933650" y="1926575"/>
            <a:ext cx="2031900" cy="740400"/>
          </a:xfrm>
          <a:prstGeom prst="bentConnector3">
            <a:avLst>
              <a:gd fmla="val 50000" name="adj1"/>
            </a:avLst>
          </a:prstGeom>
          <a:noFill/>
          <a:ln cap="flat" cmpd="sng" w="9525">
            <a:solidFill>
              <a:schemeClr val="dk1"/>
            </a:solidFill>
            <a:prstDash val="solid"/>
            <a:round/>
            <a:headEnd len="med" w="med" type="triangle"/>
            <a:tailEnd len="med" w="med" type="none"/>
          </a:ln>
        </p:spPr>
      </p:cxnSp>
      <p:cxnSp>
        <p:nvCxnSpPr>
          <p:cNvPr id="2943" name="Google Shape;2943;p118"/>
          <p:cNvCxnSpPr>
            <a:stCxn id="2935" idx="2"/>
            <a:endCxn id="2936" idx="1"/>
          </p:cNvCxnSpPr>
          <p:nvPr/>
        </p:nvCxnSpPr>
        <p:spPr>
          <a:xfrm>
            <a:off x="4659148" y="3604750"/>
            <a:ext cx="0" cy="293100"/>
          </a:xfrm>
          <a:prstGeom prst="straightConnector1">
            <a:avLst/>
          </a:prstGeom>
          <a:noFill/>
          <a:ln cap="flat" cmpd="sng" w="9525">
            <a:solidFill>
              <a:schemeClr val="dk1"/>
            </a:solidFill>
            <a:prstDash val="solid"/>
            <a:round/>
            <a:headEnd len="med" w="med" type="none"/>
            <a:tailEnd len="med" w="med" type="triangle"/>
          </a:ln>
        </p:spPr>
      </p:cxnSp>
      <p:cxnSp>
        <p:nvCxnSpPr>
          <p:cNvPr id="2944" name="Google Shape;2944;p118"/>
          <p:cNvCxnSpPr>
            <a:stCxn id="2936" idx="3"/>
          </p:cNvCxnSpPr>
          <p:nvPr/>
        </p:nvCxnSpPr>
        <p:spPr>
          <a:xfrm>
            <a:off x="4659150" y="4542600"/>
            <a:ext cx="0" cy="162900"/>
          </a:xfrm>
          <a:prstGeom prst="straightConnector1">
            <a:avLst/>
          </a:prstGeom>
          <a:noFill/>
          <a:ln cap="flat" cmpd="sng" w="9525">
            <a:solidFill>
              <a:schemeClr val="dk1"/>
            </a:solidFill>
            <a:prstDash val="solid"/>
            <a:round/>
            <a:headEnd len="med" w="med" type="none"/>
            <a:tailEnd len="med" w="med" type="none"/>
          </a:ln>
        </p:spPr>
      </p:cxnSp>
      <p:cxnSp>
        <p:nvCxnSpPr>
          <p:cNvPr id="2945" name="Google Shape;2945;p118"/>
          <p:cNvCxnSpPr>
            <a:endCxn id="2937" idx="1"/>
          </p:cNvCxnSpPr>
          <p:nvPr/>
        </p:nvCxnSpPr>
        <p:spPr>
          <a:xfrm>
            <a:off x="4659775" y="4698950"/>
            <a:ext cx="886200" cy="136800"/>
          </a:xfrm>
          <a:prstGeom prst="bentConnector2">
            <a:avLst/>
          </a:prstGeom>
          <a:noFill/>
          <a:ln cap="flat" cmpd="sng" w="9525">
            <a:solidFill>
              <a:schemeClr val="dk1"/>
            </a:solidFill>
            <a:prstDash val="solid"/>
            <a:round/>
            <a:headEnd len="med" w="med" type="none"/>
            <a:tailEnd len="med" w="med" type="triangle"/>
          </a:ln>
        </p:spPr>
      </p:cxnSp>
      <p:cxnSp>
        <p:nvCxnSpPr>
          <p:cNvPr id="2946" name="Google Shape;2946;p118"/>
          <p:cNvCxnSpPr/>
          <p:nvPr/>
        </p:nvCxnSpPr>
        <p:spPr>
          <a:xfrm flipH="1">
            <a:off x="3772325" y="4697050"/>
            <a:ext cx="886200" cy="136800"/>
          </a:xfrm>
          <a:prstGeom prst="bentConnector2">
            <a:avLst/>
          </a:prstGeom>
          <a:noFill/>
          <a:ln cap="flat" cmpd="sng" w="9525">
            <a:solidFill>
              <a:schemeClr val="dk1"/>
            </a:solidFill>
            <a:prstDash val="solid"/>
            <a:round/>
            <a:headEnd len="med" w="med" type="none"/>
            <a:tailEnd len="med" w="med" type="triangle"/>
          </a:ln>
        </p:spPr>
      </p:cxnSp>
      <p:sp>
        <p:nvSpPr>
          <p:cNvPr id="2947" name="Google Shape;2947;p118"/>
          <p:cNvSpPr/>
          <p:nvPr/>
        </p:nvSpPr>
        <p:spPr>
          <a:xfrm>
            <a:off x="3666775" y="2171263"/>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D</a:t>
            </a:r>
            <a:endParaRPr b="1">
              <a:solidFill>
                <a:srgbClr val="FFFFFF"/>
              </a:solidFill>
              <a:latin typeface="DM Sans"/>
              <a:ea typeface="DM Sans"/>
              <a:cs typeface="DM Sans"/>
              <a:sym typeface="DM Sans"/>
            </a:endParaRPr>
          </a:p>
        </p:txBody>
      </p:sp>
      <p:sp>
        <p:nvSpPr>
          <p:cNvPr id="2948" name="Google Shape;2948;p118"/>
          <p:cNvSpPr/>
          <p:nvPr/>
        </p:nvSpPr>
        <p:spPr>
          <a:xfrm>
            <a:off x="5653425" y="2171275"/>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F</a:t>
            </a:r>
            <a:endParaRPr b="1">
              <a:solidFill>
                <a:srgbClr val="FFFFFF"/>
              </a:solidFill>
              <a:latin typeface="DM Sans"/>
              <a:ea typeface="DM Sans"/>
              <a:cs typeface="DM Sans"/>
              <a:sym typeface="DM Sans"/>
            </a:endParaRPr>
          </a:p>
        </p:txBody>
      </p:sp>
      <p:cxnSp>
        <p:nvCxnSpPr>
          <p:cNvPr id="2949" name="Google Shape;2949;p118"/>
          <p:cNvCxnSpPr>
            <a:endCxn id="2950" idx="0"/>
          </p:cNvCxnSpPr>
          <p:nvPr/>
        </p:nvCxnSpPr>
        <p:spPr>
          <a:xfrm>
            <a:off x="1720850" y="2267263"/>
            <a:ext cx="6900" cy="241500"/>
          </a:xfrm>
          <a:prstGeom prst="straightConnector1">
            <a:avLst/>
          </a:prstGeom>
          <a:noFill/>
          <a:ln cap="flat" cmpd="sng" w="9525">
            <a:solidFill>
              <a:schemeClr val="dk1"/>
            </a:solidFill>
            <a:prstDash val="solid"/>
            <a:round/>
            <a:headEnd len="med" w="med" type="none"/>
            <a:tailEnd len="med" w="med" type="triangle"/>
          </a:ln>
        </p:spPr>
      </p:cxnSp>
      <p:cxnSp>
        <p:nvCxnSpPr>
          <p:cNvPr id="2951" name="Google Shape;2951;p118"/>
          <p:cNvCxnSpPr/>
          <p:nvPr/>
        </p:nvCxnSpPr>
        <p:spPr>
          <a:xfrm rot="10800000">
            <a:off x="1721000" y="5187950"/>
            <a:ext cx="1314300" cy="0"/>
          </a:xfrm>
          <a:prstGeom prst="straightConnector1">
            <a:avLst/>
          </a:prstGeom>
          <a:noFill/>
          <a:ln cap="flat" cmpd="sng" w="9525">
            <a:solidFill>
              <a:schemeClr val="dk1"/>
            </a:solidFill>
            <a:prstDash val="solid"/>
            <a:round/>
            <a:headEnd len="med" w="med" type="none"/>
            <a:tailEnd len="med" w="med" type="none"/>
          </a:ln>
        </p:spPr>
      </p:cxnSp>
      <p:cxnSp>
        <p:nvCxnSpPr>
          <p:cNvPr id="2952" name="Google Shape;2952;p118"/>
          <p:cNvCxnSpPr/>
          <p:nvPr/>
        </p:nvCxnSpPr>
        <p:spPr>
          <a:xfrm rot="10800000">
            <a:off x="1720850" y="2843150"/>
            <a:ext cx="0" cy="2344800"/>
          </a:xfrm>
          <a:prstGeom prst="straightConnector1">
            <a:avLst/>
          </a:prstGeom>
          <a:noFill/>
          <a:ln cap="flat" cmpd="sng" w="9525">
            <a:solidFill>
              <a:schemeClr val="dk1"/>
            </a:solidFill>
            <a:prstDash val="solid"/>
            <a:round/>
            <a:headEnd len="med" w="med" type="none"/>
            <a:tailEnd len="med" w="med" type="triangle"/>
          </a:ln>
        </p:spPr>
      </p:cxnSp>
      <p:sp>
        <p:nvSpPr>
          <p:cNvPr id="2950" name="Google Shape;2950;p118"/>
          <p:cNvSpPr/>
          <p:nvPr/>
        </p:nvSpPr>
        <p:spPr>
          <a:xfrm>
            <a:off x="1598900" y="2508763"/>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A</a:t>
            </a:r>
            <a:endParaRPr b="1">
              <a:solidFill>
                <a:srgbClr val="FFFFFF"/>
              </a:solidFill>
              <a:latin typeface="DM Sans"/>
              <a:ea typeface="DM Sans"/>
              <a:cs typeface="DM Sans"/>
              <a:sym typeface="DM Sans"/>
            </a:endParaRPr>
          </a:p>
        </p:txBody>
      </p:sp>
      <p:sp>
        <p:nvSpPr>
          <p:cNvPr id="2953" name="Google Shape;2953;p118"/>
          <p:cNvSpPr/>
          <p:nvPr/>
        </p:nvSpPr>
        <p:spPr>
          <a:xfrm>
            <a:off x="5624850" y="4414400"/>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G</a:t>
            </a:r>
            <a:endParaRPr b="1">
              <a:solidFill>
                <a:srgbClr val="FFFFFF"/>
              </a:solidFill>
              <a:latin typeface="DM Sans"/>
              <a:ea typeface="DM Sans"/>
              <a:cs typeface="DM Sans"/>
              <a:sym typeface="DM Sans"/>
            </a:endParaRPr>
          </a:p>
        </p:txBody>
      </p:sp>
      <p:sp>
        <p:nvSpPr>
          <p:cNvPr id="2954" name="Google Shape;2954;p118"/>
          <p:cNvSpPr/>
          <p:nvPr/>
        </p:nvSpPr>
        <p:spPr>
          <a:xfrm>
            <a:off x="6553200" y="1894175"/>
            <a:ext cx="1212900" cy="456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Customer front-end app</a:t>
            </a:r>
            <a:endParaRPr sz="1200">
              <a:latin typeface="DM Sans"/>
              <a:ea typeface="DM Sans"/>
              <a:cs typeface="DM Sans"/>
              <a:sym typeface="DM Sans"/>
            </a:endParaRPr>
          </a:p>
        </p:txBody>
      </p:sp>
      <p:sp>
        <p:nvSpPr>
          <p:cNvPr id="2955" name="Google Shape;2955;p118"/>
          <p:cNvSpPr/>
          <p:nvPr/>
        </p:nvSpPr>
        <p:spPr>
          <a:xfrm>
            <a:off x="7873838" y="1894175"/>
            <a:ext cx="1146300" cy="456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Review app</a:t>
            </a:r>
            <a:endParaRPr>
              <a:latin typeface="DM Sans"/>
              <a:ea typeface="DM Sans"/>
              <a:cs typeface="DM Sans"/>
              <a:sym typeface="DM Sans"/>
            </a:endParaRPr>
          </a:p>
        </p:txBody>
      </p:sp>
      <p:sp>
        <p:nvSpPr>
          <p:cNvPr id="2956" name="Google Shape;2956;p118"/>
          <p:cNvSpPr/>
          <p:nvPr/>
        </p:nvSpPr>
        <p:spPr>
          <a:xfrm>
            <a:off x="7667363" y="940000"/>
            <a:ext cx="257700" cy="257700"/>
          </a:xfrm>
          <a:prstGeom prst="ellipse">
            <a:avLst/>
          </a:prstGeom>
          <a:solidFill>
            <a:srgbClr val="095A35"/>
          </a:solidFill>
          <a:ln cap="flat" cmpd="sng" w="9525">
            <a:solidFill>
              <a:srgbClr val="095A3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DM Sans"/>
                <a:ea typeface="DM Sans"/>
                <a:cs typeface="DM Sans"/>
                <a:sym typeface="DM Sans"/>
              </a:rPr>
              <a:t>E</a:t>
            </a:r>
            <a:endParaRPr b="1">
              <a:solidFill>
                <a:srgbClr val="FFFFFF"/>
              </a:solidFill>
              <a:latin typeface="DM Sans"/>
              <a:ea typeface="DM Sans"/>
              <a:cs typeface="DM Sans"/>
              <a:sym typeface="DM Sans"/>
            </a:endParaRPr>
          </a:p>
        </p:txBody>
      </p:sp>
      <p:cxnSp>
        <p:nvCxnSpPr>
          <p:cNvPr id="2957" name="Google Shape;2957;p118"/>
          <p:cNvCxnSpPr>
            <a:stCxn id="2930" idx="0"/>
            <a:endCxn id="2955" idx="2"/>
          </p:cNvCxnSpPr>
          <p:nvPr/>
        </p:nvCxnSpPr>
        <p:spPr>
          <a:xfrm rot="-5400000">
            <a:off x="6798200" y="1022250"/>
            <a:ext cx="320400" cy="2976900"/>
          </a:xfrm>
          <a:prstGeom prst="bentConnector3">
            <a:avLst>
              <a:gd fmla="val 50004" name="adj1"/>
            </a:avLst>
          </a:prstGeom>
          <a:noFill/>
          <a:ln cap="flat" cmpd="sng" w="9525">
            <a:solidFill>
              <a:schemeClr val="dk1"/>
            </a:solidFill>
            <a:prstDash val="solid"/>
            <a:round/>
            <a:headEnd len="med" w="med" type="triangle"/>
            <a:tailEnd len="med" w="med" type="triangle"/>
          </a:ln>
        </p:spPr>
      </p:cxnSp>
      <p:cxnSp>
        <p:nvCxnSpPr>
          <p:cNvPr id="2958" name="Google Shape;2958;p118"/>
          <p:cNvCxnSpPr>
            <a:stCxn id="2954" idx="2"/>
          </p:cNvCxnSpPr>
          <p:nvPr/>
        </p:nvCxnSpPr>
        <p:spPr>
          <a:xfrm>
            <a:off x="7159650" y="2350475"/>
            <a:ext cx="0" cy="164100"/>
          </a:xfrm>
          <a:prstGeom prst="straightConnector1">
            <a:avLst/>
          </a:prstGeom>
          <a:noFill/>
          <a:ln cap="flat" cmpd="sng" w="9525">
            <a:solidFill>
              <a:schemeClr val="dk1"/>
            </a:solidFill>
            <a:prstDash val="solid"/>
            <a:round/>
            <a:headEnd len="med" w="med" type="triangle"/>
            <a:tailEnd len="med" w="med" type="none"/>
          </a:ln>
        </p:spPr>
      </p:cxnSp>
      <p:grpSp>
        <p:nvGrpSpPr>
          <p:cNvPr id="2959" name="Google Shape;2959;p118"/>
          <p:cNvGrpSpPr/>
          <p:nvPr/>
        </p:nvGrpSpPr>
        <p:grpSpPr>
          <a:xfrm>
            <a:off x="1438035" y="1653729"/>
            <a:ext cx="576300" cy="576300"/>
            <a:chOff x="1438035" y="1729929"/>
            <a:chExt cx="576300" cy="576300"/>
          </a:xfrm>
        </p:grpSpPr>
        <p:sp>
          <p:nvSpPr>
            <p:cNvPr id="2960" name="Google Shape;2960;p118"/>
            <p:cNvSpPr/>
            <p:nvPr/>
          </p:nvSpPr>
          <p:spPr>
            <a:xfrm>
              <a:off x="1438035" y="1729929"/>
              <a:ext cx="576300" cy="576300"/>
            </a:xfrm>
            <a:prstGeom prst="ellipse">
              <a:avLst/>
            </a:prstGeom>
            <a:solidFill>
              <a:srgbClr val="EEEE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61" name="Google Shape;2961;p118"/>
            <p:cNvSpPr/>
            <p:nvPr/>
          </p:nvSpPr>
          <p:spPr>
            <a:xfrm>
              <a:off x="151557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62" name="Google Shape;2962;p118"/>
            <p:cNvSpPr/>
            <p:nvPr/>
          </p:nvSpPr>
          <p:spPr>
            <a:xfrm>
              <a:off x="174829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963" name="Google Shape;2963;p118"/>
            <p:cNvCxnSpPr>
              <a:stCxn id="2962" idx="2"/>
              <a:endCxn id="2962"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64" name="Google Shape;2964;p118"/>
            <p:cNvCxnSpPr>
              <a:stCxn id="2962" idx="2"/>
              <a:endCxn id="2962"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65" name="Google Shape;2965;p118"/>
            <p:cNvCxnSpPr/>
            <p:nvPr/>
          </p:nvCxnSpPr>
          <p:spPr>
            <a:xfrm>
              <a:off x="1708172" y="1915026"/>
              <a:ext cx="52200" cy="0"/>
            </a:xfrm>
            <a:prstGeom prst="straightConnector1">
              <a:avLst/>
            </a:prstGeom>
            <a:noFill/>
            <a:ln cap="flat" cmpd="sng" w="28575">
              <a:solidFill>
                <a:schemeClr val="dk1"/>
              </a:solidFill>
              <a:prstDash val="solid"/>
              <a:round/>
              <a:headEnd len="med" w="med" type="none"/>
              <a:tailEnd len="med" w="med" type="none"/>
            </a:ln>
          </p:spPr>
        </p:cxnSp>
        <p:cxnSp>
          <p:nvCxnSpPr>
            <p:cNvPr id="2966" name="Google Shape;2966;p118"/>
            <p:cNvCxnSpPr/>
            <p:nvPr/>
          </p:nvCxnSpPr>
          <p:spPr>
            <a:xfrm>
              <a:off x="1597815" y="2133234"/>
              <a:ext cx="260700" cy="0"/>
            </a:xfrm>
            <a:prstGeom prst="straightConnector1">
              <a:avLst/>
            </a:prstGeom>
            <a:noFill/>
            <a:ln cap="flat" cmpd="sng" w="9525">
              <a:solidFill>
                <a:schemeClr val="dk1"/>
              </a:solidFill>
              <a:prstDash val="solid"/>
              <a:round/>
              <a:headEnd len="med" w="med" type="none"/>
              <a:tailEnd len="med" w="med" type="none"/>
            </a:ln>
          </p:spPr>
        </p:cxnSp>
      </p:grpSp>
      <p:grpSp>
        <p:nvGrpSpPr>
          <p:cNvPr id="2967" name="Google Shape;2967;p118"/>
          <p:cNvGrpSpPr/>
          <p:nvPr/>
        </p:nvGrpSpPr>
        <p:grpSpPr>
          <a:xfrm>
            <a:off x="4371010" y="797454"/>
            <a:ext cx="576300" cy="576300"/>
            <a:chOff x="1438035" y="1729929"/>
            <a:chExt cx="576300" cy="576300"/>
          </a:xfrm>
        </p:grpSpPr>
        <p:sp>
          <p:nvSpPr>
            <p:cNvPr id="2932" name="Google Shape;2932;p118"/>
            <p:cNvSpPr/>
            <p:nvPr/>
          </p:nvSpPr>
          <p:spPr>
            <a:xfrm>
              <a:off x="1438035" y="1729929"/>
              <a:ext cx="576300" cy="576300"/>
            </a:xfrm>
            <a:prstGeom prst="ellipse">
              <a:avLst/>
            </a:prstGeom>
            <a:solidFill>
              <a:srgbClr val="EEEE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68" name="Google Shape;2968;p118"/>
            <p:cNvSpPr/>
            <p:nvPr/>
          </p:nvSpPr>
          <p:spPr>
            <a:xfrm>
              <a:off x="151557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69" name="Google Shape;2969;p118"/>
            <p:cNvSpPr/>
            <p:nvPr/>
          </p:nvSpPr>
          <p:spPr>
            <a:xfrm>
              <a:off x="174829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970" name="Google Shape;2970;p118"/>
            <p:cNvCxnSpPr>
              <a:stCxn id="2969" idx="2"/>
              <a:endCxn id="2969"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71" name="Google Shape;2971;p118"/>
            <p:cNvCxnSpPr>
              <a:stCxn id="2969" idx="2"/>
              <a:endCxn id="2969"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72" name="Google Shape;2972;p118"/>
            <p:cNvCxnSpPr/>
            <p:nvPr/>
          </p:nvCxnSpPr>
          <p:spPr>
            <a:xfrm>
              <a:off x="1708172" y="1915026"/>
              <a:ext cx="52200" cy="0"/>
            </a:xfrm>
            <a:prstGeom prst="straightConnector1">
              <a:avLst/>
            </a:prstGeom>
            <a:noFill/>
            <a:ln cap="flat" cmpd="sng" w="28575">
              <a:solidFill>
                <a:schemeClr val="dk1"/>
              </a:solidFill>
              <a:prstDash val="solid"/>
              <a:round/>
              <a:headEnd len="med" w="med" type="none"/>
              <a:tailEnd len="med" w="med" type="none"/>
            </a:ln>
          </p:spPr>
        </p:cxnSp>
        <p:cxnSp>
          <p:nvCxnSpPr>
            <p:cNvPr id="2973" name="Google Shape;2973;p118"/>
            <p:cNvCxnSpPr/>
            <p:nvPr/>
          </p:nvCxnSpPr>
          <p:spPr>
            <a:xfrm>
              <a:off x="1597815" y="2133234"/>
              <a:ext cx="260700" cy="0"/>
            </a:xfrm>
            <a:prstGeom prst="straightConnector1">
              <a:avLst/>
            </a:prstGeom>
            <a:noFill/>
            <a:ln cap="flat" cmpd="sng" w="9525">
              <a:solidFill>
                <a:schemeClr val="dk1"/>
              </a:solidFill>
              <a:prstDash val="solid"/>
              <a:round/>
              <a:headEnd len="med" w="med" type="none"/>
              <a:tailEnd len="med" w="med" type="none"/>
            </a:ln>
          </p:spPr>
        </p:cxnSp>
      </p:grpSp>
      <p:grpSp>
        <p:nvGrpSpPr>
          <p:cNvPr id="2974" name="Google Shape;2974;p118"/>
          <p:cNvGrpSpPr/>
          <p:nvPr/>
        </p:nvGrpSpPr>
        <p:grpSpPr>
          <a:xfrm>
            <a:off x="6871510" y="1153629"/>
            <a:ext cx="576300" cy="576300"/>
            <a:chOff x="1438035" y="1729929"/>
            <a:chExt cx="576300" cy="576300"/>
          </a:xfrm>
        </p:grpSpPr>
        <p:sp>
          <p:nvSpPr>
            <p:cNvPr id="2975" name="Google Shape;2975;p118"/>
            <p:cNvSpPr/>
            <p:nvPr/>
          </p:nvSpPr>
          <p:spPr>
            <a:xfrm>
              <a:off x="1438035" y="1729929"/>
              <a:ext cx="576300" cy="576300"/>
            </a:xfrm>
            <a:prstGeom prst="ellipse">
              <a:avLst/>
            </a:prstGeom>
            <a:solidFill>
              <a:srgbClr val="EEEE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76" name="Google Shape;2976;p118"/>
            <p:cNvSpPr/>
            <p:nvPr/>
          </p:nvSpPr>
          <p:spPr>
            <a:xfrm>
              <a:off x="151557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77" name="Google Shape;2977;p118"/>
            <p:cNvSpPr/>
            <p:nvPr/>
          </p:nvSpPr>
          <p:spPr>
            <a:xfrm>
              <a:off x="174829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978" name="Google Shape;2978;p118"/>
            <p:cNvCxnSpPr>
              <a:stCxn id="2977" idx="2"/>
              <a:endCxn id="2977"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79" name="Google Shape;2979;p118"/>
            <p:cNvCxnSpPr>
              <a:stCxn id="2977" idx="2"/>
              <a:endCxn id="2977"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80" name="Google Shape;2980;p118"/>
            <p:cNvCxnSpPr/>
            <p:nvPr/>
          </p:nvCxnSpPr>
          <p:spPr>
            <a:xfrm>
              <a:off x="1708172" y="1915026"/>
              <a:ext cx="52200" cy="0"/>
            </a:xfrm>
            <a:prstGeom prst="straightConnector1">
              <a:avLst/>
            </a:prstGeom>
            <a:noFill/>
            <a:ln cap="flat" cmpd="sng" w="28575">
              <a:solidFill>
                <a:schemeClr val="dk1"/>
              </a:solidFill>
              <a:prstDash val="solid"/>
              <a:round/>
              <a:headEnd len="med" w="med" type="none"/>
              <a:tailEnd len="med" w="med" type="none"/>
            </a:ln>
          </p:spPr>
        </p:cxnSp>
        <p:cxnSp>
          <p:nvCxnSpPr>
            <p:cNvPr id="2981" name="Google Shape;2981;p118"/>
            <p:cNvCxnSpPr/>
            <p:nvPr/>
          </p:nvCxnSpPr>
          <p:spPr>
            <a:xfrm>
              <a:off x="1597815" y="2133234"/>
              <a:ext cx="260700" cy="0"/>
            </a:xfrm>
            <a:prstGeom prst="straightConnector1">
              <a:avLst/>
            </a:prstGeom>
            <a:noFill/>
            <a:ln cap="flat" cmpd="sng" w="9525">
              <a:solidFill>
                <a:schemeClr val="dk1"/>
              </a:solidFill>
              <a:prstDash val="solid"/>
              <a:round/>
              <a:headEnd len="med" w="med" type="none"/>
              <a:tailEnd len="med" w="med" type="none"/>
            </a:ln>
          </p:spPr>
        </p:cxnSp>
      </p:grpSp>
      <p:grpSp>
        <p:nvGrpSpPr>
          <p:cNvPr id="2982" name="Google Shape;2982;p118"/>
          <p:cNvGrpSpPr/>
          <p:nvPr/>
        </p:nvGrpSpPr>
        <p:grpSpPr>
          <a:xfrm>
            <a:off x="8144622" y="1153629"/>
            <a:ext cx="576300" cy="576300"/>
            <a:chOff x="1438035" y="1729929"/>
            <a:chExt cx="576300" cy="576300"/>
          </a:xfrm>
        </p:grpSpPr>
        <p:sp>
          <p:nvSpPr>
            <p:cNvPr id="2983" name="Google Shape;2983;p118"/>
            <p:cNvSpPr/>
            <p:nvPr/>
          </p:nvSpPr>
          <p:spPr>
            <a:xfrm>
              <a:off x="1438035" y="1729929"/>
              <a:ext cx="576300" cy="576300"/>
            </a:xfrm>
            <a:prstGeom prst="ellipse">
              <a:avLst/>
            </a:prstGeom>
            <a:solidFill>
              <a:srgbClr val="EEEE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84" name="Google Shape;2984;p118"/>
            <p:cNvSpPr/>
            <p:nvPr/>
          </p:nvSpPr>
          <p:spPr>
            <a:xfrm>
              <a:off x="151557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85" name="Google Shape;2985;p118"/>
            <p:cNvSpPr/>
            <p:nvPr/>
          </p:nvSpPr>
          <p:spPr>
            <a:xfrm>
              <a:off x="1748296" y="1845310"/>
              <a:ext cx="192600" cy="192600"/>
            </a:xfrm>
            <a:prstGeom prst="ellipse">
              <a:avLst/>
            </a:prstGeom>
            <a:gradFill>
              <a:gsLst>
                <a:gs pos="0">
                  <a:srgbClr val="FFFFFF"/>
                </a:gs>
                <a:gs pos="100000">
                  <a:srgbClr val="B3B3B3"/>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986" name="Google Shape;2986;p118"/>
            <p:cNvCxnSpPr>
              <a:stCxn id="2985" idx="2"/>
              <a:endCxn id="2985"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87" name="Google Shape;2987;p118"/>
            <p:cNvCxnSpPr>
              <a:stCxn id="2985" idx="2"/>
              <a:endCxn id="2985" idx="2"/>
            </p:cNvCxnSpPr>
            <p:nvPr/>
          </p:nvCxnSpPr>
          <p:spPr>
            <a:xfrm>
              <a:off x="1748296" y="1941610"/>
              <a:ext cx="0" cy="0"/>
            </a:xfrm>
            <a:prstGeom prst="straightConnector1">
              <a:avLst/>
            </a:prstGeom>
            <a:noFill/>
            <a:ln cap="flat" cmpd="sng" w="9525">
              <a:solidFill>
                <a:schemeClr val="dk2"/>
              </a:solidFill>
              <a:prstDash val="solid"/>
              <a:round/>
              <a:headEnd len="med" w="med" type="none"/>
              <a:tailEnd len="med" w="med" type="none"/>
            </a:ln>
          </p:spPr>
        </p:cxnSp>
        <p:cxnSp>
          <p:nvCxnSpPr>
            <p:cNvPr id="2988" name="Google Shape;2988;p118"/>
            <p:cNvCxnSpPr/>
            <p:nvPr/>
          </p:nvCxnSpPr>
          <p:spPr>
            <a:xfrm>
              <a:off x="1708172" y="1915026"/>
              <a:ext cx="52200" cy="0"/>
            </a:xfrm>
            <a:prstGeom prst="straightConnector1">
              <a:avLst/>
            </a:prstGeom>
            <a:noFill/>
            <a:ln cap="flat" cmpd="sng" w="28575">
              <a:solidFill>
                <a:schemeClr val="dk1"/>
              </a:solidFill>
              <a:prstDash val="solid"/>
              <a:round/>
              <a:headEnd len="med" w="med" type="none"/>
              <a:tailEnd len="med" w="med" type="none"/>
            </a:ln>
          </p:spPr>
        </p:cxnSp>
        <p:cxnSp>
          <p:nvCxnSpPr>
            <p:cNvPr id="2989" name="Google Shape;2989;p118"/>
            <p:cNvCxnSpPr/>
            <p:nvPr/>
          </p:nvCxnSpPr>
          <p:spPr>
            <a:xfrm>
              <a:off x="1597815" y="2133234"/>
              <a:ext cx="2607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3" name="Shape 2993"/>
        <p:cNvGrpSpPr/>
        <p:nvPr/>
      </p:nvGrpSpPr>
      <p:grpSpPr>
        <a:xfrm>
          <a:off x="0" y="0"/>
          <a:ext cx="0" cy="0"/>
          <a:chOff x="0" y="0"/>
          <a:chExt cx="0" cy="0"/>
        </a:xfrm>
      </p:grpSpPr>
      <p:sp>
        <p:nvSpPr>
          <p:cNvPr id="2994" name="Google Shape;2994;p11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2995" name="Google Shape;2995;p119"/>
          <p:cNvSpPr/>
          <p:nvPr/>
        </p:nvSpPr>
        <p:spPr>
          <a:xfrm>
            <a:off x="687050" y="269825"/>
            <a:ext cx="10755900" cy="59787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600">
              <a:solidFill>
                <a:srgbClr val="1B5162"/>
              </a:solidFill>
              <a:latin typeface="DM Sans Medium"/>
              <a:ea typeface="DM Sans Medium"/>
              <a:cs typeface="DM Sans Medium"/>
              <a:sym typeface="DM Sans Medium"/>
            </a:endParaRPr>
          </a:p>
        </p:txBody>
      </p:sp>
      <p:grpSp>
        <p:nvGrpSpPr>
          <p:cNvPr id="2996" name="Google Shape;2996;p119"/>
          <p:cNvGrpSpPr/>
          <p:nvPr/>
        </p:nvGrpSpPr>
        <p:grpSpPr>
          <a:xfrm>
            <a:off x="1219724" y="799522"/>
            <a:ext cx="2059802" cy="327956"/>
            <a:chOff x="1073366" y="799522"/>
            <a:chExt cx="2059802" cy="327956"/>
          </a:xfrm>
        </p:grpSpPr>
        <p:pic>
          <p:nvPicPr>
            <p:cNvPr id="2997" name="Google Shape;2997;p119"/>
            <p:cNvPicPr preferRelativeResize="0"/>
            <p:nvPr/>
          </p:nvPicPr>
          <p:blipFill>
            <a:blip r:embed="rId3">
              <a:alphaModFix/>
            </a:blip>
            <a:stretch>
              <a:fillRect/>
            </a:stretch>
          </p:blipFill>
          <p:spPr>
            <a:xfrm>
              <a:off x="2666705" y="884807"/>
              <a:ext cx="466463" cy="157386"/>
            </a:xfrm>
            <a:prstGeom prst="rect">
              <a:avLst/>
            </a:prstGeom>
            <a:noFill/>
            <a:ln>
              <a:noFill/>
            </a:ln>
          </p:spPr>
        </p:pic>
        <p:pic>
          <p:nvPicPr>
            <p:cNvPr id="2998" name="Google Shape;2998;p119"/>
            <p:cNvPicPr preferRelativeResize="0"/>
            <p:nvPr/>
          </p:nvPicPr>
          <p:blipFill>
            <a:blip r:embed="rId4">
              <a:alphaModFix/>
            </a:blip>
            <a:stretch>
              <a:fillRect/>
            </a:stretch>
          </p:blipFill>
          <p:spPr>
            <a:xfrm>
              <a:off x="2180196" y="829594"/>
              <a:ext cx="266030" cy="267812"/>
            </a:xfrm>
            <a:prstGeom prst="rect">
              <a:avLst/>
            </a:prstGeom>
            <a:noFill/>
            <a:ln>
              <a:noFill/>
            </a:ln>
          </p:spPr>
        </p:pic>
        <p:pic>
          <p:nvPicPr>
            <p:cNvPr id="2999" name="Google Shape;2999;p119"/>
            <p:cNvPicPr preferRelativeResize="0"/>
            <p:nvPr/>
          </p:nvPicPr>
          <p:blipFill>
            <a:blip r:embed="rId5">
              <a:alphaModFix/>
            </a:blip>
            <a:stretch>
              <a:fillRect/>
            </a:stretch>
          </p:blipFill>
          <p:spPr>
            <a:xfrm>
              <a:off x="1073366" y="906358"/>
              <a:ext cx="466461" cy="114284"/>
            </a:xfrm>
            <a:prstGeom prst="rect">
              <a:avLst/>
            </a:prstGeom>
            <a:noFill/>
            <a:ln>
              <a:noFill/>
            </a:ln>
          </p:spPr>
        </p:pic>
        <p:pic>
          <p:nvPicPr>
            <p:cNvPr id="3000" name="Google Shape;3000;p119"/>
            <p:cNvPicPr preferRelativeResize="0"/>
            <p:nvPr/>
          </p:nvPicPr>
          <p:blipFill rotWithShape="1">
            <a:blip r:embed="rId6">
              <a:alphaModFix/>
            </a:blip>
            <a:srcRect b="0" l="28943" r="30531" t="0"/>
            <a:stretch/>
          </p:blipFill>
          <p:spPr>
            <a:xfrm>
              <a:off x="1760306" y="799522"/>
              <a:ext cx="199410" cy="327956"/>
            </a:xfrm>
            <a:prstGeom prst="rect">
              <a:avLst/>
            </a:prstGeom>
            <a:noFill/>
            <a:ln>
              <a:noFill/>
            </a:ln>
          </p:spPr>
        </p:pic>
      </p:grpSp>
      <p:sp>
        <p:nvSpPr>
          <p:cNvPr id="3001" name="Google Shape;3001;p119"/>
          <p:cNvSpPr/>
          <p:nvPr/>
        </p:nvSpPr>
        <p:spPr>
          <a:xfrm>
            <a:off x="890050" y="1349375"/>
            <a:ext cx="10352700" cy="46539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002" name="Google Shape;3002;p119"/>
          <p:cNvSpPr txBox="1"/>
          <p:nvPr/>
        </p:nvSpPr>
        <p:spPr>
          <a:xfrm>
            <a:off x="1219725" y="1639525"/>
            <a:ext cx="35238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DM Sans"/>
                <a:ea typeface="DM Sans"/>
                <a:cs typeface="DM Sans"/>
                <a:sym typeface="DM Sans"/>
              </a:rPr>
              <a:t>Your Databricks account</a:t>
            </a:r>
            <a:endParaRPr sz="2700">
              <a:solidFill>
                <a:schemeClr val="dk1"/>
              </a:solidFill>
              <a:latin typeface="DM Sans"/>
              <a:ea typeface="DM Sans"/>
              <a:cs typeface="DM Sans"/>
              <a:sym typeface="DM Sans"/>
            </a:endParaRPr>
          </a:p>
        </p:txBody>
      </p:sp>
      <p:sp>
        <p:nvSpPr>
          <p:cNvPr id="3003" name="Google Shape;3003;p119"/>
          <p:cNvSpPr/>
          <p:nvPr/>
        </p:nvSpPr>
        <p:spPr>
          <a:xfrm>
            <a:off x="4799375" y="3714450"/>
            <a:ext cx="2590200" cy="1989900"/>
          </a:xfrm>
          <a:prstGeom prst="roundRect">
            <a:avLst>
              <a:gd fmla="val 102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 B</a:t>
            </a:r>
            <a:endParaRPr sz="1500">
              <a:solidFill>
                <a:schemeClr val="dk1"/>
              </a:solidFill>
              <a:latin typeface="DM Sans"/>
              <a:ea typeface="DM Sans"/>
              <a:cs typeface="DM Sans"/>
              <a:sym typeface="DM Sans"/>
            </a:endParaRPr>
          </a:p>
        </p:txBody>
      </p:sp>
      <p:sp>
        <p:nvSpPr>
          <p:cNvPr id="3004" name="Google Shape;3004;p119"/>
          <p:cNvSpPr/>
          <p:nvPr/>
        </p:nvSpPr>
        <p:spPr>
          <a:xfrm>
            <a:off x="1480713" y="3714450"/>
            <a:ext cx="2590200" cy="1989900"/>
          </a:xfrm>
          <a:prstGeom prst="roundRect">
            <a:avLst>
              <a:gd fmla="val 102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 A</a:t>
            </a:r>
            <a:endParaRPr sz="1500">
              <a:solidFill>
                <a:schemeClr val="dk1"/>
              </a:solidFill>
              <a:latin typeface="DM Sans"/>
              <a:ea typeface="DM Sans"/>
              <a:cs typeface="DM Sans"/>
              <a:sym typeface="DM Sans"/>
            </a:endParaRPr>
          </a:p>
        </p:txBody>
      </p:sp>
      <p:sp>
        <p:nvSpPr>
          <p:cNvPr id="3005" name="Google Shape;3005;p119"/>
          <p:cNvSpPr/>
          <p:nvPr/>
        </p:nvSpPr>
        <p:spPr>
          <a:xfrm>
            <a:off x="8118038" y="3714450"/>
            <a:ext cx="2590200" cy="1989900"/>
          </a:xfrm>
          <a:prstGeom prst="roundRect">
            <a:avLst>
              <a:gd fmla="val 102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 C</a:t>
            </a:r>
            <a:endParaRPr sz="1500">
              <a:solidFill>
                <a:schemeClr val="dk1"/>
              </a:solidFill>
              <a:latin typeface="DM Sans"/>
              <a:ea typeface="DM Sans"/>
              <a:cs typeface="DM Sans"/>
              <a:sym typeface="DM Sans"/>
            </a:endParaRPr>
          </a:p>
        </p:txBody>
      </p:sp>
      <p:sp>
        <p:nvSpPr>
          <p:cNvPr id="3006" name="Google Shape;3006;p119"/>
          <p:cNvSpPr/>
          <p:nvPr/>
        </p:nvSpPr>
        <p:spPr>
          <a:xfrm>
            <a:off x="1480725" y="2223300"/>
            <a:ext cx="9184500" cy="1305600"/>
          </a:xfrm>
          <a:prstGeom prst="roundRect">
            <a:avLst>
              <a:gd fmla="val 16667" name="adj"/>
            </a:avLst>
          </a:prstGeom>
          <a:solidFill>
            <a:srgbClr val="FFFFFF">
              <a:alpha val="9405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3007" name="Google Shape;3007;p119"/>
          <p:cNvGrpSpPr/>
          <p:nvPr/>
        </p:nvGrpSpPr>
        <p:grpSpPr>
          <a:xfrm>
            <a:off x="5474403" y="2509334"/>
            <a:ext cx="1031700" cy="883640"/>
            <a:chOff x="4677300" y="2248378"/>
            <a:chExt cx="1031700" cy="883640"/>
          </a:xfrm>
        </p:grpSpPr>
        <p:pic>
          <p:nvPicPr>
            <p:cNvPr id="3008" name="Google Shape;3008;p119"/>
            <p:cNvPicPr preferRelativeResize="0"/>
            <p:nvPr/>
          </p:nvPicPr>
          <p:blipFill rotWithShape="1">
            <a:blip r:embed="rId7">
              <a:alphaModFix/>
            </a:blip>
            <a:srcRect b="0" l="0" r="0" t="0"/>
            <a:stretch/>
          </p:blipFill>
          <p:spPr>
            <a:xfrm>
              <a:off x="4834534" y="2248378"/>
              <a:ext cx="716804" cy="716773"/>
            </a:xfrm>
            <a:prstGeom prst="rect">
              <a:avLst/>
            </a:prstGeom>
            <a:noFill/>
            <a:ln>
              <a:noFill/>
            </a:ln>
          </p:spPr>
        </p:pic>
        <p:sp>
          <p:nvSpPr>
            <p:cNvPr id="3009" name="Google Shape;3009;p119"/>
            <p:cNvSpPr txBox="1"/>
            <p:nvPr/>
          </p:nvSpPr>
          <p:spPr>
            <a:xfrm>
              <a:off x="4677300" y="2778019"/>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7F7F7F"/>
                  </a:solidFill>
                  <a:latin typeface="DM Sans"/>
                  <a:ea typeface="DM Sans"/>
                  <a:cs typeface="DM Sans"/>
                  <a:sym typeface="DM Sans"/>
                </a:rPr>
                <a:t>Group 1</a:t>
              </a:r>
              <a:endParaRPr>
                <a:solidFill>
                  <a:srgbClr val="7F7F7F"/>
                </a:solidFill>
                <a:latin typeface="DM Sans"/>
                <a:ea typeface="DM Sans"/>
                <a:cs typeface="DM Sans"/>
                <a:sym typeface="DM Sans"/>
              </a:endParaRPr>
            </a:p>
          </p:txBody>
        </p:sp>
      </p:grpSp>
      <p:sp>
        <p:nvSpPr>
          <p:cNvPr id="3010" name="Google Shape;3010;p119"/>
          <p:cNvSpPr txBox="1"/>
          <p:nvPr/>
        </p:nvSpPr>
        <p:spPr>
          <a:xfrm>
            <a:off x="907875" y="374775"/>
            <a:ext cx="2683500" cy="32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DM Sans Medium"/>
                <a:ea typeface="DM Sans Medium"/>
                <a:cs typeface="DM Sans Medium"/>
                <a:sym typeface="DM Sans Medium"/>
              </a:rPr>
              <a:t>External identity provider </a:t>
            </a:r>
            <a:endParaRPr sz="2400">
              <a:solidFill>
                <a:schemeClr val="dk1"/>
              </a:solidFill>
              <a:latin typeface="DM Sans"/>
              <a:ea typeface="DM Sans"/>
              <a:cs typeface="DM Sans"/>
              <a:sym typeface="DM Sans"/>
            </a:endParaRPr>
          </a:p>
        </p:txBody>
      </p:sp>
      <p:pic>
        <p:nvPicPr>
          <p:cNvPr id="3011" name="Google Shape;3011;p119"/>
          <p:cNvPicPr preferRelativeResize="0"/>
          <p:nvPr/>
        </p:nvPicPr>
        <p:blipFill>
          <a:blip r:embed="rId8">
            <a:alphaModFix/>
          </a:blip>
          <a:stretch>
            <a:fillRect/>
          </a:stretch>
        </p:blipFill>
        <p:spPr>
          <a:xfrm>
            <a:off x="5474377" y="995612"/>
            <a:ext cx="682625" cy="682625"/>
          </a:xfrm>
          <a:prstGeom prst="rect">
            <a:avLst/>
          </a:prstGeom>
          <a:noFill/>
          <a:ln>
            <a:noFill/>
          </a:ln>
        </p:spPr>
      </p:pic>
      <p:sp>
        <p:nvSpPr>
          <p:cNvPr id="3012" name="Google Shape;3012;p119"/>
          <p:cNvSpPr/>
          <p:nvPr/>
        </p:nvSpPr>
        <p:spPr>
          <a:xfrm>
            <a:off x="6127425" y="1039774"/>
            <a:ext cx="2059800" cy="594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300">
                <a:solidFill>
                  <a:srgbClr val="1B3139"/>
                </a:solidFill>
                <a:latin typeface="DM Sans"/>
                <a:ea typeface="DM Sans"/>
                <a:cs typeface="DM Sans"/>
                <a:sym typeface="DM Sans"/>
              </a:rPr>
              <a:t>Databricks Account SCIM APIs</a:t>
            </a:r>
            <a:endParaRPr sz="1300">
              <a:solidFill>
                <a:srgbClr val="1B3139"/>
              </a:solidFill>
              <a:latin typeface="DM Sans"/>
              <a:ea typeface="DM Sans"/>
              <a:cs typeface="DM Sans"/>
              <a:sym typeface="DM Sans"/>
            </a:endParaRPr>
          </a:p>
        </p:txBody>
      </p:sp>
      <p:cxnSp>
        <p:nvCxnSpPr>
          <p:cNvPr id="3013" name="Google Shape;3013;p119"/>
          <p:cNvCxnSpPr>
            <a:stCxn id="3010" idx="3"/>
            <a:endCxn id="3011" idx="0"/>
          </p:cNvCxnSpPr>
          <p:nvPr/>
        </p:nvCxnSpPr>
        <p:spPr>
          <a:xfrm>
            <a:off x="3591375" y="538725"/>
            <a:ext cx="2224200" cy="456900"/>
          </a:xfrm>
          <a:prstGeom prst="curvedConnector2">
            <a:avLst/>
          </a:prstGeom>
          <a:noFill/>
          <a:ln cap="flat" cmpd="sng" w="9525">
            <a:solidFill>
              <a:srgbClr val="FF5F46"/>
            </a:solidFill>
            <a:prstDash val="solid"/>
            <a:round/>
            <a:headEnd len="med" w="med" type="none"/>
            <a:tailEnd len="med" w="med" type="oval"/>
          </a:ln>
        </p:spPr>
      </p:cxnSp>
      <p:grpSp>
        <p:nvGrpSpPr>
          <p:cNvPr id="3014" name="Google Shape;3014;p119"/>
          <p:cNvGrpSpPr/>
          <p:nvPr/>
        </p:nvGrpSpPr>
        <p:grpSpPr>
          <a:xfrm>
            <a:off x="1724750" y="4625075"/>
            <a:ext cx="2102150" cy="874550"/>
            <a:chOff x="1724750" y="4625075"/>
            <a:chExt cx="2102150" cy="874550"/>
          </a:xfrm>
        </p:grpSpPr>
        <p:pic>
          <p:nvPicPr>
            <p:cNvPr id="3015" name="Google Shape;3015;p119"/>
            <p:cNvPicPr preferRelativeResize="0"/>
            <p:nvPr/>
          </p:nvPicPr>
          <p:blipFill>
            <a:blip r:embed="rId9">
              <a:alphaModFix/>
            </a:blip>
            <a:stretch>
              <a:fillRect/>
            </a:stretch>
          </p:blipFill>
          <p:spPr>
            <a:xfrm>
              <a:off x="1928250" y="4625075"/>
              <a:ext cx="624700" cy="624700"/>
            </a:xfrm>
            <a:prstGeom prst="rect">
              <a:avLst/>
            </a:prstGeom>
            <a:noFill/>
            <a:ln>
              <a:noFill/>
            </a:ln>
          </p:spPr>
        </p:pic>
        <p:pic>
          <p:nvPicPr>
            <p:cNvPr id="3016" name="Google Shape;3016;p119"/>
            <p:cNvPicPr preferRelativeResize="0"/>
            <p:nvPr/>
          </p:nvPicPr>
          <p:blipFill>
            <a:blip r:embed="rId9">
              <a:alphaModFix/>
            </a:blip>
            <a:stretch>
              <a:fillRect/>
            </a:stretch>
          </p:blipFill>
          <p:spPr>
            <a:xfrm>
              <a:off x="2998700" y="4625075"/>
              <a:ext cx="624700" cy="624700"/>
            </a:xfrm>
            <a:prstGeom prst="rect">
              <a:avLst/>
            </a:prstGeom>
            <a:noFill/>
            <a:ln>
              <a:noFill/>
            </a:ln>
          </p:spPr>
        </p:pic>
        <p:sp>
          <p:nvSpPr>
            <p:cNvPr id="3017" name="Google Shape;3017;p119"/>
            <p:cNvSpPr txBox="1"/>
            <p:nvPr/>
          </p:nvSpPr>
          <p:spPr>
            <a:xfrm>
              <a:off x="1724750"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sp>
          <p:nvSpPr>
            <p:cNvPr id="3018" name="Google Shape;3018;p119"/>
            <p:cNvSpPr txBox="1"/>
            <p:nvPr/>
          </p:nvSpPr>
          <p:spPr>
            <a:xfrm>
              <a:off x="2795200"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grpSp>
      <p:grpSp>
        <p:nvGrpSpPr>
          <p:cNvPr id="3019" name="Google Shape;3019;p119"/>
          <p:cNvGrpSpPr/>
          <p:nvPr/>
        </p:nvGrpSpPr>
        <p:grpSpPr>
          <a:xfrm>
            <a:off x="5043413" y="4625075"/>
            <a:ext cx="2102150" cy="874550"/>
            <a:chOff x="5043413" y="4625075"/>
            <a:chExt cx="2102150" cy="874550"/>
          </a:xfrm>
        </p:grpSpPr>
        <p:pic>
          <p:nvPicPr>
            <p:cNvPr id="3020" name="Google Shape;3020;p119"/>
            <p:cNvPicPr preferRelativeResize="0"/>
            <p:nvPr/>
          </p:nvPicPr>
          <p:blipFill>
            <a:blip r:embed="rId9">
              <a:alphaModFix/>
            </a:blip>
            <a:stretch>
              <a:fillRect/>
            </a:stretch>
          </p:blipFill>
          <p:spPr>
            <a:xfrm>
              <a:off x="5246913" y="4625075"/>
              <a:ext cx="624700" cy="624700"/>
            </a:xfrm>
            <a:prstGeom prst="rect">
              <a:avLst/>
            </a:prstGeom>
            <a:noFill/>
            <a:ln>
              <a:noFill/>
            </a:ln>
          </p:spPr>
        </p:pic>
        <p:pic>
          <p:nvPicPr>
            <p:cNvPr id="3021" name="Google Shape;3021;p119"/>
            <p:cNvPicPr preferRelativeResize="0"/>
            <p:nvPr/>
          </p:nvPicPr>
          <p:blipFill>
            <a:blip r:embed="rId9">
              <a:alphaModFix/>
            </a:blip>
            <a:stretch>
              <a:fillRect/>
            </a:stretch>
          </p:blipFill>
          <p:spPr>
            <a:xfrm>
              <a:off x="6317363" y="4625075"/>
              <a:ext cx="624700" cy="624700"/>
            </a:xfrm>
            <a:prstGeom prst="rect">
              <a:avLst/>
            </a:prstGeom>
            <a:noFill/>
            <a:ln>
              <a:noFill/>
            </a:ln>
          </p:spPr>
        </p:pic>
        <p:sp>
          <p:nvSpPr>
            <p:cNvPr id="3022" name="Google Shape;3022;p119"/>
            <p:cNvSpPr txBox="1"/>
            <p:nvPr/>
          </p:nvSpPr>
          <p:spPr>
            <a:xfrm>
              <a:off x="5043413"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sp>
          <p:nvSpPr>
            <p:cNvPr id="3023" name="Google Shape;3023;p119"/>
            <p:cNvSpPr txBox="1"/>
            <p:nvPr/>
          </p:nvSpPr>
          <p:spPr>
            <a:xfrm>
              <a:off x="6113863"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grpSp>
      <p:grpSp>
        <p:nvGrpSpPr>
          <p:cNvPr id="3024" name="Google Shape;3024;p119"/>
          <p:cNvGrpSpPr/>
          <p:nvPr/>
        </p:nvGrpSpPr>
        <p:grpSpPr>
          <a:xfrm>
            <a:off x="8362038" y="4625075"/>
            <a:ext cx="2102150" cy="874550"/>
            <a:chOff x="5043413" y="4625075"/>
            <a:chExt cx="2102150" cy="874550"/>
          </a:xfrm>
        </p:grpSpPr>
        <p:pic>
          <p:nvPicPr>
            <p:cNvPr id="3025" name="Google Shape;3025;p119"/>
            <p:cNvPicPr preferRelativeResize="0"/>
            <p:nvPr/>
          </p:nvPicPr>
          <p:blipFill>
            <a:blip r:embed="rId9">
              <a:alphaModFix/>
            </a:blip>
            <a:stretch>
              <a:fillRect/>
            </a:stretch>
          </p:blipFill>
          <p:spPr>
            <a:xfrm>
              <a:off x="5246913" y="4625075"/>
              <a:ext cx="624700" cy="624700"/>
            </a:xfrm>
            <a:prstGeom prst="rect">
              <a:avLst/>
            </a:prstGeom>
            <a:noFill/>
            <a:ln>
              <a:noFill/>
            </a:ln>
          </p:spPr>
        </p:pic>
        <p:pic>
          <p:nvPicPr>
            <p:cNvPr id="3026" name="Google Shape;3026;p119"/>
            <p:cNvPicPr preferRelativeResize="0"/>
            <p:nvPr/>
          </p:nvPicPr>
          <p:blipFill>
            <a:blip r:embed="rId9">
              <a:alphaModFix/>
            </a:blip>
            <a:stretch>
              <a:fillRect/>
            </a:stretch>
          </p:blipFill>
          <p:spPr>
            <a:xfrm>
              <a:off x="6317363" y="4625075"/>
              <a:ext cx="624700" cy="624700"/>
            </a:xfrm>
            <a:prstGeom prst="rect">
              <a:avLst/>
            </a:prstGeom>
            <a:noFill/>
            <a:ln>
              <a:noFill/>
            </a:ln>
          </p:spPr>
        </p:pic>
        <p:sp>
          <p:nvSpPr>
            <p:cNvPr id="3027" name="Google Shape;3027;p119"/>
            <p:cNvSpPr txBox="1"/>
            <p:nvPr/>
          </p:nvSpPr>
          <p:spPr>
            <a:xfrm>
              <a:off x="5043413"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sp>
          <p:nvSpPr>
            <p:cNvPr id="3028" name="Google Shape;3028;p119"/>
            <p:cNvSpPr txBox="1"/>
            <p:nvPr/>
          </p:nvSpPr>
          <p:spPr>
            <a:xfrm>
              <a:off x="6113863"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grpSp>
      <p:sp>
        <p:nvSpPr>
          <p:cNvPr id="3029" name="Google Shape;3029;p119"/>
          <p:cNvSpPr txBox="1"/>
          <p:nvPr/>
        </p:nvSpPr>
        <p:spPr>
          <a:xfrm>
            <a:off x="4939188" y="2223300"/>
            <a:ext cx="21021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DM Sans"/>
                <a:ea typeface="DM Sans"/>
                <a:cs typeface="DM Sans"/>
                <a:sym typeface="DM Sans"/>
              </a:rPr>
              <a:t>All account users</a:t>
            </a:r>
            <a:endParaRPr sz="2700">
              <a:solidFill>
                <a:schemeClr val="dk1"/>
              </a:solidFill>
              <a:latin typeface="DM Sans"/>
              <a:ea typeface="DM Sans"/>
              <a:cs typeface="DM Sans"/>
              <a:sym typeface="DM Sans"/>
            </a:endParaRPr>
          </a:p>
        </p:txBody>
      </p:sp>
      <p:cxnSp>
        <p:nvCxnSpPr>
          <p:cNvPr id="3030" name="Google Shape;3030;p119"/>
          <p:cNvCxnSpPr>
            <a:stCxn id="3031" idx="2"/>
            <a:endCxn id="3004" idx="0"/>
          </p:cNvCxnSpPr>
          <p:nvPr/>
        </p:nvCxnSpPr>
        <p:spPr>
          <a:xfrm rot="5400000">
            <a:off x="3248467" y="2920324"/>
            <a:ext cx="321600" cy="1266900"/>
          </a:xfrm>
          <a:prstGeom prst="curvedConnector3">
            <a:avLst>
              <a:gd fmla="val 49981" name="adj1"/>
            </a:avLst>
          </a:prstGeom>
          <a:noFill/>
          <a:ln cap="flat" cmpd="sng" w="9525">
            <a:solidFill>
              <a:srgbClr val="FF5F46"/>
            </a:solidFill>
            <a:prstDash val="solid"/>
            <a:round/>
            <a:headEnd len="med" w="med" type="none"/>
            <a:tailEnd len="med" w="med" type="oval"/>
          </a:ln>
        </p:spPr>
      </p:cxnSp>
      <p:cxnSp>
        <p:nvCxnSpPr>
          <p:cNvPr id="3032" name="Google Shape;3032;p119"/>
          <p:cNvCxnSpPr>
            <a:stCxn id="3033" idx="2"/>
            <a:endCxn id="3005" idx="0"/>
          </p:cNvCxnSpPr>
          <p:nvPr/>
        </p:nvCxnSpPr>
        <p:spPr>
          <a:xfrm flipH="1" rot="-5400000">
            <a:off x="8514689" y="2816074"/>
            <a:ext cx="321600" cy="1475400"/>
          </a:xfrm>
          <a:prstGeom prst="curvedConnector3">
            <a:avLst>
              <a:gd fmla="val 49981" name="adj1"/>
            </a:avLst>
          </a:prstGeom>
          <a:noFill/>
          <a:ln cap="flat" cmpd="sng" w="9525">
            <a:solidFill>
              <a:srgbClr val="FF5F46"/>
            </a:solidFill>
            <a:prstDash val="solid"/>
            <a:round/>
            <a:headEnd len="med" w="med" type="none"/>
            <a:tailEnd len="med" w="med" type="oval"/>
          </a:ln>
        </p:spPr>
      </p:cxnSp>
      <p:cxnSp>
        <p:nvCxnSpPr>
          <p:cNvPr id="3034" name="Google Shape;3034;p119"/>
          <p:cNvCxnSpPr>
            <a:stCxn id="3009" idx="2"/>
          </p:cNvCxnSpPr>
          <p:nvPr/>
        </p:nvCxnSpPr>
        <p:spPr>
          <a:xfrm flipH="1" rot="-5400000">
            <a:off x="7551153" y="1832074"/>
            <a:ext cx="321600" cy="3443400"/>
          </a:xfrm>
          <a:prstGeom prst="curvedConnector2">
            <a:avLst/>
          </a:prstGeom>
          <a:noFill/>
          <a:ln cap="flat" cmpd="sng" w="9525">
            <a:solidFill>
              <a:srgbClr val="FF5F46"/>
            </a:solidFill>
            <a:prstDash val="solid"/>
            <a:round/>
            <a:headEnd len="med" w="med" type="none"/>
            <a:tailEnd len="med" w="med" type="oval"/>
          </a:ln>
        </p:spPr>
      </p:cxnSp>
      <p:cxnSp>
        <p:nvCxnSpPr>
          <p:cNvPr id="3035" name="Google Shape;3035;p119"/>
          <p:cNvCxnSpPr>
            <a:stCxn id="3011" idx="2"/>
            <a:endCxn id="3029" idx="0"/>
          </p:cNvCxnSpPr>
          <p:nvPr/>
        </p:nvCxnSpPr>
        <p:spPr>
          <a:xfrm flipH="1" rot="-5400000">
            <a:off x="5630439" y="1863487"/>
            <a:ext cx="545100" cy="174600"/>
          </a:xfrm>
          <a:prstGeom prst="curvedConnector3">
            <a:avLst>
              <a:gd fmla="val 49997" name="adj1"/>
            </a:avLst>
          </a:prstGeom>
          <a:noFill/>
          <a:ln cap="flat" cmpd="sng" w="9525">
            <a:solidFill>
              <a:srgbClr val="FF5F46"/>
            </a:solidFill>
            <a:prstDash val="solid"/>
            <a:round/>
            <a:headEnd len="med" w="med" type="none"/>
            <a:tailEnd len="med" w="med" type="oval"/>
          </a:ln>
        </p:spPr>
      </p:cxnSp>
      <p:grpSp>
        <p:nvGrpSpPr>
          <p:cNvPr id="3036" name="Google Shape;3036;p119"/>
          <p:cNvGrpSpPr/>
          <p:nvPr/>
        </p:nvGrpSpPr>
        <p:grpSpPr>
          <a:xfrm>
            <a:off x="1579332" y="2722481"/>
            <a:ext cx="1031700" cy="670493"/>
            <a:chOff x="1579332" y="2604275"/>
            <a:chExt cx="1031700" cy="670493"/>
          </a:xfrm>
        </p:grpSpPr>
        <p:pic>
          <p:nvPicPr>
            <p:cNvPr id="3037" name="Google Shape;3037;p119"/>
            <p:cNvPicPr preferRelativeResize="0"/>
            <p:nvPr/>
          </p:nvPicPr>
          <p:blipFill>
            <a:blip r:embed="rId10">
              <a:alphaModFix/>
            </a:blip>
            <a:stretch>
              <a:fillRect/>
            </a:stretch>
          </p:blipFill>
          <p:spPr>
            <a:xfrm>
              <a:off x="1933025" y="2604275"/>
              <a:ext cx="324299" cy="392699"/>
            </a:xfrm>
            <a:prstGeom prst="rect">
              <a:avLst/>
            </a:prstGeom>
            <a:noFill/>
            <a:ln>
              <a:noFill/>
            </a:ln>
          </p:spPr>
        </p:pic>
        <p:sp>
          <p:nvSpPr>
            <p:cNvPr id="3038" name="Google Shape;3038;p119"/>
            <p:cNvSpPr txBox="1"/>
            <p:nvPr/>
          </p:nvSpPr>
          <p:spPr>
            <a:xfrm>
              <a:off x="1579332" y="2920768"/>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595959"/>
                  </a:solidFill>
                  <a:latin typeface="DM Sans"/>
                  <a:ea typeface="DM Sans"/>
                  <a:cs typeface="DM Sans"/>
                  <a:sym typeface="DM Sans"/>
                </a:rPr>
                <a:t>User 1</a:t>
              </a:r>
              <a:endParaRPr>
                <a:solidFill>
                  <a:srgbClr val="595959"/>
                </a:solidFill>
                <a:latin typeface="DM Sans"/>
                <a:ea typeface="DM Sans"/>
                <a:cs typeface="DM Sans"/>
                <a:sym typeface="DM Sans"/>
              </a:endParaRPr>
            </a:p>
          </p:txBody>
        </p:sp>
      </p:grpSp>
      <p:grpSp>
        <p:nvGrpSpPr>
          <p:cNvPr id="3039" name="Google Shape;3039;p119"/>
          <p:cNvGrpSpPr/>
          <p:nvPr/>
        </p:nvGrpSpPr>
        <p:grpSpPr>
          <a:xfrm>
            <a:off x="3526867" y="2722481"/>
            <a:ext cx="1031700" cy="670493"/>
            <a:chOff x="1579332" y="2604275"/>
            <a:chExt cx="1031700" cy="670493"/>
          </a:xfrm>
        </p:grpSpPr>
        <p:pic>
          <p:nvPicPr>
            <p:cNvPr id="3040" name="Google Shape;3040;p119"/>
            <p:cNvPicPr preferRelativeResize="0"/>
            <p:nvPr/>
          </p:nvPicPr>
          <p:blipFill>
            <a:blip r:embed="rId10">
              <a:alphaModFix/>
            </a:blip>
            <a:stretch>
              <a:fillRect/>
            </a:stretch>
          </p:blipFill>
          <p:spPr>
            <a:xfrm>
              <a:off x="1933025" y="2604275"/>
              <a:ext cx="324299" cy="392699"/>
            </a:xfrm>
            <a:prstGeom prst="rect">
              <a:avLst/>
            </a:prstGeom>
            <a:noFill/>
            <a:ln>
              <a:noFill/>
            </a:ln>
          </p:spPr>
        </p:pic>
        <p:sp>
          <p:nvSpPr>
            <p:cNvPr id="3031" name="Google Shape;3031;p119"/>
            <p:cNvSpPr txBox="1"/>
            <p:nvPr/>
          </p:nvSpPr>
          <p:spPr>
            <a:xfrm>
              <a:off x="1579332" y="2920768"/>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595959"/>
                  </a:solidFill>
                  <a:latin typeface="DM Sans"/>
                  <a:ea typeface="DM Sans"/>
                  <a:cs typeface="DM Sans"/>
                  <a:sym typeface="DM Sans"/>
                </a:rPr>
                <a:t>User 2</a:t>
              </a:r>
              <a:endParaRPr>
                <a:solidFill>
                  <a:srgbClr val="595959"/>
                </a:solidFill>
                <a:latin typeface="DM Sans"/>
                <a:ea typeface="DM Sans"/>
                <a:cs typeface="DM Sans"/>
                <a:sym typeface="DM Sans"/>
              </a:endParaRPr>
            </a:p>
          </p:txBody>
        </p:sp>
      </p:grpSp>
      <p:grpSp>
        <p:nvGrpSpPr>
          <p:cNvPr id="3041" name="Google Shape;3041;p119"/>
          <p:cNvGrpSpPr/>
          <p:nvPr/>
        </p:nvGrpSpPr>
        <p:grpSpPr>
          <a:xfrm>
            <a:off x="7421939" y="2509334"/>
            <a:ext cx="1031700" cy="883640"/>
            <a:chOff x="4677300" y="2248378"/>
            <a:chExt cx="1031700" cy="883640"/>
          </a:xfrm>
        </p:grpSpPr>
        <p:pic>
          <p:nvPicPr>
            <p:cNvPr id="3042" name="Google Shape;3042;p119"/>
            <p:cNvPicPr preferRelativeResize="0"/>
            <p:nvPr/>
          </p:nvPicPr>
          <p:blipFill rotWithShape="1">
            <a:blip r:embed="rId7">
              <a:alphaModFix/>
            </a:blip>
            <a:srcRect b="0" l="0" r="0" t="0"/>
            <a:stretch/>
          </p:blipFill>
          <p:spPr>
            <a:xfrm>
              <a:off x="4834534" y="2248378"/>
              <a:ext cx="716804" cy="716773"/>
            </a:xfrm>
            <a:prstGeom prst="rect">
              <a:avLst/>
            </a:prstGeom>
            <a:noFill/>
            <a:ln>
              <a:noFill/>
            </a:ln>
          </p:spPr>
        </p:pic>
        <p:sp>
          <p:nvSpPr>
            <p:cNvPr id="3033" name="Google Shape;3033;p119"/>
            <p:cNvSpPr txBox="1"/>
            <p:nvPr/>
          </p:nvSpPr>
          <p:spPr>
            <a:xfrm>
              <a:off x="4677300" y="2778019"/>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7F7F7F"/>
                  </a:solidFill>
                  <a:latin typeface="DM Sans"/>
                  <a:ea typeface="DM Sans"/>
                  <a:cs typeface="DM Sans"/>
                  <a:sym typeface="DM Sans"/>
                </a:rPr>
                <a:t>Group 2</a:t>
              </a:r>
              <a:endParaRPr>
                <a:solidFill>
                  <a:srgbClr val="7F7F7F"/>
                </a:solidFill>
                <a:latin typeface="DM Sans"/>
                <a:ea typeface="DM Sans"/>
                <a:cs typeface="DM Sans"/>
                <a:sym typeface="DM Sans"/>
              </a:endParaRPr>
            </a:p>
          </p:txBody>
        </p:sp>
      </p:grpSp>
      <p:grpSp>
        <p:nvGrpSpPr>
          <p:cNvPr id="3043" name="Google Shape;3043;p119"/>
          <p:cNvGrpSpPr/>
          <p:nvPr/>
        </p:nvGrpSpPr>
        <p:grpSpPr>
          <a:xfrm>
            <a:off x="9369475" y="2509334"/>
            <a:ext cx="1031700" cy="883640"/>
            <a:chOff x="4677300" y="2248378"/>
            <a:chExt cx="1031700" cy="883640"/>
          </a:xfrm>
        </p:grpSpPr>
        <p:pic>
          <p:nvPicPr>
            <p:cNvPr id="3044" name="Google Shape;3044;p119"/>
            <p:cNvPicPr preferRelativeResize="0"/>
            <p:nvPr/>
          </p:nvPicPr>
          <p:blipFill rotWithShape="1">
            <a:blip r:embed="rId7">
              <a:alphaModFix/>
            </a:blip>
            <a:srcRect b="0" l="0" r="0" t="0"/>
            <a:stretch/>
          </p:blipFill>
          <p:spPr>
            <a:xfrm>
              <a:off x="4834534" y="2248378"/>
              <a:ext cx="716804" cy="716773"/>
            </a:xfrm>
            <a:prstGeom prst="rect">
              <a:avLst/>
            </a:prstGeom>
            <a:noFill/>
            <a:ln>
              <a:noFill/>
            </a:ln>
          </p:spPr>
        </p:pic>
        <p:sp>
          <p:nvSpPr>
            <p:cNvPr id="3045" name="Google Shape;3045;p119"/>
            <p:cNvSpPr txBox="1"/>
            <p:nvPr/>
          </p:nvSpPr>
          <p:spPr>
            <a:xfrm>
              <a:off x="4677300" y="2778019"/>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7F7F7F"/>
                  </a:solidFill>
                  <a:latin typeface="DM Sans"/>
                  <a:ea typeface="DM Sans"/>
                  <a:cs typeface="DM Sans"/>
                  <a:sym typeface="DM Sans"/>
                </a:rPr>
                <a:t>Group 3</a:t>
              </a:r>
              <a:endParaRPr>
                <a:solidFill>
                  <a:srgbClr val="7F7F7F"/>
                </a:solidFill>
                <a:latin typeface="DM Sans"/>
                <a:ea typeface="DM Sans"/>
                <a:cs typeface="DM Sans"/>
                <a:sym typeface="DM Sans"/>
              </a:endParaRPr>
            </a:p>
          </p:txBody>
        </p:sp>
      </p:grpSp>
      <p:cxnSp>
        <p:nvCxnSpPr>
          <p:cNvPr id="3046" name="Google Shape;3046;p119"/>
          <p:cNvCxnSpPr>
            <a:stCxn id="3009" idx="2"/>
            <a:endCxn id="3003" idx="0"/>
          </p:cNvCxnSpPr>
          <p:nvPr/>
        </p:nvCxnSpPr>
        <p:spPr>
          <a:xfrm flipH="1" rot="-5400000">
            <a:off x="5881503" y="3501724"/>
            <a:ext cx="321600" cy="104100"/>
          </a:xfrm>
          <a:prstGeom prst="curvedConnector3">
            <a:avLst>
              <a:gd fmla="val 49981" name="adj1"/>
            </a:avLst>
          </a:prstGeom>
          <a:noFill/>
          <a:ln cap="flat" cmpd="sng" w="9525">
            <a:solidFill>
              <a:srgbClr val="FF5F46"/>
            </a:solidFill>
            <a:prstDash val="solid"/>
            <a:round/>
            <a:headEnd len="med" w="med" type="none"/>
            <a:tailEnd len="med" w="med" type="oval"/>
          </a:ln>
        </p:spPr>
      </p:cxnSp>
      <p:cxnSp>
        <p:nvCxnSpPr>
          <p:cNvPr id="3047" name="Google Shape;3047;p119"/>
          <p:cNvCxnSpPr>
            <a:stCxn id="3031" idx="2"/>
            <a:endCxn id="3003" idx="0"/>
          </p:cNvCxnSpPr>
          <p:nvPr/>
        </p:nvCxnSpPr>
        <p:spPr>
          <a:xfrm flipH="1" rot="-5400000">
            <a:off x="4907767" y="2527924"/>
            <a:ext cx="321600" cy="2051700"/>
          </a:xfrm>
          <a:prstGeom prst="curvedConnector3">
            <a:avLst>
              <a:gd fmla="val 49981" name="adj1"/>
            </a:avLst>
          </a:prstGeom>
          <a:noFill/>
          <a:ln cap="flat" cmpd="sng" w="9525">
            <a:solidFill>
              <a:srgbClr val="FF5F46"/>
            </a:solidFill>
            <a:prstDash val="solid"/>
            <a:round/>
            <a:headEnd len="med" w="med" type="none"/>
            <a:tailEnd len="med" w="med" type="oval"/>
          </a:ln>
        </p:spPr>
      </p:cxn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1" name="Shape 3051"/>
        <p:cNvGrpSpPr/>
        <p:nvPr/>
      </p:nvGrpSpPr>
      <p:grpSpPr>
        <a:xfrm>
          <a:off x="0" y="0"/>
          <a:ext cx="0" cy="0"/>
          <a:chOff x="0" y="0"/>
          <a:chExt cx="0" cy="0"/>
        </a:xfrm>
      </p:grpSpPr>
      <p:sp>
        <p:nvSpPr>
          <p:cNvPr id="3052" name="Google Shape;3052;p12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053" name="Google Shape;3053;p120"/>
          <p:cNvSpPr/>
          <p:nvPr/>
        </p:nvSpPr>
        <p:spPr>
          <a:xfrm>
            <a:off x="687050" y="269825"/>
            <a:ext cx="10755900" cy="59787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600">
              <a:solidFill>
                <a:srgbClr val="1B5162"/>
              </a:solidFill>
              <a:latin typeface="DM Sans Medium"/>
              <a:ea typeface="DM Sans Medium"/>
              <a:cs typeface="DM Sans Medium"/>
              <a:sym typeface="DM Sans Medium"/>
            </a:endParaRPr>
          </a:p>
        </p:txBody>
      </p:sp>
      <p:sp>
        <p:nvSpPr>
          <p:cNvPr id="3054" name="Google Shape;3054;p120"/>
          <p:cNvSpPr/>
          <p:nvPr/>
        </p:nvSpPr>
        <p:spPr>
          <a:xfrm>
            <a:off x="890050" y="1349375"/>
            <a:ext cx="10352700" cy="46539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055" name="Google Shape;3055;p120"/>
          <p:cNvSpPr txBox="1"/>
          <p:nvPr/>
        </p:nvSpPr>
        <p:spPr>
          <a:xfrm>
            <a:off x="1219725" y="1639525"/>
            <a:ext cx="35238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DM Sans"/>
                <a:ea typeface="DM Sans"/>
                <a:cs typeface="DM Sans"/>
                <a:sym typeface="DM Sans"/>
              </a:rPr>
              <a:t>Your Databricks account</a:t>
            </a:r>
            <a:endParaRPr sz="2700">
              <a:solidFill>
                <a:schemeClr val="dk1"/>
              </a:solidFill>
              <a:latin typeface="DM Sans"/>
              <a:ea typeface="DM Sans"/>
              <a:cs typeface="DM Sans"/>
              <a:sym typeface="DM Sans"/>
            </a:endParaRPr>
          </a:p>
        </p:txBody>
      </p:sp>
      <p:sp>
        <p:nvSpPr>
          <p:cNvPr id="3056" name="Google Shape;3056;p120"/>
          <p:cNvSpPr/>
          <p:nvPr/>
        </p:nvSpPr>
        <p:spPr>
          <a:xfrm>
            <a:off x="4799375" y="3714450"/>
            <a:ext cx="2590200" cy="1989900"/>
          </a:xfrm>
          <a:prstGeom prst="roundRect">
            <a:avLst>
              <a:gd fmla="val 102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 B</a:t>
            </a:r>
            <a:endParaRPr sz="1500">
              <a:solidFill>
                <a:schemeClr val="dk1"/>
              </a:solidFill>
              <a:latin typeface="DM Sans"/>
              <a:ea typeface="DM Sans"/>
              <a:cs typeface="DM Sans"/>
              <a:sym typeface="DM Sans"/>
            </a:endParaRPr>
          </a:p>
        </p:txBody>
      </p:sp>
      <p:sp>
        <p:nvSpPr>
          <p:cNvPr id="3057" name="Google Shape;3057;p120"/>
          <p:cNvSpPr/>
          <p:nvPr/>
        </p:nvSpPr>
        <p:spPr>
          <a:xfrm>
            <a:off x="1480713" y="3714450"/>
            <a:ext cx="2590200" cy="1989900"/>
          </a:xfrm>
          <a:prstGeom prst="roundRect">
            <a:avLst>
              <a:gd fmla="val 102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 A</a:t>
            </a:r>
            <a:endParaRPr sz="1500">
              <a:solidFill>
                <a:schemeClr val="dk1"/>
              </a:solidFill>
              <a:latin typeface="DM Sans"/>
              <a:ea typeface="DM Sans"/>
              <a:cs typeface="DM Sans"/>
              <a:sym typeface="DM Sans"/>
            </a:endParaRPr>
          </a:p>
        </p:txBody>
      </p:sp>
      <p:pic>
        <p:nvPicPr>
          <p:cNvPr id="3058" name="Google Shape;3058;p120"/>
          <p:cNvPicPr preferRelativeResize="0"/>
          <p:nvPr/>
        </p:nvPicPr>
        <p:blipFill>
          <a:blip r:embed="rId3">
            <a:alphaModFix/>
          </a:blip>
          <a:stretch>
            <a:fillRect/>
          </a:stretch>
        </p:blipFill>
        <p:spPr>
          <a:xfrm>
            <a:off x="3125525" y="329451"/>
            <a:ext cx="466697" cy="469800"/>
          </a:xfrm>
          <a:prstGeom prst="rect">
            <a:avLst/>
          </a:prstGeom>
          <a:noFill/>
          <a:ln>
            <a:noFill/>
          </a:ln>
        </p:spPr>
      </p:pic>
      <p:sp>
        <p:nvSpPr>
          <p:cNvPr id="3059" name="Google Shape;3059;p120"/>
          <p:cNvSpPr/>
          <p:nvPr/>
        </p:nvSpPr>
        <p:spPr>
          <a:xfrm>
            <a:off x="8118038" y="3714450"/>
            <a:ext cx="2590200" cy="1989900"/>
          </a:xfrm>
          <a:prstGeom prst="roundRect">
            <a:avLst>
              <a:gd fmla="val 102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DM Sans Medium"/>
                <a:ea typeface="DM Sans Medium"/>
                <a:cs typeface="DM Sans Medium"/>
                <a:sym typeface="DM Sans Medium"/>
              </a:rPr>
              <a:t>Databricks</a:t>
            </a:r>
            <a:br>
              <a:rPr lang="en" sz="1600">
                <a:solidFill>
                  <a:schemeClr val="dk1"/>
                </a:solidFill>
                <a:latin typeface="DM Sans Medium"/>
                <a:ea typeface="DM Sans Medium"/>
                <a:cs typeface="DM Sans Medium"/>
                <a:sym typeface="DM Sans Medium"/>
              </a:rPr>
            </a:br>
            <a:r>
              <a:rPr lang="en" sz="1600">
                <a:solidFill>
                  <a:schemeClr val="dk1"/>
                </a:solidFill>
                <a:latin typeface="DM Sans Medium"/>
                <a:ea typeface="DM Sans Medium"/>
                <a:cs typeface="DM Sans Medium"/>
                <a:sym typeface="DM Sans Medium"/>
              </a:rPr>
              <a:t>Workspace C</a:t>
            </a:r>
            <a:endParaRPr sz="1500">
              <a:solidFill>
                <a:schemeClr val="dk1"/>
              </a:solidFill>
              <a:latin typeface="DM Sans"/>
              <a:ea typeface="DM Sans"/>
              <a:cs typeface="DM Sans"/>
              <a:sym typeface="DM Sans"/>
            </a:endParaRPr>
          </a:p>
        </p:txBody>
      </p:sp>
      <p:sp>
        <p:nvSpPr>
          <p:cNvPr id="3060" name="Google Shape;3060;p120"/>
          <p:cNvSpPr/>
          <p:nvPr/>
        </p:nvSpPr>
        <p:spPr>
          <a:xfrm>
            <a:off x="1480725" y="2223300"/>
            <a:ext cx="9184500" cy="1305600"/>
          </a:xfrm>
          <a:prstGeom prst="roundRect">
            <a:avLst>
              <a:gd fmla="val 16667" name="adj"/>
            </a:avLst>
          </a:prstGeom>
          <a:solidFill>
            <a:srgbClr val="FFFFFF">
              <a:alpha val="9405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3061" name="Google Shape;3061;p120"/>
          <p:cNvGrpSpPr/>
          <p:nvPr/>
        </p:nvGrpSpPr>
        <p:grpSpPr>
          <a:xfrm>
            <a:off x="5474403" y="2509334"/>
            <a:ext cx="1031700" cy="883640"/>
            <a:chOff x="4677300" y="2248378"/>
            <a:chExt cx="1031700" cy="883640"/>
          </a:xfrm>
        </p:grpSpPr>
        <p:pic>
          <p:nvPicPr>
            <p:cNvPr id="3062" name="Google Shape;3062;p120"/>
            <p:cNvPicPr preferRelativeResize="0"/>
            <p:nvPr/>
          </p:nvPicPr>
          <p:blipFill rotWithShape="1">
            <a:blip r:embed="rId4">
              <a:alphaModFix/>
            </a:blip>
            <a:srcRect b="0" l="0" r="0" t="0"/>
            <a:stretch/>
          </p:blipFill>
          <p:spPr>
            <a:xfrm>
              <a:off x="4834534" y="2248378"/>
              <a:ext cx="716804" cy="716773"/>
            </a:xfrm>
            <a:prstGeom prst="rect">
              <a:avLst/>
            </a:prstGeom>
            <a:noFill/>
            <a:ln>
              <a:noFill/>
            </a:ln>
          </p:spPr>
        </p:pic>
        <p:sp>
          <p:nvSpPr>
            <p:cNvPr id="3063" name="Google Shape;3063;p120"/>
            <p:cNvSpPr txBox="1"/>
            <p:nvPr/>
          </p:nvSpPr>
          <p:spPr>
            <a:xfrm>
              <a:off x="4677300" y="2778019"/>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7F7F7F"/>
                  </a:solidFill>
                  <a:latin typeface="DM Sans"/>
                  <a:ea typeface="DM Sans"/>
                  <a:cs typeface="DM Sans"/>
                  <a:sym typeface="DM Sans"/>
                </a:rPr>
                <a:t>Group 1</a:t>
              </a:r>
              <a:endParaRPr>
                <a:solidFill>
                  <a:srgbClr val="7F7F7F"/>
                </a:solidFill>
                <a:latin typeface="DM Sans"/>
                <a:ea typeface="DM Sans"/>
                <a:cs typeface="DM Sans"/>
                <a:sym typeface="DM Sans"/>
              </a:endParaRPr>
            </a:p>
          </p:txBody>
        </p:sp>
      </p:grpSp>
      <p:sp>
        <p:nvSpPr>
          <p:cNvPr id="3064" name="Google Shape;3064;p120"/>
          <p:cNvSpPr txBox="1"/>
          <p:nvPr/>
        </p:nvSpPr>
        <p:spPr>
          <a:xfrm>
            <a:off x="890050" y="361850"/>
            <a:ext cx="2683500" cy="32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DM Sans Medium"/>
                <a:ea typeface="DM Sans Medium"/>
                <a:cs typeface="DM Sans Medium"/>
                <a:sym typeface="DM Sans Medium"/>
              </a:rPr>
              <a:t>Azure active directory</a:t>
            </a:r>
            <a:endParaRPr sz="2400">
              <a:solidFill>
                <a:schemeClr val="dk1"/>
              </a:solidFill>
              <a:latin typeface="DM Sans"/>
              <a:ea typeface="DM Sans"/>
              <a:cs typeface="DM Sans"/>
              <a:sym typeface="DM Sans"/>
            </a:endParaRPr>
          </a:p>
        </p:txBody>
      </p:sp>
      <p:pic>
        <p:nvPicPr>
          <p:cNvPr id="3065" name="Google Shape;3065;p120"/>
          <p:cNvPicPr preferRelativeResize="0"/>
          <p:nvPr/>
        </p:nvPicPr>
        <p:blipFill>
          <a:blip r:embed="rId5">
            <a:alphaModFix/>
          </a:blip>
          <a:stretch>
            <a:fillRect/>
          </a:stretch>
        </p:blipFill>
        <p:spPr>
          <a:xfrm>
            <a:off x="5474377" y="995612"/>
            <a:ext cx="682625" cy="682625"/>
          </a:xfrm>
          <a:prstGeom prst="rect">
            <a:avLst/>
          </a:prstGeom>
          <a:noFill/>
          <a:ln>
            <a:noFill/>
          </a:ln>
        </p:spPr>
      </p:pic>
      <p:sp>
        <p:nvSpPr>
          <p:cNvPr id="3066" name="Google Shape;3066;p120"/>
          <p:cNvSpPr/>
          <p:nvPr/>
        </p:nvSpPr>
        <p:spPr>
          <a:xfrm>
            <a:off x="6127425" y="1039774"/>
            <a:ext cx="2059800" cy="594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300">
                <a:solidFill>
                  <a:srgbClr val="1B3139"/>
                </a:solidFill>
                <a:latin typeface="DM Sans"/>
                <a:ea typeface="DM Sans"/>
                <a:cs typeface="DM Sans"/>
                <a:sym typeface="DM Sans"/>
              </a:rPr>
              <a:t>Databricks s</a:t>
            </a:r>
            <a:r>
              <a:rPr lang="en" sz="1300">
                <a:solidFill>
                  <a:srgbClr val="1B3139"/>
                </a:solidFill>
                <a:latin typeface="DM Sans"/>
                <a:ea typeface="DM Sans"/>
                <a:cs typeface="DM Sans"/>
                <a:sym typeface="DM Sans"/>
              </a:rPr>
              <a:t>eamless onboarding </a:t>
            </a:r>
            <a:r>
              <a:rPr lang="en" sz="1300">
                <a:solidFill>
                  <a:schemeClr val="dk1"/>
                </a:solidFill>
                <a:latin typeface="DM Sans"/>
                <a:ea typeface="DM Sans"/>
                <a:cs typeface="DM Sans"/>
                <a:sym typeface="DM Sans"/>
              </a:rPr>
              <a:t>or Account SCIM APIs or </a:t>
            </a:r>
            <a:endParaRPr sz="1300">
              <a:solidFill>
                <a:srgbClr val="1B3139"/>
              </a:solidFill>
              <a:latin typeface="DM Sans"/>
              <a:ea typeface="DM Sans"/>
              <a:cs typeface="DM Sans"/>
              <a:sym typeface="DM Sans"/>
            </a:endParaRPr>
          </a:p>
        </p:txBody>
      </p:sp>
      <p:cxnSp>
        <p:nvCxnSpPr>
          <p:cNvPr id="3067" name="Google Shape;3067;p120"/>
          <p:cNvCxnSpPr>
            <a:stCxn id="3058" idx="3"/>
            <a:endCxn id="3065" idx="0"/>
          </p:cNvCxnSpPr>
          <p:nvPr/>
        </p:nvCxnSpPr>
        <p:spPr>
          <a:xfrm>
            <a:off x="3592222" y="564351"/>
            <a:ext cx="2223600" cy="431400"/>
          </a:xfrm>
          <a:prstGeom prst="curvedConnector2">
            <a:avLst/>
          </a:prstGeom>
          <a:noFill/>
          <a:ln cap="flat" cmpd="sng" w="9525">
            <a:solidFill>
              <a:srgbClr val="FF5F46"/>
            </a:solidFill>
            <a:prstDash val="solid"/>
            <a:round/>
            <a:headEnd len="med" w="med" type="none"/>
            <a:tailEnd len="med" w="med" type="oval"/>
          </a:ln>
        </p:spPr>
      </p:cxnSp>
      <p:grpSp>
        <p:nvGrpSpPr>
          <p:cNvPr id="3068" name="Google Shape;3068;p120"/>
          <p:cNvGrpSpPr/>
          <p:nvPr/>
        </p:nvGrpSpPr>
        <p:grpSpPr>
          <a:xfrm>
            <a:off x="1724750" y="4625075"/>
            <a:ext cx="2102150" cy="874550"/>
            <a:chOff x="1724750" y="4625075"/>
            <a:chExt cx="2102150" cy="874550"/>
          </a:xfrm>
        </p:grpSpPr>
        <p:pic>
          <p:nvPicPr>
            <p:cNvPr id="3069" name="Google Shape;3069;p120"/>
            <p:cNvPicPr preferRelativeResize="0"/>
            <p:nvPr/>
          </p:nvPicPr>
          <p:blipFill>
            <a:blip r:embed="rId6">
              <a:alphaModFix/>
            </a:blip>
            <a:stretch>
              <a:fillRect/>
            </a:stretch>
          </p:blipFill>
          <p:spPr>
            <a:xfrm>
              <a:off x="1928250" y="4625075"/>
              <a:ext cx="624700" cy="624700"/>
            </a:xfrm>
            <a:prstGeom prst="rect">
              <a:avLst/>
            </a:prstGeom>
            <a:noFill/>
            <a:ln>
              <a:noFill/>
            </a:ln>
          </p:spPr>
        </p:pic>
        <p:pic>
          <p:nvPicPr>
            <p:cNvPr id="3070" name="Google Shape;3070;p120"/>
            <p:cNvPicPr preferRelativeResize="0"/>
            <p:nvPr/>
          </p:nvPicPr>
          <p:blipFill>
            <a:blip r:embed="rId6">
              <a:alphaModFix/>
            </a:blip>
            <a:stretch>
              <a:fillRect/>
            </a:stretch>
          </p:blipFill>
          <p:spPr>
            <a:xfrm>
              <a:off x="2998700" y="4625075"/>
              <a:ext cx="624700" cy="624700"/>
            </a:xfrm>
            <a:prstGeom prst="rect">
              <a:avLst/>
            </a:prstGeom>
            <a:noFill/>
            <a:ln>
              <a:noFill/>
            </a:ln>
          </p:spPr>
        </p:pic>
        <p:sp>
          <p:nvSpPr>
            <p:cNvPr id="3071" name="Google Shape;3071;p120"/>
            <p:cNvSpPr txBox="1"/>
            <p:nvPr/>
          </p:nvSpPr>
          <p:spPr>
            <a:xfrm>
              <a:off x="1724750"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sp>
          <p:nvSpPr>
            <p:cNvPr id="3072" name="Google Shape;3072;p120"/>
            <p:cNvSpPr txBox="1"/>
            <p:nvPr/>
          </p:nvSpPr>
          <p:spPr>
            <a:xfrm>
              <a:off x="2795200"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grpSp>
      <p:grpSp>
        <p:nvGrpSpPr>
          <p:cNvPr id="3073" name="Google Shape;3073;p120"/>
          <p:cNvGrpSpPr/>
          <p:nvPr/>
        </p:nvGrpSpPr>
        <p:grpSpPr>
          <a:xfrm>
            <a:off x="5043413" y="4625075"/>
            <a:ext cx="2102150" cy="874550"/>
            <a:chOff x="5043413" y="4625075"/>
            <a:chExt cx="2102150" cy="874550"/>
          </a:xfrm>
        </p:grpSpPr>
        <p:pic>
          <p:nvPicPr>
            <p:cNvPr id="3074" name="Google Shape;3074;p120"/>
            <p:cNvPicPr preferRelativeResize="0"/>
            <p:nvPr/>
          </p:nvPicPr>
          <p:blipFill>
            <a:blip r:embed="rId6">
              <a:alphaModFix/>
            </a:blip>
            <a:stretch>
              <a:fillRect/>
            </a:stretch>
          </p:blipFill>
          <p:spPr>
            <a:xfrm>
              <a:off x="5246913" y="4625075"/>
              <a:ext cx="624700" cy="624700"/>
            </a:xfrm>
            <a:prstGeom prst="rect">
              <a:avLst/>
            </a:prstGeom>
            <a:noFill/>
            <a:ln>
              <a:noFill/>
            </a:ln>
          </p:spPr>
        </p:pic>
        <p:pic>
          <p:nvPicPr>
            <p:cNvPr id="3075" name="Google Shape;3075;p120"/>
            <p:cNvPicPr preferRelativeResize="0"/>
            <p:nvPr/>
          </p:nvPicPr>
          <p:blipFill>
            <a:blip r:embed="rId6">
              <a:alphaModFix/>
            </a:blip>
            <a:stretch>
              <a:fillRect/>
            </a:stretch>
          </p:blipFill>
          <p:spPr>
            <a:xfrm>
              <a:off x="6317363" y="4625075"/>
              <a:ext cx="624700" cy="624700"/>
            </a:xfrm>
            <a:prstGeom prst="rect">
              <a:avLst/>
            </a:prstGeom>
            <a:noFill/>
            <a:ln>
              <a:noFill/>
            </a:ln>
          </p:spPr>
        </p:pic>
        <p:sp>
          <p:nvSpPr>
            <p:cNvPr id="3076" name="Google Shape;3076;p120"/>
            <p:cNvSpPr txBox="1"/>
            <p:nvPr/>
          </p:nvSpPr>
          <p:spPr>
            <a:xfrm>
              <a:off x="5043413"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sp>
          <p:nvSpPr>
            <p:cNvPr id="3077" name="Google Shape;3077;p120"/>
            <p:cNvSpPr txBox="1"/>
            <p:nvPr/>
          </p:nvSpPr>
          <p:spPr>
            <a:xfrm>
              <a:off x="6113863"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grpSp>
      <p:grpSp>
        <p:nvGrpSpPr>
          <p:cNvPr id="3078" name="Google Shape;3078;p120"/>
          <p:cNvGrpSpPr/>
          <p:nvPr/>
        </p:nvGrpSpPr>
        <p:grpSpPr>
          <a:xfrm>
            <a:off x="8362038" y="4625075"/>
            <a:ext cx="2102150" cy="874550"/>
            <a:chOff x="5043413" y="4625075"/>
            <a:chExt cx="2102150" cy="874550"/>
          </a:xfrm>
        </p:grpSpPr>
        <p:pic>
          <p:nvPicPr>
            <p:cNvPr id="3079" name="Google Shape;3079;p120"/>
            <p:cNvPicPr preferRelativeResize="0"/>
            <p:nvPr/>
          </p:nvPicPr>
          <p:blipFill>
            <a:blip r:embed="rId6">
              <a:alphaModFix/>
            </a:blip>
            <a:stretch>
              <a:fillRect/>
            </a:stretch>
          </p:blipFill>
          <p:spPr>
            <a:xfrm>
              <a:off x="5246913" y="4625075"/>
              <a:ext cx="624700" cy="624700"/>
            </a:xfrm>
            <a:prstGeom prst="rect">
              <a:avLst/>
            </a:prstGeom>
            <a:noFill/>
            <a:ln>
              <a:noFill/>
            </a:ln>
          </p:spPr>
        </p:pic>
        <p:pic>
          <p:nvPicPr>
            <p:cNvPr id="3080" name="Google Shape;3080;p120"/>
            <p:cNvPicPr preferRelativeResize="0"/>
            <p:nvPr/>
          </p:nvPicPr>
          <p:blipFill>
            <a:blip r:embed="rId6">
              <a:alphaModFix/>
            </a:blip>
            <a:stretch>
              <a:fillRect/>
            </a:stretch>
          </p:blipFill>
          <p:spPr>
            <a:xfrm>
              <a:off x="6317363" y="4625075"/>
              <a:ext cx="624700" cy="624700"/>
            </a:xfrm>
            <a:prstGeom prst="rect">
              <a:avLst/>
            </a:prstGeom>
            <a:noFill/>
            <a:ln>
              <a:noFill/>
            </a:ln>
          </p:spPr>
        </p:pic>
        <p:sp>
          <p:nvSpPr>
            <p:cNvPr id="3081" name="Google Shape;3081;p120"/>
            <p:cNvSpPr txBox="1"/>
            <p:nvPr/>
          </p:nvSpPr>
          <p:spPr>
            <a:xfrm>
              <a:off x="5043413"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sp>
          <p:nvSpPr>
            <p:cNvPr id="3082" name="Google Shape;3082;p120"/>
            <p:cNvSpPr txBox="1"/>
            <p:nvPr/>
          </p:nvSpPr>
          <p:spPr>
            <a:xfrm>
              <a:off x="6113863" y="5171725"/>
              <a:ext cx="1031700" cy="32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Dashboard</a:t>
              </a:r>
              <a:endParaRPr sz="1200">
                <a:solidFill>
                  <a:schemeClr val="dk1"/>
                </a:solidFill>
                <a:latin typeface="DM Sans"/>
                <a:ea typeface="DM Sans"/>
                <a:cs typeface="DM Sans"/>
                <a:sym typeface="DM Sans"/>
              </a:endParaRPr>
            </a:p>
          </p:txBody>
        </p:sp>
      </p:grpSp>
      <p:sp>
        <p:nvSpPr>
          <p:cNvPr id="3083" name="Google Shape;3083;p120"/>
          <p:cNvSpPr txBox="1"/>
          <p:nvPr/>
        </p:nvSpPr>
        <p:spPr>
          <a:xfrm>
            <a:off x="4939188" y="2223300"/>
            <a:ext cx="21021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DM Sans"/>
                <a:ea typeface="DM Sans"/>
                <a:cs typeface="DM Sans"/>
                <a:sym typeface="DM Sans"/>
              </a:rPr>
              <a:t>All account users</a:t>
            </a:r>
            <a:endParaRPr sz="2700">
              <a:solidFill>
                <a:schemeClr val="dk1"/>
              </a:solidFill>
              <a:latin typeface="DM Sans"/>
              <a:ea typeface="DM Sans"/>
              <a:cs typeface="DM Sans"/>
              <a:sym typeface="DM Sans"/>
            </a:endParaRPr>
          </a:p>
        </p:txBody>
      </p:sp>
      <p:cxnSp>
        <p:nvCxnSpPr>
          <p:cNvPr id="3084" name="Google Shape;3084;p120"/>
          <p:cNvCxnSpPr>
            <a:stCxn id="3085" idx="2"/>
            <a:endCxn id="3057" idx="0"/>
          </p:cNvCxnSpPr>
          <p:nvPr/>
        </p:nvCxnSpPr>
        <p:spPr>
          <a:xfrm rot="5400000">
            <a:off x="3248467" y="2920324"/>
            <a:ext cx="321600" cy="1266900"/>
          </a:xfrm>
          <a:prstGeom prst="curvedConnector3">
            <a:avLst>
              <a:gd fmla="val 49981" name="adj1"/>
            </a:avLst>
          </a:prstGeom>
          <a:noFill/>
          <a:ln cap="flat" cmpd="sng" w="9525">
            <a:solidFill>
              <a:srgbClr val="FF5F46"/>
            </a:solidFill>
            <a:prstDash val="solid"/>
            <a:round/>
            <a:headEnd len="med" w="med" type="none"/>
            <a:tailEnd len="med" w="med" type="oval"/>
          </a:ln>
        </p:spPr>
      </p:cxnSp>
      <p:cxnSp>
        <p:nvCxnSpPr>
          <p:cNvPr id="3086" name="Google Shape;3086;p120"/>
          <p:cNvCxnSpPr>
            <a:stCxn id="3087" idx="2"/>
            <a:endCxn id="3059" idx="0"/>
          </p:cNvCxnSpPr>
          <p:nvPr/>
        </p:nvCxnSpPr>
        <p:spPr>
          <a:xfrm flipH="1" rot="-5400000">
            <a:off x="8514676" y="2816074"/>
            <a:ext cx="321600" cy="1475400"/>
          </a:xfrm>
          <a:prstGeom prst="curvedConnector3">
            <a:avLst>
              <a:gd fmla="val 49981" name="adj1"/>
            </a:avLst>
          </a:prstGeom>
          <a:noFill/>
          <a:ln cap="flat" cmpd="sng" w="9525">
            <a:solidFill>
              <a:srgbClr val="FF5F46"/>
            </a:solidFill>
            <a:prstDash val="solid"/>
            <a:round/>
            <a:headEnd len="med" w="med" type="none"/>
            <a:tailEnd len="med" w="med" type="oval"/>
          </a:ln>
        </p:spPr>
      </p:cxnSp>
      <p:cxnSp>
        <p:nvCxnSpPr>
          <p:cNvPr id="3088" name="Google Shape;3088;p120"/>
          <p:cNvCxnSpPr>
            <a:stCxn id="3063" idx="2"/>
          </p:cNvCxnSpPr>
          <p:nvPr/>
        </p:nvCxnSpPr>
        <p:spPr>
          <a:xfrm flipH="1" rot="-5400000">
            <a:off x="7551153" y="1832074"/>
            <a:ext cx="321600" cy="3443400"/>
          </a:xfrm>
          <a:prstGeom prst="curvedConnector2">
            <a:avLst/>
          </a:prstGeom>
          <a:noFill/>
          <a:ln cap="flat" cmpd="sng" w="9525">
            <a:solidFill>
              <a:srgbClr val="FF5F46"/>
            </a:solidFill>
            <a:prstDash val="solid"/>
            <a:round/>
            <a:headEnd len="med" w="med" type="none"/>
            <a:tailEnd len="med" w="med" type="oval"/>
          </a:ln>
        </p:spPr>
      </p:cxnSp>
      <p:cxnSp>
        <p:nvCxnSpPr>
          <p:cNvPr id="3089" name="Google Shape;3089;p120"/>
          <p:cNvCxnSpPr>
            <a:stCxn id="3065" idx="2"/>
            <a:endCxn id="3083" idx="0"/>
          </p:cNvCxnSpPr>
          <p:nvPr/>
        </p:nvCxnSpPr>
        <p:spPr>
          <a:xfrm flipH="1" rot="-5400000">
            <a:off x="5630439" y="1863487"/>
            <a:ext cx="545100" cy="174600"/>
          </a:xfrm>
          <a:prstGeom prst="curvedConnector3">
            <a:avLst>
              <a:gd fmla="val 49997" name="adj1"/>
            </a:avLst>
          </a:prstGeom>
          <a:noFill/>
          <a:ln cap="flat" cmpd="sng" w="9525">
            <a:solidFill>
              <a:srgbClr val="FF5F46"/>
            </a:solidFill>
            <a:prstDash val="solid"/>
            <a:round/>
            <a:headEnd len="med" w="med" type="none"/>
            <a:tailEnd len="med" w="med" type="oval"/>
          </a:ln>
        </p:spPr>
      </p:cxnSp>
      <p:grpSp>
        <p:nvGrpSpPr>
          <p:cNvPr id="3090" name="Google Shape;3090;p120"/>
          <p:cNvGrpSpPr/>
          <p:nvPr/>
        </p:nvGrpSpPr>
        <p:grpSpPr>
          <a:xfrm>
            <a:off x="1579332" y="2722481"/>
            <a:ext cx="1031700" cy="670493"/>
            <a:chOff x="1579332" y="2604275"/>
            <a:chExt cx="1031700" cy="670493"/>
          </a:xfrm>
        </p:grpSpPr>
        <p:pic>
          <p:nvPicPr>
            <p:cNvPr id="3091" name="Google Shape;3091;p120"/>
            <p:cNvPicPr preferRelativeResize="0"/>
            <p:nvPr/>
          </p:nvPicPr>
          <p:blipFill>
            <a:blip r:embed="rId7">
              <a:alphaModFix/>
            </a:blip>
            <a:stretch>
              <a:fillRect/>
            </a:stretch>
          </p:blipFill>
          <p:spPr>
            <a:xfrm>
              <a:off x="1933025" y="2604275"/>
              <a:ext cx="324299" cy="392699"/>
            </a:xfrm>
            <a:prstGeom prst="rect">
              <a:avLst/>
            </a:prstGeom>
            <a:noFill/>
            <a:ln>
              <a:noFill/>
            </a:ln>
          </p:spPr>
        </p:pic>
        <p:sp>
          <p:nvSpPr>
            <p:cNvPr id="3092" name="Google Shape;3092;p120"/>
            <p:cNvSpPr txBox="1"/>
            <p:nvPr/>
          </p:nvSpPr>
          <p:spPr>
            <a:xfrm>
              <a:off x="1579332" y="2920768"/>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595959"/>
                  </a:solidFill>
                  <a:latin typeface="DM Sans"/>
                  <a:ea typeface="DM Sans"/>
                  <a:cs typeface="DM Sans"/>
                  <a:sym typeface="DM Sans"/>
                </a:rPr>
                <a:t>User 1</a:t>
              </a:r>
              <a:endParaRPr>
                <a:solidFill>
                  <a:srgbClr val="595959"/>
                </a:solidFill>
                <a:latin typeface="DM Sans"/>
                <a:ea typeface="DM Sans"/>
                <a:cs typeface="DM Sans"/>
                <a:sym typeface="DM Sans"/>
              </a:endParaRPr>
            </a:p>
          </p:txBody>
        </p:sp>
      </p:grpSp>
      <p:grpSp>
        <p:nvGrpSpPr>
          <p:cNvPr id="3093" name="Google Shape;3093;p120"/>
          <p:cNvGrpSpPr/>
          <p:nvPr/>
        </p:nvGrpSpPr>
        <p:grpSpPr>
          <a:xfrm>
            <a:off x="3526867" y="2722481"/>
            <a:ext cx="1031700" cy="670493"/>
            <a:chOff x="1579332" y="2604275"/>
            <a:chExt cx="1031700" cy="670493"/>
          </a:xfrm>
        </p:grpSpPr>
        <p:pic>
          <p:nvPicPr>
            <p:cNvPr id="3094" name="Google Shape;3094;p120"/>
            <p:cNvPicPr preferRelativeResize="0"/>
            <p:nvPr/>
          </p:nvPicPr>
          <p:blipFill>
            <a:blip r:embed="rId7">
              <a:alphaModFix/>
            </a:blip>
            <a:stretch>
              <a:fillRect/>
            </a:stretch>
          </p:blipFill>
          <p:spPr>
            <a:xfrm>
              <a:off x="1933025" y="2604275"/>
              <a:ext cx="324299" cy="392699"/>
            </a:xfrm>
            <a:prstGeom prst="rect">
              <a:avLst/>
            </a:prstGeom>
            <a:noFill/>
            <a:ln>
              <a:noFill/>
            </a:ln>
          </p:spPr>
        </p:pic>
        <p:sp>
          <p:nvSpPr>
            <p:cNvPr id="3085" name="Google Shape;3085;p120"/>
            <p:cNvSpPr txBox="1"/>
            <p:nvPr/>
          </p:nvSpPr>
          <p:spPr>
            <a:xfrm>
              <a:off x="1579332" y="2920768"/>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595959"/>
                  </a:solidFill>
                  <a:latin typeface="DM Sans"/>
                  <a:ea typeface="DM Sans"/>
                  <a:cs typeface="DM Sans"/>
                  <a:sym typeface="DM Sans"/>
                </a:rPr>
                <a:t>User 2</a:t>
              </a:r>
              <a:endParaRPr>
                <a:solidFill>
                  <a:srgbClr val="595959"/>
                </a:solidFill>
                <a:latin typeface="DM Sans"/>
                <a:ea typeface="DM Sans"/>
                <a:cs typeface="DM Sans"/>
                <a:sym typeface="DM Sans"/>
              </a:endParaRPr>
            </a:p>
          </p:txBody>
        </p:sp>
      </p:grpSp>
      <p:grpSp>
        <p:nvGrpSpPr>
          <p:cNvPr id="3095" name="Google Shape;3095;p120"/>
          <p:cNvGrpSpPr/>
          <p:nvPr/>
        </p:nvGrpSpPr>
        <p:grpSpPr>
          <a:xfrm>
            <a:off x="7421926" y="2509334"/>
            <a:ext cx="1031700" cy="883640"/>
            <a:chOff x="4677300" y="2248378"/>
            <a:chExt cx="1031700" cy="883640"/>
          </a:xfrm>
        </p:grpSpPr>
        <p:pic>
          <p:nvPicPr>
            <p:cNvPr id="3096" name="Google Shape;3096;p120"/>
            <p:cNvPicPr preferRelativeResize="0"/>
            <p:nvPr/>
          </p:nvPicPr>
          <p:blipFill rotWithShape="1">
            <a:blip r:embed="rId4">
              <a:alphaModFix/>
            </a:blip>
            <a:srcRect b="0" l="0" r="0" t="0"/>
            <a:stretch/>
          </p:blipFill>
          <p:spPr>
            <a:xfrm>
              <a:off x="4834534" y="2248378"/>
              <a:ext cx="716804" cy="716773"/>
            </a:xfrm>
            <a:prstGeom prst="rect">
              <a:avLst/>
            </a:prstGeom>
            <a:noFill/>
            <a:ln>
              <a:noFill/>
            </a:ln>
          </p:spPr>
        </p:pic>
        <p:sp>
          <p:nvSpPr>
            <p:cNvPr id="3087" name="Google Shape;3087;p120"/>
            <p:cNvSpPr txBox="1"/>
            <p:nvPr/>
          </p:nvSpPr>
          <p:spPr>
            <a:xfrm>
              <a:off x="4677300" y="2778019"/>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7F7F7F"/>
                  </a:solidFill>
                  <a:latin typeface="DM Sans"/>
                  <a:ea typeface="DM Sans"/>
                  <a:cs typeface="DM Sans"/>
                  <a:sym typeface="DM Sans"/>
                </a:rPr>
                <a:t>Group 2</a:t>
              </a:r>
              <a:endParaRPr>
                <a:solidFill>
                  <a:srgbClr val="7F7F7F"/>
                </a:solidFill>
                <a:latin typeface="DM Sans"/>
                <a:ea typeface="DM Sans"/>
                <a:cs typeface="DM Sans"/>
                <a:sym typeface="DM Sans"/>
              </a:endParaRPr>
            </a:p>
          </p:txBody>
        </p:sp>
      </p:grpSp>
      <p:grpSp>
        <p:nvGrpSpPr>
          <p:cNvPr id="3097" name="Google Shape;3097;p120"/>
          <p:cNvGrpSpPr/>
          <p:nvPr/>
        </p:nvGrpSpPr>
        <p:grpSpPr>
          <a:xfrm>
            <a:off x="9369475" y="2509334"/>
            <a:ext cx="1031700" cy="883640"/>
            <a:chOff x="4677300" y="2248378"/>
            <a:chExt cx="1031700" cy="883640"/>
          </a:xfrm>
        </p:grpSpPr>
        <p:pic>
          <p:nvPicPr>
            <p:cNvPr id="3098" name="Google Shape;3098;p120"/>
            <p:cNvPicPr preferRelativeResize="0"/>
            <p:nvPr/>
          </p:nvPicPr>
          <p:blipFill rotWithShape="1">
            <a:blip r:embed="rId4">
              <a:alphaModFix/>
            </a:blip>
            <a:srcRect b="0" l="0" r="0" t="0"/>
            <a:stretch/>
          </p:blipFill>
          <p:spPr>
            <a:xfrm>
              <a:off x="4834534" y="2248378"/>
              <a:ext cx="716804" cy="716773"/>
            </a:xfrm>
            <a:prstGeom prst="rect">
              <a:avLst/>
            </a:prstGeom>
            <a:noFill/>
            <a:ln>
              <a:noFill/>
            </a:ln>
          </p:spPr>
        </p:pic>
        <p:sp>
          <p:nvSpPr>
            <p:cNvPr id="3099" name="Google Shape;3099;p120"/>
            <p:cNvSpPr txBox="1"/>
            <p:nvPr/>
          </p:nvSpPr>
          <p:spPr>
            <a:xfrm>
              <a:off x="4677300" y="2778019"/>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7F7F7F"/>
                  </a:solidFill>
                  <a:latin typeface="DM Sans"/>
                  <a:ea typeface="DM Sans"/>
                  <a:cs typeface="DM Sans"/>
                  <a:sym typeface="DM Sans"/>
                </a:rPr>
                <a:t>Group 3</a:t>
              </a:r>
              <a:endParaRPr>
                <a:solidFill>
                  <a:srgbClr val="7F7F7F"/>
                </a:solidFill>
                <a:latin typeface="DM Sans"/>
                <a:ea typeface="DM Sans"/>
                <a:cs typeface="DM Sans"/>
                <a:sym typeface="DM Sans"/>
              </a:endParaRPr>
            </a:p>
          </p:txBody>
        </p:sp>
      </p:grpSp>
      <p:cxnSp>
        <p:nvCxnSpPr>
          <p:cNvPr id="3100" name="Google Shape;3100;p120"/>
          <p:cNvCxnSpPr>
            <a:stCxn id="3063" idx="2"/>
            <a:endCxn id="3056" idx="0"/>
          </p:cNvCxnSpPr>
          <p:nvPr/>
        </p:nvCxnSpPr>
        <p:spPr>
          <a:xfrm flipH="1" rot="-5400000">
            <a:off x="5881503" y="3501724"/>
            <a:ext cx="321600" cy="104100"/>
          </a:xfrm>
          <a:prstGeom prst="curvedConnector3">
            <a:avLst>
              <a:gd fmla="val 49981" name="adj1"/>
            </a:avLst>
          </a:prstGeom>
          <a:noFill/>
          <a:ln cap="flat" cmpd="sng" w="9525">
            <a:solidFill>
              <a:srgbClr val="FF5F46"/>
            </a:solidFill>
            <a:prstDash val="solid"/>
            <a:round/>
            <a:headEnd len="med" w="med" type="none"/>
            <a:tailEnd len="med" w="med" type="oval"/>
          </a:ln>
        </p:spPr>
      </p:cxnSp>
      <p:cxnSp>
        <p:nvCxnSpPr>
          <p:cNvPr id="3101" name="Google Shape;3101;p120"/>
          <p:cNvCxnSpPr>
            <a:stCxn id="3085" idx="2"/>
            <a:endCxn id="3056" idx="0"/>
          </p:cNvCxnSpPr>
          <p:nvPr/>
        </p:nvCxnSpPr>
        <p:spPr>
          <a:xfrm flipH="1" rot="-5400000">
            <a:off x="4907767" y="2527924"/>
            <a:ext cx="321600" cy="2051700"/>
          </a:xfrm>
          <a:prstGeom prst="curvedConnector3">
            <a:avLst>
              <a:gd fmla="val 49981" name="adj1"/>
            </a:avLst>
          </a:prstGeom>
          <a:noFill/>
          <a:ln cap="flat" cmpd="sng" w="9525">
            <a:solidFill>
              <a:srgbClr val="FF5F46"/>
            </a:solidFill>
            <a:prstDash val="solid"/>
            <a:round/>
            <a:headEnd len="med" w="med" type="none"/>
            <a:tailEnd len="med" w="med" type="oval"/>
          </a:ln>
        </p:spPr>
      </p:cxn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5" name="Shape 3105"/>
        <p:cNvGrpSpPr/>
        <p:nvPr/>
      </p:nvGrpSpPr>
      <p:grpSpPr>
        <a:xfrm>
          <a:off x="0" y="0"/>
          <a:ext cx="0" cy="0"/>
          <a:chOff x="0" y="0"/>
          <a:chExt cx="0" cy="0"/>
        </a:xfrm>
      </p:grpSpPr>
      <p:sp>
        <p:nvSpPr>
          <p:cNvPr id="3106" name="Google Shape;3106;p121"/>
          <p:cNvSpPr txBox="1"/>
          <p:nvPr/>
        </p:nvSpPr>
        <p:spPr>
          <a:xfrm>
            <a:off x="0" y="0"/>
            <a:ext cx="3000000" cy="1157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SSO flow chart </a:t>
            </a:r>
            <a:r>
              <a:rPr lang="en" sz="1200">
                <a:solidFill>
                  <a:schemeClr val="accent1"/>
                </a:solidFill>
                <a:latin typeface="DM Sans Medium"/>
                <a:ea typeface="DM Sans Medium"/>
                <a:cs typeface="DM Sans Medium"/>
                <a:sym typeface="DM Sans Medium"/>
              </a:rPr>
              <a:t>/_</a:t>
            </a:r>
            <a:r>
              <a:rPr lang="en" sz="1200">
                <a:solidFill>
                  <a:schemeClr val="accent1"/>
                </a:solidFill>
                <a:latin typeface="DM Sans Medium"/>
                <a:ea typeface="DM Sans Medium"/>
                <a:cs typeface="DM Sans Medium"/>
                <a:sym typeface="DM Sans Medium"/>
              </a:rPr>
              <a:t>static/images/sso/sso-flow.png</a:t>
            </a:r>
            <a:endParaRPr sz="12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200" u="sng">
                <a:solidFill>
                  <a:schemeClr val="hlink"/>
                </a:solidFill>
                <a:latin typeface="DM Sans Medium"/>
                <a:ea typeface="DM Sans Medium"/>
                <a:cs typeface="DM Sans Medium"/>
                <a:sym typeface="DM Sans Medium"/>
                <a:hlinkClick r:id="rId3"/>
              </a:rPr>
              <a:t>https://docs.google.com/drawings/d/1-EroXSICIHYmAg-NkXE9yyaW3Pk9XvZL1hO2ZcoixGM/edit</a:t>
            </a:r>
            <a:r>
              <a:rPr lang="en" sz="1200">
                <a:solidFill>
                  <a:schemeClr val="accent1"/>
                </a:solidFill>
                <a:latin typeface="DM Sans Medium"/>
                <a:ea typeface="DM Sans Medium"/>
                <a:cs typeface="DM Sans Medium"/>
                <a:sym typeface="DM Sans Medium"/>
              </a:rPr>
              <a:t> </a:t>
            </a:r>
            <a:endParaRPr sz="1200">
              <a:solidFill>
                <a:schemeClr val="accent1"/>
              </a:solidFill>
              <a:latin typeface="DM Sans Medium"/>
              <a:ea typeface="DM Sans Medium"/>
              <a:cs typeface="DM Sans Medium"/>
              <a:sym typeface="DM Sans Medium"/>
            </a:endParaRPr>
          </a:p>
        </p:txBody>
      </p:sp>
      <p:sp>
        <p:nvSpPr>
          <p:cNvPr id="3107" name="Google Shape;3107;p121"/>
          <p:cNvSpPr/>
          <p:nvPr/>
        </p:nvSpPr>
        <p:spPr>
          <a:xfrm>
            <a:off x="1198600" y="2673125"/>
            <a:ext cx="2207100" cy="1832400"/>
          </a:xfrm>
          <a:prstGeom prst="diamond">
            <a:avLst/>
          </a:prstGeom>
          <a:solidFill>
            <a:srgbClr val="F9F7F4"/>
          </a:solidFill>
          <a:ln cap="flat" cmpd="sng" w="9525">
            <a:solidFill>
              <a:srgbClr val="FFAB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Are users managed by one identity provider?</a:t>
            </a:r>
            <a:endParaRPr/>
          </a:p>
        </p:txBody>
      </p:sp>
      <p:sp>
        <p:nvSpPr>
          <p:cNvPr id="3108" name="Google Shape;3108;p121"/>
          <p:cNvSpPr/>
          <p:nvPr/>
        </p:nvSpPr>
        <p:spPr>
          <a:xfrm>
            <a:off x="6907275" y="4698575"/>
            <a:ext cx="2496900" cy="1726500"/>
          </a:xfrm>
          <a:prstGeom prst="diamond">
            <a:avLst/>
          </a:prstGeom>
          <a:solidFill>
            <a:srgbClr val="F9F7F4"/>
          </a:solidFill>
          <a:ln cap="flat" cmpd="sng" w="9525">
            <a:solidFill>
              <a:srgbClr val="FFAB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Was your account created before June 21, 2023?</a:t>
            </a:r>
            <a:endParaRPr/>
          </a:p>
        </p:txBody>
      </p:sp>
      <p:sp>
        <p:nvSpPr>
          <p:cNvPr id="3109" name="Google Shape;3109;p121"/>
          <p:cNvSpPr/>
          <p:nvPr/>
        </p:nvSpPr>
        <p:spPr>
          <a:xfrm>
            <a:off x="4488075" y="5074025"/>
            <a:ext cx="2207100" cy="975600"/>
          </a:xfrm>
          <a:prstGeom prst="rect">
            <a:avLst/>
          </a:prstGeom>
          <a:solidFill>
            <a:srgbClr val="F9F7F4"/>
          </a:solidFill>
          <a:ln cap="flat" cmpd="sng" w="9525">
            <a:solidFill>
              <a:srgbClr val="6187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Enable SSO in your account</a:t>
            </a:r>
            <a:endParaRPr/>
          </a:p>
        </p:txBody>
      </p:sp>
      <p:sp>
        <p:nvSpPr>
          <p:cNvPr id="3110" name="Google Shape;3110;p121"/>
          <p:cNvSpPr/>
          <p:nvPr/>
        </p:nvSpPr>
        <p:spPr>
          <a:xfrm>
            <a:off x="11161150" y="3225000"/>
            <a:ext cx="2346000" cy="967500"/>
          </a:xfrm>
          <a:prstGeom prst="rect">
            <a:avLst/>
          </a:prstGeom>
          <a:solidFill>
            <a:srgbClr val="F9F7F4"/>
          </a:solidFill>
          <a:ln cap="flat" cmpd="sng" w="9525">
            <a:solidFill>
              <a:srgbClr val="1B516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Unified login is enabled on all workspaces by default</a:t>
            </a:r>
            <a:endParaRPr/>
          </a:p>
        </p:txBody>
      </p:sp>
      <p:sp>
        <p:nvSpPr>
          <p:cNvPr id="3111" name="Google Shape;3111;p121"/>
          <p:cNvSpPr/>
          <p:nvPr/>
        </p:nvSpPr>
        <p:spPr>
          <a:xfrm>
            <a:off x="11161150" y="6667943"/>
            <a:ext cx="2346000" cy="967500"/>
          </a:xfrm>
          <a:prstGeom prst="rect">
            <a:avLst/>
          </a:prstGeom>
          <a:solidFill>
            <a:srgbClr val="F9F7F4"/>
          </a:solidFill>
          <a:ln cap="flat" cmpd="sng" w="9525">
            <a:solidFill>
              <a:srgbClr val="6187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We recommend enabling unified login on all workspaces</a:t>
            </a:r>
            <a:endParaRPr/>
          </a:p>
        </p:txBody>
      </p:sp>
      <p:sp>
        <p:nvSpPr>
          <p:cNvPr id="3112" name="Google Shape;3112;p121"/>
          <p:cNvSpPr/>
          <p:nvPr/>
        </p:nvSpPr>
        <p:spPr>
          <a:xfrm>
            <a:off x="4488075" y="1228650"/>
            <a:ext cx="2730900" cy="1268100"/>
          </a:xfrm>
          <a:prstGeom prst="rect">
            <a:avLst/>
          </a:prstGeom>
          <a:solidFill>
            <a:srgbClr val="F9F7F4"/>
          </a:solidFill>
          <a:ln cap="flat" cmpd="sng" w="9525">
            <a:solidFill>
              <a:srgbClr val="1B516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One-time passcodes via email are enabled by default</a:t>
            </a:r>
            <a:endParaRPr/>
          </a:p>
          <a:p>
            <a:pPr indent="0" lvl="0" marL="0" rtl="0" algn="ctr">
              <a:spcBef>
                <a:spcPts val="0"/>
              </a:spcBef>
              <a:spcAft>
                <a:spcPts val="0"/>
              </a:spcAft>
              <a:buNone/>
            </a:pPr>
            <a:r>
              <a:rPr lang="en"/>
              <a:t> </a:t>
            </a:r>
            <a:endParaRPr/>
          </a:p>
          <a:p>
            <a:pPr indent="0" lvl="0" marL="0" rtl="0" algn="ctr">
              <a:spcBef>
                <a:spcPts val="0"/>
              </a:spcBef>
              <a:spcAft>
                <a:spcPts val="0"/>
              </a:spcAft>
              <a:buNone/>
            </a:pPr>
            <a:r>
              <a:rPr lang="en"/>
              <a:t>You can configure sign-in with Google or Microsoft</a:t>
            </a:r>
            <a:endParaRPr/>
          </a:p>
        </p:txBody>
      </p:sp>
      <p:cxnSp>
        <p:nvCxnSpPr>
          <p:cNvPr id="3113" name="Google Shape;3113;p121"/>
          <p:cNvCxnSpPr>
            <a:stCxn id="3109" idx="3"/>
            <a:endCxn id="3108" idx="1"/>
          </p:cNvCxnSpPr>
          <p:nvPr/>
        </p:nvCxnSpPr>
        <p:spPr>
          <a:xfrm>
            <a:off x="6695175" y="5561825"/>
            <a:ext cx="212100" cy="0"/>
          </a:xfrm>
          <a:prstGeom prst="straightConnector1">
            <a:avLst/>
          </a:prstGeom>
          <a:noFill/>
          <a:ln cap="flat" cmpd="sng" w="9525">
            <a:solidFill>
              <a:srgbClr val="618794"/>
            </a:solidFill>
            <a:prstDash val="solid"/>
            <a:round/>
            <a:headEnd len="med" w="med" type="none"/>
            <a:tailEnd len="med" w="med" type="none"/>
          </a:ln>
        </p:spPr>
      </p:cxnSp>
      <p:cxnSp>
        <p:nvCxnSpPr>
          <p:cNvPr id="3114" name="Google Shape;3114;p121"/>
          <p:cNvCxnSpPr>
            <a:stCxn id="3107" idx="3"/>
            <a:endCxn id="3112" idx="1"/>
          </p:cNvCxnSpPr>
          <p:nvPr/>
        </p:nvCxnSpPr>
        <p:spPr>
          <a:xfrm flipH="1" rot="10800000">
            <a:off x="3405700" y="1862825"/>
            <a:ext cx="1082400" cy="1726500"/>
          </a:xfrm>
          <a:prstGeom prst="curvedConnector3">
            <a:avLst>
              <a:gd fmla="val 49999" name="adj1"/>
            </a:avLst>
          </a:prstGeom>
          <a:noFill/>
          <a:ln cap="flat" cmpd="sng" w="9525">
            <a:solidFill>
              <a:srgbClr val="98102A"/>
            </a:solidFill>
            <a:prstDash val="solid"/>
            <a:round/>
            <a:headEnd len="med" w="med" type="none"/>
            <a:tailEnd len="med" w="med" type="stealth"/>
          </a:ln>
        </p:spPr>
      </p:cxnSp>
      <p:sp>
        <p:nvSpPr>
          <p:cNvPr id="3115" name="Google Shape;3115;p121"/>
          <p:cNvSpPr txBox="1"/>
          <p:nvPr/>
        </p:nvSpPr>
        <p:spPr>
          <a:xfrm>
            <a:off x="3609244" y="2510531"/>
            <a:ext cx="675300" cy="431100"/>
          </a:xfrm>
          <a:prstGeom prst="rect">
            <a:avLst/>
          </a:prstGeom>
          <a:solidFill>
            <a:srgbClr val="FFFFFF"/>
          </a:solidFill>
          <a:ln cap="flat" cmpd="sng" w="9525">
            <a:solidFill>
              <a:srgbClr val="98102A"/>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cxnSp>
        <p:nvCxnSpPr>
          <p:cNvPr id="3116" name="Google Shape;3116;p121"/>
          <p:cNvCxnSpPr>
            <a:stCxn id="3107" idx="3"/>
            <a:endCxn id="3109" idx="1"/>
          </p:cNvCxnSpPr>
          <p:nvPr/>
        </p:nvCxnSpPr>
        <p:spPr>
          <a:xfrm>
            <a:off x="3405700" y="3589325"/>
            <a:ext cx="1082400" cy="1972500"/>
          </a:xfrm>
          <a:prstGeom prst="curvedConnector3">
            <a:avLst>
              <a:gd fmla="val 49999" name="adj1"/>
            </a:avLst>
          </a:prstGeom>
          <a:noFill/>
          <a:ln cap="flat" cmpd="sng" w="9525">
            <a:solidFill>
              <a:srgbClr val="00A972"/>
            </a:solidFill>
            <a:prstDash val="solid"/>
            <a:round/>
            <a:headEnd len="med" w="med" type="none"/>
            <a:tailEnd len="med" w="med" type="stealth"/>
          </a:ln>
        </p:spPr>
      </p:cxnSp>
      <p:sp>
        <p:nvSpPr>
          <p:cNvPr id="3117" name="Google Shape;3117;p121"/>
          <p:cNvSpPr txBox="1"/>
          <p:nvPr/>
        </p:nvSpPr>
        <p:spPr>
          <a:xfrm>
            <a:off x="3609219" y="4360031"/>
            <a:ext cx="675300" cy="431100"/>
          </a:xfrm>
          <a:prstGeom prst="rect">
            <a:avLst/>
          </a:prstGeom>
          <a:solidFill>
            <a:srgbClr val="FFFFFF"/>
          </a:solidFill>
          <a:ln cap="flat" cmpd="sng" w="9525">
            <a:solidFill>
              <a:srgbClr val="00A97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cxnSp>
        <p:nvCxnSpPr>
          <p:cNvPr id="3118" name="Google Shape;3118;p121"/>
          <p:cNvCxnSpPr>
            <a:stCxn id="3108" idx="3"/>
            <a:endCxn id="3110" idx="1"/>
          </p:cNvCxnSpPr>
          <p:nvPr/>
        </p:nvCxnSpPr>
        <p:spPr>
          <a:xfrm flipH="1" rot="10800000">
            <a:off x="9404175" y="3708725"/>
            <a:ext cx="1757100" cy="1853100"/>
          </a:xfrm>
          <a:prstGeom prst="curvedConnector3">
            <a:avLst>
              <a:gd fmla="val 49996" name="adj1"/>
            </a:avLst>
          </a:prstGeom>
          <a:noFill/>
          <a:ln cap="flat" cmpd="sng" w="9525">
            <a:solidFill>
              <a:srgbClr val="98102A"/>
            </a:solidFill>
            <a:prstDash val="solid"/>
            <a:round/>
            <a:headEnd len="med" w="med" type="none"/>
            <a:tailEnd len="med" w="med" type="stealth"/>
          </a:ln>
        </p:spPr>
      </p:cxnSp>
      <p:cxnSp>
        <p:nvCxnSpPr>
          <p:cNvPr id="3119" name="Google Shape;3119;p121"/>
          <p:cNvCxnSpPr>
            <a:stCxn id="3108" idx="3"/>
            <a:endCxn id="3111" idx="1"/>
          </p:cNvCxnSpPr>
          <p:nvPr/>
        </p:nvCxnSpPr>
        <p:spPr>
          <a:xfrm>
            <a:off x="9404175" y="5561825"/>
            <a:ext cx="1757100" cy="1590000"/>
          </a:xfrm>
          <a:prstGeom prst="curvedConnector3">
            <a:avLst>
              <a:gd fmla="val 49996" name="adj1"/>
            </a:avLst>
          </a:prstGeom>
          <a:noFill/>
          <a:ln cap="flat" cmpd="sng" w="9525">
            <a:solidFill>
              <a:srgbClr val="00A972"/>
            </a:solidFill>
            <a:prstDash val="solid"/>
            <a:round/>
            <a:headEnd len="med" w="med" type="none"/>
            <a:tailEnd len="med" w="med" type="stealth"/>
          </a:ln>
        </p:spPr>
      </p:cxnSp>
      <p:sp>
        <p:nvSpPr>
          <p:cNvPr id="3120" name="Google Shape;3120;p121"/>
          <p:cNvSpPr txBox="1"/>
          <p:nvPr/>
        </p:nvSpPr>
        <p:spPr>
          <a:xfrm>
            <a:off x="9942996" y="6236848"/>
            <a:ext cx="675300" cy="431100"/>
          </a:xfrm>
          <a:prstGeom prst="rect">
            <a:avLst/>
          </a:prstGeom>
          <a:solidFill>
            <a:srgbClr val="FFFFFF"/>
          </a:solidFill>
          <a:ln cap="flat" cmpd="sng" w="9525">
            <a:solidFill>
              <a:srgbClr val="00A97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121" name="Google Shape;3121;p121"/>
          <p:cNvSpPr txBox="1"/>
          <p:nvPr/>
        </p:nvSpPr>
        <p:spPr>
          <a:xfrm>
            <a:off x="9943010" y="4419737"/>
            <a:ext cx="675300" cy="431100"/>
          </a:xfrm>
          <a:prstGeom prst="rect">
            <a:avLst/>
          </a:prstGeom>
          <a:solidFill>
            <a:srgbClr val="FFFFFF"/>
          </a:solidFill>
          <a:ln cap="flat" cmpd="sng" w="9525">
            <a:solidFill>
              <a:srgbClr val="98102A"/>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6" name="Shape 3126"/>
        <p:cNvGrpSpPr/>
        <p:nvPr/>
      </p:nvGrpSpPr>
      <p:grpSpPr>
        <a:xfrm>
          <a:off x="0" y="0"/>
          <a:ext cx="0" cy="0"/>
          <a:chOff x="0" y="0"/>
          <a:chExt cx="0" cy="0"/>
        </a:xfrm>
      </p:grpSpPr>
      <p:sp>
        <p:nvSpPr>
          <p:cNvPr id="3127" name="Google Shape;3127;p122"/>
          <p:cNvSpPr/>
          <p:nvPr/>
        </p:nvSpPr>
        <p:spPr>
          <a:xfrm>
            <a:off x="2803250" y="3165450"/>
            <a:ext cx="1433400" cy="972900"/>
          </a:xfrm>
          <a:prstGeom prst="roundRect">
            <a:avLst>
              <a:gd fmla="val 16667" name="adj"/>
            </a:avLst>
          </a:prstGeom>
          <a:solidFill>
            <a:srgbClr val="FFFFFF"/>
          </a:solidFill>
          <a:ln cap="flat" cmpd="sng" w="19050">
            <a:solidFill>
              <a:srgbClr val="4285F4"/>
            </a:solidFill>
            <a:prstDash val="solid"/>
            <a:round/>
            <a:headEnd len="sm" w="sm" type="none"/>
            <a:tailEnd len="sm" w="sm" type="none"/>
          </a:ln>
        </p:spPr>
        <p:txBody>
          <a:bodyPr anchorCtr="0" anchor="ctr" bIns="68575" lIns="68575" spcFirstLastPara="1" rIns="68575" wrap="square" tIns="68575">
            <a:noAutofit/>
          </a:bodyPr>
          <a:lstStyle/>
          <a:p>
            <a:pPr indent="34290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1B3139"/>
                </a:solidFill>
                <a:latin typeface="DM Sans Medium"/>
                <a:ea typeface="DM Sans Medium"/>
                <a:cs typeface="DM Sans Medium"/>
                <a:sym typeface="DM Sans Medium"/>
              </a:rPr>
              <a:t>    </a:t>
            </a:r>
            <a:endParaRPr b="0" i="0" sz="1000" u="none" cap="none" strike="noStrike">
              <a:solidFill>
                <a:srgbClr val="1B3139"/>
              </a:solidFill>
              <a:latin typeface="DM Sans"/>
              <a:ea typeface="DM Sans"/>
              <a:cs typeface="DM Sans"/>
              <a:sym typeface="DM Sans"/>
            </a:endParaRPr>
          </a:p>
        </p:txBody>
      </p:sp>
      <p:sp>
        <p:nvSpPr>
          <p:cNvPr id="3128" name="Google Shape;3128;p122"/>
          <p:cNvSpPr txBox="1"/>
          <p:nvPr>
            <p:ph idx="12" type="sldNum"/>
          </p:nvPr>
        </p:nvSpPr>
        <p:spPr>
          <a:xfrm>
            <a:off x="10760109" y="6333309"/>
            <a:ext cx="666900" cy="524700"/>
          </a:xfrm>
          <a:prstGeom prst="rect">
            <a:avLst/>
          </a:prstGeom>
        </p:spPr>
        <p:txBody>
          <a:bodyPr anchorCtr="0" anchor="t" bIns="121875" lIns="121875" spcFirstLastPara="1" rIns="121875" wrap="square" tIns="121875">
            <a:norm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129" name="Google Shape;3129;p122"/>
          <p:cNvSpPr/>
          <p:nvPr/>
        </p:nvSpPr>
        <p:spPr>
          <a:xfrm>
            <a:off x="4614575" y="1697500"/>
            <a:ext cx="2590200" cy="2972400"/>
          </a:xfrm>
          <a:prstGeom prst="roundRect">
            <a:avLst>
              <a:gd fmla="val 10248" name="adj"/>
            </a:avLst>
          </a:prstGeom>
          <a:solidFill>
            <a:srgbClr val="FFFFFF">
              <a:alpha val="94050"/>
            </a:srgbClr>
          </a:solidFill>
          <a:ln cap="flat" cmpd="sng" w="19050">
            <a:solidFill>
              <a:schemeClr val="accent1"/>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DM Sans"/>
                <a:ea typeface="DM Sans"/>
                <a:cs typeface="DM Sans"/>
                <a:sym typeface="DM Sans"/>
              </a:rPr>
              <a:t>Unity Catalog</a:t>
            </a:r>
            <a:endParaRPr sz="1300">
              <a:solidFill>
                <a:schemeClr val="dk2"/>
              </a:solidFill>
              <a:latin typeface="DM Sans"/>
              <a:ea typeface="DM Sans"/>
              <a:cs typeface="DM Sans"/>
              <a:sym typeface="DM Sans"/>
            </a:endParaRPr>
          </a:p>
        </p:txBody>
      </p:sp>
      <p:sp>
        <p:nvSpPr>
          <p:cNvPr id="3130" name="Google Shape;3130;p122"/>
          <p:cNvSpPr/>
          <p:nvPr/>
        </p:nvSpPr>
        <p:spPr>
          <a:xfrm>
            <a:off x="2863550" y="3236400"/>
            <a:ext cx="1303500" cy="370200"/>
          </a:xfrm>
          <a:prstGeom prst="roundRect">
            <a:avLst>
              <a:gd fmla="val 26093" name="adj"/>
            </a:avLst>
          </a:prstGeom>
          <a:solidFill>
            <a:schemeClr val="lt2"/>
          </a:solidFill>
          <a:ln cap="flat" cmpd="sng" w="9525">
            <a:solidFill>
              <a:srgbClr val="F8F9F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chemeClr val="dk1"/>
                </a:solidFill>
                <a:latin typeface="DM Sans Medium"/>
                <a:ea typeface="DM Sans Medium"/>
                <a:cs typeface="DM Sans Medium"/>
                <a:sym typeface="DM Sans Medium"/>
              </a:rPr>
              <a:t>Data filtering </a:t>
            </a:r>
            <a:endParaRPr b="0" i="0" sz="900" u="none" cap="none" strike="noStrike">
              <a:solidFill>
                <a:schemeClr val="dk1"/>
              </a:solidFill>
              <a:latin typeface="DM Sans Medium"/>
              <a:ea typeface="DM Sans Medium"/>
              <a:cs typeface="DM Sans Medium"/>
              <a:sym typeface="DM Sans Medium"/>
            </a:endParaRPr>
          </a:p>
        </p:txBody>
      </p:sp>
      <p:grpSp>
        <p:nvGrpSpPr>
          <p:cNvPr id="3131" name="Google Shape;3131;p122"/>
          <p:cNvGrpSpPr/>
          <p:nvPr/>
        </p:nvGrpSpPr>
        <p:grpSpPr>
          <a:xfrm>
            <a:off x="6115923" y="2005866"/>
            <a:ext cx="872078" cy="802389"/>
            <a:chOff x="11114100" y="2893225"/>
            <a:chExt cx="1017000" cy="931170"/>
          </a:xfrm>
        </p:grpSpPr>
        <p:pic>
          <p:nvPicPr>
            <p:cNvPr id="3132" name="Google Shape;3132;p122"/>
            <p:cNvPicPr preferRelativeResize="0"/>
            <p:nvPr/>
          </p:nvPicPr>
          <p:blipFill rotWithShape="1">
            <a:blip r:embed="rId3">
              <a:alphaModFix/>
            </a:blip>
            <a:srcRect b="0" l="0" r="0" t="0"/>
            <a:stretch/>
          </p:blipFill>
          <p:spPr>
            <a:xfrm>
              <a:off x="11297224" y="3109226"/>
              <a:ext cx="715200" cy="715169"/>
            </a:xfrm>
            <a:prstGeom prst="rect">
              <a:avLst/>
            </a:prstGeom>
            <a:noFill/>
            <a:ln>
              <a:noFill/>
            </a:ln>
          </p:spPr>
        </p:pic>
        <p:sp>
          <p:nvSpPr>
            <p:cNvPr id="3133" name="Google Shape;3133;p122"/>
            <p:cNvSpPr txBox="1"/>
            <p:nvPr/>
          </p:nvSpPr>
          <p:spPr>
            <a:xfrm>
              <a:off x="11114100" y="2893225"/>
              <a:ext cx="1017000" cy="3216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800"/>
                <a:buFont typeface="Arial"/>
                <a:buNone/>
              </a:pPr>
              <a:r>
                <a:rPr b="0" i="0" lang="en" sz="900" u="none" cap="none" strike="noStrike">
                  <a:solidFill>
                    <a:srgbClr val="595959"/>
                  </a:solidFill>
                  <a:latin typeface="DM Sans"/>
                  <a:ea typeface="DM Sans"/>
                  <a:cs typeface="DM Sans"/>
                  <a:sym typeface="DM Sans"/>
                </a:rPr>
                <a:t>table_1</a:t>
              </a:r>
              <a:endParaRPr b="0" i="0" sz="900" u="none" cap="none" strike="noStrike">
                <a:solidFill>
                  <a:srgbClr val="595959"/>
                </a:solidFill>
                <a:latin typeface="DM Sans"/>
                <a:ea typeface="DM Sans"/>
                <a:cs typeface="DM Sans"/>
                <a:sym typeface="DM Sans"/>
              </a:endParaRPr>
            </a:p>
          </p:txBody>
        </p:sp>
      </p:grpSp>
      <p:sp>
        <p:nvSpPr>
          <p:cNvPr id="3134" name="Google Shape;3134;p122"/>
          <p:cNvSpPr/>
          <p:nvPr/>
        </p:nvSpPr>
        <p:spPr>
          <a:xfrm>
            <a:off x="2806415" y="2132370"/>
            <a:ext cx="1433400" cy="7410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34290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1B3139"/>
                </a:solidFill>
                <a:latin typeface="DM Sans Medium"/>
                <a:ea typeface="DM Sans Medium"/>
                <a:cs typeface="DM Sans Medium"/>
                <a:sym typeface="DM Sans Medium"/>
              </a:rPr>
              <a:t>    </a:t>
            </a:r>
            <a:r>
              <a:rPr lang="en" sz="1000">
                <a:solidFill>
                  <a:srgbClr val="1B3139"/>
                </a:solidFill>
                <a:latin typeface="DM Sans"/>
                <a:ea typeface="DM Sans"/>
                <a:cs typeface="DM Sans"/>
                <a:sym typeface="DM Sans"/>
              </a:rPr>
              <a:t>Dedicated</a:t>
            </a:r>
            <a:endParaRPr i="0" sz="1000" u="none" cap="none" strike="noStrike">
              <a:solidFill>
                <a:srgbClr val="1B3139"/>
              </a:solidFill>
              <a:latin typeface="DM Sans"/>
              <a:ea typeface="DM Sans"/>
              <a:cs typeface="DM Sans"/>
              <a:sym typeface="DM Sans"/>
            </a:endParaRPr>
          </a:p>
          <a:p>
            <a:pPr indent="342900" lvl="0" marL="0" marR="0" rtl="0" algn="r">
              <a:lnSpc>
                <a:spcPct val="100000"/>
              </a:lnSpc>
              <a:spcBef>
                <a:spcPts val="0"/>
              </a:spcBef>
              <a:spcAft>
                <a:spcPts val="0"/>
              </a:spcAft>
              <a:buClr>
                <a:srgbClr val="000000"/>
              </a:buClr>
              <a:buSzPts val="800"/>
              <a:buFont typeface="Arial"/>
              <a:buNone/>
            </a:pPr>
            <a:r>
              <a:rPr lang="en" sz="1000">
                <a:solidFill>
                  <a:srgbClr val="1B3139"/>
                </a:solidFill>
                <a:latin typeface="DM Sans"/>
                <a:ea typeface="DM Sans"/>
                <a:cs typeface="DM Sans"/>
                <a:sym typeface="DM Sans"/>
              </a:rPr>
              <a:t>compute</a:t>
            </a:r>
            <a:endParaRPr i="0" sz="1000" u="none" cap="none" strike="noStrike">
              <a:solidFill>
                <a:srgbClr val="1B3139"/>
              </a:solidFill>
              <a:latin typeface="DM Sans"/>
              <a:ea typeface="DM Sans"/>
              <a:cs typeface="DM Sans"/>
              <a:sym typeface="DM Sans"/>
            </a:endParaRPr>
          </a:p>
        </p:txBody>
      </p:sp>
      <p:grpSp>
        <p:nvGrpSpPr>
          <p:cNvPr id="3135" name="Google Shape;3135;p122"/>
          <p:cNvGrpSpPr/>
          <p:nvPr/>
        </p:nvGrpSpPr>
        <p:grpSpPr>
          <a:xfrm>
            <a:off x="6115923" y="3690752"/>
            <a:ext cx="872078" cy="802389"/>
            <a:chOff x="11114100" y="2893225"/>
            <a:chExt cx="1017000" cy="931170"/>
          </a:xfrm>
        </p:grpSpPr>
        <p:pic>
          <p:nvPicPr>
            <p:cNvPr id="3136" name="Google Shape;3136;p122"/>
            <p:cNvPicPr preferRelativeResize="0"/>
            <p:nvPr/>
          </p:nvPicPr>
          <p:blipFill rotWithShape="1">
            <a:blip r:embed="rId3">
              <a:alphaModFix/>
            </a:blip>
            <a:srcRect b="0" l="0" r="0" t="0"/>
            <a:stretch/>
          </p:blipFill>
          <p:spPr>
            <a:xfrm>
              <a:off x="11297224" y="3109226"/>
              <a:ext cx="715200" cy="715169"/>
            </a:xfrm>
            <a:prstGeom prst="rect">
              <a:avLst/>
            </a:prstGeom>
            <a:noFill/>
            <a:ln>
              <a:noFill/>
            </a:ln>
          </p:spPr>
        </p:pic>
        <p:sp>
          <p:nvSpPr>
            <p:cNvPr id="3137" name="Google Shape;3137;p122"/>
            <p:cNvSpPr txBox="1"/>
            <p:nvPr/>
          </p:nvSpPr>
          <p:spPr>
            <a:xfrm>
              <a:off x="11114100" y="2893225"/>
              <a:ext cx="1017000" cy="3216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800"/>
                <a:buFont typeface="Arial"/>
                <a:buNone/>
              </a:pPr>
              <a:r>
                <a:rPr b="0" i="0" lang="en" sz="900" u="none" cap="none" strike="noStrike">
                  <a:solidFill>
                    <a:srgbClr val="595959"/>
                  </a:solidFill>
                  <a:latin typeface="DM Sans"/>
                  <a:ea typeface="DM Sans"/>
                  <a:cs typeface="DM Sans"/>
                  <a:sym typeface="DM Sans"/>
                </a:rPr>
                <a:t>table_</a:t>
              </a:r>
              <a:r>
                <a:rPr lang="en" sz="900">
                  <a:solidFill>
                    <a:srgbClr val="595959"/>
                  </a:solidFill>
                  <a:latin typeface="DM Sans"/>
                  <a:ea typeface="DM Sans"/>
                  <a:cs typeface="DM Sans"/>
                  <a:sym typeface="DM Sans"/>
                </a:rPr>
                <a:t>w_rls</a:t>
              </a:r>
              <a:endParaRPr b="0" i="0" sz="900" u="none" cap="none" strike="noStrike">
                <a:solidFill>
                  <a:srgbClr val="595959"/>
                </a:solidFill>
                <a:latin typeface="DM Sans"/>
                <a:ea typeface="DM Sans"/>
                <a:cs typeface="DM Sans"/>
                <a:sym typeface="DM Sans"/>
              </a:endParaRPr>
            </a:p>
          </p:txBody>
        </p:sp>
      </p:grpSp>
      <p:grpSp>
        <p:nvGrpSpPr>
          <p:cNvPr id="3138" name="Google Shape;3138;p122"/>
          <p:cNvGrpSpPr/>
          <p:nvPr/>
        </p:nvGrpSpPr>
        <p:grpSpPr>
          <a:xfrm>
            <a:off x="5169577" y="2866139"/>
            <a:ext cx="872078" cy="802389"/>
            <a:chOff x="11114100" y="2893225"/>
            <a:chExt cx="1017000" cy="931170"/>
          </a:xfrm>
        </p:grpSpPr>
        <p:pic>
          <p:nvPicPr>
            <p:cNvPr id="3139" name="Google Shape;3139;p122"/>
            <p:cNvPicPr preferRelativeResize="0"/>
            <p:nvPr/>
          </p:nvPicPr>
          <p:blipFill rotWithShape="1">
            <a:blip r:embed="rId3">
              <a:alphaModFix/>
            </a:blip>
            <a:srcRect b="0" l="0" r="0" t="0"/>
            <a:stretch/>
          </p:blipFill>
          <p:spPr>
            <a:xfrm>
              <a:off x="11297224" y="3109226"/>
              <a:ext cx="715200" cy="715169"/>
            </a:xfrm>
            <a:prstGeom prst="rect">
              <a:avLst/>
            </a:prstGeom>
            <a:noFill/>
            <a:ln>
              <a:noFill/>
            </a:ln>
          </p:spPr>
        </p:pic>
        <p:sp>
          <p:nvSpPr>
            <p:cNvPr id="3140" name="Google Shape;3140;p122"/>
            <p:cNvSpPr txBox="1"/>
            <p:nvPr/>
          </p:nvSpPr>
          <p:spPr>
            <a:xfrm>
              <a:off x="11114100" y="2893225"/>
              <a:ext cx="1017000" cy="3216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800"/>
                <a:buFont typeface="Arial"/>
                <a:buNone/>
              </a:pPr>
              <a:r>
                <a:rPr b="0" i="0" lang="en" sz="900" u="none" cap="none" strike="noStrike">
                  <a:solidFill>
                    <a:srgbClr val="595959"/>
                  </a:solidFill>
                  <a:latin typeface="DM Sans"/>
                  <a:ea typeface="DM Sans"/>
                  <a:cs typeface="DM Sans"/>
                  <a:sym typeface="DM Sans"/>
                </a:rPr>
                <a:t>view_</a:t>
              </a:r>
              <a:r>
                <a:rPr lang="en" sz="900">
                  <a:solidFill>
                    <a:srgbClr val="595959"/>
                  </a:solidFill>
                  <a:latin typeface="DM Sans"/>
                  <a:ea typeface="DM Sans"/>
                  <a:cs typeface="DM Sans"/>
                  <a:sym typeface="DM Sans"/>
                </a:rPr>
                <a:t>2</a:t>
              </a:r>
              <a:endParaRPr b="0" i="0" sz="900" u="none" cap="none" strike="noStrike">
                <a:solidFill>
                  <a:srgbClr val="595959"/>
                </a:solidFill>
                <a:latin typeface="DM Sans"/>
                <a:ea typeface="DM Sans"/>
                <a:cs typeface="DM Sans"/>
                <a:sym typeface="DM Sans"/>
              </a:endParaRPr>
            </a:p>
          </p:txBody>
        </p:sp>
      </p:grpSp>
      <p:pic>
        <p:nvPicPr>
          <p:cNvPr id="3141" name="Google Shape;3141;p122"/>
          <p:cNvPicPr preferRelativeResize="0"/>
          <p:nvPr/>
        </p:nvPicPr>
        <p:blipFill rotWithShape="1">
          <a:blip r:embed="rId4">
            <a:alphaModFix/>
          </a:blip>
          <a:srcRect b="0" l="0" r="0" t="0"/>
          <a:stretch/>
        </p:blipFill>
        <p:spPr>
          <a:xfrm>
            <a:off x="2864949" y="3470552"/>
            <a:ext cx="607529" cy="607551"/>
          </a:xfrm>
          <a:prstGeom prst="rect">
            <a:avLst/>
          </a:prstGeom>
          <a:noFill/>
          <a:ln>
            <a:noFill/>
          </a:ln>
        </p:spPr>
      </p:pic>
      <p:pic>
        <p:nvPicPr>
          <p:cNvPr id="3142" name="Google Shape;3142;p122"/>
          <p:cNvPicPr preferRelativeResize="0"/>
          <p:nvPr/>
        </p:nvPicPr>
        <p:blipFill rotWithShape="1">
          <a:blip r:embed="rId5">
            <a:alphaModFix/>
          </a:blip>
          <a:srcRect b="0" l="0" r="0" t="0"/>
          <a:stretch/>
        </p:blipFill>
        <p:spPr>
          <a:xfrm>
            <a:off x="2864950" y="2200713"/>
            <a:ext cx="607526" cy="607526"/>
          </a:xfrm>
          <a:prstGeom prst="rect">
            <a:avLst/>
          </a:prstGeom>
          <a:noFill/>
          <a:ln>
            <a:noFill/>
          </a:ln>
        </p:spPr>
      </p:pic>
      <p:sp>
        <p:nvSpPr>
          <p:cNvPr id="3143" name="Google Shape;3143;p122"/>
          <p:cNvSpPr txBox="1"/>
          <p:nvPr/>
        </p:nvSpPr>
        <p:spPr>
          <a:xfrm>
            <a:off x="3405725" y="3606750"/>
            <a:ext cx="803100" cy="415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DM Sans"/>
                <a:ea typeface="DM Sans"/>
                <a:cs typeface="DM Sans"/>
                <a:sym typeface="DM Sans"/>
              </a:rPr>
              <a:t>Serverless compute</a:t>
            </a:r>
            <a:endParaRPr sz="1000">
              <a:solidFill>
                <a:schemeClr val="dk1"/>
              </a:solidFill>
              <a:latin typeface="DM Sans"/>
              <a:ea typeface="DM Sans"/>
              <a:cs typeface="DM Sans"/>
              <a:sym typeface="DM Sans"/>
            </a:endParaRPr>
          </a:p>
        </p:txBody>
      </p:sp>
      <p:cxnSp>
        <p:nvCxnSpPr>
          <p:cNvPr id="3144" name="Google Shape;3144;p122"/>
          <p:cNvCxnSpPr>
            <a:endCxn id="3127" idx="0"/>
          </p:cNvCxnSpPr>
          <p:nvPr/>
        </p:nvCxnSpPr>
        <p:spPr>
          <a:xfrm flipH="1" rot="-5400000">
            <a:off x="3375200" y="3020700"/>
            <a:ext cx="288900" cy="6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3145" name="Google Shape;3145;p122"/>
          <p:cNvSpPr/>
          <p:nvPr/>
        </p:nvSpPr>
        <p:spPr>
          <a:xfrm>
            <a:off x="643725" y="2144700"/>
            <a:ext cx="1565100" cy="524700"/>
          </a:xfrm>
          <a:prstGeom prst="roundRect">
            <a:avLst>
              <a:gd fmla="val 16667" name="adj"/>
            </a:avLst>
          </a:prstGeom>
          <a:solidFill>
            <a:srgbClr val="FFFFFF">
              <a:alpha val="94050"/>
            </a:srgbClr>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800"/>
              <a:buFont typeface="Arial"/>
              <a:buNone/>
            </a:pPr>
            <a:r>
              <a:rPr lang="en" sz="1000">
                <a:latin typeface="Courier New"/>
                <a:ea typeface="Courier New"/>
                <a:cs typeface="Courier New"/>
                <a:sym typeface="Courier New"/>
              </a:rPr>
              <a:t>SELECT *</a:t>
            </a:r>
            <a:endParaRPr sz="1000">
              <a:latin typeface="Courier New"/>
              <a:ea typeface="Courier New"/>
              <a:cs typeface="Courier New"/>
              <a:sym typeface="Courier New"/>
            </a:endParaRPr>
          </a:p>
          <a:p>
            <a:pPr indent="0" lvl="0" marL="0" rtl="0" algn="l">
              <a:spcBef>
                <a:spcPts val="0"/>
              </a:spcBef>
              <a:spcAft>
                <a:spcPts val="0"/>
              </a:spcAft>
              <a:buClr>
                <a:srgbClr val="000000"/>
              </a:buClr>
              <a:buSzPts val="800"/>
              <a:buFont typeface="Arial"/>
              <a:buNone/>
            </a:pPr>
            <a:r>
              <a:rPr lang="en" sz="1000">
                <a:latin typeface="Courier New"/>
                <a:ea typeface="Courier New"/>
                <a:cs typeface="Courier New"/>
                <a:sym typeface="Courier New"/>
              </a:rPr>
              <a:t>FROM table_1</a:t>
            </a:r>
            <a:endParaRPr>
              <a:latin typeface="DM Sans"/>
              <a:ea typeface="DM Sans"/>
              <a:cs typeface="DM Sans"/>
              <a:sym typeface="DM Sans"/>
            </a:endParaRPr>
          </a:p>
        </p:txBody>
      </p:sp>
      <p:sp>
        <p:nvSpPr>
          <p:cNvPr id="3146" name="Google Shape;3146;p122"/>
          <p:cNvSpPr/>
          <p:nvPr/>
        </p:nvSpPr>
        <p:spPr>
          <a:xfrm>
            <a:off x="643725" y="2875713"/>
            <a:ext cx="1565100" cy="524700"/>
          </a:xfrm>
          <a:prstGeom prst="roundRect">
            <a:avLst>
              <a:gd fmla="val 16667" name="adj"/>
            </a:avLst>
          </a:prstGeom>
          <a:solidFill>
            <a:srgbClr val="FFFFFF">
              <a:alpha val="9405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Courier New"/>
                <a:ea typeface="Courier New"/>
                <a:cs typeface="Courier New"/>
                <a:sym typeface="Courier New"/>
              </a:rPr>
              <a:t>SELECT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FROM view_2</a:t>
            </a:r>
            <a:endParaRPr>
              <a:latin typeface="DM Sans"/>
              <a:ea typeface="DM Sans"/>
              <a:cs typeface="DM Sans"/>
              <a:sym typeface="DM Sans"/>
            </a:endParaRPr>
          </a:p>
        </p:txBody>
      </p:sp>
      <p:cxnSp>
        <p:nvCxnSpPr>
          <p:cNvPr id="3147" name="Google Shape;3147;p122"/>
          <p:cNvCxnSpPr>
            <a:stCxn id="3127" idx="3"/>
            <a:endCxn id="3139" idx="1"/>
          </p:cNvCxnSpPr>
          <p:nvPr/>
        </p:nvCxnSpPr>
        <p:spPr>
          <a:xfrm flipH="1" rot="10800000">
            <a:off x="4236650" y="3360300"/>
            <a:ext cx="1089900" cy="291600"/>
          </a:xfrm>
          <a:prstGeom prst="straightConnector1">
            <a:avLst/>
          </a:prstGeom>
          <a:noFill/>
          <a:ln cap="flat" cmpd="sng" w="9525">
            <a:solidFill>
              <a:schemeClr val="dk2"/>
            </a:solidFill>
            <a:prstDash val="solid"/>
            <a:round/>
            <a:headEnd len="med" w="med" type="none"/>
            <a:tailEnd len="med" w="med" type="triangle"/>
          </a:ln>
        </p:spPr>
      </p:cxnSp>
      <p:sp>
        <p:nvSpPr>
          <p:cNvPr id="3148" name="Google Shape;3148;p122"/>
          <p:cNvSpPr txBox="1"/>
          <p:nvPr/>
        </p:nvSpPr>
        <p:spPr>
          <a:xfrm>
            <a:off x="0" y="0"/>
            <a:ext cx="6674100" cy="1032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Data filtering on dedicated compute (fine-grained access control)</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/_static/images/unity-catalog/data-filtering-single-user.png</a:t>
            </a:r>
            <a:endParaRPr/>
          </a:p>
        </p:txBody>
      </p:sp>
      <p:sp>
        <p:nvSpPr>
          <p:cNvPr id="3149" name="Google Shape;3149;p122"/>
          <p:cNvSpPr/>
          <p:nvPr/>
        </p:nvSpPr>
        <p:spPr>
          <a:xfrm>
            <a:off x="643725" y="3606738"/>
            <a:ext cx="1565100" cy="524700"/>
          </a:xfrm>
          <a:prstGeom prst="roundRect">
            <a:avLst>
              <a:gd fmla="val 16667" name="adj"/>
            </a:avLst>
          </a:prstGeom>
          <a:solidFill>
            <a:srgbClr val="FFFFFF">
              <a:alpha val="9405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Courier New"/>
                <a:ea typeface="Courier New"/>
                <a:cs typeface="Courier New"/>
                <a:sym typeface="Courier New"/>
              </a:rPr>
              <a:t>SELECT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FROM table_w_rls</a:t>
            </a:r>
            <a:endParaRPr>
              <a:latin typeface="DM Sans"/>
              <a:ea typeface="DM Sans"/>
              <a:cs typeface="DM Sans"/>
              <a:sym typeface="DM Sans"/>
            </a:endParaRPr>
          </a:p>
        </p:txBody>
      </p:sp>
      <p:cxnSp>
        <p:nvCxnSpPr>
          <p:cNvPr id="3150" name="Google Shape;3150;p122"/>
          <p:cNvCxnSpPr>
            <a:stCxn id="3146" idx="3"/>
          </p:cNvCxnSpPr>
          <p:nvPr/>
        </p:nvCxnSpPr>
        <p:spPr>
          <a:xfrm flipH="1" rot="10800000">
            <a:off x="2208825" y="2682963"/>
            <a:ext cx="585300" cy="455100"/>
          </a:xfrm>
          <a:prstGeom prst="straightConnector1">
            <a:avLst/>
          </a:prstGeom>
          <a:noFill/>
          <a:ln cap="flat" cmpd="sng" w="9525">
            <a:solidFill>
              <a:schemeClr val="dk2"/>
            </a:solidFill>
            <a:prstDash val="solid"/>
            <a:round/>
            <a:headEnd len="med" w="med" type="none"/>
            <a:tailEnd len="med" w="med" type="triangle"/>
          </a:ln>
        </p:spPr>
      </p:cxnSp>
      <p:cxnSp>
        <p:nvCxnSpPr>
          <p:cNvPr id="3151" name="Google Shape;3151;p122"/>
          <p:cNvCxnSpPr>
            <a:stCxn id="3149" idx="3"/>
          </p:cNvCxnSpPr>
          <p:nvPr/>
        </p:nvCxnSpPr>
        <p:spPr>
          <a:xfrm flipH="1" rot="10800000">
            <a:off x="2208825" y="2841588"/>
            <a:ext cx="649500" cy="1027500"/>
          </a:xfrm>
          <a:prstGeom prst="straightConnector1">
            <a:avLst/>
          </a:prstGeom>
          <a:noFill/>
          <a:ln cap="flat" cmpd="sng" w="9525">
            <a:solidFill>
              <a:schemeClr val="dk2"/>
            </a:solidFill>
            <a:prstDash val="solid"/>
            <a:round/>
            <a:headEnd len="med" w="med" type="none"/>
            <a:tailEnd len="med" w="med" type="triangle"/>
          </a:ln>
        </p:spPr>
      </p:cxnSp>
      <p:grpSp>
        <p:nvGrpSpPr>
          <p:cNvPr id="3152" name="Google Shape;3152;p122"/>
          <p:cNvGrpSpPr/>
          <p:nvPr/>
        </p:nvGrpSpPr>
        <p:grpSpPr>
          <a:xfrm>
            <a:off x="6115923" y="2866141"/>
            <a:ext cx="872078" cy="802389"/>
            <a:chOff x="11114100" y="2893225"/>
            <a:chExt cx="1017000" cy="931170"/>
          </a:xfrm>
        </p:grpSpPr>
        <p:pic>
          <p:nvPicPr>
            <p:cNvPr id="3153" name="Google Shape;3153;p122"/>
            <p:cNvPicPr preferRelativeResize="0"/>
            <p:nvPr/>
          </p:nvPicPr>
          <p:blipFill rotWithShape="1">
            <a:blip r:embed="rId3">
              <a:alphaModFix/>
            </a:blip>
            <a:srcRect b="0" l="0" r="0" t="0"/>
            <a:stretch/>
          </p:blipFill>
          <p:spPr>
            <a:xfrm>
              <a:off x="11297224" y="3109226"/>
              <a:ext cx="715200" cy="715169"/>
            </a:xfrm>
            <a:prstGeom prst="rect">
              <a:avLst/>
            </a:prstGeom>
            <a:noFill/>
            <a:ln>
              <a:noFill/>
            </a:ln>
          </p:spPr>
        </p:pic>
        <p:sp>
          <p:nvSpPr>
            <p:cNvPr id="3154" name="Google Shape;3154;p122"/>
            <p:cNvSpPr txBox="1"/>
            <p:nvPr/>
          </p:nvSpPr>
          <p:spPr>
            <a:xfrm>
              <a:off x="11114100" y="2893225"/>
              <a:ext cx="1017000" cy="3216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800"/>
                <a:buFont typeface="Arial"/>
                <a:buNone/>
              </a:pPr>
              <a:r>
                <a:rPr b="0" i="0" lang="en" sz="900" u="none" cap="none" strike="noStrike">
                  <a:solidFill>
                    <a:srgbClr val="595959"/>
                  </a:solidFill>
                  <a:latin typeface="DM Sans"/>
                  <a:ea typeface="DM Sans"/>
                  <a:cs typeface="DM Sans"/>
                  <a:sym typeface="DM Sans"/>
                </a:rPr>
                <a:t>table_</a:t>
              </a:r>
              <a:r>
                <a:rPr lang="en" sz="900">
                  <a:solidFill>
                    <a:srgbClr val="595959"/>
                  </a:solidFill>
                  <a:latin typeface="DM Sans"/>
                  <a:ea typeface="DM Sans"/>
                  <a:cs typeface="DM Sans"/>
                  <a:sym typeface="DM Sans"/>
                </a:rPr>
                <a:t>2</a:t>
              </a:r>
              <a:endParaRPr b="0" i="0" sz="900" u="none" cap="none" strike="noStrike">
                <a:solidFill>
                  <a:srgbClr val="595959"/>
                </a:solidFill>
                <a:latin typeface="DM Sans"/>
                <a:ea typeface="DM Sans"/>
                <a:cs typeface="DM Sans"/>
                <a:sym typeface="DM Sans"/>
              </a:endParaRPr>
            </a:p>
          </p:txBody>
        </p:sp>
      </p:grpSp>
      <p:cxnSp>
        <p:nvCxnSpPr>
          <p:cNvPr id="3155" name="Google Shape;3155;p122"/>
          <p:cNvCxnSpPr>
            <a:stCxn id="3145" idx="3"/>
            <a:endCxn id="3134" idx="1"/>
          </p:cNvCxnSpPr>
          <p:nvPr/>
        </p:nvCxnSpPr>
        <p:spPr>
          <a:xfrm>
            <a:off x="2208825" y="2407050"/>
            <a:ext cx="597600" cy="95700"/>
          </a:xfrm>
          <a:prstGeom prst="straightConnector1">
            <a:avLst/>
          </a:prstGeom>
          <a:noFill/>
          <a:ln cap="flat" cmpd="sng" w="9525">
            <a:solidFill>
              <a:schemeClr val="accent2"/>
            </a:solidFill>
            <a:prstDash val="solid"/>
            <a:round/>
            <a:headEnd len="med" w="med" type="none"/>
            <a:tailEnd len="med" w="med" type="triangle"/>
          </a:ln>
        </p:spPr>
      </p:cxnSp>
      <p:cxnSp>
        <p:nvCxnSpPr>
          <p:cNvPr id="3156" name="Google Shape;3156;p122"/>
          <p:cNvCxnSpPr>
            <a:stCxn id="3134" idx="3"/>
            <a:endCxn id="3132" idx="1"/>
          </p:cNvCxnSpPr>
          <p:nvPr/>
        </p:nvCxnSpPr>
        <p:spPr>
          <a:xfrm flipH="1" rot="10800000">
            <a:off x="4239815" y="2500170"/>
            <a:ext cx="2033100" cy="2700"/>
          </a:xfrm>
          <a:prstGeom prst="straightConnector1">
            <a:avLst/>
          </a:prstGeom>
          <a:noFill/>
          <a:ln cap="flat" cmpd="sng" w="9525">
            <a:solidFill>
              <a:schemeClr val="accent2"/>
            </a:solidFill>
            <a:prstDash val="solid"/>
            <a:round/>
            <a:headEnd len="med" w="med" type="none"/>
            <a:tailEnd len="med" w="med" type="triangle"/>
          </a:ln>
        </p:spPr>
      </p:cxnSp>
      <p:cxnSp>
        <p:nvCxnSpPr>
          <p:cNvPr id="3157" name="Google Shape;3157;p122"/>
          <p:cNvCxnSpPr>
            <a:endCxn id="3136" idx="1"/>
          </p:cNvCxnSpPr>
          <p:nvPr/>
        </p:nvCxnSpPr>
        <p:spPr>
          <a:xfrm>
            <a:off x="4262352" y="3655810"/>
            <a:ext cx="2010600" cy="529200"/>
          </a:xfrm>
          <a:prstGeom prst="straightConnector1">
            <a:avLst/>
          </a:prstGeom>
          <a:noFill/>
          <a:ln cap="flat" cmpd="sng" w="9525">
            <a:solidFill>
              <a:schemeClr val="dk2"/>
            </a:solidFill>
            <a:prstDash val="solid"/>
            <a:round/>
            <a:headEnd len="med" w="med" type="none"/>
            <a:tailEnd len="med" w="med" type="triangle"/>
          </a:ln>
        </p:spPr>
      </p:cxnSp>
      <p:cxnSp>
        <p:nvCxnSpPr>
          <p:cNvPr id="3158" name="Google Shape;3158;p122"/>
          <p:cNvCxnSpPr>
            <a:stCxn id="3153" idx="1"/>
            <a:endCxn id="3139" idx="3"/>
          </p:cNvCxnSpPr>
          <p:nvPr/>
        </p:nvCxnSpPr>
        <p:spPr>
          <a:xfrm rot="10800000">
            <a:off x="5939952" y="3360399"/>
            <a:ext cx="333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3" name="Shape 3163"/>
        <p:cNvGrpSpPr/>
        <p:nvPr/>
      </p:nvGrpSpPr>
      <p:grpSpPr>
        <a:xfrm>
          <a:off x="0" y="0"/>
          <a:ext cx="0" cy="0"/>
          <a:chOff x="0" y="0"/>
          <a:chExt cx="0" cy="0"/>
        </a:xfrm>
      </p:grpSpPr>
      <p:sp>
        <p:nvSpPr>
          <p:cNvPr id="3164" name="Google Shape;3164;p123"/>
          <p:cNvSpPr txBox="1"/>
          <p:nvPr>
            <p:ph idx="12" type="sldNum"/>
          </p:nvPr>
        </p:nvSpPr>
        <p:spPr>
          <a:xfrm>
            <a:off x="10760109" y="6333309"/>
            <a:ext cx="666900" cy="524700"/>
          </a:xfrm>
          <a:prstGeom prst="rect">
            <a:avLst/>
          </a:prstGeom>
        </p:spPr>
        <p:txBody>
          <a:bodyPr anchorCtr="0" anchor="t" bIns="121875" lIns="121875" spcFirstLastPara="1" rIns="121875" wrap="square" tIns="121875">
            <a:normAutofit/>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165" name="Google Shape;3165;p123"/>
          <p:cNvSpPr txBox="1"/>
          <p:nvPr/>
        </p:nvSpPr>
        <p:spPr>
          <a:xfrm>
            <a:off x="0" y="0"/>
            <a:ext cx="66741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Notebook cell action icons</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/_static/images/notebooks/notebook-cell-icons.png</a:t>
            </a:r>
            <a:endParaRPr/>
          </a:p>
        </p:txBody>
      </p:sp>
      <p:pic>
        <p:nvPicPr>
          <p:cNvPr id="3166" name="Google Shape;3166;p123"/>
          <p:cNvPicPr preferRelativeResize="0"/>
          <p:nvPr/>
        </p:nvPicPr>
        <p:blipFill>
          <a:blip r:embed="rId3">
            <a:alphaModFix/>
          </a:blip>
          <a:stretch>
            <a:fillRect/>
          </a:stretch>
        </p:blipFill>
        <p:spPr>
          <a:xfrm>
            <a:off x="2132075" y="1558925"/>
            <a:ext cx="3962400" cy="914400"/>
          </a:xfrm>
          <a:prstGeom prst="rect">
            <a:avLst/>
          </a:prstGeom>
          <a:noFill/>
          <a:ln>
            <a:noFill/>
          </a:ln>
        </p:spPr>
      </p:pic>
      <p:cxnSp>
        <p:nvCxnSpPr>
          <p:cNvPr id="3167" name="Google Shape;3167;p123"/>
          <p:cNvCxnSpPr/>
          <p:nvPr/>
        </p:nvCxnSpPr>
        <p:spPr>
          <a:xfrm rot="10800000">
            <a:off x="2741250" y="2339100"/>
            <a:ext cx="0" cy="1889400"/>
          </a:xfrm>
          <a:prstGeom prst="straightConnector1">
            <a:avLst/>
          </a:prstGeom>
          <a:noFill/>
          <a:ln cap="flat" cmpd="sng" w="28575">
            <a:solidFill>
              <a:schemeClr val="dk1"/>
            </a:solidFill>
            <a:prstDash val="solid"/>
            <a:round/>
            <a:headEnd len="med" w="med" type="none"/>
            <a:tailEnd len="med" w="med" type="triangle"/>
          </a:ln>
        </p:spPr>
      </p:cxnSp>
      <p:cxnSp>
        <p:nvCxnSpPr>
          <p:cNvPr id="3168" name="Google Shape;3168;p123"/>
          <p:cNvCxnSpPr/>
          <p:nvPr/>
        </p:nvCxnSpPr>
        <p:spPr>
          <a:xfrm flipH="1" rot="10800000">
            <a:off x="3744575" y="2339000"/>
            <a:ext cx="4500" cy="1529100"/>
          </a:xfrm>
          <a:prstGeom prst="straightConnector1">
            <a:avLst/>
          </a:prstGeom>
          <a:noFill/>
          <a:ln cap="flat" cmpd="sng" w="28575">
            <a:solidFill>
              <a:schemeClr val="dk1"/>
            </a:solidFill>
            <a:prstDash val="solid"/>
            <a:round/>
            <a:headEnd len="med" w="med" type="none"/>
            <a:tailEnd len="med" w="med" type="triangle"/>
          </a:ln>
        </p:spPr>
      </p:cxnSp>
      <p:cxnSp>
        <p:nvCxnSpPr>
          <p:cNvPr id="3169" name="Google Shape;3169;p123"/>
          <p:cNvCxnSpPr/>
          <p:nvPr/>
        </p:nvCxnSpPr>
        <p:spPr>
          <a:xfrm rot="10800000">
            <a:off x="4374350" y="2339325"/>
            <a:ext cx="0" cy="1202700"/>
          </a:xfrm>
          <a:prstGeom prst="straightConnector1">
            <a:avLst/>
          </a:prstGeom>
          <a:noFill/>
          <a:ln cap="flat" cmpd="sng" w="28575">
            <a:solidFill>
              <a:schemeClr val="dk1"/>
            </a:solidFill>
            <a:prstDash val="solid"/>
            <a:round/>
            <a:headEnd len="med" w="med" type="none"/>
            <a:tailEnd len="med" w="med" type="triangle"/>
          </a:ln>
        </p:spPr>
      </p:cxnSp>
      <p:cxnSp>
        <p:nvCxnSpPr>
          <p:cNvPr id="3170" name="Google Shape;3170;p123"/>
          <p:cNvCxnSpPr/>
          <p:nvPr/>
        </p:nvCxnSpPr>
        <p:spPr>
          <a:xfrm rot="10800000">
            <a:off x="4962650" y="2338975"/>
            <a:ext cx="0" cy="859800"/>
          </a:xfrm>
          <a:prstGeom prst="straightConnector1">
            <a:avLst/>
          </a:prstGeom>
          <a:noFill/>
          <a:ln cap="flat" cmpd="sng" w="28575">
            <a:solidFill>
              <a:schemeClr val="dk1"/>
            </a:solidFill>
            <a:prstDash val="solid"/>
            <a:round/>
            <a:headEnd len="med" w="med" type="none"/>
            <a:tailEnd len="med" w="med" type="triangle"/>
          </a:ln>
        </p:spPr>
      </p:cxnSp>
      <p:cxnSp>
        <p:nvCxnSpPr>
          <p:cNvPr id="3171" name="Google Shape;3171;p123"/>
          <p:cNvCxnSpPr/>
          <p:nvPr/>
        </p:nvCxnSpPr>
        <p:spPr>
          <a:xfrm rot="10800000">
            <a:off x="5585500" y="2339050"/>
            <a:ext cx="0" cy="465000"/>
          </a:xfrm>
          <a:prstGeom prst="straightConnector1">
            <a:avLst/>
          </a:prstGeom>
          <a:noFill/>
          <a:ln cap="flat" cmpd="sng" w="28575">
            <a:solidFill>
              <a:schemeClr val="dk1"/>
            </a:solidFill>
            <a:prstDash val="solid"/>
            <a:round/>
            <a:headEnd len="med" w="med" type="none"/>
            <a:tailEnd len="med" w="med" type="triangle"/>
          </a:ln>
        </p:spPr>
      </p:cxnSp>
      <p:sp>
        <p:nvSpPr>
          <p:cNvPr id="3172" name="Google Shape;3172;p123"/>
          <p:cNvSpPr txBox="1"/>
          <p:nvPr/>
        </p:nvSpPr>
        <p:spPr>
          <a:xfrm>
            <a:off x="2741250" y="3958750"/>
            <a:ext cx="23307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Medium"/>
                <a:ea typeface="DM Sans Medium"/>
                <a:cs typeface="DM Sans Medium"/>
                <a:sym typeface="DM Sans Medium"/>
              </a:rPr>
              <a:t>Language selector</a:t>
            </a:r>
            <a:endParaRPr sz="1200"/>
          </a:p>
        </p:txBody>
      </p:sp>
      <p:sp>
        <p:nvSpPr>
          <p:cNvPr id="3173" name="Google Shape;3173;p123"/>
          <p:cNvSpPr txBox="1"/>
          <p:nvPr/>
        </p:nvSpPr>
        <p:spPr>
          <a:xfrm>
            <a:off x="3744575" y="3607300"/>
            <a:ext cx="23307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Medium"/>
                <a:ea typeface="DM Sans Medium"/>
                <a:cs typeface="DM Sans Medium"/>
                <a:sym typeface="DM Sans Medium"/>
              </a:rPr>
              <a:t>Delete cell</a:t>
            </a:r>
            <a:endParaRPr sz="1200"/>
          </a:p>
        </p:txBody>
      </p:sp>
      <p:sp>
        <p:nvSpPr>
          <p:cNvPr id="3174" name="Google Shape;3174;p123"/>
          <p:cNvSpPr txBox="1"/>
          <p:nvPr/>
        </p:nvSpPr>
        <p:spPr>
          <a:xfrm>
            <a:off x="4374350" y="3255850"/>
            <a:ext cx="23307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Medium"/>
                <a:ea typeface="DM Sans Medium"/>
                <a:cs typeface="DM Sans Medium"/>
                <a:sym typeface="DM Sans Medium"/>
              </a:rPr>
              <a:t>Databricks Assistant</a:t>
            </a:r>
            <a:endParaRPr sz="1200"/>
          </a:p>
        </p:txBody>
      </p:sp>
      <p:sp>
        <p:nvSpPr>
          <p:cNvPr id="3175" name="Google Shape;3175;p123"/>
          <p:cNvSpPr txBox="1"/>
          <p:nvPr/>
        </p:nvSpPr>
        <p:spPr>
          <a:xfrm>
            <a:off x="4962650" y="2904400"/>
            <a:ext cx="23307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Medium"/>
                <a:ea typeface="DM Sans Medium"/>
                <a:cs typeface="DM Sans Medium"/>
                <a:sym typeface="DM Sans Medium"/>
              </a:rPr>
              <a:t>Cell focus</a:t>
            </a:r>
            <a:endParaRPr sz="1200"/>
          </a:p>
        </p:txBody>
      </p:sp>
      <p:sp>
        <p:nvSpPr>
          <p:cNvPr id="3176" name="Google Shape;3176;p123"/>
          <p:cNvSpPr txBox="1"/>
          <p:nvPr/>
        </p:nvSpPr>
        <p:spPr>
          <a:xfrm>
            <a:off x="5619450" y="2565775"/>
            <a:ext cx="24696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Medium"/>
                <a:ea typeface="DM Sans Medium"/>
                <a:cs typeface="DM Sans Medium"/>
                <a:sym typeface="DM Sans Medium"/>
              </a:rPr>
              <a:t>Show cell actions menu</a:t>
            </a:r>
            <a:endParaRPr sz="1200"/>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0" name="Shape 3180"/>
        <p:cNvGrpSpPr/>
        <p:nvPr/>
      </p:nvGrpSpPr>
      <p:grpSpPr>
        <a:xfrm>
          <a:off x="0" y="0"/>
          <a:ext cx="0" cy="0"/>
          <a:chOff x="0" y="0"/>
          <a:chExt cx="0" cy="0"/>
        </a:xfrm>
      </p:grpSpPr>
      <p:sp>
        <p:nvSpPr>
          <p:cNvPr id="3181" name="Google Shape;3181;p124"/>
          <p:cNvSpPr/>
          <p:nvPr/>
        </p:nvSpPr>
        <p:spPr>
          <a:xfrm>
            <a:off x="1528500" y="1125725"/>
            <a:ext cx="5192100" cy="1213200"/>
          </a:xfrm>
          <a:prstGeom prst="roundRect">
            <a:avLst>
              <a:gd fmla="val 16667" name="adj"/>
            </a:avLst>
          </a:prstGeom>
          <a:noFill/>
          <a:ln cap="flat" cmpd="sng" w="9525">
            <a:solidFill>
              <a:srgbClr val="61879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182" name="Google Shape;3182;p124"/>
          <p:cNvSpPr/>
          <p:nvPr/>
        </p:nvSpPr>
        <p:spPr>
          <a:xfrm>
            <a:off x="5557325" y="2757475"/>
            <a:ext cx="959400" cy="847800"/>
          </a:xfrm>
          <a:prstGeom prst="roundRect">
            <a:avLst>
              <a:gd fmla="val 6398" name="adj"/>
            </a:avLst>
          </a:prstGeom>
          <a:solidFill>
            <a:srgbClr val="FFFFFF">
              <a:alpha val="94050"/>
            </a:srgbClr>
          </a:solidFill>
          <a:ln cap="flat" cmpd="sng" w="9525">
            <a:solidFill>
              <a:srgbClr val="618794"/>
            </a:solidFill>
            <a:prstDash val="solid"/>
            <a:round/>
            <a:headEnd len="sm" w="sm" type="none"/>
            <a:tailEnd len="sm" w="sm" type="none"/>
          </a:ln>
        </p:spPr>
        <p:txBody>
          <a:bodyPr anchorCtr="0" anchor="b"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Compute B</a:t>
            </a:r>
            <a:endParaRPr sz="1000">
              <a:solidFill>
                <a:srgbClr val="1B5162"/>
              </a:solidFill>
              <a:latin typeface="DM Sans Medium"/>
              <a:ea typeface="DM Sans Medium"/>
              <a:cs typeface="DM Sans Medium"/>
              <a:sym typeface="DM Sans Medium"/>
            </a:endParaRPr>
          </a:p>
        </p:txBody>
      </p:sp>
      <p:sp>
        <p:nvSpPr>
          <p:cNvPr id="3183" name="Google Shape;3183;p124"/>
          <p:cNvSpPr/>
          <p:nvPr/>
        </p:nvSpPr>
        <p:spPr>
          <a:xfrm>
            <a:off x="2864425" y="2757475"/>
            <a:ext cx="959400" cy="847800"/>
          </a:xfrm>
          <a:prstGeom prst="roundRect">
            <a:avLst>
              <a:gd fmla="val 6398" name="adj"/>
            </a:avLst>
          </a:prstGeom>
          <a:solidFill>
            <a:srgbClr val="FFFFFF">
              <a:alpha val="94050"/>
            </a:srgbClr>
          </a:solidFill>
          <a:ln cap="flat" cmpd="sng" w="9525">
            <a:solidFill>
              <a:srgbClr val="618794"/>
            </a:solidFill>
            <a:prstDash val="solid"/>
            <a:round/>
            <a:headEnd len="sm" w="sm" type="none"/>
            <a:tailEnd len="sm" w="sm" type="none"/>
          </a:ln>
        </p:spPr>
        <p:txBody>
          <a:bodyPr anchorCtr="0" anchor="b"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Compute A</a:t>
            </a:r>
            <a:endParaRPr sz="1000">
              <a:solidFill>
                <a:srgbClr val="1B5162"/>
              </a:solidFill>
              <a:latin typeface="DM Sans Medium"/>
              <a:ea typeface="DM Sans Medium"/>
              <a:cs typeface="DM Sans Medium"/>
              <a:sym typeface="DM Sans Medium"/>
            </a:endParaRPr>
          </a:p>
        </p:txBody>
      </p:sp>
      <p:sp>
        <p:nvSpPr>
          <p:cNvPr id="3184" name="Google Shape;3184;p124"/>
          <p:cNvSpPr txBox="1"/>
          <p:nvPr/>
        </p:nvSpPr>
        <p:spPr>
          <a:xfrm>
            <a:off x="8321019" y="5909418"/>
            <a:ext cx="261900" cy="166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100">
                <a:solidFill>
                  <a:srgbClr val="618794"/>
                </a:solidFill>
                <a:latin typeface="DM Sans"/>
                <a:ea typeface="DM Sans"/>
                <a:cs typeface="DM Sans"/>
                <a:sym typeface="DM Sans"/>
              </a:rPr>
              <a:t>‹#›</a:t>
            </a:fld>
            <a:endParaRPr sz="1100">
              <a:solidFill>
                <a:srgbClr val="618794"/>
              </a:solidFill>
              <a:latin typeface="DM Sans"/>
              <a:ea typeface="DM Sans"/>
              <a:cs typeface="DM Sans"/>
              <a:sym typeface="DM Sans"/>
            </a:endParaRPr>
          </a:p>
        </p:txBody>
      </p:sp>
      <p:sp>
        <p:nvSpPr>
          <p:cNvPr id="3185" name="Google Shape;3185;p124"/>
          <p:cNvSpPr txBox="1"/>
          <p:nvPr/>
        </p:nvSpPr>
        <p:spPr>
          <a:xfrm>
            <a:off x="3242749" y="1187521"/>
            <a:ext cx="2132700" cy="35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Job configuration</a:t>
            </a:r>
            <a:endParaRPr sz="1800">
              <a:solidFill>
                <a:srgbClr val="1B3139"/>
              </a:solidFill>
              <a:latin typeface="DM Sans"/>
              <a:ea typeface="DM Sans"/>
              <a:cs typeface="DM Sans"/>
              <a:sym typeface="DM Sans"/>
            </a:endParaRPr>
          </a:p>
        </p:txBody>
      </p:sp>
      <p:sp>
        <p:nvSpPr>
          <p:cNvPr id="3186" name="Google Shape;3186;p124"/>
          <p:cNvSpPr/>
          <p:nvPr/>
        </p:nvSpPr>
        <p:spPr>
          <a:xfrm>
            <a:off x="2864425" y="1622300"/>
            <a:ext cx="959400" cy="499500"/>
          </a:xfrm>
          <a:prstGeom prst="roundRect">
            <a:avLst>
              <a:gd fmla="val 6398" name="adj"/>
            </a:avLst>
          </a:prstGeom>
          <a:solidFill>
            <a:srgbClr val="FFFFFF">
              <a:alpha val="94050"/>
            </a:srgbClr>
          </a:solidFill>
          <a:ln cap="flat" cmpd="sng" w="9525">
            <a:solidFill>
              <a:srgbClr val="4359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Task 2</a:t>
            </a:r>
            <a:endParaRPr sz="1000">
              <a:solidFill>
                <a:srgbClr val="1B5162"/>
              </a:solidFill>
              <a:latin typeface="DM Sans Medium"/>
              <a:ea typeface="DM Sans Medium"/>
              <a:cs typeface="DM Sans Medium"/>
              <a:sym typeface="DM Sans Medium"/>
            </a:endParaRPr>
          </a:p>
        </p:txBody>
      </p:sp>
      <p:sp>
        <p:nvSpPr>
          <p:cNvPr id="3187" name="Google Shape;3187;p124"/>
          <p:cNvSpPr/>
          <p:nvPr/>
        </p:nvSpPr>
        <p:spPr>
          <a:xfrm>
            <a:off x="3968500" y="1622300"/>
            <a:ext cx="959400" cy="499500"/>
          </a:xfrm>
          <a:prstGeom prst="roundRect">
            <a:avLst>
              <a:gd fmla="val 6398" name="adj"/>
            </a:avLst>
          </a:prstGeom>
          <a:solidFill>
            <a:srgbClr val="FFFFFF">
              <a:alpha val="94050"/>
            </a:srgbClr>
          </a:solidFill>
          <a:ln cap="flat" cmpd="sng" w="9525">
            <a:solidFill>
              <a:srgbClr val="4359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Task 3</a:t>
            </a:r>
            <a:endParaRPr sz="1000">
              <a:solidFill>
                <a:srgbClr val="1B5162"/>
              </a:solidFill>
              <a:latin typeface="DM Sans Medium"/>
              <a:ea typeface="DM Sans Medium"/>
              <a:cs typeface="DM Sans Medium"/>
              <a:sym typeface="DM Sans Medium"/>
            </a:endParaRPr>
          </a:p>
        </p:txBody>
      </p:sp>
      <p:sp>
        <p:nvSpPr>
          <p:cNvPr id="3188" name="Google Shape;3188;p124"/>
          <p:cNvSpPr/>
          <p:nvPr/>
        </p:nvSpPr>
        <p:spPr>
          <a:xfrm>
            <a:off x="1725950" y="1622300"/>
            <a:ext cx="959400" cy="499500"/>
          </a:xfrm>
          <a:prstGeom prst="roundRect">
            <a:avLst>
              <a:gd fmla="val 6398" name="adj"/>
            </a:avLst>
          </a:prstGeom>
          <a:solidFill>
            <a:srgbClr val="FFFFFF">
              <a:alpha val="94050"/>
            </a:srgbClr>
          </a:solidFill>
          <a:ln cap="flat" cmpd="sng" w="9525">
            <a:solidFill>
              <a:srgbClr val="4359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Task 1</a:t>
            </a:r>
            <a:endParaRPr sz="1000">
              <a:solidFill>
                <a:srgbClr val="1B5162"/>
              </a:solidFill>
              <a:latin typeface="DM Sans Medium"/>
              <a:ea typeface="DM Sans Medium"/>
              <a:cs typeface="DM Sans Medium"/>
              <a:sym typeface="DM Sans Medium"/>
            </a:endParaRPr>
          </a:p>
        </p:txBody>
      </p:sp>
      <p:pic>
        <p:nvPicPr>
          <p:cNvPr id="3189" name="Google Shape;3189;p124"/>
          <p:cNvPicPr preferRelativeResize="0"/>
          <p:nvPr/>
        </p:nvPicPr>
        <p:blipFill>
          <a:blip r:embed="rId3">
            <a:alphaModFix amt="47000"/>
          </a:blip>
          <a:stretch>
            <a:fillRect/>
          </a:stretch>
        </p:blipFill>
        <p:spPr>
          <a:xfrm>
            <a:off x="3215537" y="1219775"/>
            <a:ext cx="308349" cy="293400"/>
          </a:xfrm>
          <a:prstGeom prst="rect">
            <a:avLst/>
          </a:prstGeom>
          <a:solidFill>
            <a:srgbClr val="FFFFFF"/>
          </a:solidFill>
          <a:ln>
            <a:noFill/>
          </a:ln>
        </p:spPr>
      </p:pic>
      <p:pic>
        <p:nvPicPr>
          <p:cNvPr id="3190" name="Google Shape;3190;p124"/>
          <p:cNvPicPr preferRelativeResize="0"/>
          <p:nvPr/>
        </p:nvPicPr>
        <p:blipFill>
          <a:blip r:embed="rId4">
            <a:alphaModFix/>
          </a:blip>
          <a:stretch>
            <a:fillRect/>
          </a:stretch>
        </p:blipFill>
        <p:spPr>
          <a:xfrm>
            <a:off x="3361239" y="1354044"/>
            <a:ext cx="161186" cy="155891"/>
          </a:xfrm>
          <a:prstGeom prst="rect">
            <a:avLst/>
          </a:prstGeom>
          <a:noFill/>
          <a:ln>
            <a:noFill/>
          </a:ln>
        </p:spPr>
      </p:pic>
      <p:sp>
        <p:nvSpPr>
          <p:cNvPr id="3191" name="Google Shape;3191;p124"/>
          <p:cNvSpPr/>
          <p:nvPr/>
        </p:nvSpPr>
        <p:spPr>
          <a:xfrm>
            <a:off x="5552275" y="1622300"/>
            <a:ext cx="959400" cy="499500"/>
          </a:xfrm>
          <a:prstGeom prst="roundRect">
            <a:avLst>
              <a:gd fmla="val 6398" name="adj"/>
            </a:avLst>
          </a:prstGeom>
          <a:solidFill>
            <a:srgbClr val="FFFFFF">
              <a:alpha val="94050"/>
            </a:srgbClr>
          </a:solidFill>
          <a:ln cap="flat" cmpd="sng" w="9525">
            <a:solidFill>
              <a:srgbClr val="4359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…Task N</a:t>
            </a:r>
            <a:endParaRPr sz="1000">
              <a:solidFill>
                <a:srgbClr val="1B5162"/>
              </a:solidFill>
              <a:latin typeface="DM Sans Medium"/>
              <a:ea typeface="DM Sans Medium"/>
              <a:cs typeface="DM Sans Medium"/>
              <a:sym typeface="DM Sans Medium"/>
            </a:endParaRPr>
          </a:p>
        </p:txBody>
      </p:sp>
      <p:cxnSp>
        <p:nvCxnSpPr>
          <p:cNvPr id="3192" name="Google Shape;3192;p124"/>
          <p:cNvCxnSpPr>
            <a:stCxn id="3187" idx="2"/>
            <a:endCxn id="3193" idx="0"/>
          </p:cNvCxnSpPr>
          <p:nvPr/>
        </p:nvCxnSpPr>
        <p:spPr>
          <a:xfrm flipH="1">
            <a:off x="3340900" y="2121800"/>
            <a:ext cx="1107300" cy="657600"/>
          </a:xfrm>
          <a:prstGeom prst="straightConnector1">
            <a:avLst/>
          </a:prstGeom>
          <a:noFill/>
          <a:ln cap="flat" cmpd="sng" w="19050">
            <a:solidFill>
              <a:srgbClr val="A2C4C9"/>
            </a:solidFill>
            <a:prstDash val="solid"/>
            <a:round/>
            <a:headEnd len="med" w="med" type="stealth"/>
            <a:tailEnd len="sm" w="sm" type="none"/>
          </a:ln>
        </p:spPr>
      </p:cxnSp>
      <p:cxnSp>
        <p:nvCxnSpPr>
          <p:cNvPr id="3194" name="Google Shape;3194;p124"/>
          <p:cNvCxnSpPr>
            <a:stCxn id="3188" idx="2"/>
            <a:endCxn id="3193" idx="0"/>
          </p:cNvCxnSpPr>
          <p:nvPr/>
        </p:nvCxnSpPr>
        <p:spPr>
          <a:xfrm>
            <a:off x="2205650" y="2121800"/>
            <a:ext cx="1135200" cy="657600"/>
          </a:xfrm>
          <a:prstGeom prst="straightConnector1">
            <a:avLst/>
          </a:prstGeom>
          <a:noFill/>
          <a:ln cap="flat" cmpd="sng" w="19050">
            <a:solidFill>
              <a:srgbClr val="A2C4C9"/>
            </a:solidFill>
            <a:prstDash val="solid"/>
            <a:round/>
            <a:headEnd len="med" w="med" type="stealth"/>
            <a:tailEnd len="sm" w="sm" type="none"/>
          </a:ln>
        </p:spPr>
      </p:cxnSp>
      <p:cxnSp>
        <p:nvCxnSpPr>
          <p:cNvPr id="3195" name="Google Shape;3195;p124"/>
          <p:cNvCxnSpPr>
            <a:stCxn id="3191" idx="2"/>
            <a:endCxn id="3182" idx="0"/>
          </p:cNvCxnSpPr>
          <p:nvPr/>
        </p:nvCxnSpPr>
        <p:spPr>
          <a:xfrm>
            <a:off x="6031975" y="2121800"/>
            <a:ext cx="5100" cy="635700"/>
          </a:xfrm>
          <a:prstGeom prst="straightConnector1">
            <a:avLst/>
          </a:prstGeom>
          <a:noFill/>
          <a:ln cap="flat" cmpd="sng" w="19050">
            <a:solidFill>
              <a:srgbClr val="A2C4C9"/>
            </a:solidFill>
            <a:prstDash val="solid"/>
            <a:round/>
            <a:headEnd len="med" w="med" type="stealth"/>
            <a:tailEnd len="sm" w="sm" type="none"/>
          </a:ln>
        </p:spPr>
      </p:cxnSp>
      <p:cxnSp>
        <p:nvCxnSpPr>
          <p:cNvPr id="3196" name="Google Shape;3196;p124"/>
          <p:cNvCxnSpPr>
            <a:stCxn id="3186" idx="2"/>
            <a:endCxn id="3193" idx="0"/>
          </p:cNvCxnSpPr>
          <p:nvPr/>
        </p:nvCxnSpPr>
        <p:spPr>
          <a:xfrm flipH="1">
            <a:off x="3340825" y="2121800"/>
            <a:ext cx="3300" cy="657600"/>
          </a:xfrm>
          <a:prstGeom prst="straightConnector1">
            <a:avLst/>
          </a:prstGeom>
          <a:noFill/>
          <a:ln cap="flat" cmpd="sng" w="19050">
            <a:solidFill>
              <a:srgbClr val="A2C4C9"/>
            </a:solidFill>
            <a:prstDash val="solid"/>
            <a:round/>
            <a:headEnd len="med" w="med" type="stealth"/>
            <a:tailEnd len="sm" w="sm" type="none"/>
          </a:ln>
        </p:spPr>
      </p:cxnSp>
      <p:pic>
        <p:nvPicPr>
          <p:cNvPr id="3193" name="Google Shape;3193;p124"/>
          <p:cNvPicPr preferRelativeResize="0"/>
          <p:nvPr/>
        </p:nvPicPr>
        <p:blipFill rotWithShape="1">
          <a:blip r:embed="rId5">
            <a:alphaModFix/>
          </a:blip>
          <a:srcRect b="0" l="0" r="0" t="0"/>
          <a:stretch/>
        </p:blipFill>
        <p:spPr>
          <a:xfrm>
            <a:off x="3056400" y="2779250"/>
            <a:ext cx="569149" cy="601199"/>
          </a:xfrm>
          <a:prstGeom prst="rect">
            <a:avLst/>
          </a:prstGeom>
          <a:noFill/>
          <a:ln>
            <a:noFill/>
          </a:ln>
        </p:spPr>
      </p:pic>
      <p:pic>
        <p:nvPicPr>
          <p:cNvPr id="3197" name="Google Shape;3197;p124"/>
          <p:cNvPicPr preferRelativeResize="0"/>
          <p:nvPr/>
        </p:nvPicPr>
        <p:blipFill rotWithShape="1">
          <a:blip r:embed="rId5">
            <a:alphaModFix/>
          </a:blip>
          <a:srcRect b="0" l="0" r="0" t="0"/>
          <a:stretch/>
        </p:blipFill>
        <p:spPr>
          <a:xfrm>
            <a:off x="5731400" y="2779250"/>
            <a:ext cx="601146" cy="601199"/>
          </a:xfrm>
          <a:prstGeom prst="rect">
            <a:avLst/>
          </a:prstGeom>
          <a:noFill/>
          <a:ln>
            <a:noFill/>
          </a:ln>
        </p:spPr>
      </p:pic>
      <p:sp>
        <p:nvSpPr>
          <p:cNvPr id="3198" name="Google Shape;3198;p124"/>
          <p:cNvSpPr txBox="1"/>
          <p:nvPr/>
        </p:nvSpPr>
        <p:spPr>
          <a:xfrm>
            <a:off x="0" y="0"/>
            <a:ext cx="66741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Job compute</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/_static/images/jobs/job-compute1.png</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2" name="Shape 3202"/>
        <p:cNvGrpSpPr/>
        <p:nvPr/>
      </p:nvGrpSpPr>
      <p:grpSpPr>
        <a:xfrm>
          <a:off x="0" y="0"/>
          <a:ext cx="0" cy="0"/>
          <a:chOff x="0" y="0"/>
          <a:chExt cx="0" cy="0"/>
        </a:xfrm>
      </p:grpSpPr>
      <p:sp>
        <p:nvSpPr>
          <p:cNvPr id="3203" name="Google Shape;3203;p125"/>
          <p:cNvSpPr/>
          <p:nvPr/>
        </p:nvSpPr>
        <p:spPr>
          <a:xfrm>
            <a:off x="2242450" y="2445525"/>
            <a:ext cx="1631700" cy="3009300"/>
          </a:xfrm>
          <a:prstGeom prst="roundRect">
            <a:avLst>
              <a:gd fmla="val 5492" name="adj"/>
            </a:avLst>
          </a:prstGeom>
          <a:solidFill>
            <a:srgbClr val="FFFFFF"/>
          </a:solidFill>
          <a:ln cap="flat" cmpd="sng" w="9525">
            <a:solidFill>
              <a:srgbClr val="4359FF"/>
            </a:solidFill>
            <a:prstDash val="dot"/>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Local dev environment</a:t>
            </a:r>
            <a:endParaRPr sz="1200">
              <a:solidFill>
                <a:srgbClr val="1B5162"/>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solidFill>
                <a:srgbClr val="1B5162"/>
              </a:solidFill>
              <a:latin typeface="DM Sans Medium"/>
              <a:ea typeface="DM Sans Medium"/>
              <a:cs typeface="DM Sans Medium"/>
              <a:sym typeface="DM Sans Medium"/>
            </a:endParaRPr>
          </a:p>
        </p:txBody>
      </p:sp>
      <p:sp>
        <p:nvSpPr>
          <p:cNvPr id="3204" name="Google Shape;3204;p125"/>
          <p:cNvSpPr txBox="1"/>
          <p:nvPr/>
        </p:nvSpPr>
        <p:spPr>
          <a:xfrm>
            <a:off x="9997419" y="6138018"/>
            <a:ext cx="261900" cy="166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100">
                <a:solidFill>
                  <a:srgbClr val="618794"/>
                </a:solidFill>
                <a:latin typeface="DM Sans"/>
                <a:ea typeface="DM Sans"/>
                <a:cs typeface="DM Sans"/>
                <a:sym typeface="DM Sans"/>
              </a:rPr>
              <a:t>‹#›</a:t>
            </a:fld>
            <a:endParaRPr sz="1100">
              <a:solidFill>
                <a:srgbClr val="618794"/>
              </a:solidFill>
              <a:latin typeface="DM Sans"/>
              <a:ea typeface="DM Sans"/>
              <a:cs typeface="DM Sans"/>
              <a:sym typeface="DM Sans"/>
            </a:endParaRPr>
          </a:p>
        </p:txBody>
      </p:sp>
      <p:sp>
        <p:nvSpPr>
          <p:cNvPr id="3205" name="Google Shape;3205;p125"/>
          <p:cNvSpPr/>
          <p:nvPr/>
        </p:nvSpPr>
        <p:spPr>
          <a:xfrm>
            <a:off x="7584100" y="4644800"/>
            <a:ext cx="2848500" cy="834000"/>
          </a:xfrm>
          <a:prstGeom prst="roundRect">
            <a:avLst>
              <a:gd fmla="val 5492" name="adj"/>
            </a:avLst>
          </a:prstGeom>
          <a:solidFill>
            <a:srgbClr val="FFFFFF"/>
          </a:solidFill>
          <a:ln cap="flat" cmpd="sng" w="9525">
            <a:solidFill>
              <a:srgbClr val="00A972"/>
            </a:solidFill>
            <a:prstDash val="dash"/>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CI/CD</a:t>
            </a:r>
            <a:endParaRPr sz="1200">
              <a:solidFill>
                <a:srgbClr val="1B5162"/>
              </a:solidFill>
              <a:latin typeface="DM Sans Medium"/>
              <a:ea typeface="DM Sans Medium"/>
              <a:cs typeface="DM Sans Medium"/>
              <a:sym typeface="DM Sans Medium"/>
            </a:endParaRPr>
          </a:p>
        </p:txBody>
      </p:sp>
      <p:sp>
        <p:nvSpPr>
          <p:cNvPr id="3206" name="Google Shape;3206;p125"/>
          <p:cNvSpPr/>
          <p:nvPr/>
        </p:nvSpPr>
        <p:spPr>
          <a:xfrm>
            <a:off x="5542075" y="1354325"/>
            <a:ext cx="4913400" cy="23604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07" name="Google Shape;3207;p125"/>
          <p:cNvSpPr/>
          <p:nvPr/>
        </p:nvSpPr>
        <p:spPr>
          <a:xfrm>
            <a:off x="2480950" y="3382023"/>
            <a:ext cx="1154700" cy="1386900"/>
          </a:xfrm>
          <a:prstGeom prst="roundRect">
            <a:avLst>
              <a:gd fmla="val 5492" name="adj"/>
            </a:avLst>
          </a:prstGeom>
          <a:solidFill>
            <a:srgbClr val="FFFFFF"/>
          </a:solidFill>
          <a:ln cap="flat" cmpd="sng" w="9525">
            <a:solidFill>
              <a:srgbClr val="4359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project bundle</a:t>
            </a:r>
            <a:endParaRPr sz="1200">
              <a:solidFill>
                <a:srgbClr val="1B5162"/>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solidFill>
                <a:srgbClr val="1B5162"/>
              </a:solidFill>
              <a:latin typeface="DM Sans Medium"/>
              <a:ea typeface="DM Sans Medium"/>
              <a:cs typeface="DM Sans Medium"/>
              <a:sym typeface="DM Sans Medium"/>
            </a:endParaRPr>
          </a:p>
        </p:txBody>
      </p:sp>
      <p:sp>
        <p:nvSpPr>
          <p:cNvPr id="3208" name="Google Shape;3208;p125"/>
          <p:cNvSpPr txBox="1"/>
          <p:nvPr/>
        </p:nvSpPr>
        <p:spPr>
          <a:xfrm>
            <a:off x="5804349" y="1389212"/>
            <a:ext cx="4437300" cy="25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Databricks workspaces</a:t>
            </a:r>
            <a:endParaRPr sz="1800">
              <a:solidFill>
                <a:srgbClr val="1B3139"/>
              </a:solidFill>
              <a:latin typeface="DM Sans"/>
              <a:ea typeface="DM Sans"/>
              <a:cs typeface="DM Sans"/>
              <a:sym typeface="DM Sans"/>
            </a:endParaRPr>
          </a:p>
        </p:txBody>
      </p:sp>
      <p:grpSp>
        <p:nvGrpSpPr>
          <p:cNvPr id="3209" name="Google Shape;3209;p125"/>
          <p:cNvGrpSpPr/>
          <p:nvPr/>
        </p:nvGrpSpPr>
        <p:grpSpPr>
          <a:xfrm>
            <a:off x="5116266" y="4650295"/>
            <a:ext cx="1631694" cy="833966"/>
            <a:chOff x="4434338" y="2827759"/>
            <a:chExt cx="2698800" cy="826200"/>
          </a:xfrm>
        </p:grpSpPr>
        <p:sp>
          <p:nvSpPr>
            <p:cNvPr id="3210" name="Google Shape;3210;p125"/>
            <p:cNvSpPr/>
            <p:nvPr/>
          </p:nvSpPr>
          <p:spPr>
            <a:xfrm>
              <a:off x="4434338" y="2827759"/>
              <a:ext cx="2698800" cy="826200"/>
            </a:xfrm>
            <a:prstGeom prst="roundRect">
              <a:avLst>
                <a:gd fmla="val 6398" name="adj"/>
              </a:avLst>
            </a:prstGeom>
            <a:solidFill>
              <a:srgbClr val="FFFFFF">
                <a:alpha val="94050"/>
              </a:srgbClr>
            </a:solidFill>
            <a:ln cap="flat" cmpd="sng" w="9525">
              <a:solidFill>
                <a:srgbClr val="000000"/>
              </a:solidFill>
              <a:prstDash val="solid"/>
              <a:round/>
              <a:headEnd len="sm" w="sm" type="none"/>
              <a:tailEnd len="sm" w="sm" type="none"/>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version control</a:t>
              </a:r>
              <a:endParaRPr sz="1200">
                <a:solidFill>
                  <a:srgbClr val="1B5162"/>
                </a:solidFill>
                <a:latin typeface="DM Sans Medium"/>
                <a:ea typeface="DM Sans Medium"/>
                <a:cs typeface="DM Sans Medium"/>
                <a:sym typeface="DM Sans Medium"/>
              </a:endParaRPr>
            </a:p>
          </p:txBody>
        </p:sp>
        <p:sp>
          <p:nvSpPr>
            <p:cNvPr id="3211" name="Google Shape;3211;p125"/>
            <p:cNvSpPr/>
            <p:nvPr/>
          </p:nvSpPr>
          <p:spPr>
            <a:xfrm>
              <a:off x="4911606" y="3240902"/>
              <a:ext cx="1805100" cy="3369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project repository</a:t>
              </a:r>
              <a:endParaRPr i="0" sz="1000" u="none" cap="none" strike="noStrike">
                <a:solidFill>
                  <a:srgbClr val="1B3038"/>
                </a:solidFill>
                <a:latin typeface="DM Sans"/>
                <a:ea typeface="DM Sans"/>
                <a:cs typeface="DM Sans"/>
                <a:sym typeface="DM Sans"/>
              </a:endParaRPr>
            </a:p>
          </p:txBody>
        </p:sp>
      </p:grpSp>
      <p:cxnSp>
        <p:nvCxnSpPr>
          <p:cNvPr id="3212" name="Google Shape;3212;p125"/>
          <p:cNvCxnSpPr>
            <a:stCxn id="3205" idx="1"/>
            <a:endCxn id="3210" idx="3"/>
          </p:cNvCxnSpPr>
          <p:nvPr/>
        </p:nvCxnSpPr>
        <p:spPr>
          <a:xfrm flipH="1">
            <a:off x="6748000" y="5061800"/>
            <a:ext cx="836100" cy="5400"/>
          </a:xfrm>
          <a:prstGeom prst="straightConnector1">
            <a:avLst/>
          </a:prstGeom>
          <a:noFill/>
          <a:ln cap="flat" cmpd="sng" w="19050">
            <a:solidFill>
              <a:srgbClr val="A2C4C9"/>
            </a:solidFill>
            <a:prstDash val="solid"/>
            <a:round/>
            <a:headEnd len="med" w="med" type="stealth"/>
            <a:tailEnd len="sm" w="sm" type="none"/>
          </a:ln>
        </p:spPr>
      </p:cxnSp>
      <p:sp>
        <p:nvSpPr>
          <p:cNvPr id="3213" name="Google Shape;3213;p125"/>
          <p:cNvSpPr txBox="1"/>
          <p:nvPr/>
        </p:nvSpPr>
        <p:spPr>
          <a:xfrm>
            <a:off x="1908465" y="1690086"/>
            <a:ext cx="1957800" cy="15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800">
              <a:solidFill>
                <a:srgbClr val="1B3139"/>
              </a:solidFill>
              <a:latin typeface="DM Sans"/>
              <a:ea typeface="DM Sans"/>
              <a:cs typeface="DM Sans"/>
              <a:sym typeface="DM Sans"/>
            </a:endParaRPr>
          </a:p>
        </p:txBody>
      </p:sp>
      <p:sp>
        <p:nvSpPr>
          <p:cNvPr id="3214" name="Google Shape;3214;p125"/>
          <p:cNvSpPr/>
          <p:nvPr/>
        </p:nvSpPr>
        <p:spPr>
          <a:xfrm>
            <a:off x="8892025" y="1997100"/>
            <a:ext cx="1423800" cy="1506300"/>
          </a:xfrm>
          <a:prstGeom prst="roundRect">
            <a:avLst>
              <a:gd fmla="val 5209" name="adj"/>
            </a:avLst>
          </a:prstGeom>
          <a:solidFill>
            <a:srgbClr val="FFFFFF"/>
          </a:solidFill>
          <a:ln cap="flat" cmpd="sng" w="9525">
            <a:solidFill>
              <a:srgbClr val="FF5F46"/>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Production workspace</a:t>
            </a:r>
            <a:endParaRPr sz="1200">
              <a:solidFill>
                <a:srgbClr val="1B5162"/>
              </a:solidFill>
              <a:latin typeface="DM Sans Medium"/>
              <a:ea typeface="DM Sans Medium"/>
              <a:cs typeface="DM Sans Medium"/>
              <a:sym typeface="DM Sans Medium"/>
            </a:endParaRPr>
          </a:p>
        </p:txBody>
      </p:sp>
      <p:sp>
        <p:nvSpPr>
          <p:cNvPr id="3215" name="Google Shape;3215;p125"/>
          <p:cNvSpPr/>
          <p:nvPr/>
        </p:nvSpPr>
        <p:spPr>
          <a:xfrm>
            <a:off x="7309738" y="1997200"/>
            <a:ext cx="1426500" cy="1506300"/>
          </a:xfrm>
          <a:prstGeom prst="roundRect">
            <a:avLst>
              <a:gd fmla="val 5209" name="adj"/>
            </a:avLst>
          </a:prstGeom>
          <a:solidFill>
            <a:srgbClr val="FFFFFF"/>
          </a:solidFill>
          <a:ln cap="flat" cmpd="sng" w="9525">
            <a:solidFill>
              <a:srgbClr val="FF5F46"/>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Staging workspace</a:t>
            </a:r>
            <a:endParaRPr sz="1200">
              <a:solidFill>
                <a:srgbClr val="1B5162"/>
              </a:solidFill>
              <a:latin typeface="DM Sans Medium"/>
              <a:ea typeface="DM Sans Medium"/>
              <a:cs typeface="DM Sans Medium"/>
              <a:sym typeface="DM Sans Medium"/>
            </a:endParaRPr>
          </a:p>
        </p:txBody>
      </p:sp>
      <p:sp>
        <p:nvSpPr>
          <p:cNvPr id="3216" name="Google Shape;3216;p125"/>
          <p:cNvSpPr/>
          <p:nvPr/>
        </p:nvSpPr>
        <p:spPr>
          <a:xfrm>
            <a:off x="5730150" y="1997200"/>
            <a:ext cx="1423800" cy="1506300"/>
          </a:xfrm>
          <a:prstGeom prst="roundRect">
            <a:avLst>
              <a:gd fmla="val 5209" name="adj"/>
            </a:avLst>
          </a:prstGeom>
          <a:solidFill>
            <a:srgbClr val="FFFFFF"/>
          </a:solidFill>
          <a:ln cap="flat" cmpd="sng" w="9525">
            <a:solidFill>
              <a:srgbClr val="FF5F46"/>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Development workspace</a:t>
            </a:r>
            <a:endParaRPr sz="1200">
              <a:solidFill>
                <a:srgbClr val="1B5162"/>
              </a:solidFill>
              <a:latin typeface="DM Sans Medium"/>
              <a:ea typeface="DM Sans Medium"/>
              <a:cs typeface="DM Sans Medium"/>
              <a:sym typeface="DM Sans Medium"/>
            </a:endParaRPr>
          </a:p>
        </p:txBody>
      </p:sp>
      <p:sp>
        <p:nvSpPr>
          <p:cNvPr id="3217" name="Google Shape;3217;p125"/>
          <p:cNvSpPr txBox="1"/>
          <p:nvPr/>
        </p:nvSpPr>
        <p:spPr>
          <a:xfrm>
            <a:off x="4142425" y="4854250"/>
            <a:ext cx="9858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Users can commit changes to source control.</a:t>
            </a:r>
            <a:endParaRPr sz="900">
              <a:solidFill>
                <a:srgbClr val="595959"/>
              </a:solidFill>
            </a:endParaRPr>
          </a:p>
        </p:txBody>
      </p:sp>
      <p:cxnSp>
        <p:nvCxnSpPr>
          <p:cNvPr id="3218" name="Google Shape;3218;p125"/>
          <p:cNvCxnSpPr>
            <a:stCxn id="3211" idx="1"/>
            <a:endCxn id="3207" idx="3"/>
          </p:cNvCxnSpPr>
          <p:nvPr/>
        </p:nvCxnSpPr>
        <p:spPr>
          <a:xfrm rot="10800000">
            <a:off x="3635722" y="4075455"/>
            <a:ext cx="1769100" cy="1161900"/>
          </a:xfrm>
          <a:prstGeom prst="straightConnector1">
            <a:avLst/>
          </a:prstGeom>
          <a:noFill/>
          <a:ln cap="flat" cmpd="sng" w="19050">
            <a:solidFill>
              <a:srgbClr val="A2C4C9"/>
            </a:solidFill>
            <a:prstDash val="solid"/>
            <a:round/>
            <a:headEnd len="med" w="med" type="stealth"/>
            <a:tailEnd len="sm" w="sm" type="none"/>
          </a:ln>
        </p:spPr>
      </p:cxnSp>
      <p:sp>
        <p:nvSpPr>
          <p:cNvPr id="3219" name="Google Shape;3219;p125"/>
          <p:cNvSpPr txBox="1"/>
          <p:nvPr/>
        </p:nvSpPr>
        <p:spPr>
          <a:xfrm>
            <a:off x="4382932" y="2655000"/>
            <a:ext cx="802500" cy="6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Users can manually deploy to see and test changes in dev.</a:t>
            </a:r>
            <a:endParaRPr sz="800">
              <a:solidFill>
                <a:srgbClr val="595959"/>
              </a:solidFill>
            </a:endParaRPr>
          </a:p>
        </p:txBody>
      </p:sp>
      <p:sp>
        <p:nvSpPr>
          <p:cNvPr id="3220" name="Google Shape;3220;p125"/>
          <p:cNvSpPr txBox="1"/>
          <p:nvPr/>
        </p:nvSpPr>
        <p:spPr>
          <a:xfrm>
            <a:off x="9630225" y="4026600"/>
            <a:ext cx="1194000" cy="4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Code is deployed to production after review and approval.</a:t>
            </a:r>
            <a:endParaRPr sz="900">
              <a:solidFill>
                <a:srgbClr val="595959"/>
              </a:solidFill>
            </a:endParaRPr>
          </a:p>
        </p:txBody>
      </p:sp>
      <p:sp>
        <p:nvSpPr>
          <p:cNvPr id="3221" name="Google Shape;3221;p125"/>
          <p:cNvSpPr txBox="1"/>
          <p:nvPr/>
        </p:nvSpPr>
        <p:spPr>
          <a:xfrm>
            <a:off x="2242450" y="1228250"/>
            <a:ext cx="1536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595959"/>
                </a:solidFill>
              </a:rPr>
              <a:t>Data workers</a:t>
            </a:r>
            <a:endParaRPr sz="1200">
              <a:solidFill>
                <a:srgbClr val="595959"/>
              </a:solidFill>
            </a:endParaRPr>
          </a:p>
        </p:txBody>
      </p:sp>
      <p:pic>
        <p:nvPicPr>
          <p:cNvPr id="3222" name="Google Shape;3222;p125"/>
          <p:cNvPicPr preferRelativeResize="0"/>
          <p:nvPr/>
        </p:nvPicPr>
        <p:blipFill rotWithShape="1">
          <a:blip r:embed="rId3">
            <a:alphaModFix/>
          </a:blip>
          <a:srcRect b="0" l="0" r="0" t="0"/>
          <a:stretch/>
        </p:blipFill>
        <p:spPr>
          <a:xfrm>
            <a:off x="5719685" y="1446908"/>
            <a:ext cx="357949" cy="337736"/>
          </a:xfrm>
          <a:prstGeom prst="rect">
            <a:avLst/>
          </a:prstGeom>
          <a:noFill/>
          <a:ln>
            <a:noFill/>
          </a:ln>
        </p:spPr>
      </p:pic>
      <p:pic>
        <p:nvPicPr>
          <p:cNvPr id="3223" name="Google Shape;3223;p125"/>
          <p:cNvPicPr preferRelativeResize="0"/>
          <p:nvPr/>
        </p:nvPicPr>
        <p:blipFill rotWithShape="1">
          <a:blip r:embed="rId4">
            <a:alphaModFix/>
          </a:blip>
          <a:srcRect b="0" l="0" r="0" t="0"/>
          <a:stretch/>
        </p:blipFill>
        <p:spPr>
          <a:xfrm>
            <a:off x="7756475" y="4986300"/>
            <a:ext cx="357949" cy="357974"/>
          </a:xfrm>
          <a:prstGeom prst="rect">
            <a:avLst/>
          </a:prstGeom>
          <a:noFill/>
          <a:ln>
            <a:noFill/>
          </a:ln>
        </p:spPr>
      </p:pic>
      <p:pic>
        <p:nvPicPr>
          <p:cNvPr id="3224" name="Google Shape;3224;p125"/>
          <p:cNvPicPr preferRelativeResize="0"/>
          <p:nvPr/>
        </p:nvPicPr>
        <p:blipFill rotWithShape="1">
          <a:blip r:embed="rId5">
            <a:alphaModFix/>
          </a:blip>
          <a:srcRect b="0" l="0" r="0" t="0"/>
          <a:stretch/>
        </p:blipFill>
        <p:spPr>
          <a:xfrm>
            <a:off x="3134712" y="3937799"/>
            <a:ext cx="308325" cy="308325"/>
          </a:xfrm>
          <a:prstGeom prst="rect">
            <a:avLst/>
          </a:prstGeom>
          <a:noFill/>
          <a:ln>
            <a:noFill/>
          </a:ln>
        </p:spPr>
      </p:pic>
      <p:pic>
        <p:nvPicPr>
          <p:cNvPr id="3225" name="Google Shape;3225;p125"/>
          <p:cNvPicPr preferRelativeResize="0"/>
          <p:nvPr/>
        </p:nvPicPr>
        <p:blipFill rotWithShape="1">
          <a:blip r:embed="rId6">
            <a:alphaModFix/>
          </a:blip>
          <a:srcRect b="0" l="0" r="0" t="0"/>
          <a:stretch/>
        </p:blipFill>
        <p:spPr>
          <a:xfrm>
            <a:off x="2545852" y="1554915"/>
            <a:ext cx="420624" cy="420624"/>
          </a:xfrm>
          <a:prstGeom prst="rect">
            <a:avLst/>
          </a:prstGeom>
          <a:noFill/>
          <a:ln>
            <a:noFill/>
          </a:ln>
        </p:spPr>
      </p:pic>
      <p:pic>
        <p:nvPicPr>
          <p:cNvPr id="3226" name="Google Shape;3226;p125"/>
          <p:cNvPicPr preferRelativeResize="0"/>
          <p:nvPr/>
        </p:nvPicPr>
        <p:blipFill rotWithShape="1">
          <a:blip r:embed="rId7">
            <a:alphaModFix/>
          </a:blip>
          <a:srcRect b="0" l="0" r="0" t="0"/>
          <a:stretch/>
        </p:blipFill>
        <p:spPr>
          <a:xfrm>
            <a:off x="3027271" y="1552990"/>
            <a:ext cx="424474" cy="424489"/>
          </a:xfrm>
          <a:prstGeom prst="rect">
            <a:avLst/>
          </a:prstGeom>
          <a:noFill/>
          <a:ln>
            <a:noFill/>
          </a:ln>
        </p:spPr>
      </p:pic>
      <p:pic>
        <p:nvPicPr>
          <p:cNvPr id="3227" name="Google Shape;3227;p125"/>
          <p:cNvPicPr preferRelativeResize="0"/>
          <p:nvPr/>
        </p:nvPicPr>
        <p:blipFill rotWithShape="1">
          <a:blip r:embed="rId8">
            <a:alphaModFix/>
          </a:blip>
          <a:srcRect b="0" l="0" r="0" t="0"/>
          <a:stretch/>
        </p:blipFill>
        <p:spPr>
          <a:xfrm>
            <a:off x="9340024" y="4085699"/>
            <a:ext cx="338699" cy="338699"/>
          </a:xfrm>
          <a:prstGeom prst="rect">
            <a:avLst/>
          </a:prstGeom>
          <a:noFill/>
          <a:ln>
            <a:noFill/>
          </a:ln>
        </p:spPr>
      </p:pic>
      <p:sp>
        <p:nvSpPr>
          <p:cNvPr id="3228" name="Google Shape;3228;p125"/>
          <p:cNvSpPr txBox="1"/>
          <p:nvPr/>
        </p:nvSpPr>
        <p:spPr>
          <a:xfrm>
            <a:off x="7507500" y="4017113"/>
            <a:ext cx="1194000" cy="4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Code and integration tests are deployed to staging.</a:t>
            </a:r>
            <a:endParaRPr sz="900">
              <a:solidFill>
                <a:srgbClr val="595959"/>
              </a:solidFill>
            </a:endParaRPr>
          </a:p>
        </p:txBody>
      </p:sp>
      <p:pic>
        <p:nvPicPr>
          <p:cNvPr id="3229" name="Google Shape;3229;p125"/>
          <p:cNvPicPr preferRelativeResize="0"/>
          <p:nvPr/>
        </p:nvPicPr>
        <p:blipFill rotWithShape="1">
          <a:blip r:embed="rId8">
            <a:alphaModFix/>
          </a:blip>
          <a:srcRect b="0" l="0" r="0" t="0"/>
          <a:stretch/>
        </p:blipFill>
        <p:spPr>
          <a:xfrm>
            <a:off x="7225399" y="4085712"/>
            <a:ext cx="338699" cy="338699"/>
          </a:xfrm>
          <a:prstGeom prst="rect">
            <a:avLst/>
          </a:prstGeom>
          <a:noFill/>
          <a:ln>
            <a:noFill/>
          </a:ln>
        </p:spPr>
      </p:pic>
      <p:sp>
        <p:nvSpPr>
          <p:cNvPr id="3230" name="Google Shape;3230;p125"/>
          <p:cNvSpPr/>
          <p:nvPr/>
        </p:nvSpPr>
        <p:spPr>
          <a:xfrm>
            <a:off x="7424025" y="2612900"/>
            <a:ext cx="1197900" cy="721200"/>
          </a:xfrm>
          <a:prstGeom prst="roundRect">
            <a:avLst>
              <a:gd fmla="val 6398" name="adj"/>
            </a:avLst>
          </a:prstGeom>
          <a:solidFill>
            <a:srgbClr val="FFFFFF">
              <a:alpha val="94050"/>
            </a:srgbClr>
          </a:solidFill>
          <a:ln cap="flat" cmpd="sng" w="9525">
            <a:solidFill>
              <a:srgbClr val="4359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staging deployment</a:t>
            </a:r>
            <a:endParaRPr sz="1000">
              <a:solidFill>
                <a:srgbClr val="1B5162"/>
              </a:solidFill>
              <a:latin typeface="DM Sans Medium"/>
              <a:ea typeface="DM Sans Medium"/>
              <a:cs typeface="DM Sans Medium"/>
              <a:sym typeface="DM Sans Medium"/>
            </a:endParaRPr>
          </a:p>
        </p:txBody>
      </p:sp>
      <p:cxnSp>
        <p:nvCxnSpPr>
          <p:cNvPr id="3231" name="Google Shape;3231;p125"/>
          <p:cNvCxnSpPr>
            <a:endCxn id="3207" idx="3"/>
          </p:cNvCxnSpPr>
          <p:nvPr/>
        </p:nvCxnSpPr>
        <p:spPr>
          <a:xfrm flipH="1">
            <a:off x="3635650" y="2973273"/>
            <a:ext cx="2220000" cy="1102200"/>
          </a:xfrm>
          <a:prstGeom prst="straightConnector1">
            <a:avLst/>
          </a:prstGeom>
          <a:noFill/>
          <a:ln cap="flat" cmpd="sng" w="19050">
            <a:solidFill>
              <a:srgbClr val="A2C4C9"/>
            </a:solidFill>
            <a:prstDash val="solid"/>
            <a:round/>
            <a:headEnd len="med" w="med" type="stealth"/>
            <a:tailEnd len="sm" w="sm" type="none"/>
          </a:ln>
        </p:spPr>
      </p:cxnSp>
      <p:sp>
        <p:nvSpPr>
          <p:cNvPr id="3232" name="Google Shape;3232;p125"/>
          <p:cNvSpPr/>
          <p:nvPr/>
        </p:nvSpPr>
        <p:spPr>
          <a:xfrm>
            <a:off x="9005250" y="2609088"/>
            <a:ext cx="1197900" cy="722400"/>
          </a:xfrm>
          <a:prstGeom prst="roundRect">
            <a:avLst>
              <a:gd fmla="val 6398" name="adj"/>
            </a:avLst>
          </a:prstGeom>
          <a:solidFill>
            <a:srgbClr val="FFFFFF">
              <a:alpha val="94050"/>
            </a:srgbClr>
          </a:solidFill>
          <a:ln cap="flat" cmpd="sng" w="9525">
            <a:solidFill>
              <a:srgbClr val="4359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production deployment</a:t>
            </a:r>
            <a:endParaRPr sz="1000">
              <a:solidFill>
                <a:srgbClr val="1B5162"/>
              </a:solidFill>
              <a:latin typeface="DM Sans Medium"/>
              <a:ea typeface="DM Sans Medium"/>
              <a:cs typeface="DM Sans Medium"/>
              <a:sym typeface="DM Sans Medium"/>
            </a:endParaRPr>
          </a:p>
        </p:txBody>
      </p:sp>
      <p:cxnSp>
        <p:nvCxnSpPr>
          <p:cNvPr id="3233" name="Google Shape;3233;p125"/>
          <p:cNvCxnSpPr>
            <a:stCxn id="3232" idx="2"/>
            <a:endCxn id="3205" idx="0"/>
          </p:cNvCxnSpPr>
          <p:nvPr/>
        </p:nvCxnSpPr>
        <p:spPr>
          <a:xfrm flipH="1">
            <a:off x="9008400" y="3331488"/>
            <a:ext cx="595800" cy="1313400"/>
          </a:xfrm>
          <a:prstGeom prst="straightConnector1">
            <a:avLst/>
          </a:prstGeom>
          <a:noFill/>
          <a:ln cap="flat" cmpd="sng" w="19050">
            <a:solidFill>
              <a:srgbClr val="A2C4C9"/>
            </a:solidFill>
            <a:prstDash val="solid"/>
            <a:round/>
            <a:headEnd len="med" w="med" type="stealth"/>
            <a:tailEnd len="sm" w="sm" type="none"/>
          </a:ln>
        </p:spPr>
      </p:cxnSp>
      <p:sp>
        <p:nvSpPr>
          <p:cNvPr id="3234" name="Google Shape;3234;p125"/>
          <p:cNvSpPr txBox="1"/>
          <p:nvPr/>
        </p:nvSpPr>
        <p:spPr>
          <a:xfrm>
            <a:off x="2810049" y="4787000"/>
            <a:ext cx="985800" cy="4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Users can do direct edits for items that aren’t source controlled.</a:t>
            </a:r>
            <a:endParaRPr sz="800">
              <a:solidFill>
                <a:srgbClr val="595959"/>
              </a:solidFill>
            </a:endParaRPr>
          </a:p>
        </p:txBody>
      </p:sp>
      <p:cxnSp>
        <p:nvCxnSpPr>
          <p:cNvPr id="3235" name="Google Shape;3235;p125"/>
          <p:cNvCxnSpPr/>
          <p:nvPr/>
        </p:nvCxnSpPr>
        <p:spPr>
          <a:xfrm rot="10800000">
            <a:off x="2756163" y="1985388"/>
            <a:ext cx="0" cy="450300"/>
          </a:xfrm>
          <a:prstGeom prst="straightConnector1">
            <a:avLst/>
          </a:prstGeom>
          <a:noFill/>
          <a:ln cap="flat" cmpd="sng" w="19050">
            <a:solidFill>
              <a:srgbClr val="A2C4C9"/>
            </a:solidFill>
            <a:prstDash val="solid"/>
            <a:round/>
            <a:headEnd len="med" w="med" type="stealth"/>
            <a:tailEnd len="sm" w="sm" type="none"/>
          </a:ln>
        </p:spPr>
      </p:cxnSp>
      <p:sp>
        <p:nvSpPr>
          <p:cNvPr id="3236" name="Google Shape;3236;p125"/>
          <p:cNvSpPr txBox="1"/>
          <p:nvPr/>
        </p:nvSpPr>
        <p:spPr>
          <a:xfrm>
            <a:off x="8936575" y="4945900"/>
            <a:ext cx="1518900" cy="4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Configure service principals, kick off runs of jobs, and other tasks.</a:t>
            </a:r>
            <a:endParaRPr sz="900">
              <a:solidFill>
                <a:srgbClr val="595959"/>
              </a:solidFill>
            </a:endParaRPr>
          </a:p>
        </p:txBody>
      </p:sp>
      <p:sp>
        <p:nvSpPr>
          <p:cNvPr id="3237" name="Google Shape;3237;p125"/>
          <p:cNvSpPr txBox="1"/>
          <p:nvPr/>
        </p:nvSpPr>
        <p:spPr>
          <a:xfrm>
            <a:off x="6762538" y="5061800"/>
            <a:ext cx="959400" cy="4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Notifications trigger CI/CD.</a:t>
            </a:r>
            <a:endParaRPr sz="900">
              <a:solidFill>
                <a:srgbClr val="595959"/>
              </a:solidFill>
            </a:endParaRPr>
          </a:p>
        </p:txBody>
      </p:sp>
      <p:cxnSp>
        <p:nvCxnSpPr>
          <p:cNvPr id="3238" name="Google Shape;3238;p125"/>
          <p:cNvCxnSpPr>
            <a:stCxn id="3230" idx="2"/>
            <a:endCxn id="3205" idx="0"/>
          </p:cNvCxnSpPr>
          <p:nvPr/>
        </p:nvCxnSpPr>
        <p:spPr>
          <a:xfrm>
            <a:off x="8022975" y="3334100"/>
            <a:ext cx="985500" cy="1310700"/>
          </a:xfrm>
          <a:prstGeom prst="straightConnector1">
            <a:avLst/>
          </a:prstGeom>
          <a:noFill/>
          <a:ln cap="flat" cmpd="sng" w="19050">
            <a:solidFill>
              <a:srgbClr val="A2C4C9"/>
            </a:solidFill>
            <a:prstDash val="solid"/>
            <a:round/>
            <a:headEnd len="med" w="med" type="stealth"/>
            <a:tailEnd len="sm" w="sm" type="none"/>
          </a:ln>
        </p:spPr>
      </p:cxnSp>
      <p:sp>
        <p:nvSpPr>
          <p:cNvPr id="3239" name="Google Shape;3239;p125"/>
          <p:cNvSpPr/>
          <p:nvPr/>
        </p:nvSpPr>
        <p:spPr>
          <a:xfrm>
            <a:off x="5840750" y="2612900"/>
            <a:ext cx="1197900" cy="721200"/>
          </a:xfrm>
          <a:prstGeom prst="roundRect">
            <a:avLst>
              <a:gd fmla="val 6398" name="adj"/>
            </a:avLst>
          </a:prstGeom>
          <a:solidFill>
            <a:srgbClr val="FFFFFF">
              <a:alpha val="94050"/>
            </a:srgbClr>
          </a:solidFill>
          <a:ln cap="flat" cmpd="sng" w="9525">
            <a:solidFill>
              <a:srgbClr val="4359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dev deployment</a:t>
            </a:r>
            <a:endParaRPr sz="1000">
              <a:solidFill>
                <a:srgbClr val="1B5162"/>
              </a:solidFill>
              <a:latin typeface="DM Sans Medium"/>
              <a:ea typeface="DM Sans Medium"/>
              <a:cs typeface="DM Sans Medium"/>
              <a:sym typeface="DM Sans Medium"/>
            </a:endParaRPr>
          </a:p>
        </p:txBody>
      </p:sp>
      <p:pic>
        <p:nvPicPr>
          <p:cNvPr id="3240" name="Google Shape;3240;p125"/>
          <p:cNvPicPr preferRelativeResize="0"/>
          <p:nvPr/>
        </p:nvPicPr>
        <p:blipFill rotWithShape="1">
          <a:blip r:embed="rId9">
            <a:alphaModFix/>
          </a:blip>
          <a:srcRect b="0" l="0" r="0" t="0"/>
          <a:stretch/>
        </p:blipFill>
        <p:spPr>
          <a:xfrm>
            <a:off x="2519475" y="4891150"/>
            <a:ext cx="357949" cy="357949"/>
          </a:xfrm>
          <a:prstGeom prst="rect">
            <a:avLst/>
          </a:prstGeom>
          <a:noFill/>
          <a:ln>
            <a:noFill/>
          </a:ln>
        </p:spPr>
      </p:pic>
      <p:pic>
        <p:nvPicPr>
          <p:cNvPr id="3241" name="Google Shape;3241;p125"/>
          <p:cNvPicPr preferRelativeResize="0"/>
          <p:nvPr/>
        </p:nvPicPr>
        <p:blipFill rotWithShape="1">
          <a:blip r:embed="rId10">
            <a:alphaModFix/>
          </a:blip>
          <a:srcRect b="0" l="0" r="0" t="0"/>
          <a:stretch/>
        </p:blipFill>
        <p:spPr>
          <a:xfrm>
            <a:off x="3123912" y="4315324"/>
            <a:ext cx="357949" cy="357949"/>
          </a:xfrm>
          <a:prstGeom prst="rect">
            <a:avLst/>
          </a:prstGeom>
          <a:noFill/>
          <a:ln>
            <a:noFill/>
          </a:ln>
        </p:spPr>
      </p:pic>
      <p:cxnSp>
        <p:nvCxnSpPr>
          <p:cNvPr id="3242" name="Google Shape;3242;p125"/>
          <p:cNvCxnSpPr/>
          <p:nvPr/>
        </p:nvCxnSpPr>
        <p:spPr>
          <a:xfrm rot="10800000">
            <a:off x="3239500" y="1985400"/>
            <a:ext cx="0" cy="450300"/>
          </a:xfrm>
          <a:prstGeom prst="straightConnector1">
            <a:avLst/>
          </a:prstGeom>
          <a:noFill/>
          <a:ln cap="flat" cmpd="sng" w="19050">
            <a:solidFill>
              <a:srgbClr val="A2C4C9"/>
            </a:solidFill>
            <a:prstDash val="solid"/>
            <a:round/>
            <a:headEnd len="med" w="med" type="stealth"/>
            <a:tailEnd len="sm" w="sm" type="none"/>
          </a:ln>
        </p:spPr>
      </p:cxnSp>
      <p:pic>
        <p:nvPicPr>
          <p:cNvPr id="3243" name="Google Shape;3243;p125"/>
          <p:cNvPicPr preferRelativeResize="0"/>
          <p:nvPr/>
        </p:nvPicPr>
        <p:blipFill rotWithShape="1">
          <a:blip r:embed="rId11">
            <a:alphaModFix/>
          </a:blip>
          <a:srcRect b="0" l="0" r="0" t="0"/>
          <a:stretch/>
        </p:blipFill>
        <p:spPr>
          <a:xfrm>
            <a:off x="8150288" y="4987649"/>
            <a:ext cx="357949" cy="357949"/>
          </a:xfrm>
          <a:prstGeom prst="rect">
            <a:avLst/>
          </a:prstGeom>
          <a:noFill/>
          <a:ln>
            <a:noFill/>
          </a:ln>
        </p:spPr>
      </p:pic>
      <p:pic>
        <p:nvPicPr>
          <p:cNvPr id="3244" name="Google Shape;3244;p125"/>
          <p:cNvPicPr preferRelativeResize="0"/>
          <p:nvPr/>
        </p:nvPicPr>
        <p:blipFill rotWithShape="1">
          <a:blip r:embed="rId12">
            <a:alphaModFix/>
          </a:blip>
          <a:srcRect b="0" l="0" r="0" t="0"/>
          <a:stretch/>
        </p:blipFill>
        <p:spPr>
          <a:xfrm>
            <a:off x="8543425" y="4987650"/>
            <a:ext cx="357949" cy="357950"/>
          </a:xfrm>
          <a:prstGeom prst="rect">
            <a:avLst/>
          </a:prstGeom>
          <a:noFill/>
          <a:ln>
            <a:noFill/>
          </a:ln>
        </p:spPr>
      </p:pic>
      <p:pic>
        <p:nvPicPr>
          <p:cNvPr id="3245" name="Google Shape;3245;p125"/>
          <p:cNvPicPr preferRelativeResize="0"/>
          <p:nvPr/>
        </p:nvPicPr>
        <p:blipFill rotWithShape="1">
          <a:blip r:embed="rId13">
            <a:alphaModFix amt="80000"/>
          </a:blip>
          <a:srcRect b="0" l="0" r="0" t="0"/>
          <a:stretch/>
        </p:blipFill>
        <p:spPr>
          <a:xfrm>
            <a:off x="3978500" y="2689950"/>
            <a:ext cx="459329" cy="459300"/>
          </a:xfrm>
          <a:prstGeom prst="rect">
            <a:avLst/>
          </a:prstGeom>
          <a:noFill/>
          <a:ln>
            <a:noFill/>
          </a:ln>
        </p:spPr>
      </p:pic>
      <p:pic>
        <p:nvPicPr>
          <p:cNvPr id="3246" name="Google Shape;3246;p125"/>
          <p:cNvPicPr preferRelativeResize="0"/>
          <p:nvPr/>
        </p:nvPicPr>
        <p:blipFill>
          <a:blip r:embed="rId14">
            <a:alphaModFix amt="47000"/>
          </a:blip>
          <a:stretch>
            <a:fillRect/>
          </a:stretch>
        </p:blipFill>
        <p:spPr>
          <a:xfrm>
            <a:off x="2733200" y="3927450"/>
            <a:ext cx="308349" cy="296050"/>
          </a:xfrm>
          <a:prstGeom prst="rect">
            <a:avLst/>
          </a:prstGeom>
          <a:solidFill>
            <a:srgbClr val="FFFFFF"/>
          </a:solidFill>
          <a:ln>
            <a:noFill/>
          </a:ln>
        </p:spPr>
      </p:pic>
      <p:sp>
        <p:nvSpPr>
          <p:cNvPr id="3247" name="Google Shape;3247;p125"/>
          <p:cNvSpPr/>
          <p:nvPr/>
        </p:nvSpPr>
        <p:spPr>
          <a:xfrm>
            <a:off x="2823042" y="4018653"/>
            <a:ext cx="142231" cy="100614"/>
          </a:xfrm>
          <a:custGeom>
            <a:rect b="b" l="l" r="r" t="t"/>
            <a:pathLst>
              <a:path extrusionOk="0" h="9474" w="12857">
                <a:moveTo>
                  <a:pt x="0" y="0"/>
                </a:moveTo>
                <a:lnTo>
                  <a:pt x="0" y="9474"/>
                </a:lnTo>
                <a:lnTo>
                  <a:pt x="12857" y="9136"/>
                </a:lnTo>
                <a:lnTo>
                  <a:pt x="12857" y="1016"/>
                </a:lnTo>
                <a:close/>
              </a:path>
            </a:pathLst>
          </a:custGeom>
          <a:solidFill>
            <a:srgbClr val="FFFFFF"/>
          </a:solidFill>
          <a:ln cap="flat" cmpd="sng" w="9525">
            <a:solidFill>
              <a:srgbClr val="FFFFFF"/>
            </a:solidFill>
            <a:prstDash val="solid"/>
            <a:round/>
            <a:headEnd len="med" w="med" type="none"/>
            <a:tailEnd len="med" w="med" type="none"/>
          </a:ln>
        </p:spPr>
      </p:sp>
      <p:pic>
        <p:nvPicPr>
          <p:cNvPr id="3248" name="Google Shape;3248;p125"/>
          <p:cNvPicPr preferRelativeResize="0"/>
          <p:nvPr/>
        </p:nvPicPr>
        <p:blipFill>
          <a:blip r:embed="rId15">
            <a:alphaModFix/>
          </a:blip>
          <a:stretch>
            <a:fillRect/>
          </a:stretch>
        </p:blipFill>
        <p:spPr>
          <a:xfrm>
            <a:off x="2810509" y="4033716"/>
            <a:ext cx="142228" cy="116467"/>
          </a:xfrm>
          <a:prstGeom prst="rect">
            <a:avLst/>
          </a:prstGeom>
          <a:solidFill>
            <a:srgbClr val="FFFFFF"/>
          </a:solidFill>
          <a:ln>
            <a:noFill/>
          </a:ln>
        </p:spPr>
      </p:pic>
      <p:sp>
        <p:nvSpPr>
          <p:cNvPr id="3249" name="Google Shape;3249;p125"/>
          <p:cNvSpPr/>
          <p:nvPr/>
        </p:nvSpPr>
        <p:spPr>
          <a:xfrm>
            <a:off x="2830532" y="4144437"/>
            <a:ext cx="123513" cy="50307"/>
          </a:xfrm>
          <a:custGeom>
            <a:rect b="b" l="l" r="r" t="t"/>
            <a:pathLst>
              <a:path extrusionOk="0" h="4737" w="11165">
                <a:moveTo>
                  <a:pt x="0" y="0"/>
                </a:moveTo>
                <a:lnTo>
                  <a:pt x="10489" y="338"/>
                </a:lnTo>
                <a:lnTo>
                  <a:pt x="11165" y="4060"/>
                </a:lnTo>
                <a:lnTo>
                  <a:pt x="1691" y="4737"/>
                </a:lnTo>
                <a:close/>
              </a:path>
            </a:pathLst>
          </a:custGeom>
          <a:solidFill>
            <a:srgbClr val="FFFFFF"/>
          </a:solidFill>
          <a:ln cap="flat" cmpd="sng" w="9525">
            <a:solidFill>
              <a:srgbClr val="FFFFFF"/>
            </a:solidFill>
            <a:prstDash val="solid"/>
            <a:round/>
            <a:headEnd len="med" w="med" type="none"/>
            <a:tailEnd len="med" w="med" type="none"/>
          </a:ln>
        </p:spPr>
      </p:sp>
      <p:pic>
        <p:nvPicPr>
          <p:cNvPr id="3250" name="Google Shape;3250;p125"/>
          <p:cNvPicPr preferRelativeResize="0"/>
          <p:nvPr/>
        </p:nvPicPr>
        <p:blipFill>
          <a:blip r:embed="rId14">
            <a:alphaModFix amt="47000"/>
          </a:blip>
          <a:stretch>
            <a:fillRect/>
          </a:stretch>
        </p:blipFill>
        <p:spPr>
          <a:xfrm>
            <a:off x="2739988" y="4358550"/>
            <a:ext cx="308349" cy="293400"/>
          </a:xfrm>
          <a:prstGeom prst="rect">
            <a:avLst/>
          </a:prstGeom>
          <a:solidFill>
            <a:srgbClr val="FFFFFF"/>
          </a:solidFill>
          <a:ln>
            <a:noFill/>
          </a:ln>
        </p:spPr>
      </p:pic>
      <p:sp>
        <p:nvSpPr>
          <p:cNvPr id="3251" name="Google Shape;3251;p125"/>
          <p:cNvSpPr/>
          <p:nvPr/>
        </p:nvSpPr>
        <p:spPr>
          <a:xfrm>
            <a:off x="2829826" y="4448934"/>
            <a:ext cx="142231" cy="148931"/>
          </a:xfrm>
          <a:custGeom>
            <a:rect b="b" l="l" r="r" t="t"/>
            <a:pathLst>
              <a:path extrusionOk="0" h="9474" w="12857">
                <a:moveTo>
                  <a:pt x="0" y="0"/>
                </a:moveTo>
                <a:lnTo>
                  <a:pt x="0" y="9474"/>
                </a:lnTo>
                <a:lnTo>
                  <a:pt x="12857" y="9136"/>
                </a:lnTo>
                <a:lnTo>
                  <a:pt x="12857" y="1016"/>
                </a:lnTo>
                <a:close/>
              </a:path>
            </a:pathLst>
          </a:custGeom>
          <a:solidFill>
            <a:srgbClr val="FFFFFF"/>
          </a:solidFill>
          <a:ln cap="flat" cmpd="sng" w="9525">
            <a:solidFill>
              <a:srgbClr val="FFFFFF"/>
            </a:solidFill>
            <a:prstDash val="solid"/>
            <a:round/>
            <a:headEnd len="med" w="med" type="none"/>
            <a:tailEnd len="med" w="med" type="none"/>
          </a:ln>
        </p:spPr>
      </p:sp>
      <p:sp>
        <p:nvSpPr>
          <p:cNvPr id="3252" name="Google Shape;3252;p125"/>
          <p:cNvSpPr/>
          <p:nvPr/>
        </p:nvSpPr>
        <p:spPr>
          <a:xfrm>
            <a:off x="2837319" y="4573596"/>
            <a:ext cx="123513" cy="49857"/>
          </a:xfrm>
          <a:custGeom>
            <a:rect b="b" l="l" r="r" t="t"/>
            <a:pathLst>
              <a:path extrusionOk="0" h="4737" w="11165">
                <a:moveTo>
                  <a:pt x="0" y="0"/>
                </a:moveTo>
                <a:lnTo>
                  <a:pt x="10489" y="338"/>
                </a:lnTo>
                <a:lnTo>
                  <a:pt x="11165" y="4060"/>
                </a:lnTo>
                <a:lnTo>
                  <a:pt x="1691" y="4737"/>
                </a:lnTo>
                <a:close/>
              </a:path>
            </a:pathLst>
          </a:custGeom>
          <a:solidFill>
            <a:srgbClr val="FFFFFF"/>
          </a:solidFill>
          <a:ln cap="flat" cmpd="sng" w="9525">
            <a:solidFill>
              <a:srgbClr val="FFFFFF"/>
            </a:solidFill>
            <a:prstDash val="solid"/>
            <a:round/>
            <a:headEnd len="med" w="med" type="none"/>
            <a:tailEnd len="med" w="med" type="none"/>
          </a:ln>
        </p:spPr>
      </p:sp>
      <p:pic>
        <p:nvPicPr>
          <p:cNvPr id="3253" name="Google Shape;3253;p125"/>
          <p:cNvPicPr preferRelativeResize="0"/>
          <p:nvPr/>
        </p:nvPicPr>
        <p:blipFill>
          <a:blip r:embed="rId16">
            <a:alphaModFix/>
          </a:blip>
          <a:stretch>
            <a:fillRect/>
          </a:stretch>
        </p:blipFill>
        <p:spPr>
          <a:xfrm>
            <a:off x="2885689" y="4492819"/>
            <a:ext cx="161186" cy="155891"/>
          </a:xfrm>
          <a:prstGeom prst="rect">
            <a:avLst/>
          </a:prstGeom>
          <a:noFill/>
          <a:ln>
            <a:noFill/>
          </a:ln>
        </p:spPr>
      </p:pic>
      <p:pic>
        <p:nvPicPr>
          <p:cNvPr id="3254" name="Google Shape;3254;p125"/>
          <p:cNvPicPr preferRelativeResize="0"/>
          <p:nvPr/>
        </p:nvPicPr>
        <p:blipFill rotWithShape="1">
          <a:blip r:embed="rId17">
            <a:alphaModFix amt="80000"/>
          </a:blip>
          <a:srcRect b="0" l="0" r="0" t="0"/>
          <a:stretch/>
        </p:blipFill>
        <p:spPr>
          <a:xfrm flipH="1">
            <a:off x="3134701" y="2925101"/>
            <a:ext cx="357949" cy="357973"/>
          </a:xfrm>
          <a:prstGeom prst="rect">
            <a:avLst/>
          </a:prstGeom>
          <a:noFill/>
          <a:ln>
            <a:noFill/>
          </a:ln>
        </p:spPr>
      </p:pic>
      <p:pic>
        <p:nvPicPr>
          <p:cNvPr id="3255" name="Google Shape;3255;p125"/>
          <p:cNvPicPr preferRelativeResize="0"/>
          <p:nvPr/>
        </p:nvPicPr>
        <p:blipFill rotWithShape="1">
          <a:blip r:embed="rId18">
            <a:alphaModFix/>
          </a:blip>
          <a:srcRect b="0" l="0" r="0" t="0"/>
          <a:stretch/>
        </p:blipFill>
        <p:spPr>
          <a:xfrm>
            <a:off x="2638700" y="2913386"/>
            <a:ext cx="372199" cy="372176"/>
          </a:xfrm>
          <a:prstGeom prst="rect">
            <a:avLst/>
          </a:prstGeom>
          <a:noFill/>
          <a:ln>
            <a:noFill/>
          </a:ln>
        </p:spPr>
      </p:pic>
      <p:pic>
        <p:nvPicPr>
          <p:cNvPr id="3256" name="Google Shape;3256;p125"/>
          <p:cNvPicPr preferRelativeResize="0"/>
          <p:nvPr/>
        </p:nvPicPr>
        <p:blipFill>
          <a:blip r:embed="rId19">
            <a:alphaModFix/>
          </a:blip>
          <a:stretch>
            <a:fillRect/>
          </a:stretch>
        </p:blipFill>
        <p:spPr>
          <a:xfrm>
            <a:off x="2745347" y="3001121"/>
            <a:ext cx="62053" cy="129259"/>
          </a:xfrm>
          <a:prstGeom prst="rect">
            <a:avLst/>
          </a:prstGeom>
          <a:noFill/>
          <a:ln>
            <a:noFill/>
          </a:ln>
        </p:spPr>
      </p:pic>
      <p:pic>
        <p:nvPicPr>
          <p:cNvPr id="3257" name="Google Shape;3257;p125"/>
          <p:cNvPicPr preferRelativeResize="0"/>
          <p:nvPr/>
        </p:nvPicPr>
        <p:blipFill>
          <a:blip r:embed="rId20">
            <a:alphaModFix/>
          </a:blip>
          <a:stretch>
            <a:fillRect/>
          </a:stretch>
        </p:blipFill>
        <p:spPr>
          <a:xfrm>
            <a:off x="2800260" y="3062956"/>
            <a:ext cx="114725" cy="50985"/>
          </a:xfrm>
          <a:prstGeom prst="rect">
            <a:avLst/>
          </a:prstGeom>
          <a:noFill/>
          <a:ln>
            <a:noFill/>
          </a:ln>
        </p:spPr>
      </p:pic>
      <p:sp>
        <p:nvSpPr>
          <p:cNvPr id="3258" name="Google Shape;3258;p125"/>
          <p:cNvSpPr/>
          <p:nvPr/>
        </p:nvSpPr>
        <p:spPr>
          <a:xfrm>
            <a:off x="2794941" y="3005843"/>
            <a:ext cx="110490" cy="68000"/>
          </a:xfrm>
          <a:custGeom>
            <a:rect b="b" l="l" r="r" t="t"/>
            <a:pathLst>
              <a:path extrusionOk="0" h="5414" w="8797">
                <a:moveTo>
                  <a:pt x="0" y="0"/>
                </a:moveTo>
                <a:lnTo>
                  <a:pt x="676" y="5414"/>
                </a:lnTo>
                <a:lnTo>
                  <a:pt x="8459" y="5414"/>
                </a:lnTo>
                <a:lnTo>
                  <a:pt x="8797" y="2030"/>
                </a:lnTo>
                <a:close/>
              </a:path>
            </a:pathLst>
          </a:custGeom>
          <a:solidFill>
            <a:srgbClr val="FFFFFF"/>
          </a:solidFill>
          <a:ln cap="flat" cmpd="sng" w="9525">
            <a:solidFill>
              <a:srgbClr val="FFFFFF"/>
            </a:solidFill>
            <a:prstDash val="solid"/>
            <a:round/>
            <a:headEnd len="med" w="med" type="none"/>
            <a:tailEnd len="med" w="med" type="none"/>
          </a:ln>
        </p:spPr>
      </p:sp>
      <p:pic>
        <p:nvPicPr>
          <p:cNvPr id="3259" name="Google Shape;3259;p125"/>
          <p:cNvPicPr preferRelativeResize="0"/>
          <p:nvPr/>
        </p:nvPicPr>
        <p:blipFill>
          <a:blip r:embed="rId21">
            <a:alphaModFix/>
          </a:blip>
          <a:stretch>
            <a:fillRect/>
          </a:stretch>
        </p:blipFill>
        <p:spPr>
          <a:xfrm>
            <a:off x="3911137" y="4971837"/>
            <a:ext cx="306075" cy="224100"/>
          </a:xfrm>
          <a:prstGeom prst="rect">
            <a:avLst/>
          </a:prstGeom>
          <a:noFill/>
          <a:ln>
            <a:noFill/>
          </a:ln>
        </p:spPr>
      </p:pic>
      <p:sp>
        <p:nvSpPr>
          <p:cNvPr id="3260" name="Google Shape;3260;p125"/>
          <p:cNvSpPr txBox="1"/>
          <p:nvPr/>
        </p:nvSpPr>
        <p:spPr>
          <a:xfrm>
            <a:off x="0" y="0"/>
            <a:ext cx="66741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Bundle (DABs) lifecycle</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a:t>
            </a:r>
            <a:r>
              <a:rPr lang="en" sz="1500">
                <a:solidFill>
                  <a:schemeClr val="accent1"/>
                </a:solidFill>
                <a:latin typeface="DM Sans Medium"/>
                <a:ea typeface="DM Sans Medium"/>
                <a:cs typeface="DM Sans Medium"/>
                <a:sym typeface="DM Sans Medium"/>
              </a:rPr>
              <a:t>images</a:t>
            </a:r>
            <a:r>
              <a:rPr lang="en" sz="1500">
                <a:solidFill>
                  <a:schemeClr val="accent1"/>
                </a:solidFill>
                <a:latin typeface="DM Sans Medium"/>
                <a:ea typeface="DM Sans Medium"/>
                <a:cs typeface="DM Sans Medium"/>
                <a:sym typeface="DM Sans Medium"/>
              </a:rPr>
              <a:t>/asset-bundles/bundle-cicd.png</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4" name="Shape 3264"/>
        <p:cNvGrpSpPr/>
        <p:nvPr/>
      </p:nvGrpSpPr>
      <p:grpSpPr>
        <a:xfrm>
          <a:off x="0" y="0"/>
          <a:ext cx="0" cy="0"/>
          <a:chOff x="0" y="0"/>
          <a:chExt cx="0" cy="0"/>
        </a:xfrm>
      </p:grpSpPr>
      <p:sp>
        <p:nvSpPr>
          <p:cNvPr id="3265" name="Google Shape;3265;p126"/>
          <p:cNvSpPr/>
          <p:nvPr/>
        </p:nvSpPr>
        <p:spPr>
          <a:xfrm>
            <a:off x="2247150" y="2830275"/>
            <a:ext cx="1593300" cy="2024100"/>
          </a:xfrm>
          <a:prstGeom prst="roundRect">
            <a:avLst>
              <a:gd fmla="val 5492" name="adj"/>
            </a:avLst>
          </a:prstGeom>
          <a:solidFill>
            <a:srgbClr val="FFFFFF"/>
          </a:solidFill>
          <a:ln cap="flat" cmpd="sng" w="9525">
            <a:solidFill>
              <a:srgbClr val="4359FF"/>
            </a:solidFill>
            <a:prstDash val="dot"/>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Local dev environment</a:t>
            </a:r>
            <a:endParaRPr sz="1200">
              <a:solidFill>
                <a:srgbClr val="1B5162"/>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solidFill>
                <a:srgbClr val="1B5162"/>
              </a:solidFill>
              <a:latin typeface="DM Sans Medium"/>
              <a:ea typeface="DM Sans Medium"/>
              <a:cs typeface="DM Sans Medium"/>
              <a:sym typeface="DM Sans Medium"/>
            </a:endParaRPr>
          </a:p>
        </p:txBody>
      </p:sp>
      <p:sp>
        <p:nvSpPr>
          <p:cNvPr id="3266" name="Google Shape;3266;p126"/>
          <p:cNvSpPr txBox="1"/>
          <p:nvPr/>
        </p:nvSpPr>
        <p:spPr>
          <a:xfrm>
            <a:off x="9997419" y="6138018"/>
            <a:ext cx="261900" cy="166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100">
                <a:solidFill>
                  <a:srgbClr val="618794"/>
                </a:solidFill>
                <a:latin typeface="DM Sans"/>
                <a:ea typeface="DM Sans"/>
                <a:cs typeface="DM Sans"/>
                <a:sym typeface="DM Sans"/>
              </a:rPr>
              <a:t>‹#›</a:t>
            </a:fld>
            <a:endParaRPr sz="1100">
              <a:solidFill>
                <a:srgbClr val="618794"/>
              </a:solidFill>
              <a:latin typeface="DM Sans"/>
              <a:ea typeface="DM Sans"/>
              <a:cs typeface="DM Sans"/>
              <a:sym typeface="DM Sans"/>
            </a:endParaRPr>
          </a:p>
        </p:txBody>
      </p:sp>
      <p:sp>
        <p:nvSpPr>
          <p:cNvPr id="3267" name="Google Shape;3267;p126"/>
          <p:cNvSpPr/>
          <p:nvPr/>
        </p:nvSpPr>
        <p:spPr>
          <a:xfrm>
            <a:off x="7144830" y="3690332"/>
            <a:ext cx="2848500" cy="834000"/>
          </a:xfrm>
          <a:prstGeom prst="roundRect">
            <a:avLst>
              <a:gd fmla="val 5492" name="adj"/>
            </a:avLst>
          </a:prstGeom>
          <a:solidFill>
            <a:srgbClr val="FFFFFF"/>
          </a:solidFill>
          <a:ln cap="flat" cmpd="sng" w="9525">
            <a:solidFill>
              <a:srgbClr val="00A972"/>
            </a:solidFill>
            <a:prstDash val="dash"/>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CI/CD</a:t>
            </a:r>
            <a:endParaRPr sz="1200">
              <a:solidFill>
                <a:srgbClr val="1B5162"/>
              </a:solidFill>
              <a:latin typeface="DM Sans Medium"/>
              <a:ea typeface="DM Sans Medium"/>
              <a:cs typeface="DM Sans Medium"/>
              <a:sym typeface="DM Sans Medium"/>
            </a:endParaRPr>
          </a:p>
        </p:txBody>
      </p:sp>
      <p:sp>
        <p:nvSpPr>
          <p:cNvPr id="3268" name="Google Shape;3268;p126"/>
          <p:cNvSpPr/>
          <p:nvPr/>
        </p:nvSpPr>
        <p:spPr>
          <a:xfrm>
            <a:off x="5475600" y="815755"/>
            <a:ext cx="4828800" cy="13869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69" name="Google Shape;3269;p126"/>
          <p:cNvSpPr/>
          <p:nvPr/>
        </p:nvSpPr>
        <p:spPr>
          <a:xfrm>
            <a:off x="2480950" y="3382023"/>
            <a:ext cx="1154700" cy="1386900"/>
          </a:xfrm>
          <a:prstGeom prst="roundRect">
            <a:avLst>
              <a:gd fmla="val 5492" name="adj"/>
            </a:avLst>
          </a:prstGeom>
          <a:solidFill>
            <a:srgbClr val="FFFFFF"/>
          </a:solidFill>
          <a:ln cap="flat" cmpd="sng" w="9525">
            <a:solidFill>
              <a:srgbClr val="4359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project bundle</a:t>
            </a:r>
            <a:endParaRPr sz="1200">
              <a:solidFill>
                <a:srgbClr val="1B5162"/>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solidFill>
                <a:srgbClr val="1B5162"/>
              </a:solidFill>
              <a:latin typeface="DM Sans Medium"/>
              <a:ea typeface="DM Sans Medium"/>
              <a:cs typeface="DM Sans Medium"/>
              <a:sym typeface="DM Sans Medium"/>
            </a:endParaRPr>
          </a:p>
        </p:txBody>
      </p:sp>
      <p:sp>
        <p:nvSpPr>
          <p:cNvPr id="3270" name="Google Shape;3270;p126"/>
          <p:cNvSpPr txBox="1"/>
          <p:nvPr/>
        </p:nvSpPr>
        <p:spPr>
          <a:xfrm>
            <a:off x="5737874" y="850642"/>
            <a:ext cx="4437300" cy="25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Databricks workspaces</a:t>
            </a:r>
            <a:endParaRPr sz="1800">
              <a:solidFill>
                <a:srgbClr val="1B3139"/>
              </a:solidFill>
              <a:latin typeface="DM Sans"/>
              <a:ea typeface="DM Sans"/>
              <a:cs typeface="DM Sans"/>
              <a:sym typeface="DM Sans"/>
            </a:endParaRPr>
          </a:p>
        </p:txBody>
      </p:sp>
      <p:grpSp>
        <p:nvGrpSpPr>
          <p:cNvPr id="3271" name="Google Shape;3271;p126"/>
          <p:cNvGrpSpPr/>
          <p:nvPr/>
        </p:nvGrpSpPr>
        <p:grpSpPr>
          <a:xfrm>
            <a:off x="4369996" y="3686990"/>
            <a:ext cx="1631694" cy="833966"/>
            <a:chOff x="4434338" y="2827759"/>
            <a:chExt cx="2698800" cy="826200"/>
          </a:xfrm>
        </p:grpSpPr>
        <p:sp>
          <p:nvSpPr>
            <p:cNvPr id="3272" name="Google Shape;3272;p126"/>
            <p:cNvSpPr/>
            <p:nvPr/>
          </p:nvSpPr>
          <p:spPr>
            <a:xfrm>
              <a:off x="4434338" y="2827759"/>
              <a:ext cx="2698800" cy="826200"/>
            </a:xfrm>
            <a:prstGeom prst="roundRect">
              <a:avLst>
                <a:gd fmla="val 6398" name="adj"/>
              </a:avLst>
            </a:prstGeom>
            <a:solidFill>
              <a:srgbClr val="FFFFFF">
                <a:alpha val="94050"/>
              </a:srgbClr>
            </a:solidFill>
            <a:ln cap="flat" cmpd="sng" w="9525">
              <a:solidFill>
                <a:srgbClr val="000000"/>
              </a:solidFill>
              <a:prstDash val="solid"/>
              <a:round/>
              <a:headEnd len="sm" w="sm" type="none"/>
              <a:tailEnd len="sm" w="sm" type="none"/>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None/>
              </a:pPr>
              <a:r>
                <a:rPr lang="en" sz="1200">
                  <a:solidFill>
                    <a:srgbClr val="1B5162"/>
                  </a:solidFill>
                  <a:latin typeface="DM Sans Medium"/>
                  <a:ea typeface="DM Sans Medium"/>
                  <a:cs typeface="DM Sans Medium"/>
                  <a:sym typeface="DM Sans Medium"/>
                </a:rPr>
                <a:t>version control</a:t>
              </a:r>
              <a:endParaRPr sz="1200">
                <a:solidFill>
                  <a:srgbClr val="1B5162"/>
                </a:solidFill>
                <a:latin typeface="DM Sans Medium"/>
                <a:ea typeface="DM Sans Medium"/>
                <a:cs typeface="DM Sans Medium"/>
                <a:sym typeface="DM Sans Medium"/>
              </a:endParaRPr>
            </a:p>
          </p:txBody>
        </p:sp>
        <p:sp>
          <p:nvSpPr>
            <p:cNvPr id="3273" name="Google Shape;3273;p126"/>
            <p:cNvSpPr/>
            <p:nvPr/>
          </p:nvSpPr>
          <p:spPr>
            <a:xfrm>
              <a:off x="4911606" y="3240902"/>
              <a:ext cx="1805100" cy="3369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000">
                  <a:solidFill>
                    <a:srgbClr val="1B3038"/>
                  </a:solidFill>
                  <a:latin typeface="DM Sans"/>
                  <a:ea typeface="DM Sans"/>
                  <a:cs typeface="DM Sans"/>
                  <a:sym typeface="DM Sans"/>
                </a:rPr>
                <a:t>project repository</a:t>
              </a:r>
              <a:endParaRPr i="0" sz="1000" u="none" cap="none" strike="noStrike">
                <a:solidFill>
                  <a:srgbClr val="1B3038"/>
                </a:solidFill>
                <a:latin typeface="DM Sans"/>
                <a:ea typeface="DM Sans"/>
                <a:cs typeface="DM Sans"/>
                <a:sym typeface="DM Sans"/>
              </a:endParaRPr>
            </a:p>
          </p:txBody>
        </p:sp>
      </p:grpSp>
      <p:cxnSp>
        <p:nvCxnSpPr>
          <p:cNvPr id="3274" name="Google Shape;3274;p126"/>
          <p:cNvCxnSpPr>
            <a:stCxn id="3267" idx="1"/>
            <a:endCxn id="3272" idx="3"/>
          </p:cNvCxnSpPr>
          <p:nvPr/>
        </p:nvCxnSpPr>
        <p:spPr>
          <a:xfrm rot="10800000">
            <a:off x="6001830" y="4104033"/>
            <a:ext cx="1143000" cy="3300"/>
          </a:xfrm>
          <a:prstGeom prst="straightConnector1">
            <a:avLst/>
          </a:prstGeom>
          <a:noFill/>
          <a:ln cap="flat" cmpd="sng" w="19050">
            <a:solidFill>
              <a:srgbClr val="A2C4C9"/>
            </a:solidFill>
            <a:prstDash val="solid"/>
            <a:round/>
            <a:headEnd len="med" w="med" type="stealth"/>
            <a:tailEnd len="sm" w="sm" type="none"/>
          </a:ln>
        </p:spPr>
      </p:cxnSp>
      <p:sp>
        <p:nvSpPr>
          <p:cNvPr id="3275" name="Google Shape;3275;p126"/>
          <p:cNvSpPr/>
          <p:nvPr/>
        </p:nvSpPr>
        <p:spPr>
          <a:xfrm>
            <a:off x="8825550" y="1458530"/>
            <a:ext cx="1265400" cy="562800"/>
          </a:xfrm>
          <a:prstGeom prst="roundRect">
            <a:avLst>
              <a:gd fmla="val 5209" name="adj"/>
            </a:avLst>
          </a:prstGeom>
          <a:solidFill>
            <a:srgbClr val="FFFFFF"/>
          </a:solidFill>
          <a:ln cap="flat" cmpd="sng" w="9525">
            <a:solidFill>
              <a:srgbClr val="FF5F46"/>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Production workspace</a:t>
            </a:r>
            <a:endParaRPr sz="1200">
              <a:solidFill>
                <a:srgbClr val="1B5162"/>
              </a:solidFill>
              <a:latin typeface="DM Sans Medium"/>
              <a:ea typeface="DM Sans Medium"/>
              <a:cs typeface="DM Sans Medium"/>
              <a:sym typeface="DM Sans Medium"/>
            </a:endParaRPr>
          </a:p>
        </p:txBody>
      </p:sp>
      <p:sp>
        <p:nvSpPr>
          <p:cNvPr id="3276" name="Google Shape;3276;p126"/>
          <p:cNvSpPr/>
          <p:nvPr/>
        </p:nvSpPr>
        <p:spPr>
          <a:xfrm>
            <a:off x="7243274" y="1458630"/>
            <a:ext cx="1391700" cy="562800"/>
          </a:xfrm>
          <a:prstGeom prst="roundRect">
            <a:avLst>
              <a:gd fmla="val 5209" name="adj"/>
            </a:avLst>
          </a:prstGeom>
          <a:solidFill>
            <a:srgbClr val="FFFFFF"/>
          </a:solidFill>
          <a:ln cap="flat" cmpd="sng" w="9525">
            <a:solidFill>
              <a:srgbClr val="FF5F46"/>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Staging workspace</a:t>
            </a:r>
            <a:endParaRPr sz="1200">
              <a:solidFill>
                <a:srgbClr val="1B5162"/>
              </a:solidFill>
              <a:latin typeface="DM Sans Medium"/>
              <a:ea typeface="DM Sans Medium"/>
              <a:cs typeface="DM Sans Medium"/>
              <a:sym typeface="DM Sans Medium"/>
            </a:endParaRPr>
          </a:p>
        </p:txBody>
      </p:sp>
      <p:sp>
        <p:nvSpPr>
          <p:cNvPr id="3277" name="Google Shape;3277;p126"/>
          <p:cNvSpPr/>
          <p:nvPr/>
        </p:nvSpPr>
        <p:spPr>
          <a:xfrm>
            <a:off x="5663675" y="1458630"/>
            <a:ext cx="1463100" cy="600000"/>
          </a:xfrm>
          <a:prstGeom prst="roundRect">
            <a:avLst>
              <a:gd fmla="val 5209" name="adj"/>
            </a:avLst>
          </a:prstGeom>
          <a:solidFill>
            <a:srgbClr val="FFFFFF"/>
          </a:solidFill>
          <a:ln cap="flat" cmpd="sng" w="9525">
            <a:solidFill>
              <a:srgbClr val="FF5F46"/>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Development workspace</a:t>
            </a:r>
            <a:endParaRPr sz="1200">
              <a:solidFill>
                <a:srgbClr val="1B5162"/>
              </a:solidFill>
              <a:latin typeface="DM Sans Medium"/>
              <a:ea typeface="DM Sans Medium"/>
              <a:cs typeface="DM Sans Medium"/>
              <a:sym typeface="DM Sans Medium"/>
            </a:endParaRPr>
          </a:p>
        </p:txBody>
      </p:sp>
      <p:sp>
        <p:nvSpPr>
          <p:cNvPr id="3278" name="Google Shape;3278;p126"/>
          <p:cNvSpPr txBox="1"/>
          <p:nvPr/>
        </p:nvSpPr>
        <p:spPr>
          <a:xfrm>
            <a:off x="3886200" y="4011800"/>
            <a:ext cx="495600" cy="2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push</a:t>
            </a:r>
            <a:endParaRPr sz="900">
              <a:solidFill>
                <a:srgbClr val="595959"/>
              </a:solidFill>
            </a:endParaRPr>
          </a:p>
        </p:txBody>
      </p:sp>
      <p:cxnSp>
        <p:nvCxnSpPr>
          <p:cNvPr id="3279" name="Google Shape;3279;p126"/>
          <p:cNvCxnSpPr>
            <a:stCxn id="3273" idx="1"/>
            <a:endCxn id="3269" idx="3"/>
          </p:cNvCxnSpPr>
          <p:nvPr/>
        </p:nvCxnSpPr>
        <p:spPr>
          <a:xfrm rot="10800000">
            <a:off x="3635552" y="4075450"/>
            <a:ext cx="1023000" cy="198600"/>
          </a:xfrm>
          <a:prstGeom prst="straightConnector1">
            <a:avLst/>
          </a:prstGeom>
          <a:noFill/>
          <a:ln cap="flat" cmpd="sng" w="19050">
            <a:solidFill>
              <a:srgbClr val="A2C4C9"/>
            </a:solidFill>
            <a:prstDash val="solid"/>
            <a:round/>
            <a:headEnd len="med" w="med" type="stealth"/>
            <a:tailEnd len="sm" w="sm" type="none"/>
          </a:ln>
        </p:spPr>
      </p:cxnSp>
      <p:pic>
        <p:nvPicPr>
          <p:cNvPr id="3280" name="Google Shape;3280;p126"/>
          <p:cNvPicPr preferRelativeResize="0"/>
          <p:nvPr/>
        </p:nvPicPr>
        <p:blipFill rotWithShape="1">
          <a:blip r:embed="rId3">
            <a:alphaModFix/>
          </a:blip>
          <a:srcRect b="0" l="0" r="0" t="0"/>
          <a:stretch/>
        </p:blipFill>
        <p:spPr>
          <a:xfrm>
            <a:off x="5653210" y="908338"/>
            <a:ext cx="357949" cy="337736"/>
          </a:xfrm>
          <a:prstGeom prst="rect">
            <a:avLst/>
          </a:prstGeom>
          <a:noFill/>
          <a:ln>
            <a:noFill/>
          </a:ln>
        </p:spPr>
      </p:pic>
      <p:pic>
        <p:nvPicPr>
          <p:cNvPr id="3281" name="Google Shape;3281;p126"/>
          <p:cNvPicPr preferRelativeResize="0"/>
          <p:nvPr/>
        </p:nvPicPr>
        <p:blipFill rotWithShape="1">
          <a:blip r:embed="rId4">
            <a:alphaModFix/>
          </a:blip>
          <a:srcRect b="0" l="0" r="0" t="0"/>
          <a:stretch/>
        </p:blipFill>
        <p:spPr>
          <a:xfrm>
            <a:off x="7317205" y="4001353"/>
            <a:ext cx="357949" cy="357974"/>
          </a:xfrm>
          <a:prstGeom prst="rect">
            <a:avLst/>
          </a:prstGeom>
          <a:noFill/>
          <a:ln>
            <a:noFill/>
          </a:ln>
        </p:spPr>
      </p:pic>
      <p:pic>
        <p:nvPicPr>
          <p:cNvPr id="3282" name="Google Shape;3282;p126"/>
          <p:cNvPicPr preferRelativeResize="0"/>
          <p:nvPr/>
        </p:nvPicPr>
        <p:blipFill rotWithShape="1">
          <a:blip r:embed="rId5">
            <a:alphaModFix/>
          </a:blip>
          <a:srcRect b="0" l="0" r="0" t="0"/>
          <a:stretch/>
        </p:blipFill>
        <p:spPr>
          <a:xfrm>
            <a:off x="3134712" y="3937799"/>
            <a:ext cx="308325" cy="308325"/>
          </a:xfrm>
          <a:prstGeom prst="rect">
            <a:avLst/>
          </a:prstGeom>
          <a:noFill/>
          <a:ln>
            <a:noFill/>
          </a:ln>
        </p:spPr>
      </p:pic>
      <p:sp>
        <p:nvSpPr>
          <p:cNvPr id="3283" name="Google Shape;3283;p126"/>
          <p:cNvSpPr txBox="1"/>
          <p:nvPr/>
        </p:nvSpPr>
        <p:spPr>
          <a:xfrm>
            <a:off x="8068980" y="3151835"/>
            <a:ext cx="1194000" cy="4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Build/validate bundle</a:t>
            </a:r>
            <a:endParaRPr sz="900">
              <a:solidFill>
                <a:srgbClr val="595959"/>
              </a:solidFill>
            </a:endParaRPr>
          </a:p>
        </p:txBody>
      </p:sp>
      <p:cxnSp>
        <p:nvCxnSpPr>
          <p:cNvPr id="3284" name="Google Shape;3284;p126"/>
          <p:cNvCxnSpPr>
            <a:stCxn id="3275" idx="2"/>
            <a:endCxn id="3267" idx="0"/>
          </p:cNvCxnSpPr>
          <p:nvPr/>
        </p:nvCxnSpPr>
        <p:spPr>
          <a:xfrm flipH="1">
            <a:off x="8569050" y="2021330"/>
            <a:ext cx="889200" cy="1668900"/>
          </a:xfrm>
          <a:prstGeom prst="straightConnector1">
            <a:avLst/>
          </a:prstGeom>
          <a:noFill/>
          <a:ln cap="flat" cmpd="sng" w="19050">
            <a:solidFill>
              <a:srgbClr val="A2C4C9"/>
            </a:solidFill>
            <a:prstDash val="solid"/>
            <a:round/>
            <a:headEnd len="med" w="med" type="stealth"/>
            <a:tailEnd len="sm" w="sm" type="none"/>
          </a:ln>
        </p:spPr>
      </p:cxnSp>
      <p:sp>
        <p:nvSpPr>
          <p:cNvPr id="3285" name="Google Shape;3285;p126"/>
          <p:cNvSpPr txBox="1"/>
          <p:nvPr/>
        </p:nvSpPr>
        <p:spPr>
          <a:xfrm>
            <a:off x="8497305" y="3991433"/>
            <a:ext cx="1518900" cy="4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Configure service principals, kick off runs of jobs, and other tasks.</a:t>
            </a:r>
            <a:endParaRPr sz="900">
              <a:solidFill>
                <a:srgbClr val="595959"/>
              </a:solidFill>
            </a:endParaRPr>
          </a:p>
        </p:txBody>
      </p:sp>
      <p:sp>
        <p:nvSpPr>
          <p:cNvPr id="3286" name="Google Shape;3286;p126"/>
          <p:cNvSpPr txBox="1"/>
          <p:nvPr/>
        </p:nvSpPr>
        <p:spPr>
          <a:xfrm>
            <a:off x="6093555" y="4161380"/>
            <a:ext cx="959400" cy="4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Notifications trigger CI/CD.</a:t>
            </a:r>
            <a:endParaRPr sz="900">
              <a:solidFill>
                <a:srgbClr val="595959"/>
              </a:solidFill>
            </a:endParaRPr>
          </a:p>
        </p:txBody>
      </p:sp>
      <p:cxnSp>
        <p:nvCxnSpPr>
          <p:cNvPr id="3287" name="Google Shape;3287;p126"/>
          <p:cNvCxnSpPr>
            <a:stCxn id="3276" idx="2"/>
            <a:endCxn id="3267" idx="0"/>
          </p:cNvCxnSpPr>
          <p:nvPr/>
        </p:nvCxnSpPr>
        <p:spPr>
          <a:xfrm>
            <a:off x="7939125" y="2021430"/>
            <a:ext cx="630000" cy="1668900"/>
          </a:xfrm>
          <a:prstGeom prst="straightConnector1">
            <a:avLst/>
          </a:prstGeom>
          <a:noFill/>
          <a:ln cap="flat" cmpd="sng" w="19050">
            <a:solidFill>
              <a:srgbClr val="A2C4C9"/>
            </a:solidFill>
            <a:prstDash val="solid"/>
            <a:round/>
            <a:headEnd len="med" w="med" type="stealth"/>
            <a:tailEnd len="sm" w="sm" type="none"/>
          </a:ln>
        </p:spPr>
      </p:cxnSp>
      <p:pic>
        <p:nvPicPr>
          <p:cNvPr id="3288" name="Google Shape;3288;p126"/>
          <p:cNvPicPr preferRelativeResize="0"/>
          <p:nvPr/>
        </p:nvPicPr>
        <p:blipFill rotWithShape="1">
          <a:blip r:embed="rId6">
            <a:alphaModFix/>
          </a:blip>
          <a:srcRect b="0" l="0" r="0" t="0"/>
          <a:stretch/>
        </p:blipFill>
        <p:spPr>
          <a:xfrm>
            <a:off x="3123912" y="4315324"/>
            <a:ext cx="357949" cy="357949"/>
          </a:xfrm>
          <a:prstGeom prst="rect">
            <a:avLst/>
          </a:prstGeom>
          <a:noFill/>
          <a:ln>
            <a:noFill/>
          </a:ln>
        </p:spPr>
      </p:pic>
      <p:pic>
        <p:nvPicPr>
          <p:cNvPr id="3289" name="Google Shape;3289;p126"/>
          <p:cNvPicPr preferRelativeResize="0"/>
          <p:nvPr/>
        </p:nvPicPr>
        <p:blipFill rotWithShape="1">
          <a:blip r:embed="rId7">
            <a:alphaModFix/>
          </a:blip>
          <a:srcRect b="0" l="0" r="0" t="0"/>
          <a:stretch/>
        </p:blipFill>
        <p:spPr>
          <a:xfrm>
            <a:off x="7711018" y="4033181"/>
            <a:ext cx="357949" cy="357949"/>
          </a:xfrm>
          <a:prstGeom prst="rect">
            <a:avLst/>
          </a:prstGeom>
          <a:noFill/>
          <a:ln>
            <a:noFill/>
          </a:ln>
        </p:spPr>
      </p:pic>
      <p:pic>
        <p:nvPicPr>
          <p:cNvPr id="3290" name="Google Shape;3290;p126"/>
          <p:cNvPicPr preferRelativeResize="0"/>
          <p:nvPr/>
        </p:nvPicPr>
        <p:blipFill rotWithShape="1">
          <a:blip r:embed="rId8">
            <a:alphaModFix/>
          </a:blip>
          <a:srcRect b="0" l="0" r="0" t="0"/>
          <a:stretch/>
        </p:blipFill>
        <p:spPr>
          <a:xfrm>
            <a:off x="8104155" y="4033182"/>
            <a:ext cx="357949" cy="357950"/>
          </a:xfrm>
          <a:prstGeom prst="rect">
            <a:avLst/>
          </a:prstGeom>
          <a:noFill/>
          <a:ln>
            <a:noFill/>
          </a:ln>
        </p:spPr>
      </p:pic>
      <p:pic>
        <p:nvPicPr>
          <p:cNvPr id="3291" name="Google Shape;3291;p126"/>
          <p:cNvPicPr preferRelativeResize="0"/>
          <p:nvPr/>
        </p:nvPicPr>
        <p:blipFill>
          <a:blip r:embed="rId9">
            <a:alphaModFix amt="47000"/>
          </a:blip>
          <a:stretch>
            <a:fillRect/>
          </a:stretch>
        </p:blipFill>
        <p:spPr>
          <a:xfrm>
            <a:off x="2733200" y="3927450"/>
            <a:ext cx="308349" cy="296050"/>
          </a:xfrm>
          <a:prstGeom prst="rect">
            <a:avLst/>
          </a:prstGeom>
          <a:solidFill>
            <a:srgbClr val="FFFFFF"/>
          </a:solidFill>
          <a:ln>
            <a:noFill/>
          </a:ln>
        </p:spPr>
      </p:pic>
      <p:sp>
        <p:nvSpPr>
          <p:cNvPr id="3292" name="Google Shape;3292;p126"/>
          <p:cNvSpPr/>
          <p:nvPr/>
        </p:nvSpPr>
        <p:spPr>
          <a:xfrm>
            <a:off x="2823042" y="4018653"/>
            <a:ext cx="142231" cy="100614"/>
          </a:xfrm>
          <a:custGeom>
            <a:rect b="b" l="l" r="r" t="t"/>
            <a:pathLst>
              <a:path extrusionOk="0" h="9474" w="12857">
                <a:moveTo>
                  <a:pt x="0" y="0"/>
                </a:moveTo>
                <a:lnTo>
                  <a:pt x="0" y="9474"/>
                </a:lnTo>
                <a:lnTo>
                  <a:pt x="12857" y="9136"/>
                </a:lnTo>
                <a:lnTo>
                  <a:pt x="12857" y="1016"/>
                </a:lnTo>
                <a:close/>
              </a:path>
            </a:pathLst>
          </a:custGeom>
          <a:solidFill>
            <a:srgbClr val="FFFFFF"/>
          </a:solidFill>
          <a:ln cap="flat" cmpd="sng" w="9525">
            <a:solidFill>
              <a:srgbClr val="FFFFFF"/>
            </a:solidFill>
            <a:prstDash val="solid"/>
            <a:round/>
            <a:headEnd len="med" w="med" type="none"/>
            <a:tailEnd len="med" w="med" type="none"/>
          </a:ln>
        </p:spPr>
      </p:sp>
      <p:pic>
        <p:nvPicPr>
          <p:cNvPr id="3293" name="Google Shape;3293;p126"/>
          <p:cNvPicPr preferRelativeResize="0"/>
          <p:nvPr/>
        </p:nvPicPr>
        <p:blipFill>
          <a:blip r:embed="rId10">
            <a:alphaModFix/>
          </a:blip>
          <a:stretch>
            <a:fillRect/>
          </a:stretch>
        </p:blipFill>
        <p:spPr>
          <a:xfrm>
            <a:off x="2810509" y="4033716"/>
            <a:ext cx="142228" cy="116467"/>
          </a:xfrm>
          <a:prstGeom prst="rect">
            <a:avLst/>
          </a:prstGeom>
          <a:solidFill>
            <a:srgbClr val="FFFFFF"/>
          </a:solidFill>
          <a:ln>
            <a:noFill/>
          </a:ln>
        </p:spPr>
      </p:pic>
      <p:sp>
        <p:nvSpPr>
          <p:cNvPr id="3294" name="Google Shape;3294;p126"/>
          <p:cNvSpPr/>
          <p:nvPr/>
        </p:nvSpPr>
        <p:spPr>
          <a:xfrm>
            <a:off x="2830532" y="4144437"/>
            <a:ext cx="123513" cy="50307"/>
          </a:xfrm>
          <a:custGeom>
            <a:rect b="b" l="l" r="r" t="t"/>
            <a:pathLst>
              <a:path extrusionOk="0" h="4737" w="11165">
                <a:moveTo>
                  <a:pt x="0" y="0"/>
                </a:moveTo>
                <a:lnTo>
                  <a:pt x="10489" y="338"/>
                </a:lnTo>
                <a:lnTo>
                  <a:pt x="11165" y="4060"/>
                </a:lnTo>
                <a:lnTo>
                  <a:pt x="1691" y="4737"/>
                </a:lnTo>
                <a:close/>
              </a:path>
            </a:pathLst>
          </a:custGeom>
          <a:solidFill>
            <a:srgbClr val="FFFFFF"/>
          </a:solidFill>
          <a:ln cap="flat" cmpd="sng" w="9525">
            <a:solidFill>
              <a:srgbClr val="FFFFFF"/>
            </a:solidFill>
            <a:prstDash val="solid"/>
            <a:round/>
            <a:headEnd len="med" w="med" type="none"/>
            <a:tailEnd len="med" w="med" type="none"/>
          </a:ln>
        </p:spPr>
      </p:sp>
      <p:pic>
        <p:nvPicPr>
          <p:cNvPr id="3295" name="Google Shape;3295;p126"/>
          <p:cNvPicPr preferRelativeResize="0"/>
          <p:nvPr/>
        </p:nvPicPr>
        <p:blipFill>
          <a:blip r:embed="rId9">
            <a:alphaModFix amt="47000"/>
          </a:blip>
          <a:stretch>
            <a:fillRect/>
          </a:stretch>
        </p:blipFill>
        <p:spPr>
          <a:xfrm>
            <a:off x="2739988" y="4358550"/>
            <a:ext cx="308349" cy="293400"/>
          </a:xfrm>
          <a:prstGeom prst="rect">
            <a:avLst/>
          </a:prstGeom>
          <a:solidFill>
            <a:srgbClr val="FFFFFF"/>
          </a:solidFill>
          <a:ln>
            <a:noFill/>
          </a:ln>
        </p:spPr>
      </p:pic>
      <p:sp>
        <p:nvSpPr>
          <p:cNvPr id="3296" name="Google Shape;3296;p126"/>
          <p:cNvSpPr/>
          <p:nvPr/>
        </p:nvSpPr>
        <p:spPr>
          <a:xfrm>
            <a:off x="2829826" y="4448934"/>
            <a:ext cx="142231" cy="148931"/>
          </a:xfrm>
          <a:custGeom>
            <a:rect b="b" l="l" r="r" t="t"/>
            <a:pathLst>
              <a:path extrusionOk="0" h="9474" w="12857">
                <a:moveTo>
                  <a:pt x="0" y="0"/>
                </a:moveTo>
                <a:lnTo>
                  <a:pt x="0" y="9474"/>
                </a:lnTo>
                <a:lnTo>
                  <a:pt x="12857" y="9136"/>
                </a:lnTo>
                <a:lnTo>
                  <a:pt x="12857" y="1016"/>
                </a:lnTo>
                <a:close/>
              </a:path>
            </a:pathLst>
          </a:custGeom>
          <a:solidFill>
            <a:srgbClr val="FFFFFF"/>
          </a:solidFill>
          <a:ln cap="flat" cmpd="sng" w="9525">
            <a:solidFill>
              <a:srgbClr val="FFFFFF"/>
            </a:solidFill>
            <a:prstDash val="solid"/>
            <a:round/>
            <a:headEnd len="med" w="med" type="none"/>
            <a:tailEnd len="med" w="med" type="none"/>
          </a:ln>
        </p:spPr>
      </p:sp>
      <p:sp>
        <p:nvSpPr>
          <p:cNvPr id="3297" name="Google Shape;3297;p126"/>
          <p:cNvSpPr/>
          <p:nvPr/>
        </p:nvSpPr>
        <p:spPr>
          <a:xfrm>
            <a:off x="2837319" y="4573596"/>
            <a:ext cx="123513" cy="49857"/>
          </a:xfrm>
          <a:custGeom>
            <a:rect b="b" l="l" r="r" t="t"/>
            <a:pathLst>
              <a:path extrusionOk="0" h="4737" w="11165">
                <a:moveTo>
                  <a:pt x="0" y="0"/>
                </a:moveTo>
                <a:lnTo>
                  <a:pt x="10489" y="338"/>
                </a:lnTo>
                <a:lnTo>
                  <a:pt x="11165" y="4060"/>
                </a:lnTo>
                <a:lnTo>
                  <a:pt x="1691" y="4737"/>
                </a:lnTo>
                <a:close/>
              </a:path>
            </a:pathLst>
          </a:custGeom>
          <a:solidFill>
            <a:srgbClr val="FFFFFF"/>
          </a:solidFill>
          <a:ln cap="flat" cmpd="sng" w="9525">
            <a:solidFill>
              <a:srgbClr val="FFFFFF"/>
            </a:solidFill>
            <a:prstDash val="solid"/>
            <a:round/>
            <a:headEnd len="med" w="med" type="none"/>
            <a:tailEnd len="med" w="med" type="none"/>
          </a:ln>
        </p:spPr>
      </p:sp>
      <p:pic>
        <p:nvPicPr>
          <p:cNvPr id="3298" name="Google Shape;3298;p126"/>
          <p:cNvPicPr preferRelativeResize="0"/>
          <p:nvPr/>
        </p:nvPicPr>
        <p:blipFill>
          <a:blip r:embed="rId11">
            <a:alphaModFix/>
          </a:blip>
          <a:stretch>
            <a:fillRect/>
          </a:stretch>
        </p:blipFill>
        <p:spPr>
          <a:xfrm>
            <a:off x="2885689" y="4492819"/>
            <a:ext cx="161186" cy="155891"/>
          </a:xfrm>
          <a:prstGeom prst="rect">
            <a:avLst/>
          </a:prstGeom>
          <a:noFill/>
          <a:ln>
            <a:noFill/>
          </a:ln>
        </p:spPr>
      </p:pic>
      <p:pic>
        <p:nvPicPr>
          <p:cNvPr id="3299" name="Google Shape;3299;p126"/>
          <p:cNvPicPr preferRelativeResize="0"/>
          <p:nvPr/>
        </p:nvPicPr>
        <p:blipFill>
          <a:blip r:embed="rId12">
            <a:alphaModFix/>
          </a:blip>
          <a:stretch>
            <a:fillRect/>
          </a:stretch>
        </p:blipFill>
        <p:spPr>
          <a:xfrm>
            <a:off x="3952200" y="4214337"/>
            <a:ext cx="306075" cy="224100"/>
          </a:xfrm>
          <a:prstGeom prst="rect">
            <a:avLst/>
          </a:prstGeom>
          <a:noFill/>
          <a:ln>
            <a:noFill/>
          </a:ln>
        </p:spPr>
      </p:pic>
      <p:sp>
        <p:nvSpPr>
          <p:cNvPr id="3300" name="Google Shape;3300;p126"/>
          <p:cNvSpPr txBox="1"/>
          <p:nvPr/>
        </p:nvSpPr>
        <p:spPr>
          <a:xfrm>
            <a:off x="0" y="0"/>
            <a:ext cx="66741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Bundle (DABs) lifecycle</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/_static/images/asset-bundles/bundle-cicd-small.png</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4" name="Shape 3304"/>
        <p:cNvGrpSpPr/>
        <p:nvPr/>
      </p:nvGrpSpPr>
      <p:grpSpPr>
        <a:xfrm>
          <a:off x="0" y="0"/>
          <a:ext cx="0" cy="0"/>
          <a:chOff x="0" y="0"/>
          <a:chExt cx="0" cy="0"/>
        </a:xfrm>
      </p:grpSpPr>
      <p:sp>
        <p:nvSpPr>
          <p:cNvPr id="3305" name="Google Shape;3305;p127"/>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306" name="Google Shape;3306;p127"/>
          <p:cNvSpPr txBox="1"/>
          <p:nvPr/>
        </p:nvSpPr>
        <p:spPr>
          <a:xfrm>
            <a:off x="11097669" y="6092300"/>
            <a:ext cx="324300" cy="18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100">
                <a:solidFill>
                  <a:srgbClr val="618794"/>
                </a:solidFill>
                <a:latin typeface="DM Sans"/>
                <a:ea typeface="DM Sans"/>
                <a:cs typeface="DM Sans"/>
                <a:sym typeface="DM Sans"/>
              </a:rPr>
              <a:t>‹#›</a:t>
            </a:fld>
            <a:endParaRPr sz="1100">
              <a:solidFill>
                <a:srgbClr val="618794"/>
              </a:solidFill>
              <a:latin typeface="DM Sans"/>
              <a:ea typeface="DM Sans"/>
              <a:cs typeface="DM Sans"/>
              <a:sym typeface="DM Sans"/>
            </a:endParaRPr>
          </a:p>
        </p:txBody>
      </p:sp>
      <p:sp>
        <p:nvSpPr>
          <p:cNvPr id="3307" name="Google Shape;3307;p127"/>
          <p:cNvSpPr txBox="1"/>
          <p:nvPr/>
        </p:nvSpPr>
        <p:spPr>
          <a:xfrm>
            <a:off x="0" y="0"/>
            <a:ext cx="66741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Languages overview</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/_static/images/languages/data-eng-decision.png</a:t>
            </a:r>
            <a:endParaRPr/>
          </a:p>
        </p:txBody>
      </p:sp>
      <p:cxnSp>
        <p:nvCxnSpPr>
          <p:cNvPr id="3308" name="Google Shape;3308;p127"/>
          <p:cNvCxnSpPr>
            <a:stCxn id="3309" idx="3"/>
            <a:endCxn id="3310" idx="1"/>
          </p:cNvCxnSpPr>
          <p:nvPr/>
        </p:nvCxnSpPr>
        <p:spPr>
          <a:xfrm flipH="1" rot="10800000">
            <a:off x="2512300" y="1937725"/>
            <a:ext cx="2286900" cy="1145400"/>
          </a:xfrm>
          <a:prstGeom prst="curvedConnector3">
            <a:avLst>
              <a:gd fmla="val 49998" name="adj1"/>
            </a:avLst>
          </a:prstGeom>
          <a:noFill/>
          <a:ln cap="flat" cmpd="sng" w="9525">
            <a:solidFill>
              <a:srgbClr val="FF5F46"/>
            </a:solidFill>
            <a:prstDash val="solid"/>
            <a:round/>
            <a:headEnd len="med" w="med" type="none"/>
            <a:tailEnd len="med" w="med" type="triangle"/>
          </a:ln>
        </p:spPr>
      </p:cxnSp>
      <p:sp>
        <p:nvSpPr>
          <p:cNvPr id="3311" name="Google Shape;3311;p127"/>
          <p:cNvSpPr/>
          <p:nvPr/>
        </p:nvSpPr>
        <p:spPr>
          <a:xfrm>
            <a:off x="2828275" y="1733950"/>
            <a:ext cx="1344300" cy="10401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l">
              <a:spcBef>
                <a:spcPts val="0"/>
              </a:spcBef>
              <a:spcAft>
                <a:spcPts val="0"/>
              </a:spcAft>
              <a:buNone/>
            </a:pPr>
            <a:r>
              <a:t/>
            </a:r>
            <a:endParaRPr b="1" sz="1100">
              <a:latin typeface="DM Sans"/>
              <a:ea typeface="DM Sans"/>
              <a:cs typeface="DM Sans"/>
              <a:sym typeface="DM Sans"/>
            </a:endParaRPr>
          </a:p>
        </p:txBody>
      </p:sp>
      <p:sp>
        <p:nvSpPr>
          <p:cNvPr id="3312" name="Google Shape;3312;p127"/>
          <p:cNvSpPr txBox="1"/>
          <p:nvPr/>
        </p:nvSpPr>
        <p:spPr>
          <a:xfrm>
            <a:off x="11097669" y="6473300"/>
            <a:ext cx="324300" cy="18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100">
                <a:solidFill>
                  <a:srgbClr val="618794"/>
                </a:solidFill>
                <a:latin typeface="DM Sans"/>
                <a:ea typeface="DM Sans"/>
                <a:cs typeface="DM Sans"/>
                <a:sym typeface="DM Sans"/>
              </a:rPr>
              <a:t>‹#›</a:t>
            </a:fld>
            <a:endParaRPr sz="1100">
              <a:solidFill>
                <a:srgbClr val="618794"/>
              </a:solidFill>
              <a:latin typeface="DM Sans"/>
              <a:ea typeface="DM Sans"/>
              <a:cs typeface="DM Sans"/>
              <a:sym typeface="DM Sans"/>
            </a:endParaRPr>
          </a:p>
        </p:txBody>
      </p:sp>
      <p:sp>
        <p:nvSpPr>
          <p:cNvPr id="3309" name="Google Shape;3309;p127"/>
          <p:cNvSpPr/>
          <p:nvPr/>
        </p:nvSpPr>
        <p:spPr>
          <a:xfrm>
            <a:off x="1122400" y="2661475"/>
            <a:ext cx="1389900" cy="843300"/>
          </a:xfrm>
          <a:prstGeom prst="roundRect">
            <a:avLst>
              <a:gd fmla="val 16667" name="adj"/>
            </a:avLst>
          </a:prstGeom>
          <a:solidFill>
            <a:srgbClr val="FFFFFF"/>
          </a:solidFill>
          <a:ln cap="flat" cmpd="sng" w="19050">
            <a:solidFill>
              <a:srgbClr val="595959"/>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What is used to execute the pipeline?</a:t>
            </a:r>
            <a:endParaRPr b="1" sz="1100">
              <a:latin typeface="DM Sans"/>
              <a:ea typeface="DM Sans"/>
              <a:cs typeface="DM Sans"/>
              <a:sym typeface="DM Sans"/>
            </a:endParaRPr>
          </a:p>
        </p:txBody>
      </p:sp>
      <p:cxnSp>
        <p:nvCxnSpPr>
          <p:cNvPr id="3313" name="Google Shape;3313;p127"/>
          <p:cNvCxnSpPr>
            <a:stCxn id="3309" idx="3"/>
            <a:endCxn id="3314" idx="1"/>
          </p:cNvCxnSpPr>
          <p:nvPr/>
        </p:nvCxnSpPr>
        <p:spPr>
          <a:xfrm>
            <a:off x="2512300" y="3083125"/>
            <a:ext cx="2106000" cy="1605000"/>
          </a:xfrm>
          <a:prstGeom prst="curvedConnector3">
            <a:avLst>
              <a:gd fmla="val 50003" name="adj1"/>
            </a:avLst>
          </a:prstGeom>
          <a:noFill/>
          <a:ln cap="flat" cmpd="sng" w="9525">
            <a:solidFill>
              <a:srgbClr val="FF5F46"/>
            </a:solidFill>
            <a:prstDash val="solid"/>
            <a:round/>
            <a:headEnd len="med" w="med" type="none"/>
            <a:tailEnd len="med" w="med" type="triangle"/>
          </a:ln>
        </p:spPr>
      </p:cxnSp>
      <p:sp>
        <p:nvSpPr>
          <p:cNvPr id="3314" name="Google Shape;3314;p127"/>
          <p:cNvSpPr/>
          <p:nvPr/>
        </p:nvSpPr>
        <p:spPr>
          <a:xfrm>
            <a:off x="4618425" y="4337125"/>
            <a:ext cx="1036800" cy="702000"/>
          </a:xfrm>
          <a:prstGeom prst="roundRect">
            <a:avLst>
              <a:gd fmla="val 16667" name="adj"/>
            </a:avLst>
          </a:prstGeom>
          <a:solidFill>
            <a:srgbClr val="FFFFFF"/>
          </a:solidFill>
          <a:ln cap="flat" cmpd="sng" w="19050">
            <a:solidFill>
              <a:srgbClr val="595959"/>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What is the task type?</a:t>
            </a:r>
            <a:endParaRPr b="1" sz="1100">
              <a:latin typeface="DM Sans"/>
              <a:ea typeface="DM Sans"/>
              <a:cs typeface="DM Sans"/>
              <a:sym typeface="DM Sans"/>
            </a:endParaRPr>
          </a:p>
        </p:txBody>
      </p:sp>
      <p:sp>
        <p:nvSpPr>
          <p:cNvPr id="3315" name="Google Shape;3315;p127"/>
          <p:cNvSpPr/>
          <p:nvPr/>
        </p:nvSpPr>
        <p:spPr>
          <a:xfrm>
            <a:off x="7540275" y="4403425"/>
            <a:ext cx="2052600" cy="560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Python, SQL, Scala</a:t>
            </a:r>
            <a:endParaRPr sz="1200">
              <a:latin typeface="DM Sans"/>
              <a:ea typeface="DM Sans"/>
              <a:cs typeface="DM Sans"/>
              <a:sym typeface="DM Sans"/>
            </a:endParaRPr>
          </a:p>
        </p:txBody>
      </p:sp>
      <p:sp>
        <p:nvSpPr>
          <p:cNvPr id="3316" name="Google Shape;3316;p127"/>
          <p:cNvSpPr/>
          <p:nvPr/>
        </p:nvSpPr>
        <p:spPr>
          <a:xfrm>
            <a:off x="7540275" y="3765575"/>
            <a:ext cx="2052600" cy="560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SQL</a:t>
            </a:r>
            <a:endParaRPr sz="1200">
              <a:latin typeface="DM Sans"/>
              <a:ea typeface="DM Sans"/>
              <a:cs typeface="DM Sans"/>
              <a:sym typeface="DM Sans"/>
            </a:endParaRPr>
          </a:p>
        </p:txBody>
      </p:sp>
      <p:sp>
        <p:nvSpPr>
          <p:cNvPr id="3317" name="Google Shape;3317;p127"/>
          <p:cNvSpPr/>
          <p:nvPr/>
        </p:nvSpPr>
        <p:spPr>
          <a:xfrm>
            <a:off x="7540275" y="3127725"/>
            <a:ext cx="2052600" cy="560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Python</a:t>
            </a:r>
            <a:endParaRPr sz="1200">
              <a:latin typeface="DM Sans"/>
              <a:ea typeface="DM Sans"/>
              <a:cs typeface="DM Sans"/>
              <a:sym typeface="DM Sans"/>
            </a:endParaRPr>
          </a:p>
        </p:txBody>
      </p:sp>
      <p:sp>
        <p:nvSpPr>
          <p:cNvPr id="3318" name="Google Shape;3318;p127"/>
          <p:cNvSpPr/>
          <p:nvPr/>
        </p:nvSpPr>
        <p:spPr>
          <a:xfrm>
            <a:off x="7540275" y="5041275"/>
            <a:ext cx="2052600" cy="560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Python, as a wheel</a:t>
            </a:r>
            <a:endParaRPr sz="1200">
              <a:latin typeface="DM Sans"/>
              <a:ea typeface="DM Sans"/>
              <a:cs typeface="DM Sans"/>
              <a:sym typeface="DM Sans"/>
            </a:endParaRPr>
          </a:p>
        </p:txBody>
      </p:sp>
      <p:sp>
        <p:nvSpPr>
          <p:cNvPr id="3319" name="Google Shape;3319;p127"/>
          <p:cNvSpPr/>
          <p:nvPr/>
        </p:nvSpPr>
        <p:spPr>
          <a:xfrm>
            <a:off x="7540275" y="5679125"/>
            <a:ext cx="2052600" cy="560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Scala, Java, JVM-based languages as JAR</a:t>
            </a:r>
            <a:endParaRPr sz="1200">
              <a:latin typeface="DM Sans"/>
              <a:ea typeface="DM Sans"/>
              <a:cs typeface="DM Sans"/>
              <a:sym typeface="DM Sans"/>
            </a:endParaRPr>
          </a:p>
        </p:txBody>
      </p:sp>
      <p:pic>
        <p:nvPicPr>
          <p:cNvPr id="3320" name="Google Shape;3320;p127"/>
          <p:cNvPicPr preferRelativeResize="0"/>
          <p:nvPr/>
        </p:nvPicPr>
        <p:blipFill rotWithShape="1">
          <a:blip r:embed="rId3">
            <a:alphaModFix/>
          </a:blip>
          <a:srcRect b="0" l="0" r="0" t="0"/>
          <a:stretch/>
        </p:blipFill>
        <p:spPr>
          <a:xfrm>
            <a:off x="3273563" y="2296900"/>
            <a:ext cx="453926" cy="453903"/>
          </a:xfrm>
          <a:prstGeom prst="rect">
            <a:avLst/>
          </a:prstGeom>
          <a:noFill/>
          <a:ln>
            <a:noFill/>
          </a:ln>
        </p:spPr>
      </p:pic>
      <p:sp>
        <p:nvSpPr>
          <p:cNvPr id="3321" name="Google Shape;3321;p127"/>
          <p:cNvSpPr/>
          <p:nvPr/>
        </p:nvSpPr>
        <p:spPr>
          <a:xfrm>
            <a:off x="2901576" y="1868350"/>
            <a:ext cx="1197900" cy="396600"/>
          </a:xfrm>
          <a:prstGeom prst="rect">
            <a:avLst/>
          </a:prstGeom>
          <a:solidFill>
            <a:srgbClr val="FFFFFF"/>
          </a:solidFill>
          <a:ln cap="flat" cmpd="sng" w="9525">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Delta Live Tables</a:t>
            </a:r>
            <a:endParaRPr sz="1200"/>
          </a:p>
        </p:txBody>
      </p:sp>
      <p:sp>
        <p:nvSpPr>
          <p:cNvPr id="3322" name="Google Shape;3322;p127"/>
          <p:cNvSpPr/>
          <p:nvPr/>
        </p:nvSpPr>
        <p:spPr>
          <a:xfrm>
            <a:off x="2828263" y="3365575"/>
            <a:ext cx="1344300" cy="10401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l">
              <a:spcBef>
                <a:spcPts val="0"/>
              </a:spcBef>
              <a:spcAft>
                <a:spcPts val="0"/>
              </a:spcAft>
              <a:buNone/>
            </a:pPr>
            <a:r>
              <a:t/>
            </a:r>
            <a:endParaRPr b="1" sz="1100">
              <a:latin typeface="DM Sans"/>
              <a:ea typeface="DM Sans"/>
              <a:cs typeface="DM Sans"/>
              <a:sym typeface="DM Sans"/>
            </a:endParaRPr>
          </a:p>
        </p:txBody>
      </p:sp>
      <p:sp>
        <p:nvSpPr>
          <p:cNvPr id="3323" name="Google Shape;3323;p127"/>
          <p:cNvSpPr/>
          <p:nvPr/>
        </p:nvSpPr>
        <p:spPr>
          <a:xfrm>
            <a:off x="2901459" y="3524500"/>
            <a:ext cx="1197900" cy="279600"/>
          </a:xfrm>
          <a:prstGeom prst="rect">
            <a:avLst/>
          </a:prstGeom>
          <a:solidFill>
            <a:srgbClr val="FFFFFF">
              <a:alpha val="94050"/>
            </a:srgbClr>
          </a:solidFill>
          <a:ln cap="flat" cmpd="sng" w="9525">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Workflows</a:t>
            </a:r>
            <a:endParaRPr sz="1200">
              <a:latin typeface="DM Sans"/>
              <a:ea typeface="DM Sans"/>
              <a:cs typeface="DM Sans"/>
              <a:sym typeface="DM Sans"/>
            </a:endParaRPr>
          </a:p>
        </p:txBody>
      </p:sp>
      <p:pic>
        <p:nvPicPr>
          <p:cNvPr id="3324" name="Google Shape;3324;p127"/>
          <p:cNvPicPr preferRelativeResize="0"/>
          <p:nvPr/>
        </p:nvPicPr>
        <p:blipFill rotWithShape="1">
          <a:blip r:embed="rId4">
            <a:alphaModFix/>
          </a:blip>
          <a:srcRect b="0" l="0" r="0" t="0"/>
          <a:stretch/>
        </p:blipFill>
        <p:spPr>
          <a:xfrm>
            <a:off x="3273452" y="3864222"/>
            <a:ext cx="453925" cy="453925"/>
          </a:xfrm>
          <a:prstGeom prst="rect">
            <a:avLst/>
          </a:prstGeom>
          <a:noFill/>
          <a:ln>
            <a:noFill/>
          </a:ln>
        </p:spPr>
      </p:pic>
      <p:cxnSp>
        <p:nvCxnSpPr>
          <p:cNvPr id="3325" name="Google Shape;3325;p127"/>
          <p:cNvCxnSpPr>
            <a:stCxn id="3314" idx="3"/>
            <a:endCxn id="3319" idx="1"/>
          </p:cNvCxnSpPr>
          <p:nvPr/>
        </p:nvCxnSpPr>
        <p:spPr>
          <a:xfrm>
            <a:off x="5655225" y="4688125"/>
            <a:ext cx="1885200" cy="1271100"/>
          </a:xfrm>
          <a:prstGeom prst="bentConnector3">
            <a:avLst>
              <a:gd fmla="val 29884" name="adj1"/>
            </a:avLst>
          </a:prstGeom>
          <a:noFill/>
          <a:ln cap="flat" cmpd="sng" w="9525">
            <a:solidFill>
              <a:srgbClr val="1B3139"/>
            </a:solidFill>
            <a:prstDash val="solid"/>
            <a:round/>
            <a:headEnd len="med" w="med" type="none"/>
            <a:tailEnd len="med" w="med" type="triangle"/>
          </a:ln>
        </p:spPr>
      </p:cxnSp>
      <p:cxnSp>
        <p:nvCxnSpPr>
          <p:cNvPr id="3326" name="Google Shape;3326;p127"/>
          <p:cNvCxnSpPr>
            <a:stCxn id="3314" idx="3"/>
            <a:endCxn id="3318" idx="1"/>
          </p:cNvCxnSpPr>
          <p:nvPr/>
        </p:nvCxnSpPr>
        <p:spPr>
          <a:xfrm>
            <a:off x="5655225" y="4688125"/>
            <a:ext cx="1885200" cy="633300"/>
          </a:xfrm>
          <a:prstGeom prst="bentConnector3">
            <a:avLst>
              <a:gd fmla="val 29884" name="adj1"/>
            </a:avLst>
          </a:prstGeom>
          <a:noFill/>
          <a:ln cap="flat" cmpd="sng" w="9525">
            <a:solidFill>
              <a:srgbClr val="1B3139"/>
            </a:solidFill>
            <a:prstDash val="solid"/>
            <a:round/>
            <a:headEnd len="med" w="med" type="none"/>
            <a:tailEnd len="med" w="med" type="triangle"/>
          </a:ln>
        </p:spPr>
      </p:cxnSp>
      <p:cxnSp>
        <p:nvCxnSpPr>
          <p:cNvPr id="3327" name="Google Shape;3327;p127"/>
          <p:cNvCxnSpPr>
            <a:stCxn id="3314" idx="3"/>
            <a:endCxn id="3315" idx="1"/>
          </p:cNvCxnSpPr>
          <p:nvPr/>
        </p:nvCxnSpPr>
        <p:spPr>
          <a:xfrm flipH="1" rot="10800000">
            <a:off x="5655225" y="4683325"/>
            <a:ext cx="1885200" cy="4800"/>
          </a:xfrm>
          <a:prstGeom prst="bentConnector3">
            <a:avLst>
              <a:gd fmla="val 49996" name="adj1"/>
            </a:avLst>
          </a:prstGeom>
          <a:noFill/>
          <a:ln cap="flat" cmpd="sng" w="9525">
            <a:solidFill>
              <a:srgbClr val="1B3139"/>
            </a:solidFill>
            <a:prstDash val="solid"/>
            <a:round/>
            <a:headEnd len="med" w="med" type="none"/>
            <a:tailEnd len="med" w="med" type="triangle"/>
          </a:ln>
        </p:spPr>
      </p:cxnSp>
      <p:cxnSp>
        <p:nvCxnSpPr>
          <p:cNvPr id="3328" name="Google Shape;3328;p127"/>
          <p:cNvCxnSpPr>
            <a:stCxn id="3314" idx="3"/>
            <a:endCxn id="3316" idx="1"/>
          </p:cNvCxnSpPr>
          <p:nvPr/>
        </p:nvCxnSpPr>
        <p:spPr>
          <a:xfrm flipH="1" rot="10800000">
            <a:off x="5655225" y="4045525"/>
            <a:ext cx="1885200" cy="642600"/>
          </a:xfrm>
          <a:prstGeom prst="bentConnector3">
            <a:avLst>
              <a:gd fmla="val 29884" name="adj1"/>
            </a:avLst>
          </a:prstGeom>
          <a:noFill/>
          <a:ln cap="flat" cmpd="sng" w="9525">
            <a:solidFill>
              <a:srgbClr val="1B3139"/>
            </a:solidFill>
            <a:prstDash val="solid"/>
            <a:round/>
            <a:headEnd len="med" w="med" type="none"/>
            <a:tailEnd len="med" w="med" type="triangle"/>
          </a:ln>
        </p:spPr>
      </p:cxnSp>
      <p:cxnSp>
        <p:nvCxnSpPr>
          <p:cNvPr id="3329" name="Google Shape;3329;p127"/>
          <p:cNvCxnSpPr>
            <a:stCxn id="3314" idx="3"/>
            <a:endCxn id="3317" idx="1"/>
          </p:cNvCxnSpPr>
          <p:nvPr/>
        </p:nvCxnSpPr>
        <p:spPr>
          <a:xfrm flipH="1" rot="10800000">
            <a:off x="5655225" y="3407725"/>
            <a:ext cx="1885200" cy="1280400"/>
          </a:xfrm>
          <a:prstGeom prst="bentConnector3">
            <a:avLst>
              <a:gd fmla="val 29884" name="adj1"/>
            </a:avLst>
          </a:prstGeom>
          <a:noFill/>
          <a:ln cap="flat" cmpd="sng" w="9525">
            <a:solidFill>
              <a:srgbClr val="1B3139"/>
            </a:solidFill>
            <a:prstDash val="solid"/>
            <a:round/>
            <a:headEnd len="med" w="med" type="none"/>
            <a:tailEnd len="med" w="med" type="triangle"/>
          </a:ln>
        </p:spPr>
      </p:cxnSp>
      <p:sp>
        <p:nvSpPr>
          <p:cNvPr id="3310" name="Google Shape;3310;p127"/>
          <p:cNvSpPr/>
          <p:nvPr/>
        </p:nvSpPr>
        <p:spPr>
          <a:xfrm>
            <a:off x="4799125" y="1657750"/>
            <a:ext cx="2052600" cy="560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Python, SQL </a:t>
            </a:r>
            <a:endParaRPr sz="1200">
              <a:latin typeface="DM Sans"/>
              <a:ea typeface="DM Sans"/>
              <a:cs typeface="DM Sans"/>
              <a:sym typeface="DM Sans"/>
            </a:endParaRPr>
          </a:p>
          <a:p>
            <a:pPr indent="0" lvl="0" marL="0" rtl="0" algn="ctr">
              <a:spcBef>
                <a:spcPts val="0"/>
              </a:spcBef>
              <a:spcAft>
                <a:spcPts val="0"/>
              </a:spcAft>
              <a:buNone/>
            </a:pPr>
            <a:r>
              <a:rPr lang="en" sz="1200">
                <a:latin typeface="DM Sans"/>
                <a:ea typeface="DM Sans"/>
                <a:cs typeface="DM Sans"/>
                <a:sym typeface="DM Sans"/>
              </a:rPr>
              <a:t>(as notebooks or files)</a:t>
            </a:r>
            <a:endParaRPr sz="1200">
              <a:latin typeface="DM Sans"/>
              <a:ea typeface="DM Sans"/>
              <a:cs typeface="DM Sans"/>
              <a:sym typeface="DM Sans"/>
            </a:endParaRPr>
          </a:p>
        </p:txBody>
      </p:sp>
      <p:sp>
        <p:nvSpPr>
          <p:cNvPr id="3330" name="Google Shape;3330;p127"/>
          <p:cNvSpPr txBox="1"/>
          <p:nvPr/>
        </p:nvSpPr>
        <p:spPr>
          <a:xfrm>
            <a:off x="6164715" y="3103075"/>
            <a:ext cx="11247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Python script</a:t>
            </a:r>
            <a:endParaRPr sz="1000">
              <a:solidFill>
                <a:srgbClr val="595959"/>
              </a:solidFill>
              <a:latin typeface="DM Sans Medium"/>
              <a:ea typeface="DM Sans Medium"/>
              <a:cs typeface="DM Sans Medium"/>
              <a:sym typeface="DM Sans Medium"/>
            </a:endParaRPr>
          </a:p>
        </p:txBody>
      </p:sp>
      <p:sp>
        <p:nvSpPr>
          <p:cNvPr id="3331" name="Google Shape;3331;p127"/>
          <p:cNvSpPr txBox="1"/>
          <p:nvPr/>
        </p:nvSpPr>
        <p:spPr>
          <a:xfrm>
            <a:off x="6191640" y="3764025"/>
            <a:ext cx="11247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SQL file</a:t>
            </a:r>
            <a:endParaRPr sz="1000">
              <a:solidFill>
                <a:srgbClr val="595959"/>
              </a:solidFill>
              <a:latin typeface="DM Sans Medium"/>
              <a:ea typeface="DM Sans Medium"/>
              <a:cs typeface="DM Sans Medium"/>
              <a:sym typeface="DM Sans Medium"/>
            </a:endParaRPr>
          </a:p>
        </p:txBody>
      </p:sp>
      <p:sp>
        <p:nvSpPr>
          <p:cNvPr id="3332" name="Google Shape;3332;p127"/>
          <p:cNvSpPr txBox="1"/>
          <p:nvPr/>
        </p:nvSpPr>
        <p:spPr>
          <a:xfrm>
            <a:off x="6251365" y="4424975"/>
            <a:ext cx="11247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Notebook</a:t>
            </a:r>
            <a:endParaRPr sz="1000">
              <a:solidFill>
                <a:srgbClr val="595959"/>
              </a:solidFill>
              <a:latin typeface="DM Sans Medium"/>
              <a:ea typeface="DM Sans Medium"/>
              <a:cs typeface="DM Sans Medium"/>
              <a:sym typeface="DM Sans Medium"/>
            </a:endParaRPr>
          </a:p>
        </p:txBody>
      </p:sp>
      <p:sp>
        <p:nvSpPr>
          <p:cNvPr id="3333" name="Google Shape;3333;p127"/>
          <p:cNvSpPr txBox="1"/>
          <p:nvPr/>
        </p:nvSpPr>
        <p:spPr>
          <a:xfrm>
            <a:off x="6251365" y="5039725"/>
            <a:ext cx="11247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Python wheel</a:t>
            </a:r>
            <a:endParaRPr sz="1000">
              <a:solidFill>
                <a:srgbClr val="595959"/>
              </a:solidFill>
              <a:latin typeface="DM Sans Medium"/>
              <a:ea typeface="DM Sans Medium"/>
              <a:cs typeface="DM Sans Medium"/>
              <a:sym typeface="DM Sans Medium"/>
            </a:endParaRPr>
          </a:p>
        </p:txBody>
      </p:sp>
      <p:sp>
        <p:nvSpPr>
          <p:cNvPr id="3334" name="Google Shape;3334;p127"/>
          <p:cNvSpPr txBox="1"/>
          <p:nvPr/>
        </p:nvSpPr>
        <p:spPr>
          <a:xfrm>
            <a:off x="6251365" y="5653825"/>
            <a:ext cx="11247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595959"/>
                </a:solidFill>
                <a:latin typeface="DM Sans Medium"/>
                <a:ea typeface="DM Sans Medium"/>
                <a:cs typeface="DM Sans Medium"/>
                <a:sym typeface="DM Sans Medium"/>
              </a:rPr>
              <a:t>JAR</a:t>
            </a:r>
            <a:endParaRPr sz="1000">
              <a:solidFill>
                <a:srgbClr val="595959"/>
              </a:solidFill>
              <a:latin typeface="DM Sans Medium"/>
              <a:ea typeface="DM Sans Medium"/>
              <a:cs typeface="DM Sans Medium"/>
              <a:sym typeface="DM Sans Medium"/>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8" name="Shape 3338"/>
        <p:cNvGrpSpPr/>
        <p:nvPr/>
      </p:nvGrpSpPr>
      <p:grpSpPr>
        <a:xfrm>
          <a:off x="0" y="0"/>
          <a:ext cx="0" cy="0"/>
          <a:chOff x="0" y="0"/>
          <a:chExt cx="0" cy="0"/>
        </a:xfrm>
      </p:grpSpPr>
      <p:sp>
        <p:nvSpPr>
          <p:cNvPr id="3339" name="Google Shape;3339;p128"/>
          <p:cNvSpPr txBox="1"/>
          <p:nvPr/>
        </p:nvSpPr>
        <p:spPr>
          <a:xfrm>
            <a:off x="9997419" y="6138018"/>
            <a:ext cx="261900" cy="166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100">
                <a:solidFill>
                  <a:srgbClr val="618794"/>
                </a:solidFill>
                <a:latin typeface="DM Sans"/>
                <a:ea typeface="DM Sans"/>
                <a:cs typeface="DM Sans"/>
                <a:sym typeface="DM Sans"/>
              </a:rPr>
              <a:t>‹#›</a:t>
            </a:fld>
            <a:endParaRPr sz="1100">
              <a:solidFill>
                <a:srgbClr val="618794"/>
              </a:solidFill>
              <a:latin typeface="DM Sans"/>
              <a:ea typeface="DM Sans"/>
              <a:cs typeface="DM Sans"/>
              <a:sym typeface="DM Sans"/>
            </a:endParaRPr>
          </a:p>
        </p:txBody>
      </p:sp>
      <p:sp>
        <p:nvSpPr>
          <p:cNvPr id="3340" name="Google Shape;3340;p128"/>
          <p:cNvSpPr/>
          <p:nvPr/>
        </p:nvSpPr>
        <p:spPr>
          <a:xfrm>
            <a:off x="12854200" y="2026450"/>
            <a:ext cx="1423800" cy="1506300"/>
          </a:xfrm>
          <a:prstGeom prst="roundRect">
            <a:avLst>
              <a:gd fmla="val 5209" name="adj"/>
            </a:avLst>
          </a:prstGeom>
          <a:solidFill>
            <a:srgbClr val="FFFFFF"/>
          </a:solidFill>
          <a:ln cap="flat" cmpd="sng" w="9525">
            <a:solidFill>
              <a:srgbClr val="FF5F46"/>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Production workspace</a:t>
            </a:r>
            <a:endParaRPr sz="1200">
              <a:solidFill>
                <a:srgbClr val="1B5162"/>
              </a:solidFill>
              <a:latin typeface="DM Sans Medium"/>
              <a:ea typeface="DM Sans Medium"/>
              <a:cs typeface="DM Sans Medium"/>
              <a:sym typeface="DM Sans Medium"/>
            </a:endParaRPr>
          </a:p>
        </p:txBody>
      </p:sp>
      <p:sp>
        <p:nvSpPr>
          <p:cNvPr id="3341" name="Google Shape;3341;p128"/>
          <p:cNvSpPr txBox="1"/>
          <p:nvPr/>
        </p:nvSpPr>
        <p:spPr>
          <a:xfrm>
            <a:off x="13592400" y="4055950"/>
            <a:ext cx="1194000" cy="4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Code is deployed to production after review and approval.</a:t>
            </a:r>
            <a:endParaRPr sz="900">
              <a:solidFill>
                <a:srgbClr val="595959"/>
              </a:solidFill>
            </a:endParaRPr>
          </a:p>
        </p:txBody>
      </p:sp>
      <p:pic>
        <p:nvPicPr>
          <p:cNvPr id="3342" name="Google Shape;3342;p128"/>
          <p:cNvPicPr preferRelativeResize="0"/>
          <p:nvPr/>
        </p:nvPicPr>
        <p:blipFill rotWithShape="1">
          <a:blip r:embed="rId3">
            <a:alphaModFix/>
          </a:blip>
          <a:srcRect b="0" l="0" r="0" t="0"/>
          <a:stretch/>
        </p:blipFill>
        <p:spPr>
          <a:xfrm>
            <a:off x="13302199" y="4115049"/>
            <a:ext cx="338699" cy="338699"/>
          </a:xfrm>
          <a:prstGeom prst="rect">
            <a:avLst/>
          </a:prstGeom>
          <a:noFill/>
          <a:ln>
            <a:noFill/>
          </a:ln>
        </p:spPr>
      </p:pic>
      <p:sp>
        <p:nvSpPr>
          <p:cNvPr id="3343" name="Google Shape;3343;p128"/>
          <p:cNvSpPr/>
          <p:nvPr/>
        </p:nvSpPr>
        <p:spPr>
          <a:xfrm>
            <a:off x="12967425" y="2638438"/>
            <a:ext cx="1197900" cy="722400"/>
          </a:xfrm>
          <a:prstGeom prst="roundRect">
            <a:avLst>
              <a:gd fmla="val 6398" name="adj"/>
            </a:avLst>
          </a:prstGeom>
          <a:solidFill>
            <a:srgbClr val="FFFFFF">
              <a:alpha val="94050"/>
            </a:srgbClr>
          </a:solidFill>
          <a:ln cap="flat" cmpd="sng" w="9525">
            <a:solidFill>
              <a:srgbClr val="4359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000">
                <a:solidFill>
                  <a:srgbClr val="1B5162"/>
                </a:solidFill>
                <a:latin typeface="DM Sans Medium"/>
                <a:ea typeface="DM Sans Medium"/>
                <a:cs typeface="DM Sans Medium"/>
                <a:sym typeface="DM Sans Medium"/>
              </a:rPr>
              <a:t>production deployment</a:t>
            </a:r>
            <a:endParaRPr sz="1000">
              <a:solidFill>
                <a:srgbClr val="1B5162"/>
              </a:solidFill>
              <a:latin typeface="DM Sans Medium"/>
              <a:ea typeface="DM Sans Medium"/>
              <a:cs typeface="DM Sans Medium"/>
              <a:sym typeface="DM Sans Medium"/>
            </a:endParaRPr>
          </a:p>
        </p:txBody>
      </p:sp>
      <p:cxnSp>
        <p:nvCxnSpPr>
          <p:cNvPr id="3344" name="Google Shape;3344;p128"/>
          <p:cNvCxnSpPr>
            <a:stCxn id="3343" idx="2"/>
            <a:endCxn id="3345" idx="0"/>
          </p:cNvCxnSpPr>
          <p:nvPr/>
        </p:nvCxnSpPr>
        <p:spPr>
          <a:xfrm flipH="1">
            <a:off x="12970575" y="3360838"/>
            <a:ext cx="595800" cy="1313400"/>
          </a:xfrm>
          <a:prstGeom prst="straightConnector1">
            <a:avLst/>
          </a:prstGeom>
          <a:noFill/>
          <a:ln cap="flat" cmpd="sng" w="19050">
            <a:solidFill>
              <a:srgbClr val="A2C4C9"/>
            </a:solidFill>
            <a:prstDash val="solid"/>
            <a:round/>
            <a:headEnd len="med" w="med" type="stealth"/>
            <a:tailEnd len="sm" w="sm" type="none"/>
          </a:ln>
        </p:spPr>
      </p:cxnSp>
      <p:sp>
        <p:nvSpPr>
          <p:cNvPr id="3346" name="Google Shape;3346;p128"/>
          <p:cNvSpPr txBox="1"/>
          <p:nvPr/>
        </p:nvSpPr>
        <p:spPr>
          <a:xfrm>
            <a:off x="12898750" y="4975250"/>
            <a:ext cx="1518900" cy="4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95959"/>
                </a:solidFill>
              </a:rPr>
              <a:t>Configure service principals, kick off runs of jobs, and other tasks.</a:t>
            </a:r>
            <a:endParaRPr sz="900">
              <a:solidFill>
                <a:srgbClr val="595959"/>
              </a:solidFill>
            </a:endParaRPr>
          </a:p>
        </p:txBody>
      </p:sp>
      <p:sp>
        <p:nvSpPr>
          <p:cNvPr id="3347" name="Google Shape;3347;p128"/>
          <p:cNvSpPr txBox="1"/>
          <p:nvPr/>
        </p:nvSpPr>
        <p:spPr>
          <a:xfrm>
            <a:off x="0" y="0"/>
            <a:ext cx="66741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Databricks-hosted model for Databricks Assistant</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/_static/images/databricksiq/db-hosted-model.png</a:t>
            </a:r>
            <a:endParaRPr/>
          </a:p>
        </p:txBody>
      </p:sp>
      <p:grpSp>
        <p:nvGrpSpPr>
          <p:cNvPr id="3348" name="Google Shape;3348;p128"/>
          <p:cNvGrpSpPr/>
          <p:nvPr/>
        </p:nvGrpSpPr>
        <p:grpSpPr>
          <a:xfrm>
            <a:off x="680778" y="2602599"/>
            <a:ext cx="1031700" cy="864608"/>
            <a:chOff x="299778" y="2602599"/>
            <a:chExt cx="1031700" cy="864608"/>
          </a:xfrm>
        </p:grpSpPr>
        <p:sp>
          <p:nvSpPr>
            <p:cNvPr id="3349" name="Google Shape;3349;p128"/>
            <p:cNvSpPr/>
            <p:nvPr/>
          </p:nvSpPr>
          <p:spPr>
            <a:xfrm>
              <a:off x="376925" y="2615650"/>
              <a:ext cx="836100" cy="8340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i="0" sz="1000" u="none" cap="none" strike="noStrike">
                <a:solidFill>
                  <a:srgbClr val="1B3038"/>
                </a:solidFill>
                <a:latin typeface="DM Sans"/>
                <a:ea typeface="DM Sans"/>
                <a:cs typeface="DM Sans"/>
                <a:sym typeface="DM Sans"/>
              </a:endParaRPr>
            </a:p>
          </p:txBody>
        </p:sp>
        <p:pic>
          <p:nvPicPr>
            <p:cNvPr id="3350" name="Google Shape;3350;p128"/>
            <p:cNvPicPr preferRelativeResize="0"/>
            <p:nvPr/>
          </p:nvPicPr>
          <p:blipFill rotWithShape="1">
            <a:blip r:embed="rId4">
              <a:alphaModFix/>
            </a:blip>
            <a:srcRect b="0" l="0" r="0" t="0"/>
            <a:stretch/>
          </p:blipFill>
          <p:spPr>
            <a:xfrm>
              <a:off x="442988" y="2750434"/>
              <a:ext cx="716804" cy="716773"/>
            </a:xfrm>
            <a:prstGeom prst="rect">
              <a:avLst/>
            </a:prstGeom>
            <a:noFill/>
            <a:ln>
              <a:noFill/>
            </a:ln>
          </p:spPr>
        </p:pic>
        <p:sp>
          <p:nvSpPr>
            <p:cNvPr id="3351" name="Google Shape;3351;p128"/>
            <p:cNvSpPr txBox="1"/>
            <p:nvPr/>
          </p:nvSpPr>
          <p:spPr>
            <a:xfrm>
              <a:off x="299778" y="2602599"/>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Users</a:t>
              </a:r>
              <a:endParaRPr>
                <a:solidFill>
                  <a:schemeClr val="dk1"/>
                </a:solidFill>
                <a:latin typeface="DM Sans"/>
                <a:ea typeface="DM Sans"/>
                <a:cs typeface="DM Sans"/>
                <a:sym typeface="DM Sans"/>
              </a:endParaRPr>
            </a:p>
          </p:txBody>
        </p:sp>
      </p:grpSp>
      <p:sp>
        <p:nvSpPr>
          <p:cNvPr id="3352" name="Google Shape;3352;p128"/>
          <p:cNvSpPr/>
          <p:nvPr/>
        </p:nvSpPr>
        <p:spPr>
          <a:xfrm>
            <a:off x="2483975" y="2465050"/>
            <a:ext cx="3540300" cy="12231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a:solidFill>
                  <a:srgbClr val="1B3038"/>
                </a:solidFill>
                <a:latin typeface="DM Sans"/>
                <a:ea typeface="DM Sans"/>
                <a:cs typeface="DM Sans"/>
                <a:sym typeface="DM Sans"/>
              </a:rPr>
              <a:t>Control plane</a:t>
            </a:r>
            <a:endParaRPr i="0" u="none" cap="none" strike="noStrike">
              <a:solidFill>
                <a:srgbClr val="1B3038"/>
              </a:solidFill>
              <a:latin typeface="DM Sans"/>
              <a:ea typeface="DM Sans"/>
              <a:cs typeface="DM Sans"/>
              <a:sym typeface="DM Sans"/>
            </a:endParaRPr>
          </a:p>
        </p:txBody>
      </p:sp>
      <p:cxnSp>
        <p:nvCxnSpPr>
          <p:cNvPr id="3353" name="Google Shape;3353;p128"/>
          <p:cNvCxnSpPr/>
          <p:nvPr/>
        </p:nvCxnSpPr>
        <p:spPr>
          <a:xfrm>
            <a:off x="4275250" y="2893750"/>
            <a:ext cx="0" cy="645600"/>
          </a:xfrm>
          <a:prstGeom prst="straightConnector1">
            <a:avLst/>
          </a:prstGeom>
          <a:noFill/>
          <a:ln cap="flat" cmpd="sng" w="9525">
            <a:solidFill>
              <a:schemeClr val="dk1"/>
            </a:solidFill>
            <a:prstDash val="solid"/>
            <a:round/>
            <a:headEnd len="med" w="med" type="none"/>
            <a:tailEnd len="med" w="med" type="none"/>
          </a:ln>
        </p:spPr>
      </p:cxnSp>
      <p:pic>
        <p:nvPicPr>
          <p:cNvPr id="3354" name="Google Shape;3354;p128"/>
          <p:cNvPicPr preferRelativeResize="0"/>
          <p:nvPr/>
        </p:nvPicPr>
        <p:blipFill rotWithShape="1">
          <a:blip r:embed="rId5">
            <a:alphaModFix/>
          </a:blip>
          <a:srcRect b="0" l="0" r="0" t="0"/>
          <a:stretch/>
        </p:blipFill>
        <p:spPr>
          <a:xfrm>
            <a:off x="2807550" y="3178600"/>
            <a:ext cx="357949" cy="357949"/>
          </a:xfrm>
          <a:prstGeom prst="rect">
            <a:avLst/>
          </a:prstGeom>
          <a:noFill/>
          <a:ln>
            <a:noFill/>
          </a:ln>
        </p:spPr>
      </p:pic>
      <p:sp>
        <p:nvSpPr>
          <p:cNvPr id="3355" name="Google Shape;3355;p128"/>
          <p:cNvSpPr/>
          <p:nvPr/>
        </p:nvSpPr>
        <p:spPr>
          <a:xfrm>
            <a:off x="2820600" y="2714650"/>
            <a:ext cx="420600" cy="42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DM Sans"/>
                <a:ea typeface="DM Sans"/>
                <a:cs typeface="DM Sans"/>
                <a:sym typeface="DM Sans"/>
              </a:rPr>
              <a:t>1</a:t>
            </a:r>
            <a:endParaRPr b="1" sz="1600">
              <a:solidFill>
                <a:schemeClr val="lt1"/>
              </a:solidFill>
              <a:latin typeface="DM Sans"/>
              <a:ea typeface="DM Sans"/>
              <a:cs typeface="DM Sans"/>
              <a:sym typeface="DM Sans"/>
            </a:endParaRPr>
          </a:p>
        </p:txBody>
      </p:sp>
      <p:sp>
        <p:nvSpPr>
          <p:cNvPr id="3356" name="Google Shape;3356;p128"/>
          <p:cNvSpPr/>
          <p:nvPr/>
        </p:nvSpPr>
        <p:spPr>
          <a:xfrm>
            <a:off x="5303963" y="2638450"/>
            <a:ext cx="420600" cy="42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DM Sans"/>
                <a:ea typeface="DM Sans"/>
                <a:cs typeface="DM Sans"/>
                <a:sym typeface="DM Sans"/>
              </a:rPr>
              <a:t>2</a:t>
            </a:r>
            <a:endParaRPr b="1" sz="1600">
              <a:solidFill>
                <a:schemeClr val="lt1"/>
              </a:solidFill>
              <a:latin typeface="DM Sans"/>
              <a:ea typeface="DM Sans"/>
              <a:cs typeface="DM Sans"/>
              <a:sym typeface="DM Sans"/>
            </a:endParaRPr>
          </a:p>
        </p:txBody>
      </p:sp>
      <p:sp>
        <p:nvSpPr>
          <p:cNvPr id="3357" name="Google Shape;3357;p128"/>
          <p:cNvSpPr txBox="1"/>
          <p:nvPr/>
        </p:nvSpPr>
        <p:spPr>
          <a:xfrm>
            <a:off x="3204528" y="3180574"/>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User input</a:t>
            </a:r>
            <a:endParaRPr>
              <a:solidFill>
                <a:schemeClr val="dk1"/>
              </a:solidFill>
              <a:latin typeface="DM Sans"/>
              <a:ea typeface="DM Sans"/>
              <a:cs typeface="DM Sans"/>
              <a:sym typeface="DM Sans"/>
            </a:endParaRPr>
          </a:p>
        </p:txBody>
      </p:sp>
      <p:sp>
        <p:nvSpPr>
          <p:cNvPr id="3358" name="Google Shape;3358;p128"/>
          <p:cNvSpPr txBox="1"/>
          <p:nvPr/>
        </p:nvSpPr>
        <p:spPr>
          <a:xfrm>
            <a:off x="4405191" y="3072874"/>
            <a:ext cx="1031700" cy="5694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Assistant request</a:t>
            </a:r>
            <a:endParaRPr>
              <a:solidFill>
                <a:schemeClr val="dk1"/>
              </a:solidFill>
              <a:latin typeface="DM Sans"/>
              <a:ea typeface="DM Sans"/>
              <a:cs typeface="DM Sans"/>
              <a:sym typeface="DM Sans"/>
            </a:endParaRPr>
          </a:p>
        </p:txBody>
      </p:sp>
      <p:cxnSp>
        <p:nvCxnSpPr>
          <p:cNvPr id="3359" name="Google Shape;3359;p128"/>
          <p:cNvCxnSpPr/>
          <p:nvPr/>
        </p:nvCxnSpPr>
        <p:spPr>
          <a:xfrm>
            <a:off x="1702275" y="3111050"/>
            <a:ext cx="939600" cy="323100"/>
          </a:xfrm>
          <a:prstGeom prst="curvedConnector3">
            <a:avLst>
              <a:gd fmla="val 50000" name="adj1"/>
            </a:avLst>
          </a:prstGeom>
          <a:noFill/>
          <a:ln cap="flat" cmpd="sng" w="19050">
            <a:solidFill>
              <a:schemeClr val="dk1"/>
            </a:solidFill>
            <a:prstDash val="solid"/>
            <a:round/>
            <a:headEnd len="med" w="med" type="stealth"/>
            <a:tailEnd len="med" w="med" type="stealth"/>
          </a:ln>
        </p:spPr>
      </p:cxnSp>
      <p:cxnSp>
        <p:nvCxnSpPr>
          <p:cNvPr id="3360" name="Google Shape;3360;p128"/>
          <p:cNvCxnSpPr/>
          <p:nvPr/>
        </p:nvCxnSpPr>
        <p:spPr>
          <a:xfrm flipH="1" rot="10800000">
            <a:off x="5825675" y="3091425"/>
            <a:ext cx="905100" cy="342600"/>
          </a:xfrm>
          <a:prstGeom prst="curvedConnector3">
            <a:avLst>
              <a:gd fmla="val 50000" name="adj1"/>
            </a:avLst>
          </a:prstGeom>
          <a:noFill/>
          <a:ln cap="flat" cmpd="sng" w="19050">
            <a:solidFill>
              <a:schemeClr val="dk1"/>
            </a:solidFill>
            <a:prstDash val="solid"/>
            <a:round/>
            <a:headEnd len="med" w="med" type="stealth"/>
            <a:tailEnd len="med" w="med" type="stealth"/>
          </a:ln>
        </p:spPr>
      </p:cxnSp>
      <p:grpSp>
        <p:nvGrpSpPr>
          <p:cNvPr id="3361" name="Google Shape;3361;p128"/>
          <p:cNvGrpSpPr/>
          <p:nvPr/>
        </p:nvGrpSpPr>
        <p:grpSpPr>
          <a:xfrm>
            <a:off x="6340613" y="1970650"/>
            <a:ext cx="4037713" cy="1864500"/>
            <a:chOff x="6721613" y="1970650"/>
            <a:chExt cx="4037713" cy="1864500"/>
          </a:xfrm>
        </p:grpSpPr>
        <p:sp>
          <p:nvSpPr>
            <p:cNvPr id="3362" name="Google Shape;3362;p128"/>
            <p:cNvSpPr/>
            <p:nvPr/>
          </p:nvSpPr>
          <p:spPr>
            <a:xfrm>
              <a:off x="7219025" y="1970650"/>
              <a:ext cx="3540300" cy="1864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600">
                  <a:solidFill>
                    <a:schemeClr val="accent1"/>
                  </a:solidFill>
                  <a:latin typeface="DM Sans"/>
                  <a:ea typeface="DM Sans"/>
                  <a:cs typeface="DM Sans"/>
                  <a:sym typeface="DM Sans"/>
                </a:rPr>
                <a:t>Serverless</a:t>
              </a:r>
              <a:endParaRPr sz="1600">
                <a:solidFill>
                  <a:schemeClr val="accent1"/>
                </a:solidFill>
                <a:latin typeface="DM Sans"/>
                <a:ea typeface="DM Sans"/>
                <a:cs typeface="DM Sans"/>
                <a:sym typeface="DM Sans"/>
              </a:endParaRPr>
            </a:p>
            <a:p>
              <a:pPr indent="0" lvl="0" marL="0" marR="0" rtl="0" algn="ctr">
                <a:lnSpc>
                  <a:spcPct val="100000"/>
                </a:lnSpc>
                <a:spcBef>
                  <a:spcPts val="0"/>
                </a:spcBef>
                <a:spcAft>
                  <a:spcPts val="0"/>
                </a:spcAft>
                <a:buNone/>
              </a:pPr>
              <a:r>
                <a:rPr lang="en">
                  <a:solidFill>
                    <a:schemeClr val="dk1"/>
                  </a:solidFill>
                  <a:latin typeface="DM Sans"/>
                  <a:ea typeface="DM Sans"/>
                  <a:cs typeface="DM Sans"/>
                  <a:sym typeface="DM Sans"/>
                </a:rPr>
                <a:t>Databricks model serving</a:t>
              </a:r>
              <a:endParaRPr>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600">
                <a:solidFill>
                  <a:schemeClr val="accent1"/>
                </a:solidFill>
                <a:latin typeface="DM Sans"/>
                <a:ea typeface="DM Sans"/>
                <a:cs typeface="DM Sans"/>
                <a:sym typeface="DM Sans"/>
              </a:endParaRPr>
            </a:p>
          </p:txBody>
        </p:sp>
        <p:sp>
          <p:nvSpPr>
            <p:cNvPr id="3363" name="Google Shape;3363;p128"/>
            <p:cNvSpPr/>
            <p:nvPr/>
          </p:nvSpPr>
          <p:spPr>
            <a:xfrm>
              <a:off x="6721613" y="2026450"/>
              <a:ext cx="420600" cy="42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DM Sans"/>
                  <a:ea typeface="DM Sans"/>
                  <a:cs typeface="DM Sans"/>
                  <a:sym typeface="DM Sans"/>
                </a:rPr>
                <a:t>3</a:t>
              </a:r>
              <a:endParaRPr b="1" sz="1600">
                <a:solidFill>
                  <a:schemeClr val="lt1"/>
                </a:solidFill>
                <a:latin typeface="DM Sans"/>
                <a:ea typeface="DM Sans"/>
                <a:cs typeface="DM Sans"/>
                <a:sym typeface="DM Sans"/>
              </a:endParaRPr>
            </a:p>
          </p:txBody>
        </p:sp>
        <p:sp>
          <p:nvSpPr>
            <p:cNvPr id="3364" name="Google Shape;3364;p128"/>
            <p:cNvSpPr/>
            <p:nvPr/>
          </p:nvSpPr>
          <p:spPr>
            <a:xfrm>
              <a:off x="7732025" y="2638450"/>
              <a:ext cx="2514300" cy="10497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a:solidFill>
                    <a:schemeClr val="accent6"/>
                  </a:solidFill>
                  <a:latin typeface="DM Sans"/>
                  <a:ea typeface="DM Sans"/>
                  <a:cs typeface="DM Sans"/>
                  <a:sym typeface="DM Sans"/>
                </a:rPr>
                <a:t>Answer / Diagnosis</a:t>
              </a:r>
              <a:endParaRPr>
                <a:solidFill>
                  <a:schemeClr val="accent6"/>
                </a:solidFill>
                <a:latin typeface="DM Sans"/>
                <a:ea typeface="DM Sans"/>
                <a:cs typeface="DM Sans"/>
                <a:sym typeface="DM Sans"/>
              </a:endParaRPr>
            </a:p>
            <a:p>
              <a:pPr indent="0" lvl="0" marL="0" marR="0" rtl="0" algn="ctr">
                <a:lnSpc>
                  <a:spcPct val="100000"/>
                </a:lnSpc>
                <a:spcBef>
                  <a:spcPts val="0"/>
                </a:spcBef>
                <a:spcAft>
                  <a:spcPts val="0"/>
                </a:spcAft>
                <a:buNone/>
              </a:pPr>
              <a:r>
                <a:rPr lang="en" sz="1200">
                  <a:solidFill>
                    <a:schemeClr val="dk1"/>
                  </a:solidFill>
                  <a:latin typeface="DM Sans"/>
                  <a:ea typeface="DM Sans"/>
                  <a:cs typeface="DM Sans"/>
                  <a:sym typeface="DM Sans"/>
                </a:rPr>
                <a:t>(geo-based serving)</a:t>
              </a:r>
              <a:endParaRPr sz="12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600">
                <a:solidFill>
                  <a:schemeClr val="accent1"/>
                </a:solidFill>
                <a:latin typeface="DM Sans"/>
                <a:ea typeface="DM Sans"/>
                <a:cs typeface="DM Sans"/>
                <a:sym typeface="DM Sans"/>
              </a:endParaRPr>
            </a:p>
          </p:txBody>
        </p:sp>
        <p:sp>
          <p:nvSpPr>
            <p:cNvPr id="3365" name="Google Shape;3365;p128"/>
            <p:cNvSpPr/>
            <p:nvPr/>
          </p:nvSpPr>
          <p:spPr>
            <a:xfrm>
              <a:off x="7882300" y="3182275"/>
              <a:ext cx="1031700" cy="4569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100">
                  <a:solidFill>
                    <a:schemeClr val="dk1"/>
                  </a:solidFill>
                  <a:latin typeface="DM Sans"/>
                  <a:ea typeface="DM Sans"/>
                  <a:cs typeface="DM Sans"/>
                  <a:sym typeface="DM Sans"/>
                </a:rPr>
                <a:t>Model endpoint</a:t>
              </a:r>
              <a:endParaRPr sz="1500">
                <a:solidFill>
                  <a:schemeClr val="accent1"/>
                </a:solidFill>
                <a:latin typeface="DM Sans"/>
                <a:ea typeface="DM Sans"/>
                <a:cs typeface="DM Sans"/>
                <a:sym typeface="DM Sans"/>
              </a:endParaRPr>
            </a:p>
          </p:txBody>
        </p:sp>
        <p:sp>
          <p:nvSpPr>
            <p:cNvPr id="3366" name="Google Shape;3366;p128"/>
            <p:cNvSpPr/>
            <p:nvPr/>
          </p:nvSpPr>
          <p:spPr>
            <a:xfrm>
              <a:off x="9056200" y="3182275"/>
              <a:ext cx="1031700" cy="4569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 sz="1100">
                  <a:solidFill>
                    <a:schemeClr val="dk1"/>
                  </a:solidFill>
                  <a:latin typeface="DM Sans"/>
                  <a:ea typeface="DM Sans"/>
                  <a:cs typeface="DM Sans"/>
                  <a:sym typeface="DM Sans"/>
                </a:rPr>
                <a:t>Model endpoint</a:t>
              </a:r>
              <a:endParaRPr sz="1500">
                <a:solidFill>
                  <a:schemeClr val="accent1"/>
                </a:solidFill>
                <a:latin typeface="DM Sans"/>
                <a:ea typeface="DM Sans"/>
                <a:cs typeface="DM Sans"/>
                <a:sym typeface="DM Sans"/>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0" name="Shape 3370"/>
        <p:cNvGrpSpPr/>
        <p:nvPr/>
      </p:nvGrpSpPr>
      <p:grpSpPr>
        <a:xfrm>
          <a:off x="0" y="0"/>
          <a:ext cx="0" cy="0"/>
          <a:chOff x="0" y="0"/>
          <a:chExt cx="0" cy="0"/>
        </a:xfrm>
      </p:grpSpPr>
      <p:sp>
        <p:nvSpPr>
          <p:cNvPr id="3371" name="Google Shape;3371;p129"/>
          <p:cNvSpPr/>
          <p:nvPr/>
        </p:nvSpPr>
        <p:spPr>
          <a:xfrm>
            <a:off x="8591250" y="905333"/>
            <a:ext cx="3512400" cy="5478900"/>
          </a:xfrm>
          <a:prstGeom prst="roundRect">
            <a:avLst>
              <a:gd fmla="val 16667" name="adj"/>
            </a:avLst>
          </a:prstGeom>
          <a:noFill/>
          <a:ln cap="flat" cmpd="sng" w="9525">
            <a:solidFill>
              <a:schemeClr val="accent4"/>
            </a:solidFill>
            <a:prstDash val="dash"/>
            <a:round/>
            <a:headEnd len="sm" w="sm" type="none"/>
            <a:tailEnd len="sm" w="sm" type="none"/>
          </a:ln>
        </p:spPr>
        <p:txBody>
          <a:bodyPr anchorCtr="0" anchor="t" bIns="121875" lIns="121875" spcFirstLastPara="1" rIns="121875" wrap="square" tIns="121875">
            <a:noAutofit/>
          </a:bodyPr>
          <a:lstStyle/>
          <a:p>
            <a:pPr indent="0" lvl="0" marL="0" rtl="0" algn="l">
              <a:spcBef>
                <a:spcPts val="0"/>
              </a:spcBef>
              <a:spcAft>
                <a:spcPts val="0"/>
              </a:spcAft>
              <a:buNone/>
            </a:pPr>
            <a:r>
              <a:t/>
            </a:r>
            <a:endParaRPr sz="1900"/>
          </a:p>
        </p:txBody>
      </p:sp>
      <p:sp>
        <p:nvSpPr>
          <p:cNvPr id="3372" name="Google Shape;3372;p129"/>
          <p:cNvSpPr/>
          <p:nvPr/>
        </p:nvSpPr>
        <p:spPr>
          <a:xfrm>
            <a:off x="3856102" y="905333"/>
            <a:ext cx="4359300" cy="5478900"/>
          </a:xfrm>
          <a:prstGeom prst="roundRect">
            <a:avLst>
              <a:gd fmla="val 16667" name="adj"/>
            </a:avLst>
          </a:prstGeom>
          <a:noFill/>
          <a:ln cap="flat" cmpd="sng" w="9525">
            <a:solidFill>
              <a:schemeClr val="accent1"/>
            </a:solidFill>
            <a:prstDash val="dash"/>
            <a:round/>
            <a:headEnd len="sm" w="sm" type="none"/>
            <a:tailEnd len="sm" w="sm" type="none"/>
          </a:ln>
        </p:spPr>
        <p:txBody>
          <a:bodyPr anchorCtr="0" anchor="t" bIns="121875" lIns="121875" spcFirstLastPara="1" rIns="121875" wrap="square" tIns="121875">
            <a:noAutofit/>
          </a:bodyPr>
          <a:lstStyle/>
          <a:p>
            <a:pPr indent="0" lvl="0" marL="0" rtl="0" algn="ctr">
              <a:spcBef>
                <a:spcPts val="0"/>
              </a:spcBef>
              <a:spcAft>
                <a:spcPts val="0"/>
              </a:spcAft>
              <a:buNone/>
            </a:pPr>
            <a:r>
              <a:t/>
            </a:r>
            <a:endParaRPr sz="1900"/>
          </a:p>
        </p:txBody>
      </p:sp>
      <p:sp>
        <p:nvSpPr>
          <p:cNvPr id="3373" name="Google Shape;3373;p129"/>
          <p:cNvSpPr/>
          <p:nvPr/>
        </p:nvSpPr>
        <p:spPr>
          <a:xfrm>
            <a:off x="1278647" y="905333"/>
            <a:ext cx="2189400" cy="5431500"/>
          </a:xfrm>
          <a:prstGeom prst="roundRect">
            <a:avLst>
              <a:gd fmla="val 16667" name="adj"/>
            </a:avLst>
          </a:prstGeom>
          <a:noFill/>
          <a:ln cap="flat" cmpd="sng" w="9525">
            <a:solidFill>
              <a:schemeClr val="accent3"/>
            </a:solidFill>
            <a:prstDash val="dash"/>
            <a:round/>
            <a:headEnd len="sm" w="sm" type="none"/>
            <a:tailEnd len="sm" w="sm" type="none"/>
          </a:ln>
        </p:spPr>
        <p:txBody>
          <a:bodyPr anchorCtr="0" anchor="t" bIns="121875" lIns="121875" spcFirstLastPara="1" rIns="121875" wrap="square" tIns="121875">
            <a:noAutofit/>
          </a:bodyPr>
          <a:lstStyle/>
          <a:p>
            <a:pPr indent="0" lvl="0" marL="0" rtl="0" algn="ctr">
              <a:spcBef>
                <a:spcPts val="0"/>
              </a:spcBef>
              <a:spcAft>
                <a:spcPts val="0"/>
              </a:spcAft>
              <a:buNone/>
            </a:pPr>
            <a:r>
              <a:t/>
            </a:r>
            <a:endParaRPr sz="1900"/>
          </a:p>
        </p:txBody>
      </p:sp>
      <p:sp>
        <p:nvSpPr>
          <p:cNvPr id="3374" name="Google Shape;3374;p129"/>
          <p:cNvSpPr/>
          <p:nvPr/>
        </p:nvSpPr>
        <p:spPr>
          <a:xfrm>
            <a:off x="87611" y="1671733"/>
            <a:ext cx="1123800" cy="548100"/>
          </a:xfrm>
          <a:prstGeom prst="roundRect">
            <a:avLst>
              <a:gd fmla="val 16667" name="adj"/>
            </a:avLst>
          </a:prstGeom>
          <a:solidFill>
            <a:schemeClr val="accent3"/>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300"/>
              <a:t>Cloud storage</a:t>
            </a:r>
            <a:endParaRPr sz="1300"/>
          </a:p>
        </p:txBody>
      </p:sp>
      <p:sp>
        <p:nvSpPr>
          <p:cNvPr id="3375" name="Google Shape;3375;p129"/>
          <p:cNvSpPr/>
          <p:nvPr/>
        </p:nvSpPr>
        <p:spPr>
          <a:xfrm>
            <a:off x="71782" y="3647700"/>
            <a:ext cx="1123800" cy="548100"/>
          </a:xfrm>
          <a:prstGeom prst="roundRect">
            <a:avLst>
              <a:gd fmla="val 16667" name="adj"/>
            </a:avLst>
          </a:prstGeom>
          <a:solidFill>
            <a:schemeClr val="accent3"/>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200"/>
              <a:t>Salesforce</a:t>
            </a:r>
            <a:endParaRPr sz="1200"/>
          </a:p>
        </p:txBody>
      </p:sp>
      <p:sp>
        <p:nvSpPr>
          <p:cNvPr id="3376" name="Google Shape;3376;p129"/>
          <p:cNvSpPr/>
          <p:nvPr/>
        </p:nvSpPr>
        <p:spPr>
          <a:xfrm>
            <a:off x="71782" y="2399333"/>
            <a:ext cx="1123800" cy="548100"/>
          </a:xfrm>
          <a:prstGeom prst="roundRect">
            <a:avLst>
              <a:gd fmla="val 16667" name="adj"/>
            </a:avLst>
          </a:prstGeom>
          <a:solidFill>
            <a:schemeClr val="accent3"/>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300"/>
              <a:t>Kafka</a:t>
            </a:r>
            <a:endParaRPr sz="1300"/>
          </a:p>
        </p:txBody>
      </p:sp>
      <p:sp>
        <p:nvSpPr>
          <p:cNvPr id="3377" name="Google Shape;3377;p129"/>
          <p:cNvSpPr/>
          <p:nvPr/>
        </p:nvSpPr>
        <p:spPr>
          <a:xfrm>
            <a:off x="1640956" y="4631233"/>
            <a:ext cx="1726500" cy="428100"/>
          </a:xfrm>
          <a:prstGeom prst="roundRect">
            <a:avLst>
              <a:gd fmla="val 16667" name="adj"/>
            </a:avLst>
          </a:prstGeom>
          <a:solidFill>
            <a:schemeClr val="accent3"/>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opportunities_</a:t>
            </a:r>
            <a:br>
              <a:rPr b="1" lang="en" sz="1300">
                <a:latin typeface="Courier New"/>
                <a:ea typeface="Courier New"/>
                <a:cs typeface="Courier New"/>
                <a:sym typeface="Courier New"/>
              </a:rPr>
            </a:br>
            <a:r>
              <a:rPr b="1" lang="en" sz="1300">
                <a:latin typeface="Courier New"/>
                <a:ea typeface="Courier New"/>
                <a:cs typeface="Courier New"/>
                <a:sym typeface="Courier New"/>
              </a:rPr>
              <a:t>raw</a:t>
            </a:r>
            <a:endParaRPr b="1" sz="1300">
              <a:latin typeface="Courier New"/>
              <a:ea typeface="Courier New"/>
              <a:cs typeface="Courier New"/>
              <a:sym typeface="Courier New"/>
            </a:endParaRPr>
          </a:p>
        </p:txBody>
      </p:sp>
      <p:sp>
        <p:nvSpPr>
          <p:cNvPr id="3378" name="Google Shape;3378;p129"/>
          <p:cNvSpPr/>
          <p:nvPr/>
        </p:nvSpPr>
        <p:spPr>
          <a:xfrm>
            <a:off x="1649287" y="1731733"/>
            <a:ext cx="1726500" cy="428100"/>
          </a:xfrm>
          <a:prstGeom prst="roundRect">
            <a:avLst>
              <a:gd fmla="val 16667" name="adj"/>
            </a:avLst>
          </a:prstGeom>
          <a:solidFill>
            <a:schemeClr val="accent3"/>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customers_raw</a:t>
            </a:r>
            <a:endParaRPr b="1" sz="1300">
              <a:latin typeface="Courier New"/>
              <a:ea typeface="Courier New"/>
              <a:cs typeface="Courier New"/>
              <a:sym typeface="Courier New"/>
            </a:endParaRPr>
          </a:p>
        </p:txBody>
      </p:sp>
      <p:sp>
        <p:nvSpPr>
          <p:cNvPr id="3379" name="Google Shape;3379;p129"/>
          <p:cNvSpPr/>
          <p:nvPr/>
        </p:nvSpPr>
        <p:spPr>
          <a:xfrm>
            <a:off x="1649287" y="2459333"/>
            <a:ext cx="1726500" cy="428100"/>
          </a:xfrm>
          <a:prstGeom prst="roundRect">
            <a:avLst>
              <a:gd fmla="val 16667" name="adj"/>
            </a:avLst>
          </a:prstGeom>
          <a:solidFill>
            <a:schemeClr val="accent3"/>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transactions_</a:t>
            </a:r>
            <a:br>
              <a:rPr b="1" lang="en" sz="1300">
                <a:latin typeface="Courier New"/>
                <a:ea typeface="Courier New"/>
                <a:cs typeface="Courier New"/>
                <a:sym typeface="Courier New"/>
              </a:rPr>
            </a:br>
            <a:r>
              <a:rPr b="1" lang="en" sz="1300">
                <a:latin typeface="Courier New"/>
                <a:ea typeface="Courier New"/>
                <a:cs typeface="Courier New"/>
                <a:sym typeface="Courier New"/>
              </a:rPr>
              <a:t>raw</a:t>
            </a:r>
            <a:endParaRPr b="1" sz="1300">
              <a:latin typeface="Courier New"/>
              <a:ea typeface="Courier New"/>
              <a:cs typeface="Courier New"/>
              <a:sym typeface="Courier New"/>
            </a:endParaRPr>
          </a:p>
        </p:txBody>
      </p:sp>
      <p:sp>
        <p:nvSpPr>
          <p:cNvPr id="3380" name="Google Shape;3380;p129"/>
          <p:cNvSpPr/>
          <p:nvPr/>
        </p:nvSpPr>
        <p:spPr>
          <a:xfrm>
            <a:off x="1640956" y="3707700"/>
            <a:ext cx="1726500" cy="428100"/>
          </a:xfrm>
          <a:prstGeom prst="roundRect">
            <a:avLst>
              <a:gd fmla="val 16667" name="adj"/>
            </a:avLst>
          </a:prstGeom>
          <a:solidFill>
            <a:schemeClr val="accent3"/>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accounts_raw</a:t>
            </a:r>
            <a:endParaRPr b="1" sz="1300">
              <a:latin typeface="Courier New"/>
              <a:ea typeface="Courier New"/>
              <a:cs typeface="Courier New"/>
              <a:sym typeface="Courier New"/>
            </a:endParaRPr>
          </a:p>
        </p:txBody>
      </p:sp>
      <p:sp>
        <p:nvSpPr>
          <p:cNvPr id="3381" name="Google Shape;3381;p129"/>
          <p:cNvSpPr/>
          <p:nvPr/>
        </p:nvSpPr>
        <p:spPr>
          <a:xfrm>
            <a:off x="1649287" y="5454933"/>
            <a:ext cx="1726500" cy="428100"/>
          </a:xfrm>
          <a:prstGeom prst="roundRect">
            <a:avLst>
              <a:gd fmla="val 16667" name="adj"/>
            </a:avLst>
          </a:prstGeom>
          <a:solidFill>
            <a:schemeClr val="accent3"/>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leads_raw</a:t>
            </a:r>
            <a:endParaRPr b="1" sz="1300">
              <a:latin typeface="Courier New"/>
              <a:ea typeface="Courier New"/>
              <a:cs typeface="Courier New"/>
              <a:sym typeface="Courier New"/>
            </a:endParaRPr>
          </a:p>
        </p:txBody>
      </p:sp>
      <p:sp>
        <p:nvSpPr>
          <p:cNvPr id="3382" name="Google Shape;3382;p129"/>
          <p:cNvSpPr/>
          <p:nvPr/>
        </p:nvSpPr>
        <p:spPr>
          <a:xfrm>
            <a:off x="4077080" y="4631233"/>
            <a:ext cx="1726500" cy="4281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opportunities_</a:t>
            </a:r>
            <a:br>
              <a:rPr b="1" lang="en" sz="1300">
                <a:latin typeface="Courier New"/>
                <a:ea typeface="Courier New"/>
                <a:cs typeface="Courier New"/>
                <a:sym typeface="Courier New"/>
              </a:rPr>
            </a:br>
            <a:r>
              <a:rPr b="1" lang="en" sz="1300">
                <a:latin typeface="Courier New"/>
                <a:ea typeface="Courier New"/>
                <a:cs typeface="Courier New"/>
                <a:sym typeface="Courier New"/>
              </a:rPr>
              <a:t>cleaned</a:t>
            </a:r>
            <a:endParaRPr b="1" sz="1300">
              <a:latin typeface="Courier New"/>
              <a:ea typeface="Courier New"/>
              <a:cs typeface="Courier New"/>
              <a:sym typeface="Courier New"/>
            </a:endParaRPr>
          </a:p>
        </p:txBody>
      </p:sp>
      <p:sp>
        <p:nvSpPr>
          <p:cNvPr id="3383" name="Google Shape;3383;p129"/>
          <p:cNvSpPr/>
          <p:nvPr/>
        </p:nvSpPr>
        <p:spPr>
          <a:xfrm>
            <a:off x="4077080" y="1731733"/>
            <a:ext cx="1726500" cy="4281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customers_</a:t>
            </a:r>
            <a:br>
              <a:rPr b="1" lang="en" sz="1300">
                <a:latin typeface="Courier New"/>
                <a:ea typeface="Courier New"/>
                <a:cs typeface="Courier New"/>
                <a:sym typeface="Courier New"/>
              </a:rPr>
            </a:br>
            <a:r>
              <a:rPr b="1" lang="en" sz="1300">
                <a:latin typeface="Courier New"/>
                <a:ea typeface="Courier New"/>
                <a:cs typeface="Courier New"/>
                <a:sym typeface="Courier New"/>
              </a:rPr>
              <a:t>cleaned</a:t>
            </a:r>
            <a:endParaRPr b="1" sz="1300">
              <a:latin typeface="Courier New"/>
              <a:ea typeface="Courier New"/>
              <a:cs typeface="Courier New"/>
              <a:sym typeface="Courier New"/>
            </a:endParaRPr>
          </a:p>
        </p:txBody>
      </p:sp>
      <p:sp>
        <p:nvSpPr>
          <p:cNvPr id="3384" name="Google Shape;3384;p129"/>
          <p:cNvSpPr/>
          <p:nvPr/>
        </p:nvSpPr>
        <p:spPr>
          <a:xfrm>
            <a:off x="4077080" y="2459517"/>
            <a:ext cx="1726500" cy="4281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transactions_</a:t>
            </a:r>
            <a:br>
              <a:rPr b="1" lang="en" sz="1300">
                <a:latin typeface="Courier New"/>
                <a:ea typeface="Courier New"/>
                <a:cs typeface="Courier New"/>
                <a:sym typeface="Courier New"/>
              </a:rPr>
            </a:br>
            <a:r>
              <a:rPr b="1" lang="en" sz="1300">
                <a:latin typeface="Courier New"/>
                <a:ea typeface="Courier New"/>
                <a:cs typeface="Courier New"/>
                <a:sym typeface="Courier New"/>
              </a:rPr>
              <a:t>cleaned</a:t>
            </a:r>
            <a:endParaRPr b="1" sz="1300">
              <a:latin typeface="Courier New"/>
              <a:ea typeface="Courier New"/>
              <a:cs typeface="Courier New"/>
              <a:sym typeface="Courier New"/>
            </a:endParaRPr>
          </a:p>
        </p:txBody>
      </p:sp>
      <p:sp>
        <p:nvSpPr>
          <p:cNvPr id="3385" name="Google Shape;3385;p129"/>
          <p:cNvSpPr/>
          <p:nvPr/>
        </p:nvSpPr>
        <p:spPr>
          <a:xfrm>
            <a:off x="4077080" y="3707700"/>
            <a:ext cx="1726500" cy="4281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accounts_</a:t>
            </a:r>
            <a:br>
              <a:rPr b="1" lang="en" sz="1300">
                <a:latin typeface="Courier New"/>
                <a:ea typeface="Courier New"/>
                <a:cs typeface="Courier New"/>
                <a:sym typeface="Courier New"/>
              </a:rPr>
            </a:br>
            <a:r>
              <a:rPr b="1" lang="en" sz="1300">
                <a:latin typeface="Courier New"/>
                <a:ea typeface="Courier New"/>
                <a:cs typeface="Courier New"/>
                <a:sym typeface="Courier New"/>
              </a:rPr>
              <a:t>cleaned</a:t>
            </a:r>
            <a:endParaRPr b="1" sz="1300">
              <a:latin typeface="Courier New"/>
              <a:ea typeface="Courier New"/>
              <a:cs typeface="Courier New"/>
              <a:sym typeface="Courier New"/>
            </a:endParaRPr>
          </a:p>
        </p:txBody>
      </p:sp>
      <p:sp>
        <p:nvSpPr>
          <p:cNvPr id="3386" name="Google Shape;3386;p129"/>
          <p:cNvSpPr/>
          <p:nvPr/>
        </p:nvSpPr>
        <p:spPr>
          <a:xfrm>
            <a:off x="4077080" y="5454933"/>
            <a:ext cx="1726500" cy="4281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leads_cleaned</a:t>
            </a:r>
            <a:endParaRPr b="1" sz="1300">
              <a:latin typeface="Courier New"/>
              <a:ea typeface="Courier New"/>
              <a:cs typeface="Courier New"/>
              <a:sym typeface="Courier New"/>
            </a:endParaRPr>
          </a:p>
        </p:txBody>
      </p:sp>
      <p:sp>
        <p:nvSpPr>
          <p:cNvPr id="3387" name="Google Shape;3387;p129"/>
          <p:cNvSpPr/>
          <p:nvPr/>
        </p:nvSpPr>
        <p:spPr>
          <a:xfrm>
            <a:off x="6278929" y="2100667"/>
            <a:ext cx="1828800" cy="4281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customer_</a:t>
            </a:r>
            <a:br>
              <a:rPr b="1" lang="en" sz="1300">
                <a:latin typeface="Courier New"/>
                <a:ea typeface="Courier New"/>
                <a:cs typeface="Courier New"/>
                <a:sym typeface="Courier New"/>
              </a:rPr>
            </a:br>
            <a:r>
              <a:rPr b="1" lang="en" sz="1300">
                <a:latin typeface="Courier New"/>
                <a:ea typeface="Courier New"/>
                <a:cs typeface="Courier New"/>
                <a:sym typeface="Courier New"/>
              </a:rPr>
              <a:t>transactions</a:t>
            </a:r>
            <a:endParaRPr b="1" sz="1300">
              <a:latin typeface="Courier New"/>
              <a:ea typeface="Courier New"/>
              <a:cs typeface="Courier New"/>
              <a:sym typeface="Courier New"/>
            </a:endParaRPr>
          </a:p>
        </p:txBody>
      </p:sp>
      <p:sp>
        <p:nvSpPr>
          <p:cNvPr id="3388" name="Google Shape;3388;p129"/>
          <p:cNvSpPr/>
          <p:nvPr/>
        </p:nvSpPr>
        <p:spPr>
          <a:xfrm>
            <a:off x="6230074" y="4169433"/>
            <a:ext cx="1828800" cy="4281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account_</a:t>
            </a:r>
            <a:br>
              <a:rPr b="1" lang="en" sz="1300">
                <a:latin typeface="Courier New"/>
                <a:ea typeface="Courier New"/>
                <a:cs typeface="Courier New"/>
                <a:sym typeface="Courier New"/>
              </a:rPr>
            </a:br>
            <a:r>
              <a:rPr b="1" lang="en" sz="1300">
                <a:latin typeface="Courier New"/>
                <a:ea typeface="Courier New"/>
                <a:cs typeface="Courier New"/>
                <a:sym typeface="Courier New"/>
              </a:rPr>
              <a:t>opportunities</a:t>
            </a:r>
            <a:endParaRPr b="1" sz="1300">
              <a:latin typeface="Courier New"/>
              <a:ea typeface="Courier New"/>
              <a:cs typeface="Courier New"/>
              <a:sym typeface="Courier New"/>
            </a:endParaRPr>
          </a:p>
        </p:txBody>
      </p:sp>
      <p:cxnSp>
        <p:nvCxnSpPr>
          <p:cNvPr id="3389" name="Google Shape;3389;p129"/>
          <p:cNvCxnSpPr>
            <a:stCxn id="3383" idx="3"/>
            <a:endCxn id="3387" idx="1"/>
          </p:cNvCxnSpPr>
          <p:nvPr/>
        </p:nvCxnSpPr>
        <p:spPr>
          <a:xfrm>
            <a:off x="5803580" y="1945783"/>
            <a:ext cx="475200" cy="3690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390" name="Google Shape;3390;p129"/>
          <p:cNvCxnSpPr>
            <a:stCxn id="3384" idx="3"/>
            <a:endCxn id="3387" idx="1"/>
          </p:cNvCxnSpPr>
          <p:nvPr/>
        </p:nvCxnSpPr>
        <p:spPr>
          <a:xfrm flipH="1" rot="10800000">
            <a:off x="5803580" y="2314767"/>
            <a:ext cx="475200" cy="3588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391" name="Google Shape;3391;p129"/>
          <p:cNvCxnSpPr>
            <a:stCxn id="3385" idx="3"/>
            <a:endCxn id="3388" idx="1"/>
          </p:cNvCxnSpPr>
          <p:nvPr/>
        </p:nvCxnSpPr>
        <p:spPr>
          <a:xfrm>
            <a:off x="5803580" y="3921750"/>
            <a:ext cx="426600" cy="4617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3392" name="Google Shape;3392;p129"/>
          <p:cNvCxnSpPr>
            <a:stCxn id="3382" idx="3"/>
            <a:endCxn id="3388" idx="1"/>
          </p:cNvCxnSpPr>
          <p:nvPr/>
        </p:nvCxnSpPr>
        <p:spPr>
          <a:xfrm flipH="1" rot="10800000">
            <a:off x="5803580" y="4383583"/>
            <a:ext cx="426600" cy="461700"/>
          </a:xfrm>
          <a:prstGeom prst="curvedConnector3">
            <a:avLst>
              <a:gd fmla="val 49992" name="adj1"/>
            </a:avLst>
          </a:prstGeom>
          <a:noFill/>
          <a:ln cap="flat" cmpd="sng" w="9525">
            <a:solidFill>
              <a:schemeClr val="dk2"/>
            </a:solidFill>
            <a:prstDash val="solid"/>
            <a:round/>
            <a:headEnd len="med" w="med" type="none"/>
            <a:tailEnd len="med" w="med" type="triangle"/>
          </a:ln>
        </p:spPr>
      </p:cxnSp>
      <p:sp>
        <p:nvSpPr>
          <p:cNvPr id="3393" name="Google Shape;3393;p129"/>
          <p:cNvSpPr/>
          <p:nvPr/>
        </p:nvSpPr>
        <p:spPr>
          <a:xfrm>
            <a:off x="8781503" y="1694267"/>
            <a:ext cx="1413600" cy="4281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customer_</a:t>
            </a:r>
            <a:br>
              <a:rPr b="1" lang="en" sz="1300">
                <a:latin typeface="Courier New"/>
                <a:ea typeface="Courier New"/>
                <a:cs typeface="Courier New"/>
                <a:sym typeface="Courier New"/>
              </a:rPr>
            </a:br>
            <a:r>
              <a:rPr b="1" lang="en" sz="1300">
                <a:latin typeface="Courier New"/>
                <a:ea typeface="Courier New"/>
                <a:cs typeface="Courier New"/>
                <a:sym typeface="Courier New"/>
              </a:rPr>
              <a:t>spending</a:t>
            </a:r>
            <a:endParaRPr b="1" sz="1300">
              <a:latin typeface="Courier New"/>
              <a:ea typeface="Courier New"/>
              <a:cs typeface="Courier New"/>
              <a:sym typeface="Courier New"/>
            </a:endParaRPr>
          </a:p>
        </p:txBody>
      </p:sp>
      <p:sp>
        <p:nvSpPr>
          <p:cNvPr id="3394" name="Google Shape;3394;p129"/>
          <p:cNvSpPr/>
          <p:nvPr/>
        </p:nvSpPr>
        <p:spPr>
          <a:xfrm>
            <a:off x="8821893" y="3621400"/>
            <a:ext cx="1413600" cy="4281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account_</a:t>
            </a:r>
            <a:br>
              <a:rPr b="1" lang="en" sz="1300">
                <a:latin typeface="Courier New"/>
                <a:ea typeface="Courier New"/>
                <a:cs typeface="Courier New"/>
                <a:sym typeface="Courier New"/>
              </a:rPr>
            </a:br>
            <a:r>
              <a:rPr b="1" lang="en" sz="1300">
                <a:latin typeface="Courier New"/>
                <a:ea typeface="Courier New"/>
                <a:cs typeface="Courier New"/>
                <a:sym typeface="Courier New"/>
              </a:rPr>
              <a:t>performance</a:t>
            </a:r>
            <a:endParaRPr b="1" sz="1300">
              <a:latin typeface="Courier New"/>
              <a:ea typeface="Courier New"/>
              <a:cs typeface="Courier New"/>
              <a:sym typeface="Courier New"/>
            </a:endParaRPr>
          </a:p>
        </p:txBody>
      </p:sp>
      <p:sp>
        <p:nvSpPr>
          <p:cNvPr id="3395" name="Google Shape;3395;p129"/>
          <p:cNvSpPr/>
          <p:nvPr/>
        </p:nvSpPr>
        <p:spPr>
          <a:xfrm>
            <a:off x="8821893" y="4597433"/>
            <a:ext cx="1413600" cy="6903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sales_</a:t>
            </a:r>
            <a:br>
              <a:rPr b="1" lang="en" sz="1300">
                <a:latin typeface="Courier New"/>
                <a:ea typeface="Courier New"/>
                <a:cs typeface="Courier New"/>
                <a:sym typeface="Courier New"/>
              </a:rPr>
            </a:br>
            <a:r>
              <a:rPr b="1" lang="en" sz="1300">
                <a:latin typeface="Courier New"/>
                <a:ea typeface="Courier New"/>
                <a:cs typeface="Courier New"/>
                <a:sym typeface="Courier New"/>
              </a:rPr>
              <a:t>pipeline_</a:t>
            </a:r>
            <a:br>
              <a:rPr b="1" lang="en" sz="1300">
                <a:latin typeface="Courier New"/>
                <a:ea typeface="Courier New"/>
                <a:cs typeface="Courier New"/>
                <a:sym typeface="Courier New"/>
              </a:rPr>
            </a:br>
            <a:r>
              <a:rPr b="1" lang="en" sz="1300">
                <a:latin typeface="Courier New"/>
                <a:ea typeface="Courier New"/>
                <a:cs typeface="Courier New"/>
                <a:sym typeface="Courier New"/>
              </a:rPr>
              <a:t>summary</a:t>
            </a:r>
            <a:endParaRPr b="1" sz="1300">
              <a:latin typeface="Courier New"/>
              <a:ea typeface="Courier New"/>
              <a:cs typeface="Courier New"/>
              <a:sym typeface="Courier New"/>
            </a:endParaRPr>
          </a:p>
        </p:txBody>
      </p:sp>
      <p:sp>
        <p:nvSpPr>
          <p:cNvPr id="3396" name="Google Shape;3396;p129"/>
          <p:cNvSpPr/>
          <p:nvPr/>
        </p:nvSpPr>
        <p:spPr>
          <a:xfrm>
            <a:off x="10706054" y="2421867"/>
            <a:ext cx="1283700" cy="4281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300">
                <a:latin typeface="Courier New"/>
                <a:ea typeface="Courier New"/>
                <a:cs typeface="Courier New"/>
                <a:sym typeface="Courier New"/>
              </a:rPr>
              <a:t>business_</a:t>
            </a:r>
            <a:br>
              <a:rPr b="1" lang="en" sz="1300">
                <a:latin typeface="Courier New"/>
                <a:ea typeface="Courier New"/>
                <a:cs typeface="Courier New"/>
                <a:sym typeface="Courier New"/>
              </a:rPr>
            </a:br>
            <a:r>
              <a:rPr b="1" lang="en" sz="1300">
                <a:latin typeface="Courier New"/>
                <a:ea typeface="Courier New"/>
                <a:cs typeface="Courier New"/>
                <a:sym typeface="Courier New"/>
              </a:rPr>
              <a:t>summary</a:t>
            </a:r>
            <a:endParaRPr b="1" sz="1300">
              <a:latin typeface="Courier New"/>
              <a:ea typeface="Courier New"/>
              <a:cs typeface="Courier New"/>
              <a:sym typeface="Courier New"/>
            </a:endParaRPr>
          </a:p>
        </p:txBody>
      </p:sp>
      <p:sp>
        <p:nvSpPr>
          <p:cNvPr id="3397" name="Google Shape;3397;p129"/>
          <p:cNvSpPr txBox="1"/>
          <p:nvPr/>
        </p:nvSpPr>
        <p:spPr>
          <a:xfrm>
            <a:off x="1472865" y="258300"/>
            <a:ext cx="2189400" cy="4884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300">
                <a:solidFill>
                  <a:schemeClr val="dk1"/>
                </a:solidFill>
              </a:rPr>
              <a:t>catalog = ops</a:t>
            </a:r>
            <a:endParaRPr sz="1300">
              <a:solidFill>
                <a:schemeClr val="dk1"/>
              </a:solidFill>
            </a:endParaRPr>
          </a:p>
          <a:p>
            <a:pPr indent="0" lvl="0" marL="0" rtl="0" algn="l">
              <a:spcBef>
                <a:spcPts val="0"/>
              </a:spcBef>
              <a:spcAft>
                <a:spcPts val="0"/>
              </a:spcAft>
              <a:buNone/>
            </a:pPr>
            <a:r>
              <a:rPr lang="en" sz="1300">
                <a:solidFill>
                  <a:schemeClr val="dk1"/>
                </a:solidFill>
              </a:rPr>
              <a:t>schema = bronze</a:t>
            </a:r>
            <a:endParaRPr sz="1300">
              <a:solidFill>
                <a:schemeClr val="dk1"/>
              </a:solidFill>
            </a:endParaRPr>
          </a:p>
        </p:txBody>
      </p:sp>
      <p:sp>
        <p:nvSpPr>
          <p:cNvPr id="3398" name="Google Shape;3398;p129"/>
          <p:cNvSpPr txBox="1"/>
          <p:nvPr/>
        </p:nvSpPr>
        <p:spPr>
          <a:xfrm>
            <a:off x="4089477" y="258300"/>
            <a:ext cx="2189400" cy="4884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300">
                <a:solidFill>
                  <a:schemeClr val="dk1"/>
                </a:solidFill>
              </a:rPr>
              <a:t>catalog = ops</a:t>
            </a:r>
            <a:endParaRPr sz="1300">
              <a:solidFill>
                <a:schemeClr val="dk1"/>
              </a:solidFill>
            </a:endParaRPr>
          </a:p>
          <a:p>
            <a:pPr indent="0" lvl="0" marL="0" rtl="0" algn="l">
              <a:spcBef>
                <a:spcPts val="0"/>
              </a:spcBef>
              <a:spcAft>
                <a:spcPts val="0"/>
              </a:spcAft>
              <a:buNone/>
            </a:pPr>
            <a:r>
              <a:rPr lang="en" sz="1300">
                <a:solidFill>
                  <a:schemeClr val="dk1"/>
                </a:solidFill>
              </a:rPr>
              <a:t>schema = silver</a:t>
            </a:r>
            <a:endParaRPr sz="1300">
              <a:solidFill>
                <a:schemeClr val="dk1"/>
              </a:solidFill>
            </a:endParaRPr>
          </a:p>
        </p:txBody>
      </p:sp>
      <p:sp>
        <p:nvSpPr>
          <p:cNvPr id="3399" name="Google Shape;3399;p129"/>
          <p:cNvSpPr txBox="1"/>
          <p:nvPr/>
        </p:nvSpPr>
        <p:spPr>
          <a:xfrm>
            <a:off x="8461216" y="258300"/>
            <a:ext cx="2189400" cy="4884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300">
                <a:solidFill>
                  <a:schemeClr val="dk1"/>
                </a:solidFill>
              </a:rPr>
              <a:t>catalog = ops</a:t>
            </a:r>
            <a:endParaRPr sz="1300">
              <a:solidFill>
                <a:schemeClr val="dk1"/>
              </a:solidFill>
            </a:endParaRPr>
          </a:p>
          <a:p>
            <a:pPr indent="0" lvl="0" marL="0" rtl="0" algn="l">
              <a:spcBef>
                <a:spcPts val="0"/>
              </a:spcBef>
              <a:spcAft>
                <a:spcPts val="0"/>
              </a:spcAft>
              <a:buNone/>
            </a:pPr>
            <a:r>
              <a:rPr lang="en" sz="1300">
                <a:solidFill>
                  <a:schemeClr val="dk1"/>
                </a:solidFill>
              </a:rPr>
              <a:t>schema = gold</a:t>
            </a:r>
            <a:endParaRPr sz="1300">
              <a:solidFill>
                <a:schemeClr val="dk1"/>
              </a:solidFill>
            </a:endParaRPr>
          </a:p>
        </p:txBody>
      </p:sp>
      <p:sp>
        <p:nvSpPr>
          <p:cNvPr id="3400" name="Google Shape;3400;p129"/>
          <p:cNvSpPr txBox="1"/>
          <p:nvPr/>
        </p:nvSpPr>
        <p:spPr>
          <a:xfrm>
            <a:off x="2564958" y="905333"/>
            <a:ext cx="1000800" cy="428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2"/>
                </a:solidFill>
              </a:rPr>
              <a:t>Bronze</a:t>
            </a:r>
            <a:endParaRPr b="1" sz="1600">
              <a:solidFill>
                <a:schemeClr val="dk2"/>
              </a:solidFill>
            </a:endParaRPr>
          </a:p>
        </p:txBody>
      </p:sp>
      <p:sp>
        <p:nvSpPr>
          <p:cNvPr id="3401" name="Google Shape;3401;p129"/>
          <p:cNvSpPr txBox="1"/>
          <p:nvPr/>
        </p:nvSpPr>
        <p:spPr>
          <a:xfrm>
            <a:off x="7170639" y="905333"/>
            <a:ext cx="1000800" cy="428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2"/>
                </a:solidFill>
              </a:rPr>
              <a:t>Silver</a:t>
            </a:r>
            <a:endParaRPr b="1" sz="1600">
              <a:solidFill>
                <a:schemeClr val="dk2"/>
              </a:solidFill>
            </a:endParaRPr>
          </a:p>
        </p:txBody>
      </p:sp>
      <p:sp>
        <p:nvSpPr>
          <p:cNvPr id="3402" name="Google Shape;3402;p129"/>
          <p:cNvSpPr txBox="1"/>
          <p:nvPr/>
        </p:nvSpPr>
        <p:spPr>
          <a:xfrm>
            <a:off x="11186734" y="905333"/>
            <a:ext cx="1000800" cy="428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2"/>
                </a:solidFill>
              </a:rPr>
              <a:t>Gold</a:t>
            </a:r>
            <a:endParaRPr b="1" sz="1600">
              <a:solidFill>
                <a:schemeClr val="dk2"/>
              </a:solidFill>
            </a:endParaRPr>
          </a:p>
        </p:txBody>
      </p:sp>
      <p:cxnSp>
        <p:nvCxnSpPr>
          <p:cNvPr id="3403" name="Google Shape;3403;p129"/>
          <p:cNvCxnSpPr>
            <a:stCxn id="3393" idx="3"/>
            <a:endCxn id="3396" idx="1"/>
          </p:cNvCxnSpPr>
          <p:nvPr/>
        </p:nvCxnSpPr>
        <p:spPr>
          <a:xfrm>
            <a:off x="10195103" y="1908317"/>
            <a:ext cx="510900" cy="727500"/>
          </a:xfrm>
          <a:prstGeom prst="curvedConnector3">
            <a:avLst>
              <a:gd fmla="val 49984" name="adj1"/>
            </a:avLst>
          </a:prstGeom>
          <a:noFill/>
          <a:ln cap="flat" cmpd="sng" w="9525">
            <a:solidFill>
              <a:schemeClr val="dk2"/>
            </a:solidFill>
            <a:prstDash val="solid"/>
            <a:round/>
            <a:headEnd len="med" w="med" type="none"/>
            <a:tailEnd len="med" w="med" type="triangle"/>
          </a:ln>
        </p:spPr>
      </p:cxnSp>
      <p:cxnSp>
        <p:nvCxnSpPr>
          <p:cNvPr id="3404" name="Google Shape;3404;p129"/>
          <p:cNvCxnSpPr>
            <a:stCxn id="3394" idx="3"/>
            <a:endCxn id="3396" idx="1"/>
          </p:cNvCxnSpPr>
          <p:nvPr/>
        </p:nvCxnSpPr>
        <p:spPr>
          <a:xfrm flipH="1" rot="10800000">
            <a:off x="10235493" y="2636050"/>
            <a:ext cx="470700" cy="1199400"/>
          </a:xfrm>
          <a:prstGeom prst="curvedConnector3">
            <a:avLst>
              <a:gd fmla="val 49982" name="adj1"/>
            </a:avLst>
          </a:prstGeom>
          <a:noFill/>
          <a:ln cap="flat" cmpd="sng" w="9525">
            <a:solidFill>
              <a:schemeClr val="dk2"/>
            </a:solidFill>
            <a:prstDash val="solid"/>
            <a:round/>
            <a:headEnd len="med" w="med" type="none"/>
            <a:tailEnd len="med" w="med" type="triangle"/>
          </a:ln>
        </p:spPr>
      </p:cxnSp>
      <p:cxnSp>
        <p:nvCxnSpPr>
          <p:cNvPr id="3405" name="Google Shape;3405;p129"/>
          <p:cNvCxnSpPr>
            <a:stCxn id="3386" idx="3"/>
            <a:endCxn id="3395" idx="1"/>
          </p:cNvCxnSpPr>
          <p:nvPr/>
        </p:nvCxnSpPr>
        <p:spPr>
          <a:xfrm flipH="1" rot="10800000">
            <a:off x="5803580" y="4942683"/>
            <a:ext cx="3018300" cy="7263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406" name="Google Shape;3406;p129"/>
          <p:cNvCxnSpPr>
            <a:stCxn id="3388" idx="3"/>
            <a:endCxn id="3395" idx="1"/>
          </p:cNvCxnSpPr>
          <p:nvPr/>
        </p:nvCxnSpPr>
        <p:spPr>
          <a:xfrm>
            <a:off x="8058874" y="4383483"/>
            <a:ext cx="762900" cy="559200"/>
          </a:xfrm>
          <a:prstGeom prst="curvedConnector3">
            <a:avLst>
              <a:gd fmla="val 50005" name="adj1"/>
            </a:avLst>
          </a:prstGeom>
          <a:noFill/>
          <a:ln cap="flat" cmpd="sng" w="9525">
            <a:solidFill>
              <a:schemeClr val="dk2"/>
            </a:solidFill>
            <a:prstDash val="solid"/>
            <a:round/>
            <a:headEnd len="med" w="med" type="none"/>
            <a:tailEnd len="med" w="med" type="triangle"/>
          </a:ln>
        </p:spPr>
      </p:cxnSp>
      <p:cxnSp>
        <p:nvCxnSpPr>
          <p:cNvPr id="3407" name="Google Shape;3407;p129"/>
          <p:cNvCxnSpPr>
            <a:stCxn id="3388" idx="3"/>
            <a:endCxn id="3394" idx="1"/>
          </p:cNvCxnSpPr>
          <p:nvPr/>
        </p:nvCxnSpPr>
        <p:spPr>
          <a:xfrm flipH="1" rot="10800000">
            <a:off x="8058874" y="3835383"/>
            <a:ext cx="762900" cy="548100"/>
          </a:xfrm>
          <a:prstGeom prst="curvedConnector3">
            <a:avLst>
              <a:gd fmla="val 50005" name="adj1"/>
            </a:avLst>
          </a:prstGeom>
          <a:noFill/>
          <a:ln cap="flat" cmpd="sng" w="9525">
            <a:solidFill>
              <a:schemeClr val="dk2"/>
            </a:solidFill>
            <a:prstDash val="solid"/>
            <a:round/>
            <a:headEnd len="med" w="med" type="none"/>
            <a:tailEnd len="med" w="med" type="triangle"/>
          </a:ln>
        </p:spPr>
      </p:cxnSp>
      <p:cxnSp>
        <p:nvCxnSpPr>
          <p:cNvPr id="3408" name="Google Shape;3408;p129"/>
          <p:cNvCxnSpPr>
            <a:stCxn id="3387" idx="3"/>
            <a:endCxn id="3393" idx="1"/>
          </p:cNvCxnSpPr>
          <p:nvPr/>
        </p:nvCxnSpPr>
        <p:spPr>
          <a:xfrm flipH="1" rot="10800000">
            <a:off x="8107729" y="1908217"/>
            <a:ext cx="673800" cy="4065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409" name="Google Shape;3409;p129"/>
          <p:cNvCxnSpPr>
            <a:stCxn id="3387" idx="3"/>
            <a:endCxn id="3394" idx="1"/>
          </p:cNvCxnSpPr>
          <p:nvPr/>
        </p:nvCxnSpPr>
        <p:spPr>
          <a:xfrm>
            <a:off x="8107729" y="2314717"/>
            <a:ext cx="714300" cy="15207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410" name="Google Shape;3410;p129"/>
          <p:cNvCxnSpPr>
            <a:stCxn id="3378" idx="3"/>
            <a:endCxn id="3383" idx="1"/>
          </p:cNvCxnSpPr>
          <p:nvPr/>
        </p:nvCxnSpPr>
        <p:spPr>
          <a:xfrm>
            <a:off x="3375787" y="1945783"/>
            <a:ext cx="701400" cy="0"/>
          </a:xfrm>
          <a:prstGeom prst="straightConnector1">
            <a:avLst/>
          </a:prstGeom>
          <a:noFill/>
          <a:ln cap="flat" cmpd="sng" w="9525">
            <a:solidFill>
              <a:schemeClr val="dk2"/>
            </a:solidFill>
            <a:prstDash val="solid"/>
            <a:round/>
            <a:headEnd len="med" w="med" type="none"/>
            <a:tailEnd len="med" w="med" type="triangle"/>
          </a:ln>
        </p:spPr>
      </p:cxnSp>
      <p:cxnSp>
        <p:nvCxnSpPr>
          <p:cNvPr id="3411" name="Google Shape;3411;p129"/>
          <p:cNvCxnSpPr>
            <a:stCxn id="3379" idx="3"/>
            <a:endCxn id="3384" idx="1"/>
          </p:cNvCxnSpPr>
          <p:nvPr/>
        </p:nvCxnSpPr>
        <p:spPr>
          <a:xfrm>
            <a:off x="3375787" y="2673383"/>
            <a:ext cx="701400" cy="300"/>
          </a:xfrm>
          <a:prstGeom prst="straightConnector1">
            <a:avLst/>
          </a:prstGeom>
          <a:noFill/>
          <a:ln cap="flat" cmpd="sng" w="9525">
            <a:solidFill>
              <a:schemeClr val="dk2"/>
            </a:solidFill>
            <a:prstDash val="solid"/>
            <a:round/>
            <a:headEnd len="med" w="med" type="none"/>
            <a:tailEnd len="med" w="med" type="triangle"/>
          </a:ln>
        </p:spPr>
      </p:cxnSp>
      <p:cxnSp>
        <p:nvCxnSpPr>
          <p:cNvPr id="3412" name="Google Shape;3412;p129"/>
          <p:cNvCxnSpPr>
            <a:stCxn id="3380" idx="3"/>
            <a:endCxn id="3385" idx="1"/>
          </p:cNvCxnSpPr>
          <p:nvPr/>
        </p:nvCxnSpPr>
        <p:spPr>
          <a:xfrm>
            <a:off x="3367456" y="3921750"/>
            <a:ext cx="709500" cy="0"/>
          </a:xfrm>
          <a:prstGeom prst="straightConnector1">
            <a:avLst/>
          </a:prstGeom>
          <a:noFill/>
          <a:ln cap="flat" cmpd="sng" w="9525">
            <a:solidFill>
              <a:schemeClr val="dk2"/>
            </a:solidFill>
            <a:prstDash val="solid"/>
            <a:round/>
            <a:headEnd len="med" w="med" type="none"/>
            <a:tailEnd len="med" w="med" type="triangle"/>
          </a:ln>
        </p:spPr>
      </p:cxnSp>
      <p:cxnSp>
        <p:nvCxnSpPr>
          <p:cNvPr id="3413" name="Google Shape;3413;p129"/>
          <p:cNvCxnSpPr>
            <a:stCxn id="3377" idx="3"/>
            <a:endCxn id="3382" idx="1"/>
          </p:cNvCxnSpPr>
          <p:nvPr/>
        </p:nvCxnSpPr>
        <p:spPr>
          <a:xfrm>
            <a:off x="3367456" y="4845283"/>
            <a:ext cx="709500" cy="0"/>
          </a:xfrm>
          <a:prstGeom prst="straightConnector1">
            <a:avLst/>
          </a:prstGeom>
          <a:noFill/>
          <a:ln cap="flat" cmpd="sng" w="9525">
            <a:solidFill>
              <a:schemeClr val="dk2"/>
            </a:solidFill>
            <a:prstDash val="solid"/>
            <a:round/>
            <a:headEnd len="med" w="med" type="none"/>
            <a:tailEnd len="med" w="med" type="triangle"/>
          </a:ln>
        </p:spPr>
      </p:cxnSp>
      <p:cxnSp>
        <p:nvCxnSpPr>
          <p:cNvPr id="3414" name="Google Shape;3414;p129"/>
          <p:cNvCxnSpPr>
            <a:stCxn id="3381" idx="3"/>
            <a:endCxn id="3386" idx="1"/>
          </p:cNvCxnSpPr>
          <p:nvPr/>
        </p:nvCxnSpPr>
        <p:spPr>
          <a:xfrm>
            <a:off x="3375787" y="5668983"/>
            <a:ext cx="701400" cy="0"/>
          </a:xfrm>
          <a:prstGeom prst="straightConnector1">
            <a:avLst/>
          </a:prstGeom>
          <a:noFill/>
          <a:ln cap="flat" cmpd="sng" w="9525">
            <a:solidFill>
              <a:schemeClr val="dk2"/>
            </a:solidFill>
            <a:prstDash val="solid"/>
            <a:round/>
            <a:headEnd len="med" w="med" type="none"/>
            <a:tailEnd len="med" w="med" type="triangle"/>
          </a:ln>
        </p:spPr>
      </p:cxnSp>
      <p:cxnSp>
        <p:nvCxnSpPr>
          <p:cNvPr id="3415" name="Google Shape;3415;p129"/>
          <p:cNvCxnSpPr>
            <a:stCxn id="3374" idx="3"/>
            <a:endCxn id="3378" idx="1"/>
          </p:cNvCxnSpPr>
          <p:nvPr/>
        </p:nvCxnSpPr>
        <p:spPr>
          <a:xfrm>
            <a:off x="1211411" y="1945783"/>
            <a:ext cx="438000" cy="0"/>
          </a:xfrm>
          <a:prstGeom prst="straightConnector1">
            <a:avLst/>
          </a:prstGeom>
          <a:noFill/>
          <a:ln cap="flat" cmpd="sng" w="9525">
            <a:solidFill>
              <a:schemeClr val="dk2"/>
            </a:solidFill>
            <a:prstDash val="solid"/>
            <a:round/>
            <a:headEnd len="med" w="med" type="none"/>
            <a:tailEnd len="med" w="med" type="triangle"/>
          </a:ln>
        </p:spPr>
      </p:cxnSp>
      <p:cxnSp>
        <p:nvCxnSpPr>
          <p:cNvPr id="3416" name="Google Shape;3416;p129"/>
          <p:cNvCxnSpPr>
            <a:stCxn id="3376" idx="3"/>
            <a:endCxn id="3379" idx="1"/>
          </p:cNvCxnSpPr>
          <p:nvPr/>
        </p:nvCxnSpPr>
        <p:spPr>
          <a:xfrm>
            <a:off x="1195582" y="2673383"/>
            <a:ext cx="453600" cy="0"/>
          </a:xfrm>
          <a:prstGeom prst="straightConnector1">
            <a:avLst/>
          </a:prstGeom>
          <a:noFill/>
          <a:ln cap="flat" cmpd="sng" w="9525">
            <a:solidFill>
              <a:schemeClr val="dk2"/>
            </a:solidFill>
            <a:prstDash val="solid"/>
            <a:round/>
            <a:headEnd len="med" w="med" type="none"/>
            <a:tailEnd len="med" w="med" type="triangle"/>
          </a:ln>
        </p:spPr>
      </p:cxnSp>
      <p:cxnSp>
        <p:nvCxnSpPr>
          <p:cNvPr id="3417" name="Google Shape;3417;p129"/>
          <p:cNvCxnSpPr>
            <a:stCxn id="3375" idx="3"/>
            <a:endCxn id="3380" idx="1"/>
          </p:cNvCxnSpPr>
          <p:nvPr/>
        </p:nvCxnSpPr>
        <p:spPr>
          <a:xfrm>
            <a:off x="1195582" y="3921750"/>
            <a:ext cx="445500" cy="0"/>
          </a:xfrm>
          <a:prstGeom prst="straightConnector1">
            <a:avLst/>
          </a:prstGeom>
          <a:noFill/>
          <a:ln cap="flat" cmpd="sng" w="9525">
            <a:solidFill>
              <a:schemeClr val="dk2"/>
            </a:solidFill>
            <a:prstDash val="solid"/>
            <a:round/>
            <a:headEnd len="med" w="med" type="none"/>
            <a:tailEnd len="med" w="med" type="triangle"/>
          </a:ln>
        </p:spPr>
      </p:cxnSp>
      <p:cxnSp>
        <p:nvCxnSpPr>
          <p:cNvPr id="3418" name="Google Shape;3418;p129"/>
          <p:cNvCxnSpPr>
            <a:stCxn id="3375" idx="3"/>
            <a:endCxn id="3377" idx="1"/>
          </p:cNvCxnSpPr>
          <p:nvPr/>
        </p:nvCxnSpPr>
        <p:spPr>
          <a:xfrm>
            <a:off x="1195582" y="3921750"/>
            <a:ext cx="445500" cy="923400"/>
          </a:xfrm>
          <a:prstGeom prst="bentConnector3">
            <a:avLst>
              <a:gd fmla="val 49996" name="adj1"/>
            </a:avLst>
          </a:prstGeom>
          <a:noFill/>
          <a:ln cap="flat" cmpd="sng" w="9525">
            <a:solidFill>
              <a:schemeClr val="dk2"/>
            </a:solidFill>
            <a:prstDash val="solid"/>
            <a:round/>
            <a:headEnd len="med" w="med" type="none"/>
            <a:tailEnd len="med" w="med" type="triangle"/>
          </a:ln>
        </p:spPr>
      </p:cxnSp>
      <p:cxnSp>
        <p:nvCxnSpPr>
          <p:cNvPr id="3419" name="Google Shape;3419;p129"/>
          <p:cNvCxnSpPr>
            <a:stCxn id="3375" idx="3"/>
            <a:endCxn id="3381" idx="1"/>
          </p:cNvCxnSpPr>
          <p:nvPr/>
        </p:nvCxnSpPr>
        <p:spPr>
          <a:xfrm>
            <a:off x="1195582" y="3921750"/>
            <a:ext cx="453600" cy="1747200"/>
          </a:xfrm>
          <a:prstGeom prst="bentConnector3">
            <a:avLst>
              <a:gd fmla="val 3445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3" name="Shape 3423"/>
        <p:cNvGrpSpPr/>
        <p:nvPr/>
      </p:nvGrpSpPr>
      <p:grpSpPr>
        <a:xfrm>
          <a:off x="0" y="0"/>
          <a:ext cx="0" cy="0"/>
          <a:chOff x="0" y="0"/>
          <a:chExt cx="0" cy="0"/>
        </a:xfrm>
      </p:grpSpPr>
      <p:sp>
        <p:nvSpPr>
          <p:cNvPr id="3424" name="Google Shape;3424;p130"/>
          <p:cNvSpPr/>
          <p:nvPr/>
        </p:nvSpPr>
        <p:spPr>
          <a:xfrm>
            <a:off x="1659218" y="2020700"/>
            <a:ext cx="9174600" cy="32241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p>
        </p:txBody>
      </p:sp>
      <p:sp>
        <p:nvSpPr>
          <p:cNvPr id="3425" name="Google Shape;3425;p130"/>
          <p:cNvSpPr/>
          <p:nvPr/>
        </p:nvSpPr>
        <p:spPr>
          <a:xfrm>
            <a:off x="470915" y="2846833"/>
            <a:ext cx="1546500" cy="14979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500"/>
              <a:t>Run every </a:t>
            </a:r>
            <a:br>
              <a:rPr lang="en" sz="1500"/>
            </a:br>
            <a:r>
              <a:rPr lang="en" sz="1500"/>
              <a:t>2 hours</a:t>
            </a:r>
            <a:endParaRPr sz="1500"/>
          </a:p>
        </p:txBody>
      </p:sp>
      <p:sp>
        <p:nvSpPr>
          <p:cNvPr id="3426" name="Google Shape;3426;p130"/>
          <p:cNvSpPr txBox="1"/>
          <p:nvPr/>
        </p:nvSpPr>
        <p:spPr>
          <a:xfrm>
            <a:off x="1870832" y="1475233"/>
            <a:ext cx="2319900" cy="651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Data pipeline</a:t>
            </a:r>
            <a:endParaRPr sz="2400">
              <a:solidFill>
                <a:schemeClr val="dk1"/>
              </a:solidFill>
            </a:endParaRPr>
          </a:p>
        </p:txBody>
      </p:sp>
      <p:sp>
        <p:nvSpPr>
          <p:cNvPr id="3427" name="Google Shape;3427;p130"/>
          <p:cNvSpPr/>
          <p:nvPr/>
        </p:nvSpPr>
        <p:spPr>
          <a:xfrm>
            <a:off x="5182903" y="2647533"/>
            <a:ext cx="2546100" cy="6513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clean_customers</a:t>
            </a:r>
            <a:endParaRPr b="1" sz="1600">
              <a:latin typeface="Courier New"/>
              <a:ea typeface="Courier New"/>
              <a:cs typeface="Courier New"/>
              <a:sym typeface="Courier New"/>
            </a:endParaRPr>
          </a:p>
        </p:txBody>
      </p:sp>
      <p:sp>
        <p:nvSpPr>
          <p:cNvPr id="3428" name="Google Shape;3428;p130"/>
          <p:cNvSpPr/>
          <p:nvPr/>
        </p:nvSpPr>
        <p:spPr>
          <a:xfrm>
            <a:off x="5182903" y="3949767"/>
            <a:ext cx="2546100" cy="6513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clean_transactions</a:t>
            </a:r>
            <a:endParaRPr b="1" sz="1600">
              <a:latin typeface="Courier New"/>
              <a:ea typeface="Courier New"/>
              <a:cs typeface="Courier New"/>
              <a:sym typeface="Courier New"/>
            </a:endParaRPr>
          </a:p>
        </p:txBody>
      </p:sp>
      <p:sp>
        <p:nvSpPr>
          <p:cNvPr id="3429" name="Google Shape;3429;p130"/>
          <p:cNvSpPr/>
          <p:nvPr/>
        </p:nvSpPr>
        <p:spPr>
          <a:xfrm>
            <a:off x="2322052" y="2656000"/>
            <a:ext cx="2354700" cy="6513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raw_customers</a:t>
            </a:r>
            <a:endParaRPr b="1" sz="1600">
              <a:latin typeface="Courier New"/>
              <a:ea typeface="Courier New"/>
              <a:cs typeface="Courier New"/>
              <a:sym typeface="Courier New"/>
            </a:endParaRPr>
          </a:p>
        </p:txBody>
      </p:sp>
      <p:sp>
        <p:nvSpPr>
          <p:cNvPr id="3430" name="Google Shape;3430;p130"/>
          <p:cNvSpPr/>
          <p:nvPr/>
        </p:nvSpPr>
        <p:spPr>
          <a:xfrm>
            <a:off x="2322052" y="3958233"/>
            <a:ext cx="2354700" cy="6513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raw_transactions</a:t>
            </a:r>
            <a:endParaRPr b="1" sz="1600">
              <a:latin typeface="Courier New"/>
              <a:ea typeface="Courier New"/>
              <a:cs typeface="Courier New"/>
              <a:sym typeface="Courier New"/>
            </a:endParaRPr>
          </a:p>
        </p:txBody>
      </p:sp>
      <p:sp>
        <p:nvSpPr>
          <p:cNvPr id="3431" name="Google Shape;3431;p130"/>
          <p:cNvSpPr/>
          <p:nvPr/>
        </p:nvSpPr>
        <p:spPr>
          <a:xfrm>
            <a:off x="8230141" y="3307100"/>
            <a:ext cx="2319900" cy="6513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sales_report</a:t>
            </a:r>
            <a:endParaRPr b="1" sz="1600">
              <a:latin typeface="Courier New"/>
              <a:ea typeface="Courier New"/>
              <a:cs typeface="Courier New"/>
              <a:sym typeface="Courier New"/>
            </a:endParaRPr>
          </a:p>
        </p:txBody>
      </p:sp>
      <p:cxnSp>
        <p:nvCxnSpPr>
          <p:cNvPr id="3432" name="Google Shape;3432;p130"/>
          <p:cNvCxnSpPr>
            <a:stCxn id="3429" idx="3"/>
            <a:endCxn id="3427" idx="1"/>
          </p:cNvCxnSpPr>
          <p:nvPr/>
        </p:nvCxnSpPr>
        <p:spPr>
          <a:xfrm flipH="1" rot="10800000">
            <a:off x="4676752" y="2973250"/>
            <a:ext cx="506100" cy="8400"/>
          </a:xfrm>
          <a:prstGeom prst="straightConnector1">
            <a:avLst/>
          </a:prstGeom>
          <a:noFill/>
          <a:ln cap="flat" cmpd="sng" w="9525">
            <a:solidFill>
              <a:schemeClr val="dk2"/>
            </a:solidFill>
            <a:prstDash val="solid"/>
            <a:round/>
            <a:headEnd len="med" w="med" type="none"/>
            <a:tailEnd len="med" w="med" type="triangle"/>
          </a:ln>
        </p:spPr>
      </p:cxnSp>
      <p:cxnSp>
        <p:nvCxnSpPr>
          <p:cNvPr id="3433" name="Google Shape;3433;p130"/>
          <p:cNvCxnSpPr>
            <a:stCxn id="3430" idx="3"/>
            <a:endCxn id="3428" idx="1"/>
          </p:cNvCxnSpPr>
          <p:nvPr/>
        </p:nvCxnSpPr>
        <p:spPr>
          <a:xfrm flipH="1" rot="10800000">
            <a:off x="4676752" y="4275483"/>
            <a:ext cx="506100" cy="8400"/>
          </a:xfrm>
          <a:prstGeom prst="straightConnector1">
            <a:avLst/>
          </a:prstGeom>
          <a:noFill/>
          <a:ln cap="flat" cmpd="sng" w="9525">
            <a:solidFill>
              <a:schemeClr val="dk2"/>
            </a:solidFill>
            <a:prstDash val="solid"/>
            <a:round/>
            <a:headEnd len="med" w="med" type="none"/>
            <a:tailEnd len="med" w="med" type="triangle"/>
          </a:ln>
        </p:spPr>
      </p:cxnSp>
      <p:cxnSp>
        <p:nvCxnSpPr>
          <p:cNvPr id="3434" name="Google Shape;3434;p130"/>
          <p:cNvCxnSpPr>
            <a:stCxn id="3427" idx="3"/>
            <a:endCxn id="3431" idx="1"/>
          </p:cNvCxnSpPr>
          <p:nvPr/>
        </p:nvCxnSpPr>
        <p:spPr>
          <a:xfrm>
            <a:off x="7729003" y="2973183"/>
            <a:ext cx="501000" cy="659700"/>
          </a:xfrm>
          <a:prstGeom prst="straightConnector1">
            <a:avLst/>
          </a:prstGeom>
          <a:noFill/>
          <a:ln cap="flat" cmpd="sng" w="9525">
            <a:solidFill>
              <a:schemeClr val="dk2"/>
            </a:solidFill>
            <a:prstDash val="solid"/>
            <a:round/>
            <a:headEnd len="med" w="med" type="none"/>
            <a:tailEnd len="med" w="med" type="triangle"/>
          </a:ln>
        </p:spPr>
      </p:cxnSp>
      <p:cxnSp>
        <p:nvCxnSpPr>
          <p:cNvPr id="3435" name="Google Shape;3435;p130"/>
          <p:cNvCxnSpPr>
            <a:stCxn id="3428" idx="3"/>
            <a:endCxn id="3431" idx="1"/>
          </p:cNvCxnSpPr>
          <p:nvPr/>
        </p:nvCxnSpPr>
        <p:spPr>
          <a:xfrm flipH="1" rot="10800000">
            <a:off x="7729003" y="3632817"/>
            <a:ext cx="501000" cy="642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9" name="Shape 3439"/>
        <p:cNvGrpSpPr/>
        <p:nvPr/>
      </p:nvGrpSpPr>
      <p:grpSpPr>
        <a:xfrm>
          <a:off x="0" y="0"/>
          <a:ext cx="0" cy="0"/>
          <a:chOff x="0" y="0"/>
          <a:chExt cx="0" cy="0"/>
        </a:xfrm>
      </p:grpSpPr>
      <p:sp>
        <p:nvSpPr>
          <p:cNvPr id="3440" name="Google Shape;3440;p131"/>
          <p:cNvSpPr/>
          <p:nvPr/>
        </p:nvSpPr>
        <p:spPr>
          <a:xfrm>
            <a:off x="358110" y="1302067"/>
            <a:ext cx="10971600" cy="13353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p>
        </p:txBody>
      </p:sp>
      <p:sp>
        <p:nvSpPr>
          <p:cNvPr id="3441" name="Google Shape;3441;p131"/>
          <p:cNvSpPr/>
          <p:nvPr/>
        </p:nvSpPr>
        <p:spPr>
          <a:xfrm>
            <a:off x="2425593" y="1556000"/>
            <a:ext cx="3857700" cy="81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Structured Streaming </a:t>
            </a:r>
            <a:br>
              <a:rPr lang="en" sz="1900"/>
            </a:br>
            <a:r>
              <a:rPr lang="en" sz="1900"/>
              <a:t>in notebooks</a:t>
            </a:r>
            <a:endParaRPr sz="1900"/>
          </a:p>
        </p:txBody>
      </p:sp>
      <p:sp>
        <p:nvSpPr>
          <p:cNvPr id="3442" name="Google Shape;3442;p131"/>
          <p:cNvSpPr/>
          <p:nvPr/>
        </p:nvSpPr>
        <p:spPr>
          <a:xfrm>
            <a:off x="6747078" y="1556000"/>
            <a:ext cx="3857700" cy="81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Delta Live Tables</a:t>
            </a:r>
            <a:br>
              <a:rPr lang="en" sz="1900"/>
            </a:br>
            <a:r>
              <a:rPr lang="en" sz="1900"/>
              <a:t>streaming tables</a:t>
            </a:r>
            <a:endParaRPr sz="1900"/>
          </a:p>
        </p:txBody>
      </p:sp>
      <p:sp>
        <p:nvSpPr>
          <p:cNvPr id="3443" name="Google Shape;3443;p131"/>
          <p:cNvSpPr txBox="1"/>
          <p:nvPr/>
        </p:nvSpPr>
        <p:spPr>
          <a:xfrm>
            <a:off x="582588" y="1698400"/>
            <a:ext cx="1668300" cy="52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Platform</a:t>
            </a:r>
            <a:endParaRPr sz="2400">
              <a:solidFill>
                <a:schemeClr val="dk1"/>
              </a:solidFill>
            </a:endParaRPr>
          </a:p>
        </p:txBody>
      </p:sp>
      <p:sp>
        <p:nvSpPr>
          <p:cNvPr id="3444" name="Google Shape;3444;p131"/>
          <p:cNvSpPr/>
          <p:nvPr/>
        </p:nvSpPr>
        <p:spPr>
          <a:xfrm>
            <a:off x="358110" y="2737633"/>
            <a:ext cx="10971600" cy="17781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p>
        </p:txBody>
      </p:sp>
      <p:sp>
        <p:nvSpPr>
          <p:cNvPr id="3445" name="Google Shape;3445;p131"/>
          <p:cNvSpPr txBox="1"/>
          <p:nvPr/>
        </p:nvSpPr>
        <p:spPr>
          <a:xfrm>
            <a:off x="577689" y="3363467"/>
            <a:ext cx="1668300" cy="52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Engine</a:t>
            </a:r>
            <a:endParaRPr sz="2400">
              <a:solidFill>
                <a:schemeClr val="dk1"/>
              </a:solidFill>
            </a:endParaRPr>
          </a:p>
        </p:txBody>
      </p:sp>
      <p:sp>
        <p:nvSpPr>
          <p:cNvPr id="3446" name="Google Shape;3446;p131"/>
          <p:cNvSpPr/>
          <p:nvPr/>
        </p:nvSpPr>
        <p:spPr>
          <a:xfrm>
            <a:off x="2425593" y="3180100"/>
            <a:ext cx="8229900" cy="81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Apache Spark Structured Streaming</a:t>
            </a:r>
            <a:endParaRPr sz="1900"/>
          </a:p>
        </p:txBody>
      </p:sp>
      <p:sp>
        <p:nvSpPr>
          <p:cNvPr id="3447" name="Google Shape;3447;p131"/>
          <p:cNvSpPr txBox="1"/>
          <p:nvPr/>
        </p:nvSpPr>
        <p:spPr>
          <a:xfrm>
            <a:off x="444789" y="669600"/>
            <a:ext cx="2654100" cy="393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Ingestion</a:t>
            </a:r>
            <a:endParaRPr sz="2400">
              <a:solidFill>
                <a:schemeClr val="dk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1" name="Shape 3451"/>
        <p:cNvGrpSpPr/>
        <p:nvPr/>
      </p:nvGrpSpPr>
      <p:grpSpPr>
        <a:xfrm>
          <a:off x="0" y="0"/>
          <a:ext cx="0" cy="0"/>
          <a:chOff x="0" y="0"/>
          <a:chExt cx="0" cy="0"/>
        </a:xfrm>
      </p:grpSpPr>
      <p:sp>
        <p:nvSpPr>
          <p:cNvPr id="3452" name="Google Shape;3452;p132"/>
          <p:cNvSpPr/>
          <p:nvPr/>
        </p:nvSpPr>
        <p:spPr>
          <a:xfrm>
            <a:off x="358110" y="1302067"/>
            <a:ext cx="10971600" cy="13353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p>
        </p:txBody>
      </p:sp>
      <p:sp>
        <p:nvSpPr>
          <p:cNvPr id="3453" name="Google Shape;3453;p132"/>
          <p:cNvSpPr/>
          <p:nvPr/>
        </p:nvSpPr>
        <p:spPr>
          <a:xfrm>
            <a:off x="5349961" y="1562667"/>
            <a:ext cx="2744100" cy="81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Structured Streaming </a:t>
            </a:r>
            <a:br>
              <a:rPr lang="en" sz="1900"/>
            </a:br>
            <a:r>
              <a:rPr lang="en" sz="1900"/>
              <a:t>in notebooks</a:t>
            </a:r>
            <a:endParaRPr sz="1900"/>
          </a:p>
        </p:txBody>
      </p:sp>
      <p:sp>
        <p:nvSpPr>
          <p:cNvPr id="3454" name="Google Shape;3454;p132"/>
          <p:cNvSpPr/>
          <p:nvPr/>
        </p:nvSpPr>
        <p:spPr>
          <a:xfrm>
            <a:off x="8283094" y="1562667"/>
            <a:ext cx="2321700" cy="81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Delta Live Tables</a:t>
            </a:r>
            <a:br>
              <a:rPr lang="en" sz="1900"/>
            </a:br>
            <a:r>
              <a:rPr lang="en" sz="1900"/>
              <a:t>streaming tables</a:t>
            </a:r>
            <a:endParaRPr sz="1900"/>
          </a:p>
        </p:txBody>
      </p:sp>
      <p:sp>
        <p:nvSpPr>
          <p:cNvPr id="3455" name="Google Shape;3455;p132"/>
          <p:cNvSpPr txBox="1"/>
          <p:nvPr/>
        </p:nvSpPr>
        <p:spPr>
          <a:xfrm>
            <a:off x="582588" y="1698400"/>
            <a:ext cx="1668300" cy="52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Platform</a:t>
            </a:r>
            <a:endParaRPr sz="2400">
              <a:solidFill>
                <a:schemeClr val="dk1"/>
              </a:solidFill>
            </a:endParaRPr>
          </a:p>
        </p:txBody>
      </p:sp>
      <p:sp>
        <p:nvSpPr>
          <p:cNvPr id="3456" name="Google Shape;3456;p132"/>
          <p:cNvSpPr/>
          <p:nvPr/>
        </p:nvSpPr>
        <p:spPr>
          <a:xfrm>
            <a:off x="358110" y="2737633"/>
            <a:ext cx="10971600" cy="17781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p>
        </p:txBody>
      </p:sp>
      <p:sp>
        <p:nvSpPr>
          <p:cNvPr id="3457" name="Google Shape;3457;p132"/>
          <p:cNvSpPr txBox="1"/>
          <p:nvPr/>
        </p:nvSpPr>
        <p:spPr>
          <a:xfrm>
            <a:off x="577689" y="3363467"/>
            <a:ext cx="1668300" cy="52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Engine</a:t>
            </a:r>
            <a:endParaRPr sz="2400">
              <a:solidFill>
                <a:schemeClr val="dk1"/>
              </a:solidFill>
            </a:endParaRPr>
          </a:p>
        </p:txBody>
      </p:sp>
      <p:sp>
        <p:nvSpPr>
          <p:cNvPr id="3458" name="Google Shape;3458;p132"/>
          <p:cNvSpPr/>
          <p:nvPr/>
        </p:nvSpPr>
        <p:spPr>
          <a:xfrm>
            <a:off x="5349961" y="3180100"/>
            <a:ext cx="5255100" cy="81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Apache Spark Structured Streaming</a:t>
            </a:r>
            <a:endParaRPr sz="1900"/>
          </a:p>
        </p:txBody>
      </p:sp>
      <p:sp>
        <p:nvSpPr>
          <p:cNvPr id="3459" name="Google Shape;3459;p132"/>
          <p:cNvSpPr txBox="1"/>
          <p:nvPr/>
        </p:nvSpPr>
        <p:spPr>
          <a:xfrm>
            <a:off x="459552" y="693567"/>
            <a:ext cx="2654100" cy="393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Transformation</a:t>
            </a:r>
            <a:endParaRPr sz="2400">
              <a:solidFill>
                <a:schemeClr val="dk1"/>
              </a:solidFill>
            </a:endParaRPr>
          </a:p>
        </p:txBody>
      </p:sp>
      <p:sp>
        <p:nvSpPr>
          <p:cNvPr id="3460" name="Google Shape;3460;p132"/>
          <p:cNvSpPr/>
          <p:nvPr/>
        </p:nvSpPr>
        <p:spPr>
          <a:xfrm>
            <a:off x="2235041" y="3180100"/>
            <a:ext cx="2549700" cy="81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Enzyme</a:t>
            </a:r>
            <a:endParaRPr sz="1900"/>
          </a:p>
        </p:txBody>
      </p:sp>
      <p:sp>
        <p:nvSpPr>
          <p:cNvPr id="3461" name="Google Shape;3461;p132"/>
          <p:cNvSpPr/>
          <p:nvPr/>
        </p:nvSpPr>
        <p:spPr>
          <a:xfrm>
            <a:off x="2235041" y="1556000"/>
            <a:ext cx="2549700" cy="81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Delta Live Tables</a:t>
            </a:r>
            <a:br>
              <a:rPr lang="en" sz="1900"/>
            </a:br>
            <a:r>
              <a:rPr lang="en" sz="1900"/>
              <a:t>materialized views</a:t>
            </a:r>
            <a:endParaRPr sz="1900"/>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5" name="Shape 3465"/>
        <p:cNvGrpSpPr/>
        <p:nvPr/>
      </p:nvGrpSpPr>
      <p:grpSpPr>
        <a:xfrm>
          <a:off x="0" y="0"/>
          <a:ext cx="0" cy="0"/>
          <a:chOff x="0" y="0"/>
          <a:chExt cx="0" cy="0"/>
        </a:xfrm>
      </p:grpSpPr>
      <p:sp>
        <p:nvSpPr>
          <p:cNvPr id="3466" name="Google Shape;3466;p133"/>
          <p:cNvSpPr/>
          <p:nvPr/>
        </p:nvSpPr>
        <p:spPr>
          <a:xfrm>
            <a:off x="2901950" y="674733"/>
            <a:ext cx="2883600" cy="2358900"/>
          </a:xfrm>
          <a:prstGeom prst="roundRect">
            <a:avLst>
              <a:gd fmla="val 16667" name="adj"/>
            </a:avLst>
          </a:prstGeom>
          <a:solidFill>
            <a:srgbClr val="FFFFFF"/>
          </a:solidFill>
          <a:ln cap="flat" cmpd="sng" w="19050">
            <a:solidFill>
              <a:srgbClr val="1B3139"/>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2400">
              <a:solidFill>
                <a:srgbClr val="666666"/>
              </a:solidFill>
              <a:latin typeface="DM Sans"/>
              <a:ea typeface="DM Sans"/>
              <a:cs typeface="DM Sans"/>
              <a:sym typeface="DM Sans"/>
            </a:endParaRPr>
          </a:p>
        </p:txBody>
      </p:sp>
      <p:sp>
        <p:nvSpPr>
          <p:cNvPr id="3467" name="Google Shape;3467;p133"/>
          <p:cNvSpPr/>
          <p:nvPr/>
        </p:nvSpPr>
        <p:spPr>
          <a:xfrm>
            <a:off x="6208022" y="674733"/>
            <a:ext cx="2883600" cy="2358900"/>
          </a:xfrm>
          <a:prstGeom prst="roundRect">
            <a:avLst>
              <a:gd fmla="val 16667" name="adj"/>
            </a:avLst>
          </a:prstGeom>
          <a:solidFill>
            <a:srgbClr val="FFFFFF"/>
          </a:solidFill>
          <a:ln cap="flat" cmpd="sng" w="19050">
            <a:solidFill>
              <a:srgbClr val="1B3139"/>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2400">
              <a:solidFill>
                <a:srgbClr val="1B3139"/>
              </a:solidFill>
              <a:latin typeface="DM Sans"/>
              <a:ea typeface="DM Sans"/>
              <a:cs typeface="DM Sans"/>
              <a:sym typeface="DM Sans"/>
            </a:endParaRPr>
          </a:p>
        </p:txBody>
      </p:sp>
      <p:sp>
        <p:nvSpPr>
          <p:cNvPr id="3468" name="Google Shape;3468;p133"/>
          <p:cNvSpPr/>
          <p:nvPr/>
        </p:nvSpPr>
        <p:spPr>
          <a:xfrm>
            <a:off x="2901950" y="4191900"/>
            <a:ext cx="2883600" cy="2358900"/>
          </a:xfrm>
          <a:prstGeom prst="roundRect">
            <a:avLst>
              <a:gd fmla="val 16667" name="adj"/>
            </a:avLst>
          </a:prstGeom>
          <a:solidFill>
            <a:srgbClr val="FFFFFF"/>
          </a:solidFill>
          <a:ln cap="flat" cmpd="sng" w="19050">
            <a:solidFill>
              <a:srgbClr val="1B3139"/>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2400">
              <a:latin typeface="DM Sans"/>
              <a:ea typeface="DM Sans"/>
              <a:cs typeface="DM Sans"/>
              <a:sym typeface="DM Sans"/>
            </a:endParaRPr>
          </a:p>
        </p:txBody>
      </p:sp>
      <p:sp>
        <p:nvSpPr>
          <p:cNvPr id="3469" name="Google Shape;3469;p133"/>
          <p:cNvSpPr/>
          <p:nvPr/>
        </p:nvSpPr>
        <p:spPr>
          <a:xfrm>
            <a:off x="6208022" y="4191900"/>
            <a:ext cx="2883600" cy="2358900"/>
          </a:xfrm>
          <a:prstGeom prst="roundRect">
            <a:avLst>
              <a:gd fmla="val 16667" name="adj"/>
            </a:avLst>
          </a:prstGeom>
          <a:solidFill>
            <a:srgbClr val="FFFFFF"/>
          </a:solidFill>
          <a:ln cap="flat" cmpd="sng" w="19050">
            <a:solidFill>
              <a:srgbClr val="1B3139"/>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2400">
              <a:latin typeface="DM Sans"/>
              <a:ea typeface="DM Sans"/>
              <a:cs typeface="DM Sans"/>
              <a:sym typeface="DM Sans"/>
            </a:endParaRPr>
          </a:p>
        </p:txBody>
      </p:sp>
      <p:cxnSp>
        <p:nvCxnSpPr>
          <p:cNvPr id="3470" name="Google Shape;3470;p133"/>
          <p:cNvCxnSpPr/>
          <p:nvPr/>
        </p:nvCxnSpPr>
        <p:spPr>
          <a:xfrm>
            <a:off x="2673531" y="3409183"/>
            <a:ext cx="7018200" cy="32400"/>
          </a:xfrm>
          <a:prstGeom prst="straightConnector1">
            <a:avLst/>
          </a:prstGeom>
          <a:noFill/>
          <a:ln cap="flat" cmpd="sng" w="19050">
            <a:solidFill>
              <a:schemeClr val="dk2"/>
            </a:solidFill>
            <a:prstDash val="solid"/>
            <a:round/>
            <a:headEnd len="med" w="med" type="none"/>
            <a:tailEnd len="med" w="med" type="triangle"/>
          </a:ln>
        </p:spPr>
      </p:cxnSp>
      <p:sp>
        <p:nvSpPr>
          <p:cNvPr id="3471" name="Google Shape;3471;p133"/>
          <p:cNvSpPr txBox="1"/>
          <p:nvPr/>
        </p:nvSpPr>
        <p:spPr>
          <a:xfrm>
            <a:off x="3416445" y="195100"/>
            <a:ext cx="1654800" cy="327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Batch 1 input</a:t>
            </a:r>
            <a:endParaRPr sz="1900">
              <a:solidFill>
                <a:schemeClr val="dk2"/>
              </a:solidFill>
            </a:endParaRPr>
          </a:p>
        </p:txBody>
      </p:sp>
      <p:sp>
        <p:nvSpPr>
          <p:cNvPr id="3472" name="Google Shape;3472;p133"/>
          <p:cNvSpPr txBox="1"/>
          <p:nvPr/>
        </p:nvSpPr>
        <p:spPr>
          <a:xfrm>
            <a:off x="6681561" y="195100"/>
            <a:ext cx="1654800" cy="327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Batch 2 input</a:t>
            </a:r>
            <a:endParaRPr sz="1900">
              <a:solidFill>
                <a:schemeClr val="dk2"/>
              </a:solidFill>
            </a:endParaRPr>
          </a:p>
        </p:txBody>
      </p:sp>
      <p:sp>
        <p:nvSpPr>
          <p:cNvPr id="3473" name="Google Shape;3473;p133"/>
          <p:cNvSpPr txBox="1"/>
          <p:nvPr/>
        </p:nvSpPr>
        <p:spPr>
          <a:xfrm>
            <a:off x="3416445" y="3654400"/>
            <a:ext cx="1861500" cy="327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Batch 1 output</a:t>
            </a:r>
            <a:endParaRPr sz="1900">
              <a:solidFill>
                <a:schemeClr val="dk2"/>
              </a:solidFill>
            </a:endParaRPr>
          </a:p>
        </p:txBody>
      </p:sp>
      <p:sp>
        <p:nvSpPr>
          <p:cNvPr id="3474" name="Google Shape;3474;p133"/>
          <p:cNvSpPr txBox="1"/>
          <p:nvPr/>
        </p:nvSpPr>
        <p:spPr>
          <a:xfrm>
            <a:off x="6681561" y="3654400"/>
            <a:ext cx="1961100" cy="327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Batch 2 output</a:t>
            </a:r>
            <a:endParaRPr sz="1900">
              <a:solidFill>
                <a:schemeClr val="dk2"/>
              </a:solidFill>
            </a:endParaRPr>
          </a:p>
        </p:txBody>
      </p:sp>
      <p:sp>
        <p:nvSpPr>
          <p:cNvPr id="3475" name="Google Shape;3475;p133"/>
          <p:cNvSpPr txBox="1"/>
          <p:nvPr/>
        </p:nvSpPr>
        <p:spPr>
          <a:xfrm>
            <a:off x="3154311" y="993167"/>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8:15am → socks</a:t>
            </a:r>
            <a:endParaRPr sz="1900">
              <a:solidFill>
                <a:schemeClr val="dk2"/>
              </a:solidFill>
            </a:endParaRPr>
          </a:p>
        </p:txBody>
      </p:sp>
      <p:sp>
        <p:nvSpPr>
          <p:cNvPr id="3476" name="Google Shape;3476;p133"/>
          <p:cNvSpPr txBox="1"/>
          <p:nvPr/>
        </p:nvSpPr>
        <p:spPr>
          <a:xfrm>
            <a:off x="3154311" y="1466733"/>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8:45am → shoes</a:t>
            </a:r>
            <a:endParaRPr sz="1900">
              <a:solidFill>
                <a:schemeClr val="dk2"/>
              </a:solidFill>
            </a:endParaRPr>
          </a:p>
        </p:txBody>
      </p:sp>
      <p:sp>
        <p:nvSpPr>
          <p:cNvPr id="3477" name="Google Shape;3477;p133"/>
          <p:cNvSpPr txBox="1"/>
          <p:nvPr/>
        </p:nvSpPr>
        <p:spPr>
          <a:xfrm>
            <a:off x="3154311" y="1982133"/>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9:05am → pants</a:t>
            </a:r>
            <a:endParaRPr sz="1900">
              <a:solidFill>
                <a:schemeClr val="dk2"/>
              </a:solidFill>
            </a:endParaRPr>
          </a:p>
        </p:txBody>
      </p:sp>
      <p:sp>
        <p:nvSpPr>
          <p:cNvPr id="3478" name="Google Shape;3478;p133"/>
          <p:cNvSpPr txBox="1"/>
          <p:nvPr/>
        </p:nvSpPr>
        <p:spPr>
          <a:xfrm>
            <a:off x="6607847" y="993167"/>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8:30am → jacket</a:t>
            </a:r>
            <a:endParaRPr sz="1900">
              <a:solidFill>
                <a:schemeClr val="dk2"/>
              </a:solidFill>
            </a:endParaRPr>
          </a:p>
        </p:txBody>
      </p:sp>
      <p:sp>
        <p:nvSpPr>
          <p:cNvPr id="3479" name="Google Shape;3479;p133"/>
          <p:cNvSpPr txBox="1"/>
          <p:nvPr/>
        </p:nvSpPr>
        <p:spPr>
          <a:xfrm>
            <a:off x="3180771" y="4459033"/>
            <a:ext cx="2318100" cy="49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[8am, 9am] → 2</a:t>
            </a:r>
            <a:endParaRPr sz="1900">
              <a:solidFill>
                <a:schemeClr val="dk2"/>
              </a:solidFill>
            </a:endParaRPr>
          </a:p>
        </p:txBody>
      </p:sp>
      <p:sp>
        <p:nvSpPr>
          <p:cNvPr id="3480" name="Google Shape;3480;p133"/>
          <p:cNvSpPr txBox="1"/>
          <p:nvPr/>
        </p:nvSpPr>
        <p:spPr>
          <a:xfrm>
            <a:off x="3180771" y="4886667"/>
            <a:ext cx="2318100" cy="49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[9am, 10am] → 1</a:t>
            </a:r>
            <a:endParaRPr sz="1900">
              <a:solidFill>
                <a:schemeClr val="dk2"/>
              </a:solidFill>
            </a:endParaRPr>
          </a:p>
        </p:txBody>
      </p:sp>
      <p:sp>
        <p:nvSpPr>
          <p:cNvPr id="3481" name="Google Shape;3481;p133"/>
          <p:cNvSpPr txBox="1"/>
          <p:nvPr/>
        </p:nvSpPr>
        <p:spPr>
          <a:xfrm>
            <a:off x="6463683" y="4459033"/>
            <a:ext cx="2318100" cy="49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rgbClr val="FF5F46"/>
                </a:solidFill>
              </a:rPr>
              <a:t>[8am, 9am] → 1</a:t>
            </a:r>
            <a:endParaRPr sz="1900">
              <a:solidFill>
                <a:srgbClr val="FF5F46"/>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5" name="Shape 3485"/>
        <p:cNvGrpSpPr/>
        <p:nvPr/>
      </p:nvGrpSpPr>
      <p:grpSpPr>
        <a:xfrm>
          <a:off x="0" y="0"/>
          <a:ext cx="0" cy="0"/>
          <a:chOff x="0" y="0"/>
          <a:chExt cx="0" cy="0"/>
        </a:xfrm>
      </p:grpSpPr>
      <p:sp>
        <p:nvSpPr>
          <p:cNvPr id="3486" name="Google Shape;3486;p134"/>
          <p:cNvSpPr/>
          <p:nvPr/>
        </p:nvSpPr>
        <p:spPr>
          <a:xfrm>
            <a:off x="2908648" y="674733"/>
            <a:ext cx="2883600" cy="2358900"/>
          </a:xfrm>
          <a:prstGeom prst="roundRect">
            <a:avLst>
              <a:gd fmla="val 16667" name="adj"/>
            </a:avLst>
          </a:prstGeom>
          <a:solidFill>
            <a:srgbClr val="FFFFFF"/>
          </a:solidFill>
          <a:ln cap="flat" cmpd="sng" w="19050">
            <a:solidFill>
              <a:srgbClr val="1B3139"/>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2400">
              <a:latin typeface="DM Sans"/>
              <a:ea typeface="DM Sans"/>
              <a:cs typeface="DM Sans"/>
              <a:sym typeface="DM Sans"/>
            </a:endParaRPr>
          </a:p>
        </p:txBody>
      </p:sp>
      <p:sp>
        <p:nvSpPr>
          <p:cNvPr id="3487" name="Google Shape;3487;p134"/>
          <p:cNvSpPr/>
          <p:nvPr/>
        </p:nvSpPr>
        <p:spPr>
          <a:xfrm>
            <a:off x="6208022" y="674733"/>
            <a:ext cx="2883600" cy="2358900"/>
          </a:xfrm>
          <a:prstGeom prst="roundRect">
            <a:avLst>
              <a:gd fmla="val 16667" name="adj"/>
            </a:avLst>
          </a:prstGeom>
          <a:solidFill>
            <a:srgbClr val="FFFFFF"/>
          </a:solidFill>
          <a:ln cap="flat" cmpd="sng" w="19050">
            <a:solidFill>
              <a:srgbClr val="1B3139"/>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2400">
              <a:latin typeface="DM Sans"/>
              <a:ea typeface="DM Sans"/>
              <a:cs typeface="DM Sans"/>
              <a:sym typeface="DM Sans"/>
            </a:endParaRPr>
          </a:p>
        </p:txBody>
      </p:sp>
      <p:sp>
        <p:nvSpPr>
          <p:cNvPr id="3488" name="Google Shape;3488;p134"/>
          <p:cNvSpPr/>
          <p:nvPr/>
        </p:nvSpPr>
        <p:spPr>
          <a:xfrm>
            <a:off x="2908648" y="4191883"/>
            <a:ext cx="2883600" cy="2358900"/>
          </a:xfrm>
          <a:prstGeom prst="roundRect">
            <a:avLst>
              <a:gd fmla="val 16667" name="adj"/>
            </a:avLst>
          </a:prstGeom>
          <a:solidFill>
            <a:srgbClr val="FFFFFF"/>
          </a:solidFill>
          <a:ln cap="flat" cmpd="sng" w="19050">
            <a:solidFill>
              <a:srgbClr val="1B3139"/>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2400">
              <a:latin typeface="DM Sans"/>
              <a:ea typeface="DM Sans"/>
              <a:cs typeface="DM Sans"/>
              <a:sym typeface="DM Sans"/>
            </a:endParaRPr>
          </a:p>
        </p:txBody>
      </p:sp>
      <p:sp>
        <p:nvSpPr>
          <p:cNvPr id="3489" name="Google Shape;3489;p134"/>
          <p:cNvSpPr/>
          <p:nvPr/>
        </p:nvSpPr>
        <p:spPr>
          <a:xfrm>
            <a:off x="6208022" y="4191900"/>
            <a:ext cx="2883600" cy="2358900"/>
          </a:xfrm>
          <a:prstGeom prst="roundRect">
            <a:avLst>
              <a:gd fmla="val 16667" name="adj"/>
            </a:avLst>
          </a:prstGeom>
          <a:solidFill>
            <a:srgbClr val="FFFFFF"/>
          </a:solidFill>
          <a:ln cap="flat" cmpd="sng" w="19050">
            <a:solidFill>
              <a:srgbClr val="1B3139"/>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2400">
              <a:latin typeface="DM Sans"/>
              <a:ea typeface="DM Sans"/>
              <a:cs typeface="DM Sans"/>
              <a:sym typeface="DM Sans"/>
            </a:endParaRPr>
          </a:p>
        </p:txBody>
      </p:sp>
      <p:cxnSp>
        <p:nvCxnSpPr>
          <p:cNvPr id="3490" name="Google Shape;3490;p134"/>
          <p:cNvCxnSpPr/>
          <p:nvPr/>
        </p:nvCxnSpPr>
        <p:spPr>
          <a:xfrm>
            <a:off x="2536965" y="3424600"/>
            <a:ext cx="7115100" cy="32400"/>
          </a:xfrm>
          <a:prstGeom prst="straightConnector1">
            <a:avLst/>
          </a:prstGeom>
          <a:noFill/>
          <a:ln cap="flat" cmpd="sng" w="19050">
            <a:solidFill>
              <a:schemeClr val="dk2"/>
            </a:solidFill>
            <a:prstDash val="solid"/>
            <a:round/>
            <a:headEnd len="med" w="med" type="none"/>
            <a:tailEnd len="med" w="med" type="triangle"/>
          </a:ln>
        </p:spPr>
      </p:cxnSp>
      <p:sp>
        <p:nvSpPr>
          <p:cNvPr id="3491" name="Google Shape;3491;p134"/>
          <p:cNvSpPr txBox="1"/>
          <p:nvPr/>
        </p:nvSpPr>
        <p:spPr>
          <a:xfrm>
            <a:off x="3423143" y="195100"/>
            <a:ext cx="1654800" cy="327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Batch 1 input</a:t>
            </a:r>
            <a:endParaRPr sz="1900">
              <a:solidFill>
                <a:schemeClr val="dk2"/>
              </a:solidFill>
            </a:endParaRPr>
          </a:p>
        </p:txBody>
      </p:sp>
      <p:sp>
        <p:nvSpPr>
          <p:cNvPr id="3492" name="Google Shape;3492;p134"/>
          <p:cNvSpPr txBox="1"/>
          <p:nvPr/>
        </p:nvSpPr>
        <p:spPr>
          <a:xfrm>
            <a:off x="6681561" y="195100"/>
            <a:ext cx="1654800" cy="327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Batch 2 input</a:t>
            </a:r>
            <a:endParaRPr sz="1900">
              <a:solidFill>
                <a:schemeClr val="dk2"/>
              </a:solidFill>
            </a:endParaRPr>
          </a:p>
        </p:txBody>
      </p:sp>
      <p:sp>
        <p:nvSpPr>
          <p:cNvPr id="3493" name="Google Shape;3493;p134"/>
          <p:cNvSpPr txBox="1"/>
          <p:nvPr/>
        </p:nvSpPr>
        <p:spPr>
          <a:xfrm>
            <a:off x="3423143" y="3654383"/>
            <a:ext cx="1861500" cy="327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Batch 1 output</a:t>
            </a:r>
            <a:endParaRPr sz="1900">
              <a:solidFill>
                <a:schemeClr val="dk2"/>
              </a:solidFill>
            </a:endParaRPr>
          </a:p>
        </p:txBody>
      </p:sp>
      <p:sp>
        <p:nvSpPr>
          <p:cNvPr id="3494" name="Google Shape;3494;p134"/>
          <p:cNvSpPr txBox="1"/>
          <p:nvPr/>
        </p:nvSpPr>
        <p:spPr>
          <a:xfrm>
            <a:off x="6681561" y="3654400"/>
            <a:ext cx="1961100" cy="327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Batch 2 output</a:t>
            </a:r>
            <a:endParaRPr sz="1900">
              <a:solidFill>
                <a:schemeClr val="dk2"/>
              </a:solidFill>
            </a:endParaRPr>
          </a:p>
        </p:txBody>
      </p:sp>
      <p:sp>
        <p:nvSpPr>
          <p:cNvPr id="3495" name="Google Shape;3495;p134"/>
          <p:cNvSpPr txBox="1"/>
          <p:nvPr/>
        </p:nvSpPr>
        <p:spPr>
          <a:xfrm>
            <a:off x="3161009" y="1024000"/>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8:15am → socks</a:t>
            </a:r>
            <a:endParaRPr sz="1900">
              <a:solidFill>
                <a:schemeClr val="dk2"/>
              </a:solidFill>
            </a:endParaRPr>
          </a:p>
        </p:txBody>
      </p:sp>
      <p:sp>
        <p:nvSpPr>
          <p:cNvPr id="3496" name="Google Shape;3496;p134"/>
          <p:cNvSpPr txBox="1"/>
          <p:nvPr/>
        </p:nvSpPr>
        <p:spPr>
          <a:xfrm>
            <a:off x="3161009" y="1497567"/>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8:45am → shoes</a:t>
            </a:r>
            <a:endParaRPr sz="1900">
              <a:solidFill>
                <a:schemeClr val="dk2"/>
              </a:solidFill>
            </a:endParaRPr>
          </a:p>
        </p:txBody>
      </p:sp>
      <p:sp>
        <p:nvSpPr>
          <p:cNvPr id="3497" name="Google Shape;3497;p134"/>
          <p:cNvSpPr txBox="1"/>
          <p:nvPr/>
        </p:nvSpPr>
        <p:spPr>
          <a:xfrm>
            <a:off x="3161009" y="2012967"/>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9:05am → pants</a:t>
            </a:r>
            <a:endParaRPr sz="1900">
              <a:solidFill>
                <a:schemeClr val="dk2"/>
              </a:solidFill>
            </a:endParaRPr>
          </a:p>
        </p:txBody>
      </p:sp>
      <p:sp>
        <p:nvSpPr>
          <p:cNvPr id="3498" name="Google Shape;3498;p134"/>
          <p:cNvSpPr txBox="1"/>
          <p:nvPr/>
        </p:nvSpPr>
        <p:spPr>
          <a:xfrm>
            <a:off x="6522635" y="789967"/>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8:15am → socks</a:t>
            </a:r>
            <a:endParaRPr sz="1900">
              <a:solidFill>
                <a:schemeClr val="dk2"/>
              </a:solidFill>
            </a:endParaRPr>
          </a:p>
        </p:txBody>
      </p:sp>
      <p:sp>
        <p:nvSpPr>
          <p:cNvPr id="3499" name="Google Shape;3499;p134"/>
          <p:cNvSpPr txBox="1"/>
          <p:nvPr/>
        </p:nvSpPr>
        <p:spPr>
          <a:xfrm>
            <a:off x="6522635" y="1263533"/>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8:45am → shoes</a:t>
            </a:r>
            <a:endParaRPr sz="1900">
              <a:solidFill>
                <a:schemeClr val="dk2"/>
              </a:solidFill>
            </a:endParaRPr>
          </a:p>
        </p:txBody>
      </p:sp>
      <p:sp>
        <p:nvSpPr>
          <p:cNvPr id="3500" name="Google Shape;3500;p134"/>
          <p:cNvSpPr txBox="1"/>
          <p:nvPr/>
        </p:nvSpPr>
        <p:spPr>
          <a:xfrm>
            <a:off x="6522635" y="1778933"/>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9:05am → pants</a:t>
            </a:r>
            <a:endParaRPr sz="1900">
              <a:solidFill>
                <a:schemeClr val="dk2"/>
              </a:solidFill>
            </a:endParaRPr>
          </a:p>
        </p:txBody>
      </p:sp>
      <p:sp>
        <p:nvSpPr>
          <p:cNvPr id="3501" name="Google Shape;3501;p134"/>
          <p:cNvSpPr txBox="1"/>
          <p:nvPr/>
        </p:nvSpPr>
        <p:spPr>
          <a:xfrm>
            <a:off x="6522635" y="2482733"/>
            <a:ext cx="2179200" cy="40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8:30am → jacket</a:t>
            </a:r>
            <a:endParaRPr sz="1900">
              <a:solidFill>
                <a:schemeClr val="dk2"/>
              </a:solidFill>
            </a:endParaRPr>
          </a:p>
        </p:txBody>
      </p:sp>
      <p:sp>
        <p:nvSpPr>
          <p:cNvPr id="3502" name="Google Shape;3502;p134"/>
          <p:cNvSpPr txBox="1"/>
          <p:nvPr/>
        </p:nvSpPr>
        <p:spPr>
          <a:xfrm>
            <a:off x="3187469" y="4459017"/>
            <a:ext cx="2318100" cy="49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[8am, 9am] → 2</a:t>
            </a:r>
            <a:endParaRPr sz="1900">
              <a:solidFill>
                <a:schemeClr val="dk2"/>
              </a:solidFill>
            </a:endParaRPr>
          </a:p>
        </p:txBody>
      </p:sp>
      <p:sp>
        <p:nvSpPr>
          <p:cNvPr id="3503" name="Google Shape;3503;p134"/>
          <p:cNvSpPr txBox="1"/>
          <p:nvPr/>
        </p:nvSpPr>
        <p:spPr>
          <a:xfrm>
            <a:off x="3187469" y="4886650"/>
            <a:ext cx="2318100" cy="49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dk2"/>
                </a:solidFill>
              </a:rPr>
              <a:t>[9am, 10am] → 1</a:t>
            </a:r>
            <a:endParaRPr sz="1900">
              <a:solidFill>
                <a:schemeClr val="dk2"/>
              </a:solidFill>
            </a:endParaRPr>
          </a:p>
        </p:txBody>
      </p:sp>
      <p:sp>
        <p:nvSpPr>
          <p:cNvPr id="3504" name="Google Shape;3504;p134"/>
          <p:cNvSpPr txBox="1"/>
          <p:nvPr/>
        </p:nvSpPr>
        <p:spPr>
          <a:xfrm>
            <a:off x="6463683" y="4459033"/>
            <a:ext cx="2318100" cy="49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accent5"/>
                </a:solidFill>
              </a:rPr>
              <a:t>[8am, 9am] → 3</a:t>
            </a:r>
            <a:endParaRPr sz="1900">
              <a:solidFill>
                <a:schemeClr val="accent5"/>
              </a:solidFill>
            </a:endParaRPr>
          </a:p>
        </p:txBody>
      </p:sp>
      <p:sp>
        <p:nvSpPr>
          <p:cNvPr id="3505" name="Google Shape;3505;p134"/>
          <p:cNvSpPr txBox="1"/>
          <p:nvPr/>
        </p:nvSpPr>
        <p:spPr>
          <a:xfrm>
            <a:off x="6362108" y="4886667"/>
            <a:ext cx="2318100" cy="49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900">
                <a:solidFill>
                  <a:schemeClr val="accent5"/>
                </a:solidFill>
              </a:rPr>
              <a:t>[9am, 10am] → 1</a:t>
            </a:r>
            <a:endParaRPr sz="1900">
              <a:solidFill>
                <a:schemeClr val="accent5"/>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9" name="Shape 3509"/>
        <p:cNvGrpSpPr/>
        <p:nvPr/>
      </p:nvGrpSpPr>
      <p:grpSpPr>
        <a:xfrm>
          <a:off x="0" y="0"/>
          <a:ext cx="0" cy="0"/>
          <a:chOff x="0" y="0"/>
          <a:chExt cx="0" cy="0"/>
        </a:xfrm>
      </p:grpSpPr>
      <p:sp>
        <p:nvSpPr>
          <p:cNvPr id="3510" name="Google Shape;3510;p135"/>
          <p:cNvSpPr/>
          <p:nvPr/>
        </p:nvSpPr>
        <p:spPr>
          <a:xfrm>
            <a:off x="270299" y="1810233"/>
            <a:ext cx="4371600" cy="2676900"/>
          </a:xfrm>
          <a:prstGeom prst="roundRect">
            <a:avLst>
              <a:gd fmla="val 16667" name="adj"/>
            </a:avLst>
          </a:prstGeom>
          <a:noFill/>
          <a:ln cap="flat" cmpd="sng" w="19050">
            <a:solidFill>
              <a:srgbClr val="FF5F46"/>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p>
        </p:txBody>
      </p:sp>
      <p:sp>
        <p:nvSpPr>
          <p:cNvPr id="3511" name="Google Shape;3511;p135"/>
          <p:cNvSpPr txBox="1"/>
          <p:nvPr/>
        </p:nvSpPr>
        <p:spPr>
          <a:xfrm>
            <a:off x="270299" y="1327900"/>
            <a:ext cx="3906900" cy="5628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600">
                <a:solidFill>
                  <a:schemeClr val="dk1"/>
                </a:solidFill>
                <a:highlight>
                  <a:srgbClr val="B6D7A8"/>
                </a:highlight>
              </a:rPr>
              <a:t>Example table containing employee data</a:t>
            </a:r>
            <a:endParaRPr sz="1600">
              <a:solidFill>
                <a:schemeClr val="dk1"/>
              </a:solidFill>
              <a:highlight>
                <a:srgbClr val="B6D7A8"/>
              </a:highlight>
            </a:endParaRPr>
          </a:p>
        </p:txBody>
      </p:sp>
      <p:sp>
        <p:nvSpPr>
          <p:cNvPr id="3512" name="Google Shape;3512;p135"/>
          <p:cNvSpPr/>
          <p:nvPr/>
        </p:nvSpPr>
        <p:spPr>
          <a:xfrm>
            <a:off x="7715669" y="4562367"/>
            <a:ext cx="2153400" cy="8520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Cloud storage</a:t>
            </a:r>
            <a:endParaRPr sz="1900"/>
          </a:p>
        </p:txBody>
      </p:sp>
      <p:sp>
        <p:nvSpPr>
          <p:cNvPr id="3513" name="Google Shape;3513;p135"/>
          <p:cNvSpPr/>
          <p:nvPr/>
        </p:nvSpPr>
        <p:spPr>
          <a:xfrm>
            <a:off x="7715669" y="1038700"/>
            <a:ext cx="2153400" cy="8520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Unity Catalog</a:t>
            </a:r>
            <a:endParaRPr sz="1900"/>
          </a:p>
        </p:txBody>
      </p:sp>
      <p:sp>
        <p:nvSpPr>
          <p:cNvPr id="3514" name="Google Shape;3514;p135"/>
          <p:cNvSpPr txBox="1"/>
          <p:nvPr/>
        </p:nvSpPr>
        <p:spPr>
          <a:xfrm>
            <a:off x="503341" y="1850400"/>
            <a:ext cx="4009800" cy="2942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300">
                <a:solidFill>
                  <a:schemeClr val="dk1"/>
                </a:solidFill>
                <a:latin typeface="Courier New"/>
                <a:ea typeface="Courier New"/>
                <a:cs typeface="Courier New"/>
                <a:sym typeface="Courier New"/>
              </a:rPr>
              <a:t>id	name		age		country</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latin typeface="Courier New"/>
                <a:ea typeface="Courier New"/>
                <a:cs typeface="Courier New"/>
                <a:sym typeface="Courier New"/>
              </a:rPr>
              <a:t>1	Zach		42		UK</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500"/>
              <a:buFont typeface="Arial"/>
              <a:buNone/>
            </a:pPr>
            <a:r>
              <a:rPr b="1" lang="en" sz="1300">
                <a:solidFill>
                  <a:schemeClr val="dk1"/>
                </a:solidFill>
                <a:latin typeface="Courier New"/>
                <a:ea typeface="Courier New"/>
                <a:cs typeface="Courier New"/>
                <a:sym typeface="Courier New"/>
              </a:rPr>
              <a:t>2	Zara		33		UK</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500"/>
              <a:buFont typeface="Arial"/>
              <a:buNone/>
            </a:pPr>
            <a:r>
              <a:rPr b="1" lang="en" sz="1300">
                <a:solidFill>
                  <a:schemeClr val="dk1"/>
                </a:solidFill>
                <a:latin typeface="Courier New"/>
                <a:ea typeface="Courier New"/>
                <a:cs typeface="Courier New"/>
                <a:sym typeface="Courier New"/>
              </a:rPr>
              <a:t>3	Zee		26		NL</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500"/>
              <a:buFont typeface="Arial"/>
              <a:buNone/>
            </a:pPr>
            <a:r>
              <a:rPr b="1" lang="en" sz="1300">
                <a:solidFill>
                  <a:schemeClr val="dk1"/>
                </a:solidFill>
                <a:latin typeface="Courier New"/>
                <a:ea typeface="Courier New"/>
                <a:cs typeface="Courier New"/>
                <a:sym typeface="Courier New"/>
              </a:rPr>
              <a:t>4	Zev		51		NL</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500"/>
              <a:buFont typeface="Arial"/>
              <a:buNone/>
            </a:pPr>
            <a:r>
              <a:rPr b="1" lang="en" sz="1300">
                <a:solidFill>
                  <a:schemeClr val="dk1"/>
                </a:solidFill>
                <a:latin typeface="Courier New"/>
                <a:ea typeface="Courier New"/>
                <a:cs typeface="Courier New"/>
                <a:sym typeface="Courier New"/>
              </a:rPr>
              <a:t>5	Zoe		24		UK</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2"/>
              </a:solidFill>
              <a:latin typeface="Courier New"/>
              <a:ea typeface="Courier New"/>
              <a:cs typeface="Courier New"/>
              <a:sym typeface="Courier New"/>
            </a:endParaRPr>
          </a:p>
        </p:txBody>
      </p:sp>
      <p:cxnSp>
        <p:nvCxnSpPr>
          <p:cNvPr id="3515" name="Google Shape;3515;p135"/>
          <p:cNvCxnSpPr>
            <a:stCxn id="3510" idx="3"/>
            <a:endCxn id="3513" idx="1"/>
          </p:cNvCxnSpPr>
          <p:nvPr/>
        </p:nvCxnSpPr>
        <p:spPr>
          <a:xfrm flipH="1" rot="10800000">
            <a:off x="4641899" y="1464783"/>
            <a:ext cx="3073800" cy="1683900"/>
          </a:xfrm>
          <a:prstGeom prst="straightConnector1">
            <a:avLst/>
          </a:prstGeom>
          <a:noFill/>
          <a:ln cap="flat" cmpd="sng" w="9525">
            <a:solidFill>
              <a:schemeClr val="dk2"/>
            </a:solidFill>
            <a:prstDash val="solid"/>
            <a:round/>
            <a:headEnd len="med" w="med" type="none"/>
            <a:tailEnd len="med" w="med" type="triangle"/>
          </a:ln>
        </p:spPr>
      </p:cxnSp>
      <p:cxnSp>
        <p:nvCxnSpPr>
          <p:cNvPr id="3516" name="Google Shape;3516;p135"/>
          <p:cNvCxnSpPr>
            <a:stCxn id="3510" idx="3"/>
            <a:endCxn id="3512" idx="1"/>
          </p:cNvCxnSpPr>
          <p:nvPr/>
        </p:nvCxnSpPr>
        <p:spPr>
          <a:xfrm>
            <a:off x="4641899" y="3148683"/>
            <a:ext cx="3073800" cy="1839600"/>
          </a:xfrm>
          <a:prstGeom prst="straightConnector1">
            <a:avLst/>
          </a:prstGeom>
          <a:noFill/>
          <a:ln cap="flat" cmpd="sng" w="9525">
            <a:solidFill>
              <a:schemeClr val="dk2"/>
            </a:solidFill>
            <a:prstDash val="solid"/>
            <a:round/>
            <a:headEnd len="med" w="med" type="none"/>
            <a:tailEnd len="med" w="med" type="triangle"/>
          </a:ln>
        </p:spPr>
      </p:cxnSp>
      <p:sp>
        <p:nvSpPr>
          <p:cNvPr id="3517" name="Google Shape;3517;p135"/>
          <p:cNvSpPr txBox="1"/>
          <p:nvPr/>
        </p:nvSpPr>
        <p:spPr>
          <a:xfrm>
            <a:off x="7400348" y="588467"/>
            <a:ext cx="3190500" cy="28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dk1"/>
                </a:solidFill>
                <a:latin typeface="Courier New"/>
                <a:ea typeface="Courier New"/>
                <a:cs typeface="Courier New"/>
                <a:sym typeface="Courier New"/>
              </a:rPr>
              <a:t>prod.people_ops.employees</a:t>
            </a:r>
            <a:endParaRPr b="1" sz="1500">
              <a:solidFill>
                <a:schemeClr val="dk1"/>
              </a:solidFill>
              <a:latin typeface="Courier New"/>
              <a:ea typeface="Courier New"/>
              <a:cs typeface="Courier New"/>
              <a:sym typeface="Courier New"/>
            </a:endParaRPr>
          </a:p>
        </p:txBody>
      </p:sp>
      <p:sp>
        <p:nvSpPr>
          <p:cNvPr id="3518" name="Google Shape;3518;p135"/>
          <p:cNvSpPr txBox="1"/>
          <p:nvPr/>
        </p:nvSpPr>
        <p:spPr>
          <a:xfrm>
            <a:off x="7532915" y="4177900"/>
            <a:ext cx="2519100" cy="28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dk1"/>
                </a:solidFill>
                <a:latin typeface="Courier New"/>
                <a:ea typeface="Courier New"/>
                <a:cs typeface="Courier New"/>
                <a:sym typeface="Courier New"/>
              </a:rPr>
              <a:t>s3://path/to/bucket</a:t>
            </a:r>
            <a:endParaRPr b="1" sz="1500">
              <a:solidFill>
                <a:schemeClr val="dk1"/>
              </a:solidFill>
              <a:latin typeface="Courier New"/>
              <a:ea typeface="Courier New"/>
              <a:cs typeface="Courier New"/>
              <a:sym typeface="Courier New"/>
            </a:endParaRPr>
          </a:p>
        </p:txBody>
      </p:sp>
      <p:sp>
        <p:nvSpPr>
          <p:cNvPr id="3519" name="Google Shape;3519;p135"/>
          <p:cNvSpPr txBox="1"/>
          <p:nvPr/>
        </p:nvSpPr>
        <p:spPr>
          <a:xfrm>
            <a:off x="4778188" y="1464633"/>
            <a:ext cx="2336700" cy="948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rgbClr val="FF5F46"/>
                </a:solidFill>
              </a:rPr>
              <a:t>Metadata registered </a:t>
            </a:r>
            <a:br>
              <a:rPr b="1" lang="en" sz="1600">
                <a:solidFill>
                  <a:srgbClr val="FF5F46"/>
                </a:solidFill>
              </a:rPr>
            </a:br>
            <a:r>
              <a:rPr b="1" lang="en" sz="1600">
                <a:solidFill>
                  <a:srgbClr val="FF5F46"/>
                </a:solidFill>
              </a:rPr>
              <a:t>in Unity Catalog</a:t>
            </a:r>
            <a:endParaRPr b="1" sz="1600">
              <a:solidFill>
                <a:srgbClr val="FF5F46"/>
              </a:solidFill>
            </a:endParaRPr>
          </a:p>
        </p:txBody>
      </p:sp>
      <p:sp>
        <p:nvSpPr>
          <p:cNvPr id="3520" name="Google Shape;3520;p135"/>
          <p:cNvSpPr txBox="1"/>
          <p:nvPr/>
        </p:nvSpPr>
        <p:spPr>
          <a:xfrm>
            <a:off x="4778188" y="4076300"/>
            <a:ext cx="1837800" cy="522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rgbClr val="FF5F46"/>
                </a:solidFill>
              </a:rPr>
              <a:t>Data stored in </a:t>
            </a:r>
            <a:br>
              <a:rPr b="1" lang="en" sz="1600">
                <a:solidFill>
                  <a:srgbClr val="FF5F46"/>
                </a:solidFill>
              </a:rPr>
            </a:br>
            <a:r>
              <a:rPr b="1" lang="en" sz="1600">
                <a:solidFill>
                  <a:srgbClr val="FF5F46"/>
                </a:solidFill>
              </a:rPr>
              <a:t>cloud storage</a:t>
            </a:r>
            <a:endParaRPr b="1" sz="1600">
              <a:solidFill>
                <a:srgbClr val="FF5F46"/>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4" name="Shape 3524"/>
        <p:cNvGrpSpPr/>
        <p:nvPr/>
      </p:nvGrpSpPr>
      <p:grpSpPr>
        <a:xfrm>
          <a:off x="0" y="0"/>
          <a:ext cx="0" cy="0"/>
          <a:chOff x="0" y="0"/>
          <a:chExt cx="0" cy="0"/>
        </a:xfrm>
      </p:grpSpPr>
      <p:sp>
        <p:nvSpPr>
          <p:cNvPr id="3525" name="Google Shape;3525;p136"/>
          <p:cNvSpPr/>
          <p:nvPr/>
        </p:nvSpPr>
        <p:spPr>
          <a:xfrm>
            <a:off x="270299" y="1810233"/>
            <a:ext cx="4371600" cy="2676900"/>
          </a:xfrm>
          <a:prstGeom prst="roundRect">
            <a:avLst>
              <a:gd fmla="val 16667" name="adj"/>
            </a:avLst>
          </a:prstGeom>
          <a:noFill/>
          <a:ln cap="flat" cmpd="sng" w="19050">
            <a:solidFill>
              <a:srgbClr val="FF5F46"/>
            </a:solidFill>
            <a:prstDash val="solid"/>
            <a:round/>
            <a:headEnd len="sm" w="sm" type="none"/>
            <a:tailEnd len="sm" w="sm" type="none"/>
          </a:ln>
        </p:spPr>
        <p:txBody>
          <a:bodyPr anchorCtr="0" anchor="b" bIns="121875" lIns="121875" spcFirstLastPara="1" rIns="121875" wrap="square" tIns="121875">
            <a:noAutofit/>
          </a:bodyPr>
          <a:lstStyle/>
          <a:p>
            <a:pPr indent="0" lvl="0" marL="0" rtl="0" algn="l">
              <a:spcBef>
                <a:spcPts val="0"/>
              </a:spcBef>
              <a:spcAft>
                <a:spcPts val="0"/>
              </a:spcAft>
              <a:buNone/>
            </a:pPr>
            <a:r>
              <a:rPr lang="en" sz="1900"/>
              <a:t>CREATE VIEW IF NOT EXISTS</a:t>
            </a:r>
            <a:endParaRPr sz="1900"/>
          </a:p>
          <a:p>
            <a:pPr indent="0" lvl="0" marL="0" rtl="0" algn="l">
              <a:spcBef>
                <a:spcPts val="0"/>
              </a:spcBef>
              <a:spcAft>
                <a:spcPts val="0"/>
              </a:spcAft>
              <a:buNone/>
            </a:pPr>
            <a:r>
              <a:rPr lang="en" sz="1900"/>
              <a:t>    prod.people_ops.past_employees</a:t>
            </a:r>
            <a:endParaRPr sz="1900"/>
          </a:p>
          <a:p>
            <a:pPr indent="0" lvl="0" marL="0" rtl="0" algn="l">
              <a:spcBef>
                <a:spcPts val="0"/>
              </a:spcBef>
              <a:spcAft>
                <a:spcPts val="0"/>
              </a:spcAft>
              <a:buNone/>
            </a:pPr>
            <a:r>
              <a:rPr lang="en" sz="1900"/>
              <a:t>AS</a:t>
            </a:r>
            <a:endParaRPr sz="1900"/>
          </a:p>
          <a:p>
            <a:pPr indent="0" lvl="0" marL="0" rtl="0" algn="l">
              <a:spcBef>
                <a:spcPts val="0"/>
              </a:spcBef>
              <a:spcAft>
                <a:spcPts val="0"/>
              </a:spcAft>
              <a:buNone/>
            </a:pPr>
            <a:r>
              <a:rPr lang="en" sz="1900"/>
              <a:t>SELECT * FROM</a:t>
            </a:r>
            <a:endParaRPr sz="1900"/>
          </a:p>
          <a:p>
            <a:pPr indent="0" lvl="0" marL="0" rtl="0" algn="l">
              <a:spcBef>
                <a:spcPts val="0"/>
              </a:spcBef>
              <a:spcAft>
                <a:spcPts val="0"/>
              </a:spcAft>
              <a:buNone/>
            </a:pPr>
            <a:r>
              <a:rPr lang="en" sz="1900"/>
              <a:t>prod.people_ops.employees</a:t>
            </a:r>
            <a:endParaRPr sz="1900"/>
          </a:p>
          <a:p>
            <a:pPr indent="0" lvl="0" marL="0" rtl="0" algn="l">
              <a:spcBef>
                <a:spcPts val="0"/>
              </a:spcBef>
              <a:spcAft>
                <a:spcPts val="0"/>
              </a:spcAft>
              <a:buNone/>
            </a:pPr>
            <a:r>
              <a:rPr lang="en" sz="1900"/>
              <a:t>WHERE </a:t>
            </a:r>
            <a:endParaRPr sz="1900"/>
          </a:p>
          <a:p>
            <a:pPr indent="0" lvl="0" marL="0" rtl="0" algn="l">
              <a:spcBef>
                <a:spcPts val="0"/>
              </a:spcBef>
              <a:spcAft>
                <a:spcPts val="0"/>
              </a:spcAft>
              <a:buNone/>
            </a:pPr>
            <a:r>
              <a:rPr lang="en" sz="1900"/>
              <a:t>is_terminated = True</a:t>
            </a:r>
            <a:endParaRPr sz="1900"/>
          </a:p>
        </p:txBody>
      </p:sp>
      <p:sp>
        <p:nvSpPr>
          <p:cNvPr id="3526" name="Google Shape;3526;p136"/>
          <p:cNvSpPr txBox="1"/>
          <p:nvPr/>
        </p:nvSpPr>
        <p:spPr>
          <a:xfrm>
            <a:off x="270299" y="1327900"/>
            <a:ext cx="3906900" cy="5628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600">
                <a:solidFill>
                  <a:schemeClr val="dk1"/>
                </a:solidFill>
                <a:highlight>
                  <a:srgbClr val="B6D7A8"/>
                </a:highlight>
              </a:rPr>
              <a:t>Example regular view</a:t>
            </a:r>
            <a:endParaRPr sz="1600">
              <a:solidFill>
                <a:schemeClr val="dk1"/>
              </a:solidFill>
              <a:highlight>
                <a:srgbClr val="B6D7A8"/>
              </a:highlight>
            </a:endParaRPr>
          </a:p>
        </p:txBody>
      </p:sp>
      <p:sp>
        <p:nvSpPr>
          <p:cNvPr id="3527" name="Google Shape;3527;p136"/>
          <p:cNvSpPr/>
          <p:nvPr/>
        </p:nvSpPr>
        <p:spPr>
          <a:xfrm>
            <a:off x="7715636" y="2722633"/>
            <a:ext cx="2153400" cy="8520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Unity Catalog</a:t>
            </a:r>
            <a:endParaRPr sz="1900"/>
          </a:p>
        </p:txBody>
      </p:sp>
      <p:cxnSp>
        <p:nvCxnSpPr>
          <p:cNvPr id="3528" name="Google Shape;3528;p136"/>
          <p:cNvCxnSpPr>
            <a:stCxn id="3525" idx="3"/>
            <a:endCxn id="3527" idx="1"/>
          </p:cNvCxnSpPr>
          <p:nvPr/>
        </p:nvCxnSpPr>
        <p:spPr>
          <a:xfrm>
            <a:off x="4641899" y="3148683"/>
            <a:ext cx="3073800" cy="0"/>
          </a:xfrm>
          <a:prstGeom prst="straightConnector1">
            <a:avLst/>
          </a:prstGeom>
          <a:noFill/>
          <a:ln cap="flat" cmpd="sng" w="9525">
            <a:solidFill>
              <a:schemeClr val="dk2"/>
            </a:solidFill>
            <a:prstDash val="solid"/>
            <a:round/>
            <a:headEnd len="med" w="med" type="none"/>
            <a:tailEnd len="med" w="med" type="triangle"/>
          </a:ln>
        </p:spPr>
      </p:cxnSp>
      <p:sp>
        <p:nvSpPr>
          <p:cNvPr id="3529" name="Google Shape;3529;p136"/>
          <p:cNvSpPr txBox="1"/>
          <p:nvPr/>
        </p:nvSpPr>
        <p:spPr>
          <a:xfrm>
            <a:off x="7400348" y="2217900"/>
            <a:ext cx="3748200" cy="28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dk1"/>
                </a:solidFill>
                <a:latin typeface="Courier New"/>
                <a:ea typeface="Courier New"/>
                <a:cs typeface="Courier New"/>
                <a:sym typeface="Courier New"/>
              </a:rPr>
              <a:t>prod.people_ops.past_employees</a:t>
            </a:r>
            <a:endParaRPr b="1" sz="1500">
              <a:solidFill>
                <a:schemeClr val="dk1"/>
              </a:solidFill>
              <a:latin typeface="Courier New"/>
              <a:ea typeface="Courier New"/>
              <a:cs typeface="Courier New"/>
              <a:sym typeface="Courier New"/>
            </a:endParaRPr>
          </a:p>
        </p:txBody>
      </p:sp>
      <p:sp>
        <p:nvSpPr>
          <p:cNvPr id="3530" name="Google Shape;3530;p136"/>
          <p:cNvSpPr txBox="1"/>
          <p:nvPr/>
        </p:nvSpPr>
        <p:spPr>
          <a:xfrm>
            <a:off x="4852869" y="2303333"/>
            <a:ext cx="2336700" cy="693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rgbClr val="FF5F46"/>
                </a:solidFill>
              </a:rPr>
              <a:t>Metadata registered </a:t>
            </a:r>
            <a:br>
              <a:rPr b="1" lang="en" sz="1600">
                <a:solidFill>
                  <a:srgbClr val="FF5F46"/>
                </a:solidFill>
              </a:rPr>
            </a:br>
            <a:r>
              <a:rPr b="1" lang="en" sz="1600">
                <a:solidFill>
                  <a:srgbClr val="FF5F46"/>
                </a:solidFill>
              </a:rPr>
              <a:t>in Unity Catalog</a:t>
            </a:r>
            <a:endParaRPr b="1" sz="1600">
              <a:solidFill>
                <a:srgbClr val="FF5F46"/>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4" name="Shape 3534"/>
        <p:cNvGrpSpPr/>
        <p:nvPr/>
      </p:nvGrpSpPr>
      <p:grpSpPr>
        <a:xfrm>
          <a:off x="0" y="0"/>
          <a:ext cx="0" cy="0"/>
          <a:chOff x="0" y="0"/>
          <a:chExt cx="0" cy="0"/>
        </a:xfrm>
      </p:grpSpPr>
      <p:sp>
        <p:nvSpPr>
          <p:cNvPr id="3535" name="Google Shape;3535;p137"/>
          <p:cNvSpPr/>
          <p:nvPr/>
        </p:nvSpPr>
        <p:spPr>
          <a:xfrm>
            <a:off x="270299" y="1810233"/>
            <a:ext cx="5583900" cy="2676900"/>
          </a:xfrm>
          <a:prstGeom prst="roundRect">
            <a:avLst>
              <a:gd fmla="val 16667" name="adj"/>
            </a:avLst>
          </a:prstGeom>
          <a:noFill/>
          <a:ln cap="flat" cmpd="sng" w="19050">
            <a:solidFill>
              <a:srgbClr val="FF5F46"/>
            </a:solidFill>
            <a:prstDash val="solid"/>
            <a:round/>
            <a:headEnd len="sm" w="sm" type="none"/>
            <a:tailEnd len="sm" w="sm" type="none"/>
          </a:ln>
        </p:spPr>
        <p:txBody>
          <a:bodyPr anchorCtr="0" anchor="b" bIns="121875" lIns="121875" spcFirstLastPara="1" rIns="121875" wrap="square" tIns="121875">
            <a:noAutofit/>
          </a:bodyPr>
          <a:lstStyle/>
          <a:p>
            <a:pPr indent="0" lvl="0" marL="0" rtl="0" algn="l">
              <a:spcBef>
                <a:spcPts val="0"/>
              </a:spcBef>
              <a:spcAft>
                <a:spcPts val="0"/>
              </a:spcAft>
              <a:buClr>
                <a:schemeClr val="dk1"/>
              </a:buClr>
              <a:buSzPts val="1500"/>
              <a:buFont typeface="Arial"/>
              <a:buNone/>
            </a:pPr>
            <a:r>
              <a:rPr lang="en" sz="1900">
                <a:solidFill>
                  <a:schemeClr val="dk1"/>
                </a:solidFill>
              </a:rPr>
              <a:t>CREATE OR REPLACE MATERIALIZED VIEW</a:t>
            </a:r>
            <a:endParaRPr sz="1900">
              <a:solidFill>
                <a:schemeClr val="dk1"/>
              </a:solidFill>
            </a:endParaRPr>
          </a:p>
          <a:p>
            <a:pPr indent="0" lvl="0" marL="0" rtl="0" algn="l">
              <a:spcBef>
                <a:spcPts val="0"/>
              </a:spcBef>
              <a:spcAft>
                <a:spcPts val="0"/>
              </a:spcAft>
              <a:buClr>
                <a:schemeClr val="dk1"/>
              </a:buClr>
              <a:buSzPts val="1500"/>
              <a:buFont typeface="Arial"/>
              <a:buNone/>
            </a:pPr>
            <a:r>
              <a:rPr lang="en" sz="1900">
                <a:solidFill>
                  <a:schemeClr val="dk1"/>
                </a:solidFill>
              </a:rPr>
              <a:t>    prod.people_ops.past_employees</a:t>
            </a:r>
            <a:endParaRPr sz="1900">
              <a:solidFill>
                <a:schemeClr val="dk1"/>
              </a:solidFill>
            </a:endParaRPr>
          </a:p>
          <a:p>
            <a:pPr indent="0" lvl="0" marL="0" rtl="0" algn="l">
              <a:spcBef>
                <a:spcPts val="0"/>
              </a:spcBef>
              <a:spcAft>
                <a:spcPts val="0"/>
              </a:spcAft>
              <a:buClr>
                <a:schemeClr val="dk1"/>
              </a:buClr>
              <a:buSzPts val="1500"/>
              <a:buFont typeface="Arial"/>
              <a:buNone/>
            </a:pPr>
            <a:r>
              <a:rPr lang="en" sz="1900">
                <a:solidFill>
                  <a:schemeClr val="dk1"/>
                </a:solidFill>
              </a:rPr>
              <a:t>AS</a:t>
            </a:r>
            <a:endParaRPr sz="1900">
              <a:solidFill>
                <a:schemeClr val="dk1"/>
              </a:solidFill>
            </a:endParaRPr>
          </a:p>
          <a:p>
            <a:pPr indent="0" lvl="0" marL="0" rtl="0" algn="l">
              <a:spcBef>
                <a:spcPts val="0"/>
              </a:spcBef>
              <a:spcAft>
                <a:spcPts val="0"/>
              </a:spcAft>
              <a:buClr>
                <a:schemeClr val="dk1"/>
              </a:buClr>
              <a:buSzPts val="1500"/>
              <a:buFont typeface="Arial"/>
              <a:buNone/>
            </a:pPr>
            <a:r>
              <a:rPr lang="en" sz="1900">
                <a:solidFill>
                  <a:schemeClr val="dk1"/>
                </a:solidFill>
              </a:rPr>
              <a:t>SELECT * FROM</a:t>
            </a:r>
            <a:endParaRPr sz="1900">
              <a:solidFill>
                <a:schemeClr val="dk1"/>
              </a:solidFill>
            </a:endParaRPr>
          </a:p>
          <a:p>
            <a:pPr indent="0" lvl="0" marL="0" rtl="0" algn="l">
              <a:spcBef>
                <a:spcPts val="0"/>
              </a:spcBef>
              <a:spcAft>
                <a:spcPts val="0"/>
              </a:spcAft>
              <a:buClr>
                <a:schemeClr val="dk1"/>
              </a:buClr>
              <a:buSzPts val="1500"/>
              <a:buFont typeface="Arial"/>
              <a:buNone/>
            </a:pPr>
            <a:r>
              <a:rPr lang="en" sz="1900">
                <a:solidFill>
                  <a:schemeClr val="dk1"/>
                </a:solidFill>
              </a:rPr>
              <a:t>prod.people_ops.employees</a:t>
            </a:r>
            <a:endParaRPr sz="1900">
              <a:solidFill>
                <a:schemeClr val="dk1"/>
              </a:solidFill>
            </a:endParaRPr>
          </a:p>
          <a:p>
            <a:pPr indent="0" lvl="0" marL="0" rtl="0" algn="l">
              <a:spcBef>
                <a:spcPts val="0"/>
              </a:spcBef>
              <a:spcAft>
                <a:spcPts val="0"/>
              </a:spcAft>
              <a:buClr>
                <a:schemeClr val="dk1"/>
              </a:buClr>
              <a:buSzPts val="1500"/>
              <a:buFont typeface="Arial"/>
              <a:buNone/>
            </a:pPr>
            <a:r>
              <a:rPr lang="en" sz="1900">
                <a:solidFill>
                  <a:schemeClr val="dk1"/>
                </a:solidFill>
              </a:rPr>
              <a:t>WHERE </a:t>
            </a:r>
            <a:endParaRPr sz="1900">
              <a:solidFill>
                <a:schemeClr val="dk1"/>
              </a:solidFill>
            </a:endParaRPr>
          </a:p>
          <a:p>
            <a:pPr indent="0" lvl="0" marL="0" rtl="0" algn="l">
              <a:spcBef>
                <a:spcPts val="0"/>
              </a:spcBef>
              <a:spcAft>
                <a:spcPts val="0"/>
              </a:spcAft>
              <a:buClr>
                <a:schemeClr val="dk1"/>
              </a:buClr>
              <a:buSzPts val="1500"/>
              <a:buFont typeface="Arial"/>
              <a:buNone/>
            </a:pPr>
            <a:r>
              <a:rPr lang="en" sz="1900">
                <a:solidFill>
                  <a:schemeClr val="dk1"/>
                </a:solidFill>
              </a:rPr>
              <a:t>is_terminated = True</a:t>
            </a:r>
            <a:endParaRPr sz="1900">
              <a:solidFill>
                <a:schemeClr val="dk1"/>
              </a:solidFill>
            </a:endParaRPr>
          </a:p>
        </p:txBody>
      </p:sp>
      <p:sp>
        <p:nvSpPr>
          <p:cNvPr id="3536" name="Google Shape;3536;p137"/>
          <p:cNvSpPr txBox="1"/>
          <p:nvPr/>
        </p:nvSpPr>
        <p:spPr>
          <a:xfrm>
            <a:off x="270299" y="1327900"/>
            <a:ext cx="3906900" cy="5628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600">
                <a:solidFill>
                  <a:schemeClr val="dk1"/>
                </a:solidFill>
                <a:highlight>
                  <a:srgbClr val="B6D7A8"/>
                </a:highlight>
              </a:rPr>
              <a:t>Example materialized view</a:t>
            </a:r>
            <a:endParaRPr sz="1600">
              <a:solidFill>
                <a:schemeClr val="dk1"/>
              </a:solidFill>
              <a:highlight>
                <a:srgbClr val="B6D7A8"/>
              </a:highlight>
            </a:endParaRPr>
          </a:p>
        </p:txBody>
      </p:sp>
      <p:sp>
        <p:nvSpPr>
          <p:cNvPr id="3537" name="Google Shape;3537;p137"/>
          <p:cNvSpPr/>
          <p:nvPr/>
        </p:nvSpPr>
        <p:spPr>
          <a:xfrm>
            <a:off x="8731415" y="4562367"/>
            <a:ext cx="2153400" cy="8520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Cloud storage</a:t>
            </a:r>
            <a:endParaRPr sz="1900"/>
          </a:p>
        </p:txBody>
      </p:sp>
      <p:sp>
        <p:nvSpPr>
          <p:cNvPr id="3538" name="Google Shape;3538;p137"/>
          <p:cNvSpPr/>
          <p:nvPr/>
        </p:nvSpPr>
        <p:spPr>
          <a:xfrm>
            <a:off x="8731415" y="1038700"/>
            <a:ext cx="2153400" cy="8520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900"/>
              <a:t>Unity Catalog</a:t>
            </a:r>
            <a:endParaRPr sz="1900"/>
          </a:p>
        </p:txBody>
      </p:sp>
      <p:cxnSp>
        <p:nvCxnSpPr>
          <p:cNvPr id="3539" name="Google Shape;3539;p137"/>
          <p:cNvCxnSpPr>
            <a:stCxn id="3535" idx="3"/>
            <a:endCxn id="3538" idx="1"/>
          </p:cNvCxnSpPr>
          <p:nvPr/>
        </p:nvCxnSpPr>
        <p:spPr>
          <a:xfrm flipH="1" rot="10800000">
            <a:off x="5854199" y="1464783"/>
            <a:ext cx="2877300" cy="1683900"/>
          </a:xfrm>
          <a:prstGeom prst="straightConnector1">
            <a:avLst/>
          </a:prstGeom>
          <a:noFill/>
          <a:ln cap="flat" cmpd="sng" w="9525">
            <a:solidFill>
              <a:schemeClr val="dk2"/>
            </a:solidFill>
            <a:prstDash val="solid"/>
            <a:round/>
            <a:headEnd len="med" w="med" type="none"/>
            <a:tailEnd len="med" w="med" type="triangle"/>
          </a:ln>
        </p:spPr>
      </p:cxnSp>
      <p:cxnSp>
        <p:nvCxnSpPr>
          <p:cNvPr id="3540" name="Google Shape;3540;p137"/>
          <p:cNvCxnSpPr>
            <a:stCxn id="3535" idx="3"/>
            <a:endCxn id="3537" idx="1"/>
          </p:cNvCxnSpPr>
          <p:nvPr/>
        </p:nvCxnSpPr>
        <p:spPr>
          <a:xfrm>
            <a:off x="5854199" y="3148683"/>
            <a:ext cx="2877300" cy="1839600"/>
          </a:xfrm>
          <a:prstGeom prst="straightConnector1">
            <a:avLst/>
          </a:prstGeom>
          <a:noFill/>
          <a:ln cap="flat" cmpd="sng" w="9525">
            <a:solidFill>
              <a:schemeClr val="dk2"/>
            </a:solidFill>
            <a:prstDash val="solid"/>
            <a:round/>
            <a:headEnd len="med" w="med" type="none"/>
            <a:tailEnd len="med" w="med" type="triangle"/>
          </a:ln>
        </p:spPr>
      </p:cxnSp>
      <p:sp>
        <p:nvSpPr>
          <p:cNvPr id="3541" name="Google Shape;3541;p137"/>
          <p:cNvSpPr txBox="1"/>
          <p:nvPr/>
        </p:nvSpPr>
        <p:spPr>
          <a:xfrm>
            <a:off x="8416094" y="588467"/>
            <a:ext cx="3787800" cy="28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dk1"/>
                </a:solidFill>
                <a:latin typeface="Courier New"/>
                <a:ea typeface="Courier New"/>
                <a:cs typeface="Courier New"/>
                <a:sym typeface="Courier New"/>
              </a:rPr>
              <a:t>prod.people_ops.past_employees</a:t>
            </a:r>
            <a:endParaRPr b="1" sz="1500">
              <a:solidFill>
                <a:schemeClr val="dk1"/>
              </a:solidFill>
              <a:latin typeface="Courier New"/>
              <a:ea typeface="Courier New"/>
              <a:cs typeface="Courier New"/>
              <a:sym typeface="Courier New"/>
            </a:endParaRPr>
          </a:p>
        </p:txBody>
      </p:sp>
      <p:sp>
        <p:nvSpPr>
          <p:cNvPr id="3542" name="Google Shape;3542;p137"/>
          <p:cNvSpPr txBox="1"/>
          <p:nvPr/>
        </p:nvSpPr>
        <p:spPr>
          <a:xfrm>
            <a:off x="8548661" y="4177900"/>
            <a:ext cx="2519100" cy="2892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dk1"/>
                </a:solidFill>
                <a:latin typeface="Courier New"/>
                <a:ea typeface="Courier New"/>
                <a:cs typeface="Courier New"/>
                <a:sym typeface="Courier New"/>
              </a:rPr>
              <a:t>s3://path/to/bucket</a:t>
            </a:r>
            <a:endParaRPr b="1" sz="1500">
              <a:solidFill>
                <a:schemeClr val="dk1"/>
              </a:solidFill>
              <a:latin typeface="Courier New"/>
              <a:ea typeface="Courier New"/>
              <a:cs typeface="Courier New"/>
              <a:sym typeface="Courier New"/>
            </a:endParaRPr>
          </a:p>
        </p:txBody>
      </p:sp>
      <p:sp>
        <p:nvSpPr>
          <p:cNvPr id="3543" name="Google Shape;3543;p137"/>
          <p:cNvSpPr txBox="1"/>
          <p:nvPr/>
        </p:nvSpPr>
        <p:spPr>
          <a:xfrm>
            <a:off x="5907305" y="1464617"/>
            <a:ext cx="2336700" cy="948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rgbClr val="FF5F46"/>
                </a:solidFill>
              </a:rPr>
              <a:t>Metadata registered </a:t>
            </a:r>
            <a:br>
              <a:rPr b="1" lang="en" sz="1600">
                <a:solidFill>
                  <a:srgbClr val="FF5F46"/>
                </a:solidFill>
              </a:rPr>
            </a:br>
            <a:r>
              <a:rPr b="1" lang="en" sz="1600">
                <a:solidFill>
                  <a:srgbClr val="FF5F46"/>
                </a:solidFill>
              </a:rPr>
              <a:t>in Unity Catalog</a:t>
            </a:r>
            <a:endParaRPr b="1" sz="1600">
              <a:solidFill>
                <a:srgbClr val="FF5F46"/>
              </a:solidFill>
            </a:endParaRPr>
          </a:p>
        </p:txBody>
      </p:sp>
      <p:sp>
        <p:nvSpPr>
          <p:cNvPr id="3544" name="Google Shape;3544;p137"/>
          <p:cNvSpPr txBox="1"/>
          <p:nvPr/>
        </p:nvSpPr>
        <p:spPr>
          <a:xfrm>
            <a:off x="6094458" y="4252000"/>
            <a:ext cx="1837800" cy="522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rgbClr val="FF5F46"/>
                </a:solidFill>
              </a:rPr>
              <a:t>Data stored in </a:t>
            </a:r>
            <a:br>
              <a:rPr b="1" lang="en" sz="1600">
                <a:solidFill>
                  <a:srgbClr val="FF5F46"/>
                </a:solidFill>
              </a:rPr>
            </a:br>
            <a:r>
              <a:rPr b="1" lang="en" sz="1600">
                <a:solidFill>
                  <a:srgbClr val="FF5F46"/>
                </a:solidFill>
              </a:rPr>
              <a:t>cloud storage</a:t>
            </a:r>
            <a:endParaRPr b="1" sz="1600">
              <a:solidFill>
                <a:srgbClr val="FF5F46"/>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8" name="Shape 3548"/>
        <p:cNvGrpSpPr/>
        <p:nvPr/>
      </p:nvGrpSpPr>
      <p:grpSpPr>
        <a:xfrm>
          <a:off x="0" y="0"/>
          <a:ext cx="0" cy="0"/>
          <a:chOff x="0" y="0"/>
          <a:chExt cx="0" cy="0"/>
        </a:xfrm>
      </p:grpSpPr>
      <p:sp>
        <p:nvSpPr>
          <p:cNvPr id="3549" name="Google Shape;3549;p138"/>
          <p:cNvSpPr/>
          <p:nvPr/>
        </p:nvSpPr>
        <p:spPr>
          <a:xfrm>
            <a:off x="3862434" y="2037933"/>
            <a:ext cx="2840100" cy="9852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clean_customers</a:t>
            </a:r>
            <a:endParaRPr b="1" sz="1600">
              <a:latin typeface="Courier New"/>
              <a:ea typeface="Courier New"/>
              <a:cs typeface="Courier New"/>
              <a:sym typeface="Courier New"/>
            </a:endParaRPr>
          </a:p>
        </p:txBody>
      </p:sp>
      <p:sp>
        <p:nvSpPr>
          <p:cNvPr id="3550" name="Google Shape;3550;p138"/>
          <p:cNvSpPr/>
          <p:nvPr/>
        </p:nvSpPr>
        <p:spPr>
          <a:xfrm>
            <a:off x="3862434" y="3340167"/>
            <a:ext cx="2791800" cy="9852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clean_transactions</a:t>
            </a:r>
            <a:endParaRPr b="1" sz="1600">
              <a:latin typeface="Courier New"/>
              <a:ea typeface="Courier New"/>
              <a:cs typeface="Courier New"/>
              <a:sym typeface="Courier New"/>
            </a:endParaRPr>
          </a:p>
        </p:txBody>
      </p:sp>
      <p:sp>
        <p:nvSpPr>
          <p:cNvPr id="3551" name="Google Shape;3551;p138"/>
          <p:cNvSpPr/>
          <p:nvPr/>
        </p:nvSpPr>
        <p:spPr>
          <a:xfrm>
            <a:off x="8230141" y="2697500"/>
            <a:ext cx="2791800" cy="9852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sales_report</a:t>
            </a:r>
            <a:endParaRPr b="1" sz="1600">
              <a:latin typeface="Courier New"/>
              <a:ea typeface="Courier New"/>
              <a:cs typeface="Courier New"/>
              <a:sym typeface="Courier New"/>
            </a:endParaRPr>
          </a:p>
        </p:txBody>
      </p:sp>
      <p:cxnSp>
        <p:nvCxnSpPr>
          <p:cNvPr id="3552" name="Google Shape;3552;p138"/>
          <p:cNvCxnSpPr>
            <a:stCxn id="3549" idx="3"/>
            <a:endCxn id="3551" idx="1"/>
          </p:cNvCxnSpPr>
          <p:nvPr/>
        </p:nvCxnSpPr>
        <p:spPr>
          <a:xfrm>
            <a:off x="6702534" y="2530533"/>
            <a:ext cx="1527600" cy="659700"/>
          </a:xfrm>
          <a:prstGeom prst="straightConnector1">
            <a:avLst/>
          </a:prstGeom>
          <a:noFill/>
          <a:ln cap="flat" cmpd="sng" w="9525">
            <a:solidFill>
              <a:schemeClr val="dk2"/>
            </a:solidFill>
            <a:prstDash val="solid"/>
            <a:round/>
            <a:headEnd len="med" w="med" type="none"/>
            <a:tailEnd len="med" w="med" type="triangle"/>
          </a:ln>
        </p:spPr>
      </p:cxnSp>
      <p:cxnSp>
        <p:nvCxnSpPr>
          <p:cNvPr id="3553" name="Google Shape;3553;p138"/>
          <p:cNvCxnSpPr>
            <a:stCxn id="3550" idx="3"/>
            <a:endCxn id="3551" idx="1"/>
          </p:cNvCxnSpPr>
          <p:nvPr/>
        </p:nvCxnSpPr>
        <p:spPr>
          <a:xfrm flipH="1" rot="10800000">
            <a:off x="6654234" y="3190167"/>
            <a:ext cx="1575900" cy="642600"/>
          </a:xfrm>
          <a:prstGeom prst="straightConnector1">
            <a:avLst/>
          </a:prstGeom>
          <a:noFill/>
          <a:ln cap="flat" cmpd="sng" w="9525">
            <a:solidFill>
              <a:schemeClr val="dk2"/>
            </a:solidFill>
            <a:prstDash val="solid"/>
            <a:round/>
            <a:headEnd len="med" w="med" type="none"/>
            <a:tailEnd len="med" w="med" type="triangle"/>
          </a:ln>
        </p:spPr>
      </p:cxnSp>
      <p:sp>
        <p:nvSpPr>
          <p:cNvPr id="3554" name="Google Shape;3554;p138"/>
          <p:cNvSpPr/>
          <p:nvPr/>
        </p:nvSpPr>
        <p:spPr>
          <a:xfrm>
            <a:off x="5842605" y="2863200"/>
            <a:ext cx="972600" cy="3267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600">
                <a:solidFill>
                  <a:schemeClr val="lt1"/>
                </a:solidFill>
              </a:rPr>
              <a:t>Table</a:t>
            </a:r>
            <a:endParaRPr b="1" sz="1600">
              <a:solidFill>
                <a:schemeClr val="lt1"/>
              </a:solidFill>
            </a:endParaRPr>
          </a:p>
        </p:txBody>
      </p:sp>
      <p:sp>
        <p:nvSpPr>
          <p:cNvPr id="3555" name="Google Shape;3555;p138"/>
          <p:cNvSpPr/>
          <p:nvPr/>
        </p:nvSpPr>
        <p:spPr>
          <a:xfrm>
            <a:off x="5842605" y="4183667"/>
            <a:ext cx="972600" cy="3267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600">
                <a:solidFill>
                  <a:schemeClr val="lt1"/>
                </a:solidFill>
              </a:rPr>
              <a:t>Table</a:t>
            </a:r>
            <a:endParaRPr b="1" sz="1600">
              <a:solidFill>
                <a:schemeClr val="lt1"/>
              </a:solidFill>
            </a:endParaRPr>
          </a:p>
        </p:txBody>
      </p:sp>
      <p:sp>
        <p:nvSpPr>
          <p:cNvPr id="3556" name="Google Shape;3556;p138"/>
          <p:cNvSpPr/>
          <p:nvPr/>
        </p:nvSpPr>
        <p:spPr>
          <a:xfrm>
            <a:off x="9846769" y="3478567"/>
            <a:ext cx="1966800" cy="3267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600">
                <a:solidFill>
                  <a:schemeClr val="lt1"/>
                </a:solidFill>
              </a:rPr>
              <a:t>Materialized view</a:t>
            </a:r>
            <a:endParaRPr b="1" sz="1600">
              <a:solidFill>
                <a:schemeClr val="lt1"/>
              </a:solidFill>
            </a:endParaRPr>
          </a:p>
        </p:txBody>
      </p:sp>
      <p:sp>
        <p:nvSpPr>
          <p:cNvPr id="3557" name="Google Shape;3557;p138"/>
          <p:cNvSpPr txBox="1"/>
          <p:nvPr/>
        </p:nvSpPr>
        <p:spPr>
          <a:xfrm>
            <a:off x="65017" y="2070733"/>
            <a:ext cx="3182400" cy="91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dk2"/>
                </a:solidFill>
              </a:rPr>
              <a:t>Input change:</a:t>
            </a:r>
            <a:br>
              <a:rPr lang="en" sz="1500">
                <a:solidFill>
                  <a:schemeClr val="dk2"/>
                </a:solidFill>
              </a:rPr>
            </a:br>
            <a:r>
              <a:rPr lang="en" sz="1500">
                <a:solidFill>
                  <a:schemeClr val="dk2"/>
                </a:solidFill>
              </a:rPr>
              <a:t>200 rows </a:t>
            </a:r>
            <a:r>
              <a:rPr b="1" lang="en" sz="1500">
                <a:solidFill>
                  <a:schemeClr val="dk2"/>
                </a:solidFill>
              </a:rPr>
              <a:t>INSERT</a:t>
            </a:r>
            <a:r>
              <a:rPr lang="en" sz="1500">
                <a:solidFill>
                  <a:schemeClr val="dk2"/>
                </a:solidFill>
              </a:rPr>
              <a:t>ed for customers from the NL, UK, and USA.</a:t>
            </a:r>
            <a:endParaRPr sz="1500">
              <a:solidFill>
                <a:schemeClr val="dk2"/>
              </a:solidFill>
            </a:endParaRPr>
          </a:p>
        </p:txBody>
      </p:sp>
      <p:sp>
        <p:nvSpPr>
          <p:cNvPr id="3558" name="Google Shape;3558;p138"/>
          <p:cNvSpPr txBox="1"/>
          <p:nvPr/>
        </p:nvSpPr>
        <p:spPr>
          <a:xfrm>
            <a:off x="8175588" y="1686467"/>
            <a:ext cx="2625300" cy="91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dk2"/>
                </a:solidFill>
              </a:rPr>
              <a:t>Incremental update:</a:t>
            </a:r>
            <a:br>
              <a:rPr lang="en" sz="1500">
                <a:solidFill>
                  <a:schemeClr val="dk2"/>
                </a:solidFill>
              </a:rPr>
            </a:br>
            <a:r>
              <a:rPr lang="en" sz="1500">
                <a:solidFill>
                  <a:schemeClr val="dk2"/>
                </a:solidFill>
              </a:rPr>
              <a:t>Only 3 rows </a:t>
            </a:r>
            <a:r>
              <a:rPr b="1" lang="en" sz="1500">
                <a:solidFill>
                  <a:schemeClr val="dk2"/>
                </a:solidFill>
              </a:rPr>
              <a:t>UPDATE</a:t>
            </a:r>
            <a:r>
              <a:rPr lang="en" sz="1500">
                <a:solidFill>
                  <a:schemeClr val="dk2"/>
                </a:solidFill>
              </a:rPr>
              <a:t>d </a:t>
            </a:r>
            <a:br>
              <a:rPr lang="en" sz="1500">
                <a:solidFill>
                  <a:schemeClr val="dk2"/>
                </a:solidFill>
              </a:rPr>
            </a:br>
            <a:r>
              <a:rPr lang="en" sz="1500">
                <a:solidFill>
                  <a:schemeClr val="dk2"/>
                </a:solidFill>
              </a:rPr>
              <a:t>for NL, UK, and USA.</a:t>
            </a:r>
            <a:endParaRPr sz="1500">
              <a:solidFill>
                <a:schemeClr val="dk2"/>
              </a:solidFill>
            </a:endParaRPr>
          </a:p>
        </p:txBody>
      </p:sp>
      <p:sp>
        <p:nvSpPr>
          <p:cNvPr id="3559" name="Google Shape;3559;p138"/>
          <p:cNvSpPr txBox="1"/>
          <p:nvPr/>
        </p:nvSpPr>
        <p:spPr>
          <a:xfrm>
            <a:off x="65017" y="3372967"/>
            <a:ext cx="3182400" cy="919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500">
                <a:solidFill>
                  <a:schemeClr val="dk2"/>
                </a:solidFill>
              </a:rPr>
              <a:t>Input change:</a:t>
            </a:r>
            <a:br>
              <a:rPr lang="en" sz="1500">
                <a:solidFill>
                  <a:schemeClr val="dk2"/>
                </a:solidFill>
              </a:rPr>
            </a:br>
            <a:r>
              <a:rPr lang="en" sz="1500">
                <a:solidFill>
                  <a:schemeClr val="dk2"/>
                </a:solidFill>
              </a:rPr>
              <a:t>5000 rows </a:t>
            </a:r>
            <a:r>
              <a:rPr b="1" lang="en" sz="1500">
                <a:solidFill>
                  <a:schemeClr val="dk2"/>
                </a:solidFill>
              </a:rPr>
              <a:t>UPDATE</a:t>
            </a:r>
            <a:r>
              <a:rPr lang="en" sz="1500">
                <a:solidFill>
                  <a:schemeClr val="dk2"/>
                </a:solidFill>
              </a:rPr>
              <a:t>d for those customers’ transactions.</a:t>
            </a:r>
            <a:endParaRPr sz="1500">
              <a:solidFill>
                <a:schemeClr val="dk2"/>
              </a:solidFill>
            </a:endParaRPr>
          </a:p>
        </p:txBody>
      </p:sp>
      <p:cxnSp>
        <p:nvCxnSpPr>
          <p:cNvPr id="3560" name="Google Shape;3560;p138"/>
          <p:cNvCxnSpPr>
            <a:stCxn id="3557" idx="3"/>
            <a:endCxn id="3549" idx="1"/>
          </p:cNvCxnSpPr>
          <p:nvPr/>
        </p:nvCxnSpPr>
        <p:spPr>
          <a:xfrm>
            <a:off x="3247417" y="2530483"/>
            <a:ext cx="615000" cy="0"/>
          </a:xfrm>
          <a:prstGeom prst="straightConnector1">
            <a:avLst/>
          </a:prstGeom>
          <a:noFill/>
          <a:ln cap="flat" cmpd="sng" w="9525">
            <a:solidFill>
              <a:schemeClr val="dk2"/>
            </a:solidFill>
            <a:prstDash val="solid"/>
            <a:round/>
            <a:headEnd len="med" w="med" type="none"/>
            <a:tailEnd len="med" w="med" type="triangle"/>
          </a:ln>
        </p:spPr>
      </p:cxnSp>
      <p:cxnSp>
        <p:nvCxnSpPr>
          <p:cNvPr id="3561" name="Google Shape;3561;p138"/>
          <p:cNvCxnSpPr>
            <a:stCxn id="3559" idx="3"/>
            <a:endCxn id="3550" idx="1"/>
          </p:cNvCxnSpPr>
          <p:nvPr/>
        </p:nvCxnSpPr>
        <p:spPr>
          <a:xfrm>
            <a:off x="3247417" y="3832717"/>
            <a:ext cx="615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5" name="Shape 3565"/>
        <p:cNvGrpSpPr/>
        <p:nvPr/>
      </p:nvGrpSpPr>
      <p:grpSpPr>
        <a:xfrm>
          <a:off x="0" y="0"/>
          <a:ext cx="0" cy="0"/>
          <a:chOff x="0" y="0"/>
          <a:chExt cx="0" cy="0"/>
        </a:xfrm>
      </p:grpSpPr>
      <p:sp>
        <p:nvSpPr>
          <p:cNvPr id="3566" name="Google Shape;3566;p139"/>
          <p:cNvSpPr/>
          <p:nvPr/>
        </p:nvSpPr>
        <p:spPr>
          <a:xfrm>
            <a:off x="2129134" y="2794767"/>
            <a:ext cx="2354700" cy="651300"/>
          </a:xfrm>
          <a:prstGeom prst="roundRect">
            <a:avLst>
              <a:gd fmla="val 16667" name="adj"/>
            </a:avLst>
          </a:prstGeom>
          <a:solidFill>
            <a:schemeClr val="accent5"/>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solidFill>
                  <a:schemeClr val="lt1"/>
                </a:solidFill>
              </a:rPr>
              <a:t>Upstream table(s)</a:t>
            </a:r>
            <a:endParaRPr b="1" sz="1600">
              <a:solidFill>
                <a:schemeClr val="lt1"/>
              </a:solidFill>
            </a:endParaRPr>
          </a:p>
        </p:txBody>
      </p:sp>
      <p:sp>
        <p:nvSpPr>
          <p:cNvPr id="3567" name="Google Shape;3567;p139"/>
          <p:cNvSpPr/>
          <p:nvPr/>
        </p:nvSpPr>
        <p:spPr>
          <a:xfrm>
            <a:off x="6719385" y="2627767"/>
            <a:ext cx="2791800" cy="9852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sales_report</a:t>
            </a:r>
            <a:endParaRPr b="1" sz="1600">
              <a:latin typeface="Courier New"/>
              <a:ea typeface="Courier New"/>
              <a:cs typeface="Courier New"/>
              <a:sym typeface="Courier New"/>
            </a:endParaRPr>
          </a:p>
        </p:txBody>
      </p:sp>
      <p:sp>
        <p:nvSpPr>
          <p:cNvPr id="3568" name="Google Shape;3568;p139"/>
          <p:cNvSpPr/>
          <p:nvPr/>
        </p:nvSpPr>
        <p:spPr>
          <a:xfrm>
            <a:off x="8336014" y="3408833"/>
            <a:ext cx="1966800" cy="3267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600">
                <a:solidFill>
                  <a:schemeClr val="lt1"/>
                </a:solidFill>
              </a:rPr>
              <a:t>Materialized view</a:t>
            </a:r>
            <a:endParaRPr b="1" sz="1600">
              <a:solidFill>
                <a:schemeClr val="lt1"/>
              </a:solidFill>
            </a:endParaRPr>
          </a:p>
        </p:txBody>
      </p:sp>
      <p:cxnSp>
        <p:nvCxnSpPr>
          <p:cNvPr id="3569" name="Google Shape;3569;p139"/>
          <p:cNvCxnSpPr>
            <a:stCxn id="3566" idx="3"/>
            <a:endCxn id="3567" idx="1"/>
          </p:cNvCxnSpPr>
          <p:nvPr/>
        </p:nvCxnSpPr>
        <p:spPr>
          <a:xfrm>
            <a:off x="4483834" y="3120417"/>
            <a:ext cx="2235600" cy="0"/>
          </a:xfrm>
          <a:prstGeom prst="straightConnector1">
            <a:avLst/>
          </a:prstGeom>
          <a:noFill/>
          <a:ln cap="flat" cmpd="sng" w="9525">
            <a:solidFill>
              <a:schemeClr val="dk2"/>
            </a:solidFill>
            <a:prstDash val="solid"/>
            <a:round/>
            <a:headEnd len="med" w="med" type="none"/>
            <a:tailEnd len="med" w="med" type="triangle"/>
          </a:ln>
        </p:spPr>
      </p:cxnSp>
      <p:sp>
        <p:nvSpPr>
          <p:cNvPr id="3570" name="Google Shape;3570;p139"/>
          <p:cNvSpPr txBox="1"/>
          <p:nvPr/>
        </p:nvSpPr>
        <p:spPr>
          <a:xfrm>
            <a:off x="4276197" y="3735633"/>
            <a:ext cx="2650800" cy="4629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500">
                <a:solidFill>
                  <a:schemeClr val="dk2"/>
                </a:solidFill>
              </a:rPr>
              <a:t>Useful for transformations.</a:t>
            </a:r>
            <a:endParaRPr sz="1500">
              <a:solidFill>
                <a:schemeClr val="dk2"/>
              </a:solidFill>
            </a:endParaRPr>
          </a:p>
        </p:txBody>
      </p:sp>
      <p:sp>
        <p:nvSpPr>
          <p:cNvPr id="3571" name="Google Shape;3571;p139"/>
          <p:cNvSpPr txBox="1"/>
          <p:nvPr/>
        </p:nvSpPr>
        <p:spPr>
          <a:xfrm>
            <a:off x="4364008" y="1820533"/>
            <a:ext cx="2312700" cy="8808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500">
                <a:solidFill>
                  <a:schemeClr val="dk2"/>
                </a:solidFill>
              </a:rPr>
              <a:t>Query result is always correct, even if it means reprocessing inputs.</a:t>
            </a:r>
            <a:endParaRPr sz="1500">
              <a:solidFill>
                <a:schemeClr val="dk2"/>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5" name="Shape 3575"/>
        <p:cNvGrpSpPr/>
        <p:nvPr/>
      </p:nvGrpSpPr>
      <p:grpSpPr>
        <a:xfrm>
          <a:off x="0" y="0"/>
          <a:ext cx="0" cy="0"/>
          <a:chOff x="0" y="0"/>
          <a:chExt cx="0" cy="0"/>
        </a:xfrm>
      </p:grpSpPr>
      <p:sp>
        <p:nvSpPr>
          <p:cNvPr id="3576" name="Google Shape;3576;p140"/>
          <p:cNvSpPr/>
          <p:nvPr/>
        </p:nvSpPr>
        <p:spPr>
          <a:xfrm>
            <a:off x="2129134" y="2794767"/>
            <a:ext cx="2354700" cy="651300"/>
          </a:xfrm>
          <a:prstGeom prst="roundRect">
            <a:avLst>
              <a:gd fmla="val 16667" name="adj"/>
            </a:avLst>
          </a:prstGeom>
          <a:solidFill>
            <a:schemeClr val="accent5"/>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solidFill>
                  <a:schemeClr val="lt1"/>
                </a:solidFill>
              </a:rPr>
              <a:t>Files, events in a message bus, etc.</a:t>
            </a:r>
            <a:endParaRPr b="1" sz="1600">
              <a:solidFill>
                <a:schemeClr val="lt1"/>
              </a:solidFill>
            </a:endParaRPr>
          </a:p>
        </p:txBody>
      </p:sp>
      <p:sp>
        <p:nvSpPr>
          <p:cNvPr id="3577" name="Google Shape;3577;p140"/>
          <p:cNvSpPr/>
          <p:nvPr/>
        </p:nvSpPr>
        <p:spPr>
          <a:xfrm>
            <a:off x="6719385" y="2627767"/>
            <a:ext cx="2791800" cy="9852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b="1" lang="en" sz="1600">
                <a:latin typeface="Courier New"/>
                <a:ea typeface="Courier New"/>
                <a:cs typeface="Courier New"/>
                <a:sym typeface="Courier New"/>
              </a:rPr>
              <a:t>new_customers</a:t>
            </a:r>
            <a:endParaRPr b="1" sz="1600">
              <a:latin typeface="Courier New"/>
              <a:ea typeface="Courier New"/>
              <a:cs typeface="Courier New"/>
              <a:sym typeface="Courier New"/>
            </a:endParaRPr>
          </a:p>
        </p:txBody>
      </p:sp>
      <p:sp>
        <p:nvSpPr>
          <p:cNvPr id="3578" name="Google Shape;3578;p140"/>
          <p:cNvSpPr/>
          <p:nvPr/>
        </p:nvSpPr>
        <p:spPr>
          <a:xfrm>
            <a:off x="8336014" y="3408833"/>
            <a:ext cx="1966800" cy="326700"/>
          </a:xfrm>
          <a:prstGeom prst="roundRect">
            <a:avLst>
              <a:gd fmla="val 16667" name="adj"/>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600">
                <a:solidFill>
                  <a:schemeClr val="lt1"/>
                </a:solidFill>
              </a:rPr>
              <a:t>Streaming table</a:t>
            </a:r>
            <a:endParaRPr b="1" sz="1600">
              <a:solidFill>
                <a:schemeClr val="lt1"/>
              </a:solidFill>
            </a:endParaRPr>
          </a:p>
        </p:txBody>
      </p:sp>
      <p:cxnSp>
        <p:nvCxnSpPr>
          <p:cNvPr id="3579" name="Google Shape;3579;p140"/>
          <p:cNvCxnSpPr>
            <a:stCxn id="3576" idx="3"/>
            <a:endCxn id="3577" idx="1"/>
          </p:cNvCxnSpPr>
          <p:nvPr/>
        </p:nvCxnSpPr>
        <p:spPr>
          <a:xfrm>
            <a:off x="4483834" y="3120417"/>
            <a:ext cx="2235600" cy="0"/>
          </a:xfrm>
          <a:prstGeom prst="straightConnector1">
            <a:avLst/>
          </a:prstGeom>
          <a:noFill/>
          <a:ln cap="flat" cmpd="sng" w="9525">
            <a:solidFill>
              <a:schemeClr val="dk2"/>
            </a:solidFill>
            <a:prstDash val="solid"/>
            <a:round/>
            <a:headEnd len="med" w="med" type="none"/>
            <a:tailEnd len="med" w="med" type="triangle"/>
          </a:ln>
        </p:spPr>
      </p:cxnSp>
      <p:sp>
        <p:nvSpPr>
          <p:cNvPr id="3580" name="Google Shape;3580;p140"/>
          <p:cNvSpPr txBox="1"/>
          <p:nvPr/>
        </p:nvSpPr>
        <p:spPr>
          <a:xfrm>
            <a:off x="3239656" y="3532433"/>
            <a:ext cx="4724100" cy="9147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500">
                <a:solidFill>
                  <a:schemeClr val="dk2"/>
                </a:solidFill>
              </a:rPr>
              <a:t>Useful for:</a:t>
            </a:r>
            <a:endParaRPr sz="1500">
              <a:solidFill>
                <a:schemeClr val="dk2"/>
              </a:solidFill>
            </a:endParaRPr>
          </a:p>
          <a:p>
            <a:pPr indent="-400050" lvl="0" marL="609600" rtl="0" algn="l">
              <a:spcBef>
                <a:spcPts val="0"/>
              </a:spcBef>
              <a:spcAft>
                <a:spcPts val="0"/>
              </a:spcAft>
              <a:buClr>
                <a:schemeClr val="dk2"/>
              </a:buClr>
              <a:buSzPts val="1500"/>
              <a:buChar char="-"/>
            </a:pPr>
            <a:r>
              <a:rPr lang="en" sz="1500">
                <a:solidFill>
                  <a:schemeClr val="dk2"/>
                </a:solidFill>
              </a:rPr>
              <a:t>ingestion</a:t>
            </a:r>
            <a:endParaRPr sz="1500">
              <a:solidFill>
                <a:schemeClr val="dk2"/>
              </a:solidFill>
            </a:endParaRPr>
          </a:p>
          <a:p>
            <a:pPr indent="-400050" lvl="0" marL="609600" rtl="0" algn="l">
              <a:spcBef>
                <a:spcPts val="0"/>
              </a:spcBef>
              <a:spcAft>
                <a:spcPts val="0"/>
              </a:spcAft>
              <a:buClr>
                <a:schemeClr val="dk2"/>
              </a:buClr>
              <a:buSzPts val="1500"/>
              <a:buChar char="-"/>
            </a:pPr>
            <a:r>
              <a:rPr lang="en" sz="1500">
                <a:solidFill>
                  <a:schemeClr val="dk2"/>
                </a:solidFill>
              </a:rPr>
              <a:t>low-latency streaming over bounded streams</a:t>
            </a:r>
            <a:endParaRPr sz="1500">
              <a:solidFill>
                <a:schemeClr val="dk2"/>
              </a:solidFill>
            </a:endParaRPr>
          </a:p>
        </p:txBody>
      </p:sp>
      <p:sp>
        <p:nvSpPr>
          <p:cNvPr id="3581" name="Google Shape;3581;p140"/>
          <p:cNvSpPr txBox="1"/>
          <p:nvPr/>
        </p:nvSpPr>
        <p:spPr>
          <a:xfrm>
            <a:off x="4549128" y="1820533"/>
            <a:ext cx="2105100" cy="8808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500">
                <a:solidFill>
                  <a:schemeClr val="dk2"/>
                </a:solidFill>
              </a:rPr>
              <a:t>Each input is handled exactly once.</a:t>
            </a:r>
            <a:endParaRPr sz="1500">
              <a:solidFill>
                <a:schemeClr val="dk2"/>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5" name="Shape 3585"/>
        <p:cNvGrpSpPr/>
        <p:nvPr/>
      </p:nvGrpSpPr>
      <p:grpSpPr>
        <a:xfrm>
          <a:off x="0" y="0"/>
          <a:ext cx="0" cy="0"/>
          <a:chOff x="0" y="0"/>
          <a:chExt cx="0" cy="0"/>
        </a:xfrm>
      </p:grpSpPr>
      <p:cxnSp>
        <p:nvCxnSpPr>
          <p:cNvPr id="3586" name="Google Shape;3586;p141"/>
          <p:cNvCxnSpPr/>
          <p:nvPr/>
        </p:nvCxnSpPr>
        <p:spPr>
          <a:xfrm>
            <a:off x="2520336" y="1344200"/>
            <a:ext cx="7610100" cy="0"/>
          </a:xfrm>
          <a:prstGeom prst="straightConnector1">
            <a:avLst/>
          </a:prstGeom>
          <a:noFill/>
          <a:ln cap="flat" cmpd="sng" w="19050">
            <a:solidFill>
              <a:schemeClr val="dk1"/>
            </a:solidFill>
            <a:prstDash val="solid"/>
            <a:round/>
            <a:headEnd len="med" w="med" type="none"/>
            <a:tailEnd len="med" w="med" type="triangle"/>
          </a:ln>
        </p:spPr>
      </p:cxnSp>
      <p:cxnSp>
        <p:nvCxnSpPr>
          <p:cNvPr id="3587" name="Google Shape;3587;p141"/>
          <p:cNvCxnSpPr/>
          <p:nvPr/>
        </p:nvCxnSpPr>
        <p:spPr>
          <a:xfrm>
            <a:off x="428126" y="2877943"/>
            <a:ext cx="9758400" cy="0"/>
          </a:xfrm>
          <a:prstGeom prst="straightConnector1">
            <a:avLst/>
          </a:prstGeom>
          <a:noFill/>
          <a:ln cap="flat" cmpd="sng" w="19050">
            <a:solidFill>
              <a:schemeClr val="dk1"/>
            </a:solidFill>
            <a:prstDash val="solid"/>
            <a:round/>
            <a:headEnd len="med" w="med" type="none"/>
            <a:tailEnd len="med" w="med" type="none"/>
          </a:ln>
        </p:spPr>
      </p:cxnSp>
      <p:cxnSp>
        <p:nvCxnSpPr>
          <p:cNvPr id="3588" name="Google Shape;3588;p141"/>
          <p:cNvCxnSpPr/>
          <p:nvPr/>
        </p:nvCxnSpPr>
        <p:spPr>
          <a:xfrm>
            <a:off x="428126" y="4061200"/>
            <a:ext cx="9758400" cy="0"/>
          </a:xfrm>
          <a:prstGeom prst="straightConnector1">
            <a:avLst/>
          </a:prstGeom>
          <a:noFill/>
          <a:ln cap="flat" cmpd="sng" w="19050">
            <a:solidFill>
              <a:schemeClr val="dk1"/>
            </a:solidFill>
            <a:prstDash val="solid"/>
            <a:round/>
            <a:headEnd len="med" w="med" type="none"/>
            <a:tailEnd len="med" w="med" type="none"/>
          </a:ln>
        </p:spPr>
      </p:cxnSp>
      <p:sp>
        <p:nvSpPr>
          <p:cNvPr id="3589" name="Google Shape;3589;p141"/>
          <p:cNvSpPr txBox="1"/>
          <p:nvPr/>
        </p:nvSpPr>
        <p:spPr>
          <a:xfrm>
            <a:off x="428126" y="2038200"/>
            <a:ext cx="1477200" cy="471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Input</a:t>
            </a:r>
            <a:endParaRPr sz="2400">
              <a:solidFill>
                <a:schemeClr val="dk1"/>
              </a:solidFill>
            </a:endParaRPr>
          </a:p>
        </p:txBody>
      </p:sp>
      <p:sp>
        <p:nvSpPr>
          <p:cNvPr id="3590" name="Google Shape;3590;p141"/>
          <p:cNvSpPr txBox="1"/>
          <p:nvPr/>
        </p:nvSpPr>
        <p:spPr>
          <a:xfrm>
            <a:off x="428126" y="3083200"/>
            <a:ext cx="1477200" cy="471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Query</a:t>
            </a:r>
            <a:endParaRPr sz="2400">
              <a:solidFill>
                <a:schemeClr val="dk1"/>
              </a:solidFill>
            </a:endParaRPr>
          </a:p>
        </p:txBody>
      </p:sp>
      <p:sp>
        <p:nvSpPr>
          <p:cNvPr id="3591" name="Google Shape;3591;p141"/>
          <p:cNvSpPr txBox="1"/>
          <p:nvPr/>
        </p:nvSpPr>
        <p:spPr>
          <a:xfrm>
            <a:off x="428126" y="4229800"/>
            <a:ext cx="1477200" cy="471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Output</a:t>
            </a:r>
            <a:endParaRPr sz="2400">
              <a:solidFill>
                <a:schemeClr val="dk1"/>
              </a:solidFill>
            </a:endParaRPr>
          </a:p>
        </p:txBody>
      </p:sp>
      <p:sp>
        <p:nvSpPr>
          <p:cNvPr id="3592" name="Google Shape;3592;p141"/>
          <p:cNvSpPr txBox="1"/>
          <p:nvPr/>
        </p:nvSpPr>
        <p:spPr>
          <a:xfrm>
            <a:off x="372240" y="1108600"/>
            <a:ext cx="1477200" cy="471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2400">
                <a:solidFill>
                  <a:schemeClr val="dk1"/>
                </a:solidFill>
              </a:rPr>
              <a:t>Time</a:t>
            </a:r>
            <a:endParaRPr sz="2400">
              <a:solidFill>
                <a:schemeClr val="dk1"/>
              </a:solidFill>
            </a:endParaRPr>
          </a:p>
        </p:txBody>
      </p:sp>
      <p:cxnSp>
        <p:nvCxnSpPr>
          <p:cNvPr id="3593" name="Google Shape;3593;p141"/>
          <p:cNvCxnSpPr/>
          <p:nvPr/>
        </p:nvCxnSpPr>
        <p:spPr>
          <a:xfrm>
            <a:off x="3220494" y="1144500"/>
            <a:ext cx="0" cy="423300"/>
          </a:xfrm>
          <a:prstGeom prst="straightConnector1">
            <a:avLst/>
          </a:prstGeom>
          <a:noFill/>
          <a:ln cap="flat" cmpd="sng" w="19050">
            <a:solidFill>
              <a:schemeClr val="dk2"/>
            </a:solidFill>
            <a:prstDash val="solid"/>
            <a:round/>
            <a:headEnd len="med" w="med" type="none"/>
            <a:tailEnd len="med" w="med" type="none"/>
          </a:ln>
        </p:spPr>
      </p:cxnSp>
      <p:cxnSp>
        <p:nvCxnSpPr>
          <p:cNvPr id="3594" name="Google Shape;3594;p141"/>
          <p:cNvCxnSpPr/>
          <p:nvPr/>
        </p:nvCxnSpPr>
        <p:spPr>
          <a:xfrm>
            <a:off x="6151461" y="1144500"/>
            <a:ext cx="0" cy="423300"/>
          </a:xfrm>
          <a:prstGeom prst="straightConnector1">
            <a:avLst/>
          </a:prstGeom>
          <a:noFill/>
          <a:ln cap="flat" cmpd="sng" w="19050">
            <a:solidFill>
              <a:schemeClr val="dk2"/>
            </a:solidFill>
            <a:prstDash val="solid"/>
            <a:round/>
            <a:headEnd len="med" w="med" type="none"/>
            <a:tailEnd len="med" w="med" type="none"/>
          </a:ln>
        </p:spPr>
      </p:cxnSp>
      <p:cxnSp>
        <p:nvCxnSpPr>
          <p:cNvPr id="3595" name="Google Shape;3595;p141"/>
          <p:cNvCxnSpPr/>
          <p:nvPr/>
        </p:nvCxnSpPr>
        <p:spPr>
          <a:xfrm>
            <a:off x="8954659" y="1144500"/>
            <a:ext cx="0" cy="423300"/>
          </a:xfrm>
          <a:prstGeom prst="straightConnector1">
            <a:avLst/>
          </a:prstGeom>
          <a:noFill/>
          <a:ln cap="flat" cmpd="sng" w="19050">
            <a:solidFill>
              <a:schemeClr val="dk2"/>
            </a:solidFill>
            <a:prstDash val="solid"/>
            <a:round/>
            <a:headEnd len="med" w="med" type="none"/>
            <a:tailEnd len="med" w="med" type="none"/>
          </a:ln>
        </p:spPr>
      </p:cxnSp>
      <p:sp>
        <p:nvSpPr>
          <p:cNvPr id="3596" name="Google Shape;3596;p141"/>
          <p:cNvSpPr txBox="1"/>
          <p:nvPr/>
        </p:nvSpPr>
        <p:spPr>
          <a:xfrm>
            <a:off x="2949062" y="641300"/>
            <a:ext cx="654600" cy="423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900">
                <a:solidFill>
                  <a:schemeClr val="dk1"/>
                </a:solidFill>
                <a:latin typeface="Courier New"/>
                <a:ea typeface="Courier New"/>
                <a:cs typeface="Courier New"/>
                <a:sym typeface="Courier New"/>
              </a:rPr>
              <a:t>t0</a:t>
            </a:r>
            <a:endParaRPr b="1" sz="1900">
              <a:solidFill>
                <a:schemeClr val="dk1"/>
              </a:solidFill>
              <a:latin typeface="Courier New"/>
              <a:ea typeface="Courier New"/>
              <a:cs typeface="Courier New"/>
              <a:sym typeface="Courier New"/>
            </a:endParaRPr>
          </a:p>
        </p:txBody>
      </p:sp>
      <p:sp>
        <p:nvSpPr>
          <p:cNvPr id="3597" name="Google Shape;3597;p141"/>
          <p:cNvSpPr txBox="1"/>
          <p:nvPr/>
        </p:nvSpPr>
        <p:spPr>
          <a:xfrm>
            <a:off x="5824143" y="641300"/>
            <a:ext cx="654600" cy="423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900">
                <a:solidFill>
                  <a:schemeClr val="dk1"/>
                </a:solidFill>
                <a:latin typeface="Courier New"/>
                <a:ea typeface="Courier New"/>
                <a:cs typeface="Courier New"/>
                <a:sym typeface="Courier New"/>
              </a:rPr>
              <a:t>t1</a:t>
            </a:r>
            <a:endParaRPr b="1" sz="1900">
              <a:solidFill>
                <a:schemeClr val="dk1"/>
              </a:solidFill>
              <a:latin typeface="Courier New"/>
              <a:ea typeface="Courier New"/>
              <a:cs typeface="Courier New"/>
              <a:sym typeface="Courier New"/>
            </a:endParaRPr>
          </a:p>
        </p:txBody>
      </p:sp>
      <p:sp>
        <p:nvSpPr>
          <p:cNvPr id="3598" name="Google Shape;3598;p141"/>
          <p:cNvSpPr txBox="1"/>
          <p:nvPr/>
        </p:nvSpPr>
        <p:spPr>
          <a:xfrm>
            <a:off x="8627341" y="641300"/>
            <a:ext cx="654600" cy="423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900">
                <a:solidFill>
                  <a:schemeClr val="dk1"/>
                </a:solidFill>
                <a:latin typeface="Courier New"/>
                <a:ea typeface="Courier New"/>
                <a:cs typeface="Courier New"/>
                <a:sym typeface="Courier New"/>
              </a:rPr>
              <a:t>t2</a:t>
            </a:r>
            <a:endParaRPr b="1" sz="1900">
              <a:solidFill>
                <a:schemeClr val="dk1"/>
              </a:solidFill>
              <a:latin typeface="Courier New"/>
              <a:ea typeface="Courier New"/>
              <a:cs typeface="Courier New"/>
              <a:sym typeface="Courier New"/>
            </a:endParaRPr>
          </a:p>
        </p:txBody>
      </p:sp>
      <p:sp>
        <p:nvSpPr>
          <p:cNvPr id="3599" name="Google Shape;3599;p141"/>
          <p:cNvSpPr txBox="1"/>
          <p:nvPr/>
        </p:nvSpPr>
        <p:spPr>
          <a:xfrm>
            <a:off x="2153861" y="3137833"/>
            <a:ext cx="2626200" cy="647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SELECT LOWER (name) </a:t>
            </a:r>
            <a:br>
              <a:rPr b="1" lang="en" sz="1600">
                <a:solidFill>
                  <a:schemeClr val="dk1"/>
                </a:solidFill>
                <a:latin typeface="Courier New"/>
                <a:ea typeface="Courier New"/>
                <a:cs typeface="Courier New"/>
                <a:sym typeface="Courier New"/>
              </a:rPr>
            </a:br>
            <a:r>
              <a:rPr b="1" lang="en" sz="1600">
                <a:solidFill>
                  <a:schemeClr val="dk1"/>
                </a:solidFill>
                <a:latin typeface="Courier New"/>
                <a:ea typeface="Courier New"/>
                <a:cs typeface="Courier New"/>
                <a:sym typeface="Courier New"/>
              </a:rPr>
              <a:t>FROM data</a:t>
            </a:r>
            <a:endParaRPr b="1" sz="1600">
              <a:solidFill>
                <a:schemeClr val="dk1"/>
              </a:solidFill>
              <a:latin typeface="Courier New"/>
              <a:ea typeface="Courier New"/>
              <a:cs typeface="Courier New"/>
              <a:sym typeface="Courier New"/>
            </a:endParaRPr>
          </a:p>
        </p:txBody>
      </p:sp>
      <p:sp>
        <p:nvSpPr>
          <p:cNvPr id="3600" name="Google Shape;3600;p141"/>
          <p:cNvSpPr txBox="1"/>
          <p:nvPr/>
        </p:nvSpPr>
        <p:spPr>
          <a:xfrm>
            <a:off x="5198999" y="3137833"/>
            <a:ext cx="2626200" cy="647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SELECT LOWER (name) </a:t>
            </a:r>
            <a:br>
              <a:rPr b="1" lang="en" sz="1600">
                <a:solidFill>
                  <a:schemeClr val="dk1"/>
                </a:solidFill>
                <a:latin typeface="Courier New"/>
                <a:ea typeface="Courier New"/>
                <a:cs typeface="Courier New"/>
                <a:sym typeface="Courier New"/>
              </a:rPr>
            </a:br>
            <a:r>
              <a:rPr b="1" lang="en" sz="1600">
                <a:solidFill>
                  <a:schemeClr val="dk1"/>
                </a:solidFill>
                <a:latin typeface="Courier New"/>
                <a:ea typeface="Courier New"/>
                <a:cs typeface="Courier New"/>
                <a:sym typeface="Courier New"/>
              </a:rPr>
              <a:t>FROM data</a:t>
            </a:r>
            <a:endParaRPr b="1" sz="1600">
              <a:solidFill>
                <a:schemeClr val="dk1"/>
              </a:solidFill>
              <a:latin typeface="Courier New"/>
              <a:ea typeface="Courier New"/>
              <a:cs typeface="Courier New"/>
              <a:sym typeface="Courier New"/>
            </a:endParaRPr>
          </a:p>
        </p:txBody>
      </p:sp>
      <p:sp>
        <p:nvSpPr>
          <p:cNvPr id="3601" name="Google Shape;3601;p141"/>
          <p:cNvSpPr txBox="1"/>
          <p:nvPr/>
        </p:nvSpPr>
        <p:spPr>
          <a:xfrm>
            <a:off x="8244137" y="3099067"/>
            <a:ext cx="2626200" cy="6471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SELECT UPPER (name) </a:t>
            </a:r>
            <a:br>
              <a:rPr b="1" lang="en" sz="1600">
                <a:solidFill>
                  <a:schemeClr val="dk1"/>
                </a:solidFill>
                <a:latin typeface="Courier New"/>
                <a:ea typeface="Courier New"/>
                <a:cs typeface="Courier New"/>
                <a:sym typeface="Courier New"/>
              </a:rPr>
            </a:br>
            <a:r>
              <a:rPr b="1" lang="en" sz="1600">
                <a:solidFill>
                  <a:schemeClr val="dk1"/>
                </a:solidFill>
                <a:latin typeface="Courier New"/>
                <a:ea typeface="Courier New"/>
                <a:cs typeface="Courier New"/>
                <a:sym typeface="Courier New"/>
              </a:rPr>
              <a:t>FROM data</a:t>
            </a:r>
            <a:endParaRPr b="1" sz="1600">
              <a:solidFill>
                <a:schemeClr val="dk1"/>
              </a:solidFill>
              <a:latin typeface="Courier New"/>
              <a:ea typeface="Courier New"/>
              <a:cs typeface="Courier New"/>
              <a:sym typeface="Courier New"/>
            </a:endParaRPr>
          </a:p>
        </p:txBody>
      </p:sp>
      <p:sp>
        <p:nvSpPr>
          <p:cNvPr id="3602" name="Google Shape;3602;p141"/>
          <p:cNvSpPr txBox="1"/>
          <p:nvPr/>
        </p:nvSpPr>
        <p:spPr>
          <a:xfrm>
            <a:off x="2536265" y="4237867"/>
            <a:ext cx="1022100" cy="1006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zach</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zara</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zee</a:t>
            </a:r>
            <a:endParaRPr b="1" sz="1600">
              <a:solidFill>
                <a:schemeClr val="dk1"/>
              </a:solidFill>
              <a:latin typeface="Courier New"/>
              <a:ea typeface="Courier New"/>
              <a:cs typeface="Courier New"/>
              <a:sym typeface="Courier New"/>
            </a:endParaRPr>
          </a:p>
        </p:txBody>
      </p:sp>
      <p:sp>
        <p:nvSpPr>
          <p:cNvPr id="3603" name="Google Shape;3603;p141"/>
          <p:cNvSpPr txBox="1"/>
          <p:nvPr/>
        </p:nvSpPr>
        <p:spPr>
          <a:xfrm>
            <a:off x="5733965" y="4289767"/>
            <a:ext cx="1022100" cy="1006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zev</a:t>
            </a:r>
            <a:endParaRPr b="1" sz="1600">
              <a:solidFill>
                <a:schemeClr val="dk1"/>
              </a:solidFill>
              <a:latin typeface="Courier New"/>
              <a:ea typeface="Courier New"/>
              <a:cs typeface="Courier New"/>
              <a:sym typeface="Courier New"/>
            </a:endParaRPr>
          </a:p>
        </p:txBody>
      </p:sp>
      <p:sp>
        <p:nvSpPr>
          <p:cNvPr id="3604" name="Google Shape;3604;p141"/>
          <p:cNvSpPr txBox="1"/>
          <p:nvPr/>
        </p:nvSpPr>
        <p:spPr>
          <a:xfrm>
            <a:off x="8499473" y="4376133"/>
            <a:ext cx="1231800" cy="1006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ZOE</a:t>
            </a:r>
            <a:endParaRPr b="1" sz="1600">
              <a:solidFill>
                <a:schemeClr val="dk1"/>
              </a:solidFill>
              <a:latin typeface="Courier New"/>
              <a:ea typeface="Courier New"/>
              <a:cs typeface="Courier New"/>
              <a:sym typeface="Courier New"/>
            </a:endParaRPr>
          </a:p>
        </p:txBody>
      </p:sp>
      <p:sp>
        <p:nvSpPr>
          <p:cNvPr id="3605" name="Google Shape;3605;p141"/>
          <p:cNvSpPr/>
          <p:nvPr/>
        </p:nvSpPr>
        <p:spPr>
          <a:xfrm>
            <a:off x="7089826" y="4903300"/>
            <a:ext cx="4050900" cy="1176900"/>
          </a:xfrm>
          <a:prstGeom prst="roundRect">
            <a:avLst>
              <a:gd fmla="val 16667" name="adj"/>
            </a:avLst>
          </a:prstGeom>
          <a:solidFill>
            <a:schemeClr val="accent4"/>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900">
                <a:latin typeface="Courier New"/>
                <a:ea typeface="Courier New"/>
                <a:cs typeface="Courier New"/>
                <a:sym typeface="Courier New"/>
              </a:rPr>
              <a:t>ZACH</a:t>
            </a:r>
            <a:r>
              <a:rPr lang="en" sz="1900"/>
              <a:t> never gets produced because Row 1 has been seen already.</a:t>
            </a:r>
            <a:endParaRPr sz="1900"/>
          </a:p>
        </p:txBody>
      </p:sp>
      <p:sp>
        <p:nvSpPr>
          <p:cNvPr id="3606" name="Google Shape;3606;p141"/>
          <p:cNvSpPr txBox="1"/>
          <p:nvPr/>
        </p:nvSpPr>
        <p:spPr>
          <a:xfrm>
            <a:off x="2074014" y="1747261"/>
            <a:ext cx="2976900" cy="9657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300">
                <a:solidFill>
                  <a:schemeClr val="dk1"/>
                </a:solidFill>
                <a:latin typeface="Courier New"/>
                <a:ea typeface="Courier New"/>
                <a:cs typeface="Courier New"/>
                <a:sym typeface="Courier New"/>
              </a:rPr>
              <a:t>Row 1: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name</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Zach</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latin typeface="Courier New"/>
                <a:ea typeface="Courier New"/>
                <a:cs typeface="Courier New"/>
                <a:sym typeface="Courier New"/>
              </a:rPr>
              <a:t>Row 2: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name</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Zara</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500"/>
              <a:buFont typeface="Arial"/>
              <a:buNone/>
            </a:pPr>
            <a:r>
              <a:rPr b="1" lang="en" sz="1300">
                <a:solidFill>
                  <a:schemeClr val="dk1"/>
                </a:solidFill>
                <a:latin typeface="Courier New"/>
                <a:ea typeface="Courier New"/>
                <a:cs typeface="Courier New"/>
                <a:sym typeface="Courier New"/>
              </a:rPr>
              <a:t>Row 3: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name</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Zee</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dk1"/>
              </a:solidFill>
              <a:latin typeface="Courier New"/>
              <a:ea typeface="Courier New"/>
              <a:cs typeface="Courier New"/>
              <a:sym typeface="Courier New"/>
            </a:endParaRPr>
          </a:p>
        </p:txBody>
      </p:sp>
      <p:sp>
        <p:nvSpPr>
          <p:cNvPr id="3607" name="Google Shape;3607;p141"/>
          <p:cNvSpPr txBox="1"/>
          <p:nvPr/>
        </p:nvSpPr>
        <p:spPr>
          <a:xfrm>
            <a:off x="5120335" y="1747261"/>
            <a:ext cx="2727000" cy="5673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300">
                <a:solidFill>
                  <a:schemeClr val="dk1"/>
                </a:solidFill>
                <a:latin typeface="Courier New"/>
                <a:ea typeface="Courier New"/>
                <a:cs typeface="Courier New"/>
                <a:sym typeface="Courier New"/>
              </a:rPr>
              <a:t>Row 4: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name</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Zev</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dk1"/>
              </a:solidFill>
              <a:latin typeface="Courier New"/>
              <a:ea typeface="Courier New"/>
              <a:cs typeface="Courier New"/>
              <a:sym typeface="Courier New"/>
            </a:endParaRPr>
          </a:p>
        </p:txBody>
      </p:sp>
      <p:sp>
        <p:nvSpPr>
          <p:cNvPr id="3608" name="Google Shape;3608;p141"/>
          <p:cNvSpPr txBox="1"/>
          <p:nvPr/>
        </p:nvSpPr>
        <p:spPr>
          <a:xfrm>
            <a:off x="7916719" y="1747261"/>
            <a:ext cx="2888400" cy="7224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 sz="1300">
                <a:solidFill>
                  <a:schemeClr val="dk1"/>
                </a:solidFill>
                <a:latin typeface="Courier New"/>
                <a:ea typeface="Courier New"/>
                <a:cs typeface="Courier New"/>
                <a:sym typeface="Courier New"/>
              </a:rPr>
              <a:t>Row 1: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name</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Zach</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latin typeface="Courier New"/>
                <a:ea typeface="Courier New"/>
                <a:cs typeface="Courier New"/>
                <a:sym typeface="Courier New"/>
              </a:rPr>
              <a:t>Row 5: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name</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 </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Zoe</a:t>
            </a:r>
            <a:r>
              <a:rPr b="1" lang="en" sz="1300">
                <a:solidFill>
                  <a:schemeClr val="dk1"/>
                </a:solidFill>
                <a:highlight>
                  <a:srgbClr val="FFFFFF"/>
                </a:highlight>
                <a:latin typeface="Courier New"/>
                <a:ea typeface="Courier New"/>
                <a:cs typeface="Courier New"/>
                <a:sym typeface="Courier New"/>
              </a:rPr>
              <a:t>"</a:t>
            </a:r>
            <a:r>
              <a:rPr b="1" lang="en" sz="1300">
                <a:solidFill>
                  <a:schemeClr val="dk1"/>
                </a:solidFill>
                <a:latin typeface="Courier New"/>
                <a:ea typeface="Courier New"/>
                <a:cs typeface="Courier New"/>
                <a:sym typeface="Courier New"/>
              </a:rPr>
              <a:t>}</a:t>
            </a:r>
            <a:endParaRPr b="1" sz="1300">
              <a:solidFill>
                <a:schemeClr val="dk1"/>
              </a:solidFill>
              <a:latin typeface="Courier New"/>
              <a:ea typeface="Courier New"/>
              <a:cs typeface="Courier New"/>
              <a:sym typeface="Courier New"/>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2" name="Shape 3612"/>
        <p:cNvGrpSpPr/>
        <p:nvPr/>
      </p:nvGrpSpPr>
      <p:grpSpPr>
        <a:xfrm>
          <a:off x="0" y="0"/>
          <a:ext cx="0" cy="0"/>
          <a:chOff x="0" y="0"/>
          <a:chExt cx="0" cy="0"/>
        </a:xfrm>
      </p:grpSpPr>
      <p:sp>
        <p:nvSpPr>
          <p:cNvPr id="3613" name="Google Shape;3613;p142"/>
          <p:cNvSpPr txBox="1"/>
          <p:nvPr/>
        </p:nvSpPr>
        <p:spPr>
          <a:xfrm>
            <a:off x="9997419" y="6138018"/>
            <a:ext cx="261900" cy="166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1100">
                <a:solidFill>
                  <a:srgbClr val="618794"/>
                </a:solidFill>
                <a:latin typeface="DM Sans"/>
                <a:ea typeface="DM Sans"/>
                <a:cs typeface="DM Sans"/>
                <a:sym typeface="DM Sans"/>
              </a:rPr>
              <a:t>‹#›</a:t>
            </a:fld>
            <a:endParaRPr sz="1100">
              <a:solidFill>
                <a:srgbClr val="618794"/>
              </a:solidFill>
              <a:latin typeface="DM Sans"/>
              <a:ea typeface="DM Sans"/>
              <a:cs typeface="DM Sans"/>
              <a:sym typeface="DM Sans"/>
            </a:endParaRPr>
          </a:p>
        </p:txBody>
      </p:sp>
      <p:sp>
        <p:nvSpPr>
          <p:cNvPr id="3614" name="Google Shape;3614;p142"/>
          <p:cNvSpPr txBox="1"/>
          <p:nvPr/>
        </p:nvSpPr>
        <p:spPr>
          <a:xfrm>
            <a:off x="0" y="0"/>
            <a:ext cx="6674100" cy="78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800">
                <a:solidFill>
                  <a:schemeClr val="accent1"/>
                </a:solidFill>
                <a:latin typeface="DM Sans Medium"/>
                <a:ea typeface="DM Sans Medium"/>
                <a:cs typeface="DM Sans Medium"/>
                <a:sym typeface="DM Sans Medium"/>
              </a:rPr>
              <a:t>MLOps diagram</a:t>
            </a:r>
            <a:endParaRPr sz="18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1500">
                <a:solidFill>
                  <a:schemeClr val="accent1"/>
                </a:solidFill>
                <a:latin typeface="DM Sans Medium"/>
                <a:ea typeface="DM Sans Medium"/>
                <a:cs typeface="DM Sans Medium"/>
                <a:sym typeface="DM Sans Medium"/>
              </a:rPr>
              <a:t>/_static/images/machine-learning/ops-data-intelligence-platform.png</a:t>
            </a:r>
            <a:endParaRPr/>
          </a:p>
        </p:txBody>
      </p:sp>
      <p:sp>
        <p:nvSpPr>
          <p:cNvPr id="3615" name="Google Shape;3615;p142"/>
          <p:cNvSpPr/>
          <p:nvPr/>
        </p:nvSpPr>
        <p:spPr>
          <a:xfrm>
            <a:off x="2409125" y="992550"/>
            <a:ext cx="5266500" cy="1137300"/>
          </a:xfrm>
          <a:prstGeom prst="triangle">
            <a:avLst>
              <a:gd fmla="val 50000" name="adj"/>
            </a:avLst>
          </a:prstGeom>
          <a:solidFill>
            <a:srgbClr val="1B3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16" name="Google Shape;3616;p142"/>
          <p:cNvSpPr/>
          <p:nvPr/>
        </p:nvSpPr>
        <p:spPr>
          <a:xfrm>
            <a:off x="2413225" y="2123400"/>
            <a:ext cx="5262300" cy="3248700"/>
          </a:xfrm>
          <a:prstGeom prst="rect">
            <a:avLst/>
          </a:prstGeom>
          <a:solidFill>
            <a:srgbClr val="1B30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038"/>
              </a:buClr>
              <a:buSzPts val="1500"/>
              <a:buFont typeface="Calibri"/>
              <a:buNone/>
            </a:pPr>
            <a:r>
              <a:t/>
            </a:r>
            <a:endParaRPr b="0" i="0" sz="1500" u="none" cap="none" strike="noStrike">
              <a:solidFill>
                <a:srgbClr val="FFFFFF"/>
              </a:solidFill>
              <a:latin typeface="Barlow"/>
              <a:ea typeface="Barlow"/>
              <a:cs typeface="Barlow"/>
              <a:sym typeface="Barlow"/>
            </a:endParaRPr>
          </a:p>
        </p:txBody>
      </p:sp>
      <p:pic>
        <p:nvPicPr>
          <p:cNvPr id="3617" name="Google Shape;3617;p142"/>
          <p:cNvPicPr preferRelativeResize="0"/>
          <p:nvPr/>
        </p:nvPicPr>
        <p:blipFill rotWithShape="1">
          <a:blip r:embed="rId3">
            <a:alphaModFix/>
          </a:blip>
          <a:srcRect b="0" l="0" r="0" t="0"/>
          <a:stretch/>
        </p:blipFill>
        <p:spPr>
          <a:xfrm>
            <a:off x="3322374" y="1886263"/>
            <a:ext cx="3444006" cy="541759"/>
          </a:xfrm>
          <a:prstGeom prst="rect">
            <a:avLst/>
          </a:prstGeom>
          <a:noFill/>
          <a:ln>
            <a:noFill/>
          </a:ln>
        </p:spPr>
      </p:pic>
      <p:sp>
        <p:nvSpPr>
          <p:cNvPr id="3618" name="Google Shape;3618;p142"/>
          <p:cNvSpPr txBox="1"/>
          <p:nvPr/>
        </p:nvSpPr>
        <p:spPr>
          <a:xfrm>
            <a:off x="3100075" y="2467900"/>
            <a:ext cx="4041000" cy="26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chemeClr val="lt1"/>
                </a:solidFill>
                <a:latin typeface="DM Sans SemiBold"/>
                <a:ea typeface="DM Sans SemiBold"/>
                <a:cs typeface="DM Sans SemiBold"/>
                <a:sym typeface="DM Sans SemiBold"/>
              </a:rPr>
              <a:t>Data Intelligence Platform</a:t>
            </a:r>
            <a:endParaRPr sz="1900">
              <a:solidFill>
                <a:schemeClr val="lt1"/>
              </a:solidFill>
              <a:latin typeface="DM Sans SemiBold"/>
              <a:ea typeface="DM Sans SemiBold"/>
              <a:cs typeface="DM Sans SemiBold"/>
              <a:sym typeface="DM Sans SemiBold"/>
            </a:endParaRPr>
          </a:p>
        </p:txBody>
      </p:sp>
      <p:grpSp>
        <p:nvGrpSpPr>
          <p:cNvPr id="3619" name="Google Shape;3619;p142"/>
          <p:cNvGrpSpPr/>
          <p:nvPr/>
        </p:nvGrpSpPr>
        <p:grpSpPr>
          <a:xfrm>
            <a:off x="2409125" y="3400402"/>
            <a:ext cx="5266400" cy="1690751"/>
            <a:chOff x="6160625" y="2994200"/>
            <a:chExt cx="5266400" cy="2957410"/>
          </a:xfrm>
        </p:grpSpPr>
        <p:sp>
          <p:nvSpPr>
            <p:cNvPr id="3620" name="Google Shape;3620;p142"/>
            <p:cNvSpPr/>
            <p:nvPr/>
          </p:nvSpPr>
          <p:spPr>
            <a:xfrm>
              <a:off x="6164725" y="2994200"/>
              <a:ext cx="5262300" cy="2738275"/>
            </a:xfrm>
            <a:prstGeom prst="flowChartPunchedTap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1" name="Google Shape;3621;p142"/>
            <p:cNvSpPr/>
            <p:nvPr/>
          </p:nvSpPr>
          <p:spPr>
            <a:xfrm>
              <a:off x="6160625" y="3795110"/>
              <a:ext cx="5262300" cy="2156500"/>
            </a:xfrm>
            <a:prstGeom prst="flowChartPunchedTape">
              <a:avLst/>
            </a:prstGeom>
            <a:solidFill>
              <a:srgbClr val="C4CC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2" name="Google Shape;3622;p142"/>
            <p:cNvSpPr/>
            <p:nvPr/>
          </p:nvSpPr>
          <p:spPr>
            <a:xfrm>
              <a:off x="6160625" y="4674250"/>
              <a:ext cx="5262300" cy="1183100"/>
            </a:xfrm>
            <a:prstGeom prst="flowChartPunchedTap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623" name="Google Shape;3623;p142"/>
          <p:cNvSpPr/>
          <p:nvPr/>
        </p:nvSpPr>
        <p:spPr>
          <a:xfrm>
            <a:off x="2756775" y="3466488"/>
            <a:ext cx="1299600" cy="9525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3624" name="Google Shape;3624;p142"/>
          <p:cNvPicPr preferRelativeResize="0"/>
          <p:nvPr/>
        </p:nvPicPr>
        <p:blipFill>
          <a:blip r:embed="rId4">
            <a:alphaModFix/>
          </a:blip>
          <a:stretch>
            <a:fillRect/>
          </a:stretch>
        </p:blipFill>
        <p:spPr>
          <a:xfrm>
            <a:off x="2919150" y="3849600"/>
            <a:ext cx="995772" cy="338700"/>
          </a:xfrm>
          <a:prstGeom prst="rect">
            <a:avLst/>
          </a:prstGeom>
          <a:noFill/>
          <a:ln>
            <a:noFill/>
          </a:ln>
        </p:spPr>
      </p:pic>
      <p:sp>
        <p:nvSpPr>
          <p:cNvPr id="3625" name="Google Shape;3625;p142"/>
          <p:cNvSpPr/>
          <p:nvPr/>
        </p:nvSpPr>
        <p:spPr>
          <a:xfrm>
            <a:off x="4394575" y="3466488"/>
            <a:ext cx="1299600" cy="9525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6" name="Google Shape;3626;p142"/>
          <p:cNvSpPr/>
          <p:nvPr/>
        </p:nvSpPr>
        <p:spPr>
          <a:xfrm>
            <a:off x="5987925" y="3466488"/>
            <a:ext cx="1299600" cy="9525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7" name="Google Shape;3627;p142"/>
          <p:cNvSpPr txBox="1"/>
          <p:nvPr/>
        </p:nvSpPr>
        <p:spPr>
          <a:xfrm>
            <a:off x="2756775" y="3436050"/>
            <a:ext cx="1299600" cy="16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DevOps</a:t>
            </a:r>
            <a:endParaRPr>
              <a:solidFill>
                <a:schemeClr val="dk1"/>
              </a:solidFill>
              <a:latin typeface="DM Sans"/>
              <a:ea typeface="DM Sans"/>
              <a:cs typeface="DM Sans"/>
              <a:sym typeface="DM Sans"/>
            </a:endParaRPr>
          </a:p>
        </p:txBody>
      </p:sp>
      <p:sp>
        <p:nvSpPr>
          <p:cNvPr id="3628" name="Google Shape;3628;p142"/>
          <p:cNvSpPr txBox="1"/>
          <p:nvPr/>
        </p:nvSpPr>
        <p:spPr>
          <a:xfrm>
            <a:off x="4372350" y="3436050"/>
            <a:ext cx="1299600" cy="16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Data</a:t>
            </a:r>
            <a:r>
              <a:rPr lang="en">
                <a:solidFill>
                  <a:schemeClr val="dk1"/>
                </a:solidFill>
                <a:latin typeface="DM Sans"/>
                <a:ea typeface="DM Sans"/>
                <a:cs typeface="DM Sans"/>
                <a:sym typeface="DM Sans"/>
              </a:rPr>
              <a:t>Ops</a:t>
            </a:r>
            <a:endParaRPr>
              <a:solidFill>
                <a:schemeClr val="dk1"/>
              </a:solidFill>
              <a:latin typeface="DM Sans"/>
              <a:ea typeface="DM Sans"/>
              <a:cs typeface="DM Sans"/>
              <a:sym typeface="DM Sans"/>
            </a:endParaRPr>
          </a:p>
        </p:txBody>
      </p:sp>
      <p:pic>
        <p:nvPicPr>
          <p:cNvPr id="3629" name="Google Shape;3629;p142"/>
          <p:cNvPicPr preferRelativeResize="0"/>
          <p:nvPr/>
        </p:nvPicPr>
        <p:blipFill rotWithShape="1">
          <a:blip r:embed="rId5">
            <a:alphaModFix/>
          </a:blip>
          <a:srcRect b="0" l="0" r="0" t="0"/>
          <a:stretch/>
        </p:blipFill>
        <p:spPr>
          <a:xfrm>
            <a:off x="4717626" y="3765121"/>
            <a:ext cx="653499" cy="507665"/>
          </a:xfrm>
          <a:prstGeom prst="rect">
            <a:avLst/>
          </a:prstGeom>
          <a:noFill/>
          <a:ln>
            <a:noFill/>
          </a:ln>
        </p:spPr>
      </p:pic>
      <p:sp>
        <p:nvSpPr>
          <p:cNvPr id="3630" name="Google Shape;3630;p142"/>
          <p:cNvSpPr txBox="1"/>
          <p:nvPr/>
        </p:nvSpPr>
        <p:spPr>
          <a:xfrm>
            <a:off x="5987925" y="3419550"/>
            <a:ext cx="1299600" cy="19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Model</a:t>
            </a:r>
            <a:r>
              <a:rPr lang="en">
                <a:solidFill>
                  <a:schemeClr val="dk1"/>
                </a:solidFill>
                <a:latin typeface="DM Sans"/>
                <a:ea typeface="DM Sans"/>
                <a:cs typeface="DM Sans"/>
                <a:sym typeface="DM Sans"/>
              </a:rPr>
              <a:t>Ops</a:t>
            </a:r>
            <a:endParaRPr>
              <a:solidFill>
                <a:schemeClr val="dk1"/>
              </a:solidFill>
              <a:latin typeface="DM Sans"/>
              <a:ea typeface="DM Sans"/>
              <a:cs typeface="DM Sans"/>
              <a:sym typeface="DM Sans"/>
            </a:endParaRPr>
          </a:p>
        </p:txBody>
      </p:sp>
      <p:pic>
        <p:nvPicPr>
          <p:cNvPr id="3631" name="Google Shape;3631;p142"/>
          <p:cNvPicPr preferRelativeResize="0"/>
          <p:nvPr/>
        </p:nvPicPr>
        <p:blipFill rotWithShape="1">
          <a:blip r:embed="rId6">
            <a:alphaModFix/>
          </a:blip>
          <a:srcRect b="0" l="0" r="0" t="0"/>
          <a:stretch/>
        </p:blipFill>
        <p:spPr>
          <a:xfrm>
            <a:off x="6173826" y="3849601"/>
            <a:ext cx="927801" cy="338701"/>
          </a:xfrm>
          <a:prstGeom prst="rect">
            <a:avLst/>
          </a:prstGeom>
          <a:noFill/>
          <a:ln>
            <a:noFill/>
          </a:ln>
        </p:spPr>
      </p:pic>
      <p:sp>
        <p:nvSpPr>
          <p:cNvPr id="3632" name="Google Shape;3632;p142"/>
          <p:cNvSpPr/>
          <p:nvPr/>
        </p:nvSpPr>
        <p:spPr>
          <a:xfrm>
            <a:off x="1718300" y="4533900"/>
            <a:ext cx="7124700" cy="838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636" name="Shape 3636"/>
        <p:cNvGrpSpPr/>
        <p:nvPr/>
      </p:nvGrpSpPr>
      <p:grpSpPr>
        <a:xfrm>
          <a:off x="0" y="0"/>
          <a:ext cx="0" cy="0"/>
          <a:chOff x="0" y="0"/>
          <a:chExt cx="0" cy="0"/>
        </a:xfrm>
      </p:grpSpPr>
      <p:sp>
        <p:nvSpPr>
          <p:cNvPr id="3637" name="Google Shape;3637;p143"/>
          <p:cNvSpPr/>
          <p:nvPr/>
        </p:nvSpPr>
        <p:spPr>
          <a:xfrm>
            <a:off x="6879026" y="246250"/>
            <a:ext cx="2748300" cy="1537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rPr lang="en" sz="1600">
                <a:solidFill>
                  <a:schemeClr val="accent1"/>
                </a:solidFill>
                <a:latin typeface="DM Sans"/>
                <a:ea typeface="DM Sans"/>
                <a:cs typeface="DM Sans"/>
                <a:sym typeface="DM Sans"/>
              </a:rPr>
              <a:t>Manage it alongside other catalogs.</a:t>
            </a:r>
            <a:endParaRPr sz="1600">
              <a:solidFill>
                <a:schemeClr val="accent1"/>
              </a:solidFill>
              <a:latin typeface="DM Sans"/>
              <a:ea typeface="DM Sans"/>
              <a:cs typeface="DM Sans"/>
              <a:sym typeface="DM Sans"/>
            </a:endParaRPr>
          </a:p>
        </p:txBody>
      </p:sp>
      <p:sp>
        <p:nvSpPr>
          <p:cNvPr id="3638" name="Google Shape;3638;p143"/>
          <p:cNvSpPr/>
          <p:nvPr/>
        </p:nvSpPr>
        <p:spPr>
          <a:xfrm>
            <a:off x="761801" y="484776"/>
            <a:ext cx="2892600" cy="1413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rPr lang="en" sz="1600">
                <a:solidFill>
                  <a:schemeClr val="accent1"/>
                </a:solidFill>
                <a:latin typeface="DM Sans"/>
                <a:ea typeface="DM Sans"/>
                <a:cs typeface="DM Sans"/>
                <a:sym typeface="DM Sans"/>
              </a:rPr>
              <a:t>Mount your Hive </a:t>
            </a:r>
            <a:r>
              <a:rPr lang="en" sz="1600">
                <a:solidFill>
                  <a:schemeClr val="accent1"/>
                </a:solidFill>
                <a:latin typeface="DM Sans"/>
                <a:ea typeface="DM Sans"/>
                <a:cs typeface="DM Sans"/>
                <a:sym typeface="DM Sans"/>
              </a:rPr>
              <a:t>Metastore</a:t>
            </a:r>
            <a:r>
              <a:rPr lang="en" sz="1600">
                <a:solidFill>
                  <a:schemeClr val="accent1"/>
                </a:solidFill>
                <a:latin typeface="DM Sans"/>
                <a:ea typeface="DM Sans"/>
                <a:cs typeface="DM Sans"/>
                <a:sym typeface="DM Sans"/>
              </a:rPr>
              <a:t> as a catalog.</a:t>
            </a:r>
            <a:endParaRPr sz="1600">
              <a:solidFill>
                <a:schemeClr val="accent1"/>
              </a:solidFill>
              <a:latin typeface="DM Sans"/>
              <a:ea typeface="DM Sans"/>
              <a:cs typeface="DM Sans"/>
              <a:sym typeface="DM Sans"/>
            </a:endParaRPr>
          </a:p>
        </p:txBody>
      </p:sp>
      <p:pic>
        <p:nvPicPr>
          <p:cNvPr id="3639" name="Google Shape;3639;p143"/>
          <p:cNvPicPr preferRelativeResize="0"/>
          <p:nvPr/>
        </p:nvPicPr>
        <p:blipFill rotWithShape="1">
          <a:blip r:embed="rId3">
            <a:alphaModFix/>
          </a:blip>
          <a:srcRect b="42106" l="3939" r="83164" t="18199"/>
          <a:stretch/>
        </p:blipFill>
        <p:spPr>
          <a:xfrm>
            <a:off x="3468013" y="1196975"/>
            <a:ext cx="2477837" cy="3874621"/>
          </a:xfrm>
          <a:prstGeom prst="rect">
            <a:avLst/>
          </a:prstGeom>
          <a:noFill/>
          <a:ln>
            <a:noFill/>
          </a:ln>
          <a:effectLst>
            <a:outerShdw blurRad="57150" rotWithShape="0" algn="bl" dir="5400000" dist="19050">
              <a:srgbClr val="000000">
                <a:alpha val="50000"/>
              </a:srgbClr>
            </a:outerShdw>
          </a:effectLst>
        </p:spPr>
      </p:pic>
      <p:sp>
        <p:nvSpPr>
          <p:cNvPr id="3640" name="Google Shape;3640;p143"/>
          <p:cNvSpPr/>
          <p:nvPr/>
        </p:nvSpPr>
        <p:spPr>
          <a:xfrm>
            <a:off x="449400" y="309000"/>
            <a:ext cx="702900" cy="471300"/>
          </a:xfrm>
          <a:prstGeom prst="ellipse">
            <a:avLst/>
          </a:prstGeom>
          <a:solidFill>
            <a:schemeClr val="dk2"/>
          </a:solidFill>
          <a:ln cap="flat" cmpd="sng" w="9525">
            <a:solidFill>
              <a:srgbClr val="FFFFFF"/>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600">
                <a:solidFill>
                  <a:srgbClr val="FFFFFF"/>
                </a:solidFill>
                <a:latin typeface="DM Sans"/>
                <a:ea typeface="DM Sans"/>
                <a:cs typeface="DM Sans"/>
                <a:sym typeface="DM Sans"/>
              </a:rPr>
              <a:t>1</a:t>
            </a:r>
            <a:endParaRPr sz="1600">
              <a:solidFill>
                <a:srgbClr val="FFFFFF"/>
              </a:solidFill>
              <a:latin typeface="DM Sans"/>
              <a:ea typeface="DM Sans"/>
              <a:cs typeface="DM Sans"/>
              <a:sym typeface="DM Sans"/>
            </a:endParaRPr>
          </a:p>
        </p:txBody>
      </p:sp>
      <p:cxnSp>
        <p:nvCxnSpPr>
          <p:cNvPr id="3641" name="Google Shape;3641;p143"/>
          <p:cNvCxnSpPr>
            <a:stCxn id="3638" idx="2"/>
          </p:cNvCxnSpPr>
          <p:nvPr/>
        </p:nvCxnSpPr>
        <p:spPr>
          <a:xfrm flipH="1" rot="-5400000">
            <a:off x="2618801" y="1487376"/>
            <a:ext cx="626400" cy="1447800"/>
          </a:xfrm>
          <a:prstGeom prst="bentConnector2">
            <a:avLst/>
          </a:prstGeom>
          <a:noFill/>
          <a:ln cap="flat" cmpd="sng" w="19050">
            <a:solidFill>
              <a:schemeClr val="dk2"/>
            </a:solidFill>
            <a:prstDash val="solid"/>
            <a:round/>
            <a:headEnd len="med" w="med" type="none"/>
            <a:tailEnd len="med" w="med" type="oval"/>
          </a:ln>
        </p:spPr>
      </p:cxnSp>
      <p:cxnSp>
        <p:nvCxnSpPr>
          <p:cNvPr id="3642" name="Google Shape;3642;p143"/>
          <p:cNvCxnSpPr>
            <a:endCxn id="3643" idx="1"/>
          </p:cNvCxnSpPr>
          <p:nvPr/>
        </p:nvCxnSpPr>
        <p:spPr>
          <a:xfrm flipH="1" rot="10800000">
            <a:off x="5238400" y="1037875"/>
            <a:ext cx="1640700" cy="505800"/>
          </a:xfrm>
          <a:prstGeom prst="bentConnector3">
            <a:avLst>
              <a:gd fmla="val 50000" name="adj1"/>
            </a:avLst>
          </a:prstGeom>
          <a:noFill/>
          <a:ln cap="flat" cmpd="sng" w="19050">
            <a:solidFill>
              <a:schemeClr val="dk2"/>
            </a:solidFill>
            <a:prstDash val="solid"/>
            <a:round/>
            <a:headEnd len="med" w="med" type="oval"/>
            <a:tailEnd len="med" w="med" type="none"/>
          </a:ln>
        </p:spPr>
      </p:cxnSp>
      <p:sp>
        <p:nvSpPr>
          <p:cNvPr id="3644" name="Google Shape;3644;p143"/>
          <p:cNvSpPr/>
          <p:nvPr/>
        </p:nvSpPr>
        <p:spPr>
          <a:xfrm>
            <a:off x="6580475" y="138300"/>
            <a:ext cx="702900" cy="471300"/>
          </a:xfrm>
          <a:prstGeom prst="ellipse">
            <a:avLst/>
          </a:prstGeom>
          <a:solidFill>
            <a:schemeClr val="dk2"/>
          </a:solidFill>
          <a:ln cap="flat" cmpd="sng" w="9525">
            <a:solidFill>
              <a:srgbClr val="FFFFFF"/>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600">
                <a:solidFill>
                  <a:srgbClr val="FFFFFF"/>
                </a:solidFill>
                <a:latin typeface="DM Sans"/>
                <a:ea typeface="DM Sans"/>
                <a:cs typeface="DM Sans"/>
                <a:sym typeface="DM Sans"/>
              </a:rPr>
              <a:t>2</a:t>
            </a:r>
            <a:endParaRPr sz="1600">
              <a:solidFill>
                <a:srgbClr val="FFFFFF"/>
              </a:solidFill>
              <a:latin typeface="DM Sans"/>
              <a:ea typeface="DM Sans"/>
              <a:cs typeface="DM Sans"/>
              <a:sym typeface="DM Sans"/>
            </a:endParaRPr>
          </a:p>
        </p:txBody>
      </p:sp>
      <p:grpSp>
        <p:nvGrpSpPr>
          <p:cNvPr id="3645" name="Google Shape;3645;p143"/>
          <p:cNvGrpSpPr/>
          <p:nvPr/>
        </p:nvGrpSpPr>
        <p:grpSpPr>
          <a:xfrm>
            <a:off x="6024226" y="2246750"/>
            <a:ext cx="3225454" cy="1700912"/>
            <a:chOff x="6487072" y="2628039"/>
            <a:chExt cx="3597428" cy="1706886"/>
          </a:xfrm>
        </p:grpSpPr>
        <p:sp>
          <p:nvSpPr>
            <p:cNvPr id="3646" name="Google Shape;3646;p143"/>
            <p:cNvSpPr/>
            <p:nvPr/>
          </p:nvSpPr>
          <p:spPr>
            <a:xfrm>
              <a:off x="6683700" y="2786625"/>
              <a:ext cx="3400800" cy="1548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rPr lang="en" sz="1600">
                  <a:solidFill>
                    <a:schemeClr val="accent1"/>
                  </a:solidFill>
                  <a:latin typeface="DM Sans"/>
                  <a:ea typeface="DM Sans"/>
                  <a:cs typeface="DM Sans"/>
                  <a:sym typeface="DM Sans"/>
                </a:rPr>
                <a:t>Use a unified governance model.</a:t>
              </a:r>
              <a:endParaRPr sz="1600">
                <a:solidFill>
                  <a:schemeClr val="accent1"/>
                </a:solidFill>
                <a:latin typeface="DM Sans"/>
                <a:ea typeface="DM Sans"/>
                <a:cs typeface="DM Sans"/>
                <a:sym typeface="DM Sans"/>
              </a:endParaRPr>
            </a:p>
          </p:txBody>
        </p:sp>
        <p:sp>
          <p:nvSpPr>
            <p:cNvPr id="3647" name="Google Shape;3647;p143"/>
            <p:cNvSpPr/>
            <p:nvPr/>
          </p:nvSpPr>
          <p:spPr>
            <a:xfrm>
              <a:off x="6487072" y="2628039"/>
              <a:ext cx="844800" cy="473100"/>
            </a:xfrm>
            <a:prstGeom prst="ellipse">
              <a:avLst/>
            </a:prstGeom>
            <a:solidFill>
              <a:schemeClr val="dk2"/>
            </a:solidFill>
            <a:ln cap="flat" cmpd="sng" w="9525">
              <a:solidFill>
                <a:srgbClr val="FFFFFF"/>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600">
                  <a:solidFill>
                    <a:srgbClr val="FFFFFF"/>
                  </a:solidFill>
                  <a:latin typeface="DM Sans"/>
                  <a:ea typeface="DM Sans"/>
                  <a:cs typeface="DM Sans"/>
                  <a:sym typeface="DM Sans"/>
                </a:rPr>
                <a:t>3</a:t>
              </a:r>
              <a:endParaRPr sz="1600">
                <a:solidFill>
                  <a:srgbClr val="FFFFFF"/>
                </a:solidFill>
                <a:latin typeface="DM Sans"/>
                <a:ea typeface="DM Sans"/>
                <a:cs typeface="DM Sans"/>
                <a:sym typeface="DM Sans"/>
              </a:endParaRPr>
            </a:p>
          </p:txBody>
        </p:sp>
      </p:grpSp>
      <p:pic>
        <p:nvPicPr>
          <p:cNvPr id="3648" name="Google Shape;3648;p143"/>
          <p:cNvPicPr preferRelativeResize="0"/>
          <p:nvPr/>
        </p:nvPicPr>
        <p:blipFill rotWithShape="1">
          <a:blip r:embed="rId4">
            <a:alphaModFix/>
          </a:blip>
          <a:srcRect b="35860" l="0" r="48849" t="0"/>
          <a:stretch/>
        </p:blipFill>
        <p:spPr>
          <a:xfrm>
            <a:off x="7281200" y="3338675"/>
            <a:ext cx="3367950" cy="2621275"/>
          </a:xfrm>
          <a:prstGeom prst="rect">
            <a:avLst/>
          </a:prstGeom>
          <a:noFill/>
          <a:ln>
            <a:noFill/>
          </a:ln>
          <a:effectLst>
            <a:outerShdw blurRad="57150" rotWithShape="0" algn="bl" dir="5400000" dist="19050">
              <a:srgbClr val="000000">
                <a:alpha val="50000"/>
              </a:srgbClr>
            </a:outerShdw>
          </a:effectLst>
        </p:spPr>
      </p:pic>
      <p:sp>
        <p:nvSpPr>
          <p:cNvPr id="3649" name="Google Shape;3649;p143"/>
          <p:cNvSpPr txBox="1"/>
          <p:nvPr/>
        </p:nvSpPr>
        <p:spPr>
          <a:xfrm>
            <a:off x="23625" y="64531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source/_static/images/unity-catalog/hive-as-unity.png</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653" name="Shape 3653"/>
        <p:cNvGrpSpPr/>
        <p:nvPr/>
      </p:nvGrpSpPr>
      <p:grpSpPr>
        <a:xfrm>
          <a:off x="0" y="0"/>
          <a:ext cx="0" cy="0"/>
          <a:chOff x="0" y="0"/>
          <a:chExt cx="0" cy="0"/>
        </a:xfrm>
      </p:grpSpPr>
      <p:sp>
        <p:nvSpPr>
          <p:cNvPr id="3654" name="Google Shape;3654;p144"/>
          <p:cNvSpPr/>
          <p:nvPr/>
        </p:nvSpPr>
        <p:spPr>
          <a:xfrm>
            <a:off x="1073316" y="4208739"/>
            <a:ext cx="1859400" cy="8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Existing workloads</a:t>
            </a:r>
            <a:endParaRPr i="0" sz="1600" u="none" cap="none" strike="noStrike">
              <a:solidFill>
                <a:schemeClr val="accent1"/>
              </a:solidFill>
              <a:latin typeface="DM Sans"/>
              <a:ea typeface="DM Sans"/>
              <a:cs typeface="DM Sans"/>
              <a:sym typeface="DM Sans"/>
            </a:endParaRPr>
          </a:p>
        </p:txBody>
      </p:sp>
      <p:sp>
        <p:nvSpPr>
          <p:cNvPr id="3655" name="Google Shape;3655;p144"/>
          <p:cNvSpPr txBox="1"/>
          <p:nvPr/>
        </p:nvSpPr>
        <p:spPr>
          <a:xfrm>
            <a:off x="3199517" y="1877683"/>
            <a:ext cx="15123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Crawl</a:t>
            </a:r>
            <a:endParaRPr sz="1600">
              <a:latin typeface="DM Sans"/>
              <a:ea typeface="DM Sans"/>
              <a:cs typeface="DM Sans"/>
              <a:sym typeface="DM Sans"/>
            </a:endParaRPr>
          </a:p>
        </p:txBody>
      </p:sp>
      <p:sp>
        <p:nvSpPr>
          <p:cNvPr id="3656" name="Google Shape;3656;p144"/>
          <p:cNvSpPr/>
          <p:nvPr/>
        </p:nvSpPr>
        <p:spPr>
          <a:xfrm>
            <a:off x="5047525" y="1317600"/>
            <a:ext cx="2191800" cy="2689500"/>
          </a:xfrm>
          <a:prstGeom prst="roundRect">
            <a:avLst>
              <a:gd fmla="val 351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3657" name="Google Shape;3657;p144"/>
          <p:cNvSpPr txBox="1"/>
          <p:nvPr/>
        </p:nvSpPr>
        <p:spPr>
          <a:xfrm>
            <a:off x="5042842" y="1317554"/>
            <a:ext cx="2191800" cy="492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Unity Catalog</a:t>
            </a:r>
            <a:endParaRPr i="0" sz="1600" u="none" cap="none" strike="noStrike">
              <a:solidFill>
                <a:schemeClr val="accent1"/>
              </a:solidFill>
              <a:latin typeface="DM Sans"/>
              <a:ea typeface="DM Sans"/>
              <a:cs typeface="DM Sans"/>
              <a:sym typeface="DM Sans"/>
            </a:endParaRPr>
          </a:p>
        </p:txBody>
      </p:sp>
      <p:sp>
        <p:nvSpPr>
          <p:cNvPr id="3658" name="Google Shape;3658;p144"/>
          <p:cNvSpPr txBox="1"/>
          <p:nvPr/>
        </p:nvSpPr>
        <p:spPr>
          <a:xfrm>
            <a:off x="5142925" y="2045650"/>
            <a:ext cx="2043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Federated catalog</a:t>
            </a:r>
            <a:endParaRPr i="0" sz="1600" u="none" cap="none" strike="noStrike">
              <a:solidFill>
                <a:schemeClr val="accent1"/>
              </a:solidFill>
              <a:latin typeface="DM Sans"/>
              <a:ea typeface="DM Sans"/>
              <a:cs typeface="DM Sans"/>
              <a:sym typeface="DM Sans"/>
            </a:endParaRPr>
          </a:p>
        </p:txBody>
      </p:sp>
      <p:sp>
        <p:nvSpPr>
          <p:cNvPr id="3659" name="Google Shape;3659;p144"/>
          <p:cNvSpPr txBox="1"/>
          <p:nvPr/>
        </p:nvSpPr>
        <p:spPr>
          <a:xfrm>
            <a:off x="5142925" y="2731450"/>
            <a:ext cx="2043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Other catalogs</a:t>
            </a:r>
            <a:endParaRPr i="0" sz="1600" u="none" cap="none" strike="noStrike">
              <a:solidFill>
                <a:schemeClr val="accent1"/>
              </a:solidFill>
              <a:latin typeface="DM Sans"/>
              <a:ea typeface="DM Sans"/>
              <a:cs typeface="DM Sans"/>
              <a:sym typeface="DM Sans"/>
            </a:endParaRPr>
          </a:p>
        </p:txBody>
      </p:sp>
      <p:sp>
        <p:nvSpPr>
          <p:cNvPr id="3660" name="Google Shape;3660;p144"/>
          <p:cNvSpPr/>
          <p:nvPr/>
        </p:nvSpPr>
        <p:spPr>
          <a:xfrm>
            <a:off x="9583285" y="2257741"/>
            <a:ext cx="1859400" cy="8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New workloads</a:t>
            </a:r>
            <a:endParaRPr i="0" sz="1600" u="none" cap="none" strike="noStrike">
              <a:solidFill>
                <a:schemeClr val="accent1"/>
              </a:solidFill>
              <a:latin typeface="DM Sans"/>
              <a:ea typeface="DM Sans"/>
              <a:cs typeface="DM Sans"/>
              <a:sym typeface="DM Sans"/>
            </a:endParaRPr>
          </a:p>
        </p:txBody>
      </p:sp>
      <p:sp>
        <p:nvSpPr>
          <p:cNvPr id="3661" name="Google Shape;3661;p144"/>
          <p:cNvSpPr txBox="1"/>
          <p:nvPr/>
        </p:nvSpPr>
        <p:spPr>
          <a:xfrm>
            <a:off x="3275726" y="2697625"/>
            <a:ext cx="15123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Query</a:t>
            </a:r>
            <a:r>
              <a:rPr lang="en" sz="1600">
                <a:latin typeface="DM Sans"/>
                <a:ea typeface="DM Sans"/>
                <a:cs typeface="DM Sans"/>
                <a:sym typeface="DM Sans"/>
              </a:rPr>
              <a:t> execution</a:t>
            </a:r>
            <a:endParaRPr sz="1600">
              <a:latin typeface="DM Sans"/>
              <a:ea typeface="DM Sans"/>
              <a:cs typeface="DM Sans"/>
              <a:sym typeface="DM Sans"/>
            </a:endParaRPr>
          </a:p>
        </p:txBody>
      </p:sp>
      <p:sp>
        <p:nvSpPr>
          <p:cNvPr id="3662" name="Google Shape;3662;p144"/>
          <p:cNvSpPr/>
          <p:nvPr/>
        </p:nvSpPr>
        <p:spPr>
          <a:xfrm rot="-5400000">
            <a:off x="6415375" y="2198950"/>
            <a:ext cx="2683800" cy="952800"/>
          </a:xfrm>
          <a:prstGeom prst="rect">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Unity Catalog </a:t>
            </a:r>
            <a:endParaRPr sz="1600">
              <a:solidFill>
                <a:schemeClr val="accent1"/>
              </a:solidFill>
              <a:latin typeface="DM Sans"/>
              <a:ea typeface="DM Sans"/>
              <a:cs typeface="DM Sans"/>
              <a:sym typeface="DM Sans"/>
            </a:endParaRPr>
          </a:p>
          <a:p>
            <a:pPr indent="0" lvl="0" marL="0" marR="0" rtl="0" algn="ctr">
              <a:lnSpc>
                <a:spcPct val="100000"/>
              </a:lnSpc>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Governance Layer</a:t>
            </a:r>
            <a:endParaRPr i="0" sz="1600" u="none" cap="none" strike="noStrike">
              <a:solidFill>
                <a:schemeClr val="accent1"/>
              </a:solidFill>
              <a:latin typeface="DM Sans"/>
              <a:ea typeface="DM Sans"/>
              <a:cs typeface="DM Sans"/>
              <a:sym typeface="DM Sans"/>
            </a:endParaRPr>
          </a:p>
        </p:txBody>
      </p:sp>
      <p:sp>
        <p:nvSpPr>
          <p:cNvPr id="3663" name="Google Shape;3663;p144"/>
          <p:cNvSpPr/>
          <p:nvPr/>
        </p:nvSpPr>
        <p:spPr>
          <a:xfrm>
            <a:off x="1061435" y="2225341"/>
            <a:ext cx="1859400" cy="8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Hive Metastore</a:t>
            </a:r>
            <a:endParaRPr i="0" sz="1600" u="none" cap="none" strike="noStrike">
              <a:solidFill>
                <a:schemeClr val="accent1"/>
              </a:solidFill>
              <a:latin typeface="DM Sans"/>
              <a:ea typeface="DM Sans"/>
              <a:cs typeface="DM Sans"/>
              <a:sym typeface="DM Sans"/>
            </a:endParaRPr>
          </a:p>
        </p:txBody>
      </p:sp>
      <p:cxnSp>
        <p:nvCxnSpPr>
          <p:cNvPr id="3664" name="Google Shape;3664;p144"/>
          <p:cNvCxnSpPr/>
          <p:nvPr/>
        </p:nvCxnSpPr>
        <p:spPr>
          <a:xfrm>
            <a:off x="2996025" y="2462000"/>
            <a:ext cx="2022900" cy="8700"/>
          </a:xfrm>
          <a:prstGeom prst="straightConnector1">
            <a:avLst/>
          </a:prstGeom>
          <a:noFill/>
          <a:ln cap="flat" cmpd="sng" w="19050">
            <a:solidFill>
              <a:schemeClr val="accent1"/>
            </a:solidFill>
            <a:prstDash val="solid"/>
            <a:round/>
            <a:headEnd len="sm" w="sm" type="none"/>
            <a:tailEnd len="med" w="med" type="triangle"/>
          </a:ln>
        </p:spPr>
      </p:cxnSp>
      <p:cxnSp>
        <p:nvCxnSpPr>
          <p:cNvPr id="3665" name="Google Shape;3665;p144"/>
          <p:cNvCxnSpPr/>
          <p:nvPr/>
        </p:nvCxnSpPr>
        <p:spPr>
          <a:xfrm rot="10800000">
            <a:off x="2920897" y="2748850"/>
            <a:ext cx="2085000" cy="12000"/>
          </a:xfrm>
          <a:prstGeom prst="straightConnector1">
            <a:avLst/>
          </a:prstGeom>
          <a:noFill/>
          <a:ln cap="flat" cmpd="sng" w="19050">
            <a:solidFill>
              <a:schemeClr val="accent1"/>
            </a:solidFill>
            <a:prstDash val="solid"/>
            <a:round/>
            <a:headEnd len="sm" w="sm" type="none"/>
            <a:tailEnd len="med" w="med" type="triangle"/>
          </a:ln>
        </p:spPr>
      </p:cxnSp>
      <p:cxnSp>
        <p:nvCxnSpPr>
          <p:cNvPr id="3666" name="Google Shape;3666;p144"/>
          <p:cNvCxnSpPr>
            <a:stCxn id="3663" idx="2"/>
            <a:endCxn id="3654" idx="0"/>
          </p:cNvCxnSpPr>
          <p:nvPr/>
        </p:nvCxnSpPr>
        <p:spPr>
          <a:xfrm>
            <a:off x="1991135" y="3060541"/>
            <a:ext cx="12000" cy="1148100"/>
          </a:xfrm>
          <a:prstGeom prst="straightConnector1">
            <a:avLst/>
          </a:prstGeom>
          <a:noFill/>
          <a:ln cap="flat" cmpd="sng" w="19050">
            <a:solidFill>
              <a:schemeClr val="accent1"/>
            </a:solidFill>
            <a:prstDash val="solid"/>
            <a:round/>
            <a:headEnd len="med" w="med" type="triangle"/>
            <a:tailEnd len="med" w="med" type="triangle"/>
          </a:ln>
        </p:spPr>
      </p:cxnSp>
      <p:cxnSp>
        <p:nvCxnSpPr>
          <p:cNvPr id="3667" name="Google Shape;3667;p144"/>
          <p:cNvCxnSpPr>
            <a:stCxn id="3662" idx="2"/>
            <a:endCxn id="3660" idx="1"/>
          </p:cNvCxnSpPr>
          <p:nvPr/>
        </p:nvCxnSpPr>
        <p:spPr>
          <a:xfrm>
            <a:off x="8233675" y="2675350"/>
            <a:ext cx="1349700" cy="0"/>
          </a:xfrm>
          <a:prstGeom prst="straightConnector1">
            <a:avLst/>
          </a:prstGeom>
          <a:noFill/>
          <a:ln cap="flat" cmpd="sng" w="19050">
            <a:solidFill>
              <a:schemeClr val="accent1"/>
            </a:solidFill>
            <a:prstDash val="solid"/>
            <a:round/>
            <a:headEnd len="med" w="med" type="triangle"/>
            <a:tailEnd len="med" w="med" type="triangle"/>
          </a:ln>
        </p:spPr>
      </p:cxnSp>
      <p:sp>
        <p:nvSpPr>
          <p:cNvPr id="3668" name="Google Shape;3668;p144"/>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source/_static/images/unity-catalog/hive-federation-diagram.png</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672" name="Shape 3672"/>
        <p:cNvGrpSpPr/>
        <p:nvPr/>
      </p:nvGrpSpPr>
      <p:grpSpPr>
        <a:xfrm>
          <a:off x="0" y="0"/>
          <a:ext cx="0" cy="0"/>
          <a:chOff x="0" y="0"/>
          <a:chExt cx="0" cy="0"/>
        </a:xfrm>
      </p:grpSpPr>
      <p:sp>
        <p:nvSpPr>
          <p:cNvPr id="3673" name="Google Shape;3673;p145"/>
          <p:cNvSpPr/>
          <p:nvPr/>
        </p:nvSpPr>
        <p:spPr>
          <a:xfrm>
            <a:off x="1073316" y="4208739"/>
            <a:ext cx="1859400" cy="8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Existing workloads</a:t>
            </a:r>
            <a:endParaRPr i="0" sz="1600" u="none" cap="none" strike="noStrike">
              <a:solidFill>
                <a:schemeClr val="accent1"/>
              </a:solidFill>
              <a:latin typeface="DM Sans"/>
              <a:ea typeface="DM Sans"/>
              <a:cs typeface="DM Sans"/>
              <a:sym typeface="DM Sans"/>
            </a:endParaRPr>
          </a:p>
        </p:txBody>
      </p:sp>
      <p:sp>
        <p:nvSpPr>
          <p:cNvPr id="3674" name="Google Shape;3674;p145"/>
          <p:cNvSpPr txBox="1"/>
          <p:nvPr/>
        </p:nvSpPr>
        <p:spPr>
          <a:xfrm>
            <a:off x="3199517" y="1877683"/>
            <a:ext cx="15123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Crawl</a:t>
            </a:r>
            <a:endParaRPr sz="1600">
              <a:latin typeface="DM Sans"/>
              <a:ea typeface="DM Sans"/>
              <a:cs typeface="DM Sans"/>
              <a:sym typeface="DM Sans"/>
            </a:endParaRPr>
          </a:p>
        </p:txBody>
      </p:sp>
      <p:sp>
        <p:nvSpPr>
          <p:cNvPr id="3675" name="Google Shape;3675;p145"/>
          <p:cNvSpPr/>
          <p:nvPr/>
        </p:nvSpPr>
        <p:spPr>
          <a:xfrm>
            <a:off x="5047525" y="1317600"/>
            <a:ext cx="2191800" cy="2689500"/>
          </a:xfrm>
          <a:prstGeom prst="roundRect">
            <a:avLst>
              <a:gd fmla="val 351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3676" name="Google Shape;3676;p145"/>
          <p:cNvSpPr txBox="1"/>
          <p:nvPr/>
        </p:nvSpPr>
        <p:spPr>
          <a:xfrm>
            <a:off x="5042842" y="1317554"/>
            <a:ext cx="2191800" cy="492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Unity Catalog</a:t>
            </a:r>
            <a:endParaRPr i="0" sz="1600" u="none" cap="none" strike="noStrike">
              <a:solidFill>
                <a:schemeClr val="accent1"/>
              </a:solidFill>
              <a:latin typeface="DM Sans"/>
              <a:ea typeface="DM Sans"/>
              <a:cs typeface="DM Sans"/>
              <a:sym typeface="DM Sans"/>
            </a:endParaRPr>
          </a:p>
        </p:txBody>
      </p:sp>
      <p:sp>
        <p:nvSpPr>
          <p:cNvPr id="3677" name="Google Shape;3677;p145"/>
          <p:cNvSpPr txBox="1"/>
          <p:nvPr/>
        </p:nvSpPr>
        <p:spPr>
          <a:xfrm>
            <a:off x="5142925" y="2045650"/>
            <a:ext cx="2043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rtl="0" algn="ctr">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hms_in_uc</a:t>
            </a:r>
            <a:endParaRPr sz="1600">
              <a:solidFill>
                <a:schemeClr val="accent1"/>
              </a:solidFill>
              <a:latin typeface="DM Sans"/>
              <a:ea typeface="DM Sans"/>
              <a:cs typeface="DM Sans"/>
              <a:sym typeface="DM Sans"/>
            </a:endParaRPr>
          </a:p>
        </p:txBody>
      </p:sp>
      <p:sp>
        <p:nvSpPr>
          <p:cNvPr id="3678" name="Google Shape;3678;p145"/>
          <p:cNvSpPr txBox="1"/>
          <p:nvPr/>
        </p:nvSpPr>
        <p:spPr>
          <a:xfrm>
            <a:off x="5142925" y="2731450"/>
            <a:ext cx="2043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Other catalogs</a:t>
            </a:r>
            <a:endParaRPr i="0" sz="1600" u="none" cap="none" strike="noStrike">
              <a:solidFill>
                <a:schemeClr val="accent1"/>
              </a:solidFill>
              <a:latin typeface="DM Sans"/>
              <a:ea typeface="DM Sans"/>
              <a:cs typeface="DM Sans"/>
              <a:sym typeface="DM Sans"/>
            </a:endParaRPr>
          </a:p>
        </p:txBody>
      </p:sp>
      <p:sp>
        <p:nvSpPr>
          <p:cNvPr id="3679" name="Google Shape;3679;p145"/>
          <p:cNvSpPr/>
          <p:nvPr/>
        </p:nvSpPr>
        <p:spPr>
          <a:xfrm>
            <a:off x="9583285" y="2257741"/>
            <a:ext cx="1859400" cy="8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New workloads</a:t>
            </a:r>
            <a:endParaRPr i="0" sz="1600" u="none" cap="none" strike="noStrike">
              <a:solidFill>
                <a:schemeClr val="accent1"/>
              </a:solidFill>
              <a:latin typeface="DM Sans"/>
              <a:ea typeface="DM Sans"/>
              <a:cs typeface="DM Sans"/>
              <a:sym typeface="DM Sans"/>
            </a:endParaRPr>
          </a:p>
        </p:txBody>
      </p:sp>
      <p:sp>
        <p:nvSpPr>
          <p:cNvPr id="3680" name="Google Shape;3680;p145"/>
          <p:cNvSpPr txBox="1"/>
          <p:nvPr/>
        </p:nvSpPr>
        <p:spPr>
          <a:xfrm>
            <a:off x="3275726" y="2697625"/>
            <a:ext cx="15123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Query execution</a:t>
            </a:r>
            <a:endParaRPr sz="1600">
              <a:latin typeface="DM Sans"/>
              <a:ea typeface="DM Sans"/>
              <a:cs typeface="DM Sans"/>
              <a:sym typeface="DM Sans"/>
            </a:endParaRPr>
          </a:p>
        </p:txBody>
      </p:sp>
      <p:sp>
        <p:nvSpPr>
          <p:cNvPr id="3681" name="Google Shape;3681;p145"/>
          <p:cNvSpPr/>
          <p:nvPr/>
        </p:nvSpPr>
        <p:spPr>
          <a:xfrm rot="-5400000">
            <a:off x="6415375" y="2198950"/>
            <a:ext cx="2683800" cy="952800"/>
          </a:xfrm>
          <a:prstGeom prst="rect">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Unity Catalog </a:t>
            </a:r>
            <a:endParaRPr sz="1600">
              <a:solidFill>
                <a:schemeClr val="accent1"/>
              </a:solidFill>
              <a:latin typeface="DM Sans"/>
              <a:ea typeface="DM Sans"/>
              <a:cs typeface="DM Sans"/>
              <a:sym typeface="DM Sans"/>
            </a:endParaRPr>
          </a:p>
          <a:p>
            <a:pPr indent="0" lvl="0" marL="0" marR="0" rtl="0" algn="ctr">
              <a:lnSpc>
                <a:spcPct val="100000"/>
              </a:lnSpc>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Governance Layer</a:t>
            </a:r>
            <a:endParaRPr i="0" sz="1600" u="none" cap="none" strike="noStrike">
              <a:solidFill>
                <a:schemeClr val="accent1"/>
              </a:solidFill>
              <a:latin typeface="DM Sans"/>
              <a:ea typeface="DM Sans"/>
              <a:cs typeface="DM Sans"/>
              <a:sym typeface="DM Sans"/>
            </a:endParaRPr>
          </a:p>
        </p:txBody>
      </p:sp>
      <p:sp>
        <p:nvSpPr>
          <p:cNvPr id="3682" name="Google Shape;3682;p145"/>
          <p:cNvSpPr/>
          <p:nvPr/>
        </p:nvSpPr>
        <p:spPr>
          <a:xfrm>
            <a:off x="1061435" y="2225341"/>
            <a:ext cx="1859400" cy="8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Hive Metastore</a:t>
            </a:r>
            <a:endParaRPr i="0" sz="1600" u="none" cap="none" strike="noStrike">
              <a:solidFill>
                <a:schemeClr val="accent1"/>
              </a:solidFill>
              <a:latin typeface="DM Sans"/>
              <a:ea typeface="DM Sans"/>
              <a:cs typeface="DM Sans"/>
              <a:sym typeface="DM Sans"/>
            </a:endParaRPr>
          </a:p>
        </p:txBody>
      </p:sp>
      <p:cxnSp>
        <p:nvCxnSpPr>
          <p:cNvPr id="3683" name="Google Shape;3683;p145"/>
          <p:cNvCxnSpPr/>
          <p:nvPr/>
        </p:nvCxnSpPr>
        <p:spPr>
          <a:xfrm>
            <a:off x="2996025" y="2462000"/>
            <a:ext cx="2022900" cy="8700"/>
          </a:xfrm>
          <a:prstGeom prst="straightConnector1">
            <a:avLst/>
          </a:prstGeom>
          <a:noFill/>
          <a:ln cap="flat" cmpd="sng" w="19050">
            <a:solidFill>
              <a:schemeClr val="accent1"/>
            </a:solidFill>
            <a:prstDash val="solid"/>
            <a:round/>
            <a:headEnd len="sm" w="sm" type="none"/>
            <a:tailEnd len="med" w="med" type="triangle"/>
          </a:ln>
        </p:spPr>
      </p:cxnSp>
      <p:cxnSp>
        <p:nvCxnSpPr>
          <p:cNvPr id="3684" name="Google Shape;3684;p145"/>
          <p:cNvCxnSpPr/>
          <p:nvPr/>
        </p:nvCxnSpPr>
        <p:spPr>
          <a:xfrm rot="10800000">
            <a:off x="2920897" y="2748850"/>
            <a:ext cx="2085000" cy="12000"/>
          </a:xfrm>
          <a:prstGeom prst="straightConnector1">
            <a:avLst/>
          </a:prstGeom>
          <a:noFill/>
          <a:ln cap="flat" cmpd="sng" w="19050">
            <a:solidFill>
              <a:schemeClr val="accent1"/>
            </a:solidFill>
            <a:prstDash val="solid"/>
            <a:round/>
            <a:headEnd len="sm" w="sm" type="none"/>
            <a:tailEnd len="med" w="med" type="triangle"/>
          </a:ln>
        </p:spPr>
      </p:cxnSp>
      <p:cxnSp>
        <p:nvCxnSpPr>
          <p:cNvPr id="3685" name="Google Shape;3685;p145"/>
          <p:cNvCxnSpPr>
            <a:stCxn id="3682" idx="2"/>
            <a:endCxn id="3673" idx="0"/>
          </p:cNvCxnSpPr>
          <p:nvPr/>
        </p:nvCxnSpPr>
        <p:spPr>
          <a:xfrm>
            <a:off x="1991135" y="3060541"/>
            <a:ext cx="12000" cy="1148100"/>
          </a:xfrm>
          <a:prstGeom prst="straightConnector1">
            <a:avLst/>
          </a:prstGeom>
          <a:noFill/>
          <a:ln cap="flat" cmpd="sng" w="19050">
            <a:solidFill>
              <a:schemeClr val="accent1"/>
            </a:solidFill>
            <a:prstDash val="solid"/>
            <a:round/>
            <a:headEnd len="med" w="med" type="triangle"/>
            <a:tailEnd len="med" w="med" type="triangle"/>
          </a:ln>
        </p:spPr>
      </p:cxnSp>
      <p:cxnSp>
        <p:nvCxnSpPr>
          <p:cNvPr id="3686" name="Google Shape;3686;p145"/>
          <p:cNvCxnSpPr>
            <a:stCxn id="3681" idx="2"/>
            <a:endCxn id="3679" idx="1"/>
          </p:cNvCxnSpPr>
          <p:nvPr/>
        </p:nvCxnSpPr>
        <p:spPr>
          <a:xfrm>
            <a:off x="8233675" y="2675350"/>
            <a:ext cx="1349700" cy="0"/>
          </a:xfrm>
          <a:prstGeom prst="straightConnector1">
            <a:avLst/>
          </a:prstGeom>
          <a:noFill/>
          <a:ln cap="flat" cmpd="sng" w="19050">
            <a:solidFill>
              <a:schemeClr val="accent1"/>
            </a:solidFill>
            <a:prstDash val="solid"/>
            <a:round/>
            <a:headEnd len="med" w="med" type="triangle"/>
            <a:tailEnd len="med" w="med" type="triangle"/>
          </a:ln>
        </p:spPr>
      </p:cxnSp>
      <p:sp>
        <p:nvSpPr>
          <p:cNvPr id="3687" name="Google Shape;3687;p145"/>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highlight>
                  <a:srgbClr val="F6F8FA"/>
                </a:highlight>
                <a:latin typeface="Consolas"/>
                <a:ea typeface="Consolas"/>
                <a:cs typeface="Consolas"/>
                <a:sym typeface="Consolas"/>
              </a:rPr>
              <a:t>source/_static/images/unity-catalog/federated-catalog-new-workload.png</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691" name="Shape 3691"/>
        <p:cNvGrpSpPr/>
        <p:nvPr/>
      </p:nvGrpSpPr>
      <p:grpSpPr>
        <a:xfrm>
          <a:off x="0" y="0"/>
          <a:ext cx="0" cy="0"/>
          <a:chOff x="0" y="0"/>
          <a:chExt cx="0" cy="0"/>
        </a:xfrm>
      </p:grpSpPr>
      <p:sp>
        <p:nvSpPr>
          <p:cNvPr id="3692" name="Google Shape;3692;p146"/>
          <p:cNvSpPr/>
          <p:nvPr/>
        </p:nvSpPr>
        <p:spPr>
          <a:xfrm>
            <a:off x="1064416" y="3686364"/>
            <a:ext cx="1859400" cy="8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Existing workloads</a:t>
            </a:r>
            <a:endParaRPr i="0" sz="1600" u="none" cap="none" strike="noStrike">
              <a:solidFill>
                <a:schemeClr val="accent1"/>
              </a:solidFill>
              <a:latin typeface="DM Sans"/>
              <a:ea typeface="DM Sans"/>
              <a:cs typeface="DM Sans"/>
              <a:sym typeface="DM Sans"/>
            </a:endParaRPr>
          </a:p>
        </p:txBody>
      </p:sp>
      <p:sp>
        <p:nvSpPr>
          <p:cNvPr id="3693" name="Google Shape;3693;p146"/>
          <p:cNvSpPr txBox="1"/>
          <p:nvPr/>
        </p:nvSpPr>
        <p:spPr>
          <a:xfrm>
            <a:off x="3199517" y="1877683"/>
            <a:ext cx="15123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Crawl</a:t>
            </a:r>
            <a:endParaRPr sz="1600">
              <a:latin typeface="DM Sans"/>
              <a:ea typeface="DM Sans"/>
              <a:cs typeface="DM Sans"/>
              <a:sym typeface="DM Sans"/>
            </a:endParaRPr>
          </a:p>
        </p:txBody>
      </p:sp>
      <p:sp>
        <p:nvSpPr>
          <p:cNvPr id="3694" name="Google Shape;3694;p146"/>
          <p:cNvSpPr/>
          <p:nvPr/>
        </p:nvSpPr>
        <p:spPr>
          <a:xfrm>
            <a:off x="5047525" y="1317600"/>
            <a:ext cx="2191800" cy="3204000"/>
          </a:xfrm>
          <a:prstGeom prst="roundRect">
            <a:avLst>
              <a:gd fmla="val 351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3695" name="Google Shape;3695;p146"/>
          <p:cNvSpPr txBox="1"/>
          <p:nvPr/>
        </p:nvSpPr>
        <p:spPr>
          <a:xfrm>
            <a:off x="5042842" y="1317554"/>
            <a:ext cx="2191800" cy="492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Unity Catalog</a:t>
            </a:r>
            <a:endParaRPr i="0" sz="1600" u="none" cap="none" strike="noStrike">
              <a:solidFill>
                <a:schemeClr val="accent1"/>
              </a:solidFill>
              <a:latin typeface="DM Sans"/>
              <a:ea typeface="DM Sans"/>
              <a:cs typeface="DM Sans"/>
              <a:sym typeface="DM Sans"/>
            </a:endParaRPr>
          </a:p>
        </p:txBody>
      </p:sp>
      <p:sp>
        <p:nvSpPr>
          <p:cNvPr id="3696" name="Google Shape;3696;p146"/>
          <p:cNvSpPr txBox="1"/>
          <p:nvPr/>
        </p:nvSpPr>
        <p:spPr>
          <a:xfrm>
            <a:off x="5142925" y="2045650"/>
            <a:ext cx="2043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hms_in_uc</a:t>
            </a:r>
            <a:endParaRPr i="0" sz="1600" u="none" cap="none" strike="noStrike">
              <a:solidFill>
                <a:schemeClr val="accent1"/>
              </a:solidFill>
              <a:latin typeface="DM Sans"/>
              <a:ea typeface="DM Sans"/>
              <a:cs typeface="DM Sans"/>
              <a:sym typeface="DM Sans"/>
            </a:endParaRPr>
          </a:p>
        </p:txBody>
      </p:sp>
      <p:sp>
        <p:nvSpPr>
          <p:cNvPr id="3697" name="Google Shape;3697;p146"/>
          <p:cNvSpPr txBox="1"/>
          <p:nvPr/>
        </p:nvSpPr>
        <p:spPr>
          <a:xfrm>
            <a:off x="5142925" y="2731450"/>
            <a:ext cx="2043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Other catalogs</a:t>
            </a:r>
            <a:endParaRPr i="0" sz="1600" u="none" cap="none" strike="noStrike">
              <a:solidFill>
                <a:schemeClr val="accent1"/>
              </a:solidFill>
              <a:latin typeface="DM Sans"/>
              <a:ea typeface="DM Sans"/>
              <a:cs typeface="DM Sans"/>
              <a:sym typeface="DM Sans"/>
            </a:endParaRPr>
          </a:p>
        </p:txBody>
      </p:sp>
      <p:sp>
        <p:nvSpPr>
          <p:cNvPr id="3698" name="Google Shape;3698;p146"/>
          <p:cNvSpPr txBox="1"/>
          <p:nvPr/>
        </p:nvSpPr>
        <p:spPr>
          <a:xfrm>
            <a:off x="3275726" y="2697625"/>
            <a:ext cx="15123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Query execution</a:t>
            </a:r>
            <a:endParaRPr sz="1600">
              <a:latin typeface="DM Sans"/>
              <a:ea typeface="DM Sans"/>
              <a:cs typeface="DM Sans"/>
              <a:sym typeface="DM Sans"/>
            </a:endParaRPr>
          </a:p>
        </p:txBody>
      </p:sp>
      <p:sp>
        <p:nvSpPr>
          <p:cNvPr id="3699" name="Google Shape;3699;p146"/>
          <p:cNvSpPr/>
          <p:nvPr/>
        </p:nvSpPr>
        <p:spPr>
          <a:xfrm rot="-5400000">
            <a:off x="6170575" y="2443850"/>
            <a:ext cx="3173400" cy="952800"/>
          </a:xfrm>
          <a:prstGeom prst="rect">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Unity Catalog </a:t>
            </a:r>
            <a:endParaRPr sz="1600">
              <a:solidFill>
                <a:schemeClr val="accent1"/>
              </a:solidFill>
              <a:latin typeface="DM Sans"/>
              <a:ea typeface="DM Sans"/>
              <a:cs typeface="DM Sans"/>
              <a:sym typeface="DM Sans"/>
            </a:endParaRPr>
          </a:p>
          <a:p>
            <a:pPr indent="0" lvl="0" marL="0" marR="0" rtl="0" algn="ctr">
              <a:lnSpc>
                <a:spcPct val="100000"/>
              </a:lnSpc>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Governance Layer</a:t>
            </a:r>
            <a:endParaRPr i="0" sz="1600" u="none" cap="none" strike="noStrike">
              <a:solidFill>
                <a:schemeClr val="accent1"/>
              </a:solidFill>
              <a:latin typeface="DM Sans"/>
              <a:ea typeface="DM Sans"/>
              <a:cs typeface="DM Sans"/>
              <a:sym typeface="DM Sans"/>
            </a:endParaRPr>
          </a:p>
        </p:txBody>
      </p:sp>
      <p:sp>
        <p:nvSpPr>
          <p:cNvPr id="3700" name="Google Shape;3700;p146"/>
          <p:cNvSpPr/>
          <p:nvPr/>
        </p:nvSpPr>
        <p:spPr>
          <a:xfrm>
            <a:off x="1061435" y="2225341"/>
            <a:ext cx="1859400" cy="8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Hive Metastore</a:t>
            </a:r>
            <a:endParaRPr i="0" sz="1600" u="none" cap="none" strike="noStrike">
              <a:solidFill>
                <a:schemeClr val="accent1"/>
              </a:solidFill>
              <a:latin typeface="DM Sans"/>
              <a:ea typeface="DM Sans"/>
              <a:cs typeface="DM Sans"/>
              <a:sym typeface="DM Sans"/>
            </a:endParaRPr>
          </a:p>
        </p:txBody>
      </p:sp>
      <p:cxnSp>
        <p:nvCxnSpPr>
          <p:cNvPr id="3701" name="Google Shape;3701;p146"/>
          <p:cNvCxnSpPr/>
          <p:nvPr/>
        </p:nvCxnSpPr>
        <p:spPr>
          <a:xfrm>
            <a:off x="2996025" y="2462000"/>
            <a:ext cx="2022900" cy="8700"/>
          </a:xfrm>
          <a:prstGeom prst="straightConnector1">
            <a:avLst/>
          </a:prstGeom>
          <a:noFill/>
          <a:ln cap="flat" cmpd="sng" w="19050">
            <a:solidFill>
              <a:schemeClr val="accent1"/>
            </a:solidFill>
            <a:prstDash val="solid"/>
            <a:round/>
            <a:headEnd len="sm" w="sm" type="none"/>
            <a:tailEnd len="med" w="med" type="triangle"/>
          </a:ln>
        </p:spPr>
      </p:cxnSp>
      <p:cxnSp>
        <p:nvCxnSpPr>
          <p:cNvPr id="3702" name="Google Shape;3702;p146"/>
          <p:cNvCxnSpPr/>
          <p:nvPr/>
        </p:nvCxnSpPr>
        <p:spPr>
          <a:xfrm rot="10800000">
            <a:off x="2920897" y="2748850"/>
            <a:ext cx="2085000" cy="12000"/>
          </a:xfrm>
          <a:prstGeom prst="straightConnector1">
            <a:avLst/>
          </a:prstGeom>
          <a:noFill/>
          <a:ln cap="flat" cmpd="sng" w="19050">
            <a:solidFill>
              <a:schemeClr val="accent1"/>
            </a:solidFill>
            <a:prstDash val="solid"/>
            <a:round/>
            <a:headEnd len="sm" w="sm" type="none"/>
            <a:tailEnd len="med" w="med" type="triangle"/>
          </a:ln>
        </p:spPr>
      </p:cxnSp>
      <p:cxnSp>
        <p:nvCxnSpPr>
          <p:cNvPr id="3703" name="Google Shape;3703;p146"/>
          <p:cNvCxnSpPr>
            <a:stCxn id="3700" idx="2"/>
            <a:endCxn id="3692" idx="0"/>
          </p:cNvCxnSpPr>
          <p:nvPr/>
        </p:nvCxnSpPr>
        <p:spPr>
          <a:xfrm>
            <a:off x="1991135" y="3060541"/>
            <a:ext cx="3000" cy="625800"/>
          </a:xfrm>
          <a:prstGeom prst="straightConnector1">
            <a:avLst/>
          </a:prstGeom>
          <a:noFill/>
          <a:ln cap="flat" cmpd="sng" w="19050">
            <a:solidFill>
              <a:schemeClr val="accent1"/>
            </a:solidFill>
            <a:prstDash val="solid"/>
            <a:round/>
            <a:headEnd len="med" w="med" type="triangle"/>
            <a:tailEnd len="med" w="med" type="triangle"/>
          </a:ln>
        </p:spPr>
      </p:cxnSp>
      <p:sp>
        <p:nvSpPr>
          <p:cNvPr id="3704" name="Google Shape;3704;p146"/>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source/_static/images/unity-catalog/federated-catalog.png</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708" name="Shape 3708"/>
        <p:cNvGrpSpPr/>
        <p:nvPr/>
      </p:nvGrpSpPr>
      <p:grpSpPr>
        <a:xfrm>
          <a:off x="0" y="0"/>
          <a:ext cx="0" cy="0"/>
          <a:chOff x="0" y="0"/>
          <a:chExt cx="0" cy="0"/>
        </a:xfrm>
      </p:grpSpPr>
      <p:sp>
        <p:nvSpPr>
          <p:cNvPr id="3709" name="Google Shape;3709;p147"/>
          <p:cNvSpPr/>
          <p:nvPr/>
        </p:nvSpPr>
        <p:spPr>
          <a:xfrm>
            <a:off x="1064184" y="3685625"/>
            <a:ext cx="1720200" cy="83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Existing workloads</a:t>
            </a:r>
            <a:endParaRPr i="0" sz="1600" u="none" cap="none" strike="noStrike">
              <a:solidFill>
                <a:schemeClr val="accent1"/>
              </a:solidFill>
              <a:latin typeface="DM Sans"/>
              <a:ea typeface="DM Sans"/>
              <a:cs typeface="DM Sans"/>
              <a:sym typeface="DM Sans"/>
            </a:endParaRPr>
          </a:p>
        </p:txBody>
      </p:sp>
      <p:sp>
        <p:nvSpPr>
          <p:cNvPr id="3710" name="Google Shape;3710;p147"/>
          <p:cNvSpPr txBox="1"/>
          <p:nvPr/>
        </p:nvSpPr>
        <p:spPr>
          <a:xfrm>
            <a:off x="3039389" y="1877505"/>
            <a:ext cx="13989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Crawl</a:t>
            </a:r>
            <a:endParaRPr sz="1600">
              <a:latin typeface="DM Sans"/>
              <a:ea typeface="DM Sans"/>
              <a:cs typeface="DM Sans"/>
              <a:sym typeface="DM Sans"/>
            </a:endParaRPr>
          </a:p>
        </p:txBody>
      </p:sp>
      <p:sp>
        <p:nvSpPr>
          <p:cNvPr id="3711" name="Google Shape;3711;p147"/>
          <p:cNvSpPr/>
          <p:nvPr/>
        </p:nvSpPr>
        <p:spPr>
          <a:xfrm>
            <a:off x="4749001" y="1317596"/>
            <a:ext cx="2027700" cy="3203100"/>
          </a:xfrm>
          <a:prstGeom prst="roundRect">
            <a:avLst>
              <a:gd fmla="val 351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3712" name="Google Shape;3712;p147"/>
          <p:cNvSpPr txBox="1"/>
          <p:nvPr/>
        </p:nvSpPr>
        <p:spPr>
          <a:xfrm>
            <a:off x="4744669" y="1317550"/>
            <a:ext cx="2027700" cy="492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Unity Catalog</a:t>
            </a:r>
            <a:endParaRPr i="0" sz="1600" u="none" cap="none" strike="noStrike">
              <a:solidFill>
                <a:schemeClr val="accent1"/>
              </a:solidFill>
              <a:latin typeface="DM Sans"/>
              <a:ea typeface="DM Sans"/>
              <a:cs typeface="DM Sans"/>
              <a:sym typeface="DM Sans"/>
            </a:endParaRPr>
          </a:p>
        </p:txBody>
      </p:sp>
      <p:sp>
        <p:nvSpPr>
          <p:cNvPr id="3713" name="Google Shape;3713;p147"/>
          <p:cNvSpPr txBox="1"/>
          <p:nvPr/>
        </p:nvSpPr>
        <p:spPr>
          <a:xfrm>
            <a:off x="4837257" y="2045420"/>
            <a:ext cx="1890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hms_in_uc</a:t>
            </a:r>
            <a:endParaRPr i="0" sz="1600" u="none" cap="none" strike="noStrike">
              <a:solidFill>
                <a:schemeClr val="accent1"/>
              </a:solidFill>
              <a:latin typeface="DM Sans"/>
              <a:ea typeface="DM Sans"/>
              <a:cs typeface="DM Sans"/>
              <a:sym typeface="DM Sans"/>
            </a:endParaRPr>
          </a:p>
        </p:txBody>
      </p:sp>
      <p:sp>
        <p:nvSpPr>
          <p:cNvPr id="3714" name="Google Shape;3714;p147"/>
          <p:cNvSpPr txBox="1"/>
          <p:nvPr/>
        </p:nvSpPr>
        <p:spPr>
          <a:xfrm>
            <a:off x="4837257" y="2731007"/>
            <a:ext cx="1890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Other catalogs</a:t>
            </a:r>
            <a:endParaRPr i="0" sz="1600" u="none" cap="none" strike="noStrike">
              <a:solidFill>
                <a:schemeClr val="accent1"/>
              </a:solidFill>
              <a:latin typeface="DM Sans"/>
              <a:ea typeface="DM Sans"/>
              <a:cs typeface="DM Sans"/>
              <a:sym typeface="DM Sans"/>
            </a:endParaRPr>
          </a:p>
        </p:txBody>
      </p:sp>
      <p:sp>
        <p:nvSpPr>
          <p:cNvPr id="3715" name="Google Shape;3715;p147"/>
          <p:cNvSpPr txBox="1"/>
          <p:nvPr/>
        </p:nvSpPr>
        <p:spPr>
          <a:xfrm>
            <a:off x="3109891" y="2697193"/>
            <a:ext cx="13989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Query execution</a:t>
            </a:r>
            <a:endParaRPr sz="1600">
              <a:latin typeface="DM Sans"/>
              <a:ea typeface="DM Sans"/>
              <a:cs typeface="DM Sans"/>
              <a:sym typeface="DM Sans"/>
            </a:endParaRPr>
          </a:p>
        </p:txBody>
      </p:sp>
      <p:sp>
        <p:nvSpPr>
          <p:cNvPr id="3716" name="Google Shape;3716;p147"/>
          <p:cNvSpPr/>
          <p:nvPr/>
        </p:nvSpPr>
        <p:spPr>
          <a:xfrm rot="-5400000">
            <a:off x="5669548" y="2479006"/>
            <a:ext cx="3172500" cy="881400"/>
          </a:xfrm>
          <a:prstGeom prst="rect">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Unity Catalog </a:t>
            </a:r>
            <a:endParaRPr sz="1600">
              <a:solidFill>
                <a:schemeClr val="accent1"/>
              </a:solidFill>
              <a:latin typeface="DM Sans"/>
              <a:ea typeface="DM Sans"/>
              <a:cs typeface="DM Sans"/>
              <a:sym typeface="DM Sans"/>
            </a:endParaRPr>
          </a:p>
          <a:p>
            <a:pPr indent="0" lvl="0" marL="0" marR="0" rtl="0" algn="ctr">
              <a:lnSpc>
                <a:spcPct val="100000"/>
              </a:lnSpc>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Governance Layer</a:t>
            </a:r>
            <a:endParaRPr i="0" sz="1600" u="none" cap="none" strike="noStrike">
              <a:solidFill>
                <a:schemeClr val="accent1"/>
              </a:solidFill>
              <a:latin typeface="DM Sans"/>
              <a:ea typeface="DM Sans"/>
              <a:cs typeface="DM Sans"/>
              <a:sym typeface="DM Sans"/>
            </a:endParaRPr>
          </a:p>
        </p:txBody>
      </p:sp>
      <p:sp>
        <p:nvSpPr>
          <p:cNvPr id="3717" name="Google Shape;3717;p147"/>
          <p:cNvSpPr/>
          <p:nvPr/>
        </p:nvSpPr>
        <p:spPr>
          <a:xfrm>
            <a:off x="1061426" y="2225056"/>
            <a:ext cx="1720200" cy="83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Hive Metastore</a:t>
            </a:r>
            <a:endParaRPr i="0" sz="1600" u="none" cap="none" strike="noStrike">
              <a:solidFill>
                <a:schemeClr val="accent1"/>
              </a:solidFill>
              <a:latin typeface="DM Sans"/>
              <a:ea typeface="DM Sans"/>
              <a:cs typeface="DM Sans"/>
              <a:sym typeface="DM Sans"/>
            </a:endParaRPr>
          </a:p>
        </p:txBody>
      </p:sp>
      <p:cxnSp>
        <p:nvCxnSpPr>
          <p:cNvPr id="3718" name="Google Shape;3718;p147"/>
          <p:cNvCxnSpPr/>
          <p:nvPr/>
        </p:nvCxnSpPr>
        <p:spPr>
          <a:xfrm>
            <a:off x="2851136" y="2461641"/>
            <a:ext cx="1871400" cy="8700"/>
          </a:xfrm>
          <a:prstGeom prst="straightConnector1">
            <a:avLst/>
          </a:prstGeom>
          <a:noFill/>
          <a:ln cap="flat" cmpd="sng" w="19050">
            <a:solidFill>
              <a:schemeClr val="accent1"/>
            </a:solidFill>
            <a:prstDash val="solid"/>
            <a:round/>
            <a:headEnd len="sm" w="sm" type="none"/>
            <a:tailEnd len="med" w="med" type="triangle"/>
          </a:ln>
        </p:spPr>
      </p:cxnSp>
      <p:cxnSp>
        <p:nvCxnSpPr>
          <p:cNvPr id="3719" name="Google Shape;3719;p147"/>
          <p:cNvCxnSpPr/>
          <p:nvPr/>
        </p:nvCxnSpPr>
        <p:spPr>
          <a:xfrm rot="10800000">
            <a:off x="2781491" y="2748398"/>
            <a:ext cx="1929000" cy="12000"/>
          </a:xfrm>
          <a:prstGeom prst="straightConnector1">
            <a:avLst/>
          </a:prstGeom>
          <a:noFill/>
          <a:ln cap="flat" cmpd="sng" w="19050">
            <a:solidFill>
              <a:schemeClr val="accent1"/>
            </a:solidFill>
            <a:prstDash val="solid"/>
            <a:round/>
            <a:headEnd len="sm" w="sm" type="none"/>
            <a:tailEnd len="med" w="med" type="triangle"/>
          </a:ln>
        </p:spPr>
      </p:cxnSp>
      <p:cxnSp>
        <p:nvCxnSpPr>
          <p:cNvPr id="3720" name="Google Shape;3720;p147"/>
          <p:cNvCxnSpPr>
            <a:stCxn id="3717" idx="2"/>
            <a:endCxn id="3709" idx="0"/>
          </p:cNvCxnSpPr>
          <p:nvPr/>
        </p:nvCxnSpPr>
        <p:spPr>
          <a:xfrm>
            <a:off x="1921526" y="3059956"/>
            <a:ext cx="2700" cy="625800"/>
          </a:xfrm>
          <a:prstGeom prst="straightConnector1">
            <a:avLst/>
          </a:prstGeom>
          <a:noFill/>
          <a:ln cap="flat" cmpd="sng" w="19050">
            <a:solidFill>
              <a:schemeClr val="accent1"/>
            </a:solidFill>
            <a:prstDash val="solid"/>
            <a:round/>
            <a:headEnd len="med" w="med" type="triangle"/>
            <a:tailEnd len="med" w="med" type="triangle"/>
          </a:ln>
        </p:spPr>
      </p:cxnSp>
      <p:sp>
        <p:nvSpPr>
          <p:cNvPr id="3721" name="Google Shape;3721;p147"/>
          <p:cNvSpPr/>
          <p:nvPr/>
        </p:nvSpPr>
        <p:spPr>
          <a:xfrm>
            <a:off x="8945174" y="2048510"/>
            <a:ext cx="1720200" cy="83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New workloads</a:t>
            </a:r>
            <a:endParaRPr i="0" sz="1600" u="none" cap="none" strike="noStrike">
              <a:solidFill>
                <a:schemeClr val="accent1"/>
              </a:solidFill>
              <a:latin typeface="DM Sans"/>
              <a:ea typeface="DM Sans"/>
              <a:cs typeface="DM Sans"/>
              <a:sym typeface="DM Sans"/>
            </a:endParaRPr>
          </a:p>
        </p:txBody>
      </p:sp>
      <p:cxnSp>
        <p:nvCxnSpPr>
          <p:cNvPr id="3722" name="Google Shape;3722;p147"/>
          <p:cNvCxnSpPr>
            <a:endCxn id="3721" idx="1"/>
          </p:cNvCxnSpPr>
          <p:nvPr/>
        </p:nvCxnSpPr>
        <p:spPr>
          <a:xfrm>
            <a:off x="7696574" y="2465960"/>
            <a:ext cx="1248600" cy="0"/>
          </a:xfrm>
          <a:prstGeom prst="straightConnector1">
            <a:avLst/>
          </a:prstGeom>
          <a:noFill/>
          <a:ln cap="flat" cmpd="sng" w="19050">
            <a:solidFill>
              <a:schemeClr val="accent1"/>
            </a:solidFill>
            <a:prstDash val="solid"/>
            <a:round/>
            <a:headEnd len="med" w="med" type="triangle"/>
            <a:tailEnd len="med" w="med" type="triangle"/>
          </a:ln>
        </p:spPr>
      </p:cxnSp>
      <p:sp>
        <p:nvSpPr>
          <p:cNvPr id="3723" name="Google Shape;3723;p147"/>
          <p:cNvSpPr/>
          <p:nvPr/>
        </p:nvSpPr>
        <p:spPr>
          <a:xfrm>
            <a:off x="8913119" y="3116729"/>
            <a:ext cx="1720200" cy="83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Migrated</a:t>
            </a:r>
            <a:r>
              <a:rPr lang="en" sz="1600">
                <a:solidFill>
                  <a:schemeClr val="accent1"/>
                </a:solidFill>
                <a:latin typeface="DM Sans"/>
                <a:ea typeface="DM Sans"/>
                <a:cs typeface="DM Sans"/>
                <a:sym typeface="DM Sans"/>
              </a:rPr>
              <a:t> workloads</a:t>
            </a:r>
            <a:endParaRPr i="0" sz="1600" u="none" cap="none" strike="noStrike">
              <a:solidFill>
                <a:schemeClr val="accent1"/>
              </a:solidFill>
              <a:latin typeface="DM Sans"/>
              <a:ea typeface="DM Sans"/>
              <a:cs typeface="DM Sans"/>
              <a:sym typeface="DM Sans"/>
            </a:endParaRPr>
          </a:p>
        </p:txBody>
      </p:sp>
      <p:cxnSp>
        <p:nvCxnSpPr>
          <p:cNvPr id="3724" name="Google Shape;3724;p147"/>
          <p:cNvCxnSpPr>
            <a:endCxn id="3723" idx="1"/>
          </p:cNvCxnSpPr>
          <p:nvPr/>
        </p:nvCxnSpPr>
        <p:spPr>
          <a:xfrm>
            <a:off x="7664519" y="3534179"/>
            <a:ext cx="1248600" cy="0"/>
          </a:xfrm>
          <a:prstGeom prst="straightConnector1">
            <a:avLst/>
          </a:prstGeom>
          <a:noFill/>
          <a:ln cap="flat" cmpd="sng" w="19050">
            <a:solidFill>
              <a:schemeClr val="accent1"/>
            </a:solidFill>
            <a:prstDash val="solid"/>
            <a:round/>
            <a:headEnd len="med" w="med" type="triangle"/>
            <a:tailEnd len="med" w="med" type="triangle"/>
          </a:ln>
        </p:spPr>
      </p:cxnSp>
      <p:cxnSp>
        <p:nvCxnSpPr>
          <p:cNvPr id="3725" name="Google Shape;3725;p147"/>
          <p:cNvCxnSpPr>
            <a:stCxn id="3709" idx="2"/>
            <a:endCxn id="3723" idx="2"/>
          </p:cNvCxnSpPr>
          <p:nvPr/>
        </p:nvCxnSpPr>
        <p:spPr>
          <a:xfrm rot="-5400000">
            <a:off x="5564334" y="311675"/>
            <a:ext cx="568800" cy="7848900"/>
          </a:xfrm>
          <a:prstGeom prst="bentConnector3">
            <a:avLst>
              <a:gd fmla="val -41842" name="adj1"/>
            </a:avLst>
          </a:prstGeom>
          <a:noFill/>
          <a:ln cap="flat" cmpd="sng" w="9525">
            <a:solidFill>
              <a:schemeClr val="dk2"/>
            </a:solidFill>
            <a:prstDash val="lgDash"/>
            <a:round/>
            <a:headEnd len="med" w="med" type="none"/>
            <a:tailEnd len="med" w="med" type="triangle"/>
          </a:ln>
        </p:spPr>
      </p:cxnSp>
      <p:sp>
        <p:nvSpPr>
          <p:cNvPr id="3726" name="Google Shape;3726;p147"/>
          <p:cNvSpPr txBox="1"/>
          <p:nvPr/>
        </p:nvSpPr>
        <p:spPr>
          <a:xfrm>
            <a:off x="4301802" y="4758603"/>
            <a:ext cx="27015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Incremental migration</a:t>
            </a:r>
            <a:endParaRPr sz="1600">
              <a:latin typeface="DM Sans"/>
              <a:ea typeface="DM Sans"/>
              <a:cs typeface="DM Sans"/>
              <a:sym typeface="DM Sans"/>
            </a:endParaRPr>
          </a:p>
        </p:txBody>
      </p:sp>
      <p:sp>
        <p:nvSpPr>
          <p:cNvPr id="3727" name="Google Shape;3727;p147"/>
          <p:cNvSpPr txBox="1"/>
          <p:nvPr/>
        </p:nvSpPr>
        <p:spPr>
          <a:xfrm>
            <a:off x="0" y="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source/_static/images/unity-catalog/hms-federation-migration-overview.png</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731" name="Shape 3731"/>
        <p:cNvGrpSpPr/>
        <p:nvPr/>
      </p:nvGrpSpPr>
      <p:grpSpPr>
        <a:xfrm>
          <a:off x="0" y="0"/>
          <a:ext cx="0" cy="0"/>
          <a:chOff x="0" y="0"/>
          <a:chExt cx="0" cy="0"/>
        </a:xfrm>
      </p:grpSpPr>
      <p:sp>
        <p:nvSpPr>
          <p:cNvPr id="3732" name="Google Shape;3732;p148"/>
          <p:cNvSpPr/>
          <p:nvPr/>
        </p:nvSpPr>
        <p:spPr>
          <a:xfrm>
            <a:off x="5047525" y="1317600"/>
            <a:ext cx="2191800" cy="2689500"/>
          </a:xfrm>
          <a:prstGeom prst="roundRect">
            <a:avLst>
              <a:gd fmla="val 351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3733" name="Google Shape;3733;p148"/>
          <p:cNvSpPr txBox="1"/>
          <p:nvPr/>
        </p:nvSpPr>
        <p:spPr>
          <a:xfrm>
            <a:off x="5042842" y="1317554"/>
            <a:ext cx="2191800" cy="492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Unity Catalog</a:t>
            </a:r>
            <a:endParaRPr i="0" sz="1600" u="none" cap="none" strike="noStrike">
              <a:solidFill>
                <a:schemeClr val="accent1"/>
              </a:solidFill>
              <a:latin typeface="DM Sans"/>
              <a:ea typeface="DM Sans"/>
              <a:cs typeface="DM Sans"/>
              <a:sym typeface="DM Sans"/>
            </a:endParaRPr>
          </a:p>
        </p:txBody>
      </p:sp>
      <p:sp>
        <p:nvSpPr>
          <p:cNvPr id="3734" name="Google Shape;3734;p148"/>
          <p:cNvSpPr txBox="1"/>
          <p:nvPr/>
        </p:nvSpPr>
        <p:spPr>
          <a:xfrm>
            <a:off x="5142925" y="2045650"/>
            <a:ext cx="2043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Federated catalog</a:t>
            </a:r>
            <a:endParaRPr i="0" sz="1600" u="none" cap="none" strike="noStrike">
              <a:solidFill>
                <a:schemeClr val="accent1"/>
              </a:solidFill>
              <a:latin typeface="DM Sans"/>
              <a:ea typeface="DM Sans"/>
              <a:cs typeface="DM Sans"/>
              <a:sym typeface="DM Sans"/>
            </a:endParaRPr>
          </a:p>
        </p:txBody>
      </p:sp>
      <p:sp>
        <p:nvSpPr>
          <p:cNvPr id="3735" name="Google Shape;3735;p148"/>
          <p:cNvSpPr txBox="1"/>
          <p:nvPr/>
        </p:nvSpPr>
        <p:spPr>
          <a:xfrm>
            <a:off x="5142925" y="2731450"/>
            <a:ext cx="20436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500"/>
              <a:buFont typeface="Arial"/>
              <a:buNone/>
            </a:pPr>
            <a:r>
              <a:rPr lang="en" sz="1600">
                <a:solidFill>
                  <a:schemeClr val="accent1"/>
                </a:solidFill>
                <a:latin typeface="DM Sans"/>
                <a:ea typeface="DM Sans"/>
                <a:cs typeface="DM Sans"/>
                <a:sym typeface="DM Sans"/>
              </a:rPr>
              <a:t>Other catalogs</a:t>
            </a:r>
            <a:endParaRPr i="0" sz="1600" u="none" cap="none" strike="noStrike">
              <a:solidFill>
                <a:schemeClr val="accent1"/>
              </a:solidFill>
              <a:latin typeface="DM Sans"/>
              <a:ea typeface="DM Sans"/>
              <a:cs typeface="DM Sans"/>
              <a:sym typeface="DM Sans"/>
            </a:endParaRPr>
          </a:p>
        </p:txBody>
      </p:sp>
      <p:sp>
        <p:nvSpPr>
          <p:cNvPr id="3736" name="Google Shape;3736;p148"/>
          <p:cNvSpPr/>
          <p:nvPr/>
        </p:nvSpPr>
        <p:spPr>
          <a:xfrm>
            <a:off x="9545776" y="2328074"/>
            <a:ext cx="1679700" cy="73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All</a:t>
            </a:r>
            <a:r>
              <a:rPr lang="en" sz="1600">
                <a:solidFill>
                  <a:schemeClr val="accent1"/>
                </a:solidFill>
                <a:latin typeface="DM Sans"/>
                <a:ea typeface="DM Sans"/>
                <a:cs typeface="DM Sans"/>
                <a:sym typeface="DM Sans"/>
              </a:rPr>
              <a:t> workloads</a:t>
            </a:r>
            <a:endParaRPr i="0" sz="1600" u="none" cap="none" strike="noStrike">
              <a:solidFill>
                <a:schemeClr val="accent1"/>
              </a:solidFill>
              <a:latin typeface="DM Sans"/>
              <a:ea typeface="DM Sans"/>
              <a:cs typeface="DM Sans"/>
              <a:sym typeface="DM Sans"/>
            </a:endParaRPr>
          </a:p>
        </p:txBody>
      </p:sp>
      <p:sp>
        <p:nvSpPr>
          <p:cNvPr id="3737" name="Google Shape;3737;p148"/>
          <p:cNvSpPr/>
          <p:nvPr/>
        </p:nvSpPr>
        <p:spPr>
          <a:xfrm>
            <a:off x="2480226" y="2257748"/>
            <a:ext cx="1679700" cy="61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900"/>
              <a:buFont typeface="Arial"/>
              <a:buNone/>
            </a:pPr>
            <a:r>
              <a:rPr lang="en" sz="1600">
                <a:solidFill>
                  <a:schemeClr val="accent1"/>
                </a:solidFill>
                <a:latin typeface="DM Sans"/>
                <a:ea typeface="DM Sans"/>
                <a:cs typeface="DM Sans"/>
                <a:sym typeface="DM Sans"/>
              </a:rPr>
              <a:t>Hive Metastore</a:t>
            </a:r>
            <a:endParaRPr i="0" sz="1600" u="none" cap="none" strike="noStrike">
              <a:solidFill>
                <a:schemeClr val="accent1"/>
              </a:solidFill>
              <a:latin typeface="DM Sans"/>
              <a:ea typeface="DM Sans"/>
              <a:cs typeface="DM Sans"/>
              <a:sym typeface="DM Sans"/>
            </a:endParaRPr>
          </a:p>
        </p:txBody>
      </p:sp>
      <p:sp>
        <p:nvSpPr>
          <p:cNvPr id="3738" name="Google Shape;3738;p148"/>
          <p:cNvSpPr txBox="1"/>
          <p:nvPr/>
        </p:nvSpPr>
        <p:spPr>
          <a:xfrm>
            <a:off x="7466727" y="1877675"/>
            <a:ext cx="19266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UC </a:t>
            </a:r>
            <a:r>
              <a:rPr lang="en" sz="1600">
                <a:latin typeface="DM Sans"/>
                <a:ea typeface="DM Sans"/>
                <a:cs typeface="DM Sans"/>
                <a:sym typeface="DM Sans"/>
              </a:rPr>
              <a:t>permissions</a:t>
            </a:r>
            <a:r>
              <a:rPr lang="en" sz="1600">
                <a:latin typeface="DM Sans"/>
                <a:ea typeface="DM Sans"/>
                <a:cs typeface="DM Sans"/>
                <a:sym typeface="DM Sans"/>
              </a:rPr>
              <a:t> applied</a:t>
            </a:r>
            <a:endParaRPr sz="1600">
              <a:latin typeface="DM Sans"/>
              <a:ea typeface="DM Sans"/>
              <a:cs typeface="DM Sans"/>
              <a:sym typeface="DM Sans"/>
            </a:endParaRPr>
          </a:p>
        </p:txBody>
      </p:sp>
      <p:sp>
        <p:nvSpPr>
          <p:cNvPr id="3739" name="Google Shape;3739;p148"/>
          <p:cNvSpPr txBox="1"/>
          <p:nvPr/>
        </p:nvSpPr>
        <p:spPr>
          <a:xfrm>
            <a:off x="7655151" y="2901250"/>
            <a:ext cx="15123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Lineage collected</a:t>
            </a:r>
            <a:endParaRPr sz="1600">
              <a:latin typeface="DM Sans"/>
              <a:ea typeface="DM Sans"/>
              <a:cs typeface="DM Sans"/>
              <a:sym typeface="DM Sans"/>
            </a:endParaRPr>
          </a:p>
        </p:txBody>
      </p:sp>
      <p:cxnSp>
        <p:nvCxnSpPr>
          <p:cNvPr id="3740" name="Google Shape;3740;p148"/>
          <p:cNvCxnSpPr/>
          <p:nvPr/>
        </p:nvCxnSpPr>
        <p:spPr>
          <a:xfrm>
            <a:off x="7345600" y="2614400"/>
            <a:ext cx="2189400" cy="8700"/>
          </a:xfrm>
          <a:prstGeom prst="straightConnector1">
            <a:avLst/>
          </a:prstGeom>
          <a:noFill/>
          <a:ln cap="flat" cmpd="sng" w="19050">
            <a:solidFill>
              <a:schemeClr val="accent1"/>
            </a:solidFill>
            <a:prstDash val="solid"/>
            <a:round/>
            <a:headEnd len="sm" w="sm" type="none"/>
            <a:tailEnd len="med" w="med" type="triangle"/>
          </a:ln>
        </p:spPr>
      </p:cxnSp>
      <p:cxnSp>
        <p:nvCxnSpPr>
          <p:cNvPr id="3741" name="Google Shape;3741;p148"/>
          <p:cNvCxnSpPr/>
          <p:nvPr/>
        </p:nvCxnSpPr>
        <p:spPr>
          <a:xfrm rot="10800000">
            <a:off x="7264260" y="2901250"/>
            <a:ext cx="2256600" cy="12000"/>
          </a:xfrm>
          <a:prstGeom prst="straightConnector1">
            <a:avLst/>
          </a:prstGeom>
          <a:noFill/>
          <a:ln cap="flat" cmpd="sng" w="19050">
            <a:solidFill>
              <a:schemeClr val="accent1"/>
            </a:solidFill>
            <a:prstDash val="solid"/>
            <a:round/>
            <a:headEnd len="sm" w="sm" type="none"/>
            <a:tailEnd len="med" w="med" type="triangle"/>
          </a:ln>
        </p:spPr>
      </p:cxnSp>
      <p:cxnSp>
        <p:nvCxnSpPr>
          <p:cNvPr id="3742" name="Google Shape;3742;p148"/>
          <p:cNvCxnSpPr/>
          <p:nvPr/>
        </p:nvCxnSpPr>
        <p:spPr>
          <a:xfrm>
            <a:off x="4547300" y="1062825"/>
            <a:ext cx="0" cy="3269100"/>
          </a:xfrm>
          <a:prstGeom prst="straightConnector1">
            <a:avLst/>
          </a:prstGeom>
          <a:noFill/>
          <a:ln cap="flat" cmpd="sng" w="19050">
            <a:solidFill>
              <a:schemeClr val="dk2"/>
            </a:solidFill>
            <a:prstDash val="lgDash"/>
            <a:round/>
            <a:headEnd len="med" w="med" type="none"/>
            <a:tailEnd len="med" w="med" type="none"/>
          </a:ln>
        </p:spPr>
      </p:cxnSp>
      <p:sp>
        <p:nvSpPr>
          <p:cNvPr id="3743" name="Google Shape;3743;p148"/>
          <p:cNvSpPr txBox="1"/>
          <p:nvPr/>
        </p:nvSpPr>
        <p:spPr>
          <a:xfrm>
            <a:off x="5180125" y="4360750"/>
            <a:ext cx="19266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1600">
                <a:latin typeface="DM Sans"/>
                <a:ea typeface="DM Sans"/>
                <a:cs typeface="DM Sans"/>
                <a:sym typeface="DM Sans"/>
              </a:rPr>
              <a:t>Source of truth</a:t>
            </a:r>
            <a:endParaRPr sz="1600">
              <a:latin typeface="DM Sans"/>
              <a:ea typeface="DM Sans"/>
              <a:cs typeface="DM Sans"/>
              <a:sym typeface="DM Sans"/>
            </a:endParaRPr>
          </a:p>
        </p:txBody>
      </p:sp>
      <p:sp>
        <p:nvSpPr>
          <p:cNvPr id="3744" name="Google Shape;3744;p148"/>
          <p:cNvSpPr/>
          <p:nvPr/>
        </p:nvSpPr>
        <p:spPr>
          <a:xfrm flipH="1" rot="5400000">
            <a:off x="5987700" y="3196150"/>
            <a:ext cx="302100" cy="2179500"/>
          </a:xfrm>
          <a:prstGeom prst="leftBrace">
            <a:avLst>
              <a:gd fmla="val 76124" name="adj1"/>
              <a:gd fmla="val 4956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45" name="Google Shape;3745;p148"/>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source/_static/images/unity-catalog/federated-catalog-wins.png</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749" name="Shape 3749"/>
        <p:cNvGrpSpPr/>
        <p:nvPr/>
      </p:nvGrpSpPr>
      <p:grpSpPr>
        <a:xfrm>
          <a:off x="0" y="0"/>
          <a:ext cx="0" cy="0"/>
          <a:chOff x="0" y="0"/>
          <a:chExt cx="0" cy="0"/>
        </a:xfrm>
      </p:grpSpPr>
      <p:sp>
        <p:nvSpPr>
          <p:cNvPr id="3750" name="Google Shape;3750;p149"/>
          <p:cNvSpPr/>
          <p:nvPr/>
        </p:nvSpPr>
        <p:spPr>
          <a:xfrm>
            <a:off x="2732800" y="1278575"/>
            <a:ext cx="2445300" cy="4047600"/>
          </a:xfrm>
          <a:prstGeom prst="roundRect">
            <a:avLst>
              <a:gd fmla="val 16667" name="adj"/>
            </a:avLst>
          </a:prstGeom>
          <a:noFill/>
          <a:ln cap="flat" cmpd="sng" w="9525">
            <a:solidFill>
              <a:srgbClr val="FF5F46"/>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3751" name="Google Shape;3751;p149"/>
          <p:cNvSpPr/>
          <p:nvPr/>
        </p:nvSpPr>
        <p:spPr>
          <a:xfrm>
            <a:off x="7535925" y="1278575"/>
            <a:ext cx="2370000" cy="16098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Delta Sharing</a:t>
            </a:r>
            <a:endParaRPr sz="2400">
              <a:solidFill>
                <a:schemeClr val="dk1"/>
              </a:solidFill>
              <a:latin typeface="DM Sans"/>
              <a:ea typeface="DM Sans"/>
              <a:cs typeface="DM Sans"/>
              <a:sym typeface="DM Sans"/>
            </a:endParaRPr>
          </a:p>
        </p:txBody>
      </p:sp>
      <p:sp>
        <p:nvSpPr>
          <p:cNvPr id="3752" name="Google Shape;3752;p149"/>
          <p:cNvSpPr/>
          <p:nvPr/>
        </p:nvSpPr>
        <p:spPr>
          <a:xfrm>
            <a:off x="3418801" y="3730351"/>
            <a:ext cx="958800" cy="1017900"/>
          </a:xfrm>
          <a:prstGeom prst="roundRect">
            <a:avLst>
              <a:gd fmla="val 16667" name="adj"/>
            </a:avLst>
          </a:prstGeom>
          <a:solidFill>
            <a:srgbClr val="FFFFFF"/>
          </a:solidFill>
          <a:ln cap="flat" cmpd="sng" w="19050">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Medium"/>
                <a:ea typeface="DM Sans Medium"/>
                <a:cs typeface="DM Sans Medium"/>
                <a:sym typeface="DM Sans Medium"/>
              </a:rPr>
              <a:t>Tables and volumes</a:t>
            </a:r>
            <a:endParaRPr sz="1100">
              <a:solidFill>
                <a:schemeClr val="accent1"/>
              </a:solidFill>
              <a:latin typeface="DM Sans Medium"/>
              <a:ea typeface="DM Sans Medium"/>
              <a:cs typeface="DM Sans Medium"/>
              <a:sym typeface="DM Sans Medium"/>
            </a:endParaRPr>
          </a:p>
        </p:txBody>
      </p:sp>
      <p:sp>
        <p:nvSpPr>
          <p:cNvPr id="3753" name="Google Shape;3753;p149"/>
          <p:cNvSpPr/>
          <p:nvPr/>
        </p:nvSpPr>
        <p:spPr>
          <a:xfrm>
            <a:off x="3335650" y="1959508"/>
            <a:ext cx="1214400" cy="5922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p:txBody>
      </p:sp>
      <p:grpSp>
        <p:nvGrpSpPr>
          <p:cNvPr id="3754" name="Google Shape;3754;p149"/>
          <p:cNvGrpSpPr/>
          <p:nvPr/>
        </p:nvGrpSpPr>
        <p:grpSpPr>
          <a:xfrm>
            <a:off x="4199719" y="1836264"/>
            <a:ext cx="197096" cy="197096"/>
            <a:chOff x="5866775" y="4030465"/>
            <a:chExt cx="372300" cy="372300"/>
          </a:xfrm>
        </p:grpSpPr>
        <p:sp>
          <p:nvSpPr>
            <p:cNvPr id="3755" name="Google Shape;3755;p149"/>
            <p:cNvSpPr/>
            <p:nvPr/>
          </p:nvSpPr>
          <p:spPr>
            <a:xfrm>
              <a:off x="5866775" y="4030465"/>
              <a:ext cx="372300" cy="372300"/>
            </a:xfrm>
            <a:prstGeom prst="ellipse">
              <a:avLst/>
            </a:prstGeom>
            <a:solidFill>
              <a:srgbClr val="F9F7F4"/>
            </a:solidFill>
            <a:ln cap="flat" cmpd="sng" w="19050">
              <a:solidFill>
                <a:srgbClr val="FFAB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rgbClr val="FFAB00"/>
                </a:solidFill>
              </a:endParaRPr>
            </a:p>
          </p:txBody>
        </p:sp>
        <p:pic>
          <p:nvPicPr>
            <p:cNvPr id="3756" name="Google Shape;3756;p149"/>
            <p:cNvPicPr preferRelativeResize="0"/>
            <p:nvPr/>
          </p:nvPicPr>
          <p:blipFill rotWithShape="1">
            <a:blip r:embed="rId3">
              <a:alphaModFix/>
            </a:blip>
            <a:srcRect b="0" l="0" r="0" t="0"/>
            <a:stretch/>
          </p:blipFill>
          <p:spPr>
            <a:xfrm>
              <a:off x="5922888" y="4070826"/>
              <a:ext cx="260075" cy="260046"/>
            </a:xfrm>
            <a:prstGeom prst="rect">
              <a:avLst/>
            </a:prstGeom>
            <a:noFill/>
            <a:ln>
              <a:noFill/>
            </a:ln>
          </p:spPr>
        </p:pic>
      </p:grpSp>
      <p:sp>
        <p:nvSpPr>
          <p:cNvPr id="3757" name="Google Shape;3757;p149"/>
          <p:cNvSpPr txBox="1"/>
          <p:nvPr/>
        </p:nvSpPr>
        <p:spPr>
          <a:xfrm>
            <a:off x="3100201" y="4735425"/>
            <a:ext cx="1596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DM Sans Medium"/>
                <a:ea typeface="DM Sans Medium"/>
                <a:cs typeface="DM Sans Medium"/>
                <a:sym typeface="DM Sans Medium"/>
              </a:rPr>
              <a:t>Object store</a:t>
            </a:r>
            <a:endParaRPr>
              <a:solidFill>
                <a:srgbClr val="FFFFFF"/>
              </a:solidFill>
              <a:latin typeface="DM Sans Medium"/>
              <a:ea typeface="DM Sans Medium"/>
              <a:cs typeface="DM Sans Medium"/>
              <a:sym typeface="DM Sans Medium"/>
            </a:endParaRPr>
          </a:p>
        </p:txBody>
      </p:sp>
      <p:pic>
        <p:nvPicPr>
          <p:cNvPr id="3758" name="Google Shape;3758;p149"/>
          <p:cNvPicPr preferRelativeResize="0"/>
          <p:nvPr/>
        </p:nvPicPr>
        <p:blipFill>
          <a:blip r:embed="rId4">
            <a:alphaModFix/>
          </a:blip>
          <a:stretch>
            <a:fillRect/>
          </a:stretch>
        </p:blipFill>
        <p:spPr>
          <a:xfrm>
            <a:off x="3743616" y="2171910"/>
            <a:ext cx="399045" cy="338023"/>
          </a:xfrm>
          <a:prstGeom prst="rect">
            <a:avLst/>
          </a:prstGeom>
          <a:noFill/>
          <a:ln>
            <a:noFill/>
          </a:ln>
        </p:spPr>
      </p:pic>
      <p:pic>
        <p:nvPicPr>
          <p:cNvPr id="3759" name="Google Shape;3759;p149"/>
          <p:cNvPicPr preferRelativeResize="0"/>
          <p:nvPr/>
        </p:nvPicPr>
        <p:blipFill rotWithShape="1">
          <a:blip r:embed="rId5">
            <a:alphaModFix/>
          </a:blip>
          <a:srcRect b="0" l="0" r="0" t="0"/>
          <a:stretch/>
        </p:blipFill>
        <p:spPr>
          <a:xfrm>
            <a:off x="3581426" y="3755214"/>
            <a:ext cx="633550" cy="633550"/>
          </a:xfrm>
          <a:prstGeom prst="rect">
            <a:avLst/>
          </a:prstGeom>
          <a:noFill/>
          <a:ln>
            <a:noFill/>
          </a:ln>
        </p:spPr>
      </p:pic>
      <p:sp>
        <p:nvSpPr>
          <p:cNvPr id="3760" name="Google Shape;3760;p149"/>
          <p:cNvSpPr txBox="1"/>
          <p:nvPr/>
        </p:nvSpPr>
        <p:spPr>
          <a:xfrm>
            <a:off x="3452572" y="1978677"/>
            <a:ext cx="9810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accent1"/>
                </a:solidFill>
                <a:latin typeface="DM Sans Medium"/>
                <a:ea typeface="DM Sans Medium"/>
                <a:cs typeface="DM Sans Medium"/>
                <a:sym typeface="DM Sans Medium"/>
              </a:rPr>
              <a:t>Unity Catalog</a:t>
            </a:r>
            <a:endParaRPr sz="1000">
              <a:solidFill>
                <a:schemeClr val="accent1"/>
              </a:solidFill>
            </a:endParaRPr>
          </a:p>
        </p:txBody>
      </p:sp>
      <p:sp>
        <p:nvSpPr>
          <p:cNvPr id="3761" name="Google Shape;3761;p149"/>
          <p:cNvSpPr txBox="1"/>
          <p:nvPr/>
        </p:nvSpPr>
        <p:spPr>
          <a:xfrm>
            <a:off x="3100200" y="1388350"/>
            <a:ext cx="1596000" cy="35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Your workspace</a:t>
            </a:r>
            <a:endParaRPr>
              <a:solidFill>
                <a:schemeClr val="dk1"/>
              </a:solidFill>
              <a:latin typeface="DM Sans"/>
              <a:ea typeface="DM Sans"/>
              <a:cs typeface="DM Sans"/>
              <a:sym typeface="DM Sans"/>
            </a:endParaRPr>
          </a:p>
        </p:txBody>
      </p:sp>
      <p:sp>
        <p:nvSpPr>
          <p:cNvPr id="3762" name="Google Shape;3762;p149"/>
          <p:cNvSpPr txBox="1"/>
          <p:nvPr/>
        </p:nvSpPr>
        <p:spPr>
          <a:xfrm>
            <a:off x="7780575" y="1430365"/>
            <a:ext cx="1880700" cy="312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a:solidFill>
                  <a:srgbClr val="1B5162"/>
                </a:solidFill>
                <a:latin typeface="DM Sans Medium"/>
                <a:ea typeface="DM Sans Medium"/>
                <a:cs typeface="DM Sans Medium"/>
                <a:sym typeface="DM Sans Medium"/>
              </a:rPr>
              <a:t>Central clean room</a:t>
            </a:r>
            <a:endParaRPr>
              <a:solidFill>
                <a:srgbClr val="1B3139"/>
              </a:solidFill>
              <a:latin typeface="DM Sans"/>
              <a:ea typeface="DM Sans"/>
              <a:cs typeface="DM Sans"/>
              <a:sym typeface="DM Sans"/>
            </a:endParaRPr>
          </a:p>
        </p:txBody>
      </p:sp>
      <p:sp>
        <p:nvSpPr>
          <p:cNvPr id="3763" name="Google Shape;3763;p149"/>
          <p:cNvSpPr txBox="1"/>
          <p:nvPr/>
        </p:nvSpPr>
        <p:spPr>
          <a:xfrm>
            <a:off x="3363850" y="2549238"/>
            <a:ext cx="1183200" cy="12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Delta Sharing</a:t>
            </a:r>
            <a:endParaRPr sz="2400">
              <a:solidFill>
                <a:schemeClr val="dk1"/>
              </a:solidFill>
              <a:latin typeface="DM Sans"/>
              <a:ea typeface="DM Sans"/>
              <a:cs typeface="DM Sans"/>
              <a:sym typeface="DM Sans"/>
            </a:endParaRPr>
          </a:p>
        </p:txBody>
      </p:sp>
      <p:sp>
        <p:nvSpPr>
          <p:cNvPr id="3764" name="Google Shape;3764;p149"/>
          <p:cNvSpPr/>
          <p:nvPr/>
        </p:nvSpPr>
        <p:spPr>
          <a:xfrm>
            <a:off x="8200275" y="1959500"/>
            <a:ext cx="1041300" cy="5922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p:txBody>
      </p:sp>
      <p:pic>
        <p:nvPicPr>
          <p:cNvPr id="3765" name="Google Shape;3765;p149"/>
          <p:cNvPicPr preferRelativeResize="0"/>
          <p:nvPr/>
        </p:nvPicPr>
        <p:blipFill rotWithShape="1">
          <a:blip r:embed="rId6">
            <a:alphaModFix/>
          </a:blip>
          <a:srcRect b="0" l="0" r="0" t="0"/>
          <a:stretch/>
        </p:blipFill>
        <p:spPr>
          <a:xfrm>
            <a:off x="8466084" y="1959374"/>
            <a:ext cx="509679" cy="509701"/>
          </a:xfrm>
          <a:prstGeom prst="rect">
            <a:avLst/>
          </a:prstGeom>
          <a:noFill/>
          <a:ln>
            <a:noFill/>
          </a:ln>
        </p:spPr>
      </p:pic>
      <p:sp>
        <p:nvSpPr>
          <p:cNvPr id="3766" name="Google Shape;3766;p149"/>
          <p:cNvSpPr txBox="1"/>
          <p:nvPr/>
        </p:nvSpPr>
        <p:spPr>
          <a:xfrm>
            <a:off x="7980125" y="2469063"/>
            <a:ext cx="1596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Clean room job</a:t>
            </a:r>
            <a:endParaRPr sz="2400">
              <a:solidFill>
                <a:schemeClr val="dk1"/>
              </a:solidFill>
              <a:latin typeface="DM Sans"/>
              <a:ea typeface="DM Sans"/>
              <a:cs typeface="DM Sans"/>
              <a:sym typeface="DM Sans"/>
            </a:endParaRPr>
          </a:p>
        </p:txBody>
      </p:sp>
      <p:cxnSp>
        <p:nvCxnSpPr>
          <p:cNvPr id="3767" name="Google Shape;3767;p149"/>
          <p:cNvCxnSpPr/>
          <p:nvPr/>
        </p:nvCxnSpPr>
        <p:spPr>
          <a:xfrm flipH="1">
            <a:off x="4784550" y="2465525"/>
            <a:ext cx="2935200" cy="3600"/>
          </a:xfrm>
          <a:prstGeom prst="straightConnector1">
            <a:avLst/>
          </a:prstGeom>
          <a:noFill/>
          <a:ln cap="flat" cmpd="sng" w="19050">
            <a:solidFill>
              <a:srgbClr val="7F7F7F"/>
            </a:solidFill>
            <a:prstDash val="dash"/>
            <a:round/>
            <a:headEnd len="med" w="med" type="none"/>
            <a:tailEnd len="med" w="med" type="triangle"/>
          </a:ln>
        </p:spPr>
      </p:cxnSp>
      <p:cxnSp>
        <p:nvCxnSpPr>
          <p:cNvPr id="3768" name="Google Shape;3768;p149"/>
          <p:cNvCxnSpPr/>
          <p:nvPr/>
        </p:nvCxnSpPr>
        <p:spPr>
          <a:xfrm>
            <a:off x="4784563" y="2083475"/>
            <a:ext cx="3042900" cy="11100"/>
          </a:xfrm>
          <a:prstGeom prst="straightConnector1">
            <a:avLst/>
          </a:prstGeom>
          <a:noFill/>
          <a:ln cap="flat" cmpd="sng" w="19050">
            <a:solidFill>
              <a:srgbClr val="7F7F7F"/>
            </a:solidFill>
            <a:prstDash val="dash"/>
            <a:round/>
            <a:headEnd len="med" w="med" type="none"/>
            <a:tailEnd len="med" w="med" type="triangle"/>
          </a:ln>
        </p:spPr>
      </p:cxnSp>
      <p:sp>
        <p:nvSpPr>
          <p:cNvPr id="3769" name="Google Shape;3769;p149"/>
          <p:cNvSpPr txBox="1"/>
          <p:nvPr/>
        </p:nvSpPr>
        <p:spPr>
          <a:xfrm>
            <a:off x="4738388" y="166405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Request table</a:t>
            </a:r>
            <a:endParaRPr/>
          </a:p>
        </p:txBody>
      </p:sp>
      <p:sp>
        <p:nvSpPr>
          <p:cNvPr id="3770" name="Google Shape;3770;p149"/>
          <p:cNvSpPr txBox="1"/>
          <p:nvPr/>
        </p:nvSpPr>
        <p:spPr>
          <a:xfrm>
            <a:off x="4664725" y="255170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Ephemeral pre-signed URLS</a:t>
            </a:r>
            <a:endParaRPr/>
          </a:p>
        </p:txBody>
      </p:sp>
      <p:cxnSp>
        <p:nvCxnSpPr>
          <p:cNvPr id="3771" name="Google Shape;3771;p149"/>
          <p:cNvCxnSpPr/>
          <p:nvPr/>
        </p:nvCxnSpPr>
        <p:spPr>
          <a:xfrm>
            <a:off x="3913725" y="3004125"/>
            <a:ext cx="0" cy="526500"/>
          </a:xfrm>
          <a:prstGeom prst="straightConnector1">
            <a:avLst/>
          </a:prstGeom>
          <a:noFill/>
          <a:ln cap="flat" cmpd="sng" w="19050">
            <a:solidFill>
              <a:srgbClr val="7F7F7F"/>
            </a:solidFill>
            <a:prstDash val="solid"/>
            <a:round/>
            <a:headEnd len="med" w="med" type="none"/>
            <a:tailEnd len="med" w="med" type="triangle"/>
          </a:ln>
        </p:spPr>
      </p:cxnSp>
      <p:sp>
        <p:nvSpPr>
          <p:cNvPr id="3772" name="Google Shape;3772;p149"/>
          <p:cNvSpPr txBox="1"/>
          <p:nvPr/>
        </p:nvSpPr>
        <p:spPr>
          <a:xfrm>
            <a:off x="3827200" y="3048625"/>
            <a:ext cx="1350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Generate</a:t>
            </a:r>
            <a:endParaRPr sz="1200">
              <a:solidFill>
                <a:schemeClr val="accent1"/>
              </a:solidFill>
              <a:latin typeface="DM Sans Medium"/>
              <a:ea typeface="DM Sans Medium"/>
              <a:cs typeface="DM Sans Medium"/>
              <a:sym typeface="DM Sans Medium"/>
            </a:endParaRPr>
          </a:p>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 URLS</a:t>
            </a:r>
            <a:endParaRPr/>
          </a:p>
        </p:txBody>
      </p:sp>
      <p:cxnSp>
        <p:nvCxnSpPr>
          <p:cNvPr id="3773" name="Google Shape;3773;p149"/>
          <p:cNvCxnSpPr>
            <a:stCxn id="3766" idx="2"/>
          </p:cNvCxnSpPr>
          <p:nvPr/>
        </p:nvCxnSpPr>
        <p:spPr>
          <a:xfrm flipH="1">
            <a:off x="4738325" y="2838363"/>
            <a:ext cx="4039800" cy="1764300"/>
          </a:xfrm>
          <a:prstGeom prst="straightConnector1">
            <a:avLst/>
          </a:prstGeom>
          <a:noFill/>
          <a:ln cap="flat" cmpd="sng" w="19050">
            <a:solidFill>
              <a:srgbClr val="7F7F7F"/>
            </a:solidFill>
            <a:prstDash val="dash"/>
            <a:round/>
            <a:headEnd len="med" w="med" type="none"/>
            <a:tailEnd len="med" w="med" type="triangle"/>
          </a:ln>
        </p:spPr>
      </p:cxnSp>
      <p:sp>
        <p:nvSpPr>
          <p:cNvPr id="3774" name="Google Shape;3774;p149"/>
          <p:cNvSpPr txBox="1"/>
          <p:nvPr/>
        </p:nvSpPr>
        <p:spPr>
          <a:xfrm>
            <a:off x="5778125" y="3794950"/>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Direct download </a:t>
            </a:r>
            <a:endParaRPr sz="1200">
              <a:solidFill>
                <a:schemeClr val="accent1"/>
              </a:solidFill>
              <a:latin typeface="DM Sans Medium"/>
              <a:ea typeface="DM Sans Medium"/>
              <a:cs typeface="DM Sans Medium"/>
              <a:sym typeface="DM Sans Medium"/>
            </a:endParaRPr>
          </a:p>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from object store</a:t>
            </a:r>
            <a:endParaRPr/>
          </a:p>
        </p:txBody>
      </p:sp>
      <p:sp>
        <p:nvSpPr>
          <p:cNvPr id="3775" name="Google Shape;3775;p149"/>
          <p:cNvSpPr txBox="1"/>
          <p:nvPr/>
        </p:nvSpPr>
        <p:spPr>
          <a:xfrm>
            <a:off x="335650" y="11967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source/_static/images/clean-rooms/clean-room-data-access.png</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779" name="Shape 3779"/>
        <p:cNvGrpSpPr/>
        <p:nvPr/>
      </p:nvGrpSpPr>
      <p:grpSpPr>
        <a:xfrm>
          <a:off x="0" y="0"/>
          <a:ext cx="0" cy="0"/>
          <a:chOff x="0" y="0"/>
          <a:chExt cx="0" cy="0"/>
        </a:xfrm>
      </p:grpSpPr>
      <p:sp>
        <p:nvSpPr>
          <p:cNvPr id="3780" name="Google Shape;3780;p150"/>
          <p:cNvSpPr/>
          <p:nvPr/>
        </p:nvSpPr>
        <p:spPr>
          <a:xfrm>
            <a:off x="2031200" y="378600"/>
            <a:ext cx="8907600" cy="4905300"/>
          </a:xfrm>
          <a:prstGeom prst="rect">
            <a:avLst/>
          </a:prstGeom>
          <a:solidFill>
            <a:srgbClr val="325C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highlight>
                <a:srgbClr val="325C69"/>
              </a:highlight>
            </a:endParaRPr>
          </a:p>
        </p:txBody>
      </p:sp>
      <p:cxnSp>
        <p:nvCxnSpPr>
          <p:cNvPr id="3781" name="Google Shape;3781;p150"/>
          <p:cNvCxnSpPr>
            <a:stCxn id="3782" idx="3"/>
            <a:endCxn id="3783" idx="1"/>
          </p:cNvCxnSpPr>
          <p:nvPr/>
        </p:nvCxnSpPr>
        <p:spPr>
          <a:xfrm>
            <a:off x="7746350" y="2311905"/>
            <a:ext cx="713400" cy="600"/>
          </a:xfrm>
          <a:prstGeom prst="bentConnector3">
            <a:avLst>
              <a:gd fmla="val 49995" name="adj1"/>
            </a:avLst>
          </a:prstGeom>
          <a:noFill/>
          <a:ln cap="flat" cmpd="sng" w="28575">
            <a:solidFill>
              <a:srgbClr val="F9F7F4"/>
            </a:solidFill>
            <a:prstDash val="solid"/>
            <a:round/>
            <a:headEnd len="med" w="med" type="none"/>
            <a:tailEnd len="med" w="med" type="triangle"/>
          </a:ln>
        </p:spPr>
      </p:cxnSp>
      <p:cxnSp>
        <p:nvCxnSpPr>
          <p:cNvPr id="3784" name="Google Shape;3784;p150"/>
          <p:cNvCxnSpPr>
            <a:stCxn id="3785" idx="1"/>
            <a:endCxn id="3786" idx="4"/>
          </p:cNvCxnSpPr>
          <p:nvPr/>
        </p:nvCxnSpPr>
        <p:spPr>
          <a:xfrm flipH="1">
            <a:off x="3339125" y="2311905"/>
            <a:ext cx="717300" cy="600"/>
          </a:xfrm>
          <a:prstGeom prst="bentConnector3">
            <a:avLst>
              <a:gd fmla="val 49992" name="adj1"/>
            </a:avLst>
          </a:prstGeom>
          <a:noFill/>
          <a:ln cap="flat" cmpd="sng" w="28575">
            <a:solidFill>
              <a:srgbClr val="F9F7F4"/>
            </a:solidFill>
            <a:prstDash val="solid"/>
            <a:round/>
            <a:headEnd len="med" w="med" type="triangle"/>
            <a:tailEnd len="med" w="med" type="none"/>
          </a:ln>
        </p:spPr>
      </p:cxnSp>
      <p:sp>
        <p:nvSpPr>
          <p:cNvPr id="3787" name="Google Shape;3787;p150"/>
          <p:cNvSpPr txBox="1"/>
          <p:nvPr/>
        </p:nvSpPr>
        <p:spPr>
          <a:xfrm>
            <a:off x="2275975" y="2643875"/>
            <a:ext cx="16098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F9F7F4"/>
                </a:solidFill>
                <a:latin typeface="DM Sans"/>
                <a:ea typeface="DM Sans"/>
                <a:cs typeface="DM Sans"/>
                <a:sym typeface="DM Sans"/>
              </a:rPr>
              <a:t>1. </a:t>
            </a:r>
            <a:r>
              <a:rPr b="1" lang="en" sz="1300">
                <a:solidFill>
                  <a:srgbClr val="F9F7F4"/>
                </a:solidFill>
                <a:latin typeface="DM Sans"/>
                <a:ea typeface="DM Sans"/>
                <a:cs typeface="DM Sans"/>
                <a:sym typeface="DM Sans"/>
              </a:rPr>
              <a:t>Feature Store</a:t>
            </a:r>
            <a:endParaRPr b="1" sz="1300">
              <a:solidFill>
                <a:srgbClr val="F9F7F4"/>
              </a:solidFill>
              <a:latin typeface="DM Sans"/>
              <a:ea typeface="DM Sans"/>
              <a:cs typeface="DM Sans"/>
              <a:sym typeface="DM Sans"/>
            </a:endParaRPr>
          </a:p>
        </p:txBody>
      </p:sp>
      <p:cxnSp>
        <p:nvCxnSpPr>
          <p:cNvPr id="3788" name="Google Shape;3788;p150"/>
          <p:cNvCxnSpPr>
            <a:stCxn id="3785" idx="3"/>
            <a:endCxn id="3782" idx="1"/>
          </p:cNvCxnSpPr>
          <p:nvPr/>
        </p:nvCxnSpPr>
        <p:spPr>
          <a:xfrm>
            <a:off x="5544725" y="2311905"/>
            <a:ext cx="713400" cy="600"/>
          </a:xfrm>
          <a:prstGeom prst="bentConnector3">
            <a:avLst>
              <a:gd fmla="val 49995" name="adj1"/>
            </a:avLst>
          </a:prstGeom>
          <a:noFill/>
          <a:ln cap="flat" cmpd="sng" w="28575">
            <a:solidFill>
              <a:srgbClr val="F9F7F4"/>
            </a:solidFill>
            <a:prstDash val="solid"/>
            <a:round/>
            <a:headEnd len="med" w="med" type="none"/>
            <a:tailEnd len="med" w="med" type="triangle"/>
          </a:ln>
        </p:spPr>
      </p:cxnSp>
      <p:sp>
        <p:nvSpPr>
          <p:cNvPr id="3789" name="Google Shape;3789;p150"/>
          <p:cNvSpPr/>
          <p:nvPr/>
        </p:nvSpPr>
        <p:spPr>
          <a:xfrm>
            <a:off x="2031200" y="5283950"/>
            <a:ext cx="8907600" cy="680100"/>
          </a:xfrm>
          <a:prstGeom prst="rect">
            <a:avLst/>
          </a:prstGeom>
          <a:solidFill>
            <a:srgbClr val="698D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400">
                <a:solidFill>
                  <a:srgbClr val="F9F7F4"/>
                </a:solidFill>
                <a:latin typeface="DM Sans"/>
                <a:ea typeface="DM Sans"/>
                <a:cs typeface="DM Sans"/>
                <a:sym typeface="DM Sans"/>
              </a:rPr>
              <a:t>Unity Catalog</a:t>
            </a:r>
            <a:endParaRPr b="1" sz="1400">
              <a:solidFill>
                <a:srgbClr val="F9F7F4"/>
              </a:solidFill>
              <a:latin typeface="DM Sans"/>
              <a:ea typeface="DM Sans"/>
              <a:cs typeface="DM Sans"/>
              <a:sym typeface="DM Sans"/>
            </a:endParaRPr>
          </a:p>
          <a:p>
            <a:pPr indent="0" lvl="0" marL="0" rtl="0" algn="ctr">
              <a:spcBef>
                <a:spcPts val="0"/>
              </a:spcBef>
              <a:spcAft>
                <a:spcPts val="0"/>
              </a:spcAft>
              <a:buNone/>
            </a:pPr>
            <a:r>
              <a:rPr b="1" lang="en" sz="1200">
                <a:solidFill>
                  <a:srgbClr val="F9F7F4"/>
                </a:solidFill>
                <a:latin typeface="DM Sans"/>
                <a:ea typeface="DM Sans"/>
                <a:cs typeface="DM Sans"/>
                <a:sym typeface="DM Sans"/>
              </a:rPr>
              <a:t>Govern all data and AI assets</a:t>
            </a:r>
            <a:endParaRPr b="1" sz="1200">
              <a:solidFill>
                <a:srgbClr val="F9F7F4"/>
              </a:solidFill>
              <a:latin typeface="DM Sans"/>
              <a:ea typeface="DM Sans"/>
              <a:cs typeface="DM Sans"/>
              <a:sym typeface="DM Sans"/>
            </a:endParaRPr>
          </a:p>
        </p:txBody>
      </p:sp>
      <p:sp>
        <p:nvSpPr>
          <p:cNvPr id="3786" name="Google Shape;3786;p150"/>
          <p:cNvSpPr/>
          <p:nvPr/>
        </p:nvSpPr>
        <p:spPr>
          <a:xfrm>
            <a:off x="2822439" y="1972649"/>
            <a:ext cx="516801" cy="678513"/>
          </a:xfrm>
          <a:prstGeom prst="flowChartMagneticDisk">
            <a:avLst/>
          </a:prstGeom>
          <a:noFill/>
          <a:ln cap="flat" cmpd="sng" w="38100">
            <a:solidFill>
              <a:srgbClr val="F9F7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1"/>
              </a:highlight>
            </a:endParaRPr>
          </a:p>
        </p:txBody>
      </p:sp>
      <p:sp>
        <p:nvSpPr>
          <p:cNvPr id="3790" name="Google Shape;3790;p150"/>
          <p:cNvSpPr txBox="1"/>
          <p:nvPr/>
        </p:nvSpPr>
        <p:spPr>
          <a:xfrm>
            <a:off x="2335325" y="3178900"/>
            <a:ext cx="19764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Databricks a</a:t>
            </a:r>
            <a:r>
              <a:rPr i="1" lang="en" sz="1100">
                <a:solidFill>
                  <a:schemeClr val="lt1"/>
                </a:solidFill>
                <a:latin typeface="DM Sans Medium"/>
                <a:ea typeface="DM Sans Medium"/>
                <a:cs typeface="DM Sans Medium"/>
                <a:sym typeface="DM Sans Medium"/>
              </a:rPr>
              <a:t>utomated feature lookups simplifies integration and reduces mistakes.</a:t>
            </a:r>
            <a:endParaRPr i="1" sz="1100">
              <a:solidFill>
                <a:schemeClr val="lt1"/>
              </a:solidFill>
              <a:latin typeface="DM Sans Medium"/>
              <a:ea typeface="DM Sans Medium"/>
              <a:cs typeface="DM Sans Medium"/>
              <a:sym typeface="DM Sans Medium"/>
            </a:endParaRPr>
          </a:p>
        </p:txBody>
      </p:sp>
      <p:sp>
        <p:nvSpPr>
          <p:cNvPr id="3791" name="Google Shape;3791;p150"/>
          <p:cNvSpPr txBox="1"/>
          <p:nvPr/>
        </p:nvSpPr>
        <p:spPr>
          <a:xfrm>
            <a:off x="2275975" y="546750"/>
            <a:ext cx="3625500" cy="62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b="1" lang="en" sz="1600">
                <a:solidFill>
                  <a:srgbClr val="FFE599"/>
                </a:solidFill>
                <a:latin typeface="DM Sans"/>
                <a:ea typeface="DM Sans"/>
                <a:cs typeface="DM Sans"/>
                <a:sym typeface="DM Sans"/>
              </a:rPr>
              <a:t>Databricks-managed MLflow </a:t>
            </a:r>
            <a:r>
              <a:rPr lang="en" sz="1600">
                <a:solidFill>
                  <a:srgbClr val="FFE599"/>
                </a:solidFill>
                <a:latin typeface="DM Sans"/>
                <a:ea typeface="DM Sans"/>
                <a:cs typeface="DM Sans"/>
                <a:sym typeface="DM Sans"/>
              </a:rPr>
              <a:t> </a:t>
            </a:r>
            <a:r>
              <a:rPr lang="en" sz="1600">
                <a:solidFill>
                  <a:srgbClr val="FFE599"/>
                </a:solidFill>
                <a:latin typeface="DM Sans"/>
                <a:ea typeface="DM Sans"/>
                <a:cs typeface="DM Sans"/>
                <a:sym typeface="DM Sans"/>
              </a:rPr>
              <a:t>manages the ML model lifecycle</a:t>
            </a:r>
            <a:endParaRPr sz="1600">
              <a:solidFill>
                <a:srgbClr val="FFE599"/>
              </a:solidFill>
              <a:latin typeface="DM Sans"/>
              <a:ea typeface="DM Sans"/>
              <a:cs typeface="DM Sans"/>
              <a:sym typeface="DM Sans"/>
            </a:endParaRPr>
          </a:p>
        </p:txBody>
      </p:sp>
      <p:sp>
        <p:nvSpPr>
          <p:cNvPr id="3785" name="Google Shape;3785;p150"/>
          <p:cNvSpPr/>
          <p:nvPr/>
        </p:nvSpPr>
        <p:spPr>
          <a:xfrm>
            <a:off x="4056425" y="1903605"/>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2. Model training</a:t>
            </a:r>
            <a:endParaRPr b="1" sz="1300">
              <a:solidFill>
                <a:schemeClr val="lt1"/>
              </a:solidFill>
              <a:latin typeface="DM Sans"/>
              <a:ea typeface="DM Sans"/>
              <a:cs typeface="DM Sans"/>
              <a:sym typeface="DM Sans"/>
            </a:endParaRPr>
          </a:p>
        </p:txBody>
      </p:sp>
      <p:sp>
        <p:nvSpPr>
          <p:cNvPr id="3782" name="Google Shape;3782;p150"/>
          <p:cNvSpPr/>
          <p:nvPr/>
        </p:nvSpPr>
        <p:spPr>
          <a:xfrm>
            <a:off x="6258050" y="1903605"/>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3. T</a:t>
            </a:r>
            <a:r>
              <a:rPr b="1" lang="en" sz="1300">
                <a:solidFill>
                  <a:schemeClr val="lt1"/>
                </a:solidFill>
                <a:latin typeface="DM Sans"/>
                <a:ea typeface="DM Sans"/>
                <a:cs typeface="DM Sans"/>
                <a:sym typeface="DM Sans"/>
              </a:rPr>
              <a:t>racking</a:t>
            </a:r>
            <a:endParaRPr b="1" sz="1300">
              <a:solidFill>
                <a:schemeClr val="lt1"/>
              </a:solidFill>
              <a:latin typeface="DM Sans"/>
              <a:ea typeface="DM Sans"/>
              <a:cs typeface="DM Sans"/>
              <a:sym typeface="DM Sans"/>
            </a:endParaRPr>
          </a:p>
        </p:txBody>
      </p:sp>
      <p:sp>
        <p:nvSpPr>
          <p:cNvPr id="3783" name="Google Shape;3783;p150"/>
          <p:cNvSpPr/>
          <p:nvPr/>
        </p:nvSpPr>
        <p:spPr>
          <a:xfrm>
            <a:off x="8459675" y="1903605"/>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4. </a:t>
            </a:r>
            <a:r>
              <a:rPr b="1" lang="en" sz="1300">
                <a:solidFill>
                  <a:schemeClr val="lt1"/>
                </a:solidFill>
                <a:latin typeface="DM Sans"/>
                <a:ea typeface="DM Sans"/>
                <a:cs typeface="DM Sans"/>
                <a:sym typeface="DM Sans"/>
              </a:rPr>
              <a:t>Model Registry</a:t>
            </a:r>
            <a:endParaRPr b="1" sz="1300">
              <a:solidFill>
                <a:schemeClr val="lt1"/>
              </a:solidFill>
              <a:latin typeface="DM Sans"/>
              <a:ea typeface="DM Sans"/>
              <a:cs typeface="DM Sans"/>
              <a:sym typeface="DM Sans"/>
            </a:endParaRPr>
          </a:p>
        </p:txBody>
      </p:sp>
      <p:sp>
        <p:nvSpPr>
          <p:cNvPr id="3792" name="Google Shape;3792;p150"/>
          <p:cNvSpPr txBox="1"/>
          <p:nvPr/>
        </p:nvSpPr>
        <p:spPr>
          <a:xfrm>
            <a:off x="5853225" y="2796125"/>
            <a:ext cx="26067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MLflow tracks training by logging parameters, metrics, and artifacts to evaluate and compare model performance.</a:t>
            </a:r>
            <a:endParaRPr i="1" sz="1100">
              <a:solidFill>
                <a:schemeClr val="lt1"/>
              </a:solidFill>
              <a:latin typeface="DM Sans"/>
              <a:ea typeface="DM Sans"/>
              <a:cs typeface="DM Sans"/>
              <a:sym typeface="DM Sans"/>
            </a:endParaRPr>
          </a:p>
        </p:txBody>
      </p:sp>
      <p:sp>
        <p:nvSpPr>
          <p:cNvPr id="3793" name="Google Shape;3793;p150"/>
          <p:cNvSpPr/>
          <p:nvPr/>
        </p:nvSpPr>
        <p:spPr>
          <a:xfrm>
            <a:off x="7358900" y="3666155"/>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5. </a:t>
            </a:r>
            <a:r>
              <a:rPr b="1" lang="en" sz="1300">
                <a:solidFill>
                  <a:schemeClr val="lt1"/>
                </a:solidFill>
                <a:latin typeface="DM Sans"/>
                <a:ea typeface="DM Sans"/>
                <a:cs typeface="DM Sans"/>
                <a:sym typeface="DM Sans"/>
              </a:rPr>
              <a:t>Model Serving</a:t>
            </a:r>
            <a:endParaRPr b="1" sz="1300">
              <a:solidFill>
                <a:schemeClr val="lt1"/>
              </a:solidFill>
              <a:latin typeface="DM Sans"/>
              <a:ea typeface="DM Sans"/>
              <a:cs typeface="DM Sans"/>
              <a:sym typeface="DM Sans"/>
            </a:endParaRPr>
          </a:p>
        </p:txBody>
      </p:sp>
      <p:cxnSp>
        <p:nvCxnSpPr>
          <p:cNvPr id="3794" name="Google Shape;3794;p150"/>
          <p:cNvCxnSpPr>
            <a:stCxn id="3783" idx="2"/>
            <a:endCxn id="3793" idx="3"/>
          </p:cNvCxnSpPr>
          <p:nvPr/>
        </p:nvCxnSpPr>
        <p:spPr>
          <a:xfrm rot="5400000">
            <a:off x="8348375" y="3218955"/>
            <a:ext cx="1354200" cy="356700"/>
          </a:xfrm>
          <a:prstGeom prst="bentConnector2">
            <a:avLst/>
          </a:prstGeom>
          <a:noFill/>
          <a:ln cap="flat" cmpd="sng" w="28575">
            <a:solidFill>
              <a:srgbClr val="F9F7F4"/>
            </a:solidFill>
            <a:prstDash val="solid"/>
            <a:round/>
            <a:headEnd len="med" w="med" type="none"/>
            <a:tailEnd len="med" w="med" type="triangle"/>
          </a:ln>
        </p:spPr>
      </p:cxnSp>
      <p:cxnSp>
        <p:nvCxnSpPr>
          <p:cNvPr id="3795" name="Google Shape;3795;p150"/>
          <p:cNvCxnSpPr>
            <a:endCxn id="3782" idx="2"/>
          </p:cNvCxnSpPr>
          <p:nvPr/>
        </p:nvCxnSpPr>
        <p:spPr>
          <a:xfrm rot="-5400000">
            <a:off x="6936950" y="2784855"/>
            <a:ext cx="129900" cy="600"/>
          </a:xfrm>
          <a:prstGeom prst="bentConnector3">
            <a:avLst>
              <a:gd fmla="val 50000" name="adj1"/>
            </a:avLst>
          </a:prstGeom>
          <a:noFill/>
          <a:ln cap="flat" cmpd="sng" w="9525">
            <a:solidFill>
              <a:srgbClr val="F9F7F4"/>
            </a:solidFill>
            <a:prstDash val="dot"/>
            <a:round/>
            <a:headEnd len="med" w="med" type="none"/>
            <a:tailEnd len="med" w="med" type="none"/>
          </a:ln>
        </p:spPr>
      </p:cxnSp>
      <p:cxnSp>
        <p:nvCxnSpPr>
          <p:cNvPr id="3796" name="Google Shape;3796;p150"/>
          <p:cNvCxnSpPr>
            <a:stCxn id="3783" idx="0"/>
          </p:cNvCxnSpPr>
          <p:nvPr/>
        </p:nvCxnSpPr>
        <p:spPr>
          <a:xfrm rot="-5400000">
            <a:off x="9128975" y="1828155"/>
            <a:ext cx="150300" cy="600"/>
          </a:xfrm>
          <a:prstGeom prst="bentConnector3">
            <a:avLst>
              <a:gd fmla="val 50000" name="adj1"/>
            </a:avLst>
          </a:prstGeom>
          <a:noFill/>
          <a:ln cap="flat" cmpd="sng" w="9525">
            <a:solidFill>
              <a:srgbClr val="F9F7F4"/>
            </a:solidFill>
            <a:prstDash val="dot"/>
            <a:round/>
            <a:headEnd len="med" w="med" type="none"/>
            <a:tailEnd len="med" w="med" type="none"/>
          </a:ln>
        </p:spPr>
      </p:cxnSp>
      <p:cxnSp>
        <p:nvCxnSpPr>
          <p:cNvPr id="3797" name="Google Shape;3797;p150"/>
          <p:cNvCxnSpPr>
            <a:stCxn id="3787" idx="2"/>
          </p:cNvCxnSpPr>
          <p:nvPr/>
        </p:nvCxnSpPr>
        <p:spPr>
          <a:xfrm flipH="1" rot="-5400000">
            <a:off x="3009175" y="3100475"/>
            <a:ext cx="1440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3798" name="Google Shape;3798;p150"/>
          <p:cNvSpPr txBox="1"/>
          <p:nvPr/>
        </p:nvSpPr>
        <p:spPr>
          <a:xfrm>
            <a:off x="0" y="0"/>
            <a:ext cx="113571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MLflow integration overview     </a:t>
            </a:r>
            <a:r>
              <a:rPr lang="en">
                <a:solidFill>
                  <a:schemeClr val="accent1"/>
                </a:solidFill>
                <a:latin typeface="DM Sans Medium"/>
                <a:ea typeface="DM Sans Medium"/>
                <a:cs typeface="DM Sans Medium"/>
                <a:sym typeface="DM Sans Medium"/>
              </a:rPr>
              <a:t>/_static/images/mlflow/</a:t>
            </a:r>
            <a:r>
              <a:rPr lang="en">
                <a:solidFill>
                  <a:schemeClr val="accent1"/>
                </a:solidFill>
                <a:latin typeface="DM Sans Medium"/>
                <a:ea typeface="DM Sans Medium"/>
                <a:cs typeface="DM Sans Medium"/>
                <a:sym typeface="DM Sans Medium"/>
              </a:rPr>
              <a:t>mlflow-databricks-integration-ml.png</a:t>
            </a:r>
            <a:endParaRPr sz="500"/>
          </a:p>
        </p:txBody>
      </p:sp>
      <p:sp>
        <p:nvSpPr>
          <p:cNvPr id="3799" name="Google Shape;3799;p150"/>
          <p:cNvSpPr txBox="1"/>
          <p:nvPr/>
        </p:nvSpPr>
        <p:spPr>
          <a:xfrm>
            <a:off x="7419500" y="4638700"/>
            <a:ext cx="26067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Model Serving deploys models to a REST API endpoint.</a:t>
            </a:r>
            <a:endParaRPr i="1" sz="1100">
              <a:solidFill>
                <a:schemeClr val="lt1"/>
              </a:solidFill>
              <a:latin typeface="DM Sans"/>
              <a:ea typeface="DM Sans"/>
              <a:cs typeface="DM Sans"/>
              <a:sym typeface="DM Sans"/>
            </a:endParaRPr>
          </a:p>
        </p:txBody>
      </p:sp>
      <p:cxnSp>
        <p:nvCxnSpPr>
          <p:cNvPr id="3800" name="Google Shape;3800;p150"/>
          <p:cNvCxnSpPr/>
          <p:nvPr/>
        </p:nvCxnSpPr>
        <p:spPr>
          <a:xfrm rot="-5400000">
            <a:off x="8029175" y="4607875"/>
            <a:ext cx="1632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3801" name="Google Shape;3801;p150"/>
          <p:cNvSpPr txBox="1"/>
          <p:nvPr/>
        </p:nvSpPr>
        <p:spPr>
          <a:xfrm>
            <a:off x="3509375" y="1342700"/>
            <a:ext cx="28257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Use Mosaic AI to train models or fine-tune foundation models.</a:t>
            </a:r>
            <a:endParaRPr i="1" sz="1100">
              <a:solidFill>
                <a:schemeClr val="lt1"/>
              </a:solidFill>
              <a:latin typeface="DM Sans"/>
              <a:ea typeface="DM Sans"/>
              <a:cs typeface="DM Sans"/>
              <a:sym typeface="DM Sans"/>
            </a:endParaRPr>
          </a:p>
        </p:txBody>
      </p:sp>
      <p:cxnSp>
        <p:nvCxnSpPr>
          <p:cNvPr id="3802" name="Google Shape;3802;p150"/>
          <p:cNvCxnSpPr/>
          <p:nvPr/>
        </p:nvCxnSpPr>
        <p:spPr>
          <a:xfrm rot="-5400000">
            <a:off x="4709375" y="1828155"/>
            <a:ext cx="1503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3803" name="Google Shape;3803;p150"/>
          <p:cNvSpPr txBox="1"/>
          <p:nvPr/>
        </p:nvSpPr>
        <p:spPr>
          <a:xfrm>
            <a:off x="8217425" y="1185975"/>
            <a:ext cx="2476800" cy="64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MLflow Model Registry, integrated with Unity Catalog, centralizes all AI models and artifacts.</a:t>
            </a:r>
            <a:endParaRPr i="1" sz="1100">
              <a:solidFill>
                <a:schemeClr val="lt1"/>
              </a:solidFill>
              <a:latin typeface="DM Sans"/>
              <a:ea typeface="DM Sans"/>
              <a:cs typeface="DM Sans"/>
              <a:sym typeface="DM Sans"/>
            </a:endParaRPr>
          </a:p>
        </p:txBody>
      </p:sp>
      <p:sp>
        <p:nvSpPr>
          <p:cNvPr id="3804" name="Google Shape;3804;p150"/>
          <p:cNvSpPr/>
          <p:nvPr/>
        </p:nvSpPr>
        <p:spPr>
          <a:xfrm>
            <a:off x="5156975" y="3666143"/>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6. Monitoring</a:t>
            </a:r>
            <a:endParaRPr b="1" sz="1300">
              <a:solidFill>
                <a:schemeClr val="lt1"/>
              </a:solidFill>
              <a:latin typeface="DM Sans"/>
              <a:ea typeface="DM Sans"/>
              <a:cs typeface="DM Sans"/>
              <a:sym typeface="DM Sans"/>
            </a:endParaRPr>
          </a:p>
        </p:txBody>
      </p:sp>
      <p:sp>
        <p:nvSpPr>
          <p:cNvPr id="3805" name="Google Shape;3805;p150"/>
          <p:cNvSpPr txBox="1"/>
          <p:nvPr/>
        </p:nvSpPr>
        <p:spPr>
          <a:xfrm>
            <a:off x="3977850" y="4638700"/>
            <a:ext cx="31998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MLflow automatically captures requests and responses to monitor and debug models.</a:t>
            </a:r>
            <a:endParaRPr i="1" sz="1100">
              <a:solidFill>
                <a:schemeClr val="lt1"/>
              </a:solidFill>
              <a:latin typeface="DM Sans Medium"/>
              <a:ea typeface="DM Sans Medium"/>
              <a:cs typeface="DM Sans Medium"/>
              <a:sym typeface="DM Sans Medium"/>
            </a:endParaRPr>
          </a:p>
        </p:txBody>
      </p:sp>
      <p:cxnSp>
        <p:nvCxnSpPr>
          <p:cNvPr id="3806" name="Google Shape;3806;p150"/>
          <p:cNvCxnSpPr/>
          <p:nvPr/>
        </p:nvCxnSpPr>
        <p:spPr>
          <a:xfrm rot="-5400000">
            <a:off x="5819525" y="4585963"/>
            <a:ext cx="163200" cy="600"/>
          </a:xfrm>
          <a:prstGeom prst="bentConnector3">
            <a:avLst>
              <a:gd fmla="val 50000" name="adj1"/>
            </a:avLst>
          </a:prstGeom>
          <a:noFill/>
          <a:ln cap="flat" cmpd="sng" w="9525">
            <a:solidFill>
              <a:srgbClr val="F9F7F4"/>
            </a:solidFill>
            <a:prstDash val="dot"/>
            <a:round/>
            <a:headEnd len="med" w="med" type="none"/>
            <a:tailEnd len="med" w="med" type="none"/>
          </a:ln>
        </p:spPr>
      </p:cxnSp>
      <p:cxnSp>
        <p:nvCxnSpPr>
          <p:cNvPr id="3807" name="Google Shape;3807;p150"/>
          <p:cNvCxnSpPr>
            <a:stCxn id="3804" idx="3"/>
            <a:endCxn id="3793" idx="1"/>
          </p:cNvCxnSpPr>
          <p:nvPr/>
        </p:nvCxnSpPr>
        <p:spPr>
          <a:xfrm>
            <a:off x="6645275" y="4074443"/>
            <a:ext cx="713700" cy="600"/>
          </a:xfrm>
          <a:prstGeom prst="bentConnector3">
            <a:avLst>
              <a:gd fmla="val 49995" name="adj1"/>
            </a:avLst>
          </a:prstGeom>
          <a:noFill/>
          <a:ln cap="flat" cmpd="sng" w="28575">
            <a:solidFill>
              <a:srgbClr val="F9F7F4"/>
            </a:solidFill>
            <a:prstDash val="solid"/>
            <a:round/>
            <a:headEnd len="med" w="med" type="triangle"/>
            <a:tailEnd len="med" w="med" type="none"/>
          </a:ln>
        </p:spPr>
      </p:cxnSp>
      <p:cxnSp>
        <p:nvCxnSpPr>
          <p:cNvPr id="3808" name="Google Shape;3808;p150"/>
          <p:cNvCxnSpPr>
            <a:stCxn id="3785" idx="2"/>
            <a:endCxn id="3804" idx="1"/>
          </p:cNvCxnSpPr>
          <p:nvPr/>
        </p:nvCxnSpPr>
        <p:spPr>
          <a:xfrm flipH="1" rot="-5400000">
            <a:off x="4301675" y="3219105"/>
            <a:ext cx="1354200" cy="356400"/>
          </a:xfrm>
          <a:prstGeom prst="bentConnector2">
            <a:avLst/>
          </a:prstGeom>
          <a:noFill/>
          <a:ln cap="flat" cmpd="sng" w="28575">
            <a:solidFill>
              <a:srgbClr val="F9F7F4"/>
            </a:solidFill>
            <a:prstDash val="solid"/>
            <a:round/>
            <a:headEnd len="med" w="med" type="triangle"/>
            <a:tailEnd len="med" w="med" type="none"/>
          </a:ln>
        </p:spPr>
      </p:cxnSp>
      <p:sp>
        <p:nvSpPr>
          <p:cNvPr id="3809" name="Google Shape;3809;p150"/>
          <p:cNvSpPr/>
          <p:nvPr/>
        </p:nvSpPr>
        <p:spPr>
          <a:xfrm>
            <a:off x="2031228" y="5964050"/>
            <a:ext cx="8907600" cy="723300"/>
          </a:xfrm>
          <a:prstGeom prst="rect">
            <a:avLst/>
          </a:prstGeom>
          <a:solidFill>
            <a:srgbClr val="9DCA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33F48"/>
                </a:solidFill>
                <a:latin typeface="DM Sans"/>
                <a:ea typeface="DM Sans"/>
                <a:cs typeface="DM Sans"/>
                <a:sym typeface="DM Sans"/>
              </a:rPr>
              <a:t>Cloud Data Lake</a:t>
            </a:r>
            <a:endParaRPr b="1" sz="1400">
              <a:solidFill>
                <a:srgbClr val="233F48"/>
              </a:solidFill>
              <a:latin typeface="DM Sans"/>
              <a:ea typeface="DM Sans"/>
              <a:cs typeface="DM Sans"/>
              <a:sym typeface="DM Sans"/>
            </a:endParaRPr>
          </a:p>
          <a:p>
            <a:pPr indent="0" lvl="0" marL="0" rtl="0" algn="ctr">
              <a:spcBef>
                <a:spcPts val="0"/>
              </a:spcBef>
              <a:spcAft>
                <a:spcPts val="0"/>
              </a:spcAft>
              <a:buNone/>
            </a:pPr>
            <a:r>
              <a:rPr b="1" lang="en" sz="1200">
                <a:solidFill>
                  <a:srgbClr val="233F48"/>
                </a:solidFill>
                <a:latin typeface="DM Sans"/>
                <a:ea typeface="DM Sans"/>
                <a:cs typeface="DM Sans"/>
                <a:sym typeface="DM Sans"/>
              </a:rPr>
              <a:t>All structured and unstructured data</a:t>
            </a:r>
            <a:endParaRPr b="1" sz="1200">
              <a:solidFill>
                <a:srgbClr val="233F48"/>
              </a:solidFill>
              <a:latin typeface="DM Sans"/>
              <a:ea typeface="DM Sans"/>
              <a:cs typeface="DM Sans"/>
              <a:sym typeface="DM San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3813" name="Shape 3813"/>
        <p:cNvGrpSpPr/>
        <p:nvPr/>
      </p:nvGrpSpPr>
      <p:grpSpPr>
        <a:xfrm>
          <a:off x="0" y="0"/>
          <a:ext cx="0" cy="0"/>
          <a:chOff x="0" y="0"/>
          <a:chExt cx="0" cy="0"/>
        </a:xfrm>
      </p:grpSpPr>
      <p:sp>
        <p:nvSpPr>
          <p:cNvPr id="3814" name="Google Shape;3814;p151"/>
          <p:cNvSpPr/>
          <p:nvPr/>
        </p:nvSpPr>
        <p:spPr>
          <a:xfrm>
            <a:off x="2031200" y="378600"/>
            <a:ext cx="8907600" cy="4905300"/>
          </a:xfrm>
          <a:prstGeom prst="rect">
            <a:avLst/>
          </a:prstGeom>
          <a:solidFill>
            <a:srgbClr val="325C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highlight>
                <a:srgbClr val="325C69"/>
              </a:highlight>
            </a:endParaRPr>
          </a:p>
        </p:txBody>
      </p:sp>
      <p:cxnSp>
        <p:nvCxnSpPr>
          <p:cNvPr id="3815" name="Google Shape;3815;p151"/>
          <p:cNvCxnSpPr>
            <a:stCxn id="3816" idx="3"/>
            <a:endCxn id="3817" idx="1"/>
          </p:cNvCxnSpPr>
          <p:nvPr/>
        </p:nvCxnSpPr>
        <p:spPr>
          <a:xfrm>
            <a:off x="7746350" y="2311905"/>
            <a:ext cx="713400" cy="600"/>
          </a:xfrm>
          <a:prstGeom prst="bentConnector3">
            <a:avLst>
              <a:gd fmla="val 49995" name="adj1"/>
            </a:avLst>
          </a:prstGeom>
          <a:noFill/>
          <a:ln cap="flat" cmpd="sng" w="28575">
            <a:solidFill>
              <a:srgbClr val="F9F7F4"/>
            </a:solidFill>
            <a:prstDash val="solid"/>
            <a:round/>
            <a:headEnd len="med" w="med" type="none"/>
            <a:tailEnd len="med" w="med" type="triangle"/>
          </a:ln>
        </p:spPr>
      </p:cxnSp>
      <p:cxnSp>
        <p:nvCxnSpPr>
          <p:cNvPr id="3818" name="Google Shape;3818;p151"/>
          <p:cNvCxnSpPr>
            <a:stCxn id="3819" idx="1"/>
            <a:endCxn id="3820" idx="4"/>
          </p:cNvCxnSpPr>
          <p:nvPr/>
        </p:nvCxnSpPr>
        <p:spPr>
          <a:xfrm flipH="1">
            <a:off x="3339125" y="2311905"/>
            <a:ext cx="717300" cy="600"/>
          </a:xfrm>
          <a:prstGeom prst="bentConnector3">
            <a:avLst>
              <a:gd fmla="val 49992" name="adj1"/>
            </a:avLst>
          </a:prstGeom>
          <a:noFill/>
          <a:ln cap="flat" cmpd="sng" w="28575">
            <a:solidFill>
              <a:srgbClr val="F9F7F4"/>
            </a:solidFill>
            <a:prstDash val="solid"/>
            <a:round/>
            <a:headEnd len="med" w="med" type="triangle"/>
            <a:tailEnd len="med" w="med" type="none"/>
          </a:ln>
        </p:spPr>
      </p:cxnSp>
      <p:sp>
        <p:nvSpPr>
          <p:cNvPr id="3821" name="Google Shape;3821;p151"/>
          <p:cNvSpPr txBox="1"/>
          <p:nvPr/>
        </p:nvSpPr>
        <p:spPr>
          <a:xfrm>
            <a:off x="2393550" y="2643875"/>
            <a:ext cx="13746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F9F7F4"/>
                </a:solidFill>
                <a:latin typeface="DM Sans"/>
                <a:ea typeface="DM Sans"/>
                <a:cs typeface="DM Sans"/>
                <a:sym typeface="DM Sans"/>
              </a:rPr>
              <a:t>1. </a:t>
            </a:r>
            <a:r>
              <a:rPr b="1" lang="en" sz="1300">
                <a:solidFill>
                  <a:srgbClr val="F9F7F4"/>
                </a:solidFill>
                <a:latin typeface="DM Sans"/>
                <a:ea typeface="DM Sans"/>
                <a:cs typeface="DM Sans"/>
                <a:sym typeface="DM Sans"/>
              </a:rPr>
              <a:t>Vector &amp; </a:t>
            </a:r>
            <a:r>
              <a:rPr b="1" lang="en" sz="1300">
                <a:solidFill>
                  <a:srgbClr val="F9F7F4"/>
                </a:solidFill>
                <a:latin typeface="DM Sans"/>
                <a:ea typeface="DM Sans"/>
                <a:cs typeface="DM Sans"/>
                <a:sym typeface="DM Sans"/>
              </a:rPr>
              <a:t>Feature Store</a:t>
            </a:r>
            <a:endParaRPr b="1" sz="1300">
              <a:solidFill>
                <a:srgbClr val="F9F7F4"/>
              </a:solidFill>
              <a:latin typeface="DM Sans"/>
              <a:ea typeface="DM Sans"/>
              <a:cs typeface="DM Sans"/>
              <a:sym typeface="DM Sans"/>
            </a:endParaRPr>
          </a:p>
        </p:txBody>
      </p:sp>
      <p:cxnSp>
        <p:nvCxnSpPr>
          <p:cNvPr id="3822" name="Google Shape;3822;p151"/>
          <p:cNvCxnSpPr>
            <a:stCxn id="3819" idx="3"/>
            <a:endCxn id="3816" idx="1"/>
          </p:cNvCxnSpPr>
          <p:nvPr/>
        </p:nvCxnSpPr>
        <p:spPr>
          <a:xfrm>
            <a:off x="5544725" y="2311905"/>
            <a:ext cx="713400" cy="600"/>
          </a:xfrm>
          <a:prstGeom prst="bentConnector3">
            <a:avLst>
              <a:gd fmla="val 49995" name="adj1"/>
            </a:avLst>
          </a:prstGeom>
          <a:noFill/>
          <a:ln cap="flat" cmpd="sng" w="28575">
            <a:solidFill>
              <a:srgbClr val="F9F7F4"/>
            </a:solidFill>
            <a:prstDash val="solid"/>
            <a:round/>
            <a:headEnd len="med" w="med" type="none"/>
            <a:tailEnd len="med" w="med" type="triangle"/>
          </a:ln>
        </p:spPr>
      </p:cxnSp>
      <p:sp>
        <p:nvSpPr>
          <p:cNvPr id="3823" name="Google Shape;3823;p151"/>
          <p:cNvSpPr/>
          <p:nvPr/>
        </p:nvSpPr>
        <p:spPr>
          <a:xfrm>
            <a:off x="2031200" y="5283950"/>
            <a:ext cx="8907600" cy="680100"/>
          </a:xfrm>
          <a:prstGeom prst="rect">
            <a:avLst/>
          </a:prstGeom>
          <a:solidFill>
            <a:srgbClr val="698D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400">
                <a:solidFill>
                  <a:srgbClr val="F9F7F4"/>
                </a:solidFill>
                <a:latin typeface="DM Sans"/>
                <a:ea typeface="DM Sans"/>
                <a:cs typeface="DM Sans"/>
                <a:sym typeface="DM Sans"/>
              </a:rPr>
              <a:t>Unity Catalog</a:t>
            </a:r>
            <a:endParaRPr b="1" sz="1400">
              <a:solidFill>
                <a:srgbClr val="F9F7F4"/>
              </a:solidFill>
              <a:latin typeface="DM Sans"/>
              <a:ea typeface="DM Sans"/>
              <a:cs typeface="DM Sans"/>
              <a:sym typeface="DM Sans"/>
            </a:endParaRPr>
          </a:p>
          <a:p>
            <a:pPr indent="0" lvl="0" marL="0" rtl="0" algn="ctr">
              <a:spcBef>
                <a:spcPts val="0"/>
              </a:spcBef>
              <a:spcAft>
                <a:spcPts val="0"/>
              </a:spcAft>
              <a:buNone/>
            </a:pPr>
            <a:r>
              <a:rPr b="1" lang="en" sz="1200">
                <a:solidFill>
                  <a:srgbClr val="F9F7F4"/>
                </a:solidFill>
                <a:latin typeface="DM Sans"/>
                <a:ea typeface="DM Sans"/>
                <a:cs typeface="DM Sans"/>
                <a:sym typeface="DM Sans"/>
              </a:rPr>
              <a:t>Govern all data and AI assets</a:t>
            </a:r>
            <a:endParaRPr b="1" sz="1200">
              <a:solidFill>
                <a:srgbClr val="F9F7F4"/>
              </a:solidFill>
              <a:latin typeface="DM Sans"/>
              <a:ea typeface="DM Sans"/>
              <a:cs typeface="DM Sans"/>
              <a:sym typeface="DM Sans"/>
            </a:endParaRPr>
          </a:p>
        </p:txBody>
      </p:sp>
      <p:sp>
        <p:nvSpPr>
          <p:cNvPr id="3820" name="Google Shape;3820;p151"/>
          <p:cNvSpPr/>
          <p:nvPr/>
        </p:nvSpPr>
        <p:spPr>
          <a:xfrm>
            <a:off x="2822439" y="1972649"/>
            <a:ext cx="516801" cy="678513"/>
          </a:xfrm>
          <a:prstGeom prst="flowChartMagneticDisk">
            <a:avLst/>
          </a:prstGeom>
          <a:noFill/>
          <a:ln cap="flat" cmpd="sng" w="38100">
            <a:solidFill>
              <a:srgbClr val="F9F7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1"/>
              </a:highlight>
            </a:endParaRPr>
          </a:p>
        </p:txBody>
      </p:sp>
      <p:sp>
        <p:nvSpPr>
          <p:cNvPr id="3824" name="Google Shape;3824;p151"/>
          <p:cNvSpPr txBox="1"/>
          <p:nvPr/>
        </p:nvSpPr>
        <p:spPr>
          <a:xfrm>
            <a:off x="2335325" y="3178900"/>
            <a:ext cx="19764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Databricks a</a:t>
            </a:r>
            <a:r>
              <a:rPr i="1" lang="en" sz="1100">
                <a:solidFill>
                  <a:schemeClr val="lt1"/>
                </a:solidFill>
                <a:latin typeface="DM Sans Medium"/>
                <a:ea typeface="DM Sans Medium"/>
                <a:cs typeface="DM Sans Medium"/>
                <a:sym typeface="DM Sans Medium"/>
              </a:rPr>
              <a:t>utomated vector and feature lookups simplifies integration and reduces mistakes.</a:t>
            </a:r>
            <a:endParaRPr i="1" sz="1100">
              <a:solidFill>
                <a:schemeClr val="lt1"/>
              </a:solidFill>
              <a:latin typeface="DM Sans Medium"/>
              <a:ea typeface="DM Sans Medium"/>
              <a:cs typeface="DM Sans Medium"/>
              <a:sym typeface="DM Sans Medium"/>
            </a:endParaRPr>
          </a:p>
        </p:txBody>
      </p:sp>
      <p:sp>
        <p:nvSpPr>
          <p:cNvPr id="3825" name="Google Shape;3825;p151"/>
          <p:cNvSpPr txBox="1"/>
          <p:nvPr/>
        </p:nvSpPr>
        <p:spPr>
          <a:xfrm>
            <a:off x="2275975" y="546750"/>
            <a:ext cx="3625500" cy="62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b="1" lang="en" sz="1600">
                <a:solidFill>
                  <a:srgbClr val="FFE599"/>
                </a:solidFill>
                <a:latin typeface="DM Sans"/>
                <a:ea typeface="DM Sans"/>
                <a:cs typeface="DM Sans"/>
                <a:sym typeface="DM Sans"/>
              </a:rPr>
              <a:t>Databricks-managed </a:t>
            </a:r>
            <a:r>
              <a:rPr b="1" lang="en" sz="1600">
                <a:solidFill>
                  <a:srgbClr val="FFE599"/>
                </a:solidFill>
                <a:latin typeface="DM Sans"/>
                <a:ea typeface="DM Sans"/>
                <a:cs typeface="DM Sans"/>
                <a:sym typeface="DM Sans"/>
              </a:rPr>
              <a:t>MLflow </a:t>
            </a:r>
            <a:r>
              <a:rPr lang="en" sz="1600">
                <a:solidFill>
                  <a:srgbClr val="FFE599"/>
                </a:solidFill>
                <a:latin typeface="DM Sans"/>
                <a:ea typeface="DM Sans"/>
                <a:cs typeface="DM Sans"/>
                <a:sym typeface="DM Sans"/>
              </a:rPr>
              <a:t>manages the genAI app lifecycle</a:t>
            </a:r>
            <a:endParaRPr sz="1600">
              <a:solidFill>
                <a:srgbClr val="FFE599"/>
              </a:solidFill>
              <a:latin typeface="DM Sans"/>
              <a:ea typeface="DM Sans"/>
              <a:cs typeface="DM Sans"/>
              <a:sym typeface="DM Sans"/>
            </a:endParaRPr>
          </a:p>
        </p:txBody>
      </p:sp>
      <p:sp>
        <p:nvSpPr>
          <p:cNvPr id="3819" name="Google Shape;3819;p151"/>
          <p:cNvSpPr/>
          <p:nvPr/>
        </p:nvSpPr>
        <p:spPr>
          <a:xfrm>
            <a:off x="4056425" y="1903605"/>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2. Create and evaluate AI agents</a:t>
            </a:r>
            <a:endParaRPr b="1" sz="1300">
              <a:solidFill>
                <a:schemeClr val="lt1"/>
              </a:solidFill>
              <a:latin typeface="DM Sans"/>
              <a:ea typeface="DM Sans"/>
              <a:cs typeface="DM Sans"/>
              <a:sym typeface="DM Sans"/>
            </a:endParaRPr>
          </a:p>
        </p:txBody>
      </p:sp>
      <p:sp>
        <p:nvSpPr>
          <p:cNvPr id="3816" name="Google Shape;3816;p151"/>
          <p:cNvSpPr/>
          <p:nvPr/>
        </p:nvSpPr>
        <p:spPr>
          <a:xfrm>
            <a:off x="6258050" y="1903605"/>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3. Tracking and t</a:t>
            </a:r>
            <a:r>
              <a:rPr b="1" lang="en" sz="1300">
                <a:solidFill>
                  <a:schemeClr val="lt1"/>
                </a:solidFill>
                <a:latin typeface="DM Sans"/>
                <a:ea typeface="DM Sans"/>
                <a:cs typeface="DM Sans"/>
                <a:sym typeface="DM Sans"/>
              </a:rPr>
              <a:t>racing</a:t>
            </a:r>
            <a:endParaRPr b="1" sz="1300">
              <a:solidFill>
                <a:schemeClr val="lt1"/>
              </a:solidFill>
              <a:latin typeface="DM Sans"/>
              <a:ea typeface="DM Sans"/>
              <a:cs typeface="DM Sans"/>
              <a:sym typeface="DM Sans"/>
            </a:endParaRPr>
          </a:p>
        </p:txBody>
      </p:sp>
      <p:sp>
        <p:nvSpPr>
          <p:cNvPr id="3817" name="Google Shape;3817;p151"/>
          <p:cNvSpPr/>
          <p:nvPr/>
        </p:nvSpPr>
        <p:spPr>
          <a:xfrm>
            <a:off x="8459675" y="1903605"/>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4. </a:t>
            </a:r>
            <a:r>
              <a:rPr b="1" lang="en" sz="1300">
                <a:solidFill>
                  <a:schemeClr val="lt1"/>
                </a:solidFill>
                <a:latin typeface="DM Sans"/>
                <a:ea typeface="DM Sans"/>
                <a:cs typeface="DM Sans"/>
                <a:sym typeface="DM Sans"/>
              </a:rPr>
              <a:t>Model Registry</a:t>
            </a:r>
            <a:endParaRPr b="1" sz="1300">
              <a:solidFill>
                <a:schemeClr val="lt1"/>
              </a:solidFill>
              <a:latin typeface="DM Sans"/>
              <a:ea typeface="DM Sans"/>
              <a:cs typeface="DM Sans"/>
              <a:sym typeface="DM Sans"/>
            </a:endParaRPr>
          </a:p>
        </p:txBody>
      </p:sp>
      <p:sp>
        <p:nvSpPr>
          <p:cNvPr id="3826" name="Google Shape;3826;p151"/>
          <p:cNvSpPr txBox="1"/>
          <p:nvPr/>
        </p:nvSpPr>
        <p:spPr>
          <a:xfrm>
            <a:off x="5853225" y="2796125"/>
            <a:ext cx="2606700" cy="64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MLflow tracing captures detailed agent execution information for enhanced genAI observability.</a:t>
            </a:r>
            <a:endParaRPr i="1" sz="1100">
              <a:solidFill>
                <a:schemeClr val="lt1"/>
              </a:solidFill>
              <a:latin typeface="DM Sans"/>
              <a:ea typeface="DM Sans"/>
              <a:cs typeface="DM Sans"/>
              <a:sym typeface="DM Sans"/>
            </a:endParaRPr>
          </a:p>
        </p:txBody>
      </p:sp>
      <p:sp>
        <p:nvSpPr>
          <p:cNvPr id="3827" name="Google Shape;3827;p151"/>
          <p:cNvSpPr/>
          <p:nvPr/>
        </p:nvSpPr>
        <p:spPr>
          <a:xfrm>
            <a:off x="7358900" y="3666155"/>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5. </a:t>
            </a:r>
            <a:r>
              <a:rPr b="1" lang="en" sz="1300">
                <a:solidFill>
                  <a:schemeClr val="lt1"/>
                </a:solidFill>
                <a:latin typeface="DM Sans"/>
                <a:ea typeface="DM Sans"/>
                <a:cs typeface="DM Sans"/>
                <a:sym typeface="DM Sans"/>
              </a:rPr>
              <a:t>Model Serving</a:t>
            </a:r>
            <a:endParaRPr b="1" sz="1300">
              <a:solidFill>
                <a:schemeClr val="lt1"/>
              </a:solidFill>
              <a:latin typeface="DM Sans"/>
              <a:ea typeface="DM Sans"/>
              <a:cs typeface="DM Sans"/>
              <a:sym typeface="DM Sans"/>
            </a:endParaRPr>
          </a:p>
        </p:txBody>
      </p:sp>
      <p:cxnSp>
        <p:nvCxnSpPr>
          <p:cNvPr id="3828" name="Google Shape;3828;p151"/>
          <p:cNvCxnSpPr>
            <a:stCxn id="3817" idx="2"/>
            <a:endCxn id="3827" idx="3"/>
          </p:cNvCxnSpPr>
          <p:nvPr/>
        </p:nvCxnSpPr>
        <p:spPr>
          <a:xfrm rot="5400000">
            <a:off x="8348375" y="3218955"/>
            <a:ext cx="1354200" cy="356700"/>
          </a:xfrm>
          <a:prstGeom prst="bentConnector2">
            <a:avLst/>
          </a:prstGeom>
          <a:noFill/>
          <a:ln cap="flat" cmpd="sng" w="28575">
            <a:solidFill>
              <a:srgbClr val="F9F7F4"/>
            </a:solidFill>
            <a:prstDash val="solid"/>
            <a:round/>
            <a:headEnd len="med" w="med" type="none"/>
            <a:tailEnd len="med" w="med" type="triangle"/>
          </a:ln>
        </p:spPr>
      </p:cxnSp>
      <p:cxnSp>
        <p:nvCxnSpPr>
          <p:cNvPr id="3829" name="Google Shape;3829;p151"/>
          <p:cNvCxnSpPr>
            <a:endCxn id="3816" idx="2"/>
          </p:cNvCxnSpPr>
          <p:nvPr/>
        </p:nvCxnSpPr>
        <p:spPr>
          <a:xfrm rot="-5400000">
            <a:off x="6936950" y="2784855"/>
            <a:ext cx="129900" cy="600"/>
          </a:xfrm>
          <a:prstGeom prst="bentConnector3">
            <a:avLst>
              <a:gd fmla="val 50000" name="adj1"/>
            </a:avLst>
          </a:prstGeom>
          <a:noFill/>
          <a:ln cap="flat" cmpd="sng" w="9525">
            <a:solidFill>
              <a:srgbClr val="F9F7F4"/>
            </a:solidFill>
            <a:prstDash val="dot"/>
            <a:round/>
            <a:headEnd len="med" w="med" type="none"/>
            <a:tailEnd len="med" w="med" type="none"/>
          </a:ln>
        </p:spPr>
      </p:cxnSp>
      <p:cxnSp>
        <p:nvCxnSpPr>
          <p:cNvPr id="3830" name="Google Shape;3830;p151"/>
          <p:cNvCxnSpPr>
            <a:stCxn id="3817" idx="0"/>
          </p:cNvCxnSpPr>
          <p:nvPr/>
        </p:nvCxnSpPr>
        <p:spPr>
          <a:xfrm rot="-5400000">
            <a:off x="9128975" y="1828155"/>
            <a:ext cx="150300" cy="600"/>
          </a:xfrm>
          <a:prstGeom prst="bentConnector3">
            <a:avLst>
              <a:gd fmla="val 50000" name="adj1"/>
            </a:avLst>
          </a:prstGeom>
          <a:noFill/>
          <a:ln cap="flat" cmpd="sng" w="9525">
            <a:solidFill>
              <a:srgbClr val="F9F7F4"/>
            </a:solidFill>
            <a:prstDash val="dot"/>
            <a:round/>
            <a:headEnd len="med" w="med" type="none"/>
            <a:tailEnd len="med" w="med" type="none"/>
          </a:ln>
        </p:spPr>
      </p:cxnSp>
      <p:cxnSp>
        <p:nvCxnSpPr>
          <p:cNvPr id="3831" name="Google Shape;3831;p151"/>
          <p:cNvCxnSpPr>
            <a:stCxn id="3821" idx="2"/>
          </p:cNvCxnSpPr>
          <p:nvPr/>
        </p:nvCxnSpPr>
        <p:spPr>
          <a:xfrm flipH="1" rot="-5400000">
            <a:off x="3009150" y="3300575"/>
            <a:ext cx="1440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3832" name="Google Shape;3832;p151"/>
          <p:cNvSpPr txBox="1"/>
          <p:nvPr/>
        </p:nvSpPr>
        <p:spPr>
          <a:xfrm>
            <a:off x="0" y="0"/>
            <a:ext cx="113571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MLflow integration overview     /_static/images/mlflow/mlflow-databricks-integration-agents.png</a:t>
            </a:r>
            <a:endParaRPr sz="500"/>
          </a:p>
        </p:txBody>
      </p:sp>
      <p:sp>
        <p:nvSpPr>
          <p:cNvPr id="3833" name="Google Shape;3833;p151"/>
          <p:cNvSpPr txBox="1"/>
          <p:nvPr/>
        </p:nvSpPr>
        <p:spPr>
          <a:xfrm>
            <a:off x="7419500" y="4638700"/>
            <a:ext cx="26067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Model Serving deploys agents to a REST API endpoint.</a:t>
            </a:r>
            <a:endParaRPr i="1" sz="1100">
              <a:solidFill>
                <a:schemeClr val="lt1"/>
              </a:solidFill>
              <a:latin typeface="DM Sans"/>
              <a:ea typeface="DM Sans"/>
              <a:cs typeface="DM Sans"/>
              <a:sym typeface="DM Sans"/>
            </a:endParaRPr>
          </a:p>
        </p:txBody>
      </p:sp>
      <p:cxnSp>
        <p:nvCxnSpPr>
          <p:cNvPr id="3834" name="Google Shape;3834;p151"/>
          <p:cNvCxnSpPr/>
          <p:nvPr/>
        </p:nvCxnSpPr>
        <p:spPr>
          <a:xfrm rot="-5400000">
            <a:off x="8029175" y="4607875"/>
            <a:ext cx="1632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3835" name="Google Shape;3835;p151"/>
          <p:cNvSpPr txBox="1"/>
          <p:nvPr/>
        </p:nvSpPr>
        <p:spPr>
          <a:xfrm>
            <a:off x="3339125" y="1185975"/>
            <a:ext cx="3156900" cy="64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Mosaic AI Agent Framework and Agent Evaluation help you create</a:t>
            </a:r>
            <a:r>
              <a:rPr i="1" lang="en" sz="1100">
                <a:solidFill>
                  <a:schemeClr val="lt1"/>
                </a:solidFill>
                <a:latin typeface="DM Sans Medium"/>
                <a:ea typeface="DM Sans Medium"/>
                <a:cs typeface="DM Sans Medium"/>
                <a:sym typeface="DM Sans Medium"/>
              </a:rPr>
              <a:t> agents and evaluate their output.</a:t>
            </a:r>
            <a:endParaRPr i="1" sz="1100">
              <a:solidFill>
                <a:schemeClr val="lt1"/>
              </a:solidFill>
              <a:latin typeface="DM Sans Medium"/>
              <a:ea typeface="DM Sans Medium"/>
              <a:cs typeface="DM Sans Medium"/>
              <a:sym typeface="DM Sans Medium"/>
            </a:endParaRPr>
          </a:p>
        </p:txBody>
      </p:sp>
      <p:cxnSp>
        <p:nvCxnSpPr>
          <p:cNvPr id="3836" name="Google Shape;3836;p151"/>
          <p:cNvCxnSpPr/>
          <p:nvPr/>
        </p:nvCxnSpPr>
        <p:spPr>
          <a:xfrm rot="-5400000">
            <a:off x="4709375" y="1828155"/>
            <a:ext cx="1503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3837" name="Google Shape;3837;p151"/>
          <p:cNvSpPr txBox="1"/>
          <p:nvPr/>
        </p:nvSpPr>
        <p:spPr>
          <a:xfrm>
            <a:off x="8217425" y="1185975"/>
            <a:ext cx="2476800" cy="64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MLflow Model Registry, integrated with Unity Catalog, centralizes all AI models and artifacts.</a:t>
            </a:r>
            <a:endParaRPr i="1" sz="1100">
              <a:solidFill>
                <a:schemeClr val="lt1"/>
              </a:solidFill>
              <a:latin typeface="DM Sans"/>
              <a:ea typeface="DM Sans"/>
              <a:cs typeface="DM Sans"/>
              <a:sym typeface="DM Sans"/>
            </a:endParaRPr>
          </a:p>
        </p:txBody>
      </p:sp>
      <p:sp>
        <p:nvSpPr>
          <p:cNvPr id="3838" name="Google Shape;3838;p151"/>
          <p:cNvSpPr/>
          <p:nvPr/>
        </p:nvSpPr>
        <p:spPr>
          <a:xfrm>
            <a:off x="5156975" y="3666143"/>
            <a:ext cx="1488300" cy="816600"/>
          </a:xfrm>
          <a:prstGeom prst="roundRect">
            <a:avLst>
              <a:gd fmla="val 16667" name="adj"/>
            </a:avLst>
          </a:prstGeom>
          <a:solidFill>
            <a:srgbClr val="0387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6. </a:t>
            </a:r>
            <a:r>
              <a:rPr b="1" lang="en" sz="1300">
                <a:solidFill>
                  <a:schemeClr val="lt1"/>
                </a:solidFill>
                <a:latin typeface="DM Sans"/>
                <a:ea typeface="DM Sans"/>
                <a:cs typeface="DM Sans"/>
                <a:sym typeface="DM Sans"/>
              </a:rPr>
              <a:t>Monitoring</a:t>
            </a:r>
            <a:endParaRPr b="1" sz="1300">
              <a:solidFill>
                <a:schemeClr val="lt1"/>
              </a:solidFill>
              <a:latin typeface="DM Sans"/>
              <a:ea typeface="DM Sans"/>
              <a:cs typeface="DM Sans"/>
              <a:sym typeface="DM Sans"/>
            </a:endParaRPr>
          </a:p>
        </p:txBody>
      </p:sp>
      <p:sp>
        <p:nvSpPr>
          <p:cNvPr id="3839" name="Google Shape;3839;p151"/>
          <p:cNvSpPr txBox="1"/>
          <p:nvPr/>
        </p:nvSpPr>
        <p:spPr>
          <a:xfrm>
            <a:off x="3977850" y="4638700"/>
            <a:ext cx="31998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lt1"/>
                </a:solidFill>
                <a:latin typeface="DM Sans Medium"/>
                <a:ea typeface="DM Sans Medium"/>
                <a:cs typeface="DM Sans Medium"/>
                <a:sym typeface="DM Sans Medium"/>
              </a:rPr>
              <a:t>MLflow automatically captures requests and responses to monitor and debug models.</a:t>
            </a:r>
            <a:endParaRPr i="1" sz="1100">
              <a:solidFill>
                <a:schemeClr val="lt1"/>
              </a:solidFill>
              <a:latin typeface="DM Sans Medium"/>
              <a:ea typeface="DM Sans Medium"/>
              <a:cs typeface="DM Sans Medium"/>
              <a:sym typeface="DM Sans Medium"/>
            </a:endParaRPr>
          </a:p>
        </p:txBody>
      </p:sp>
      <p:cxnSp>
        <p:nvCxnSpPr>
          <p:cNvPr id="3840" name="Google Shape;3840;p151"/>
          <p:cNvCxnSpPr/>
          <p:nvPr/>
        </p:nvCxnSpPr>
        <p:spPr>
          <a:xfrm rot="-5400000">
            <a:off x="5819525" y="4607863"/>
            <a:ext cx="163200" cy="600"/>
          </a:xfrm>
          <a:prstGeom prst="bentConnector3">
            <a:avLst>
              <a:gd fmla="val 50000" name="adj1"/>
            </a:avLst>
          </a:prstGeom>
          <a:noFill/>
          <a:ln cap="flat" cmpd="sng" w="9525">
            <a:solidFill>
              <a:srgbClr val="F9F7F4"/>
            </a:solidFill>
            <a:prstDash val="dot"/>
            <a:round/>
            <a:headEnd len="med" w="med" type="none"/>
            <a:tailEnd len="med" w="med" type="none"/>
          </a:ln>
        </p:spPr>
      </p:cxnSp>
      <p:cxnSp>
        <p:nvCxnSpPr>
          <p:cNvPr id="3841" name="Google Shape;3841;p151"/>
          <p:cNvCxnSpPr>
            <a:stCxn id="3838" idx="3"/>
            <a:endCxn id="3827" idx="1"/>
          </p:cNvCxnSpPr>
          <p:nvPr/>
        </p:nvCxnSpPr>
        <p:spPr>
          <a:xfrm>
            <a:off x="6645275" y="4074443"/>
            <a:ext cx="713700" cy="600"/>
          </a:xfrm>
          <a:prstGeom prst="bentConnector3">
            <a:avLst>
              <a:gd fmla="val 49995" name="adj1"/>
            </a:avLst>
          </a:prstGeom>
          <a:noFill/>
          <a:ln cap="flat" cmpd="sng" w="28575">
            <a:solidFill>
              <a:srgbClr val="F9F7F4"/>
            </a:solidFill>
            <a:prstDash val="solid"/>
            <a:round/>
            <a:headEnd len="med" w="med" type="triangle"/>
            <a:tailEnd len="med" w="med" type="none"/>
          </a:ln>
        </p:spPr>
      </p:cxnSp>
      <p:cxnSp>
        <p:nvCxnSpPr>
          <p:cNvPr id="3842" name="Google Shape;3842;p151"/>
          <p:cNvCxnSpPr>
            <a:stCxn id="3819" idx="2"/>
            <a:endCxn id="3838" idx="1"/>
          </p:cNvCxnSpPr>
          <p:nvPr/>
        </p:nvCxnSpPr>
        <p:spPr>
          <a:xfrm flipH="1" rot="-5400000">
            <a:off x="4301675" y="3219105"/>
            <a:ext cx="1354200" cy="356400"/>
          </a:xfrm>
          <a:prstGeom prst="bentConnector2">
            <a:avLst/>
          </a:prstGeom>
          <a:noFill/>
          <a:ln cap="flat" cmpd="sng" w="28575">
            <a:solidFill>
              <a:srgbClr val="F9F7F4"/>
            </a:solidFill>
            <a:prstDash val="solid"/>
            <a:round/>
            <a:headEnd len="med" w="med" type="triangle"/>
            <a:tailEnd len="med" w="med" type="none"/>
          </a:ln>
        </p:spPr>
      </p:cxnSp>
      <p:sp>
        <p:nvSpPr>
          <p:cNvPr id="3843" name="Google Shape;3843;p151"/>
          <p:cNvSpPr/>
          <p:nvPr/>
        </p:nvSpPr>
        <p:spPr>
          <a:xfrm>
            <a:off x="2031228" y="5964050"/>
            <a:ext cx="8907600" cy="723300"/>
          </a:xfrm>
          <a:prstGeom prst="rect">
            <a:avLst/>
          </a:prstGeom>
          <a:solidFill>
            <a:srgbClr val="9DCA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233F48"/>
                </a:solidFill>
                <a:latin typeface="DM Sans"/>
                <a:ea typeface="DM Sans"/>
                <a:cs typeface="DM Sans"/>
                <a:sym typeface="DM Sans"/>
              </a:rPr>
              <a:t>Cloud Data Lake</a:t>
            </a:r>
            <a:endParaRPr b="1" sz="1400">
              <a:solidFill>
                <a:srgbClr val="233F48"/>
              </a:solidFill>
              <a:latin typeface="DM Sans"/>
              <a:ea typeface="DM Sans"/>
              <a:cs typeface="DM Sans"/>
              <a:sym typeface="DM Sans"/>
            </a:endParaRPr>
          </a:p>
          <a:p>
            <a:pPr indent="0" lvl="0" marL="0" rtl="0" algn="ctr">
              <a:spcBef>
                <a:spcPts val="0"/>
              </a:spcBef>
              <a:spcAft>
                <a:spcPts val="0"/>
              </a:spcAft>
              <a:buNone/>
            </a:pPr>
            <a:r>
              <a:rPr b="1" lang="en" sz="1200">
                <a:solidFill>
                  <a:srgbClr val="233F48"/>
                </a:solidFill>
                <a:latin typeface="DM Sans"/>
                <a:ea typeface="DM Sans"/>
                <a:cs typeface="DM Sans"/>
                <a:sym typeface="DM Sans"/>
              </a:rPr>
              <a:t>All structured and unstructured data</a:t>
            </a:r>
            <a:endParaRPr b="1" sz="1200">
              <a:solidFill>
                <a:srgbClr val="233F48"/>
              </a:solidFill>
              <a:latin typeface="DM Sans"/>
              <a:ea typeface="DM Sans"/>
              <a:cs typeface="DM Sans"/>
              <a:sym typeface="DM San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7" name="Shape 3847"/>
        <p:cNvGrpSpPr/>
        <p:nvPr/>
      </p:nvGrpSpPr>
      <p:grpSpPr>
        <a:xfrm>
          <a:off x="0" y="0"/>
          <a:ext cx="0" cy="0"/>
          <a:chOff x="0" y="0"/>
          <a:chExt cx="0" cy="0"/>
        </a:xfrm>
      </p:grpSpPr>
      <p:sp>
        <p:nvSpPr>
          <p:cNvPr id="3848" name="Google Shape;3848;p15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849" name="Google Shape;3849;p152"/>
          <p:cNvSpPr txBox="1"/>
          <p:nvPr/>
        </p:nvSpPr>
        <p:spPr>
          <a:xfrm>
            <a:off x="199975" y="2450"/>
            <a:ext cx="11357100" cy="879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RAG development &amp; LLMops lifecycle</a:t>
            </a:r>
            <a:endParaRPr sz="20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/_static/images/generative-ai/development-lifecycle.png</a:t>
            </a:r>
            <a:endParaRPr sz="1000"/>
          </a:p>
        </p:txBody>
      </p:sp>
      <p:sp>
        <p:nvSpPr>
          <p:cNvPr id="3850" name="Google Shape;3850;p152"/>
          <p:cNvSpPr/>
          <p:nvPr/>
        </p:nvSpPr>
        <p:spPr>
          <a:xfrm flipH="1">
            <a:off x="1725488" y="400694"/>
            <a:ext cx="8599500" cy="39471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851" name="Google Shape;3851;p152"/>
          <p:cNvSpPr/>
          <p:nvPr/>
        </p:nvSpPr>
        <p:spPr>
          <a:xfrm>
            <a:off x="5099725" y="1862088"/>
            <a:ext cx="3088500" cy="3088500"/>
          </a:xfrm>
          <a:prstGeom prst="ellipse">
            <a:avLst/>
          </a:prstGeom>
          <a:noFill/>
          <a:ln cap="flat" cmpd="sng" w="19050">
            <a:solidFill>
              <a:srgbClr val="618794"/>
            </a:solidFill>
            <a:prstDash val="dash"/>
            <a:round/>
            <a:headEnd len="med" w="med" type="none"/>
            <a:tailEnd len="med" w="med"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3852" name="Google Shape;3852;p152"/>
          <p:cNvSpPr/>
          <p:nvPr/>
        </p:nvSpPr>
        <p:spPr>
          <a:xfrm>
            <a:off x="7669300" y="3045353"/>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marR="0" rtl="0" algn="ctr">
              <a:lnSpc>
                <a:spcPct val="100000"/>
              </a:lnSpc>
              <a:spcBef>
                <a:spcPts val="0"/>
              </a:spcBef>
              <a:spcAft>
                <a:spcPts val="0"/>
              </a:spcAft>
              <a:buNone/>
            </a:pPr>
            <a:r>
              <a:rPr b="1" lang="en" sz="1100">
                <a:latin typeface="DM Sans"/>
                <a:ea typeface="DM Sans"/>
                <a:cs typeface="DM Sans"/>
                <a:sym typeface="DM Sans"/>
              </a:rPr>
              <a:t>Collect feedback </a:t>
            </a:r>
            <a:endParaRPr b="1" sz="1100">
              <a:latin typeface="DM Sans"/>
              <a:ea typeface="DM Sans"/>
              <a:cs typeface="DM Sans"/>
              <a:sym typeface="DM Sans"/>
            </a:endParaRPr>
          </a:p>
        </p:txBody>
      </p:sp>
      <p:sp>
        <p:nvSpPr>
          <p:cNvPr id="3853" name="Google Shape;3853;p152"/>
          <p:cNvSpPr txBox="1"/>
          <p:nvPr/>
        </p:nvSpPr>
        <p:spPr>
          <a:xfrm>
            <a:off x="3196066" y="958550"/>
            <a:ext cx="536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AI agent development lifecycle</a:t>
            </a:r>
            <a:endParaRPr b="1">
              <a:solidFill>
                <a:srgbClr val="00A972"/>
              </a:solidFill>
              <a:latin typeface="DM Sans"/>
              <a:ea typeface="DM Sans"/>
              <a:cs typeface="DM Sans"/>
              <a:sym typeface="DM Sans"/>
            </a:endParaRPr>
          </a:p>
        </p:txBody>
      </p:sp>
      <p:sp>
        <p:nvSpPr>
          <p:cNvPr id="3854" name="Google Shape;3854;p152"/>
          <p:cNvSpPr/>
          <p:nvPr/>
        </p:nvSpPr>
        <p:spPr>
          <a:xfrm>
            <a:off x="-182300" y="3045088"/>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Prepare data</a:t>
            </a:r>
            <a:endParaRPr b="1" sz="1100">
              <a:latin typeface="DM Sans"/>
              <a:ea typeface="DM Sans"/>
              <a:cs typeface="DM Sans"/>
              <a:sym typeface="DM Sans"/>
            </a:endParaRPr>
          </a:p>
        </p:txBody>
      </p:sp>
      <p:sp>
        <p:nvSpPr>
          <p:cNvPr id="3855" name="Google Shape;3855;p152"/>
          <p:cNvSpPr/>
          <p:nvPr/>
        </p:nvSpPr>
        <p:spPr>
          <a:xfrm>
            <a:off x="1362420" y="3045087"/>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Create agent tools</a:t>
            </a:r>
            <a:endParaRPr b="1" sz="1100">
              <a:latin typeface="DM Sans"/>
              <a:ea typeface="DM Sans"/>
              <a:cs typeface="DM Sans"/>
              <a:sym typeface="DM Sans"/>
            </a:endParaRPr>
          </a:p>
        </p:txBody>
      </p:sp>
      <p:cxnSp>
        <p:nvCxnSpPr>
          <p:cNvPr id="3856" name="Google Shape;3856;p152"/>
          <p:cNvCxnSpPr/>
          <p:nvPr/>
        </p:nvCxnSpPr>
        <p:spPr>
          <a:xfrm>
            <a:off x="910130" y="3690313"/>
            <a:ext cx="443700" cy="0"/>
          </a:xfrm>
          <a:prstGeom prst="straightConnector1">
            <a:avLst/>
          </a:prstGeom>
          <a:noFill/>
          <a:ln cap="flat" cmpd="sng" w="19050">
            <a:solidFill>
              <a:srgbClr val="618794"/>
            </a:solidFill>
            <a:prstDash val="dash"/>
            <a:round/>
            <a:headEnd len="med" w="med" type="none"/>
            <a:tailEnd len="med" w="med" type="triangle"/>
          </a:ln>
        </p:spPr>
      </p:cxnSp>
      <p:cxnSp>
        <p:nvCxnSpPr>
          <p:cNvPr id="3857" name="Google Shape;3857;p152"/>
          <p:cNvCxnSpPr/>
          <p:nvPr/>
        </p:nvCxnSpPr>
        <p:spPr>
          <a:xfrm>
            <a:off x="2459803" y="3690313"/>
            <a:ext cx="429300" cy="0"/>
          </a:xfrm>
          <a:prstGeom prst="straightConnector1">
            <a:avLst/>
          </a:prstGeom>
          <a:noFill/>
          <a:ln cap="flat" cmpd="sng" w="19050">
            <a:solidFill>
              <a:srgbClr val="618794"/>
            </a:solidFill>
            <a:prstDash val="dash"/>
            <a:round/>
            <a:headEnd len="med" w="med" type="none"/>
            <a:tailEnd len="med" w="med" type="triangle"/>
          </a:ln>
        </p:spPr>
      </p:cxnSp>
      <p:sp>
        <p:nvSpPr>
          <p:cNvPr id="3858" name="Google Shape;3858;p152"/>
          <p:cNvSpPr/>
          <p:nvPr/>
        </p:nvSpPr>
        <p:spPr>
          <a:xfrm>
            <a:off x="2907137" y="3044946"/>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Build prototype</a:t>
            </a:r>
            <a:endParaRPr b="1" sz="1100">
              <a:latin typeface="DM Sans"/>
              <a:ea typeface="DM Sans"/>
              <a:cs typeface="DM Sans"/>
              <a:sym typeface="DM Sans"/>
            </a:endParaRPr>
          </a:p>
        </p:txBody>
      </p:sp>
      <p:sp>
        <p:nvSpPr>
          <p:cNvPr id="3859" name="Google Shape;3859;p152"/>
          <p:cNvSpPr/>
          <p:nvPr/>
        </p:nvSpPr>
        <p:spPr>
          <a:xfrm>
            <a:off x="1308400" y="4086088"/>
            <a:ext cx="1195200" cy="396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Unity Catalog functions</a:t>
            </a:r>
            <a:endParaRPr sz="1200">
              <a:latin typeface="DM Sans"/>
              <a:ea typeface="DM Sans"/>
              <a:cs typeface="DM Sans"/>
              <a:sym typeface="DM Sans"/>
            </a:endParaRPr>
          </a:p>
        </p:txBody>
      </p:sp>
      <p:sp>
        <p:nvSpPr>
          <p:cNvPr id="3860" name="Google Shape;3860;p152"/>
          <p:cNvSpPr/>
          <p:nvPr/>
        </p:nvSpPr>
        <p:spPr>
          <a:xfrm>
            <a:off x="2853090" y="40860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AI Playground</a:t>
            </a:r>
            <a:endParaRPr sz="1200">
              <a:latin typeface="DM Sans"/>
              <a:ea typeface="DM Sans"/>
              <a:cs typeface="DM Sans"/>
              <a:sym typeface="DM Sans"/>
            </a:endParaRPr>
          </a:p>
        </p:txBody>
      </p:sp>
      <p:sp>
        <p:nvSpPr>
          <p:cNvPr id="3861" name="Google Shape;3861;p152"/>
          <p:cNvSpPr/>
          <p:nvPr/>
        </p:nvSpPr>
        <p:spPr>
          <a:xfrm>
            <a:off x="9214017" y="3045353"/>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Deploy to production</a:t>
            </a:r>
            <a:endParaRPr b="1" sz="1100">
              <a:latin typeface="DM Sans"/>
              <a:ea typeface="DM Sans"/>
              <a:cs typeface="DM Sans"/>
              <a:sym typeface="DM Sans"/>
            </a:endParaRPr>
          </a:p>
        </p:txBody>
      </p:sp>
      <p:sp>
        <p:nvSpPr>
          <p:cNvPr id="3862" name="Google Shape;3862;p152"/>
          <p:cNvSpPr/>
          <p:nvPr/>
        </p:nvSpPr>
        <p:spPr>
          <a:xfrm>
            <a:off x="10758661" y="3045098"/>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Monitor in production</a:t>
            </a:r>
            <a:endParaRPr b="1" sz="1100">
              <a:latin typeface="DM Sans"/>
              <a:ea typeface="DM Sans"/>
              <a:cs typeface="DM Sans"/>
              <a:sym typeface="DM Sans"/>
            </a:endParaRPr>
          </a:p>
        </p:txBody>
      </p:sp>
      <p:sp>
        <p:nvSpPr>
          <p:cNvPr id="3863" name="Google Shape;3863;p152"/>
          <p:cNvSpPr/>
          <p:nvPr/>
        </p:nvSpPr>
        <p:spPr>
          <a:xfrm>
            <a:off x="9154620" y="40860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 Serving</a:t>
            </a:r>
            <a:endParaRPr sz="1200">
              <a:latin typeface="DM Sans"/>
              <a:ea typeface="DM Sans"/>
              <a:cs typeface="DM Sans"/>
              <a:sym typeface="DM Sans"/>
            </a:endParaRPr>
          </a:p>
        </p:txBody>
      </p:sp>
      <p:pic>
        <p:nvPicPr>
          <p:cNvPr id="3864" name="Google Shape;3864;p152"/>
          <p:cNvPicPr preferRelativeResize="0"/>
          <p:nvPr/>
        </p:nvPicPr>
        <p:blipFill rotWithShape="1">
          <a:blip r:embed="rId3">
            <a:alphaModFix/>
          </a:blip>
          <a:srcRect b="0" l="0" r="0" t="0"/>
          <a:stretch/>
        </p:blipFill>
        <p:spPr>
          <a:xfrm>
            <a:off x="1678876" y="3491988"/>
            <a:ext cx="539925" cy="571476"/>
          </a:xfrm>
          <a:prstGeom prst="rect">
            <a:avLst/>
          </a:prstGeom>
          <a:noFill/>
          <a:ln>
            <a:noFill/>
          </a:ln>
        </p:spPr>
      </p:pic>
      <p:pic>
        <p:nvPicPr>
          <p:cNvPr id="3865" name="Google Shape;3865;p152"/>
          <p:cNvPicPr preferRelativeResize="0"/>
          <p:nvPr/>
        </p:nvPicPr>
        <p:blipFill rotWithShape="1">
          <a:blip r:embed="rId4">
            <a:alphaModFix/>
          </a:blip>
          <a:srcRect b="0" l="0" r="0" t="0"/>
          <a:stretch/>
        </p:blipFill>
        <p:spPr>
          <a:xfrm>
            <a:off x="11017150" y="3514388"/>
            <a:ext cx="560977" cy="571476"/>
          </a:xfrm>
          <a:prstGeom prst="rect">
            <a:avLst/>
          </a:prstGeom>
          <a:noFill/>
          <a:ln>
            <a:noFill/>
          </a:ln>
        </p:spPr>
      </p:pic>
      <p:cxnSp>
        <p:nvCxnSpPr>
          <p:cNvPr id="3866" name="Google Shape;3866;p152"/>
          <p:cNvCxnSpPr/>
          <p:nvPr/>
        </p:nvCxnSpPr>
        <p:spPr>
          <a:xfrm>
            <a:off x="8774342" y="3690313"/>
            <a:ext cx="414300" cy="0"/>
          </a:xfrm>
          <a:prstGeom prst="straightConnector1">
            <a:avLst/>
          </a:prstGeom>
          <a:noFill/>
          <a:ln cap="flat" cmpd="sng" w="19050">
            <a:solidFill>
              <a:srgbClr val="618794"/>
            </a:solidFill>
            <a:prstDash val="dash"/>
            <a:round/>
            <a:headEnd len="med" w="med" type="none"/>
            <a:tailEnd len="med" w="med" type="triangle"/>
          </a:ln>
        </p:spPr>
      </p:cxnSp>
      <p:pic>
        <p:nvPicPr>
          <p:cNvPr id="3867" name="Google Shape;3867;p152"/>
          <p:cNvPicPr preferRelativeResize="0"/>
          <p:nvPr/>
        </p:nvPicPr>
        <p:blipFill rotWithShape="1">
          <a:blip r:embed="rId5">
            <a:alphaModFix/>
          </a:blip>
          <a:srcRect b="0" l="0" r="0" t="0"/>
          <a:stretch/>
        </p:blipFill>
        <p:spPr>
          <a:xfrm>
            <a:off x="7969125" y="3562889"/>
            <a:ext cx="487599" cy="472500"/>
          </a:xfrm>
          <a:prstGeom prst="rect">
            <a:avLst/>
          </a:prstGeom>
          <a:noFill/>
          <a:ln>
            <a:noFill/>
          </a:ln>
        </p:spPr>
      </p:pic>
      <p:pic>
        <p:nvPicPr>
          <p:cNvPr id="3868" name="Google Shape;3868;p152"/>
          <p:cNvPicPr preferRelativeResize="0"/>
          <p:nvPr/>
        </p:nvPicPr>
        <p:blipFill rotWithShape="1">
          <a:blip r:embed="rId6">
            <a:alphaModFix/>
          </a:blip>
          <a:srcRect b="0" l="0" r="0" t="0"/>
          <a:stretch/>
        </p:blipFill>
        <p:spPr>
          <a:xfrm>
            <a:off x="3177538" y="3516213"/>
            <a:ext cx="560988" cy="588550"/>
          </a:xfrm>
          <a:prstGeom prst="rect">
            <a:avLst/>
          </a:prstGeom>
          <a:noFill/>
          <a:ln>
            <a:noFill/>
          </a:ln>
        </p:spPr>
      </p:pic>
      <p:pic>
        <p:nvPicPr>
          <p:cNvPr id="3869" name="Google Shape;3869;p152"/>
          <p:cNvPicPr preferRelativeResize="0"/>
          <p:nvPr/>
        </p:nvPicPr>
        <p:blipFill rotWithShape="1">
          <a:blip r:embed="rId7">
            <a:alphaModFix/>
          </a:blip>
          <a:srcRect b="0" l="0" r="0" t="0"/>
          <a:stretch/>
        </p:blipFill>
        <p:spPr>
          <a:xfrm>
            <a:off x="9459625" y="3517213"/>
            <a:ext cx="539925" cy="586550"/>
          </a:xfrm>
          <a:prstGeom prst="rect">
            <a:avLst/>
          </a:prstGeom>
          <a:noFill/>
          <a:ln>
            <a:noFill/>
          </a:ln>
        </p:spPr>
      </p:pic>
      <p:sp>
        <p:nvSpPr>
          <p:cNvPr id="3870" name="Google Shape;3870;p152"/>
          <p:cNvSpPr/>
          <p:nvPr/>
        </p:nvSpPr>
        <p:spPr>
          <a:xfrm>
            <a:off x="6124600" y="1509825"/>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Iterate to improve</a:t>
            </a:r>
            <a:endParaRPr b="1" sz="1100">
              <a:latin typeface="DM Sans"/>
              <a:ea typeface="DM Sans"/>
              <a:cs typeface="DM Sans"/>
              <a:sym typeface="DM Sans"/>
            </a:endParaRPr>
          </a:p>
        </p:txBody>
      </p:sp>
      <p:cxnSp>
        <p:nvCxnSpPr>
          <p:cNvPr id="3871" name="Google Shape;3871;p152"/>
          <p:cNvCxnSpPr/>
          <p:nvPr/>
        </p:nvCxnSpPr>
        <p:spPr>
          <a:xfrm>
            <a:off x="10322643" y="3690313"/>
            <a:ext cx="409200" cy="0"/>
          </a:xfrm>
          <a:prstGeom prst="straightConnector1">
            <a:avLst/>
          </a:prstGeom>
          <a:noFill/>
          <a:ln cap="flat" cmpd="sng" w="19050">
            <a:solidFill>
              <a:srgbClr val="618794"/>
            </a:solidFill>
            <a:prstDash val="dash"/>
            <a:round/>
            <a:headEnd len="med" w="med" type="none"/>
            <a:tailEnd len="med" w="med" type="triangle"/>
          </a:ln>
        </p:spPr>
      </p:cxnSp>
      <p:pic>
        <p:nvPicPr>
          <p:cNvPr id="3872" name="Google Shape;3872;p152"/>
          <p:cNvPicPr preferRelativeResize="0"/>
          <p:nvPr/>
        </p:nvPicPr>
        <p:blipFill rotWithShape="1">
          <a:blip r:embed="rId8">
            <a:alphaModFix/>
          </a:blip>
          <a:srcRect b="7850" l="0" r="0" t="-7850"/>
          <a:stretch/>
        </p:blipFill>
        <p:spPr>
          <a:xfrm>
            <a:off x="6432421" y="1994763"/>
            <a:ext cx="471465" cy="472500"/>
          </a:xfrm>
          <a:prstGeom prst="rect">
            <a:avLst/>
          </a:prstGeom>
          <a:noFill/>
          <a:ln>
            <a:noFill/>
          </a:ln>
        </p:spPr>
      </p:pic>
      <p:sp>
        <p:nvSpPr>
          <p:cNvPr id="3873" name="Google Shape;3873;p152"/>
          <p:cNvSpPr/>
          <p:nvPr/>
        </p:nvSpPr>
        <p:spPr>
          <a:xfrm>
            <a:off x="4488840" y="3044946"/>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Label evaluation data</a:t>
            </a:r>
            <a:endParaRPr b="1" sz="1100">
              <a:latin typeface="DM Sans"/>
              <a:ea typeface="DM Sans"/>
              <a:cs typeface="DM Sans"/>
              <a:sym typeface="DM Sans"/>
            </a:endParaRPr>
          </a:p>
        </p:txBody>
      </p:sp>
      <p:pic>
        <p:nvPicPr>
          <p:cNvPr id="3874" name="Google Shape;3874;p152"/>
          <p:cNvPicPr preferRelativeResize="0"/>
          <p:nvPr/>
        </p:nvPicPr>
        <p:blipFill rotWithShape="1">
          <a:blip r:embed="rId9">
            <a:alphaModFix/>
          </a:blip>
          <a:srcRect b="0" l="0" r="0" t="0"/>
          <a:stretch/>
        </p:blipFill>
        <p:spPr>
          <a:xfrm>
            <a:off x="146845" y="3397062"/>
            <a:ext cx="487599" cy="586525"/>
          </a:xfrm>
          <a:prstGeom prst="rect">
            <a:avLst/>
          </a:prstGeom>
          <a:noFill/>
          <a:ln>
            <a:noFill/>
          </a:ln>
        </p:spPr>
      </p:pic>
      <p:sp>
        <p:nvSpPr>
          <p:cNvPr id="3875" name="Google Shape;3875;p152"/>
          <p:cNvSpPr/>
          <p:nvPr/>
        </p:nvSpPr>
        <p:spPr>
          <a:xfrm>
            <a:off x="4433513" y="40860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Evaluation</a:t>
            </a:r>
            <a:endParaRPr sz="1200">
              <a:latin typeface="DM Sans"/>
              <a:ea typeface="DM Sans"/>
              <a:cs typeface="DM Sans"/>
              <a:sym typeface="DM Sans"/>
            </a:endParaRPr>
          </a:p>
        </p:txBody>
      </p:sp>
      <p:cxnSp>
        <p:nvCxnSpPr>
          <p:cNvPr id="3876" name="Google Shape;3876;p152"/>
          <p:cNvCxnSpPr/>
          <p:nvPr/>
        </p:nvCxnSpPr>
        <p:spPr>
          <a:xfrm>
            <a:off x="4026976" y="3690313"/>
            <a:ext cx="429300" cy="0"/>
          </a:xfrm>
          <a:prstGeom prst="straightConnector1">
            <a:avLst/>
          </a:prstGeom>
          <a:noFill/>
          <a:ln cap="flat" cmpd="sng" w="19050">
            <a:solidFill>
              <a:srgbClr val="618794"/>
            </a:solidFill>
            <a:prstDash val="dash"/>
            <a:round/>
            <a:headEnd len="med" w="med" type="none"/>
            <a:tailEnd len="med" w="med" type="triangle"/>
          </a:ln>
        </p:spPr>
      </p:cxnSp>
      <p:cxnSp>
        <p:nvCxnSpPr>
          <p:cNvPr id="3877" name="Google Shape;3877;p152"/>
          <p:cNvCxnSpPr/>
          <p:nvPr/>
        </p:nvCxnSpPr>
        <p:spPr>
          <a:xfrm flipH="1" rot="10800000">
            <a:off x="6037750" y="1937763"/>
            <a:ext cx="87600" cy="57000"/>
          </a:xfrm>
          <a:prstGeom prst="straightConnector1">
            <a:avLst/>
          </a:prstGeom>
          <a:noFill/>
          <a:ln cap="flat" cmpd="sng" w="9525">
            <a:solidFill>
              <a:srgbClr val="618794"/>
            </a:solidFill>
            <a:prstDash val="solid"/>
            <a:round/>
            <a:headEnd len="med" w="med" type="none"/>
            <a:tailEnd len="med" w="med" type="triangle"/>
          </a:ln>
        </p:spPr>
      </p:cxnSp>
      <p:cxnSp>
        <p:nvCxnSpPr>
          <p:cNvPr id="3878" name="Google Shape;3878;p152"/>
          <p:cNvCxnSpPr/>
          <p:nvPr/>
        </p:nvCxnSpPr>
        <p:spPr>
          <a:xfrm rot="10800000">
            <a:off x="5655825" y="4599888"/>
            <a:ext cx="94500" cy="71400"/>
          </a:xfrm>
          <a:prstGeom prst="straightConnector1">
            <a:avLst/>
          </a:prstGeom>
          <a:noFill/>
          <a:ln cap="flat" cmpd="sng" w="9525">
            <a:solidFill>
              <a:srgbClr val="618794"/>
            </a:solidFill>
            <a:prstDash val="solid"/>
            <a:round/>
            <a:headEnd len="med" w="med" type="none"/>
            <a:tailEnd len="med" w="med" type="triangle"/>
          </a:ln>
        </p:spPr>
      </p:cxnSp>
      <p:cxnSp>
        <p:nvCxnSpPr>
          <p:cNvPr id="3879" name="Google Shape;3879;p152"/>
          <p:cNvCxnSpPr/>
          <p:nvPr/>
        </p:nvCxnSpPr>
        <p:spPr>
          <a:xfrm>
            <a:off x="8123750" y="2937813"/>
            <a:ext cx="26400" cy="87900"/>
          </a:xfrm>
          <a:prstGeom prst="straightConnector1">
            <a:avLst/>
          </a:prstGeom>
          <a:noFill/>
          <a:ln cap="flat" cmpd="sng" w="9525">
            <a:solidFill>
              <a:srgbClr val="618794"/>
            </a:solidFill>
            <a:prstDash val="solid"/>
            <a:round/>
            <a:headEnd len="med" w="med" type="none"/>
            <a:tailEnd len="med" w="med" type="triangle"/>
          </a:ln>
        </p:spPr>
      </p:cxnSp>
      <p:sp>
        <p:nvSpPr>
          <p:cNvPr id="3880" name="Google Shape;3880;p152"/>
          <p:cNvSpPr/>
          <p:nvPr/>
        </p:nvSpPr>
        <p:spPr>
          <a:xfrm>
            <a:off x="-228051" y="4081263"/>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ETL pipeline</a:t>
            </a:r>
            <a:endParaRPr sz="1200">
              <a:latin typeface="DM Sans"/>
              <a:ea typeface="DM Sans"/>
              <a:cs typeface="DM Sans"/>
              <a:sym typeface="DM Sans"/>
            </a:endParaRPr>
          </a:p>
        </p:txBody>
      </p:sp>
      <p:sp>
        <p:nvSpPr>
          <p:cNvPr id="3881" name="Google Shape;3881;p152"/>
          <p:cNvSpPr/>
          <p:nvPr/>
        </p:nvSpPr>
        <p:spPr>
          <a:xfrm>
            <a:off x="4438338" y="45738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Synthetic data</a:t>
            </a:r>
            <a:endParaRPr sz="1200">
              <a:latin typeface="DM Sans"/>
              <a:ea typeface="DM Sans"/>
              <a:cs typeface="DM Sans"/>
              <a:sym typeface="DM Sans"/>
            </a:endParaRPr>
          </a:p>
        </p:txBody>
      </p:sp>
      <p:sp>
        <p:nvSpPr>
          <p:cNvPr id="3882" name="Google Shape;3882;p152"/>
          <p:cNvSpPr/>
          <p:nvPr/>
        </p:nvSpPr>
        <p:spPr>
          <a:xfrm>
            <a:off x="6070564" y="259633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metrics</a:t>
            </a:r>
            <a:endParaRPr sz="1200">
              <a:latin typeface="DM Sans"/>
              <a:ea typeface="DM Sans"/>
              <a:cs typeface="DM Sans"/>
              <a:sym typeface="DM Sans"/>
            </a:endParaRPr>
          </a:p>
        </p:txBody>
      </p:sp>
      <p:sp>
        <p:nvSpPr>
          <p:cNvPr id="3883" name="Google Shape;3883;p152"/>
          <p:cNvSpPr/>
          <p:nvPr/>
        </p:nvSpPr>
        <p:spPr>
          <a:xfrm>
            <a:off x="6070564" y="2937813"/>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trace</a:t>
            </a:r>
            <a:endParaRPr sz="1200">
              <a:latin typeface="DM Sans"/>
              <a:ea typeface="DM Sans"/>
              <a:cs typeface="DM Sans"/>
              <a:sym typeface="DM Sans"/>
            </a:endParaRPr>
          </a:p>
        </p:txBody>
      </p:sp>
      <p:sp>
        <p:nvSpPr>
          <p:cNvPr id="3884" name="Google Shape;3884;p152"/>
          <p:cNvSpPr/>
          <p:nvPr/>
        </p:nvSpPr>
        <p:spPr>
          <a:xfrm>
            <a:off x="7598500" y="4087897"/>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Review App</a:t>
            </a:r>
            <a:endParaRPr sz="1200">
              <a:latin typeface="DM Sans"/>
              <a:ea typeface="DM Sans"/>
              <a:cs typeface="DM Sans"/>
              <a:sym typeface="DM Sans"/>
            </a:endParaRPr>
          </a:p>
        </p:txBody>
      </p:sp>
      <p:sp>
        <p:nvSpPr>
          <p:cNvPr id="3885" name="Google Shape;3885;p152"/>
          <p:cNvSpPr/>
          <p:nvPr/>
        </p:nvSpPr>
        <p:spPr>
          <a:xfrm>
            <a:off x="10696645" y="40681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Evaluation job</a:t>
            </a:r>
            <a:endParaRPr sz="1200">
              <a:latin typeface="DM Sans"/>
              <a:ea typeface="DM Sans"/>
              <a:cs typeface="DM Sans"/>
              <a:sym typeface="DM Sans"/>
            </a:endParaRPr>
          </a:p>
        </p:txBody>
      </p:sp>
      <p:sp>
        <p:nvSpPr>
          <p:cNvPr id="3886" name="Google Shape;3886;p152"/>
          <p:cNvSpPr/>
          <p:nvPr/>
        </p:nvSpPr>
        <p:spPr>
          <a:xfrm>
            <a:off x="2853100" y="44670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Framework</a:t>
            </a:r>
            <a:endParaRPr sz="1200">
              <a:latin typeface="DM Sans"/>
              <a:ea typeface="DM Sans"/>
              <a:cs typeface="DM Sans"/>
              <a:sym typeface="DM Sans"/>
            </a:endParaRPr>
          </a:p>
        </p:txBody>
      </p:sp>
      <p:sp>
        <p:nvSpPr>
          <p:cNvPr id="3887" name="Google Shape;3887;p152"/>
          <p:cNvSpPr/>
          <p:nvPr/>
        </p:nvSpPr>
        <p:spPr>
          <a:xfrm>
            <a:off x="7596076" y="44199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LLM judges</a:t>
            </a:r>
            <a:endParaRPr sz="1200">
              <a:latin typeface="DM Sans"/>
              <a:ea typeface="DM Sans"/>
              <a:cs typeface="DM Sans"/>
              <a:sym typeface="DM Sans"/>
            </a:endParaRPr>
          </a:p>
        </p:txBody>
      </p:sp>
      <p:sp>
        <p:nvSpPr>
          <p:cNvPr id="3888" name="Google Shape;3888;p152"/>
          <p:cNvSpPr/>
          <p:nvPr/>
        </p:nvSpPr>
        <p:spPr>
          <a:xfrm>
            <a:off x="2881975" y="5665550"/>
            <a:ext cx="7419300" cy="571500"/>
          </a:xfrm>
          <a:prstGeom prst="roundRect">
            <a:avLst>
              <a:gd fmla="val 16667" name="adj"/>
            </a:avLst>
          </a:prstGeom>
          <a:solidFill>
            <a:srgbClr val="FFFFFF"/>
          </a:solidFill>
          <a:ln cap="flat" cmpd="sng" w="19050">
            <a:solidFill>
              <a:srgbClr val="00A972"/>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MLflow tracking</a:t>
            </a:r>
            <a:endParaRPr b="1" sz="1100">
              <a:latin typeface="DM Sans"/>
              <a:ea typeface="DM Sans"/>
              <a:cs typeface="DM Sans"/>
              <a:sym typeface="DM Sans"/>
            </a:endParaRPr>
          </a:p>
        </p:txBody>
      </p:sp>
      <p:cxnSp>
        <p:nvCxnSpPr>
          <p:cNvPr id="3889" name="Google Shape;3889;p152"/>
          <p:cNvCxnSpPr>
            <a:stCxn id="3858" idx="2"/>
          </p:cNvCxnSpPr>
          <p:nvPr/>
        </p:nvCxnSpPr>
        <p:spPr>
          <a:xfrm>
            <a:off x="3450737" y="5347746"/>
            <a:ext cx="0" cy="311700"/>
          </a:xfrm>
          <a:prstGeom prst="straightConnector1">
            <a:avLst/>
          </a:prstGeom>
          <a:noFill/>
          <a:ln cap="flat" cmpd="sng" w="19050">
            <a:solidFill>
              <a:srgbClr val="618794"/>
            </a:solidFill>
            <a:prstDash val="dash"/>
            <a:round/>
            <a:headEnd len="med" w="med" type="none"/>
            <a:tailEnd len="med" w="med" type="triangle"/>
          </a:ln>
        </p:spPr>
      </p:cxnSp>
      <p:cxnSp>
        <p:nvCxnSpPr>
          <p:cNvPr id="3890" name="Google Shape;3890;p152"/>
          <p:cNvCxnSpPr/>
          <p:nvPr/>
        </p:nvCxnSpPr>
        <p:spPr>
          <a:xfrm>
            <a:off x="5035962" y="5347746"/>
            <a:ext cx="0" cy="311700"/>
          </a:xfrm>
          <a:prstGeom prst="straightConnector1">
            <a:avLst/>
          </a:prstGeom>
          <a:noFill/>
          <a:ln cap="flat" cmpd="sng" w="19050">
            <a:solidFill>
              <a:srgbClr val="618794"/>
            </a:solidFill>
            <a:prstDash val="dash"/>
            <a:round/>
            <a:headEnd len="med" w="med" type="none"/>
            <a:tailEnd len="med" w="med" type="triangle"/>
          </a:ln>
        </p:spPr>
      </p:cxnSp>
      <p:cxnSp>
        <p:nvCxnSpPr>
          <p:cNvPr id="3891" name="Google Shape;3891;p152"/>
          <p:cNvCxnSpPr/>
          <p:nvPr/>
        </p:nvCxnSpPr>
        <p:spPr>
          <a:xfrm>
            <a:off x="6668212" y="3579696"/>
            <a:ext cx="0" cy="2045400"/>
          </a:xfrm>
          <a:prstGeom prst="straightConnector1">
            <a:avLst/>
          </a:prstGeom>
          <a:noFill/>
          <a:ln cap="flat" cmpd="sng" w="19050">
            <a:solidFill>
              <a:srgbClr val="618794"/>
            </a:solidFill>
            <a:prstDash val="dash"/>
            <a:round/>
            <a:headEnd len="med" w="med" type="none"/>
            <a:tailEnd len="med" w="med" type="triangle"/>
          </a:ln>
        </p:spPr>
      </p:cxnSp>
      <p:cxnSp>
        <p:nvCxnSpPr>
          <p:cNvPr id="3892" name="Google Shape;3892;p152"/>
          <p:cNvCxnSpPr>
            <a:stCxn id="3852" idx="2"/>
          </p:cNvCxnSpPr>
          <p:nvPr/>
        </p:nvCxnSpPr>
        <p:spPr>
          <a:xfrm>
            <a:off x="8212900" y="5348153"/>
            <a:ext cx="0" cy="301500"/>
          </a:xfrm>
          <a:prstGeom prst="straightConnector1">
            <a:avLst/>
          </a:prstGeom>
          <a:noFill/>
          <a:ln cap="flat" cmpd="sng" w="19050">
            <a:solidFill>
              <a:srgbClr val="618794"/>
            </a:solidFill>
            <a:prstDash val="dash"/>
            <a:round/>
            <a:headEnd len="med" w="med" type="none"/>
            <a:tailEnd len="med" w="med" type="triangle"/>
          </a:ln>
        </p:spPr>
      </p:cxnSp>
      <p:cxnSp>
        <p:nvCxnSpPr>
          <p:cNvPr id="3893" name="Google Shape;3893;p152"/>
          <p:cNvCxnSpPr/>
          <p:nvPr/>
        </p:nvCxnSpPr>
        <p:spPr>
          <a:xfrm>
            <a:off x="9752225" y="5352853"/>
            <a:ext cx="0" cy="301500"/>
          </a:xfrm>
          <a:prstGeom prst="straightConnector1">
            <a:avLst/>
          </a:prstGeom>
          <a:noFill/>
          <a:ln cap="flat" cmpd="sng" w="19050">
            <a:solidFill>
              <a:srgbClr val="618794"/>
            </a:solidFill>
            <a:prstDash val="dash"/>
            <a:round/>
            <a:headEnd len="med" w="med" type="none"/>
            <a:tailEnd len="med" w="med" type="triangle"/>
          </a:ln>
        </p:spPr>
      </p:cxnSp>
      <p:sp>
        <p:nvSpPr>
          <p:cNvPr id="3894" name="Google Shape;3894;p152"/>
          <p:cNvSpPr/>
          <p:nvPr/>
        </p:nvSpPr>
        <p:spPr>
          <a:xfrm>
            <a:off x="6070575" y="3279304"/>
            <a:ext cx="1195200" cy="365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 versioning</a:t>
            </a:r>
            <a:endParaRPr sz="1200">
              <a:latin typeface="DM Sans"/>
              <a:ea typeface="DM Sans"/>
              <a:cs typeface="DM Sans"/>
              <a:sym typeface="DM San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8" name="Shape 3898"/>
        <p:cNvGrpSpPr/>
        <p:nvPr/>
      </p:nvGrpSpPr>
      <p:grpSpPr>
        <a:xfrm>
          <a:off x="0" y="0"/>
          <a:ext cx="0" cy="0"/>
          <a:chOff x="0" y="0"/>
          <a:chExt cx="0" cy="0"/>
        </a:xfrm>
      </p:grpSpPr>
      <p:sp>
        <p:nvSpPr>
          <p:cNvPr id="3899" name="Google Shape;3899;p15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3900" name="Google Shape;3900;p153"/>
          <p:cNvSpPr txBox="1"/>
          <p:nvPr/>
        </p:nvSpPr>
        <p:spPr>
          <a:xfrm>
            <a:off x="199975" y="2450"/>
            <a:ext cx="11357100" cy="879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RAG development &amp; LLMops lifecycle</a:t>
            </a:r>
            <a:endParaRPr sz="20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000">
                <a:solidFill>
                  <a:schemeClr val="accent1"/>
                </a:solidFill>
                <a:latin typeface="DM Sans Medium"/>
                <a:ea typeface="DM Sans Medium"/>
                <a:cs typeface="DM Sans Medium"/>
                <a:sym typeface="DM Sans Medium"/>
              </a:rPr>
              <a:t>/_static/images/generative-ai/development-lifecycle.png</a:t>
            </a:r>
            <a:endParaRPr sz="1000"/>
          </a:p>
        </p:txBody>
      </p:sp>
      <p:sp>
        <p:nvSpPr>
          <p:cNvPr id="3901" name="Google Shape;3901;p153"/>
          <p:cNvSpPr/>
          <p:nvPr/>
        </p:nvSpPr>
        <p:spPr>
          <a:xfrm flipH="1">
            <a:off x="1725488" y="400694"/>
            <a:ext cx="8599500" cy="39471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02" name="Google Shape;3902;p153"/>
          <p:cNvSpPr/>
          <p:nvPr/>
        </p:nvSpPr>
        <p:spPr>
          <a:xfrm>
            <a:off x="5099725" y="1862088"/>
            <a:ext cx="3088500" cy="3088500"/>
          </a:xfrm>
          <a:prstGeom prst="ellipse">
            <a:avLst/>
          </a:prstGeom>
          <a:noFill/>
          <a:ln cap="flat" cmpd="sng" w="19050">
            <a:solidFill>
              <a:srgbClr val="618794"/>
            </a:solidFill>
            <a:prstDash val="dash"/>
            <a:round/>
            <a:headEnd len="med" w="med" type="none"/>
            <a:tailEnd len="med" w="med"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3903" name="Google Shape;3903;p153"/>
          <p:cNvSpPr/>
          <p:nvPr/>
        </p:nvSpPr>
        <p:spPr>
          <a:xfrm>
            <a:off x="7669300" y="3045353"/>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marR="0" rtl="0" algn="ctr">
              <a:lnSpc>
                <a:spcPct val="100000"/>
              </a:lnSpc>
              <a:spcBef>
                <a:spcPts val="0"/>
              </a:spcBef>
              <a:spcAft>
                <a:spcPts val="0"/>
              </a:spcAft>
              <a:buNone/>
            </a:pPr>
            <a:r>
              <a:rPr b="1" lang="en" sz="1100">
                <a:latin typeface="DM Sans"/>
                <a:ea typeface="DM Sans"/>
                <a:cs typeface="DM Sans"/>
                <a:sym typeface="DM Sans"/>
              </a:rPr>
              <a:t>Collect feedback </a:t>
            </a:r>
            <a:endParaRPr b="1" sz="1100">
              <a:latin typeface="DM Sans"/>
              <a:ea typeface="DM Sans"/>
              <a:cs typeface="DM Sans"/>
              <a:sym typeface="DM Sans"/>
            </a:endParaRPr>
          </a:p>
        </p:txBody>
      </p:sp>
      <p:sp>
        <p:nvSpPr>
          <p:cNvPr id="3904" name="Google Shape;3904;p153"/>
          <p:cNvSpPr txBox="1"/>
          <p:nvPr/>
        </p:nvSpPr>
        <p:spPr>
          <a:xfrm>
            <a:off x="3196066" y="958550"/>
            <a:ext cx="536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AI agent development lifecycle</a:t>
            </a:r>
            <a:endParaRPr b="1">
              <a:solidFill>
                <a:srgbClr val="00A972"/>
              </a:solidFill>
              <a:latin typeface="DM Sans"/>
              <a:ea typeface="DM Sans"/>
              <a:cs typeface="DM Sans"/>
              <a:sym typeface="DM Sans"/>
            </a:endParaRPr>
          </a:p>
        </p:txBody>
      </p:sp>
      <p:sp>
        <p:nvSpPr>
          <p:cNvPr id="3905" name="Google Shape;3905;p153"/>
          <p:cNvSpPr/>
          <p:nvPr/>
        </p:nvSpPr>
        <p:spPr>
          <a:xfrm>
            <a:off x="-182300" y="3045088"/>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Prepare data</a:t>
            </a:r>
            <a:endParaRPr b="1" sz="1100">
              <a:latin typeface="DM Sans"/>
              <a:ea typeface="DM Sans"/>
              <a:cs typeface="DM Sans"/>
              <a:sym typeface="DM Sans"/>
            </a:endParaRPr>
          </a:p>
        </p:txBody>
      </p:sp>
      <p:sp>
        <p:nvSpPr>
          <p:cNvPr id="3906" name="Google Shape;3906;p153"/>
          <p:cNvSpPr/>
          <p:nvPr/>
        </p:nvSpPr>
        <p:spPr>
          <a:xfrm>
            <a:off x="1362420" y="3045087"/>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Create agent tools</a:t>
            </a:r>
            <a:endParaRPr b="1" sz="1100">
              <a:latin typeface="DM Sans"/>
              <a:ea typeface="DM Sans"/>
              <a:cs typeface="DM Sans"/>
              <a:sym typeface="DM Sans"/>
            </a:endParaRPr>
          </a:p>
        </p:txBody>
      </p:sp>
      <p:cxnSp>
        <p:nvCxnSpPr>
          <p:cNvPr id="3907" name="Google Shape;3907;p153"/>
          <p:cNvCxnSpPr/>
          <p:nvPr/>
        </p:nvCxnSpPr>
        <p:spPr>
          <a:xfrm>
            <a:off x="910130" y="3690313"/>
            <a:ext cx="443700" cy="0"/>
          </a:xfrm>
          <a:prstGeom prst="straightConnector1">
            <a:avLst/>
          </a:prstGeom>
          <a:noFill/>
          <a:ln cap="flat" cmpd="sng" w="19050">
            <a:solidFill>
              <a:srgbClr val="618794"/>
            </a:solidFill>
            <a:prstDash val="dash"/>
            <a:round/>
            <a:headEnd len="med" w="med" type="none"/>
            <a:tailEnd len="med" w="med" type="triangle"/>
          </a:ln>
        </p:spPr>
      </p:cxnSp>
      <p:cxnSp>
        <p:nvCxnSpPr>
          <p:cNvPr id="3908" name="Google Shape;3908;p153"/>
          <p:cNvCxnSpPr/>
          <p:nvPr/>
        </p:nvCxnSpPr>
        <p:spPr>
          <a:xfrm>
            <a:off x="2459803" y="3690313"/>
            <a:ext cx="429300" cy="0"/>
          </a:xfrm>
          <a:prstGeom prst="straightConnector1">
            <a:avLst/>
          </a:prstGeom>
          <a:noFill/>
          <a:ln cap="flat" cmpd="sng" w="19050">
            <a:solidFill>
              <a:srgbClr val="618794"/>
            </a:solidFill>
            <a:prstDash val="dash"/>
            <a:round/>
            <a:headEnd len="med" w="med" type="none"/>
            <a:tailEnd len="med" w="med" type="triangle"/>
          </a:ln>
        </p:spPr>
      </p:cxnSp>
      <p:sp>
        <p:nvSpPr>
          <p:cNvPr id="3909" name="Google Shape;3909;p153"/>
          <p:cNvSpPr/>
          <p:nvPr/>
        </p:nvSpPr>
        <p:spPr>
          <a:xfrm>
            <a:off x="2907137" y="3044946"/>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Build prototype</a:t>
            </a:r>
            <a:endParaRPr b="1" sz="1100">
              <a:latin typeface="DM Sans"/>
              <a:ea typeface="DM Sans"/>
              <a:cs typeface="DM Sans"/>
              <a:sym typeface="DM Sans"/>
            </a:endParaRPr>
          </a:p>
        </p:txBody>
      </p:sp>
      <p:sp>
        <p:nvSpPr>
          <p:cNvPr id="3910" name="Google Shape;3910;p153"/>
          <p:cNvSpPr/>
          <p:nvPr/>
        </p:nvSpPr>
        <p:spPr>
          <a:xfrm>
            <a:off x="1308400" y="4086088"/>
            <a:ext cx="1195200" cy="396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Unity Catalog functions</a:t>
            </a:r>
            <a:endParaRPr sz="1200">
              <a:latin typeface="DM Sans"/>
              <a:ea typeface="DM Sans"/>
              <a:cs typeface="DM Sans"/>
              <a:sym typeface="DM Sans"/>
            </a:endParaRPr>
          </a:p>
        </p:txBody>
      </p:sp>
      <p:sp>
        <p:nvSpPr>
          <p:cNvPr id="3911" name="Google Shape;3911;p153"/>
          <p:cNvSpPr/>
          <p:nvPr/>
        </p:nvSpPr>
        <p:spPr>
          <a:xfrm>
            <a:off x="2853090" y="40860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AI Playground</a:t>
            </a:r>
            <a:endParaRPr sz="1200">
              <a:latin typeface="DM Sans"/>
              <a:ea typeface="DM Sans"/>
              <a:cs typeface="DM Sans"/>
              <a:sym typeface="DM Sans"/>
            </a:endParaRPr>
          </a:p>
        </p:txBody>
      </p:sp>
      <p:sp>
        <p:nvSpPr>
          <p:cNvPr id="3912" name="Google Shape;3912;p153"/>
          <p:cNvSpPr/>
          <p:nvPr/>
        </p:nvSpPr>
        <p:spPr>
          <a:xfrm>
            <a:off x="9214017" y="3045353"/>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Deploy to production</a:t>
            </a:r>
            <a:endParaRPr b="1" sz="1100">
              <a:latin typeface="DM Sans"/>
              <a:ea typeface="DM Sans"/>
              <a:cs typeface="DM Sans"/>
              <a:sym typeface="DM Sans"/>
            </a:endParaRPr>
          </a:p>
        </p:txBody>
      </p:sp>
      <p:sp>
        <p:nvSpPr>
          <p:cNvPr id="3913" name="Google Shape;3913;p153"/>
          <p:cNvSpPr/>
          <p:nvPr/>
        </p:nvSpPr>
        <p:spPr>
          <a:xfrm>
            <a:off x="10758661" y="3045098"/>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Monitor in production</a:t>
            </a:r>
            <a:endParaRPr b="1" sz="1100">
              <a:latin typeface="DM Sans"/>
              <a:ea typeface="DM Sans"/>
              <a:cs typeface="DM Sans"/>
              <a:sym typeface="DM Sans"/>
            </a:endParaRPr>
          </a:p>
        </p:txBody>
      </p:sp>
      <p:sp>
        <p:nvSpPr>
          <p:cNvPr id="3914" name="Google Shape;3914;p153"/>
          <p:cNvSpPr/>
          <p:nvPr/>
        </p:nvSpPr>
        <p:spPr>
          <a:xfrm>
            <a:off x="9154620" y="40860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 Serving</a:t>
            </a:r>
            <a:endParaRPr sz="1200">
              <a:latin typeface="DM Sans"/>
              <a:ea typeface="DM Sans"/>
              <a:cs typeface="DM Sans"/>
              <a:sym typeface="DM Sans"/>
            </a:endParaRPr>
          </a:p>
        </p:txBody>
      </p:sp>
      <p:pic>
        <p:nvPicPr>
          <p:cNvPr id="3915" name="Google Shape;3915;p153"/>
          <p:cNvPicPr preferRelativeResize="0"/>
          <p:nvPr/>
        </p:nvPicPr>
        <p:blipFill rotWithShape="1">
          <a:blip r:embed="rId3">
            <a:alphaModFix/>
          </a:blip>
          <a:srcRect b="0" l="0" r="0" t="0"/>
          <a:stretch/>
        </p:blipFill>
        <p:spPr>
          <a:xfrm>
            <a:off x="1678876" y="3491988"/>
            <a:ext cx="539925" cy="571476"/>
          </a:xfrm>
          <a:prstGeom prst="rect">
            <a:avLst/>
          </a:prstGeom>
          <a:noFill/>
          <a:ln>
            <a:noFill/>
          </a:ln>
        </p:spPr>
      </p:pic>
      <p:pic>
        <p:nvPicPr>
          <p:cNvPr id="3916" name="Google Shape;3916;p153"/>
          <p:cNvPicPr preferRelativeResize="0"/>
          <p:nvPr/>
        </p:nvPicPr>
        <p:blipFill rotWithShape="1">
          <a:blip r:embed="rId4">
            <a:alphaModFix/>
          </a:blip>
          <a:srcRect b="0" l="0" r="0" t="0"/>
          <a:stretch/>
        </p:blipFill>
        <p:spPr>
          <a:xfrm>
            <a:off x="11017150" y="3514388"/>
            <a:ext cx="560977" cy="571476"/>
          </a:xfrm>
          <a:prstGeom prst="rect">
            <a:avLst/>
          </a:prstGeom>
          <a:noFill/>
          <a:ln>
            <a:noFill/>
          </a:ln>
        </p:spPr>
      </p:pic>
      <p:cxnSp>
        <p:nvCxnSpPr>
          <p:cNvPr id="3917" name="Google Shape;3917;p153"/>
          <p:cNvCxnSpPr/>
          <p:nvPr/>
        </p:nvCxnSpPr>
        <p:spPr>
          <a:xfrm>
            <a:off x="8774342" y="3690313"/>
            <a:ext cx="414300" cy="0"/>
          </a:xfrm>
          <a:prstGeom prst="straightConnector1">
            <a:avLst/>
          </a:prstGeom>
          <a:noFill/>
          <a:ln cap="flat" cmpd="sng" w="19050">
            <a:solidFill>
              <a:srgbClr val="618794"/>
            </a:solidFill>
            <a:prstDash val="dash"/>
            <a:round/>
            <a:headEnd len="med" w="med" type="none"/>
            <a:tailEnd len="med" w="med" type="triangle"/>
          </a:ln>
        </p:spPr>
      </p:cxnSp>
      <p:pic>
        <p:nvPicPr>
          <p:cNvPr id="3918" name="Google Shape;3918;p153"/>
          <p:cNvPicPr preferRelativeResize="0"/>
          <p:nvPr/>
        </p:nvPicPr>
        <p:blipFill rotWithShape="1">
          <a:blip r:embed="rId5">
            <a:alphaModFix/>
          </a:blip>
          <a:srcRect b="0" l="0" r="0" t="0"/>
          <a:stretch/>
        </p:blipFill>
        <p:spPr>
          <a:xfrm>
            <a:off x="7969125" y="3562889"/>
            <a:ext cx="487599" cy="472500"/>
          </a:xfrm>
          <a:prstGeom prst="rect">
            <a:avLst/>
          </a:prstGeom>
          <a:noFill/>
          <a:ln>
            <a:noFill/>
          </a:ln>
        </p:spPr>
      </p:pic>
      <p:pic>
        <p:nvPicPr>
          <p:cNvPr id="3919" name="Google Shape;3919;p153"/>
          <p:cNvPicPr preferRelativeResize="0"/>
          <p:nvPr/>
        </p:nvPicPr>
        <p:blipFill rotWithShape="1">
          <a:blip r:embed="rId6">
            <a:alphaModFix/>
          </a:blip>
          <a:srcRect b="0" l="0" r="0" t="0"/>
          <a:stretch/>
        </p:blipFill>
        <p:spPr>
          <a:xfrm>
            <a:off x="3177538" y="3516213"/>
            <a:ext cx="560988" cy="588550"/>
          </a:xfrm>
          <a:prstGeom prst="rect">
            <a:avLst/>
          </a:prstGeom>
          <a:noFill/>
          <a:ln>
            <a:noFill/>
          </a:ln>
        </p:spPr>
      </p:pic>
      <p:pic>
        <p:nvPicPr>
          <p:cNvPr id="3920" name="Google Shape;3920;p153"/>
          <p:cNvPicPr preferRelativeResize="0"/>
          <p:nvPr/>
        </p:nvPicPr>
        <p:blipFill rotWithShape="1">
          <a:blip r:embed="rId7">
            <a:alphaModFix/>
          </a:blip>
          <a:srcRect b="0" l="0" r="0" t="0"/>
          <a:stretch/>
        </p:blipFill>
        <p:spPr>
          <a:xfrm>
            <a:off x="9459625" y="3517213"/>
            <a:ext cx="539925" cy="586550"/>
          </a:xfrm>
          <a:prstGeom prst="rect">
            <a:avLst/>
          </a:prstGeom>
          <a:noFill/>
          <a:ln>
            <a:noFill/>
          </a:ln>
        </p:spPr>
      </p:pic>
      <p:sp>
        <p:nvSpPr>
          <p:cNvPr id="3921" name="Google Shape;3921;p153"/>
          <p:cNvSpPr/>
          <p:nvPr/>
        </p:nvSpPr>
        <p:spPr>
          <a:xfrm>
            <a:off x="6124600" y="1509825"/>
            <a:ext cx="1087200" cy="23025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Iterate to improve</a:t>
            </a:r>
            <a:endParaRPr b="1" sz="1100">
              <a:latin typeface="DM Sans"/>
              <a:ea typeface="DM Sans"/>
              <a:cs typeface="DM Sans"/>
              <a:sym typeface="DM Sans"/>
            </a:endParaRPr>
          </a:p>
        </p:txBody>
      </p:sp>
      <p:cxnSp>
        <p:nvCxnSpPr>
          <p:cNvPr id="3922" name="Google Shape;3922;p153"/>
          <p:cNvCxnSpPr/>
          <p:nvPr/>
        </p:nvCxnSpPr>
        <p:spPr>
          <a:xfrm>
            <a:off x="10322643" y="3690313"/>
            <a:ext cx="409200" cy="0"/>
          </a:xfrm>
          <a:prstGeom prst="straightConnector1">
            <a:avLst/>
          </a:prstGeom>
          <a:noFill/>
          <a:ln cap="flat" cmpd="sng" w="19050">
            <a:solidFill>
              <a:srgbClr val="618794"/>
            </a:solidFill>
            <a:prstDash val="dash"/>
            <a:round/>
            <a:headEnd len="med" w="med" type="none"/>
            <a:tailEnd len="med" w="med" type="triangle"/>
          </a:ln>
        </p:spPr>
      </p:cxnSp>
      <p:pic>
        <p:nvPicPr>
          <p:cNvPr id="3923" name="Google Shape;3923;p153"/>
          <p:cNvPicPr preferRelativeResize="0"/>
          <p:nvPr/>
        </p:nvPicPr>
        <p:blipFill rotWithShape="1">
          <a:blip r:embed="rId8">
            <a:alphaModFix/>
          </a:blip>
          <a:srcRect b="7850" l="0" r="0" t="-7850"/>
          <a:stretch/>
        </p:blipFill>
        <p:spPr>
          <a:xfrm>
            <a:off x="6432421" y="1994763"/>
            <a:ext cx="471465" cy="472500"/>
          </a:xfrm>
          <a:prstGeom prst="rect">
            <a:avLst/>
          </a:prstGeom>
          <a:noFill/>
          <a:ln>
            <a:noFill/>
          </a:ln>
        </p:spPr>
      </p:pic>
      <p:sp>
        <p:nvSpPr>
          <p:cNvPr id="3924" name="Google Shape;3924;p153"/>
          <p:cNvSpPr/>
          <p:nvPr/>
        </p:nvSpPr>
        <p:spPr>
          <a:xfrm>
            <a:off x="4488840" y="3044946"/>
            <a:ext cx="1087200" cy="23028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Label evaluation data</a:t>
            </a:r>
            <a:endParaRPr b="1" sz="1100">
              <a:latin typeface="DM Sans"/>
              <a:ea typeface="DM Sans"/>
              <a:cs typeface="DM Sans"/>
              <a:sym typeface="DM Sans"/>
            </a:endParaRPr>
          </a:p>
        </p:txBody>
      </p:sp>
      <p:pic>
        <p:nvPicPr>
          <p:cNvPr id="3925" name="Google Shape;3925;p153"/>
          <p:cNvPicPr preferRelativeResize="0"/>
          <p:nvPr/>
        </p:nvPicPr>
        <p:blipFill rotWithShape="1">
          <a:blip r:embed="rId9">
            <a:alphaModFix/>
          </a:blip>
          <a:srcRect b="0" l="0" r="0" t="0"/>
          <a:stretch/>
        </p:blipFill>
        <p:spPr>
          <a:xfrm>
            <a:off x="146845" y="3397062"/>
            <a:ext cx="487599" cy="586525"/>
          </a:xfrm>
          <a:prstGeom prst="rect">
            <a:avLst/>
          </a:prstGeom>
          <a:noFill/>
          <a:ln>
            <a:noFill/>
          </a:ln>
        </p:spPr>
      </p:pic>
      <p:sp>
        <p:nvSpPr>
          <p:cNvPr id="3926" name="Google Shape;3926;p153"/>
          <p:cNvSpPr/>
          <p:nvPr/>
        </p:nvSpPr>
        <p:spPr>
          <a:xfrm>
            <a:off x="4433513" y="40860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Evaluation</a:t>
            </a:r>
            <a:endParaRPr sz="1200">
              <a:latin typeface="DM Sans"/>
              <a:ea typeface="DM Sans"/>
              <a:cs typeface="DM Sans"/>
              <a:sym typeface="DM Sans"/>
            </a:endParaRPr>
          </a:p>
        </p:txBody>
      </p:sp>
      <p:cxnSp>
        <p:nvCxnSpPr>
          <p:cNvPr id="3927" name="Google Shape;3927;p153"/>
          <p:cNvCxnSpPr/>
          <p:nvPr/>
        </p:nvCxnSpPr>
        <p:spPr>
          <a:xfrm>
            <a:off x="4026976" y="3690313"/>
            <a:ext cx="429300" cy="0"/>
          </a:xfrm>
          <a:prstGeom prst="straightConnector1">
            <a:avLst/>
          </a:prstGeom>
          <a:noFill/>
          <a:ln cap="flat" cmpd="sng" w="19050">
            <a:solidFill>
              <a:srgbClr val="618794"/>
            </a:solidFill>
            <a:prstDash val="dash"/>
            <a:round/>
            <a:headEnd len="med" w="med" type="none"/>
            <a:tailEnd len="med" w="med" type="triangle"/>
          </a:ln>
        </p:spPr>
      </p:cxnSp>
      <p:cxnSp>
        <p:nvCxnSpPr>
          <p:cNvPr id="3928" name="Google Shape;3928;p153"/>
          <p:cNvCxnSpPr/>
          <p:nvPr/>
        </p:nvCxnSpPr>
        <p:spPr>
          <a:xfrm flipH="1" rot="10800000">
            <a:off x="6037750" y="1937763"/>
            <a:ext cx="87600" cy="57000"/>
          </a:xfrm>
          <a:prstGeom prst="straightConnector1">
            <a:avLst/>
          </a:prstGeom>
          <a:noFill/>
          <a:ln cap="flat" cmpd="sng" w="9525">
            <a:solidFill>
              <a:srgbClr val="618794"/>
            </a:solidFill>
            <a:prstDash val="solid"/>
            <a:round/>
            <a:headEnd len="med" w="med" type="none"/>
            <a:tailEnd len="med" w="med" type="triangle"/>
          </a:ln>
        </p:spPr>
      </p:cxnSp>
      <p:cxnSp>
        <p:nvCxnSpPr>
          <p:cNvPr id="3929" name="Google Shape;3929;p153"/>
          <p:cNvCxnSpPr/>
          <p:nvPr/>
        </p:nvCxnSpPr>
        <p:spPr>
          <a:xfrm rot="10800000">
            <a:off x="5655825" y="4599888"/>
            <a:ext cx="94500" cy="71400"/>
          </a:xfrm>
          <a:prstGeom prst="straightConnector1">
            <a:avLst/>
          </a:prstGeom>
          <a:noFill/>
          <a:ln cap="flat" cmpd="sng" w="9525">
            <a:solidFill>
              <a:srgbClr val="618794"/>
            </a:solidFill>
            <a:prstDash val="solid"/>
            <a:round/>
            <a:headEnd len="med" w="med" type="none"/>
            <a:tailEnd len="med" w="med" type="triangle"/>
          </a:ln>
        </p:spPr>
      </p:cxnSp>
      <p:cxnSp>
        <p:nvCxnSpPr>
          <p:cNvPr id="3930" name="Google Shape;3930;p153"/>
          <p:cNvCxnSpPr/>
          <p:nvPr/>
        </p:nvCxnSpPr>
        <p:spPr>
          <a:xfrm>
            <a:off x="8123750" y="2937813"/>
            <a:ext cx="26400" cy="87900"/>
          </a:xfrm>
          <a:prstGeom prst="straightConnector1">
            <a:avLst/>
          </a:prstGeom>
          <a:noFill/>
          <a:ln cap="flat" cmpd="sng" w="9525">
            <a:solidFill>
              <a:srgbClr val="618794"/>
            </a:solidFill>
            <a:prstDash val="solid"/>
            <a:round/>
            <a:headEnd len="med" w="med" type="none"/>
            <a:tailEnd len="med" w="med" type="triangle"/>
          </a:ln>
        </p:spPr>
      </p:cxnSp>
      <p:sp>
        <p:nvSpPr>
          <p:cNvPr id="3931" name="Google Shape;3931;p153"/>
          <p:cNvSpPr/>
          <p:nvPr/>
        </p:nvSpPr>
        <p:spPr>
          <a:xfrm>
            <a:off x="-228051" y="4081263"/>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ETL pipeline</a:t>
            </a:r>
            <a:endParaRPr sz="1200">
              <a:latin typeface="DM Sans"/>
              <a:ea typeface="DM Sans"/>
              <a:cs typeface="DM Sans"/>
              <a:sym typeface="DM Sans"/>
            </a:endParaRPr>
          </a:p>
        </p:txBody>
      </p:sp>
      <p:sp>
        <p:nvSpPr>
          <p:cNvPr id="3932" name="Google Shape;3932;p153"/>
          <p:cNvSpPr/>
          <p:nvPr/>
        </p:nvSpPr>
        <p:spPr>
          <a:xfrm>
            <a:off x="4438338" y="45738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Synthetic data</a:t>
            </a:r>
            <a:endParaRPr sz="1200">
              <a:latin typeface="DM Sans"/>
              <a:ea typeface="DM Sans"/>
              <a:cs typeface="DM Sans"/>
              <a:sym typeface="DM Sans"/>
            </a:endParaRPr>
          </a:p>
        </p:txBody>
      </p:sp>
      <p:sp>
        <p:nvSpPr>
          <p:cNvPr id="3933" name="Google Shape;3933;p153"/>
          <p:cNvSpPr/>
          <p:nvPr/>
        </p:nvSpPr>
        <p:spPr>
          <a:xfrm>
            <a:off x="6070564" y="259633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metrics</a:t>
            </a:r>
            <a:endParaRPr sz="1200">
              <a:latin typeface="DM Sans"/>
              <a:ea typeface="DM Sans"/>
              <a:cs typeface="DM Sans"/>
              <a:sym typeface="DM Sans"/>
            </a:endParaRPr>
          </a:p>
        </p:txBody>
      </p:sp>
      <p:sp>
        <p:nvSpPr>
          <p:cNvPr id="3934" name="Google Shape;3934;p153"/>
          <p:cNvSpPr/>
          <p:nvPr/>
        </p:nvSpPr>
        <p:spPr>
          <a:xfrm>
            <a:off x="6070564" y="2937813"/>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trace</a:t>
            </a:r>
            <a:endParaRPr sz="1200">
              <a:latin typeface="DM Sans"/>
              <a:ea typeface="DM Sans"/>
              <a:cs typeface="DM Sans"/>
              <a:sym typeface="DM Sans"/>
            </a:endParaRPr>
          </a:p>
        </p:txBody>
      </p:sp>
      <p:sp>
        <p:nvSpPr>
          <p:cNvPr id="3935" name="Google Shape;3935;p153"/>
          <p:cNvSpPr/>
          <p:nvPr/>
        </p:nvSpPr>
        <p:spPr>
          <a:xfrm>
            <a:off x="7598500" y="4087897"/>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Review App</a:t>
            </a:r>
            <a:endParaRPr sz="1200">
              <a:latin typeface="DM Sans"/>
              <a:ea typeface="DM Sans"/>
              <a:cs typeface="DM Sans"/>
              <a:sym typeface="DM Sans"/>
            </a:endParaRPr>
          </a:p>
        </p:txBody>
      </p:sp>
      <p:sp>
        <p:nvSpPr>
          <p:cNvPr id="3936" name="Google Shape;3936;p153"/>
          <p:cNvSpPr/>
          <p:nvPr/>
        </p:nvSpPr>
        <p:spPr>
          <a:xfrm>
            <a:off x="10696645" y="40681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Evaluation job</a:t>
            </a:r>
            <a:endParaRPr sz="1200">
              <a:latin typeface="DM Sans"/>
              <a:ea typeface="DM Sans"/>
              <a:cs typeface="DM Sans"/>
              <a:sym typeface="DM Sans"/>
            </a:endParaRPr>
          </a:p>
        </p:txBody>
      </p:sp>
      <p:sp>
        <p:nvSpPr>
          <p:cNvPr id="3937" name="Google Shape;3937;p153"/>
          <p:cNvSpPr/>
          <p:nvPr/>
        </p:nvSpPr>
        <p:spPr>
          <a:xfrm>
            <a:off x="2853100" y="4467088"/>
            <a:ext cx="1195200" cy="4002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Agent Framework</a:t>
            </a:r>
            <a:endParaRPr sz="1200">
              <a:latin typeface="DM Sans"/>
              <a:ea typeface="DM Sans"/>
              <a:cs typeface="DM Sans"/>
              <a:sym typeface="DM Sans"/>
            </a:endParaRPr>
          </a:p>
        </p:txBody>
      </p:sp>
      <p:sp>
        <p:nvSpPr>
          <p:cNvPr id="3938" name="Google Shape;3938;p153"/>
          <p:cNvSpPr/>
          <p:nvPr/>
        </p:nvSpPr>
        <p:spPr>
          <a:xfrm>
            <a:off x="7596076" y="4419988"/>
            <a:ext cx="1195200" cy="2796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LLM judges</a:t>
            </a:r>
            <a:endParaRPr sz="1200">
              <a:latin typeface="DM Sans"/>
              <a:ea typeface="DM Sans"/>
              <a:cs typeface="DM Sans"/>
              <a:sym typeface="DM Sans"/>
            </a:endParaRPr>
          </a:p>
        </p:txBody>
      </p:sp>
      <p:sp>
        <p:nvSpPr>
          <p:cNvPr id="3939" name="Google Shape;3939;p153"/>
          <p:cNvSpPr/>
          <p:nvPr/>
        </p:nvSpPr>
        <p:spPr>
          <a:xfrm>
            <a:off x="2881975" y="5665550"/>
            <a:ext cx="7419300" cy="571500"/>
          </a:xfrm>
          <a:prstGeom prst="roundRect">
            <a:avLst>
              <a:gd fmla="val 16667" name="adj"/>
            </a:avLst>
          </a:prstGeom>
          <a:solidFill>
            <a:srgbClr val="FFFFFF"/>
          </a:solidFill>
          <a:ln cap="flat" cmpd="sng" w="19050">
            <a:solidFill>
              <a:srgbClr val="00A972"/>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MLflow tracking</a:t>
            </a:r>
            <a:endParaRPr b="1" sz="1100">
              <a:latin typeface="DM Sans"/>
              <a:ea typeface="DM Sans"/>
              <a:cs typeface="DM Sans"/>
              <a:sym typeface="DM Sans"/>
            </a:endParaRPr>
          </a:p>
        </p:txBody>
      </p:sp>
      <p:cxnSp>
        <p:nvCxnSpPr>
          <p:cNvPr id="3940" name="Google Shape;3940;p153"/>
          <p:cNvCxnSpPr>
            <a:stCxn id="3909" idx="2"/>
          </p:cNvCxnSpPr>
          <p:nvPr/>
        </p:nvCxnSpPr>
        <p:spPr>
          <a:xfrm>
            <a:off x="3450737" y="5347746"/>
            <a:ext cx="0" cy="311700"/>
          </a:xfrm>
          <a:prstGeom prst="straightConnector1">
            <a:avLst/>
          </a:prstGeom>
          <a:noFill/>
          <a:ln cap="flat" cmpd="sng" w="19050">
            <a:solidFill>
              <a:srgbClr val="618794"/>
            </a:solidFill>
            <a:prstDash val="dash"/>
            <a:round/>
            <a:headEnd len="med" w="med" type="none"/>
            <a:tailEnd len="med" w="med" type="triangle"/>
          </a:ln>
        </p:spPr>
      </p:cxnSp>
      <p:cxnSp>
        <p:nvCxnSpPr>
          <p:cNvPr id="3941" name="Google Shape;3941;p153"/>
          <p:cNvCxnSpPr/>
          <p:nvPr/>
        </p:nvCxnSpPr>
        <p:spPr>
          <a:xfrm>
            <a:off x="5035962" y="5347746"/>
            <a:ext cx="0" cy="311700"/>
          </a:xfrm>
          <a:prstGeom prst="straightConnector1">
            <a:avLst/>
          </a:prstGeom>
          <a:noFill/>
          <a:ln cap="flat" cmpd="sng" w="19050">
            <a:solidFill>
              <a:srgbClr val="618794"/>
            </a:solidFill>
            <a:prstDash val="dash"/>
            <a:round/>
            <a:headEnd len="med" w="med" type="none"/>
            <a:tailEnd len="med" w="med" type="triangle"/>
          </a:ln>
        </p:spPr>
      </p:cxnSp>
      <p:cxnSp>
        <p:nvCxnSpPr>
          <p:cNvPr id="3942" name="Google Shape;3942;p153"/>
          <p:cNvCxnSpPr/>
          <p:nvPr/>
        </p:nvCxnSpPr>
        <p:spPr>
          <a:xfrm>
            <a:off x="6668212" y="3579696"/>
            <a:ext cx="0" cy="2045400"/>
          </a:xfrm>
          <a:prstGeom prst="straightConnector1">
            <a:avLst/>
          </a:prstGeom>
          <a:noFill/>
          <a:ln cap="flat" cmpd="sng" w="19050">
            <a:solidFill>
              <a:srgbClr val="618794"/>
            </a:solidFill>
            <a:prstDash val="dash"/>
            <a:round/>
            <a:headEnd len="med" w="med" type="none"/>
            <a:tailEnd len="med" w="med" type="triangle"/>
          </a:ln>
        </p:spPr>
      </p:cxnSp>
      <p:cxnSp>
        <p:nvCxnSpPr>
          <p:cNvPr id="3943" name="Google Shape;3943;p153"/>
          <p:cNvCxnSpPr>
            <a:stCxn id="3903" idx="2"/>
          </p:cNvCxnSpPr>
          <p:nvPr/>
        </p:nvCxnSpPr>
        <p:spPr>
          <a:xfrm>
            <a:off x="8212900" y="5348153"/>
            <a:ext cx="0" cy="301500"/>
          </a:xfrm>
          <a:prstGeom prst="straightConnector1">
            <a:avLst/>
          </a:prstGeom>
          <a:noFill/>
          <a:ln cap="flat" cmpd="sng" w="19050">
            <a:solidFill>
              <a:srgbClr val="618794"/>
            </a:solidFill>
            <a:prstDash val="dash"/>
            <a:round/>
            <a:headEnd len="med" w="med" type="none"/>
            <a:tailEnd len="med" w="med" type="triangle"/>
          </a:ln>
        </p:spPr>
      </p:cxnSp>
      <p:cxnSp>
        <p:nvCxnSpPr>
          <p:cNvPr id="3944" name="Google Shape;3944;p153"/>
          <p:cNvCxnSpPr/>
          <p:nvPr/>
        </p:nvCxnSpPr>
        <p:spPr>
          <a:xfrm>
            <a:off x="9752225" y="5352853"/>
            <a:ext cx="0" cy="301500"/>
          </a:xfrm>
          <a:prstGeom prst="straightConnector1">
            <a:avLst/>
          </a:prstGeom>
          <a:noFill/>
          <a:ln cap="flat" cmpd="sng" w="19050">
            <a:solidFill>
              <a:srgbClr val="618794"/>
            </a:solidFill>
            <a:prstDash val="dash"/>
            <a:round/>
            <a:headEnd len="med" w="med" type="none"/>
            <a:tailEnd len="med" w="med" type="triangle"/>
          </a:ln>
        </p:spPr>
      </p:cxnSp>
      <p:sp>
        <p:nvSpPr>
          <p:cNvPr id="3945" name="Google Shape;3945;p153"/>
          <p:cNvSpPr/>
          <p:nvPr/>
        </p:nvSpPr>
        <p:spPr>
          <a:xfrm>
            <a:off x="6070575" y="3279304"/>
            <a:ext cx="1195200" cy="365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Model versioning</a:t>
            </a:r>
            <a:endParaRPr sz="1200">
              <a:latin typeface="DM Sans"/>
              <a:ea typeface="DM Sans"/>
              <a:cs typeface="DM Sans"/>
              <a:sym typeface="DM San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9" name="Shape 3949"/>
        <p:cNvGrpSpPr/>
        <p:nvPr/>
      </p:nvGrpSpPr>
      <p:grpSpPr>
        <a:xfrm>
          <a:off x="0" y="0"/>
          <a:ext cx="0" cy="0"/>
          <a:chOff x="0" y="0"/>
          <a:chExt cx="0" cy="0"/>
        </a:xfrm>
      </p:grpSpPr>
      <p:sp>
        <p:nvSpPr>
          <p:cNvPr id="3950" name="Google Shape;3950;p154"/>
          <p:cNvSpPr/>
          <p:nvPr/>
        </p:nvSpPr>
        <p:spPr>
          <a:xfrm>
            <a:off x="371375" y="4175900"/>
            <a:ext cx="1029900" cy="9420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Enterprise data</a:t>
            </a:r>
            <a:endParaRPr b="1" sz="1100">
              <a:latin typeface="DM Sans"/>
              <a:ea typeface="DM Sans"/>
              <a:cs typeface="DM Sans"/>
              <a:sym typeface="DM Sans"/>
            </a:endParaRPr>
          </a:p>
        </p:txBody>
      </p:sp>
      <p:sp>
        <p:nvSpPr>
          <p:cNvPr id="3951" name="Google Shape;3951;p154"/>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Unstructured data pipeline /static/images/ai-cookbook/intro-and-rag/unstructured-data-pipeline.png</a:t>
            </a:r>
            <a:endParaRPr sz="200"/>
          </a:p>
        </p:txBody>
      </p:sp>
      <p:sp>
        <p:nvSpPr>
          <p:cNvPr id="3952" name="Google Shape;3952;p154"/>
          <p:cNvSpPr/>
          <p:nvPr/>
        </p:nvSpPr>
        <p:spPr>
          <a:xfrm>
            <a:off x="1605375" y="3938400"/>
            <a:ext cx="7059900" cy="13797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53" name="Google Shape;3953;p154"/>
          <p:cNvSpPr/>
          <p:nvPr/>
        </p:nvSpPr>
        <p:spPr>
          <a:xfrm>
            <a:off x="8883675" y="4175900"/>
            <a:ext cx="1029900" cy="9420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Vector Search Index</a:t>
            </a:r>
            <a:endParaRPr b="1" sz="1100">
              <a:latin typeface="DM Sans"/>
              <a:ea typeface="DM Sans"/>
              <a:cs typeface="DM Sans"/>
              <a:sym typeface="DM Sans"/>
            </a:endParaRPr>
          </a:p>
        </p:txBody>
      </p:sp>
      <p:sp>
        <p:nvSpPr>
          <p:cNvPr id="3954" name="Google Shape;3954;p154"/>
          <p:cNvSpPr txBox="1"/>
          <p:nvPr/>
        </p:nvSpPr>
        <p:spPr>
          <a:xfrm>
            <a:off x="1813175" y="3538200"/>
            <a:ext cx="270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Unstructured data pipeline</a:t>
            </a:r>
            <a:endParaRPr b="1">
              <a:solidFill>
                <a:srgbClr val="00A972"/>
              </a:solidFill>
              <a:latin typeface="DM Sans"/>
              <a:ea typeface="DM Sans"/>
              <a:cs typeface="DM Sans"/>
              <a:sym typeface="DM Sans"/>
            </a:endParaRPr>
          </a:p>
        </p:txBody>
      </p:sp>
      <p:sp>
        <p:nvSpPr>
          <p:cNvPr id="3955" name="Google Shape;3955;p154"/>
          <p:cNvSpPr/>
          <p:nvPr/>
        </p:nvSpPr>
        <p:spPr>
          <a:xfrm>
            <a:off x="1794425" y="4268150"/>
            <a:ext cx="991800" cy="7575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Corpus ingestion</a:t>
            </a:r>
            <a:endParaRPr b="1" sz="1100">
              <a:latin typeface="DM Sans"/>
              <a:ea typeface="DM Sans"/>
              <a:cs typeface="DM Sans"/>
              <a:sym typeface="DM Sans"/>
            </a:endParaRPr>
          </a:p>
        </p:txBody>
      </p:sp>
      <p:sp>
        <p:nvSpPr>
          <p:cNvPr id="3956" name="Google Shape;3956;p154"/>
          <p:cNvSpPr/>
          <p:nvPr/>
        </p:nvSpPr>
        <p:spPr>
          <a:xfrm>
            <a:off x="3220497" y="4268150"/>
            <a:ext cx="991800" cy="7575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Data processing</a:t>
            </a:r>
            <a:endParaRPr b="1" sz="1100">
              <a:latin typeface="DM Sans"/>
              <a:ea typeface="DM Sans"/>
              <a:cs typeface="DM Sans"/>
              <a:sym typeface="DM Sans"/>
            </a:endParaRPr>
          </a:p>
        </p:txBody>
      </p:sp>
      <p:sp>
        <p:nvSpPr>
          <p:cNvPr id="3957" name="Google Shape;3957;p154"/>
          <p:cNvSpPr/>
          <p:nvPr/>
        </p:nvSpPr>
        <p:spPr>
          <a:xfrm>
            <a:off x="7498713" y="4268150"/>
            <a:ext cx="991800" cy="7575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Indexing and storage</a:t>
            </a:r>
            <a:endParaRPr b="1" sz="1100">
              <a:latin typeface="DM Sans"/>
              <a:ea typeface="DM Sans"/>
              <a:cs typeface="DM Sans"/>
              <a:sym typeface="DM Sans"/>
            </a:endParaRPr>
          </a:p>
        </p:txBody>
      </p:sp>
      <p:cxnSp>
        <p:nvCxnSpPr>
          <p:cNvPr id="3958" name="Google Shape;3958;p154"/>
          <p:cNvCxnSpPr>
            <a:stCxn id="3955" idx="3"/>
            <a:endCxn id="3956" idx="1"/>
          </p:cNvCxnSpPr>
          <p:nvPr/>
        </p:nvCxnSpPr>
        <p:spPr>
          <a:xfrm>
            <a:off x="2786225" y="4646900"/>
            <a:ext cx="434400" cy="0"/>
          </a:xfrm>
          <a:prstGeom prst="straightConnector1">
            <a:avLst/>
          </a:prstGeom>
          <a:noFill/>
          <a:ln cap="flat" cmpd="sng" w="19050">
            <a:solidFill>
              <a:srgbClr val="618794"/>
            </a:solidFill>
            <a:prstDash val="dash"/>
            <a:round/>
            <a:headEnd len="med" w="med" type="none"/>
            <a:tailEnd len="med" w="med" type="triangle"/>
          </a:ln>
        </p:spPr>
      </p:cxnSp>
      <p:cxnSp>
        <p:nvCxnSpPr>
          <p:cNvPr id="3959" name="Google Shape;3959;p154"/>
          <p:cNvCxnSpPr>
            <a:stCxn id="3956" idx="3"/>
            <a:endCxn id="3960" idx="1"/>
          </p:cNvCxnSpPr>
          <p:nvPr/>
        </p:nvCxnSpPr>
        <p:spPr>
          <a:xfrm>
            <a:off x="4212297" y="4646900"/>
            <a:ext cx="434400" cy="0"/>
          </a:xfrm>
          <a:prstGeom prst="straightConnector1">
            <a:avLst/>
          </a:prstGeom>
          <a:noFill/>
          <a:ln cap="flat" cmpd="sng" w="19050">
            <a:solidFill>
              <a:srgbClr val="618794"/>
            </a:solidFill>
            <a:prstDash val="dash"/>
            <a:round/>
            <a:headEnd len="med" w="med" type="none"/>
            <a:tailEnd len="med" w="med" type="triangle"/>
          </a:ln>
        </p:spPr>
      </p:cxnSp>
      <p:cxnSp>
        <p:nvCxnSpPr>
          <p:cNvPr id="3961" name="Google Shape;3961;p154"/>
          <p:cNvCxnSpPr>
            <a:stCxn id="3962" idx="3"/>
            <a:endCxn id="3957" idx="1"/>
          </p:cNvCxnSpPr>
          <p:nvPr/>
        </p:nvCxnSpPr>
        <p:spPr>
          <a:xfrm>
            <a:off x="7064441" y="4646900"/>
            <a:ext cx="434400" cy="0"/>
          </a:xfrm>
          <a:prstGeom prst="straightConnector1">
            <a:avLst/>
          </a:prstGeom>
          <a:noFill/>
          <a:ln cap="flat" cmpd="sng" w="19050">
            <a:solidFill>
              <a:srgbClr val="618794"/>
            </a:solidFill>
            <a:prstDash val="dash"/>
            <a:round/>
            <a:headEnd len="med" w="med" type="none"/>
            <a:tailEnd len="med" w="med" type="triangle"/>
          </a:ln>
        </p:spPr>
      </p:cxnSp>
      <p:cxnSp>
        <p:nvCxnSpPr>
          <p:cNvPr id="3963" name="Google Shape;3963;p154"/>
          <p:cNvCxnSpPr>
            <a:stCxn id="3957" idx="3"/>
            <a:endCxn id="3953" idx="1"/>
          </p:cNvCxnSpPr>
          <p:nvPr/>
        </p:nvCxnSpPr>
        <p:spPr>
          <a:xfrm>
            <a:off x="8490513" y="4646900"/>
            <a:ext cx="393300" cy="0"/>
          </a:xfrm>
          <a:prstGeom prst="straightConnector1">
            <a:avLst/>
          </a:prstGeom>
          <a:noFill/>
          <a:ln cap="flat" cmpd="sng" w="19050">
            <a:solidFill>
              <a:srgbClr val="618794"/>
            </a:solidFill>
            <a:prstDash val="dash"/>
            <a:round/>
            <a:headEnd len="med" w="med" type="none"/>
            <a:tailEnd len="med" w="med" type="triangle"/>
          </a:ln>
        </p:spPr>
      </p:cxnSp>
      <p:sp>
        <p:nvSpPr>
          <p:cNvPr id="3962" name="Google Shape;3962;p154"/>
          <p:cNvSpPr/>
          <p:nvPr/>
        </p:nvSpPr>
        <p:spPr>
          <a:xfrm>
            <a:off x="6072641" y="4268150"/>
            <a:ext cx="991800" cy="7575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Embedding</a:t>
            </a:r>
            <a:endParaRPr b="1" sz="1100">
              <a:latin typeface="DM Sans"/>
              <a:ea typeface="DM Sans"/>
              <a:cs typeface="DM Sans"/>
              <a:sym typeface="DM Sans"/>
            </a:endParaRPr>
          </a:p>
        </p:txBody>
      </p:sp>
      <p:grpSp>
        <p:nvGrpSpPr>
          <p:cNvPr id="3964" name="Google Shape;3964;p154"/>
          <p:cNvGrpSpPr/>
          <p:nvPr/>
        </p:nvGrpSpPr>
        <p:grpSpPr>
          <a:xfrm>
            <a:off x="1081212" y="448063"/>
            <a:ext cx="2327138" cy="342300"/>
            <a:chOff x="9222012" y="7092438"/>
            <a:chExt cx="2327138" cy="342300"/>
          </a:xfrm>
        </p:grpSpPr>
        <p:pic>
          <p:nvPicPr>
            <p:cNvPr id="3965" name="Google Shape;3965;p154"/>
            <p:cNvPicPr preferRelativeResize="0"/>
            <p:nvPr/>
          </p:nvPicPr>
          <p:blipFill>
            <a:blip r:embed="rId3">
              <a:alphaModFix/>
            </a:blip>
            <a:stretch>
              <a:fillRect/>
            </a:stretch>
          </p:blipFill>
          <p:spPr>
            <a:xfrm>
              <a:off x="9222012" y="7121698"/>
              <a:ext cx="251450" cy="283777"/>
            </a:xfrm>
            <a:prstGeom prst="rect">
              <a:avLst/>
            </a:prstGeom>
            <a:noFill/>
            <a:ln>
              <a:noFill/>
            </a:ln>
          </p:spPr>
        </p:pic>
        <p:sp>
          <p:nvSpPr>
            <p:cNvPr id="3966" name="Google Shape;3966;p154"/>
            <p:cNvSpPr txBox="1"/>
            <p:nvPr/>
          </p:nvSpPr>
          <p:spPr>
            <a:xfrm>
              <a:off x="9469850" y="7092438"/>
              <a:ext cx="2079300" cy="3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RAG application</a:t>
              </a:r>
              <a:endParaRPr sz="1800">
                <a:solidFill>
                  <a:srgbClr val="1B3139"/>
                </a:solidFill>
                <a:latin typeface="DM Sans"/>
                <a:ea typeface="DM Sans"/>
                <a:cs typeface="DM Sans"/>
                <a:sym typeface="DM Sans"/>
              </a:endParaRPr>
            </a:p>
          </p:txBody>
        </p:sp>
      </p:grpSp>
      <p:sp>
        <p:nvSpPr>
          <p:cNvPr id="3960" name="Google Shape;3960;p154"/>
          <p:cNvSpPr/>
          <p:nvPr/>
        </p:nvSpPr>
        <p:spPr>
          <a:xfrm>
            <a:off x="4646569" y="4268150"/>
            <a:ext cx="991800" cy="7575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Chunking</a:t>
            </a:r>
            <a:endParaRPr b="1" sz="1100">
              <a:latin typeface="DM Sans"/>
              <a:ea typeface="DM Sans"/>
              <a:cs typeface="DM Sans"/>
              <a:sym typeface="DM Sans"/>
            </a:endParaRPr>
          </a:p>
        </p:txBody>
      </p:sp>
      <p:cxnSp>
        <p:nvCxnSpPr>
          <p:cNvPr id="3967" name="Google Shape;3967;p154"/>
          <p:cNvCxnSpPr>
            <a:stCxn id="3960" idx="3"/>
            <a:endCxn id="3962" idx="1"/>
          </p:cNvCxnSpPr>
          <p:nvPr/>
        </p:nvCxnSpPr>
        <p:spPr>
          <a:xfrm>
            <a:off x="5638369" y="4646900"/>
            <a:ext cx="434400" cy="0"/>
          </a:xfrm>
          <a:prstGeom prst="straightConnector1">
            <a:avLst/>
          </a:prstGeom>
          <a:noFill/>
          <a:ln cap="flat" cmpd="sng" w="19050">
            <a:solidFill>
              <a:srgbClr val="618794"/>
            </a:solidFill>
            <a:prstDash val="dash"/>
            <a:round/>
            <a:headEnd len="med" w="med" type="none"/>
            <a:tailEnd len="med" w="med" type="triangle"/>
          </a:ln>
        </p:spPr>
      </p:cxnSp>
      <p:pic>
        <p:nvPicPr>
          <p:cNvPr id="3968" name="Google Shape;3968;p154"/>
          <p:cNvPicPr preferRelativeResize="0"/>
          <p:nvPr/>
        </p:nvPicPr>
        <p:blipFill rotWithShape="1">
          <a:blip r:embed="rId4">
            <a:alphaModFix/>
          </a:blip>
          <a:srcRect b="0" l="0" r="0" t="0"/>
          <a:stretch/>
        </p:blipFill>
        <p:spPr>
          <a:xfrm>
            <a:off x="521336" y="4308874"/>
            <a:ext cx="400186" cy="400198"/>
          </a:xfrm>
          <a:prstGeom prst="rect">
            <a:avLst/>
          </a:prstGeom>
          <a:noFill/>
          <a:ln>
            <a:noFill/>
          </a:ln>
        </p:spPr>
      </p:pic>
      <p:pic>
        <p:nvPicPr>
          <p:cNvPr id="3969" name="Google Shape;3969;p154"/>
          <p:cNvPicPr preferRelativeResize="0"/>
          <p:nvPr/>
        </p:nvPicPr>
        <p:blipFill rotWithShape="1">
          <a:blip r:embed="rId5">
            <a:alphaModFix/>
          </a:blip>
          <a:srcRect b="0" l="0" r="0" t="0"/>
          <a:stretch/>
        </p:blipFill>
        <p:spPr>
          <a:xfrm>
            <a:off x="851123" y="4308873"/>
            <a:ext cx="400186" cy="400198"/>
          </a:xfrm>
          <a:prstGeom prst="rect">
            <a:avLst/>
          </a:prstGeom>
          <a:noFill/>
          <a:ln>
            <a:noFill/>
          </a:ln>
        </p:spPr>
      </p:pic>
      <p:pic>
        <p:nvPicPr>
          <p:cNvPr id="3970" name="Google Shape;3970;p154"/>
          <p:cNvPicPr preferRelativeResize="0"/>
          <p:nvPr/>
        </p:nvPicPr>
        <p:blipFill rotWithShape="1">
          <a:blip r:embed="rId6">
            <a:alphaModFix/>
          </a:blip>
          <a:srcRect b="0" l="0" r="0" t="0"/>
          <a:stretch/>
        </p:blipFill>
        <p:spPr>
          <a:xfrm>
            <a:off x="9138800" y="4239575"/>
            <a:ext cx="519650" cy="538799"/>
          </a:xfrm>
          <a:prstGeom prst="rect">
            <a:avLst/>
          </a:prstGeom>
          <a:noFill/>
          <a:ln>
            <a:noFill/>
          </a:ln>
        </p:spPr>
      </p:pic>
      <p:sp>
        <p:nvSpPr>
          <p:cNvPr id="3971" name="Google Shape;3971;p154"/>
          <p:cNvSpPr/>
          <p:nvPr/>
        </p:nvSpPr>
        <p:spPr>
          <a:xfrm>
            <a:off x="5816950" y="2791425"/>
            <a:ext cx="1503300" cy="8526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Embedding and foundation models</a:t>
            </a:r>
            <a:endParaRPr b="1" sz="1100">
              <a:latin typeface="DM Sans"/>
              <a:ea typeface="DM Sans"/>
              <a:cs typeface="DM Sans"/>
              <a:sym typeface="DM Sans"/>
            </a:endParaRPr>
          </a:p>
        </p:txBody>
      </p:sp>
      <p:pic>
        <p:nvPicPr>
          <p:cNvPr id="3972" name="Google Shape;3972;p154"/>
          <p:cNvPicPr preferRelativeResize="0"/>
          <p:nvPr/>
        </p:nvPicPr>
        <p:blipFill rotWithShape="1">
          <a:blip r:embed="rId7">
            <a:alphaModFix/>
          </a:blip>
          <a:srcRect b="0" l="0" r="0" t="0"/>
          <a:stretch/>
        </p:blipFill>
        <p:spPr>
          <a:xfrm>
            <a:off x="6392312" y="2874275"/>
            <a:ext cx="352466" cy="350999"/>
          </a:xfrm>
          <a:prstGeom prst="rect">
            <a:avLst/>
          </a:prstGeom>
          <a:noFill/>
          <a:ln>
            <a:noFill/>
          </a:ln>
        </p:spPr>
      </p:pic>
      <p:cxnSp>
        <p:nvCxnSpPr>
          <p:cNvPr id="3973" name="Google Shape;3973;p154"/>
          <p:cNvCxnSpPr>
            <a:stCxn id="3971" idx="2"/>
            <a:endCxn id="3962" idx="0"/>
          </p:cNvCxnSpPr>
          <p:nvPr/>
        </p:nvCxnSpPr>
        <p:spPr>
          <a:xfrm>
            <a:off x="6568600" y="3644025"/>
            <a:ext cx="0" cy="624000"/>
          </a:xfrm>
          <a:prstGeom prst="straightConnector1">
            <a:avLst/>
          </a:prstGeom>
          <a:noFill/>
          <a:ln cap="flat" cmpd="sng" w="19050">
            <a:solidFill>
              <a:srgbClr val="618794"/>
            </a:solidFill>
            <a:prstDash val="dash"/>
            <a:round/>
            <a:headEnd len="med" w="med" type="none"/>
            <a:tailEnd len="med" w="med" type="triangle"/>
          </a:ln>
        </p:spPr>
      </p:cxnSp>
      <p:cxnSp>
        <p:nvCxnSpPr>
          <p:cNvPr id="3974" name="Google Shape;3974;p154"/>
          <p:cNvCxnSpPr>
            <a:stCxn id="3950" idx="3"/>
            <a:endCxn id="3955" idx="1"/>
          </p:cNvCxnSpPr>
          <p:nvPr/>
        </p:nvCxnSpPr>
        <p:spPr>
          <a:xfrm>
            <a:off x="1401275" y="4646900"/>
            <a:ext cx="393300" cy="0"/>
          </a:xfrm>
          <a:prstGeom prst="straightConnector1">
            <a:avLst/>
          </a:prstGeom>
          <a:noFill/>
          <a:ln cap="flat" cmpd="sng" w="19050">
            <a:solidFill>
              <a:srgbClr val="618794"/>
            </a:solidFill>
            <a:prstDash val="dash"/>
            <a:round/>
            <a:headEnd len="med" w="med" type="none"/>
            <a:tailEnd len="med" w="med" type="triangle"/>
          </a:ln>
        </p:spPr>
      </p:cxnSp>
      <p:sp>
        <p:nvSpPr>
          <p:cNvPr id="3975" name="Google Shape;3975;p154"/>
          <p:cNvSpPr/>
          <p:nvPr/>
        </p:nvSpPr>
        <p:spPr>
          <a:xfrm>
            <a:off x="1612525" y="5501292"/>
            <a:ext cx="7059900" cy="6471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Governance and LLMops</a:t>
            </a:r>
            <a:endParaRPr>
              <a:solidFill>
                <a:schemeClr val="accent1"/>
              </a:solidFill>
              <a:latin typeface="DM Sans"/>
              <a:ea typeface="DM Sans"/>
              <a:cs typeface="DM Sans"/>
              <a:sym typeface="DM Sans"/>
            </a:endParaRPr>
          </a:p>
        </p:txBody>
      </p:sp>
      <p:sp>
        <p:nvSpPr>
          <p:cNvPr id="3976" name="Google Shape;3976;p154"/>
          <p:cNvSpPr/>
          <p:nvPr/>
        </p:nvSpPr>
        <p:spPr>
          <a:xfrm>
            <a:off x="1612525" y="1869347"/>
            <a:ext cx="7059900" cy="6471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RAG chain</a:t>
            </a:r>
            <a:endParaRPr>
              <a:solidFill>
                <a:schemeClr val="accent1"/>
              </a:solidFill>
              <a:latin typeface="DM Sans"/>
              <a:ea typeface="DM Sans"/>
              <a:cs typeface="DM Sans"/>
              <a:sym typeface="DM Sans"/>
            </a:endParaRPr>
          </a:p>
        </p:txBody>
      </p:sp>
      <p:cxnSp>
        <p:nvCxnSpPr>
          <p:cNvPr id="3977" name="Google Shape;3977;p154"/>
          <p:cNvCxnSpPr>
            <a:stCxn id="3971" idx="0"/>
          </p:cNvCxnSpPr>
          <p:nvPr/>
        </p:nvCxnSpPr>
        <p:spPr>
          <a:xfrm flipH="1" rot="10800000">
            <a:off x="6568600" y="2524125"/>
            <a:ext cx="1500" cy="267300"/>
          </a:xfrm>
          <a:prstGeom prst="straightConnector1">
            <a:avLst/>
          </a:prstGeom>
          <a:noFill/>
          <a:ln cap="flat" cmpd="sng" w="19050">
            <a:solidFill>
              <a:srgbClr val="618794"/>
            </a:solidFill>
            <a:prstDash val="dash"/>
            <a:round/>
            <a:headEnd len="med" w="med" type="none"/>
            <a:tailEnd len="med" w="med" type="triangle"/>
          </a:ln>
        </p:spPr>
      </p:cxnSp>
      <p:cxnSp>
        <p:nvCxnSpPr>
          <p:cNvPr id="3978" name="Google Shape;3978;p154"/>
          <p:cNvCxnSpPr>
            <a:stCxn id="3953" idx="0"/>
          </p:cNvCxnSpPr>
          <p:nvPr/>
        </p:nvCxnSpPr>
        <p:spPr>
          <a:xfrm flipH="1" rot="5400000">
            <a:off x="7859175" y="2636450"/>
            <a:ext cx="1651800" cy="1427100"/>
          </a:xfrm>
          <a:prstGeom prst="bentConnector3">
            <a:avLst>
              <a:gd fmla="val 50000" name="adj1"/>
            </a:avLst>
          </a:prstGeom>
          <a:noFill/>
          <a:ln cap="flat" cmpd="sng" w="19050">
            <a:solidFill>
              <a:srgbClr val="618794"/>
            </a:solidFill>
            <a:prstDash val="dash"/>
            <a:round/>
            <a:headEnd len="med" w="med" type="none"/>
            <a:tailEnd len="med" w="med" type="triangle"/>
          </a:ln>
        </p:spPr>
      </p:cxnSp>
      <p:sp>
        <p:nvSpPr>
          <p:cNvPr id="3979" name="Google Shape;3979;p154"/>
          <p:cNvSpPr/>
          <p:nvPr/>
        </p:nvSpPr>
        <p:spPr>
          <a:xfrm>
            <a:off x="436175" y="1652088"/>
            <a:ext cx="965100" cy="7962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000">
                <a:latin typeface="DM Sans"/>
                <a:ea typeface="DM Sans"/>
                <a:cs typeface="DM Sans"/>
                <a:sym typeface="DM Sans"/>
              </a:rPr>
              <a:t>User request</a:t>
            </a:r>
            <a:endParaRPr b="1" sz="1000">
              <a:latin typeface="DM Sans"/>
              <a:ea typeface="DM Sans"/>
              <a:cs typeface="DM Sans"/>
              <a:sym typeface="DM Sans"/>
            </a:endParaRPr>
          </a:p>
        </p:txBody>
      </p:sp>
      <p:pic>
        <p:nvPicPr>
          <p:cNvPr id="3980" name="Google Shape;3980;p154"/>
          <p:cNvPicPr preferRelativeResize="0"/>
          <p:nvPr/>
        </p:nvPicPr>
        <p:blipFill rotWithShape="1">
          <a:blip r:embed="rId8">
            <a:alphaModFix/>
          </a:blip>
          <a:srcRect b="0" l="0" r="0" t="0"/>
          <a:stretch/>
        </p:blipFill>
        <p:spPr>
          <a:xfrm>
            <a:off x="718862" y="1850874"/>
            <a:ext cx="400201" cy="398653"/>
          </a:xfrm>
          <a:prstGeom prst="rect">
            <a:avLst/>
          </a:prstGeom>
          <a:noFill/>
          <a:ln>
            <a:noFill/>
          </a:ln>
        </p:spPr>
      </p:pic>
      <p:sp>
        <p:nvSpPr>
          <p:cNvPr id="3981" name="Google Shape;3981;p154"/>
          <p:cNvSpPr/>
          <p:nvPr/>
        </p:nvSpPr>
        <p:spPr>
          <a:xfrm>
            <a:off x="1612525" y="1024425"/>
            <a:ext cx="7059900" cy="6471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Evaluation and monitoring</a:t>
            </a:r>
            <a:endParaRPr>
              <a:solidFill>
                <a:schemeClr val="accent1"/>
              </a:solidFill>
              <a:latin typeface="DM Sans"/>
              <a:ea typeface="DM Sans"/>
              <a:cs typeface="DM Sans"/>
              <a:sym typeface="DM Sans"/>
            </a:endParaRPr>
          </a:p>
        </p:txBody>
      </p:sp>
      <p:sp>
        <p:nvSpPr>
          <p:cNvPr id="3982" name="Google Shape;3982;p154"/>
          <p:cNvSpPr/>
          <p:nvPr/>
        </p:nvSpPr>
        <p:spPr>
          <a:xfrm>
            <a:off x="8978875" y="1652063"/>
            <a:ext cx="965100" cy="7962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000">
                <a:latin typeface="DM Sans"/>
                <a:ea typeface="DM Sans"/>
                <a:cs typeface="DM Sans"/>
                <a:sym typeface="DM Sans"/>
              </a:rPr>
              <a:t>Response</a:t>
            </a:r>
            <a:endParaRPr b="1" sz="1000">
              <a:latin typeface="DM Sans"/>
              <a:ea typeface="DM Sans"/>
              <a:cs typeface="DM Sans"/>
              <a:sym typeface="DM Sans"/>
            </a:endParaRPr>
          </a:p>
        </p:txBody>
      </p:sp>
      <p:pic>
        <p:nvPicPr>
          <p:cNvPr id="3983" name="Google Shape;3983;p154"/>
          <p:cNvPicPr preferRelativeResize="0"/>
          <p:nvPr/>
        </p:nvPicPr>
        <p:blipFill rotWithShape="1">
          <a:blip r:embed="rId8">
            <a:alphaModFix/>
          </a:blip>
          <a:srcRect b="0" l="0" r="0" t="0"/>
          <a:stretch/>
        </p:blipFill>
        <p:spPr>
          <a:xfrm>
            <a:off x="9261562" y="1850849"/>
            <a:ext cx="400201" cy="398653"/>
          </a:xfrm>
          <a:prstGeom prst="rect">
            <a:avLst/>
          </a:prstGeom>
          <a:noFill/>
          <a:ln>
            <a:noFill/>
          </a:ln>
        </p:spPr>
      </p:pic>
      <p:cxnSp>
        <p:nvCxnSpPr>
          <p:cNvPr id="3984" name="Google Shape;3984;p154"/>
          <p:cNvCxnSpPr>
            <a:stCxn id="3976" idx="3"/>
          </p:cNvCxnSpPr>
          <p:nvPr/>
        </p:nvCxnSpPr>
        <p:spPr>
          <a:xfrm>
            <a:off x="8672425" y="2192897"/>
            <a:ext cx="482400" cy="0"/>
          </a:xfrm>
          <a:prstGeom prst="straightConnector1">
            <a:avLst/>
          </a:prstGeom>
          <a:noFill/>
          <a:ln cap="flat" cmpd="sng" w="19050">
            <a:solidFill>
              <a:srgbClr val="618794"/>
            </a:solidFill>
            <a:prstDash val="dash"/>
            <a:round/>
            <a:headEnd len="med" w="med" type="none"/>
            <a:tailEnd len="med" w="med" type="triangle"/>
          </a:ln>
        </p:spPr>
      </p:cxnSp>
      <p:cxnSp>
        <p:nvCxnSpPr>
          <p:cNvPr id="3985" name="Google Shape;3985;p154"/>
          <p:cNvCxnSpPr>
            <a:endCxn id="3976" idx="1"/>
          </p:cNvCxnSpPr>
          <p:nvPr/>
        </p:nvCxnSpPr>
        <p:spPr>
          <a:xfrm>
            <a:off x="1219525" y="2192897"/>
            <a:ext cx="393000" cy="0"/>
          </a:xfrm>
          <a:prstGeom prst="straightConnector1">
            <a:avLst/>
          </a:prstGeom>
          <a:noFill/>
          <a:ln cap="flat" cmpd="sng" w="19050">
            <a:solidFill>
              <a:srgbClr val="618794"/>
            </a:solidFill>
            <a:prstDash val="dash"/>
            <a:round/>
            <a:headEnd len="med" w="med" type="none"/>
            <a:tailEnd len="med" w="med" type="triangle"/>
          </a:ln>
        </p:spPr>
      </p:cxn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9" name="Shape 3989"/>
        <p:cNvGrpSpPr/>
        <p:nvPr/>
      </p:nvGrpSpPr>
      <p:grpSpPr>
        <a:xfrm>
          <a:off x="0" y="0"/>
          <a:ext cx="0" cy="0"/>
          <a:chOff x="0" y="0"/>
          <a:chExt cx="0" cy="0"/>
        </a:xfrm>
      </p:grpSpPr>
      <p:cxnSp>
        <p:nvCxnSpPr>
          <p:cNvPr id="3990" name="Google Shape;3990;p155"/>
          <p:cNvCxnSpPr/>
          <p:nvPr/>
        </p:nvCxnSpPr>
        <p:spPr>
          <a:xfrm rot="10800000">
            <a:off x="6329025" y="1674450"/>
            <a:ext cx="0" cy="333300"/>
          </a:xfrm>
          <a:prstGeom prst="straightConnector1">
            <a:avLst/>
          </a:prstGeom>
          <a:noFill/>
          <a:ln cap="flat" cmpd="sng" w="19050">
            <a:solidFill>
              <a:srgbClr val="618794"/>
            </a:solidFill>
            <a:prstDash val="dash"/>
            <a:round/>
            <a:headEnd len="med" w="med" type="none"/>
            <a:tailEnd len="med" w="med" type="triangle"/>
          </a:ln>
        </p:spPr>
      </p:cxnSp>
      <p:cxnSp>
        <p:nvCxnSpPr>
          <p:cNvPr id="3991" name="Google Shape;3991;p155"/>
          <p:cNvCxnSpPr/>
          <p:nvPr/>
        </p:nvCxnSpPr>
        <p:spPr>
          <a:xfrm rot="10800000">
            <a:off x="3548700" y="1674675"/>
            <a:ext cx="0" cy="296400"/>
          </a:xfrm>
          <a:prstGeom prst="straightConnector1">
            <a:avLst/>
          </a:prstGeom>
          <a:noFill/>
          <a:ln cap="flat" cmpd="sng" w="19050">
            <a:solidFill>
              <a:srgbClr val="618794"/>
            </a:solidFill>
            <a:prstDash val="dash"/>
            <a:round/>
            <a:headEnd len="med" w="med" type="none"/>
            <a:tailEnd len="med" w="med" type="triangle"/>
          </a:ln>
        </p:spPr>
      </p:cxnSp>
      <p:sp>
        <p:nvSpPr>
          <p:cNvPr id="3992" name="Google Shape;3992;p155"/>
          <p:cNvSpPr/>
          <p:nvPr/>
        </p:nvSpPr>
        <p:spPr>
          <a:xfrm>
            <a:off x="371375" y="2651900"/>
            <a:ext cx="1029900" cy="9420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000">
                <a:latin typeface="DM Sans"/>
                <a:ea typeface="DM Sans"/>
                <a:cs typeface="DM Sans"/>
                <a:sym typeface="DM Sans"/>
              </a:rPr>
              <a:t>Enterprise data</a:t>
            </a:r>
            <a:endParaRPr b="1" sz="1000">
              <a:latin typeface="DM Sans"/>
              <a:ea typeface="DM Sans"/>
              <a:cs typeface="DM Sans"/>
              <a:sym typeface="DM Sans"/>
            </a:endParaRPr>
          </a:p>
        </p:txBody>
      </p:sp>
      <p:sp>
        <p:nvSpPr>
          <p:cNvPr id="3993" name="Google Shape;3993;p155"/>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Unstructured data pipeline /static/images/ai-cookbook/intro-and-rag/rag-overview..png</a:t>
            </a:r>
            <a:endParaRPr sz="200"/>
          </a:p>
        </p:txBody>
      </p:sp>
      <p:cxnSp>
        <p:nvCxnSpPr>
          <p:cNvPr id="3994" name="Google Shape;3994;p155"/>
          <p:cNvCxnSpPr/>
          <p:nvPr/>
        </p:nvCxnSpPr>
        <p:spPr>
          <a:xfrm rot="10800000">
            <a:off x="6329025" y="2588775"/>
            <a:ext cx="0" cy="293100"/>
          </a:xfrm>
          <a:prstGeom prst="straightConnector1">
            <a:avLst/>
          </a:prstGeom>
          <a:noFill/>
          <a:ln cap="flat" cmpd="sng" w="19050">
            <a:solidFill>
              <a:srgbClr val="618794"/>
            </a:solidFill>
            <a:prstDash val="dash"/>
            <a:round/>
            <a:headEnd len="med" w="med" type="none"/>
            <a:tailEnd len="med" w="med" type="triangle"/>
          </a:ln>
        </p:spPr>
      </p:cxnSp>
      <p:grpSp>
        <p:nvGrpSpPr>
          <p:cNvPr id="3995" name="Google Shape;3995;p155"/>
          <p:cNvGrpSpPr/>
          <p:nvPr/>
        </p:nvGrpSpPr>
        <p:grpSpPr>
          <a:xfrm>
            <a:off x="1081212" y="448063"/>
            <a:ext cx="2327138" cy="342300"/>
            <a:chOff x="9222012" y="7092438"/>
            <a:chExt cx="2327138" cy="342300"/>
          </a:xfrm>
        </p:grpSpPr>
        <p:pic>
          <p:nvPicPr>
            <p:cNvPr id="3996" name="Google Shape;3996;p155"/>
            <p:cNvPicPr preferRelativeResize="0"/>
            <p:nvPr/>
          </p:nvPicPr>
          <p:blipFill>
            <a:blip r:embed="rId3">
              <a:alphaModFix/>
            </a:blip>
            <a:stretch>
              <a:fillRect/>
            </a:stretch>
          </p:blipFill>
          <p:spPr>
            <a:xfrm>
              <a:off x="9222012" y="7121698"/>
              <a:ext cx="251450" cy="283777"/>
            </a:xfrm>
            <a:prstGeom prst="rect">
              <a:avLst/>
            </a:prstGeom>
            <a:noFill/>
            <a:ln>
              <a:noFill/>
            </a:ln>
          </p:spPr>
        </p:pic>
        <p:sp>
          <p:nvSpPr>
            <p:cNvPr id="3997" name="Google Shape;3997;p155"/>
            <p:cNvSpPr txBox="1"/>
            <p:nvPr/>
          </p:nvSpPr>
          <p:spPr>
            <a:xfrm>
              <a:off x="9469850" y="7092438"/>
              <a:ext cx="2079300" cy="3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RAG application</a:t>
              </a:r>
              <a:endParaRPr sz="1800">
                <a:solidFill>
                  <a:srgbClr val="1B3139"/>
                </a:solidFill>
                <a:latin typeface="DM Sans"/>
                <a:ea typeface="DM Sans"/>
                <a:cs typeface="DM Sans"/>
                <a:sym typeface="DM Sans"/>
              </a:endParaRPr>
            </a:p>
          </p:txBody>
        </p:sp>
      </p:grpSp>
      <p:pic>
        <p:nvPicPr>
          <p:cNvPr id="3998" name="Google Shape;3998;p155"/>
          <p:cNvPicPr preferRelativeResize="0"/>
          <p:nvPr/>
        </p:nvPicPr>
        <p:blipFill rotWithShape="1">
          <a:blip r:embed="rId4">
            <a:alphaModFix/>
          </a:blip>
          <a:srcRect b="0" l="0" r="0" t="0"/>
          <a:stretch/>
        </p:blipFill>
        <p:spPr>
          <a:xfrm>
            <a:off x="450936" y="2829024"/>
            <a:ext cx="400186" cy="400198"/>
          </a:xfrm>
          <a:prstGeom prst="rect">
            <a:avLst/>
          </a:prstGeom>
          <a:noFill/>
          <a:ln>
            <a:noFill/>
          </a:ln>
        </p:spPr>
      </p:pic>
      <p:pic>
        <p:nvPicPr>
          <p:cNvPr id="3999" name="Google Shape;3999;p155"/>
          <p:cNvPicPr preferRelativeResize="0"/>
          <p:nvPr/>
        </p:nvPicPr>
        <p:blipFill rotWithShape="1">
          <a:blip r:embed="rId5">
            <a:alphaModFix/>
          </a:blip>
          <a:srcRect b="0" l="0" r="0" t="0"/>
          <a:stretch/>
        </p:blipFill>
        <p:spPr>
          <a:xfrm>
            <a:off x="851123" y="2829023"/>
            <a:ext cx="400186" cy="400198"/>
          </a:xfrm>
          <a:prstGeom prst="rect">
            <a:avLst/>
          </a:prstGeom>
          <a:noFill/>
          <a:ln>
            <a:noFill/>
          </a:ln>
        </p:spPr>
      </p:pic>
      <p:cxnSp>
        <p:nvCxnSpPr>
          <p:cNvPr id="4000" name="Google Shape;4000;p155"/>
          <p:cNvCxnSpPr>
            <a:endCxn id="4001" idx="1"/>
          </p:cNvCxnSpPr>
          <p:nvPr/>
        </p:nvCxnSpPr>
        <p:spPr>
          <a:xfrm>
            <a:off x="1305175" y="3199092"/>
            <a:ext cx="281400" cy="0"/>
          </a:xfrm>
          <a:prstGeom prst="straightConnector1">
            <a:avLst/>
          </a:prstGeom>
          <a:noFill/>
          <a:ln cap="flat" cmpd="sng" w="19050">
            <a:solidFill>
              <a:srgbClr val="618794"/>
            </a:solidFill>
            <a:prstDash val="dash"/>
            <a:round/>
            <a:headEnd len="med" w="med" type="none"/>
            <a:tailEnd len="med" w="med" type="triangle"/>
          </a:ln>
        </p:spPr>
      </p:cxnSp>
      <p:sp>
        <p:nvSpPr>
          <p:cNvPr id="4002" name="Google Shape;4002;p155"/>
          <p:cNvSpPr/>
          <p:nvPr/>
        </p:nvSpPr>
        <p:spPr>
          <a:xfrm>
            <a:off x="1612525" y="3670092"/>
            <a:ext cx="7059900" cy="6471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Governance and LLMops</a:t>
            </a:r>
            <a:endParaRPr>
              <a:solidFill>
                <a:schemeClr val="accent1"/>
              </a:solidFill>
              <a:latin typeface="DM Sans"/>
              <a:ea typeface="DM Sans"/>
              <a:cs typeface="DM Sans"/>
              <a:sym typeface="DM Sans"/>
            </a:endParaRPr>
          </a:p>
        </p:txBody>
      </p:sp>
      <p:sp>
        <p:nvSpPr>
          <p:cNvPr id="4003" name="Google Shape;4003;p155"/>
          <p:cNvSpPr/>
          <p:nvPr/>
        </p:nvSpPr>
        <p:spPr>
          <a:xfrm>
            <a:off x="1612525" y="1945547"/>
            <a:ext cx="7059900" cy="6471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RAG chain</a:t>
            </a:r>
            <a:endParaRPr>
              <a:solidFill>
                <a:schemeClr val="accent1"/>
              </a:solidFill>
              <a:latin typeface="DM Sans"/>
              <a:ea typeface="DM Sans"/>
              <a:cs typeface="DM Sans"/>
              <a:sym typeface="DM Sans"/>
            </a:endParaRPr>
          </a:p>
        </p:txBody>
      </p:sp>
      <p:cxnSp>
        <p:nvCxnSpPr>
          <p:cNvPr id="4004" name="Google Shape;4004;p155"/>
          <p:cNvCxnSpPr/>
          <p:nvPr/>
        </p:nvCxnSpPr>
        <p:spPr>
          <a:xfrm rot="10800000">
            <a:off x="3548675" y="2588325"/>
            <a:ext cx="0" cy="279300"/>
          </a:xfrm>
          <a:prstGeom prst="straightConnector1">
            <a:avLst/>
          </a:prstGeom>
          <a:noFill/>
          <a:ln cap="flat" cmpd="sng" w="19050">
            <a:solidFill>
              <a:srgbClr val="618794"/>
            </a:solidFill>
            <a:prstDash val="dash"/>
            <a:round/>
            <a:headEnd len="med" w="med" type="none"/>
            <a:tailEnd len="med" w="med" type="triangle"/>
          </a:ln>
        </p:spPr>
      </p:cxnSp>
      <p:sp>
        <p:nvSpPr>
          <p:cNvPr id="4005" name="Google Shape;4005;p155"/>
          <p:cNvSpPr/>
          <p:nvPr/>
        </p:nvSpPr>
        <p:spPr>
          <a:xfrm>
            <a:off x="436175" y="1728288"/>
            <a:ext cx="965100" cy="7962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000">
                <a:latin typeface="DM Sans"/>
                <a:ea typeface="DM Sans"/>
                <a:cs typeface="DM Sans"/>
                <a:sym typeface="DM Sans"/>
              </a:rPr>
              <a:t>User request</a:t>
            </a:r>
            <a:endParaRPr b="1" sz="1000">
              <a:latin typeface="DM Sans"/>
              <a:ea typeface="DM Sans"/>
              <a:cs typeface="DM Sans"/>
              <a:sym typeface="DM Sans"/>
            </a:endParaRPr>
          </a:p>
        </p:txBody>
      </p:sp>
      <p:pic>
        <p:nvPicPr>
          <p:cNvPr id="4006" name="Google Shape;4006;p155"/>
          <p:cNvPicPr preferRelativeResize="0"/>
          <p:nvPr/>
        </p:nvPicPr>
        <p:blipFill rotWithShape="1">
          <a:blip r:embed="rId6">
            <a:alphaModFix/>
          </a:blip>
          <a:srcRect b="0" l="0" r="0" t="0"/>
          <a:stretch/>
        </p:blipFill>
        <p:spPr>
          <a:xfrm>
            <a:off x="718862" y="1927074"/>
            <a:ext cx="400201" cy="398653"/>
          </a:xfrm>
          <a:prstGeom prst="rect">
            <a:avLst/>
          </a:prstGeom>
          <a:noFill/>
          <a:ln>
            <a:noFill/>
          </a:ln>
        </p:spPr>
      </p:pic>
      <p:sp>
        <p:nvSpPr>
          <p:cNvPr id="4007" name="Google Shape;4007;p155"/>
          <p:cNvSpPr/>
          <p:nvPr/>
        </p:nvSpPr>
        <p:spPr>
          <a:xfrm>
            <a:off x="1612525" y="1024425"/>
            <a:ext cx="7059900" cy="6471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Evaluation and monitoring</a:t>
            </a:r>
            <a:endParaRPr>
              <a:solidFill>
                <a:schemeClr val="accent1"/>
              </a:solidFill>
              <a:latin typeface="DM Sans"/>
              <a:ea typeface="DM Sans"/>
              <a:cs typeface="DM Sans"/>
              <a:sym typeface="DM Sans"/>
            </a:endParaRPr>
          </a:p>
        </p:txBody>
      </p:sp>
      <p:sp>
        <p:nvSpPr>
          <p:cNvPr id="4008" name="Google Shape;4008;p155"/>
          <p:cNvSpPr/>
          <p:nvPr/>
        </p:nvSpPr>
        <p:spPr>
          <a:xfrm>
            <a:off x="8978875" y="1728263"/>
            <a:ext cx="965100" cy="7962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000">
                <a:latin typeface="DM Sans"/>
                <a:ea typeface="DM Sans"/>
                <a:cs typeface="DM Sans"/>
                <a:sym typeface="DM Sans"/>
              </a:rPr>
              <a:t>Response</a:t>
            </a:r>
            <a:endParaRPr b="1" sz="1000">
              <a:latin typeface="DM Sans"/>
              <a:ea typeface="DM Sans"/>
              <a:cs typeface="DM Sans"/>
              <a:sym typeface="DM Sans"/>
            </a:endParaRPr>
          </a:p>
        </p:txBody>
      </p:sp>
      <p:pic>
        <p:nvPicPr>
          <p:cNvPr id="4009" name="Google Shape;4009;p155"/>
          <p:cNvPicPr preferRelativeResize="0"/>
          <p:nvPr/>
        </p:nvPicPr>
        <p:blipFill rotWithShape="1">
          <a:blip r:embed="rId6">
            <a:alphaModFix/>
          </a:blip>
          <a:srcRect b="0" l="0" r="0" t="0"/>
          <a:stretch/>
        </p:blipFill>
        <p:spPr>
          <a:xfrm>
            <a:off x="9261562" y="1927049"/>
            <a:ext cx="400201" cy="398653"/>
          </a:xfrm>
          <a:prstGeom prst="rect">
            <a:avLst/>
          </a:prstGeom>
          <a:noFill/>
          <a:ln>
            <a:noFill/>
          </a:ln>
        </p:spPr>
      </p:pic>
      <p:cxnSp>
        <p:nvCxnSpPr>
          <p:cNvPr id="4010" name="Google Shape;4010;p155"/>
          <p:cNvCxnSpPr>
            <a:stCxn id="4003" idx="3"/>
          </p:cNvCxnSpPr>
          <p:nvPr/>
        </p:nvCxnSpPr>
        <p:spPr>
          <a:xfrm>
            <a:off x="8672425" y="2269097"/>
            <a:ext cx="482400" cy="0"/>
          </a:xfrm>
          <a:prstGeom prst="straightConnector1">
            <a:avLst/>
          </a:prstGeom>
          <a:noFill/>
          <a:ln cap="flat" cmpd="sng" w="19050">
            <a:solidFill>
              <a:srgbClr val="618794"/>
            </a:solidFill>
            <a:prstDash val="dash"/>
            <a:round/>
            <a:headEnd len="med" w="med" type="none"/>
            <a:tailEnd len="med" w="med" type="triangle"/>
          </a:ln>
        </p:spPr>
      </p:cxnSp>
      <p:cxnSp>
        <p:nvCxnSpPr>
          <p:cNvPr id="4011" name="Google Shape;4011;p155"/>
          <p:cNvCxnSpPr>
            <a:endCxn id="4003" idx="1"/>
          </p:cNvCxnSpPr>
          <p:nvPr/>
        </p:nvCxnSpPr>
        <p:spPr>
          <a:xfrm>
            <a:off x="1296025" y="2269097"/>
            <a:ext cx="316500" cy="0"/>
          </a:xfrm>
          <a:prstGeom prst="straightConnector1">
            <a:avLst/>
          </a:prstGeom>
          <a:noFill/>
          <a:ln cap="flat" cmpd="sng" w="19050">
            <a:solidFill>
              <a:srgbClr val="618794"/>
            </a:solidFill>
            <a:prstDash val="dash"/>
            <a:round/>
            <a:headEnd len="med" w="med" type="none"/>
            <a:tailEnd len="med" w="med" type="triangle"/>
          </a:ln>
        </p:spPr>
      </p:cxnSp>
      <p:sp>
        <p:nvSpPr>
          <p:cNvPr id="4001" name="Google Shape;4001;p155"/>
          <p:cNvSpPr/>
          <p:nvPr/>
        </p:nvSpPr>
        <p:spPr>
          <a:xfrm>
            <a:off x="1586575" y="2875542"/>
            <a:ext cx="7059900" cy="6471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Data pipeline</a:t>
            </a:r>
            <a:endParaRPr>
              <a:solidFill>
                <a:schemeClr val="accent1"/>
              </a:solidFill>
              <a:latin typeface="DM Sans"/>
              <a:ea typeface="DM Sans"/>
              <a:cs typeface="DM Sans"/>
              <a:sym typeface="DM San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5" name="Shape 4015"/>
        <p:cNvGrpSpPr/>
        <p:nvPr/>
      </p:nvGrpSpPr>
      <p:grpSpPr>
        <a:xfrm>
          <a:off x="0" y="0"/>
          <a:ext cx="0" cy="0"/>
          <a:chOff x="0" y="0"/>
          <a:chExt cx="0" cy="0"/>
        </a:xfrm>
      </p:grpSpPr>
      <p:sp>
        <p:nvSpPr>
          <p:cNvPr id="4016" name="Google Shape;4016;p156"/>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Multi-agent framework</a:t>
            </a:r>
            <a:r>
              <a:rPr lang="en" sz="1200">
                <a:solidFill>
                  <a:schemeClr val="accent1"/>
                </a:solidFill>
                <a:latin typeface="DM Sans Medium"/>
                <a:ea typeface="DM Sans Medium"/>
                <a:cs typeface="DM Sans Medium"/>
                <a:sym typeface="DM Sans Medium"/>
              </a:rPr>
              <a:t> </a:t>
            </a:r>
            <a:r>
              <a:rPr lang="en" sz="1200">
                <a:solidFill>
                  <a:schemeClr val="accent1"/>
                </a:solidFill>
                <a:latin typeface="DM Sans Medium"/>
                <a:ea typeface="DM Sans Medium"/>
                <a:cs typeface="DM Sans Medium"/>
                <a:sym typeface="DM Sans Medium"/>
              </a:rPr>
              <a:t>static/images/generative-ai/multi-agent-framework.png</a:t>
            </a:r>
            <a:endParaRPr sz="200"/>
          </a:p>
        </p:txBody>
      </p:sp>
      <p:grpSp>
        <p:nvGrpSpPr>
          <p:cNvPr id="4017" name="Google Shape;4017;p156"/>
          <p:cNvGrpSpPr/>
          <p:nvPr/>
        </p:nvGrpSpPr>
        <p:grpSpPr>
          <a:xfrm>
            <a:off x="1081212" y="448063"/>
            <a:ext cx="2327138" cy="342300"/>
            <a:chOff x="9222012" y="7092438"/>
            <a:chExt cx="2327138" cy="342300"/>
          </a:xfrm>
        </p:grpSpPr>
        <p:pic>
          <p:nvPicPr>
            <p:cNvPr id="4018" name="Google Shape;4018;p156"/>
            <p:cNvPicPr preferRelativeResize="0"/>
            <p:nvPr/>
          </p:nvPicPr>
          <p:blipFill>
            <a:blip r:embed="rId3">
              <a:alphaModFix/>
            </a:blip>
            <a:stretch>
              <a:fillRect/>
            </a:stretch>
          </p:blipFill>
          <p:spPr>
            <a:xfrm>
              <a:off x="9222012" y="7121698"/>
              <a:ext cx="251450" cy="283777"/>
            </a:xfrm>
            <a:prstGeom prst="rect">
              <a:avLst/>
            </a:prstGeom>
            <a:noFill/>
            <a:ln>
              <a:noFill/>
            </a:ln>
          </p:spPr>
        </p:pic>
        <p:sp>
          <p:nvSpPr>
            <p:cNvPr id="4019" name="Google Shape;4019;p156"/>
            <p:cNvSpPr txBox="1"/>
            <p:nvPr/>
          </p:nvSpPr>
          <p:spPr>
            <a:xfrm>
              <a:off x="9469850" y="7092438"/>
              <a:ext cx="2079300" cy="3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RAG application</a:t>
              </a:r>
              <a:endParaRPr sz="1800">
                <a:solidFill>
                  <a:srgbClr val="1B3139"/>
                </a:solidFill>
                <a:latin typeface="DM Sans"/>
                <a:ea typeface="DM Sans"/>
                <a:cs typeface="DM Sans"/>
                <a:sym typeface="DM Sans"/>
              </a:endParaRPr>
            </a:p>
          </p:txBody>
        </p:sp>
      </p:grpSp>
      <p:sp>
        <p:nvSpPr>
          <p:cNvPr id="4020" name="Google Shape;4020;p156"/>
          <p:cNvSpPr/>
          <p:nvPr/>
        </p:nvSpPr>
        <p:spPr>
          <a:xfrm>
            <a:off x="3876820" y="2988900"/>
            <a:ext cx="925500" cy="67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t/>
            </a:r>
            <a:endParaRPr b="1" sz="1100">
              <a:latin typeface="DM Sans"/>
              <a:ea typeface="DM Sans"/>
              <a:cs typeface="DM Sans"/>
              <a:sym typeface="DM Sans"/>
            </a:endParaRPr>
          </a:p>
        </p:txBody>
      </p:sp>
      <p:sp>
        <p:nvSpPr>
          <p:cNvPr id="4021" name="Google Shape;4021;p156"/>
          <p:cNvSpPr/>
          <p:nvPr/>
        </p:nvSpPr>
        <p:spPr>
          <a:xfrm>
            <a:off x="3913275" y="1857850"/>
            <a:ext cx="852600" cy="852600"/>
          </a:xfrm>
          <a:prstGeom prst="ellipse">
            <a:avLst/>
          </a:prstGeom>
          <a:solidFill>
            <a:srgbClr val="FFFFFF"/>
          </a:solidFill>
          <a:ln cap="flat" cmpd="sng" w="19050">
            <a:solidFill>
              <a:srgbClr val="00AD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DM Sans"/>
              <a:ea typeface="DM Sans"/>
              <a:cs typeface="DM Sans"/>
              <a:sym typeface="DM Sans"/>
            </a:endParaRPr>
          </a:p>
        </p:txBody>
      </p:sp>
      <p:sp>
        <p:nvSpPr>
          <p:cNvPr id="4022" name="Google Shape;4022;p156"/>
          <p:cNvSpPr txBox="1"/>
          <p:nvPr/>
        </p:nvSpPr>
        <p:spPr>
          <a:xfrm>
            <a:off x="3913275" y="2108650"/>
            <a:ext cx="852600" cy="35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DM Sans"/>
                <a:ea typeface="DM Sans"/>
                <a:cs typeface="DM Sans"/>
                <a:sym typeface="DM Sans"/>
              </a:rPr>
              <a:t>_start_</a:t>
            </a:r>
            <a:endParaRPr b="1" sz="1100">
              <a:solidFill>
                <a:schemeClr val="dk1"/>
              </a:solidFill>
              <a:latin typeface="DM Sans"/>
              <a:ea typeface="DM Sans"/>
              <a:cs typeface="DM Sans"/>
              <a:sym typeface="DM Sans"/>
            </a:endParaRPr>
          </a:p>
        </p:txBody>
      </p:sp>
      <p:sp>
        <p:nvSpPr>
          <p:cNvPr id="4023" name="Google Shape;4023;p156"/>
          <p:cNvSpPr/>
          <p:nvPr/>
        </p:nvSpPr>
        <p:spPr>
          <a:xfrm>
            <a:off x="2878445" y="4016225"/>
            <a:ext cx="925500" cy="67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GenieAgent</a:t>
            </a:r>
            <a:endParaRPr b="1" sz="1100">
              <a:latin typeface="DM Sans"/>
              <a:ea typeface="DM Sans"/>
              <a:cs typeface="DM Sans"/>
              <a:sym typeface="DM Sans"/>
            </a:endParaRPr>
          </a:p>
        </p:txBody>
      </p:sp>
      <p:sp>
        <p:nvSpPr>
          <p:cNvPr id="4024" name="Google Shape;4024;p156"/>
          <p:cNvSpPr/>
          <p:nvPr/>
        </p:nvSpPr>
        <p:spPr>
          <a:xfrm>
            <a:off x="3911608" y="4016225"/>
            <a:ext cx="925500" cy="67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Agent1</a:t>
            </a:r>
            <a:r>
              <a:rPr b="1" lang="en" sz="1100">
                <a:latin typeface="DM Sans"/>
                <a:ea typeface="DM Sans"/>
                <a:cs typeface="DM Sans"/>
                <a:sym typeface="DM Sans"/>
              </a:rPr>
              <a:t> </a:t>
            </a:r>
            <a:endParaRPr b="1" sz="1100">
              <a:latin typeface="DM Sans"/>
              <a:ea typeface="DM Sans"/>
              <a:cs typeface="DM Sans"/>
              <a:sym typeface="DM Sans"/>
            </a:endParaRPr>
          </a:p>
        </p:txBody>
      </p:sp>
      <p:sp>
        <p:nvSpPr>
          <p:cNvPr id="4025" name="Google Shape;4025;p156"/>
          <p:cNvSpPr/>
          <p:nvPr/>
        </p:nvSpPr>
        <p:spPr>
          <a:xfrm>
            <a:off x="6047163" y="3928025"/>
            <a:ext cx="852600" cy="852600"/>
          </a:xfrm>
          <a:prstGeom prst="ellipse">
            <a:avLst/>
          </a:prstGeom>
          <a:solidFill>
            <a:srgbClr val="FFFFFF"/>
          </a:solidFill>
          <a:ln cap="flat" cmpd="sng" w="19050">
            <a:solidFill>
              <a:srgbClr val="00AD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DM Sans"/>
              <a:ea typeface="DM Sans"/>
              <a:cs typeface="DM Sans"/>
              <a:sym typeface="DM Sans"/>
            </a:endParaRPr>
          </a:p>
        </p:txBody>
      </p:sp>
      <p:sp>
        <p:nvSpPr>
          <p:cNvPr id="4026" name="Google Shape;4026;p156"/>
          <p:cNvSpPr txBox="1"/>
          <p:nvPr/>
        </p:nvSpPr>
        <p:spPr>
          <a:xfrm>
            <a:off x="6047163" y="4178825"/>
            <a:ext cx="852600" cy="35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DM Sans"/>
                <a:ea typeface="DM Sans"/>
                <a:cs typeface="DM Sans"/>
                <a:sym typeface="DM Sans"/>
              </a:rPr>
              <a:t>_end_</a:t>
            </a:r>
            <a:endParaRPr b="1" sz="1100">
              <a:solidFill>
                <a:schemeClr val="dk1"/>
              </a:solidFill>
              <a:latin typeface="DM Sans"/>
              <a:ea typeface="DM Sans"/>
              <a:cs typeface="DM Sans"/>
              <a:sym typeface="DM Sans"/>
            </a:endParaRPr>
          </a:p>
        </p:txBody>
      </p:sp>
      <p:cxnSp>
        <p:nvCxnSpPr>
          <p:cNvPr id="4027" name="Google Shape;4027;p156"/>
          <p:cNvCxnSpPr>
            <a:stCxn id="4028" idx="1"/>
            <a:endCxn id="4023" idx="0"/>
          </p:cNvCxnSpPr>
          <p:nvPr/>
        </p:nvCxnSpPr>
        <p:spPr>
          <a:xfrm flipH="1">
            <a:off x="3341175" y="3331775"/>
            <a:ext cx="502500" cy="684600"/>
          </a:xfrm>
          <a:prstGeom prst="curvedConnector2">
            <a:avLst/>
          </a:prstGeom>
          <a:noFill/>
          <a:ln cap="flat" cmpd="sng" w="9525">
            <a:solidFill>
              <a:schemeClr val="dk1"/>
            </a:solidFill>
            <a:prstDash val="dash"/>
            <a:round/>
            <a:headEnd len="med" w="med" type="none"/>
            <a:tailEnd len="med" w="med" type="triangle"/>
          </a:ln>
        </p:spPr>
      </p:cxnSp>
      <p:cxnSp>
        <p:nvCxnSpPr>
          <p:cNvPr id="4029" name="Google Shape;4029;p156"/>
          <p:cNvCxnSpPr/>
          <p:nvPr/>
        </p:nvCxnSpPr>
        <p:spPr>
          <a:xfrm flipH="1" rot="10800000">
            <a:off x="3563325" y="3665625"/>
            <a:ext cx="348900" cy="321900"/>
          </a:xfrm>
          <a:prstGeom prst="curvedConnector3">
            <a:avLst>
              <a:gd fmla="val 88435" name="adj1"/>
            </a:avLst>
          </a:prstGeom>
          <a:noFill/>
          <a:ln cap="flat" cmpd="sng" w="9525">
            <a:solidFill>
              <a:schemeClr val="dk1"/>
            </a:solidFill>
            <a:prstDash val="solid"/>
            <a:round/>
            <a:headEnd len="med" w="med" type="none"/>
            <a:tailEnd len="med" w="med" type="triangle"/>
          </a:ln>
        </p:spPr>
      </p:cxnSp>
      <p:cxnSp>
        <p:nvCxnSpPr>
          <p:cNvPr id="4030" name="Google Shape;4030;p156"/>
          <p:cNvCxnSpPr>
            <a:stCxn id="4020" idx="3"/>
            <a:endCxn id="4025" idx="0"/>
          </p:cNvCxnSpPr>
          <p:nvPr/>
        </p:nvCxnSpPr>
        <p:spPr>
          <a:xfrm>
            <a:off x="4802320" y="3327000"/>
            <a:ext cx="1671000" cy="600900"/>
          </a:xfrm>
          <a:prstGeom prst="curvedConnector2">
            <a:avLst/>
          </a:prstGeom>
          <a:noFill/>
          <a:ln cap="flat" cmpd="sng" w="9525">
            <a:solidFill>
              <a:schemeClr val="dk1"/>
            </a:solidFill>
            <a:prstDash val="dash"/>
            <a:round/>
            <a:headEnd len="med" w="med" type="none"/>
            <a:tailEnd len="med" w="med" type="triangle"/>
          </a:ln>
        </p:spPr>
      </p:cxnSp>
      <p:sp>
        <p:nvSpPr>
          <p:cNvPr id="4028" name="Google Shape;4028;p156"/>
          <p:cNvSpPr txBox="1"/>
          <p:nvPr/>
        </p:nvSpPr>
        <p:spPr>
          <a:xfrm>
            <a:off x="3843675" y="3156275"/>
            <a:ext cx="991800" cy="35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DM Sans"/>
                <a:ea typeface="DM Sans"/>
                <a:cs typeface="DM Sans"/>
                <a:sym typeface="DM Sans"/>
              </a:rPr>
              <a:t>supervisor</a:t>
            </a:r>
            <a:endParaRPr b="1" sz="1100">
              <a:solidFill>
                <a:schemeClr val="dk1"/>
              </a:solidFill>
              <a:latin typeface="DM Sans"/>
              <a:ea typeface="DM Sans"/>
              <a:cs typeface="DM Sans"/>
              <a:sym typeface="DM Sans"/>
            </a:endParaRPr>
          </a:p>
        </p:txBody>
      </p:sp>
      <p:cxnSp>
        <p:nvCxnSpPr>
          <p:cNvPr id="4031" name="Google Shape;4031;p156"/>
          <p:cNvCxnSpPr>
            <a:endCxn id="4024" idx="0"/>
          </p:cNvCxnSpPr>
          <p:nvPr/>
        </p:nvCxnSpPr>
        <p:spPr>
          <a:xfrm flipH="1" rot="-5400000">
            <a:off x="4088308" y="3730175"/>
            <a:ext cx="341400" cy="230700"/>
          </a:xfrm>
          <a:prstGeom prst="curvedConnector3">
            <a:avLst>
              <a:gd fmla="val 50000" name="adj1"/>
            </a:avLst>
          </a:prstGeom>
          <a:noFill/>
          <a:ln cap="flat" cmpd="sng" w="9525">
            <a:solidFill>
              <a:schemeClr val="dk1"/>
            </a:solidFill>
            <a:prstDash val="dash"/>
            <a:round/>
            <a:headEnd len="med" w="med" type="none"/>
            <a:tailEnd len="med" w="med" type="triangle"/>
          </a:ln>
        </p:spPr>
      </p:cxnSp>
      <p:cxnSp>
        <p:nvCxnSpPr>
          <p:cNvPr id="4032" name="Google Shape;4032;p156"/>
          <p:cNvCxnSpPr/>
          <p:nvPr/>
        </p:nvCxnSpPr>
        <p:spPr>
          <a:xfrm rot="-5400000">
            <a:off x="4360275" y="3763625"/>
            <a:ext cx="332400" cy="156600"/>
          </a:xfrm>
          <a:prstGeom prst="curvedConnector3">
            <a:avLst>
              <a:gd fmla="val 50000" name="adj1"/>
            </a:avLst>
          </a:prstGeom>
          <a:noFill/>
          <a:ln cap="flat" cmpd="sng" w="9525">
            <a:solidFill>
              <a:schemeClr val="dk1"/>
            </a:solidFill>
            <a:prstDash val="solid"/>
            <a:round/>
            <a:headEnd len="med" w="med" type="none"/>
            <a:tailEnd len="med" w="med" type="triangle"/>
          </a:ln>
        </p:spPr>
      </p:cxnSp>
      <p:sp>
        <p:nvSpPr>
          <p:cNvPr id="4033" name="Google Shape;4033;p156"/>
          <p:cNvSpPr/>
          <p:nvPr/>
        </p:nvSpPr>
        <p:spPr>
          <a:xfrm>
            <a:off x="5677600" y="3395225"/>
            <a:ext cx="548700" cy="280500"/>
          </a:xfrm>
          <a:prstGeom prst="roundRect">
            <a:avLst>
              <a:gd fmla="val 16667" name="adj"/>
            </a:avLst>
          </a:prstGeom>
          <a:solidFill>
            <a:srgbClr val="EEED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DM Sans"/>
                <a:ea typeface="DM Sans"/>
                <a:cs typeface="DM Sans"/>
                <a:sym typeface="DM Sans"/>
              </a:rPr>
              <a:t>FINISH</a:t>
            </a:r>
            <a:endParaRPr sz="900">
              <a:latin typeface="DM Sans"/>
              <a:ea typeface="DM Sans"/>
              <a:cs typeface="DM Sans"/>
              <a:sym typeface="DM Sans"/>
            </a:endParaRPr>
          </a:p>
        </p:txBody>
      </p:sp>
      <p:cxnSp>
        <p:nvCxnSpPr>
          <p:cNvPr id="4034" name="Google Shape;4034;p156"/>
          <p:cNvCxnSpPr>
            <a:stCxn id="4021" idx="4"/>
            <a:endCxn id="4020" idx="0"/>
          </p:cNvCxnSpPr>
          <p:nvPr/>
        </p:nvCxnSpPr>
        <p:spPr>
          <a:xfrm flipH="1" rot="-5400000">
            <a:off x="4200675" y="2849350"/>
            <a:ext cx="278400" cy="600"/>
          </a:xfrm>
          <a:prstGeom prst="curvedConnector3">
            <a:avLst>
              <a:gd fmla="val 50009" name="adj1"/>
            </a:avLst>
          </a:prstGeom>
          <a:noFill/>
          <a:ln cap="flat" cmpd="sng" w="9525">
            <a:solidFill>
              <a:schemeClr val="dk1"/>
            </a:solidFill>
            <a:prstDash val="dash"/>
            <a:round/>
            <a:headEnd len="med" w="med" type="none"/>
            <a:tailEnd len="med" w="med" type="triangle"/>
          </a:ln>
        </p:spPr>
      </p:cxnSp>
      <p:sp>
        <p:nvSpPr>
          <p:cNvPr id="4035" name="Google Shape;4035;p156"/>
          <p:cNvSpPr/>
          <p:nvPr/>
        </p:nvSpPr>
        <p:spPr>
          <a:xfrm>
            <a:off x="4944758" y="4016225"/>
            <a:ext cx="925500" cy="67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Agent2 </a:t>
            </a:r>
            <a:endParaRPr b="1" sz="1100">
              <a:latin typeface="DM Sans"/>
              <a:ea typeface="DM Sans"/>
              <a:cs typeface="DM Sans"/>
              <a:sym typeface="DM Sans"/>
            </a:endParaRPr>
          </a:p>
        </p:txBody>
      </p:sp>
      <p:cxnSp>
        <p:nvCxnSpPr>
          <p:cNvPr id="4036" name="Google Shape;4036;p156"/>
          <p:cNvCxnSpPr>
            <a:endCxn id="4035" idx="0"/>
          </p:cNvCxnSpPr>
          <p:nvPr/>
        </p:nvCxnSpPr>
        <p:spPr>
          <a:xfrm>
            <a:off x="4837808" y="3471125"/>
            <a:ext cx="569700" cy="545100"/>
          </a:xfrm>
          <a:prstGeom prst="curvedConnector2">
            <a:avLst/>
          </a:prstGeom>
          <a:noFill/>
          <a:ln cap="flat" cmpd="sng" w="9525">
            <a:solidFill>
              <a:schemeClr val="dk1"/>
            </a:solidFill>
            <a:prstDash val="dash"/>
            <a:round/>
            <a:headEnd len="med" w="med" type="none"/>
            <a:tailEnd len="med" w="med" type="triangle"/>
          </a:ln>
        </p:spPr>
      </p:cxnSp>
      <p:cxnSp>
        <p:nvCxnSpPr>
          <p:cNvPr id="4037" name="Google Shape;4037;p156"/>
          <p:cNvCxnSpPr/>
          <p:nvPr/>
        </p:nvCxnSpPr>
        <p:spPr>
          <a:xfrm rot="10800000">
            <a:off x="4765883" y="3654975"/>
            <a:ext cx="359100" cy="343200"/>
          </a:xfrm>
          <a:prstGeom prst="curvedConnector3">
            <a:avLst>
              <a:gd fmla="val 90694" name="adj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4041" name="Shape 4041"/>
        <p:cNvGrpSpPr/>
        <p:nvPr/>
      </p:nvGrpSpPr>
      <p:grpSpPr>
        <a:xfrm>
          <a:off x="0" y="0"/>
          <a:ext cx="0" cy="0"/>
          <a:chOff x="0" y="0"/>
          <a:chExt cx="0" cy="0"/>
        </a:xfrm>
      </p:grpSpPr>
      <p:sp>
        <p:nvSpPr>
          <p:cNvPr id="4042" name="Google Shape;4042;p157"/>
          <p:cNvSpPr txBox="1"/>
          <p:nvPr/>
        </p:nvSpPr>
        <p:spPr>
          <a:xfrm>
            <a:off x="0" y="0"/>
            <a:ext cx="113571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Example agent system</a:t>
            </a:r>
            <a:r>
              <a:rPr lang="en">
                <a:solidFill>
                  <a:schemeClr val="accent1"/>
                </a:solidFill>
                <a:latin typeface="DM Sans Medium"/>
                <a:ea typeface="DM Sans Medium"/>
                <a:cs typeface="DM Sans Medium"/>
                <a:sym typeface="DM Sans Medium"/>
              </a:rPr>
              <a:t>    /_static/images/generative-ai/guide/example-ai-agent-system.png</a:t>
            </a:r>
            <a:endParaRPr sz="500"/>
          </a:p>
        </p:txBody>
      </p:sp>
      <p:sp>
        <p:nvSpPr>
          <p:cNvPr id="4043" name="Google Shape;4043;p157"/>
          <p:cNvSpPr/>
          <p:nvPr/>
        </p:nvSpPr>
        <p:spPr>
          <a:xfrm>
            <a:off x="1937075" y="1374275"/>
            <a:ext cx="6173400" cy="304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highlight>
                <a:srgbClr val="325C69"/>
              </a:highlight>
            </a:endParaRPr>
          </a:p>
        </p:txBody>
      </p:sp>
      <p:sp>
        <p:nvSpPr>
          <p:cNvPr id="4044" name="Google Shape;4044;p157"/>
          <p:cNvSpPr/>
          <p:nvPr/>
        </p:nvSpPr>
        <p:spPr>
          <a:xfrm>
            <a:off x="4740375" y="2254301"/>
            <a:ext cx="922600" cy="1350325"/>
          </a:xfrm>
          <a:prstGeom prst="flowChartProcess">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045" name="Google Shape;4045;p157"/>
          <p:cNvCxnSpPr/>
          <p:nvPr/>
        </p:nvCxnSpPr>
        <p:spPr>
          <a:xfrm rot="5400000">
            <a:off x="6971375" y="2083300"/>
            <a:ext cx="192900" cy="600"/>
          </a:xfrm>
          <a:prstGeom prst="bentConnector3">
            <a:avLst>
              <a:gd fmla="val 7672" name="adj1"/>
            </a:avLst>
          </a:prstGeom>
          <a:noFill/>
          <a:ln cap="flat" cmpd="sng" w="19050">
            <a:solidFill>
              <a:schemeClr val="dk1"/>
            </a:solidFill>
            <a:prstDash val="solid"/>
            <a:round/>
            <a:headEnd len="med" w="med" type="none"/>
            <a:tailEnd len="med" w="med" type="triangle"/>
          </a:ln>
        </p:spPr>
      </p:cxnSp>
      <p:cxnSp>
        <p:nvCxnSpPr>
          <p:cNvPr id="4046" name="Google Shape;4046;p157"/>
          <p:cNvCxnSpPr/>
          <p:nvPr/>
        </p:nvCxnSpPr>
        <p:spPr>
          <a:xfrm flipH="1">
            <a:off x="3982475" y="2515305"/>
            <a:ext cx="717300" cy="600"/>
          </a:xfrm>
          <a:prstGeom prst="bentConnector3">
            <a:avLst>
              <a:gd fmla="val 112376" name="adj1"/>
            </a:avLst>
          </a:prstGeom>
          <a:noFill/>
          <a:ln cap="flat" cmpd="sng" w="19050">
            <a:solidFill>
              <a:schemeClr val="dk1"/>
            </a:solidFill>
            <a:prstDash val="solid"/>
            <a:round/>
            <a:headEnd len="med" w="med" type="triangle"/>
            <a:tailEnd len="med" w="med" type="none"/>
          </a:ln>
        </p:spPr>
      </p:cxnSp>
      <p:cxnSp>
        <p:nvCxnSpPr>
          <p:cNvPr id="4047" name="Google Shape;4047;p157"/>
          <p:cNvCxnSpPr>
            <a:endCxn id="4048" idx="1"/>
          </p:cNvCxnSpPr>
          <p:nvPr/>
        </p:nvCxnSpPr>
        <p:spPr>
          <a:xfrm flipH="1" rot="10800000">
            <a:off x="5684025" y="1815450"/>
            <a:ext cx="768300" cy="662100"/>
          </a:xfrm>
          <a:prstGeom prst="bentConnector3">
            <a:avLst>
              <a:gd fmla="val 50000" name="adj1"/>
            </a:avLst>
          </a:prstGeom>
          <a:noFill/>
          <a:ln cap="flat" cmpd="sng" w="19050">
            <a:solidFill>
              <a:schemeClr val="dk1"/>
            </a:solidFill>
            <a:prstDash val="solid"/>
            <a:round/>
            <a:headEnd len="med" w="med" type="none"/>
            <a:tailEnd len="med" w="med" type="triangle"/>
          </a:ln>
        </p:spPr>
      </p:cxnSp>
      <p:cxnSp>
        <p:nvCxnSpPr>
          <p:cNvPr id="4049" name="Google Shape;4049;p157"/>
          <p:cNvCxnSpPr/>
          <p:nvPr/>
        </p:nvCxnSpPr>
        <p:spPr>
          <a:xfrm rot="-5400000">
            <a:off x="6936950" y="3775455"/>
            <a:ext cx="129900" cy="600"/>
          </a:xfrm>
          <a:prstGeom prst="bentConnector3">
            <a:avLst>
              <a:gd fmla="val 50000" name="adj1"/>
            </a:avLst>
          </a:prstGeom>
          <a:noFill/>
          <a:ln cap="flat" cmpd="sng" w="9525">
            <a:solidFill>
              <a:srgbClr val="F9F7F4"/>
            </a:solidFill>
            <a:prstDash val="dot"/>
            <a:round/>
            <a:headEnd len="med" w="med" type="none"/>
            <a:tailEnd len="med" w="med" type="none"/>
          </a:ln>
        </p:spPr>
      </p:cxnSp>
      <p:cxnSp>
        <p:nvCxnSpPr>
          <p:cNvPr id="4050" name="Google Shape;4050;p157"/>
          <p:cNvCxnSpPr>
            <a:stCxn id="4051" idx="0"/>
          </p:cNvCxnSpPr>
          <p:nvPr/>
        </p:nvCxnSpPr>
        <p:spPr>
          <a:xfrm rot="-5400000">
            <a:off x="9128975" y="1828155"/>
            <a:ext cx="150300" cy="600"/>
          </a:xfrm>
          <a:prstGeom prst="bentConnector3">
            <a:avLst>
              <a:gd fmla="val 50000" name="adj1"/>
            </a:avLst>
          </a:prstGeom>
          <a:noFill/>
          <a:ln cap="flat" cmpd="sng" w="9525">
            <a:solidFill>
              <a:srgbClr val="F9F7F4"/>
            </a:solidFill>
            <a:prstDash val="dot"/>
            <a:round/>
            <a:headEnd len="med" w="med" type="none"/>
            <a:tailEnd len="med" w="med" type="none"/>
          </a:ln>
        </p:spPr>
      </p:cxnSp>
      <p:cxnSp>
        <p:nvCxnSpPr>
          <p:cNvPr id="4052" name="Google Shape;4052;p157"/>
          <p:cNvCxnSpPr>
            <a:stCxn id="4044" idx="2"/>
          </p:cNvCxnSpPr>
          <p:nvPr/>
        </p:nvCxnSpPr>
        <p:spPr>
          <a:xfrm rot="-5400000">
            <a:off x="5733875" y="2340426"/>
            <a:ext cx="732000" cy="1796400"/>
          </a:xfrm>
          <a:prstGeom prst="bentConnector4">
            <a:avLst>
              <a:gd fmla="val -95720" name="adj1"/>
              <a:gd fmla="val 102807" name="adj2"/>
            </a:avLst>
          </a:prstGeom>
          <a:noFill/>
          <a:ln cap="flat" cmpd="sng" w="19050">
            <a:solidFill>
              <a:schemeClr val="dk1"/>
            </a:solidFill>
            <a:prstDash val="solid"/>
            <a:round/>
            <a:headEnd len="med" w="med" type="triangle"/>
            <a:tailEnd len="med" w="med" type="none"/>
          </a:ln>
        </p:spPr>
      </p:cxnSp>
      <p:sp>
        <p:nvSpPr>
          <p:cNvPr id="4053" name="Google Shape;4053;p157"/>
          <p:cNvSpPr txBox="1"/>
          <p:nvPr/>
        </p:nvSpPr>
        <p:spPr>
          <a:xfrm>
            <a:off x="3123136" y="1724063"/>
            <a:ext cx="1414500" cy="489300"/>
          </a:xfrm>
          <a:prstGeom prst="rect">
            <a:avLst/>
          </a:prstGeom>
          <a:noFill/>
          <a:ln cap="flat" cmpd="sng" w="9525">
            <a:solidFill>
              <a:schemeClr val="lt2"/>
            </a:solidFill>
            <a:prstDash val="dot"/>
            <a:round/>
            <a:headEnd len="sm" w="sm" type="none"/>
            <a:tailEnd len="sm" w="sm" type="none"/>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dk1"/>
                </a:solidFill>
                <a:latin typeface="DM Sans Medium"/>
                <a:ea typeface="DM Sans Medium"/>
                <a:cs typeface="DM Sans Medium"/>
                <a:sym typeface="DM Sans Medium"/>
              </a:rPr>
              <a:t>“Help me return my last order.”</a:t>
            </a:r>
            <a:endParaRPr i="1" sz="1100">
              <a:solidFill>
                <a:schemeClr val="dk1"/>
              </a:solidFill>
              <a:latin typeface="DM Sans"/>
              <a:ea typeface="DM Sans"/>
              <a:cs typeface="DM Sans"/>
              <a:sym typeface="DM Sans"/>
            </a:endParaRPr>
          </a:p>
        </p:txBody>
      </p:sp>
      <p:sp>
        <p:nvSpPr>
          <p:cNvPr id="4054" name="Google Shape;4054;p157"/>
          <p:cNvSpPr/>
          <p:nvPr/>
        </p:nvSpPr>
        <p:spPr>
          <a:xfrm flipH="1">
            <a:off x="2961233" y="1571675"/>
            <a:ext cx="1478400" cy="794100"/>
          </a:xfrm>
          <a:prstGeom prst="flowChartMagneticTap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4055" name="Google Shape;4055;p157"/>
          <p:cNvGrpSpPr/>
          <p:nvPr/>
        </p:nvGrpSpPr>
        <p:grpSpPr>
          <a:xfrm>
            <a:off x="2207707" y="2331406"/>
            <a:ext cx="1031700" cy="670493"/>
            <a:chOff x="1579332" y="2604275"/>
            <a:chExt cx="1031700" cy="670493"/>
          </a:xfrm>
        </p:grpSpPr>
        <p:pic>
          <p:nvPicPr>
            <p:cNvPr id="4056" name="Google Shape;4056;p157"/>
            <p:cNvPicPr preferRelativeResize="0"/>
            <p:nvPr/>
          </p:nvPicPr>
          <p:blipFill>
            <a:blip r:embed="rId3">
              <a:alphaModFix/>
            </a:blip>
            <a:stretch>
              <a:fillRect/>
            </a:stretch>
          </p:blipFill>
          <p:spPr>
            <a:xfrm>
              <a:off x="1933025" y="2604275"/>
              <a:ext cx="324299" cy="392699"/>
            </a:xfrm>
            <a:prstGeom prst="rect">
              <a:avLst/>
            </a:prstGeom>
            <a:noFill/>
            <a:ln>
              <a:noFill/>
            </a:ln>
          </p:spPr>
        </p:pic>
        <p:sp>
          <p:nvSpPr>
            <p:cNvPr id="4057" name="Google Shape;4057;p157"/>
            <p:cNvSpPr txBox="1"/>
            <p:nvPr/>
          </p:nvSpPr>
          <p:spPr>
            <a:xfrm>
              <a:off x="1579332" y="2920768"/>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595959"/>
                  </a:solidFill>
                  <a:latin typeface="DM Sans"/>
                  <a:ea typeface="DM Sans"/>
                  <a:cs typeface="DM Sans"/>
                  <a:sym typeface="DM Sans"/>
                </a:rPr>
                <a:t>Customer</a:t>
              </a:r>
              <a:endParaRPr>
                <a:solidFill>
                  <a:srgbClr val="595959"/>
                </a:solidFill>
                <a:latin typeface="DM Sans"/>
                <a:ea typeface="DM Sans"/>
                <a:cs typeface="DM Sans"/>
                <a:sym typeface="DM Sans"/>
              </a:endParaRPr>
            </a:p>
          </p:txBody>
        </p:sp>
      </p:grpSp>
      <p:pic>
        <p:nvPicPr>
          <p:cNvPr id="4058" name="Google Shape;4058;p157"/>
          <p:cNvPicPr preferRelativeResize="0"/>
          <p:nvPr/>
        </p:nvPicPr>
        <p:blipFill rotWithShape="1">
          <a:blip r:embed="rId4">
            <a:alphaModFix/>
          </a:blip>
          <a:srcRect b="0" l="0" r="0" t="0"/>
          <a:stretch/>
        </p:blipFill>
        <p:spPr>
          <a:xfrm>
            <a:off x="4906904" y="2525499"/>
            <a:ext cx="589546" cy="587101"/>
          </a:xfrm>
          <a:prstGeom prst="rect">
            <a:avLst/>
          </a:prstGeom>
          <a:noFill/>
          <a:ln>
            <a:noFill/>
          </a:ln>
        </p:spPr>
      </p:pic>
      <p:sp>
        <p:nvSpPr>
          <p:cNvPr id="4059" name="Google Shape;4059;p157"/>
          <p:cNvSpPr txBox="1"/>
          <p:nvPr/>
        </p:nvSpPr>
        <p:spPr>
          <a:xfrm>
            <a:off x="4782413" y="3182175"/>
            <a:ext cx="838500" cy="35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DM Sans"/>
                <a:ea typeface="DM Sans"/>
                <a:cs typeface="DM Sans"/>
                <a:sym typeface="DM Sans"/>
              </a:rPr>
              <a:t>Agent</a:t>
            </a:r>
            <a:endParaRPr sz="1500">
              <a:solidFill>
                <a:schemeClr val="dk1"/>
              </a:solidFill>
              <a:latin typeface="DM Sans"/>
              <a:ea typeface="DM Sans"/>
              <a:cs typeface="DM Sans"/>
              <a:sym typeface="DM Sans"/>
            </a:endParaRPr>
          </a:p>
        </p:txBody>
      </p:sp>
      <p:sp>
        <p:nvSpPr>
          <p:cNvPr id="4048" name="Google Shape;4048;p157"/>
          <p:cNvSpPr/>
          <p:nvPr/>
        </p:nvSpPr>
        <p:spPr>
          <a:xfrm>
            <a:off x="6452325" y="1600200"/>
            <a:ext cx="1240200" cy="430500"/>
          </a:xfrm>
          <a:prstGeom prst="rect">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Reason about what to do</a:t>
            </a:r>
            <a:endParaRPr sz="1200">
              <a:latin typeface="DM Sans"/>
              <a:ea typeface="DM Sans"/>
              <a:cs typeface="DM Sans"/>
              <a:sym typeface="DM Sans"/>
            </a:endParaRPr>
          </a:p>
        </p:txBody>
      </p:sp>
      <p:sp>
        <p:nvSpPr>
          <p:cNvPr id="4060" name="Google Shape;4060;p157"/>
          <p:cNvSpPr/>
          <p:nvPr/>
        </p:nvSpPr>
        <p:spPr>
          <a:xfrm>
            <a:off x="6452325" y="2136500"/>
            <a:ext cx="1240200" cy="430500"/>
          </a:xfrm>
          <a:prstGeom prst="rect">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Find information</a:t>
            </a:r>
            <a:endParaRPr sz="1200">
              <a:latin typeface="DM Sans"/>
              <a:ea typeface="DM Sans"/>
              <a:cs typeface="DM Sans"/>
              <a:sym typeface="DM Sans"/>
            </a:endParaRPr>
          </a:p>
        </p:txBody>
      </p:sp>
      <p:sp>
        <p:nvSpPr>
          <p:cNvPr id="4061" name="Google Shape;4061;p157"/>
          <p:cNvSpPr/>
          <p:nvPr/>
        </p:nvSpPr>
        <p:spPr>
          <a:xfrm>
            <a:off x="6452325" y="2645600"/>
            <a:ext cx="1240200" cy="430500"/>
          </a:xfrm>
          <a:prstGeom prst="rect">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Reason about what to do</a:t>
            </a:r>
            <a:endParaRPr sz="1200">
              <a:latin typeface="DM Sans"/>
              <a:ea typeface="DM Sans"/>
              <a:cs typeface="DM Sans"/>
              <a:sym typeface="DM Sans"/>
            </a:endParaRPr>
          </a:p>
        </p:txBody>
      </p:sp>
      <p:sp>
        <p:nvSpPr>
          <p:cNvPr id="4062" name="Google Shape;4062;p157"/>
          <p:cNvSpPr/>
          <p:nvPr/>
        </p:nvSpPr>
        <p:spPr>
          <a:xfrm>
            <a:off x="6452325" y="3174125"/>
            <a:ext cx="1240200" cy="430500"/>
          </a:xfrm>
          <a:prstGeom prst="rect">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Take action</a:t>
            </a:r>
            <a:endParaRPr sz="1200">
              <a:latin typeface="DM Sans"/>
              <a:ea typeface="DM Sans"/>
              <a:cs typeface="DM Sans"/>
              <a:sym typeface="DM Sans"/>
            </a:endParaRPr>
          </a:p>
        </p:txBody>
      </p:sp>
      <p:sp>
        <p:nvSpPr>
          <p:cNvPr id="4063" name="Google Shape;4063;p157"/>
          <p:cNvSpPr/>
          <p:nvPr/>
        </p:nvSpPr>
        <p:spPr>
          <a:xfrm>
            <a:off x="6447725" y="3704225"/>
            <a:ext cx="1240200" cy="430500"/>
          </a:xfrm>
          <a:prstGeom prst="rect">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Reason about what to do</a:t>
            </a:r>
            <a:endParaRPr sz="1200">
              <a:latin typeface="DM Sans"/>
              <a:ea typeface="DM Sans"/>
              <a:cs typeface="DM Sans"/>
              <a:sym typeface="DM Sans"/>
            </a:endParaRPr>
          </a:p>
        </p:txBody>
      </p:sp>
      <p:cxnSp>
        <p:nvCxnSpPr>
          <p:cNvPr id="4064" name="Google Shape;4064;p157"/>
          <p:cNvCxnSpPr/>
          <p:nvPr/>
        </p:nvCxnSpPr>
        <p:spPr>
          <a:xfrm>
            <a:off x="3881864" y="3416680"/>
            <a:ext cx="717300" cy="600"/>
          </a:xfrm>
          <a:prstGeom prst="bentConnector3">
            <a:avLst>
              <a:gd fmla="val 112376" name="adj1"/>
            </a:avLst>
          </a:prstGeom>
          <a:noFill/>
          <a:ln cap="flat" cmpd="sng" w="19050">
            <a:solidFill>
              <a:schemeClr val="dk1"/>
            </a:solidFill>
            <a:prstDash val="solid"/>
            <a:round/>
            <a:headEnd len="med" w="med" type="triangle"/>
            <a:tailEnd len="med" w="med" type="none"/>
          </a:ln>
        </p:spPr>
      </p:cxnSp>
      <p:cxnSp>
        <p:nvCxnSpPr>
          <p:cNvPr id="4065" name="Google Shape;4065;p157"/>
          <p:cNvCxnSpPr/>
          <p:nvPr/>
        </p:nvCxnSpPr>
        <p:spPr>
          <a:xfrm flipH="1" rot="-5400000">
            <a:off x="2378070" y="3464750"/>
            <a:ext cx="1440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4066" name="Google Shape;4066;p157"/>
          <p:cNvSpPr/>
          <p:nvPr/>
        </p:nvSpPr>
        <p:spPr>
          <a:xfrm>
            <a:off x="2216555" y="3216425"/>
            <a:ext cx="1573200" cy="918300"/>
          </a:xfrm>
          <a:prstGeom prst="wave">
            <a:avLst>
              <a:gd fmla="val 12500" name="adj1"/>
              <a:gd fmla="val -1950" name="adj2"/>
            </a:avLst>
          </a:prstGeom>
          <a:solidFill>
            <a:schemeClr val="lt2"/>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67" name="Google Shape;4067;p157"/>
          <p:cNvSpPr txBox="1"/>
          <p:nvPr/>
        </p:nvSpPr>
        <p:spPr>
          <a:xfrm>
            <a:off x="2256262" y="3430925"/>
            <a:ext cx="15732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dk1"/>
                </a:solidFill>
                <a:latin typeface="DM Sans Medium"/>
                <a:ea typeface="DM Sans Medium"/>
                <a:cs typeface="DM Sans Medium"/>
                <a:sym typeface="DM Sans Medium"/>
              </a:rPr>
              <a:t>“Done! Here is your shipping label…”</a:t>
            </a:r>
            <a:endParaRPr i="1" sz="1100">
              <a:solidFill>
                <a:schemeClr val="dk1"/>
              </a:solidFill>
              <a:latin typeface="DM Sans Medium"/>
              <a:ea typeface="DM Sans Medium"/>
              <a:cs typeface="DM Sans Medium"/>
              <a:sym typeface="DM Sans Medium"/>
            </a:endParaRPr>
          </a:p>
        </p:txBody>
      </p:sp>
      <p:sp>
        <p:nvSpPr>
          <p:cNvPr id="4068" name="Google Shape;4068;p157"/>
          <p:cNvSpPr/>
          <p:nvPr/>
        </p:nvSpPr>
        <p:spPr>
          <a:xfrm>
            <a:off x="7728425" y="1639950"/>
            <a:ext cx="351000" cy="351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1</a:t>
            </a:r>
            <a:endParaRPr b="1">
              <a:solidFill>
                <a:schemeClr val="lt1"/>
              </a:solidFill>
              <a:latin typeface="DM Sans"/>
              <a:ea typeface="DM Sans"/>
              <a:cs typeface="DM Sans"/>
              <a:sym typeface="DM Sans"/>
            </a:endParaRPr>
          </a:p>
        </p:txBody>
      </p:sp>
      <p:sp>
        <p:nvSpPr>
          <p:cNvPr id="4069" name="Google Shape;4069;p157"/>
          <p:cNvSpPr/>
          <p:nvPr/>
        </p:nvSpPr>
        <p:spPr>
          <a:xfrm>
            <a:off x="7728425" y="2141750"/>
            <a:ext cx="351000" cy="351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2</a:t>
            </a:r>
            <a:endParaRPr b="1">
              <a:solidFill>
                <a:schemeClr val="lt1"/>
              </a:solidFill>
              <a:latin typeface="DM Sans"/>
              <a:ea typeface="DM Sans"/>
              <a:cs typeface="DM Sans"/>
              <a:sym typeface="DM Sans"/>
            </a:endParaRPr>
          </a:p>
        </p:txBody>
      </p:sp>
      <p:sp>
        <p:nvSpPr>
          <p:cNvPr id="4070" name="Google Shape;4070;p157"/>
          <p:cNvSpPr/>
          <p:nvPr/>
        </p:nvSpPr>
        <p:spPr>
          <a:xfrm>
            <a:off x="7728425" y="2643550"/>
            <a:ext cx="351000" cy="351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3</a:t>
            </a:r>
            <a:endParaRPr b="1">
              <a:solidFill>
                <a:schemeClr val="lt1"/>
              </a:solidFill>
              <a:latin typeface="DM Sans"/>
              <a:ea typeface="DM Sans"/>
              <a:cs typeface="DM Sans"/>
              <a:sym typeface="DM Sans"/>
            </a:endParaRPr>
          </a:p>
        </p:txBody>
      </p:sp>
      <p:sp>
        <p:nvSpPr>
          <p:cNvPr id="4071" name="Google Shape;4071;p157"/>
          <p:cNvSpPr/>
          <p:nvPr/>
        </p:nvSpPr>
        <p:spPr>
          <a:xfrm>
            <a:off x="7728425" y="3213875"/>
            <a:ext cx="351000" cy="351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4</a:t>
            </a:r>
            <a:endParaRPr b="1">
              <a:solidFill>
                <a:schemeClr val="lt1"/>
              </a:solidFill>
              <a:latin typeface="DM Sans"/>
              <a:ea typeface="DM Sans"/>
              <a:cs typeface="DM Sans"/>
              <a:sym typeface="DM Sans"/>
            </a:endParaRPr>
          </a:p>
        </p:txBody>
      </p:sp>
      <p:sp>
        <p:nvSpPr>
          <p:cNvPr id="4072" name="Google Shape;4072;p157"/>
          <p:cNvSpPr/>
          <p:nvPr/>
        </p:nvSpPr>
        <p:spPr>
          <a:xfrm>
            <a:off x="7728425" y="3743975"/>
            <a:ext cx="351000" cy="351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5</a:t>
            </a:r>
            <a:endParaRPr b="1">
              <a:solidFill>
                <a:schemeClr val="lt1"/>
              </a:solidFill>
              <a:latin typeface="DM Sans"/>
              <a:ea typeface="DM Sans"/>
              <a:cs typeface="DM Sans"/>
              <a:sym typeface="DM San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4076" name="Shape 4076"/>
        <p:cNvGrpSpPr/>
        <p:nvPr/>
      </p:nvGrpSpPr>
      <p:grpSpPr>
        <a:xfrm>
          <a:off x="0" y="0"/>
          <a:ext cx="0" cy="0"/>
          <a:chOff x="0" y="0"/>
          <a:chExt cx="0" cy="0"/>
        </a:xfrm>
      </p:grpSpPr>
      <p:sp>
        <p:nvSpPr>
          <p:cNvPr id="4077" name="Google Shape;4077;p158"/>
          <p:cNvSpPr/>
          <p:nvPr/>
        </p:nvSpPr>
        <p:spPr>
          <a:xfrm>
            <a:off x="2029825" y="1863225"/>
            <a:ext cx="6173400" cy="304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highlight>
                <a:srgbClr val="325C69"/>
              </a:highlight>
            </a:endParaRPr>
          </a:p>
        </p:txBody>
      </p:sp>
      <p:sp>
        <p:nvSpPr>
          <p:cNvPr id="4078" name="Google Shape;4078;p158"/>
          <p:cNvSpPr txBox="1"/>
          <p:nvPr/>
        </p:nvSpPr>
        <p:spPr>
          <a:xfrm>
            <a:off x="0" y="0"/>
            <a:ext cx="113571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Example agent system    /_static/images/generative-ai/guide/</a:t>
            </a:r>
            <a:r>
              <a:rPr lang="en">
                <a:solidFill>
                  <a:schemeClr val="accent1"/>
                </a:solidFill>
                <a:latin typeface="DM Sans Medium"/>
                <a:ea typeface="DM Sans Medium"/>
                <a:cs typeface="DM Sans Medium"/>
                <a:sym typeface="DM Sans Medium"/>
              </a:rPr>
              <a:t>ai-app-inputs.png</a:t>
            </a:r>
            <a:endParaRPr sz="500"/>
          </a:p>
        </p:txBody>
      </p:sp>
      <p:sp>
        <p:nvSpPr>
          <p:cNvPr id="4079" name="Google Shape;4079;p158"/>
          <p:cNvSpPr/>
          <p:nvPr/>
        </p:nvSpPr>
        <p:spPr>
          <a:xfrm>
            <a:off x="4740375" y="2254301"/>
            <a:ext cx="922600" cy="1350325"/>
          </a:xfrm>
          <a:prstGeom prst="flowChartProcess">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080" name="Google Shape;4080;p158"/>
          <p:cNvCxnSpPr/>
          <p:nvPr/>
        </p:nvCxnSpPr>
        <p:spPr>
          <a:xfrm flipH="1">
            <a:off x="3982475" y="2515305"/>
            <a:ext cx="717300" cy="600"/>
          </a:xfrm>
          <a:prstGeom prst="bentConnector3">
            <a:avLst>
              <a:gd fmla="val 112376" name="adj1"/>
            </a:avLst>
          </a:prstGeom>
          <a:noFill/>
          <a:ln cap="flat" cmpd="sng" w="19050">
            <a:solidFill>
              <a:schemeClr val="dk1"/>
            </a:solidFill>
            <a:prstDash val="solid"/>
            <a:round/>
            <a:headEnd len="med" w="med" type="triangle"/>
            <a:tailEnd len="med" w="med" type="none"/>
          </a:ln>
        </p:spPr>
      </p:cxnSp>
      <p:cxnSp>
        <p:nvCxnSpPr>
          <p:cNvPr id="4081" name="Google Shape;4081;p158"/>
          <p:cNvCxnSpPr>
            <a:stCxn id="4082" idx="0"/>
          </p:cNvCxnSpPr>
          <p:nvPr/>
        </p:nvCxnSpPr>
        <p:spPr>
          <a:xfrm rot="-5400000">
            <a:off x="9128975" y="1828155"/>
            <a:ext cx="1503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4083" name="Google Shape;4083;p158"/>
          <p:cNvSpPr txBox="1"/>
          <p:nvPr/>
        </p:nvSpPr>
        <p:spPr>
          <a:xfrm>
            <a:off x="3123136" y="1724063"/>
            <a:ext cx="1414500" cy="489300"/>
          </a:xfrm>
          <a:prstGeom prst="rect">
            <a:avLst/>
          </a:prstGeom>
          <a:noFill/>
          <a:ln cap="flat" cmpd="sng" w="9525">
            <a:solidFill>
              <a:schemeClr val="lt2"/>
            </a:solidFill>
            <a:prstDash val="dot"/>
            <a:round/>
            <a:headEnd len="sm" w="sm" type="none"/>
            <a:tailEnd len="sm" w="sm" type="none"/>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dk1"/>
                </a:solidFill>
                <a:latin typeface="DM Sans Medium"/>
                <a:ea typeface="DM Sans Medium"/>
                <a:cs typeface="DM Sans Medium"/>
                <a:sym typeface="DM Sans Medium"/>
              </a:rPr>
              <a:t>“Help me return my last order.”</a:t>
            </a:r>
            <a:endParaRPr i="1" sz="1100">
              <a:solidFill>
                <a:schemeClr val="dk1"/>
              </a:solidFill>
              <a:latin typeface="DM Sans"/>
              <a:ea typeface="DM Sans"/>
              <a:cs typeface="DM Sans"/>
              <a:sym typeface="DM Sans"/>
            </a:endParaRPr>
          </a:p>
        </p:txBody>
      </p:sp>
      <p:sp>
        <p:nvSpPr>
          <p:cNvPr id="4084" name="Google Shape;4084;p158"/>
          <p:cNvSpPr/>
          <p:nvPr/>
        </p:nvSpPr>
        <p:spPr>
          <a:xfrm flipH="1">
            <a:off x="2961233" y="1571675"/>
            <a:ext cx="1478400" cy="794100"/>
          </a:xfrm>
          <a:prstGeom prst="flowChartMagneticTap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4085" name="Google Shape;4085;p158"/>
          <p:cNvGrpSpPr/>
          <p:nvPr/>
        </p:nvGrpSpPr>
        <p:grpSpPr>
          <a:xfrm>
            <a:off x="2207707" y="2331406"/>
            <a:ext cx="1031700" cy="670493"/>
            <a:chOff x="1579332" y="2604275"/>
            <a:chExt cx="1031700" cy="670493"/>
          </a:xfrm>
        </p:grpSpPr>
        <p:pic>
          <p:nvPicPr>
            <p:cNvPr id="4086" name="Google Shape;4086;p158"/>
            <p:cNvPicPr preferRelativeResize="0"/>
            <p:nvPr/>
          </p:nvPicPr>
          <p:blipFill>
            <a:blip r:embed="rId3">
              <a:alphaModFix/>
            </a:blip>
            <a:stretch>
              <a:fillRect/>
            </a:stretch>
          </p:blipFill>
          <p:spPr>
            <a:xfrm>
              <a:off x="1933025" y="2604275"/>
              <a:ext cx="324299" cy="392699"/>
            </a:xfrm>
            <a:prstGeom prst="rect">
              <a:avLst/>
            </a:prstGeom>
            <a:noFill/>
            <a:ln>
              <a:noFill/>
            </a:ln>
          </p:spPr>
        </p:pic>
        <p:sp>
          <p:nvSpPr>
            <p:cNvPr id="4087" name="Google Shape;4087;p158"/>
            <p:cNvSpPr txBox="1"/>
            <p:nvPr/>
          </p:nvSpPr>
          <p:spPr>
            <a:xfrm>
              <a:off x="1579332" y="2920768"/>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595959"/>
                  </a:solidFill>
                  <a:latin typeface="DM Sans"/>
                  <a:ea typeface="DM Sans"/>
                  <a:cs typeface="DM Sans"/>
                  <a:sym typeface="DM Sans"/>
                </a:rPr>
                <a:t>Customer</a:t>
              </a:r>
              <a:endParaRPr>
                <a:solidFill>
                  <a:srgbClr val="595959"/>
                </a:solidFill>
                <a:latin typeface="DM Sans"/>
                <a:ea typeface="DM Sans"/>
                <a:cs typeface="DM Sans"/>
                <a:sym typeface="DM Sans"/>
              </a:endParaRPr>
            </a:p>
          </p:txBody>
        </p:sp>
      </p:grpSp>
      <p:pic>
        <p:nvPicPr>
          <p:cNvPr id="4088" name="Google Shape;4088;p158"/>
          <p:cNvPicPr preferRelativeResize="0"/>
          <p:nvPr/>
        </p:nvPicPr>
        <p:blipFill rotWithShape="1">
          <a:blip r:embed="rId4">
            <a:alphaModFix/>
          </a:blip>
          <a:srcRect b="0" l="0" r="0" t="0"/>
          <a:stretch/>
        </p:blipFill>
        <p:spPr>
          <a:xfrm>
            <a:off x="4906904" y="2525499"/>
            <a:ext cx="589546" cy="587101"/>
          </a:xfrm>
          <a:prstGeom prst="rect">
            <a:avLst/>
          </a:prstGeom>
          <a:noFill/>
          <a:ln>
            <a:noFill/>
          </a:ln>
        </p:spPr>
      </p:pic>
      <p:sp>
        <p:nvSpPr>
          <p:cNvPr id="4089" name="Google Shape;4089;p158"/>
          <p:cNvSpPr txBox="1"/>
          <p:nvPr/>
        </p:nvSpPr>
        <p:spPr>
          <a:xfrm>
            <a:off x="4782413" y="3182175"/>
            <a:ext cx="838500" cy="35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DM Sans"/>
                <a:ea typeface="DM Sans"/>
                <a:cs typeface="DM Sans"/>
                <a:sym typeface="DM Sans"/>
              </a:rPr>
              <a:t>Agent</a:t>
            </a:r>
            <a:endParaRPr sz="1500">
              <a:solidFill>
                <a:schemeClr val="dk1"/>
              </a:solidFill>
              <a:latin typeface="DM Sans"/>
              <a:ea typeface="DM Sans"/>
              <a:cs typeface="DM Sans"/>
              <a:sym typeface="DM Sans"/>
            </a:endParaRPr>
          </a:p>
        </p:txBody>
      </p:sp>
      <p:sp>
        <p:nvSpPr>
          <p:cNvPr id="4090" name="Google Shape;4090;p158"/>
          <p:cNvSpPr/>
          <p:nvPr/>
        </p:nvSpPr>
        <p:spPr>
          <a:xfrm>
            <a:off x="7163950" y="1684850"/>
            <a:ext cx="1738500" cy="794100"/>
          </a:xfrm>
          <a:prstGeom prst="rect">
            <a:avLst/>
          </a:prstGeom>
          <a:solidFill>
            <a:srgbClr val="FFFFFF">
              <a:alpha val="940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Vector index with company policies.</a:t>
            </a:r>
            <a:endParaRPr>
              <a:solidFill>
                <a:schemeClr val="dk1"/>
              </a:solidFill>
              <a:latin typeface="DM Sans"/>
              <a:ea typeface="DM Sans"/>
              <a:cs typeface="DM Sans"/>
              <a:sym typeface="DM Sans"/>
            </a:endParaRPr>
          </a:p>
        </p:txBody>
      </p:sp>
      <p:cxnSp>
        <p:nvCxnSpPr>
          <p:cNvPr id="4091" name="Google Shape;4091;p158"/>
          <p:cNvCxnSpPr/>
          <p:nvPr/>
        </p:nvCxnSpPr>
        <p:spPr>
          <a:xfrm>
            <a:off x="3881864" y="3416680"/>
            <a:ext cx="717300" cy="600"/>
          </a:xfrm>
          <a:prstGeom prst="bentConnector3">
            <a:avLst>
              <a:gd fmla="val 112376" name="adj1"/>
            </a:avLst>
          </a:prstGeom>
          <a:noFill/>
          <a:ln cap="flat" cmpd="sng" w="19050">
            <a:solidFill>
              <a:schemeClr val="dk1"/>
            </a:solidFill>
            <a:prstDash val="solid"/>
            <a:round/>
            <a:headEnd len="med" w="med" type="triangle"/>
            <a:tailEnd len="med" w="med" type="none"/>
          </a:ln>
        </p:spPr>
      </p:cxnSp>
      <p:cxnSp>
        <p:nvCxnSpPr>
          <p:cNvPr id="4092" name="Google Shape;4092;p158"/>
          <p:cNvCxnSpPr/>
          <p:nvPr/>
        </p:nvCxnSpPr>
        <p:spPr>
          <a:xfrm flipH="1" rot="-5400000">
            <a:off x="2378070" y="3464750"/>
            <a:ext cx="144000" cy="600"/>
          </a:xfrm>
          <a:prstGeom prst="bentConnector3">
            <a:avLst>
              <a:gd fmla="val 50000" name="adj1"/>
            </a:avLst>
          </a:prstGeom>
          <a:noFill/>
          <a:ln cap="flat" cmpd="sng" w="9525">
            <a:solidFill>
              <a:srgbClr val="F9F7F4"/>
            </a:solidFill>
            <a:prstDash val="dot"/>
            <a:round/>
            <a:headEnd len="med" w="med" type="none"/>
            <a:tailEnd len="med" w="med" type="none"/>
          </a:ln>
        </p:spPr>
      </p:cxnSp>
      <p:sp>
        <p:nvSpPr>
          <p:cNvPr id="4093" name="Google Shape;4093;p158"/>
          <p:cNvSpPr/>
          <p:nvPr/>
        </p:nvSpPr>
        <p:spPr>
          <a:xfrm>
            <a:off x="2216555" y="3216425"/>
            <a:ext cx="1573200" cy="918300"/>
          </a:xfrm>
          <a:prstGeom prst="wave">
            <a:avLst>
              <a:gd fmla="val 12500" name="adj1"/>
              <a:gd fmla="val -1950" name="adj2"/>
            </a:avLst>
          </a:prstGeom>
          <a:solidFill>
            <a:schemeClr val="lt2"/>
          </a:solidFill>
          <a:ln cap="flat" cmpd="sng" w="19050">
            <a:solidFill>
              <a:srgbClr val="00A9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94" name="Google Shape;4094;p158"/>
          <p:cNvSpPr txBox="1"/>
          <p:nvPr/>
        </p:nvSpPr>
        <p:spPr>
          <a:xfrm>
            <a:off x="2256262" y="3430925"/>
            <a:ext cx="15732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i="1" lang="en" sz="1100">
                <a:solidFill>
                  <a:schemeClr val="dk1"/>
                </a:solidFill>
                <a:latin typeface="DM Sans Medium"/>
                <a:ea typeface="DM Sans Medium"/>
                <a:cs typeface="DM Sans Medium"/>
                <a:sym typeface="DM Sans Medium"/>
              </a:rPr>
              <a:t>“Done! Here is your shipping label…”</a:t>
            </a:r>
            <a:endParaRPr i="1" sz="1100">
              <a:solidFill>
                <a:schemeClr val="dk1"/>
              </a:solidFill>
              <a:latin typeface="DM Sans Medium"/>
              <a:ea typeface="DM Sans Medium"/>
              <a:cs typeface="DM Sans Medium"/>
              <a:sym typeface="DM Sans Medium"/>
            </a:endParaRPr>
          </a:p>
        </p:txBody>
      </p:sp>
      <p:pic>
        <p:nvPicPr>
          <p:cNvPr id="4095" name="Google Shape;4095;p158"/>
          <p:cNvPicPr preferRelativeResize="0"/>
          <p:nvPr/>
        </p:nvPicPr>
        <p:blipFill rotWithShape="1">
          <a:blip r:embed="rId5">
            <a:alphaModFix/>
          </a:blip>
          <a:srcRect b="0" l="0" r="0" t="0"/>
          <a:stretch/>
        </p:blipFill>
        <p:spPr>
          <a:xfrm>
            <a:off x="6301088" y="3430925"/>
            <a:ext cx="806076" cy="806076"/>
          </a:xfrm>
          <a:prstGeom prst="rect">
            <a:avLst/>
          </a:prstGeom>
          <a:noFill/>
          <a:ln>
            <a:noFill/>
          </a:ln>
        </p:spPr>
      </p:pic>
      <p:grpSp>
        <p:nvGrpSpPr>
          <p:cNvPr id="4096" name="Google Shape;4096;p158"/>
          <p:cNvGrpSpPr/>
          <p:nvPr/>
        </p:nvGrpSpPr>
        <p:grpSpPr>
          <a:xfrm>
            <a:off x="6435925" y="1684850"/>
            <a:ext cx="536400" cy="680925"/>
            <a:chOff x="6678825" y="2031325"/>
            <a:chExt cx="536400" cy="680925"/>
          </a:xfrm>
        </p:grpSpPr>
        <p:sp>
          <p:nvSpPr>
            <p:cNvPr id="4097" name="Google Shape;4097;p158"/>
            <p:cNvSpPr/>
            <p:nvPr/>
          </p:nvSpPr>
          <p:spPr>
            <a:xfrm>
              <a:off x="6678825" y="2102650"/>
              <a:ext cx="393600" cy="609600"/>
            </a:xfrm>
            <a:prstGeom prst="rect">
              <a:avLst/>
            </a:prstGeom>
            <a:solidFill>
              <a:srgbClr val="FFFFFF">
                <a:alpha val="94050"/>
              </a:srgbClr>
            </a:solidFill>
            <a:ln cap="flat" cmpd="sng" w="1905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98" name="Google Shape;4098;p158"/>
            <p:cNvSpPr/>
            <p:nvPr/>
          </p:nvSpPr>
          <p:spPr>
            <a:xfrm>
              <a:off x="6769100" y="2041525"/>
              <a:ext cx="425400" cy="609600"/>
            </a:xfrm>
            <a:prstGeom prst="rect">
              <a:avLst/>
            </a:prstGeom>
            <a:solidFill>
              <a:srgbClr val="FFFFFF">
                <a:alpha val="94050"/>
              </a:srgbClr>
            </a:solidFill>
            <a:ln cap="flat" cmpd="sng" w="1905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99" name="Google Shape;4099;p158"/>
            <p:cNvSpPr/>
            <p:nvPr/>
          </p:nvSpPr>
          <p:spPr>
            <a:xfrm rot="10800000">
              <a:off x="7072425" y="2031325"/>
              <a:ext cx="142800" cy="160500"/>
            </a:xfrm>
            <a:prstGeom prst="rtTriangle">
              <a:avLst/>
            </a:prstGeom>
            <a:solidFill>
              <a:srgbClr val="FFFFFF">
                <a:alpha val="9405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100" name="Google Shape;4100;p158"/>
            <p:cNvCxnSpPr/>
            <p:nvPr/>
          </p:nvCxnSpPr>
          <p:spPr>
            <a:xfrm>
              <a:off x="6858000" y="2559850"/>
              <a:ext cx="247800" cy="0"/>
            </a:xfrm>
            <a:prstGeom prst="straightConnector1">
              <a:avLst/>
            </a:prstGeom>
            <a:noFill/>
            <a:ln cap="flat" cmpd="sng" w="19050">
              <a:solidFill>
                <a:srgbClr val="212121"/>
              </a:solidFill>
              <a:prstDash val="solid"/>
              <a:round/>
              <a:headEnd len="med" w="med" type="none"/>
              <a:tailEnd len="med" w="med" type="none"/>
            </a:ln>
          </p:spPr>
        </p:cxnSp>
        <p:cxnSp>
          <p:nvCxnSpPr>
            <p:cNvPr id="4101" name="Google Shape;4101;p158"/>
            <p:cNvCxnSpPr/>
            <p:nvPr/>
          </p:nvCxnSpPr>
          <p:spPr>
            <a:xfrm>
              <a:off x="6858000" y="2483650"/>
              <a:ext cx="247800" cy="0"/>
            </a:xfrm>
            <a:prstGeom prst="straightConnector1">
              <a:avLst/>
            </a:prstGeom>
            <a:noFill/>
            <a:ln cap="flat" cmpd="sng" w="19050">
              <a:solidFill>
                <a:srgbClr val="212121"/>
              </a:solidFill>
              <a:prstDash val="solid"/>
              <a:round/>
              <a:headEnd len="med" w="med" type="none"/>
              <a:tailEnd len="med" w="med" type="none"/>
            </a:ln>
          </p:spPr>
        </p:cxnSp>
        <p:cxnSp>
          <p:nvCxnSpPr>
            <p:cNvPr id="4102" name="Google Shape;4102;p158"/>
            <p:cNvCxnSpPr/>
            <p:nvPr/>
          </p:nvCxnSpPr>
          <p:spPr>
            <a:xfrm>
              <a:off x="6858000" y="2407450"/>
              <a:ext cx="247800" cy="0"/>
            </a:xfrm>
            <a:prstGeom prst="straightConnector1">
              <a:avLst/>
            </a:prstGeom>
            <a:noFill/>
            <a:ln cap="flat" cmpd="sng" w="19050">
              <a:solidFill>
                <a:srgbClr val="212121"/>
              </a:solidFill>
              <a:prstDash val="solid"/>
              <a:round/>
              <a:headEnd len="med" w="med" type="none"/>
              <a:tailEnd len="med" w="med" type="none"/>
            </a:ln>
          </p:spPr>
        </p:cxnSp>
        <p:cxnSp>
          <p:nvCxnSpPr>
            <p:cNvPr id="4103" name="Google Shape;4103;p158"/>
            <p:cNvCxnSpPr/>
            <p:nvPr/>
          </p:nvCxnSpPr>
          <p:spPr>
            <a:xfrm>
              <a:off x="6858000" y="2331250"/>
              <a:ext cx="247800" cy="0"/>
            </a:xfrm>
            <a:prstGeom prst="straightConnector1">
              <a:avLst/>
            </a:prstGeom>
            <a:noFill/>
            <a:ln cap="flat" cmpd="sng" w="19050">
              <a:solidFill>
                <a:srgbClr val="212121"/>
              </a:solidFill>
              <a:prstDash val="solid"/>
              <a:round/>
              <a:headEnd len="med" w="med" type="none"/>
              <a:tailEnd len="med" w="med" type="none"/>
            </a:ln>
          </p:spPr>
        </p:cxnSp>
        <p:cxnSp>
          <p:nvCxnSpPr>
            <p:cNvPr id="4104" name="Google Shape;4104;p158"/>
            <p:cNvCxnSpPr/>
            <p:nvPr/>
          </p:nvCxnSpPr>
          <p:spPr>
            <a:xfrm>
              <a:off x="6858000" y="2255050"/>
              <a:ext cx="247800" cy="0"/>
            </a:xfrm>
            <a:prstGeom prst="straightConnector1">
              <a:avLst/>
            </a:prstGeom>
            <a:noFill/>
            <a:ln cap="flat" cmpd="sng" w="19050">
              <a:solidFill>
                <a:srgbClr val="212121"/>
              </a:solidFill>
              <a:prstDash val="solid"/>
              <a:round/>
              <a:headEnd len="med" w="med" type="none"/>
              <a:tailEnd len="med" w="med" type="none"/>
            </a:ln>
          </p:spPr>
        </p:cxnSp>
        <p:cxnSp>
          <p:nvCxnSpPr>
            <p:cNvPr id="4105" name="Google Shape;4105;p158"/>
            <p:cNvCxnSpPr/>
            <p:nvPr/>
          </p:nvCxnSpPr>
          <p:spPr>
            <a:xfrm>
              <a:off x="6858000" y="2178850"/>
              <a:ext cx="247800" cy="0"/>
            </a:xfrm>
            <a:prstGeom prst="straightConnector1">
              <a:avLst/>
            </a:prstGeom>
            <a:noFill/>
            <a:ln cap="flat" cmpd="sng" w="19050">
              <a:solidFill>
                <a:srgbClr val="212121"/>
              </a:solidFill>
              <a:prstDash val="solid"/>
              <a:round/>
              <a:headEnd len="med" w="med" type="none"/>
              <a:tailEnd len="med" w="med" type="none"/>
            </a:ln>
          </p:spPr>
        </p:cxnSp>
        <p:sp>
          <p:nvSpPr>
            <p:cNvPr id="4106" name="Google Shape;4106;p158"/>
            <p:cNvSpPr/>
            <p:nvPr/>
          </p:nvSpPr>
          <p:spPr>
            <a:xfrm>
              <a:off x="7051700" y="2041525"/>
              <a:ext cx="142800" cy="150300"/>
            </a:xfrm>
            <a:prstGeom prst="rtTriangle">
              <a:avLst/>
            </a:prstGeom>
            <a:solidFill>
              <a:srgbClr val="FFFFFF">
                <a:alpha val="94050"/>
              </a:srgbClr>
            </a:solidFill>
            <a:ln cap="flat" cmpd="sng" w="1905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07" name="Google Shape;4107;p158"/>
            <p:cNvSpPr/>
            <p:nvPr/>
          </p:nvSpPr>
          <p:spPr>
            <a:xfrm>
              <a:off x="6850125" y="2088025"/>
              <a:ext cx="51000" cy="57300"/>
            </a:xfrm>
            <a:prstGeom prst="frame">
              <a:avLst>
                <a:gd fmla="val 12500" name="adj1"/>
              </a:avLst>
            </a:prstGeom>
            <a:solidFill>
              <a:schemeClr val="lt2"/>
            </a:solidFill>
            <a:ln cap="flat" cmpd="sng" w="9525">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grpSp>
        <p:nvGrpSpPr>
          <p:cNvPr id="4108" name="Google Shape;4108;p158"/>
          <p:cNvGrpSpPr/>
          <p:nvPr/>
        </p:nvGrpSpPr>
        <p:grpSpPr>
          <a:xfrm>
            <a:off x="6301088" y="2510775"/>
            <a:ext cx="806076" cy="806076"/>
            <a:chOff x="6573901" y="3309400"/>
            <a:chExt cx="806076" cy="806076"/>
          </a:xfrm>
        </p:grpSpPr>
        <p:cxnSp>
          <p:nvCxnSpPr>
            <p:cNvPr id="4109" name="Google Shape;4109;p158"/>
            <p:cNvCxnSpPr/>
            <p:nvPr/>
          </p:nvCxnSpPr>
          <p:spPr>
            <a:xfrm rot="-5400000">
              <a:off x="6936950" y="3775455"/>
              <a:ext cx="129900" cy="600"/>
            </a:xfrm>
            <a:prstGeom prst="bentConnector3">
              <a:avLst>
                <a:gd fmla="val 50000" name="adj1"/>
              </a:avLst>
            </a:prstGeom>
            <a:noFill/>
            <a:ln cap="flat" cmpd="sng" w="9525">
              <a:solidFill>
                <a:srgbClr val="F9F7F4"/>
              </a:solidFill>
              <a:prstDash val="dot"/>
              <a:round/>
              <a:headEnd len="med" w="med" type="none"/>
              <a:tailEnd len="med" w="med" type="none"/>
            </a:ln>
          </p:spPr>
        </p:cxnSp>
        <p:pic>
          <p:nvPicPr>
            <p:cNvPr id="4110" name="Google Shape;4110;p158"/>
            <p:cNvPicPr preferRelativeResize="0"/>
            <p:nvPr/>
          </p:nvPicPr>
          <p:blipFill rotWithShape="1">
            <a:blip r:embed="rId5">
              <a:alphaModFix/>
            </a:blip>
            <a:srcRect b="0" l="0" r="0" t="0"/>
            <a:stretch/>
          </p:blipFill>
          <p:spPr>
            <a:xfrm>
              <a:off x="6573901" y="3309400"/>
              <a:ext cx="806076" cy="806076"/>
            </a:xfrm>
            <a:prstGeom prst="rect">
              <a:avLst/>
            </a:prstGeom>
            <a:noFill/>
            <a:ln>
              <a:noFill/>
            </a:ln>
          </p:spPr>
        </p:pic>
        <p:sp>
          <p:nvSpPr>
            <p:cNvPr id="4111" name="Google Shape;4111;p158"/>
            <p:cNvSpPr/>
            <p:nvPr/>
          </p:nvSpPr>
          <p:spPr>
            <a:xfrm>
              <a:off x="6693025" y="3605225"/>
              <a:ext cx="560100" cy="328500"/>
            </a:xfrm>
            <a:prstGeom prst="rect">
              <a:avLst/>
            </a:prstGeom>
            <a:solidFill>
              <a:srgbClr val="FFFFFF">
                <a:alpha val="9405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12" name="Google Shape;4112;p158"/>
            <p:cNvSpPr txBox="1"/>
            <p:nvPr/>
          </p:nvSpPr>
          <p:spPr>
            <a:xfrm>
              <a:off x="6633863" y="3663550"/>
              <a:ext cx="414900" cy="22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Courier New"/>
                  <a:ea typeface="Courier New"/>
                  <a:cs typeface="Courier New"/>
                  <a:sym typeface="Courier New"/>
                </a:rPr>
                <a:t>API</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800">
                  <a:solidFill>
                    <a:schemeClr val="dk1"/>
                  </a:solidFill>
                  <a:latin typeface="Courier New"/>
                  <a:ea typeface="Courier New"/>
                  <a:cs typeface="Courier New"/>
                  <a:sym typeface="Courier New"/>
                </a:rPr>
                <a:t>&lt;/&gt;</a:t>
              </a:r>
              <a:endParaRPr b="1" sz="800">
                <a:solidFill>
                  <a:schemeClr val="dk1"/>
                </a:solidFill>
                <a:latin typeface="Courier New"/>
                <a:ea typeface="Courier New"/>
                <a:cs typeface="Courier New"/>
                <a:sym typeface="Courier New"/>
              </a:endParaRPr>
            </a:p>
          </p:txBody>
        </p:sp>
        <p:pic>
          <p:nvPicPr>
            <p:cNvPr id="4113" name="Google Shape;4113;p158"/>
            <p:cNvPicPr preferRelativeResize="0"/>
            <p:nvPr/>
          </p:nvPicPr>
          <p:blipFill>
            <a:blip r:embed="rId6">
              <a:alphaModFix/>
            </a:blip>
            <a:stretch>
              <a:fillRect/>
            </a:stretch>
          </p:blipFill>
          <p:spPr>
            <a:xfrm>
              <a:off x="6931925" y="3638475"/>
              <a:ext cx="283300" cy="262004"/>
            </a:xfrm>
            <a:prstGeom prst="rect">
              <a:avLst/>
            </a:prstGeom>
            <a:noFill/>
            <a:ln>
              <a:noFill/>
            </a:ln>
          </p:spPr>
        </p:pic>
      </p:grpSp>
      <p:cxnSp>
        <p:nvCxnSpPr>
          <p:cNvPr id="4114" name="Google Shape;4114;p158"/>
          <p:cNvCxnSpPr>
            <a:stCxn id="4079" idx="3"/>
            <a:endCxn id="4097" idx="1"/>
          </p:cNvCxnSpPr>
          <p:nvPr/>
        </p:nvCxnSpPr>
        <p:spPr>
          <a:xfrm flipH="1" rot="10800000">
            <a:off x="5662975" y="2060964"/>
            <a:ext cx="773100" cy="868500"/>
          </a:xfrm>
          <a:prstGeom prst="straightConnector1">
            <a:avLst/>
          </a:prstGeom>
          <a:noFill/>
          <a:ln cap="flat" cmpd="sng" w="9525">
            <a:solidFill>
              <a:srgbClr val="212121"/>
            </a:solidFill>
            <a:prstDash val="solid"/>
            <a:round/>
            <a:headEnd len="med" w="med" type="none"/>
            <a:tailEnd len="med" w="med" type="none"/>
          </a:ln>
        </p:spPr>
      </p:cxnSp>
      <p:cxnSp>
        <p:nvCxnSpPr>
          <p:cNvPr id="4115" name="Google Shape;4115;p158"/>
          <p:cNvCxnSpPr>
            <a:stCxn id="4079" idx="3"/>
            <a:endCxn id="4112" idx="1"/>
          </p:cNvCxnSpPr>
          <p:nvPr/>
        </p:nvCxnSpPr>
        <p:spPr>
          <a:xfrm>
            <a:off x="5662975" y="2929464"/>
            <a:ext cx="698100" cy="47700"/>
          </a:xfrm>
          <a:prstGeom prst="straightConnector1">
            <a:avLst/>
          </a:prstGeom>
          <a:noFill/>
          <a:ln cap="flat" cmpd="sng" w="9525">
            <a:solidFill>
              <a:srgbClr val="212121"/>
            </a:solidFill>
            <a:prstDash val="solid"/>
            <a:round/>
            <a:headEnd len="med" w="med" type="none"/>
            <a:tailEnd len="med" w="med" type="none"/>
          </a:ln>
        </p:spPr>
      </p:cxnSp>
      <p:cxnSp>
        <p:nvCxnSpPr>
          <p:cNvPr id="4116" name="Google Shape;4116;p158"/>
          <p:cNvCxnSpPr>
            <a:stCxn id="4079" idx="3"/>
          </p:cNvCxnSpPr>
          <p:nvPr/>
        </p:nvCxnSpPr>
        <p:spPr>
          <a:xfrm>
            <a:off x="5662975" y="2929464"/>
            <a:ext cx="712200" cy="931500"/>
          </a:xfrm>
          <a:prstGeom prst="straightConnector1">
            <a:avLst/>
          </a:prstGeom>
          <a:noFill/>
          <a:ln cap="flat" cmpd="sng" w="9525">
            <a:solidFill>
              <a:srgbClr val="212121"/>
            </a:solidFill>
            <a:prstDash val="solid"/>
            <a:round/>
            <a:headEnd len="med" w="med" type="none"/>
            <a:tailEnd len="med" w="med" type="none"/>
          </a:ln>
        </p:spPr>
      </p:cxnSp>
      <p:sp>
        <p:nvSpPr>
          <p:cNvPr id="4117" name="Google Shape;4117;p158"/>
          <p:cNvSpPr/>
          <p:nvPr/>
        </p:nvSpPr>
        <p:spPr>
          <a:xfrm>
            <a:off x="7163950" y="2532400"/>
            <a:ext cx="2950500" cy="794100"/>
          </a:xfrm>
          <a:prstGeom prst="rect">
            <a:avLst/>
          </a:prstGeom>
          <a:solidFill>
            <a:srgbClr val="FFFFFF">
              <a:alpha val="940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validate_order_can_be_returned(...)</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start_return_for_order(...)</a:t>
            </a:r>
            <a:endParaRPr b="1" sz="1000">
              <a:solidFill>
                <a:schemeClr val="dk1"/>
              </a:solidFill>
              <a:latin typeface="Courier New"/>
              <a:ea typeface="Courier New"/>
              <a:cs typeface="Courier New"/>
              <a:sym typeface="Courier New"/>
            </a:endParaRPr>
          </a:p>
        </p:txBody>
      </p:sp>
      <p:sp>
        <p:nvSpPr>
          <p:cNvPr id="4118" name="Google Shape;4118;p158"/>
          <p:cNvSpPr/>
          <p:nvPr/>
        </p:nvSpPr>
        <p:spPr>
          <a:xfrm>
            <a:off x="7163950" y="3436900"/>
            <a:ext cx="1738500" cy="794100"/>
          </a:xfrm>
          <a:prstGeom prst="rect">
            <a:avLst/>
          </a:prstGeom>
          <a:solidFill>
            <a:srgbClr val="FFFFFF">
              <a:alpha val="940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Delta table with order history.</a:t>
            </a:r>
            <a:endParaRPr>
              <a:solidFill>
                <a:schemeClr val="dk1"/>
              </a:solidFill>
              <a:latin typeface="DM Sans"/>
              <a:ea typeface="DM Sans"/>
              <a:cs typeface="DM Sans"/>
              <a:sym typeface="DM San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2" name="Shape 4122"/>
        <p:cNvGrpSpPr/>
        <p:nvPr/>
      </p:nvGrpSpPr>
      <p:grpSpPr>
        <a:xfrm>
          <a:off x="0" y="0"/>
          <a:ext cx="0" cy="0"/>
          <a:chOff x="0" y="0"/>
          <a:chExt cx="0" cy="0"/>
        </a:xfrm>
      </p:grpSpPr>
      <p:sp>
        <p:nvSpPr>
          <p:cNvPr id="4123" name="Google Shape;4123;p159"/>
          <p:cNvSpPr txBox="1"/>
          <p:nvPr/>
        </p:nvSpPr>
        <p:spPr>
          <a:xfrm>
            <a:off x="0" y="0"/>
            <a:ext cx="75330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/_static/images/generative-ai/guide/basic-rag-pipeline.png</a:t>
            </a:r>
            <a:endParaRPr/>
          </a:p>
        </p:txBody>
      </p:sp>
      <p:grpSp>
        <p:nvGrpSpPr>
          <p:cNvPr id="4124" name="Google Shape;4124;p159"/>
          <p:cNvGrpSpPr/>
          <p:nvPr/>
        </p:nvGrpSpPr>
        <p:grpSpPr>
          <a:xfrm>
            <a:off x="1750507" y="3111133"/>
            <a:ext cx="7972701" cy="957566"/>
            <a:chOff x="1750507" y="3796933"/>
            <a:chExt cx="7972701" cy="957566"/>
          </a:xfrm>
        </p:grpSpPr>
        <p:pic>
          <p:nvPicPr>
            <p:cNvPr id="4125" name="Google Shape;4125;p159"/>
            <p:cNvPicPr preferRelativeResize="0"/>
            <p:nvPr/>
          </p:nvPicPr>
          <p:blipFill rotWithShape="1">
            <a:blip r:embed="rId3">
              <a:alphaModFix/>
            </a:blip>
            <a:srcRect b="0" l="0" r="0" t="0"/>
            <a:stretch/>
          </p:blipFill>
          <p:spPr>
            <a:xfrm>
              <a:off x="3277800" y="3927212"/>
              <a:ext cx="555516" cy="553198"/>
            </a:xfrm>
            <a:prstGeom prst="rect">
              <a:avLst/>
            </a:prstGeom>
            <a:noFill/>
            <a:ln>
              <a:noFill/>
            </a:ln>
          </p:spPr>
        </p:pic>
        <p:sp>
          <p:nvSpPr>
            <p:cNvPr id="4126" name="Google Shape;4126;p159"/>
            <p:cNvSpPr/>
            <p:nvPr/>
          </p:nvSpPr>
          <p:spPr>
            <a:xfrm>
              <a:off x="4328908" y="3796933"/>
              <a:ext cx="5394300" cy="9384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DM Sans"/>
                <a:ea typeface="DM Sans"/>
                <a:cs typeface="DM Sans"/>
                <a:sym typeface="DM Sans"/>
              </a:endParaRPr>
            </a:p>
          </p:txBody>
        </p:sp>
        <p:sp>
          <p:nvSpPr>
            <p:cNvPr id="4127" name="Google Shape;4127;p159"/>
            <p:cNvSpPr/>
            <p:nvPr/>
          </p:nvSpPr>
          <p:spPr>
            <a:xfrm>
              <a:off x="4542684" y="3985031"/>
              <a:ext cx="1090200" cy="5532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121875">
              <a:noAutofit/>
            </a:bodyPr>
            <a:lstStyle/>
            <a:p>
              <a:pPr indent="0" lvl="0" marL="0" rtl="0" algn="ctr">
                <a:spcBef>
                  <a:spcPts val="0"/>
                </a:spcBef>
                <a:spcAft>
                  <a:spcPts val="0"/>
                </a:spcAft>
                <a:buNone/>
              </a:pPr>
              <a:r>
                <a:rPr lang="en" sz="1200">
                  <a:solidFill>
                    <a:srgbClr val="434343"/>
                  </a:solidFill>
                  <a:latin typeface="DM Sans Medium"/>
                  <a:ea typeface="DM Sans Medium"/>
                  <a:cs typeface="DM Sans Medium"/>
                  <a:sym typeface="DM Sans Medium"/>
                </a:rPr>
                <a:t>Parse </a:t>
              </a:r>
              <a:endParaRPr sz="1200">
                <a:solidFill>
                  <a:srgbClr val="434343"/>
                </a:solidFill>
                <a:latin typeface="DM Sans Medium"/>
                <a:ea typeface="DM Sans Medium"/>
                <a:cs typeface="DM Sans Medium"/>
                <a:sym typeface="DM Sans Medium"/>
              </a:endParaRPr>
            </a:p>
            <a:p>
              <a:pPr indent="0" lvl="0" marL="0" rtl="0" algn="ctr">
                <a:spcBef>
                  <a:spcPts val="0"/>
                </a:spcBef>
                <a:spcAft>
                  <a:spcPts val="0"/>
                </a:spcAft>
                <a:buNone/>
              </a:pPr>
              <a:r>
                <a:rPr lang="en" sz="1200">
                  <a:solidFill>
                    <a:srgbClr val="434343"/>
                  </a:solidFill>
                  <a:latin typeface="DM Sans Medium"/>
                  <a:ea typeface="DM Sans Medium"/>
                  <a:cs typeface="DM Sans Medium"/>
                  <a:sym typeface="DM Sans Medium"/>
                </a:rPr>
                <a:t>query</a:t>
              </a:r>
              <a:endParaRPr sz="1200">
                <a:solidFill>
                  <a:srgbClr val="434343"/>
                </a:solidFill>
                <a:latin typeface="DM Sans Medium"/>
                <a:ea typeface="DM Sans Medium"/>
                <a:cs typeface="DM Sans Medium"/>
                <a:sym typeface="DM Sans Medium"/>
              </a:endParaRPr>
            </a:p>
          </p:txBody>
        </p:sp>
        <p:sp>
          <p:nvSpPr>
            <p:cNvPr id="4128" name="Google Shape;4128;p159"/>
            <p:cNvSpPr/>
            <p:nvPr/>
          </p:nvSpPr>
          <p:spPr>
            <a:xfrm>
              <a:off x="5813613" y="3985041"/>
              <a:ext cx="1090200" cy="5532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121875">
              <a:noAutofit/>
            </a:bodyPr>
            <a:lstStyle/>
            <a:p>
              <a:pPr indent="0" lvl="0" marL="0" rtl="0" algn="ctr">
                <a:spcBef>
                  <a:spcPts val="0"/>
                </a:spcBef>
                <a:spcAft>
                  <a:spcPts val="0"/>
                </a:spcAft>
                <a:buNone/>
              </a:pPr>
              <a:r>
                <a:rPr b="1" lang="en" sz="1200">
                  <a:solidFill>
                    <a:srgbClr val="00A972"/>
                  </a:solidFill>
                  <a:latin typeface="DM Sans"/>
                  <a:ea typeface="DM Sans"/>
                  <a:cs typeface="DM Sans"/>
                  <a:sym typeface="DM Sans"/>
                </a:rPr>
                <a:t>R</a:t>
              </a:r>
              <a:r>
                <a:rPr lang="en" sz="1200">
                  <a:solidFill>
                    <a:srgbClr val="434343"/>
                  </a:solidFill>
                  <a:latin typeface="DM Sans Medium"/>
                  <a:ea typeface="DM Sans Medium"/>
                  <a:cs typeface="DM Sans Medium"/>
                  <a:sym typeface="DM Sans Medium"/>
                </a:rPr>
                <a:t>etrieve related  docs</a:t>
              </a:r>
              <a:endParaRPr sz="1200">
                <a:solidFill>
                  <a:srgbClr val="434343"/>
                </a:solidFill>
                <a:latin typeface="DM Sans Medium"/>
                <a:ea typeface="DM Sans Medium"/>
                <a:cs typeface="DM Sans Medium"/>
                <a:sym typeface="DM Sans Medium"/>
              </a:endParaRPr>
            </a:p>
          </p:txBody>
        </p:sp>
        <p:sp>
          <p:nvSpPr>
            <p:cNvPr id="4129" name="Google Shape;4129;p159"/>
            <p:cNvSpPr/>
            <p:nvPr/>
          </p:nvSpPr>
          <p:spPr>
            <a:xfrm>
              <a:off x="7084541" y="3985026"/>
              <a:ext cx="1090200" cy="5532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t" bIns="0" lIns="0" spcFirstLastPara="1" rIns="0" wrap="square" tIns="121875">
              <a:noAutofit/>
            </a:bodyPr>
            <a:lstStyle/>
            <a:p>
              <a:pPr indent="0" lvl="0" marL="0" rtl="0" algn="ctr">
                <a:spcBef>
                  <a:spcPts val="0"/>
                </a:spcBef>
                <a:spcAft>
                  <a:spcPts val="0"/>
                </a:spcAft>
                <a:buNone/>
              </a:pPr>
              <a:r>
                <a:rPr b="1" lang="en" sz="1200">
                  <a:solidFill>
                    <a:srgbClr val="00A972"/>
                  </a:solidFill>
                  <a:latin typeface="DM Sans"/>
                  <a:ea typeface="DM Sans"/>
                  <a:cs typeface="DM Sans"/>
                  <a:sym typeface="DM Sans"/>
                </a:rPr>
                <a:t>A</a:t>
              </a:r>
              <a:r>
                <a:rPr lang="en" sz="1200">
                  <a:solidFill>
                    <a:srgbClr val="434343"/>
                  </a:solidFill>
                  <a:latin typeface="DM Sans Medium"/>
                  <a:ea typeface="DM Sans Medium"/>
                  <a:cs typeface="DM Sans Medium"/>
                  <a:sym typeface="DM Sans Medium"/>
                </a:rPr>
                <a:t>ugment prompt</a:t>
              </a:r>
              <a:endParaRPr sz="1200">
                <a:latin typeface="DM Sans Medium"/>
                <a:ea typeface="DM Sans Medium"/>
                <a:cs typeface="DM Sans Medium"/>
                <a:sym typeface="DM Sans Medium"/>
              </a:endParaRPr>
            </a:p>
          </p:txBody>
        </p:sp>
        <p:sp>
          <p:nvSpPr>
            <p:cNvPr id="4130" name="Google Shape;4130;p159"/>
            <p:cNvSpPr/>
            <p:nvPr/>
          </p:nvSpPr>
          <p:spPr>
            <a:xfrm>
              <a:off x="8355470" y="3985036"/>
              <a:ext cx="1090200" cy="553200"/>
            </a:xfrm>
            <a:prstGeom prst="roundRect">
              <a:avLst>
                <a:gd fmla="val 16667" name="adj"/>
              </a:avLst>
            </a:prstGeom>
            <a:solidFill>
              <a:srgbClr val="FFFFFF"/>
            </a:solidFill>
            <a:ln cap="flat" cmpd="sng" w="19050">
              <a:solidFill>
                <a:srgbClr val="A0ACBE"/>
              </a:solidFill>
              <a:prstDash val="solid"/>
              <a:round/>
              <a:headEnd len="sm" w="sm" type="none"/>
              <a:tailEnd len="sm" w="sm" type="none"/>
            </a:ln>
          </p:spPr>
          <p:txBody>
            <a:bodyPr anchorCtr="0" anchor="ctr" bIns="0" lIns="0" spcFirstLastPara="1" rIns="0" wrap="square" tIns="121875">
              <a:noAutofit/>
            </a:bodyPr>
            <a:lstStyle/>
            <a:p>
              <a:pPr indent="0" lvl="0" marL="0" rtl="0" algn="ctr">
                <a:spcBef>
                  <a:spcPts val="0"/>
                </a:spcBef>
                <a:spcAft>
                  <a:spcPts val="0"/>
                </a:spcAft>
                <a:buNone/>
              </a:pPr>
              <a:r>
                <a:rPr b="1" lang="en" sz="1200">
                  <a:solidFill>
                    <a:srgbClr val="00A972"/>
                  </a:solidFill>
                  <a:latin typeface="DM Sans"/>
                  <a:ea typeface="DM Sans"/>
                  <a:cs typeface="DM Sans"/>
                  <a:sym typeface="DM Sans"/>
                </a:rPr>
                <a:t>G</a:t>
              </a:r>
              <a:r>
                <a:rPr lang="en" sz="1200">
                  <a:solidFill>
                    <a:srgbClr val="434343"/>
                  </a:solidFill>
                  <a:latin typeface="DM Sans Medium"/>
                  <a:ea typeface="DM Sans Medium"/>
                  <a:cs typeface="DM Sans Medium"/>
                  <a:sym typeface="DM Sans Medium"/>
                </a:rPr>
                <a:t>enerate response</a:t>
              </a:r>
              <a:endParaRPr sz="1200">
                <a:solidFill>
                  <a:srgbClr val="434343"/>
                </a:solidFill>
                <a:latin typeface="DM Sans Medium"/>
                <a:ea typeface="DM Sans Medium"/>
                <a:cs typeface="DM Sans Medium"/>
                <a:sym typeface="DM Sans Medium"/>
              </a:endParaRPr>
            </a:p>
          </p:txBody>
        </p:sp>
        <p:pic>
          <p:nvPicPr>
            <p:cNvPr id="4131" name="Google Shape;4131;p159"/>
            <p:cNvPicPr preferRelativeResize="0"/>
            <p:nvPr/>
          </p:nvPicPr>
          <p:blipFill>
            <a:blip r:embed="rId4">
              <a:alphaModFix/>
            </a:blip>
            <a:stretch>
              <a:fillRect/>
            </a:stretch>
          </p:blipFill>
          <p:spPr>
            <a:xfrm rot="2699890">
              <a:off x="4029808" y="4082669"/>
              <a:ext cx="366791" cy="366791"/>
            </a:xfrm>
            <a:prstGeom prst="rect">
              <a:avLst/>
            </a:prstGeom>
            <a:noFill/>
            <a:ln>
              <a:noFill/>
            </a:ln>
          </p:spPr>
        </p:pic>
        <p:pic>
          <p:nvPicPr>
            <p:cNvPr id="4132" name="Google Shape;4132;p159"/>
            <p:cNvPicPr preferRelativeResize="0"/>
            <p:nvPr/>
          </p:nvPicPr>
          <p:blipFill>
            <a:blip r:embed="rId4">
              <a:alphaModFix/>
            </a:blip>
            <a:stretch>
              <a:fillRect/>
            </a:stretch>
          </p:blipFill>
          <p:spPr>
            <a:xfrm rot="2699915">
              <a:off x="5504211" y="3967220"/>
              <a:ext cx="331114" cy="331114"/>
            </a:xfrm>
            <a:prstGeom prst="rect">
              <a:avLst/>
            </a:prstGeom>
            <a:noFill/>
            <a:ln>
              <a:noFill/>
            </a:ln>
          </p:spPr>
        </p:pic>
        <p:pic>
          <p:nvPicPr>
            <p:cNvPr id="4133" name="Google Shape;4133;p159"/>
            <p:cNvPicPr preferRelativeResize="0"/>
            <p:nvPr/>
          </p:nvPicPr>
          <p:blipFill>
            <a:blip r:embed="rId4">
              <a:alphaModFix/>
            </a:blip>
            <a:stretch>
              <a:fillRect/>
            </a:stretch>
          </p:blipFill>
          <p:spPr>
            <a:xfrm rot="2699915">
              <a:off x="6708511" y="3967218"/>
              <a:ext cx="331114" cy="331114"/>
            </a:xfrm>
            <a:prstGeom prst="rect">
              <a:avLst/>
            </a:prstGeom>
            <a:noFill/>
            <a:ln>
              <a:noFill/>
            </a:ln>
          </p:spPr>
        </p:pic>
        <p:pic>
          <p:nvPicPr>
            <p:cNvPr id="4134" name="Google Shape;4134;p159"/>
            <p:cNvPicPr preferRelativeResize="0"/>
            <p:nvPr/>
          </p:nvPicPr>
          <p:blipFill>
            <a:blip r:embed="rId4">
              <a:alphaModFix/>
            </a:blip>
            <a:stretch>
              <a:fillRect/>
            </a:stretch>
          </p:blipFill>
          <p:spPr>
            <a:xfrm rot="2699915">
              <a:off x="8115788" y="3967217"/>
              <a:ext cx="331114" cy="331114"/>
            </a:xfrm>
            <a:prstGeom prst="rect">
              <a:avLst/>
            </a:prstGeom>
            <a:noFill/>
            <a:ln>
              <a:noFill/>
            </a:ln>
          </p:spPr>
        </p:pic>
        <p:pic>
          <p:nvPicPr>
            <p:cNvPr id="4135" name="Google Shape;4135;p159"/>
            <p:cNvPicPr preferRelativeResize="0"/>
            <p:nvPr/>
          </p:nvPicPr>
          <p:blipFill>
            <a:blip r:embed="rId5">
              <a:alphaModFix/>
            </a:blip>
            <a:stretch>
              <a:fillRect/>
            </a:stretch>
          </p:blipFill>
          <p:spPr>
            <a:xfrm>
              <a:off x="2104200" y="4007806"/>
              <a:ext cx="324299" cy="392699"/>
            </a:xfrm>
            <a:prstGeom prst="rect">
              <a:avLst/>
            </a:prstGeom>
            <a:noFill/>
            <a:ln>
              <a:noFill/>
            </a:ln>
          </p:spPr>
        </p:pic>
        <p:sp>
          <p:nvSpPr>
            <p:cNvPr id="4136" name="Google Shape;4136;p159"/>
            <p:cNvSpPr txBox="1"/>
            <p:nvPr/>
          </p:nvSpPr>
          <p:spPr>
            <a:xfrm>
              <a:off x="1750507" y="4400499"/>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595959"/>
                  </a:solidFill>
                  <a:latin typeface="DM Sans"/>
                  <a:ea typeface="DM Sans"/>
                  <a:cs typeface="DM Sans"/>
                  <a:sym typeface="DM Sans"/>
                </a:rPr>
                <a:t>User</a:t>
              </a:r>
              <a:endParaRPr>
                <a:solidFill>
                  <a:srgbClr val="595959"/>
                </a:solidFill>
                <a:latin typeface="DM Sans"/>
                <a:ea typeface="DM Sans"/>
                <a:cs typeface="DM Sans"/>
                <a:sym typeface="DM Sans"/>
              </a:endParaRPr>
            </a:p>
          </p:txBody>
        </p:sp>
        <p:sp>
          <p:nvSpPr>
            <p:cNvPr id="4137" name="Google Shape;4137;p159"/>
            <p:cNvSpPr txBox="1"/>
            <p:nvPr/>
          </p:nvSpPr>
          <p:spPr>
            <a:xfrm>
              <a:off x="3039707" y="4400162"/>
              <a:ext cx="1031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a:solidFill>
                    <a:srgbClr val="595959"/>
                  </a:solidFill>
                  <a:latin typeface="DM Sans"/>
                  <a:ea typeface="DM Sans"/>
                  <a:cs typeface="DM Sans"/>
                  <a:sym typeface="DM Sans"/>
                </a:rPr>
                <a:t>LLM</a:t>
              </a:r>
              <a:endParaRPr>
                <a:solidFill>
                  <a:srgbClr val="595959"/>
                </a:solidFill>
                <a:latin typeface="DM Sans"/>
                <a:ea typeface="DM Sans"/>
                <a:cs typeface="DM Sans"/>
                <a:sym typeface="DM Sans"/>
              </a:endParaRPr>
            </a:p>
          </p:txBody>
        </p:sp>
        <p:sp>
          <p:nvSpPr>
            <p:cNvPr id="4138" name="Google Shape;4138;p159"/>
            <p:cNvSpPr/>
            <p:nvPr/>
          </p:nvSpPr>
          <p:spPr>
            <a:xfrm>
              <a:off x="1835650" y="3815425"/>
              <a:ext cx="851100" cy="938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39" name="Google Shape;4139;p159"/>
            <p:cNvSpPr/>
            <p:nvPr/>
          </p:nvSpPr>
          <p:spPr>
            <a:xfrm>
              <a:off x="3129988" y="3815413"/>
              <a:ext cx="851100" cy="938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140" name="Google Shape;4140;p159"/>
            <p:cNvCxnSpPr/>
            <p:nvPr/>
          </p:nvCxnSpPr>
          <p:spPr>
            <a:xfrm>
              <a:off x="2686750" y="4132225"/>
              <a:ext cx="443100" cy="0"/>
            </a:xfrm>
            <a:prstGeom prst="straightConnector1">
              <a:avLst/>
            </a:prstGeom>
            <a:noFill/>
            <a:ln cap="flat" cmpd="sng" w="9525">
              <a:solidFill>
                <a:schemeClr val="accent2"/>
              </a:solidFill>
              <a:prstDash val="dash"/>
              <a:round/>
              <a:headEnd len="med" w="med" type="none"/>
              <a:tailEnd len="med" w="med" type="triangle"/>
            </a:ln>
          </p:spPr>
        </p:cxnSp>
        <p:cxnSp>
          <p:nvCxnSpPr>
            <p:cNvPr id="4141" name="Google Shape;4141;p159"/>
            <p:cNvCxnSpPr/>
            <p:nvPr/>
          </p:nvCxnSpPr>
          <p:spPr>
            <a:xfrm rot="10800000">
              <a:off x="2686750" y="4360825"/>
              <a:ext cx="443100" cy="0"/>
            </a:xfrm>
            <a:prstGeom prst="straightConnector1">
              <a:avLst/>
            </a:prstGeom>
            <a:noFill/>
            <a:ln cap="flat" cmpd="sng" w="9525">
              <a:solidFill>
                <a:schemeClr val="accent2"/>
              </a:solidFill>
              <a:prstDash val="dash"/>
              <a:round/>
              <a:headEnd len="med" w="med" type="none"/>
              <a:tailEnd len="med" w="med" type="triangle"/>
            </a:ln>
          </p:spPr>
        </p:cxnSp>
      </p:gr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4050"/>
          </a:srgbClr>
        </a:solidFill>
      </p:bgPr>
    </p:bg>
    <p:spTree>
      <p:nvGrpSpPr>
        <p:cNvPr id="4145" name="Shape 4145"/>
        <p:cNvGrpSpPr/>
        <p:nvPr/>
      </p:nvGrpSpPr>
      <p:grpSpPr>
        <a:xfrm>
          <a:off x="0" y="0"/>
          <a:ext cx="0" cy="0"/>
          <a:chOff x="0" y="0"/>
          <a:chExt cx="0" cy="0"/>
        </a:xfrm>
      </p:grpSpPr>
      <p:sp>
        <p:nvSpPr>
          <p:cNvPr id="4146" name="Google Shape;4146;p160"/>
          <p:cNvSpPr/>
          <p:nvPr/>
        </p:nvSpPr>
        <p:spPr>
          <a:xfrm>
            <a:off x="602899" y="5599225"/>
            <a:ext cx="2472000" cy="1174500"/>
          </a:xfrm>
          <a:prstGeom prst="roundRect">
            <a:avLst>
              <a:gd fmla="val 16667" name="adj"/>
            </a:avLst>
          </a:prstGeom>
          <a:solidFill>
            <a:srgbClr val="FFFFFF"/>
          </a:solidFill>
          <a:ln>
            <a:noFill/>
          </a:ln>
        </p:spPr>
        <p:txBody>
          <a:bodyPr anchorCtr="0" anchor="t" bIns="0" lIns="0" spcFirstLastPara="1" rIns="0" wrap="square" tIns="91425">
            <a:noAutofit/>
          </a:bodyPr>
          <a:lstStyle/>
          <a:p>
            <a:pPr indent="0" lvl="0" marL="0" rtl="0" algn="ctr">
              <a:spcBef>
                <a:spcPts val="0"/>
              </a:spcBef>
              <a:spcAft>
                <a:spcPts val="0"/>
              </a:spcAft>
              <a:buNone/>
            </a:pPr>
            <a:r>
              <a:t/>
            </a:r>
            <a:endParaRPr b="1" sz="900">
              <a:solidFill>
                <a:schemeClr val="accent1"/>
              </a:solidFill>
              <a:latin typeface="DM Sans"/>
              <a:ea typeface="DM Sans"/>
              <a:cs typeface="DM Sans"/>
              <a:sym typeface="DM Sans"/>
            </a:endParaRPr>
          </a:p>
        </p:txBody>
      </p:sp>
      <p:sp>
        <p:nvSpPr>
          <p:cNvPr id="4147" name="Google Shape;4147;p160"/>
          <p:cNvSpPr/>
          <p:nvPr/>
        </p:nvSpPr>
        <p:spPr>
          <a:xfrm>
            <a:off x="2275150" y="506950"/>
            <a:ext cx="9795600" cy="6153600"/>
          </a:xfrm>
          <a:prstGeom prst="rect">
            <a:avLst/>
          </a:prstGeom>
          <a:solidFill>
            <a:srgbClr val="F9F7F4"/>
          </a:solidFill>
          <a:ln cap="flat" cmpd="sng" w="19050">
            <a:solidFill>
              <a:srgbClr val="D5CE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4148" name="Google Shape;4148;p160"/>
          <p:cNvSpPr txBox="1"/>
          <p:nvPr/>
        </p:nvSpPr>
        <p:spPr>
          <a:xfrm>
            <a:off x="0" y="0"/>
            <a:ext cx="75330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/_static/images/mlflow/mlflow-logged-model-tracking.png</a:t>
            </a:r>
            <a:endParaRPr/>
          </a:p>
        </p:txBody>
      </p:sp>
      <p:sp>
        <p:nvSpPr>
          <p:cNvPr id="4149" name="Google Shape;4149;p160"/>
          <p:cNvSpPr/>
          <p:nvPr/>
        </p:nvSpPr>
        <p:spPr>
          <a:xfrm>
            <a:off x="6061150" y="2496975"/>
            <a:ext cx="992400" cy="459600"/>
          </a:xfrm>
          <a:prstGeom prst="rect">
            <a:avLst/>
          </a:prstGeom>
          <a:solidFill>
            <a:srgbClr val="FFFFFF">
              <a:alpha val="94050"/>
            </a:srgbClr>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DM Sans"/>
                <a:ea typeface="DM Sans"/>
                <a:cs typeface="DM Sans"/>
                <a:sym typeface="DM Sans"/>
              </a:rPr>
              <a:t>Evaluation feedback</a:t>
            </a:r>
            <a:endParaRPr sz="900">
              <a:solidFill>
                <a:schemeClr val="dk1"/>
              </a:solidFill>
              <a:latin typeface="DM Sans"/>
              <a:ea typeface="DM Sans"/>
              <a:cs typeface="DM Sans"/>
              <a:sym typeface="DM Sans"/>
            </a:endParaRPr>
          </a:p>
        </p:txBody>
      </p:sp>
      <p:sp>
        <p:nvSpPr>
          <p:cNvPr id="4150" name="Google Shape;4150;p160"/>
          <p:cNvSpPr/>
          <p:nvPr/>
        </p:nvSpPr>
        <p:spPr>
          <a:xfrm>
            <a:off x="7352950" y="2496975"/>
            <a:ext cx="992400" cy="459600"/>
          </a:xfrm>
          <a:prstGeom prst="rect">
            <a:avLst/>
          </a:prstGeom>
          <a:solidFill>
            <a:srgbClr val="FFFFFF">
              <a:alpha val="94050"/>
            </a:srgbClr>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DM Sans"/>
                <a:ea typeface="DM Sans"/>
                <a:cs typeface="DM Sans"/>
                <a:sym typeface="DM Sans"/>
              </a:rPr>
              <a:t>T</a:t>
            </a:r>
            <a:r>
              <a:rPr lang="en" sz="900">
                <a:solidFill>
                  <a:schemeClr val="dk1"/>
                </a:solidFill>
                <a:latin typeface="DM Sans"/>
                <a:ea typeface="DM Sans"/>
                <a:cs typeface="DM Sans"/>
                <a:sym typeface="DM Sans"/>
              </a:rPr>
              <a:t>race logs</a:t>
            </a:r>
            <a:endParaRPr sz="900">
              <a:solidFill>
                <a:schemeClr val="dk1"/>
              </a:solidFill>
              <a:latin typeface="DM Sans"/>
              <a:ea typeface="DM Sans"/>
              <a:cs typeface="DM Sans"/>
              <a:sym typeface="DM Sans"/>
            </a:endParaRPr>
          </a:p>
        </p:txBody>
      </p:sp>
      <p:sp>
        <p:nvSpPr>
          <p:cNvPr id="4151" name="Google Shape;4151;p160"/>
          <p:cNvSpPr/>
          <p:nvPr/>
        </p:nvSpPr>
        <p:spPr>
          <a:xfrm>
            <a:off x="3778700" y="3362725"/>
            <a:ext cx="1325400" cy="11745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900">
                <a:solidFill>
                  <a:schemeClr val="accent1"/>
                </a:solidFill>
                <a:latin typeface="DM Sans"/>
                <a:ea typeface="DM Sans"/>
                <a:cs typeface="DM Sans"/>
                <a:sym typeface="DM Sans"/>
              </a:rPr>
              <a:t>MLflow experiment</a:t>
            </a:r>
            <a:endParaRPr b="1" sz="900">
              <a:solidFill>
                <a:schemeClr val="accent1"/>
              </a:solidFill>
              <a:latin typeface="DM Sans"/>
              <a:ea typeface="DM Sans"/>
              <a:cs typeface="DM Sans"/>
              <a:sym typeface="DM Sans"/>
            </a:endParaRPr>
          </a:p>
        </p:txBody>
      </p:sp>
      <p:sp>
        <p:nvSpPr>
          <p:cNvPr id="4152" name="Google Shape;4152;p160"/>
          <p:cNvSpPr/>
          <p:nvPr/>
        </p:nvSpPr>
        <p:spPr>
          <a:xfrm>
            <a:off x="6490238" y="3318350"/>
            <a:ext cx="1158000" cy="12021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t" bIns="0" lIns="0" spcFirstLastPara="1" rIns="0" wrap="square" tIns="91425">
            <a:noAutofit/>
          </a:bodyPr>
          <a:lstStyle/>
          <a:p>
            <a:pPr indent="0" lvl="0" marL="0" rtl="0" algn="l">
              <a:spcBef>
                <a:spcPts val="0"/>
              </a:spcBef>
              <a:spcAft>
                <a:spcPts val="0"/>
              </a:spcAft>
              <a:buNone/>
            </a:pPr>
            <a:r>
              <a:t/>
            </a:r>
            <a:endParaRPr b="1" sz="1100">
              <a:latin typeface="DM Sans"/>
              <a:ea typeface="DM Sans"/>
              <a:cs typeface="DM Sans"/>
              <a:sym typeface="DM Sans"/>
            </a:endParaRPr>
          </a:p>
        </p:txBody>
      </p:sp>
      <p:sp>
        <p:nvSpPr>
          <p:cNvPr id="4153" name="Google Shape;4153;p160"/>
          <p:cNvSpPr/>
          <p:nvPr/>
        </p:nvSpPr>
        <p:spPr>
          <a:xfrm>
            <a:off x="3998275" y="3743775"/>
            <a:ext cx="885000" cy="6594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900">
                <a:solidFill>
                  <a:schemeClr val="accent1"/>
                </a:solidFill>
                <a:latin typeface="DM Sans"/>
                <a:ea typeface="DM Sans"/>
                <a:cs typeface="DM Sans"/>
                <a:sym typeface="DM Sans"/>
              </a:rPr>
              <a:t>MLflow run</a:t>
            </a:r>
            <a:endParaRPr b="1" sz="900">
              <a:solidFill>
                <a:schemeClr val="accent1"/>
              </a:solidFill>
              <a:latin typeface="DM Sans"/>
              <a:ea typeface="DM Sans"/>
              <a:cs typeface="DM Sans"/>
              <a:sym typeface="DM Sans"/>
            </a:endParaRPr>
          </a:p>
          <a:p>
            <a:pPr indent="0" lvl="0" marL="0" rtl="0" algn="ctr">
              <a:spcBef>
                <a:spcPts val="0"/>
              </a:spcBef>
              <a:spcAft>
                <a:spcPts val="0"/>
              </a:spcAft>
              <a:buNone/>
            </a:pPr>
            <a:r>
              <a:t/>
            </a:r>
            <a:endParaRPr b="1" sz="900">
              <a:solidFill>
                <a:schemeClr val="accent1"/>
              </a:solidFill>
              <a:latin typeface="DM Sans"/>
              <a:ea typeface="DM Sans"/>
              <a:cs typeface="DM Sans"/>
              <a:sym typeface="DM Sans"/>
            </a:endParaRPr>
          </a:p>
        </p:txBody>
      </p:sp>
      <p:sp>
        <p:nvSpPr>
          <p:cNvPr id="4154" name="Google Shape;4154;p160"/>
          <p:cNvSpPr/>
          <p:nvPr/>
        </p:nvSpPr>
        <p:spPr>
          <a:xfrm>
            <a:off x="6548850" y="3392850"/>
            <a:ext cx="1158000" cy="12021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t" bIns="0" lIns="0" spcFirstLastPara="1" rIns="0" wrap="square" tIns="91425">
            <a:noAutofit/>
          </a:bodyPr>
          <a:lstStyle/>
          <a:p>
            <a:pPr indent="0" lvl="0" marL="0" rtl="0" algn="l">
              <a:spcBef>
                <a:spcPts val="0"/>
              </a:spcBef>
              <a:spcAft>
                <a:spcPts val="0"/>
              </a:spcAft>
              <a:buNone/>
            </a:pPr>
            <a:r>
              <a:t/>
            </a:r>
            <a:endParaRPr b="1" sz="1100">
              <a:latin typeface="DM Sans"/>
              <a:ea typeface="DM Sans"/>
              <a:cs typeface="DM Sans"/>
              <a:sym typeface="DM Sans"/>
            </a:endParaRPr>
          </a:p>
        </p:txBody>
      </p:sp>
      <p:sp>
        <p:nvSpPr>
          <p:cNvPr id="4155" name="Google Shape;4155;p160"/>
          <p:cNvSpPr/>
          <p:nvPr/>
        </p:nvSpPr>
        <p:spPr>
          <a:xfrm>
            <a:off x="6625900" y="3475200"/>
            <a:ext cx="1158000" cy="12021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t" bIns="0" lIns="0" spcFirstLastPara="1" rIns="0" wrap="square" tIns="91425">
            <a:noAutofit/>
          </a:bodyPr>
          <a:lstStyle/>
          <a:p>
            <a:pPr indent="0" lvl="0" marL="0" rtl="0" algn="l">
              <a:spcBef>
                <a:spcPts val="0"/>
              </a:spcBef>
              <a:spcAft>
                <a:spcPts val="0"/>
              </a:spcAft>
              <a:buNone/>
            </a:pPr>
            <a:r>
              <a:rPr b="1" lang="en" sz="900">
                <a:solidFill>
                  <a:schemeClr val="dk1"/>
                </a:solidFill>
                <a:latin typeface="DM Sans"/>
                <a:ea typeface="DM Sans"/>
                <a:cs typeface="DM Sans"/>
                <a:sym typeface="DM Sans"/>
              </a:rPr>
              <a:t>Logged model</a:t>
            </a:r>
            <a:endParaRPr b="1"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a:t>
            </a:r>
            <a:r>
              <a:rPr lang="en" sz="900">
                <a:solidFill>
                  <a:schemeClr val="dk1"/>
                </a:solidFill>
                <a:latin typeface="DM Sans"/>
                <a:ea typeface="DM Sans"/>
                <a:cs typeface="DM Sans"/>
                <a:sym typeface="DM Sans"/>
              </a:rPr>
              <a:t>odel_id = 1</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name = foo-1</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s</a:t>
            </a:r>
            <a:r>
              <a:rPr lang="en" sz="900">
                <a:solidFill>
                  <a:schemeClr val="dk1"/>
                </a:solidFill>
                <a:latin typeface="DM Sans"/>
                <a:ea typeface="DM Sans"/>
                <a:cs typeface="DM Sans"/>
                <a:sym typeface="DM Sans"/>
              </a:rPr>
              <a:t>tep = 1</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model = DL-model</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parameters = {...}</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metrics = {...}</a:t>
            </a:r>
            <a:endParaRPr sz="900">
              <a:solidFill>
                <a:schemeClr val="dk1"/>
              </a:solidFill>
              <a:latin typeface="DM Sans"/>
              <a:ea typeface="DM Sans"/>
              <a:cs typeface="DM Sans"/>
              <a:sym typeface="DM Sans"/>
            </a:endParaRPr>
          </a:p>
        </p:txBody>
      </p:sp>
      <p:cxnSp>
        <p:nvCxnSpPr>
          <p:cNvPr id="4156" name="Google Shape;4156;p160"/>
          <p:cNvCxnSpPr>
            <a:stCxn id="4153" idx="3"/>
            <a:endCxn id="4155" idx="1"/>
          </p:cNvCxnSpPr>
          <p:nvPr/>
        </p:nvCxnSpPr>
        <p:spPr>
          <a:xfrm>
            <a:off x="4883275" y="4073475"/>
            <a:ext cx="1742700" cy="2700"/>
          </a:xfrm>
          <a:prstGeom prst="straightConnector1">
            <a:avLst/>
          </a:prstGeom>
          <a:noFill/>
          <a:ln cap="flat" cmpd="sng" w="19050">
            <a:solidFill>
              <a:srgbClr val="595959"/>
            </a:solidFill>
            <a:prstDash val="solid"/>
            <a:round/>
            <a:headEnd len="med" w="med" type="none"/>
            <a:tailEnd len="med" w="med" type="triangle"/>
          </a:ln>
        </p:spPr>
      </p:cxnSp>
      <p:sp>
        <p:nvSpPr>
          <p:cNvPr id="4157" name="Google Shape;4157;p160"/>
          <p:cNvSpPr/>
          <p:nvPr/>
        </p:nvSpPr>
        <p:spPr>
          <a:xfrm>
            <a:off x="3788801" y="725650"/>
            <a:ext cx="1325400" cy="11745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900">
                <a:solidFill>
                  <a:schemeClr val="accent1"/>
                </a:solidFill>
                <a:latin typeface="DM Sans"/>
                <a:ea typeface="DM Sans"/>
                <a:cs typeface="DM Sans"/>
                <a:sym typeface="DM Sans"/>
              </a:rPr>
              <a:t>MLflow experiment</a:t>
            </a:r>
            <a:endParaRPr b="1" sz="900">
              <a:solidFill>
                <a:schemeClr val="accent1"/>
              </a:solidFill>
              <a:latin typeface="DM Sans"/>
              <a:ea typeface="DM Sans"/>
              <a:cs typeface="DM Sans"/>
              <a:sym typeface="DM Sans"/>
            </a:endParaRPr>
          </a:p>
        </p:txBody>
      </p:sp>
      <p:sp>
        <p:nvSpPr>
          <p:cNvPr id="4158" name="Google Shape;4158;p160"/>
          <p:cNvSpPr/>
          <p:nvPr/>
        </p:nvSpPr>
        <p:spPr>
          <a:xfrm>
            <a:off x="4009525" y="1106700"/>
            <a:ext cx="885000" cy="6594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900">
                <a:solidFill>
                  <a:schemeClr val="accent1"/>
                </a:solidFill>
                <a:latin typeface="DM Sans"/>
                <a:ea typeface="DM Sans"/>
                <a:cs typeface="DM Sans"/>
                <a:sym typeface="DM Sans"/>
              </a:rPr>
              <a:t>MLflow run</a:t>
            </a:r>
            <a:endParaRPr b="1" sz="900">
              <a:solidFill>
                <a:schemeClr val="accent1"/>
              </a:solidFill>
              <a:latin typeface="DM Sans"/>
              <a:ea typeface="DM Sans"/>
              <a:cs typeface="DM Sans"/>
              <a:sym typeface="DM Sans"/>
            </a:endParaRPr>
          </a:p>
          <a:p>
            <a:pPr indent="0" lvl="0" marL="0" rtl="0" algn="ctr">
              <a:spcBef>
                <a:spcPts val="0"/>
              </a:spcBef>
              <a:spcAft>
                <a:spcPts val="0"/>
              </a:spcAft>
              <a:buNone/>
            </a:pPr>
            <a:r>
              <a:t/>
            </a:r>
            <a:endParaRPr b="1" sz="900">
              <a:solidFill>
                <a:schemeClr val="accent1"/>
              </a:solidFill>
              <a:latin typeface="DM Sans"/>
              <a:ea typeface="DM Sans"/>
              <a:cs typeface="DM Sans"/>
              <a:sym typeface="DM Sans"/>
            </a:endParaRPr>
          </a:p>
        </p:txBody>
      </p:sp>
      <p:sp>
        <p:nvSpPr>
          <p:cNvPr id="4159" name="Google Shape;4159;p160"/>
          <p:cNvSpPr/>
          <p:nvPr/>
        </p:nvSpPr>
        <p:spPr>
          <a:xfrm>
            <a:off x="6637150" y="725650"/>
            <a:ext cx="1158000" cy="14271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t" bIns="0" lIns="0" spcFirstLastPara="1" rIns="0" wrap="square" tIns="91425">
            <a:noAutofit/>
          </a:bodyPr>
          <a:lstStyle/>
          <a:p>
            <a:pPr indent="0" lvl="0" marL="0" rtl="0" algn="l">
              <a:spcBef>
                <a:spcPts val="0"/>
              </a:spcBef>
              <a:spcAft>
                <a:spcPts val="0"/>
              </a:spcAft>
              <a:buNone/>
            </a:pPr>
            <a:r>
              <a:rPr b="1" lang="en" sz="900">
                <a:solidFill>
                  <a:schemeClr val="dk1"/>
                </a:solidFill>
                <a:latin typeface="DM Sans"/>
                <a:ea typeface="DM Sans"/>
                <a:cs typeface="DM Sans"/>
                <a:sym typeface="DM Sans"/>
              </a:rPr>
              <a:t>Logged model</a:t>
            </a:r>
            <a:endParaRPr b="1"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a:t>
            </a:r>
            <a:r>
              <a:rPr lang="en" sz="900">
                <a:solidFill>
                  <a:schemeClr val="dk1"/>
                </a:solidFill>
                <a:latin typeface="DM Sans"/>
                <a:ea typeface="DM Sans"/>
                <a:cs typeface="DM Sans"/>
                <a:sym typeface="DM Sans"/>
              </a:rPr>
              <a:t>odel_id = 2</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name = bar-1</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model = AI-agent</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parameters = {...}</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metrics = {...}</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accent2"/>
                </a:solidFill>
                <a:latin typeface="DM Sans"/>
                <a:ea typeface="DM Sans"/>
                <a:cs typeface="DM Sans"/>
                <a:sym typeface="DM Sans"/>
              </a:rPr>
              <a:t>eval feedback</a:t>
            </a:r>
            <a:r>
              <a:rPr lang="en" sz="900">
                <a:solidFill>
                  <a:schemeClr val="accent2"/>
                </a:solidFill>
                <a:latin typeface="DM Sans"/>
                <a:ea typeface="DM Sans"/>
                <a:cs typeface="DM Sans"/>
                <a:sym typeface="DM Sans"/>
              </a:rPr>
              <a:t> = {...}</a:t>
            </a:r>
            <a:endParaRPr sz="900">
              <a:solidFill>
                <a:schemeClr val="accent2"/>
              </a:solidFill>
              <a:latin typeface="DM Sans"/>
              <a:ea typeface="DM Sans"/>
              <a:cs typeface="DM Sans"/>
              <a:sym typeface="DM Sans"/>
            </a:endParaRPr>
          </a:p>
          <a:p>
            <a:pPr indent="0" lvl="0" marL="0" rtl="0" algn="l">
              <a:spcBef>
                <a:spcPts val="0"/>
              </a:spcBef>
              <a:spcAft>
                <a:spcPts val="0"/>
              </a:spcAft>
              <a:buNone/>
            </a:pPr>
            <a:r>
              <a:rPr lang="en" sz="900">
                <a:solidFill>
                  <a:schemeClr val="accent2"/>
                </a:solidFill>
                <a:latin typeface="DM Sans"/>
                <a:ea typeface="DM Sans"/>
                <a:cs typeface="DM Sans"/>
                <a:sym typeface="DM Sans"/>
              </a:rPr>
              <a:t>trace logs = {...}</a:t>
            </a:r>
            <a:endParaRPr sz="900">
              <a:solidFill>
                <a:schemeClr val="accent2"/>
              </a:solidFill>
              <a:latin typeface="DM Sans"/>
              <a:ea typeface="DM Sans"/>
              <a:cs typeface="DM Sans"/>
              <a:sym typeface="DM Sans"/>
            </a:endParaRPr>
          </a:p>
        </p:txBody>
      </p:sp>
      <p:cxnSp>
        <p:nvCxnSpPr>
          <p:cNvPr id="4160" name="Google Shape;4160;p160"/>
          <p:cNvCxnSpPr>
            <a:stCxn id="4158" idx="3"/>
            <a:endCxn id="4159" idx="1"/>
          </p:cNvCxnSpPr>
          <p:nvPr/>
        </p:nvCxnSpPr>
        <p:spPr>
          <a:xfrm>
            <a:off x="4894525" y="1436400"/>
            <a:ext cx="1742700" cy="2700"/>
          </a:xfrm>
          <a:prstGeom prst="straightConnector1">
            <a:avLst/>
          </a:prstGeom>
          <a:noFill/>
          <a:ln cap="flat" cmpd="sng" w="19050">
            <a:solidFill>
              <a:srgbClr val="595959"/>
            </a:solidFill>
            <a:prstDash val="solid"/>
            <a:round/>
            <a:headEnd len="med" w="med" type="none"/>
            <a:tailEnd len="med" w="med" type="triangle"/>
          </a:ln>
        </p:spPr>
      </p:cxnSp>
      <p:sp>
        <p:nvSpPr>
          <p:cNvPr id="4161" name="Google Shape;4161;p160"/>
          <p:cNvSpPr/>
          <p:nvPr/>
        </p:nvSpPr>
        <p:spPr>
          <a:xfrm>
            <a:off x="3778700" y="5161525"/>
            <a:ext cx="1325400" cy="11745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900">
                <a:solidFill>
                  <a:schemeClr val="accent1"/>
                </a:solidFill>
                <a:latin typeface="DM Sans"/>
                <a:ea typeface="DM Sans"/>
                <a:cs typeface="DM Sans"/>
                <a:sym typeface="DM Sans"/>
              </a:rPr>
              <a:t>MLflow experiment</a:t>
            </a:r>
            <a:endParaRPr b="1" sz="900">
              <a:solidFill>
                <a:schemeClr val="accent1"/>
              </a:solidFill>
              <a:latin typeface="DM Sans"/>
              <a:ea typeface="DM Sans"/>
              <a:cs typeface="DM Sans"/>
              <a:sym typeface="DM Sans"/>
            </a:endParaRPr>
          </a:p>
        </p:txBody>
      </p:sp>
      <p:sp>
        <p:nvSpPr>
          <p:cNvPr id="4162" name="Google Shape;4162;p160"/>
          <p:cNvSpPr/>
          <p:nvPr/>
        </p:nvSpPr>
        <p:spPr>
          <a:xfrm>
            <a:off x="3998275" y="5542575"/>
            <a:ext cx="885000" cy="6594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91425">
            <a:noAutofit/>
          </a:bodyPr>
          <a:lstStyle/>
          <a:p>
            <a:pPr indent="0" lvl="0" marL="0" rtl="0" algn="ctr">
              <a:spcBef>
                <a:spcPts val="0"/>
              </a:spcBef>
              <a:spcAft>
                <a:spcPts val="0"/>
              </a:spcAft>
              <a:buNone/>
            </a:pPr>
            <a:r>
              <a:rPr b="1" lang="en" sz="900">
                <a:solidFill>
                  <a:schemeClr val="accent1"/>
                </a:solidFill>
                <a:latin typeface="DM Sans"/>
                <a:ea typeface="DM Sans"/>
                <a:cs typeface="DM Sans"/>
                <a:sym typeface="DM Sans"/>
              </a:rPr>
              <a:t>MLflow run</a:t>
            </a:r>
            <a:endParaRPr b="1" sz="900">
              <a:solidFill>
                <a:schemeClr val="accent1"/>
              </a:solidFill>
              <a:latin typeface="DM Sans"/>
              <a:ea typeface="DM Sans"/>
              <a:cs typeface="DM Sans"/>
              <a:sym typeface="DM Sans"/>
            </a:endParaRPr>
          </a:p>
          <a:p>
            <a:pPr indent="0" lvl="0" marL="0" rtl="0" algn="ctr">
              <a:spcBef>
                <a:spcPts val="0"/>
              </a:spcBef>
              <a:spcAft>
                <a:spcPts val="0"/>
              </a:spcAft>
              <a:buNone/>
            </a:pPr>
            <a:r>
              <a:t/>
            </a:r>
            <a:endParaRPr b="1" sz="900">
              <a:solidFill>
                <a:schemeClr val="accent1"/>
              </a:solidFill>
              <a:latin typeface="DM Sans"/>
              <a:ea typeface="DM Sans"/>
              <a:cs typeface="DM Sans"/>
              <a:sym typeface="DM Sans"/>
            </a:endParaRPr>
          </a:p>
        </p:txBody>
      </p:sp>
      <p:sp>
        <p:nvSpPr>
          <p:cNvPr id="4163" name="Google Shape;4163;p160"/>
          <p:cNvSpPr/>
          <p:nvPr/>
        </p:nvSpPr>
        <p:spPr>
          <a:xfrm>
            <a:off x="6637150" y="5274000"/>
            <a:ext cx="1158000" cy="12021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t" bIns="0" lIns="0" spcFirstLastPara="1" rIns="0" wrap="square" tIns="91425">
            <a:noAutofit/>
          </a:bodyPr>
          <a:lstStyle/>
          <a:p>
            <a:pPr indent="0" lvl="0" marL="0" rtl="0" algn="l">
              <a:spcBef>
                <a:spcPts val="0"/>
              </a:spcBef>
              <a:spcAft>
                <a:spcPts val="0"/>
              </a:spcAft>
              <a:buNone/>
            </a:pPr>
            <a:r>
              <a:rPr b="1" lang="en" sz="900">
                <a:solidFill>
                  <a:schemeClr val="dk1"/>
                </a:solidFill>
                <a:latin typeface="DM Sans"/>
                <a:ea typeface="DM Sans"/>
                <a:cs typeface="DM Sans"/>
                <a:sym typeface="DM Sans"/>
              </a:rPr>
              <a:t>Logged model</a:t>
            </a:r>
            <a:endParaRPr b="1"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a:t>
            </a:r>
            <a:r>
              <a:rPr lang="en" sz="900">
                <a:solidFill>
                  <a:schemeClr val="dk1"/>
                </a:solidFill>
                <a:latin typeface="DM Sans"/>
                <a:ea typeface="DM Sans"/>
                <a:cs typeface="DM Sans"/>
                <a:sym typeface="DM Sans"/>
              </a:rPr>
              <a:t>odel_id = 1</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name = foo-1</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model = ML-model</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parameters = {...}</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sz="900">
                <a:solidFill>
                  <a:schemeClr val="dk1"/>
                </a:solidFill>
                <a:latin typeface="DM Sans"/>
                <a:ea typeface="DM Sans"/>
                <a:cs typeface="DM Sans"/>
                <a:sym typeface="DM Sans"/>
              </a:rPr>
              <a:t>metrics = {...}</a:t>
            </a:r>
            <a:endParaRPr b="1" sz="1100">
              <a:solidFill>
                <a:schemeClr val="dk1"/>
              </a:solidFill>
              <a:latin typeface="DM Sans"/>
              <a:ea typeface="DM Sans"/>
              <a:cs typeface="DM Sans"/>
              <a:sym typeface="DM Sans"/>
            </a:endParaRPr>
          </a:p>
        </p:txBody>
      </p:sp>
      <p:cxnSp>
        <p:nvCxnSpPr>
          <p:cNvPr id="4164" name="Google Shape;4164;p160"/>
          <p:cNvCxnSpPr>
            <a:stCxn id="4162" idx="3"/>
            <a:endCxn id="4163" idx="1"/>
          </p:cNvCxnSpPr>
          <p:nvPr/>
        </p:nvCxnSpPr>
        <p:spPr>
          <a:xfrm>
            <a:off x="4883275" y="5872275"/>
            <a:ext cx="1753800" cy="2700"/>
          </a:xfrm>
          <a:prstGeom prst="straightConnector1">
            <a:avLst/>
          </a:prstGeom>
          <a:noFill/>
          <a:ln cap="flat" cmpd="sng" w="19050">
            <a:solidFill>
              <a:srgbClr val="595959"/>
            </a:solidFill>
            <a:prstDash val="solid"/>
            <a:round/>
            <a:headEnd len="med" w="med" type="none"/>
            <a:tailEnd len="med" w="med" type="triangle"/>
          </a:ln>
        </p:spPr>
      </p:cxnSp>
      <p:sp>
        <p:nvSpPr>
          <p:cNvPr id="4165" name="Google Shape;4165;p160"/>
          <p:cNvSpPr txBox="1"/>
          <p:nvPr/>
        </p:nvSpPr>
        <p:spPr>
          <a:xfrm>
            <a:off x="2275157" y="1499950"/>
            <a:ext cx="14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1"/>
                </a:solidFill>
                <a:latin typeface="DM Sans"/>
                <a:ea typeface="DM Sans"/>
                <a:cs typeface="DM Sans"/>
                <a:sym typeface="DM Sans"/>
              </a:rPr>
              <a:t>Gen AI agents</a:t>
            </a:r>
            <a:endParaRPr>
              <a:solidFill>
                <a:schemeClr val="accent1"/>
              </a:solidFill>
              <a:latin typeface="DM Sans"/>
              <a:ea typeface="DM Sans"/>
              <a:cs typeface="DM Sans"/>
              <a:sym typeface="DM Sans"/>
            </a:endParaRPr>
          </a:p>
        </p:txBody>
      </p:sp>
      <p:sp>
        <p:nvSpPr>
          <p:cNvPr id="4166" name="Google Shape;4166;p160"/>
          <p:cNvSpPr txBox="1"/>
          <p:nvPr/>
        </p:nvSpPr>
        <p:spPr>
          <a:xfrm>
            <a:off x="2275157" y="3876150"/>
            <a:ext cx="14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1"/>
                </a:solidFill>
                <a:latin typeface="DM Sans"/>
                <a:ea typeface="DM Sans"/>
                <a:cs typeface="DM Sans"/>
                <a:sym typeface="DM Sans"/>
              </a:rPr>
              <a:t>Deep learning</a:t>
            </a:r>
            <a:endParaRPr>
              <a:solidFill>
                <a:schemeClr val="accent1"/>
              </a:solidFill>
              <a:latin typeface="DM Sans"/>
              <a:ea typeface="DM Sans"/>
              <a:cs typeface="DM Sans"/>
              <a:sym typeface="DM Sans"/>
            </a:endParaRPr>
          </a:p>
        </p:txBody>
      </p:sp>
      <p:sp>
        <p:nvSpPr>
          <p:cNvPr id="4167" name="Google Shape;4167;p160"/>
          <p:cNvSpPr txBox="1"/>
          <p:nvPr/>
        </p:nvSpPr>
        <p:spPr>
          <a:xfrm>
            <a:off x="2275157" y="5599225"/>
            <a:ext cx="14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1"/>
                </a:solidFill>
                <a:latin typeface="DM Sans"/>
                <a:ea typeface="DM Sans"/>
                <a:cs typeface="DM Sans"/>
                <a:sym typeface="DM Sans"/>
              </a:rPr>
              <a:t>Traditional ML</a:t>
            </a:r>
            <a:endParaRPr>
              <a:solidFill>
                <a:schemeClr val="accent1"/>
              </a:solidFill>
              <a:latin typeface="DM Sans"/>
              <a:ea typeface="DM Sans"/>
              <a:cs typeface="DM Sans"/>
              <a:sym typeface="DM Sans"/>
            </a:endParaRPr>
          </a:p>
        </p:txBody>
      </p:sp>
      <p:cxnSp>
        <p:nvCxnSpPr>
          <p:cNvPr id="4168" name="Google Shape;4168;p160"/>
          <p:cNvCxnSpPr>
            <a:stCxn id="4149" idx="0"/>
            <a:endCxn id="4159" idx="2"/>
          </p:cNvCxnSpPr>
          <p:nvPr/>
        </p:nvCxnSpPr>
        <p:spPr>
          <a:xfrm rot="-5400000">
            <a:off x="6714700" y="1995525"/>
            <a:ext cx="344100" cy="658800"/>
          </a:xfrm>
          <a:prstGeom prst="bentConnector3">
            <a:avLst>
              <a:gd fmla="val 39603" name="adj1"/>
            </a:avLst>
          </a:prstGeom>
          <a:noFill/>
          <a:ln cap="flat" cmpd="sng" w="19050">
            <a:solidFill>
              <a:srgbClr val="595959"/>
            </a:solidFill>
            <a:prstDash val="solid"/>
            <a:round/>
            <a:headEnd len="med" w="med" type="none"/>
            <a:tailEnd len="med" w="med" type="triangle"/>
          </a:ln>
        </p:spPr>
      </p:cxnSp>
      <p:cxnSp>
        <p:nvCxnSpPr>
          <p:cNvPr id="4169" name="Google Shape;4169;p160"/>
          <p:cNvCxnSpPr>
            <a:stCxn id="4150" idx="0"/>
            <a:endCxn id="4159" idx="2"/>
          </p:cNvCxnSpPr>
          <p:nvPr/>
        </p:nvCxnSpPr>
        <p:spPr>
          <a:xfrm flipH="1" rot="5400000">
            <a:off x="7360600" y="2008425"/>
            <a:ext cx="344100" cy="633000"/>
          </a:xfrm>
          <a:prstGeom prst="bentConnector3">
            <a:avLst>
              <a:gd fmla="val 38710" name="adj1"/>
            </a:avLst>
          </a:prstGeom>
          <a:noFill/>
          <a:ln cap="flat" cmpd="sng" w="19050">
            <a:solidFill>
              <a:srgbClr val="595959"/>
            </a:solidFill>
            <a:prstDash val="solid"/>
            <a:round/>
            <a:headEnd len="med" w="med" type="none"/>
            <a:tailEnd len="med" w="med" type="triangle"/>
          </a:ln>
        </p:spPr>
      </p:cxnSp>
      <p:sp>
        <p:nvSpPr>
          <p:cNvPr id="4170" name="Google Shape;4170;p160"/>
          <p:cNvSpPr txBox="1"/>
          <p:nvPr/>
        </p:nvSpPr>
        <p:spPr>
          <a:xfrm>
            <a:off x="5261150" y="1170900"/>
            <a:ext cx="1103700" cy="531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900">
                <a:solidFill>
                  <a:schemeClr val="dk1"/>
                </a:solidFill>
                <a:latin typeface="DM Sans"/>
                <a:ea typeface="DM Sans"/>
                <a:cs typeface="DM Sans"/>
                <a:sym typeface="DM Sans"/>
              </a:rPr>
              <a:t>Logged during authoring</a:t>
            </a:r>
            <a:endParaRPr sz="900">
              <a:solidFill>
                <a:schemeClr val="dk1"/>
              </a:solidFill>
              <a:latin typeface="DM Sans"/>
              <a:ea typeface="DM Sans"/>
              <a:cs typeface="DM Sans"/>
              <a:sym typeface="DM Sans"/>
            </a:endParaRPr>
          </a:p>
        </p:txBody>
      </p:sp>
      <p:sp>
        <p:nvSpPr>
          <p:cNvPr id="4171" name="Google Shape;4171;p160"/>
          <p:cNvSpPr txBox="1"/>
          <p:nvPr/>
        </p:nvSpPr>
        <p:spPr>
          <a:xfrm>
            <a:off x="5246725" y="3810750"/>
            <a:ext cx="1158000" cy="531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900">
                <a:solidFill>
                  <a:schemeClr val="dk1"/>
                </a:solidFill>
                <a:latin typeface="DM Sans"/>
                <a:ea typeface="DM Sans"/>
                <a:cs typeface="DM Sans"/>
                <a:sym typeface="DM Sans"/>
              </a:rPr>
              <a:t>Logged  for each checkpoint</a:t>
            </a:r>
            <a:endParaRPr sz="900">
              <a:solidFill>
                <a:schemeClr val="dk1"/>
              </a:solidFill>
              <a:latin typeface="DM Sans"/>
              <a:ea typeface="DM Sans"/>
              <a:cs typeface="DM Sans"/>
              <a:sym typeface="DM Sans"/>
            </a:endParaRPr>
          </a:p>
        </p:txBody>
      </p:sp>
      <p:sp>
        <p:nvSpPr>
          <p:cNvPr id="4172" name="Google Shape;4172;p160"/>
          <p:cNvSpPr txBox="1"/>
          <p:nvPr/>
        </p:nvSpPr>
        <p:spPr>
          <a:xfrm>
            <a:off x="5351575" y="5599225"/>
            <a:ext cx="1047300" cy="531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900">
                <a:solidFill>
                  <a:schemeClr val="dk1"/>
                </a:solidFill>
                <a:latin typeface="DM Sans"/>
                <a:ea typeface="DM Sans"/>
                <a:cs typeface="DM Sans"/>
                <a:sym typeface="DM Sans"/>
              </a:rPr>
              <a:t>Logged during training</a:t>
            </a:r>
            <a:endParaRPr sz="900">
              <a:solidFill>
                <a:schemeClr val="dk1"/>
              </a:solidFill>
              <a:latin typeface="DM Sans"/>
              <a:ea typeface="DM Sans"/>
              <a:cs typeface="DM Sans"/>
              <a:sym typeface="DM Sans"/>
            </a:endParaRPr>
          </a:p>
        </p:txBody>
      </p:sp>
      <p:cxnSp>
        <p:nvCxnSpPr>
          <p:cNvPr id="4173" name="Google Shape;4173;p160"/>
          <p:cNvCxnSpPr/>
          <p:nvPr/>
        </p:nvCxnSpPr>
        <p:spPr>
          <a:xfrm>
            <a:off x="2371825" y="3093000"/>
            <a:ext cx="5973600" cy="0"/>
          </a:xfrm>
          <a:prstGeom prst="straightConnector1">
            <a:avLst/>
          </a:prstGeom>
          <a:noFill/>
          <a:ln cap="flat" cmpd="sng" w="19050">
            <a:solidFill>
              <a:schemeClr val="accent5"/>
            </a:solidFill>
            <a:prstDash val="dot"/>
            <a:round/>
            <a:headEnd len="med" w="med" type="none"/>
            <a:tailEnd len="med" w="med" type="none"/>
          </a:ln>
        </p:spPr>
      </p:cxnSp>
      <p:cxnSp>
        <p:nvCxnSpPr>
          <p:cNvPr id="4174" name="Google Shape;4174;p160"/>
          <p:cNvCxnSpPr/>
          <p:nvPr/>
        </p:nvCxnSpPr>
        <p:spPr>
          <a:xfrm>
            <a:off x="2371825" y="4915300"/>
            <a:ext cx="5973600" cy="0"/>
          </a:xfrm>
          <a:prstGeom prst="straightConnector1">
            <a:avLst/>
          </a:prstGeom>
          <a:noFill/>
          <a:ln cap="flat" cmpd="sng" w="19050">
            <a:solidFill>
              <a:schemeClr val="accent5"/>
            </a:solidFill>
            <a:prstDash val="dot"/>
            <a:round/>
            <a:headEnd len="med" w="med" type="none"/>
            <a:tailEnd len="med" w="med" type="none"/>
          </a:ln>
        </p:spPr>
      </p:cxnSp>
      <p:sp>
        <p:nvSpPr>
          <p:cNvPr id="4175" name="Google Shape;4175;p160"/>
          <p:cNvSpPr txBox="1"/>
          <p:nvPr/>
        </p:nvSpPr>
        <p:spPr>
          <a:xfrm>
            <a:off x="8913101" y="1766100"/>
            <a:ext cx="18408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DM Sans"/>
                <a:ea typeface="DM Sans"/>
                <a:cs typeface="DM Sans"/>
                <a:sym typeface="DM Sans"/>
              </a:rPr>
              <a:t>Search and filter</a:t>
            </a:r>
            <a:r>
              <a:rPr b="1" lang="en" sz="1300">
                <a:solidFill>
                  <a:schemeClr val="dk1"/>
                </a:solidFill>
                <a:latin typeface="DM Sans"/>
                <a:ea typeface="DM Sans"/>
                <a:cs typeface="DM Sans"/>
                <a:sym typeface="DM Sans"/>
              </a:rPr>
              <a:t> </a:t>
            </a:r>
            <a:r>
              <a:rPr b="1" lang="en" sz="1300">
                <a:solidFill>
                  <a:schemeClr val="accent2"/>
                </a:solidFill>
                <a:latin typeface="DM Sans"/>
                <a:ea typeface="DM Sans"/>
                <a:cs typeface="DM Sans"/>
                <a:sym typeface="DM Sans"/>
              </a:rPr>
              <a:t>LoggedModels</a:t>
            </a:r>
            <a:r>
              <a:rPr lang="en" sz="1300">
                <a:solidFill>
                  <a:schemeClr val="dk1"/>
                </a:solidFill>
                <a:latin typeface="DM Sans"/>
                <a:ea typeface="DM Sans"/>
                <a:cs typeface="DM Sans"/>
                <a:sym typeface="DM Sans"/>
              </a:rPr>
              <a:t> through a unified interface.</a:t>
            </a:r>
            <a:endParaRPr sz="1300">
              <a:solidFill>
                <a:schemeClr val="dk1"/>
              </a:solidFill>
              <a:latin typeface="DM Sans"/>
              <a:ea typeface="DM Sans"/>
              <a:cs typeface="DM Sans"/>
              <a:sym typeface="DM Sans"/>
            </a:endParaRPr>
          </a:p>
        </p:txBody>
      </p:sp>
      <p:pic>
        <p:nvPicPr>
          <p:cNvPr id="4176" name="Google Shape;4176;p160"/>
          <p:cNvPicPr preferRelativeResize="0"/>
          <p:nvPr/>
        </p:nvPicPr>
        <p:blipFill rotWithShape="1">
          <a:blip r:embed="rId3">
            <a:alphaModFix/>
          </a:blip>
          <a:srcRect b="18877" l="0" r="50000" t="0"/>
          <a:stretch/>
        </p:blipFill>
        <p:spPr>
          <a:xfrm>
            <a:off x="8913000" y="2820438"/>
            <a:ext cx="2870426" cy="2511625"/>
          </a:xfrm>
          <a:prstGeom prst="rect">
            <a:avLst/>
          </a:prstGeom>
          <a:noFill/>
          <a:ln>
            <a:noFill/>
          </a:ln>
        </p:spPr>
      </p:pic>
      <p:cxnSp>
        <p:nvCxnSpPr>
          <p:cNvPr id="4177" name="Google Shape;4177;p160"/>
          <p:cNvCxnSpPr>
            <a:stCxn id="4159" idx="3"/>
            <a:endCxn id="4176" idx="1"/>
          </p:cNvCxnSpPr>
          <p:nvPr/>
        </p:nvCxnSpPr>
        <p:spPr>
          <a:xfrm>
            <a:off x="7795150" y="1439200"/>
            <a:ext cx="1117800" cy="2637000"/>
          </a:xfrm>
          <a:prstGeom prst="bentConnector3">
            <a:avLst>
              <a:gd fmla="val 69377" name="adj1"/>
            </a:avLst>
          </a:prstGeom>
          <a:noFill/>
          <a:ln cap="flat" cmpd="sng" w="19050">
            <a:solidFill>
              <a:srgbClr val="595959"/>
            </a:solidFill>
            <a:prstDash val="solid"/>
            <a:round/>
            <a:headEnd len="med" w="med" type="none"/>
            <a:tailEnd len="med" w="med" type="triangle"/>
          </a:ln>
        </p:spPr>
      </p:cxnSp>
      <p:cxnSp>
        <p:nvCxnSpPr>
          <p:cNvPr id="4178" name="Google Shape;4178;p160"/>
          <p:cNvCxnSpPr>
            <a:stCxn id="4155" idx="3"/>
            <a:endCxn id="4176" idx="1"/>
          </p:cNvCxnSpPr>
          <p:nvPr/>
        </p:nvCxnSpPr>
        <p:spPr>
          <a:xfrm>
            <a:off x="7783900" y="4076250"/>
            <a:ext cx="1129200" cy="600"/>
          </a:xfrm>
          <a:prstGeom prst="bentConnector3">
            <a:avLst>
              <a:gd fmla="val 49996" name="adj1"/>
            </a:avLst>
          </a:prstGeom>
          <a:noFill/>
          <a:ln cap="flat" cmpd="sng" w="19050">
            <a:solidFill>
              <a:srgbClr val="595959"/>
            </a:solidFill>
            <a:prstDash val="solid"/>
            <a:round/>
            <a:headEnd len="med" w="med" type="none"/>
            <a:tailEnd len="med" w="med" type="triangle"/>
          </a:ln>
        </p:spPr>
      </p:cxnSp>
      <p:cxnSp>
        <p:nvCxnSpPr>
          <p:cNvPr id="4179" name="Google Shape;4179;p160"/>
          <p:cNvCxnSpPr>
            <a:stCxn id="4163" idx="3"/>
            <a:endCxn id="4176" idx="1"/>
          </p:cNvCxnSpPr>
          <p:nvPr/>
        </p:nvCxnSpPr>
        <p:spPr>
          <a:xfrm flipH="1" rot="10800000">
            <a:off x="7795150" y="4076250"/>
            <a:ext cx="1117800" cy="1798800"/>
          </a:xfrm>
          <a:prstGeom prst="bentConnector3">
            <a:avLst>
              <a:gd fmla="val 69377" name="adj1"/>
            </a:avLst>
          </a:prstGeom>
          <a:noFill/>
          <a:ln cap="flat" cmpd="sng" w="19050">
            <a:solidFill>
              <a:srgbClr val="595959"/>
            </a:solidFill>
            <a:prstDash val="solid"/>
            <a:round/>
            <a:headEnd len="med" w="med" type="none"/>
            <a:tailEnd len="med" w="med" type="triangle"/>
          </a:ln>
        </p:spPr>
      </p:cxnSp>
      <p:sp>
        <p:nvSpPr>
          <p:cNvPr id="4180" name="Google Shape;4180;p160"/>
          <p:cNvSpPr txBox="1"/>
          <p:nvPr/>
        </p:nvSpPr>
        <p:spPr>
          <a:xfrm>
            <a:off x="376100" y="506950"/>
            <a:ext cx="1779000" cy="19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accent2"/>
                </a:solidFill>
                <a:latin typeface="DM Sans"/>
                <a:ea typeface="DM Sans"/>
                <a:cs typeface="DM Sans"/>
                <a:sym typeface="DM Sans"/>
              </a:rPr>
              <a:t>LoggedModels</a:t>
            </a:r>
            <a:r>
              <a:rPr b="1" lang="en" sz="1300">
                <a:solidFill>
                  <a:schemeClr val="dk1"/>
                </a:solidFill>
                <a:latin typeface="DM Sans"/>
                <a:ea typeface="DM Sans"/>
                <a:cs typeface="DM Sans"/>
                <a:sym typeface="DM Sans"/>
              </a:rPr>
              <a:t> </a:t>
            </a:r>
            <a:endParaRPr b="1" sz="1300">
              <a:solidFill>
                <a:schemeClr val="dk1"/>
              </a:solidFill>
              <a:latin typeface="DM Sans"/>
              <a:ea typeface="DM Sans"/>
              <a:cs typeface="DM Sans"/>
              <a:sym typeface="DM Sans"/>
            </a:endParaRPr>
          </a:p>
          <a:p>
            <a:pPr indent="0" lvl="0" marL="0" rtl="0" algn="l">
              <a:spcBef>
                <a:spcPts val="0"/>
              </a:spcBef>
              <a:spcAft>
                <a:spcPts val="0"/>
              </a:spcAft>
              <a:buNone/>
            </a:pPr>
            <a:r>
              <a:rPr lang="en" sz="1300">
                <a:solidFill>
                  <a:schemeClr val="dk1"/>
                </a:solidFill>
                <a:latin typeface="DM Sans"/>
                <a:ea typeface="DM Sans"/>
                <a:cs typeface="DM Sans"/>
                <a:sym typeface="DM Sans"/>
              </a:rPr>
              <a:t>tie together all of a model’s critical information such parameters, metrics, and artifacts using a unique model ID.</a:t>
            </a:r>
            <a:endParaRPr>
              <a:latin typeface="DM Sans"/>
              <a:ea typeface="DM Sans"/>
              <a:cs typeface="DM Sans"/>
              <a:sym typeface="DM Sans"/>
            </a:endParaRPr>
          </a:p>
          <a:p>
            <a:pPr indent="0" lvl="0" marL="0" rtl="0" algn="l">
              <a:spcBef>
                <a:spcPts val="0"/>
              </a:spcBef>
              <a:spcAft>
                <a:spcPts val="0"/>
              </a:spcAft>
              <a:buNone/>
            </a:pPr>
            <a:r>
              <a:t/>
            </a:r>
            <a:endParaRPr sz="2400">
              <a:solidFill>
                <a:schemeClr val="dk1"/>
              </a:solidFill>
              <a:latin typeface="DM Sans"/>
              <a:ea typeface="DM Sans"/>
              <a:cs typeface="DM Sans"/>
              <a:sym typeface="DM San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4" name="Shape 4184"/>
        <p:cNvGrpSpPr/>
        <p:nvPr/>
      </p:nvGrpSpPr>
      <p:grpSpPr>
        <a:xfrm>
          <a:off x="0" y="0"/>
          <a:ext cx="0" cy="0"/>
          <a:chOff x="0" y="0"/>
          <a:chExt cx="0" cy="0"/>
        </a:xfrm>
      </p:grpSpPr>
      <p:sp>
        <p:nvSpPr>
          <p:cNvPr id="4185" name="Google Shape;4185;p161"/>
          <p:cNvSpPr/>
          <p:nvPr/>
        </p:nvSpPr>
        <p:spPr>
          <a:xfrm>
            <a:off x="2420400" y="4198472"/>
            <a:ext cx="1898700" cy="1653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Runtime</a:t>
            </a:r>
            <a:endParaRPr b="1" sz="1300">
              <a:latin typeface="DM Sans"/>
              <a:ea typeface="DM Sans"/>
              <a:cs typeface="DM Sans"/>
              <a:sym typeface="DM Sans"/>
            </a:endParaRPr>
          </a:p>
        </p:txBody>
      </p:sp>
      <p:sp>
        <p:nvSpPr>
          <p:cNvPr id="4186" name="Google Shape;4186;p161"/>
          <p:cNvSpPr/>
          <p:nvPr/>
        </p:nvSpPr>
        <p:spPr>
          <a:xfrm>
            <a:off x="2420400" y="1767122"/>
            <a:ext cx="1898700" cy="2278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t>Interfaces and abstractions</a:t>
            </a:r>
            <a:endParaRPr b="1" sz="1300"/>
          </a:p>
        </p:txBody>
      </p:sp>
      <p:sp>
        <p:nvSpPr>
          <p:cNvPr id="4187" name="Google Shape;4187;p161"/>
          <p:cNvSpPr/>
          <p:nvPr/>
        </p:nvSpPr>
        <p:spPr>
          <a:xfrm>
            <a:off x="2420400" y="1005938"/>
            <a:ext cx="1898700" cy="58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Orchestration</a:t>
            </a:r>
            <a:endParaRPr b="1" sz="1300">
              <a:latin typeface="DM Sans"/>
              <a:ea typeface="DM Sans"/>
              <a:cs typeface="DM Sans"/>
              <a:sym typeface="DM Sans"/>
            </a:endParaRPr>
          </a:p>
        </p:txBody>
      </p:sp>
      <p:sp>
        <p:nvSpPr>
          <p:cNvPr id="4188" name="Google Shape;4188;p161"/>
          <p:cNvSpPr/>
          <p:nvPr/>
        </p:nvSpPr>
        <p:spPr>
          <a:xfrm>
            <a:off x="4318890" y="1741796"/>
            <a:ext cx="5426100" cy="2278200"/>
          </a:xfrm>
          <a:prstGeom prst="roundRect">
            <a:avLst>
              <a:gd fmla="val 16667" name="adj"/>
            </a:avLst>
          </a:prstGeom>
          <a:solidFill>
            <a:schemeClr val="lt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Lakeflow Connect</a:t>
            </a:r>
            <a:endParaRPr b="1" sz="1300">
              <a:latin typeface="DM Sans"/>
              <a:ea typeface="DM Sans"/>
              <a:cs typeface="DM Sans"/>
              <a:sym typeface="DM Sans"/>
            </a:endParaRPr>
          </a:p>
          <a:p>
            <a:pPr indent="0" lvl="0" marL="0" rtl="0" algn="ctr">
              <a:spcBef>
                <a:spcPts val="0"/>
              </a:spcBef>
              <a:spcAft>
                <a:spcPts val="0"/>
              </a:spcAft>
              <a:buNone/>
            </a:pPr>
            <a:r>
              <a:rPr lang="en" sz="1300">
                <a:latin typeface="DM Sans"/>
                <a:ea typeface="DM Sans"/>
                <a:cs typeface="DM Sans"/>
                <a:sym typeface="DM Sans"/>
              </a:rPr>
              <a:t>UI and configuration, Managed connectors</a:t>
            </a:r>
            <a:endParaRPr sz="1300">
              <a:latin typeface="DM Sans"/>
              <a:ea typeface="DM Sans"/>
              <a:cs typeface="DM Sans"/>
              <a:sym typeface="DM Sans"/>
            </a:endParaRPr>
          </a:p>
          <a:p>
            <a:pPr indent="0" lvl="0" marL="0" rtl="0" algn="ctr">
              <a:spcBef>
                <a:spcPts val="0"/>
              </a:spcBef>
              <a:spcAft>
                <a:spcPts val="0"/>
              </a:spcAft>
              <a:buNone/>
            </a:pPr>
            <a:r>
              <a:t/>
            </a:r>
            <a:endParaRPr sz="1000">
              <a:latin typeface="DM Sans"/>
              <a:ea typeface="DM Sans"/>
              <a:cs typeface="DM Sans"/>
              <a:sym typeface="DM Sans"/>
            </a:endParaRPr>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p:txBody>
      </p:sp>
      <p:sp>
        <p:nvSpPr>
          <p:cNvPr id="4189" name="Google Shape;4189;p161"/>
          <p:cNvSpPr/>
          <p:nvPr/>
        </p:nvSpPr>
        <p:spPr>
          <a:xfrm>
            <a:off x="4342455" y="4173146"/>
            <a:ext cx="5426100" cy="1653600"/>
          </a:xfrm>
          <a:prstGeom prst="roundRect">
            <a:avLst>
              <a:gd fmla="val 16667" name="adj"/>
            </a:avLst>
          </a:prstGeom>
          <a:solidFill>
            <a:schemeClr val="lt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Databricks Runtime for Apache Spark</a:t>
            </a:r>
            <a:endParaRPr b="1" sz="1300">
              <a:latin typeface="DM Sans"/>
              <a:ea typeface="DM Sans"/>
              <a:cs typeface="DM Sans"/>
              <a:sym typeface="DM Sans"/>
            </a:endParaRPr>
          </a:p>
        </p:txBody>
      </p:sp>
      <p:sp>
        <p:nvSpPr>
          <p:cNvPr id="4190" name="Google Shape;4190;p161"/>
          <p:cNvSpPr/>
          <p:nvPr/>
        </p:nvSpPr>
        <p:spPr>
          <a:xfrm>
            <a:off x="4540289" y="2397545"/>
            <a:ext cx="4983300" cy="1471500"/>
          </a:xfrm>
          <a:prstGeom prst="roundRect">
            <a:avLst>
              <a:gd fmla="val 16667" name="adj"/>
            </a:avLst>
          </a:prstGeom>
          <a:solidFill>
            <a:schemeClr val="accent5"/>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DM Sans"/>
                <a:ea typeface="DM Sans"/>
                <a:cs typeface="DM Sans"/>
                <a:sym typeface="DM Sans"/>
              </a:rPr>
              <a:t>Lakeflow Declarative Pipelines</a:t>
            </a:r>
            <a:r>
              <a:rPr lang="en" sz="1300">
                <a:solidFill>
                  <a:schemeClr val="lt1"/>
                </a:solidFill>
                <a:latin typeface="DM Sans"/>
                <a:ea typeface="DM Sans"/>
                <a:cs typeface="DM Sans"/>
                <a:sym typeface="DM Sans"/>
              </a:rPr>
              <a:t> </a:t>
            </a:r>
            <a:br>
              <a:rPr lang="en" sz="1300">
                <a:solidFill>
                  <a:schemeClr val="lt1"/>
                </a:solidFill>
                <a:latin typeface="DM Sans"/>
                <a:ea typeface="DM Sans"/>
                <a:cs typeface="DM Sans"/>
                <a:sym typeface="DM Sans"/>
              </a:rPr>
            </a:br>
            <a:r>
              <a:rPr lang="en" sz="1300">
                <a:solidFill>
                  <a:schemeClr val="lt1"/>
                </a:solidFill>
                <a:latin typeface="DM Sans"/>
                <a:ea typeface="DM Sans"/>
                <a:cs typeface="DM Sans"/>
                <a:sym typeface="DM Sans"/>
              </a:rPr>
              <a:t>APIs for flows, sinks, streaming tables, materialized views </a:t>
            </a:r>
            <a:endParaRPr sz="1300">
              <a:solidFill>
                <a:schemeClr val="lt1"/>
              </a:solidFill>
              <a:latin typeface="DM Sans"/>
              <a:ea typeface="DM Sans"/>
              <a:cs typeface="DM Sans"/>
              <a:sym typeface="DM Sans"/>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t/>
            </a:r>
            <a:endParaRPr sz="1000">
              <a:solidFill>
                <a:schemeClr val="lt1"/>
              </a:solidFill>
            </a:endParaRPr>
          </a:p>
          <a:p>
            <a:pPr indent="0" lvl="0" marL="0" rtl="0" algn="ctr">
              <a:spcBef>
                <a:spcPts val="0"/>
              </a:spcBef>
              <a:spcAft>
                <a:spcPts val="0"/>
              </a:spcAft>
              <a:buNone/>
            </a:pPr>
            <a:r>
              <a:t/>
            </a:r>
            <a:endParaRPr sz="1000">
              <a:solidFill>
                <a:schemeClr val="lt1"/>
              </a:solidFill>
            </a:endParaRPr>
          </a:p>
          <a:p>
            <a:pPr indent="0" lvl="0" marL="0" rtl="0" algn="ctr">
              <a:spcBef>
                <a:spcPts val="0"/>
              </a:spcBef>
              <a:spcAft>
                <a:spcPts val="0"/>
              </a:spcAft>
              <a:buNone/>
            </a:pPr>
            <a:r>
              <a:t/>
            </a:r>
            <a:endParaRPr sz="1000">
              <a:solidFill>
                <a:schemeClr val="lt1"/>
              </a:solidFill>
            </a:endParaRPr>
          </a:p>
          <a:p>
            <a:pPr indent="0" lvl="0" marL="0" rtl="0" algn="l">
              <a:spcBef>
                <a:spcPts val="0"/>
              </a:spcBef>
              <a:spcAft>
                <a:spcPts val="0"/>
              </a:spcAft>
              <a:buNone/>
            </a:pPr>
            <a:r>
              <a:t/>
            </a:r>
            <a:endParaRPr sz="1000">
              <a:solidFill>
                <a:schemeClr val="lt1"/>
              </a:solidFill>
            </a:endParaRPr>
          </a:p>
        </p:txBody>
      </p:sp>
      <p:sp>
        <p:nvSpPr>
          <p:cNvPr id="4191" name="Google Shape;4191;p161"/>
          <p:cNvSpPr/>
          <p:nvPr/>
        </p:nvSpPr>
        <p:spPr>
          <a:xfrm>
            <a:off x="4676659" y="3048479"/>
            <a:ext cx="4710900" cy="5826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DM Sans"/>
                <a:ea typeface="DM Sans"/>
                <a:cs typeface="DM Sans"/>
                <a:sym typeface="DM Sans"/>
              </a:rPr>
              <a:t>Apache Spark and Structured Streaming: DataFrame APIs</a:t>
            </a:r>
            <a:endParaRPr sz="1300">
              <a:latin typeface="DM Sans"/>
              <a:ea typeface="DM Sans"/>
              <a:cs typeface="DM Sans"/>
              <a:sym typeface="DM Sans"/>
            </a:endParaRPr>
          </a:p>
        </p:txBody>
      </p:sp>
      <p:sp>
        <p:nvSpPr>
          <p:cNvPr id="4192" name="Google Shape;4192;p161"/>
          <p:cNvSpPr/>
          <p:nvPr/>
        </p:nvSpPr>
        <p:spPr>
          <a:xfrm>
            <a:off x="4318890" y="1005938"/>
            <a:ext cx="5426100" cy="582600"/>
          </a:xfrm>
          <a:prstGeom prst="roundRect">
            <a:avLst>
              <a:gd fmla="val 16667" name="adj"/>
            </a:avLst>
          </a:prstGeom>
          <a:solidFill>
            <a:schemeClr val="lt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Lakeflow </a:t>
            </a:r>
            <a:r>
              <a:rPr b="1" lang="en" sz="1300">
                <a:latin typeface="DM Sans"/>
                <a:ea typeface="DM Sans"/>
                <a:cs typeface="DM Sans"/>
                <a:sym typeface="DM Sans"/>
              </a:rPr>
              <a:t>Jobs</a:t>
            </a:r>
            <a:endParaRPr b="1" sz="1300">
              <a:latin typeface="DM Sans"/>
              <a:ea typeface="DM Sans"/>
              <a:cs typeface="DM Sans"/>
              <a:sym typeface="DM Sans"/>
            </a:endParaRPr>
          </a:p>
          <a:p>
            <a:pPr indent="0" lvl="0" marL="0" rtl="0" algn="ctr">
              <a:spcBef>
                <a:spcPts val="0"/>
              </a:spcBef>
              <a:spcAft>
                <a:spcPts val="0"/>
              </a:spcAft>
              <a:buNone/>
            </a:pPr>
            <a:r>
              <a:rPr lang="en" sz="1300">
                <a:latin typeface="DM Sans"/>
                <a:ea typeface="DM Sans"/>
                <a:cs typeface="DM Sans"/>
                <a:sym typeface="DM Sans"/>
              </a:rPr>
              <a:t>Schedules and triggers</a:t>
            </a:r>
            <a:endParaRPr sz="1300">
              <a:latin typeface="DM Sans"/>
              <a:ea typeface="DM Sans"/>
              <a:cs typeface="DM Sans"/>
              <a:sym typeface="DM Sans"/>
            </a:endParaRPr>
          </a:p>
        </p:txBody>
      </p:sp>
      <p:sp>
        <p:nvSpPr>
          <p:cNvPr id="4193" name="Google Shape;4193;p161"/>
          <p:cNvSpPr/>
          <p:nvPr/>
        </p:nvSpPr>
        <p:spPr>
          <a:xfrm>
            <a:off x="4462764" y="4608458"/>
            <a:ext cx="5181000" cy="518700"/>
          </a:xfrm>
          <a:prstGeom prst="roundRect">
            <a:avLst>
              <a:gd fmla="val 16667" name="adj"/>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DM Sans"/>
                <a:ea typeface="DM Sans"/>
                <a:cs typeface="DM Sans"/>
                <a:sym typeface="DM Sans"/>
              </a:rPr>
              <a:t>Standard connectors</a:t>
            </a:r>
            <a:endParaRPr sz="1300">
              <a:solidFill>
                <a:schemeClr val="lt1"/>
              </a:solidFill>
              <a:latin typeface="DM Sans"/>
              <a:ea typeface="DM Sans"/>
              <a:cs typeface="DM Sans"/>
              <a:sym typeface="DM Sans"/>
            </a:endParaRPr>
          </a:p>
        </p:txBody>
      </p:sp>
      <p:sp>
        <p:nvSpPr>
          <p:cNvPr id="4194" name="Google Shape;4194;p161"/>
          <p:cNvSpPr/>
          <p:nvPr/>
        </p:nvSpPr>
        <p:spPr>
          <a:xfrm>
            <a:off x="4462764" y="5199368"/>
            <a:ext cx="5181000" cy="518700"/>
          </a:xfrm>
          <a:prstGeom prst="roundRect">
            <a:avLst>
              <a:gd fmla="val 16667" name="adj"/>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DM Sans"/>
                <a:ea typeface="DM Sans"/>
                <a:cs typeface="DM Sans"/>
                <a:sym typeface="DM Sans"/>
              </a:rPr>
              <a:t>Apache Spark and Structured Streaming Engine</a:t>
            </a:r>
            <a:endParaRPr sz="1300">
              <a:solidFill>
                <a:schemeClr val="lt1"/>
              </a:solidFill>
              <a:latin typeface="DM Sans"/>
              <a:ea typeface="DM Sans"/>
              <a:cs typeface="DM Sans"/>
              <a:sym typeface="DM Sans"/>
            </a:endParaRPr>
          </a:p>
        </p:txBody>
      </p:sp>
      <p:sp>
        <p:nvSpPr>
          <p:cNvPr id="4195" name="Google Shape;4195;p161"/>
          <p:cNvSpPr txBox="1"/>
          <p:nvPr/>
        </p:nvSpPr>
        <p:spPr>
          <a:xfrm>
            <a:off x="0" y="0"/>
            <a:ext cx="75330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/_static/images/data-engineering/data-engineering-overview.png</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9" name="Shape 4199"/>
        <p:cNvGrpSpPr/>
        <p:nvPr/>
      </p:nvGrpSpPr>
      <p:grpSpPr>
        <a:xfrm>
          <a:off x="0" y="0"/>
          <a:ext cx="0" cy="0"/>
          <a:chOff x="0" y="0"/>
          <a:chExt cx="0" cy="0"/>
        </a:xfrm>
      </p:grpSpPr>
      <p:sp>
        <p:nvSpPr>
          <p:cNvPr id="4200" name="Google Shape;4200;p162"/>
          <p:cNvSpPr/>
          <p:nvPr/>
        </p:nvSpPr>
        <p:spPr>
          <a:xfrm>
            <a:off x="4208814" y="1049133"/>
            <a:ext cx="6990000" cy="46599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n" sz="1500">
                <a:latin typeface="DM Sans"/>
                <a:ea typeface="DM Sans"/>
                <a:cs typeface="DM Sans"/>
                <a:sym typeface="DM Sans"/>
              </a:rPr>
              <a:t>Pipeline</a:t>
            </a:r>
            <a:endParaRPr b="1"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201" name="Google Shape;4201;p162"/>
          <p:cNvSpPr/>
          <p:nvPr/>
        </p:nvSpPr>
        <p:spPr>
          <a:xfrm>
            <a:off x="8071280" y="1566048"/>
            <a:ext cx="2938800" cy="22353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Streaming Target</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4202" name="Google Shape;4202;p162"/>
          <p:cNvSpPr/>
          <p:nvPr/>
        </p:nvSpPr>
        <p:spPr>
          <a:xfrm>
            <a:off x="8071280" y="3943700"/>
            <a:ext cx="2938800" cy="1382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Batch Target</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4203" name="Google Shape;4203;p162"/>
          <p:cNvSpPr/>
          <p:nvPr/>
        </p:nvSpPr>
        <p:spPr>
          <a:xfrm>
            <a:off x="4408763" y="3943700"/>
            <a:ext cx="2938800" cy="1382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Batch Semantics</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4204" name="Google Shape;4204;p162"/>
          <p:cNvSpPr/>
          <p:nvPr/>
        </p:nvSpPr>
        <p:spPr>
          <a:xfrm>
            <a:off x="4408763" y="1569167"/>
            <a:ext cx="2938800" cy="22353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Streaming Semantics</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4205" name="Google Shape;4205;p162"/>
          <p:cNvSpPr/>
          <p:nvPr/>
        </p:nvSpPr>
        <p:spPr>
          <a:xfrm>
            <a:off x="4829607" y="341967"/>
            <a:ext cx="2343900" cy="71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DM Sans"/>
                <a:ea typeface="DM Sans"/>
                <a:cs typeface="DM Sans"/>
                <a:sym typeface="DM Sans"/>
              </a:rPr>
              <a:t>Processing</a:t>
            </a:r>
            <a:endParaRPr b="1" sz="1500">
              <a:latin typeface="DM Sans"/>
              <a:ea typeface="DM Sans"/>
              <a:cs typeface="DM Sans"/>
              <a:sym typeface="DM Sans"/>
            </a:endParaRPr>
          </a:p>
        </p:txBody>
      </p:sp>
      <p:sp>
        <p:nvSpPr>
          <p:cNvPr id="4206" name="Google Shape;4206;p162"/>
          <p:cNvSpPr/>
          <p:nvPr/>
        </p:nvSpPr>
        <p:spPr>
          <a:xfrm>
            <a:off x="8636721" y="341967"/>
            <a:ext cx="2343900" cy="71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DM Sans"/>
                <a:ea typeface="DM Sans"/>
                <a:cs typeface="DM Sans"/>
                <a:sym typeface="DM Sans"/>
              </a:rPr>
              <a:t>Target</a:t>
            </a:r>
            <a:endParaRPr b="1" sz="1500">
              <a:latin typeface="DM Sans"/>
              <a:ea typeface="DM Sans"/>
              <a:cs typeface="DM Sans"/>
              <a:sym typeface="DM Sans"/>
            </a:endParaRPr>
          </a:p>
        </p:txBody>
      </p:sp>
      <p:sp>
        <p:nvSpPr>
          <p:cNvPr id="4207" name="Google Shape;4207;p162"/>
          <p:cNvSpPr/>
          <p:nvPr/>
        </p:nvSpPr>
        <p:spPr>
          <a:xfrm>
            <a:off x="1201799" y="2109699"/>
            <a:ext cx="2321400" cy="15387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 sz="1500">
                <a:solidFill>
                  <a:schemeClr val="dk1"/>
                </a:solidFill>
                <a:latin typeface="DM Sans"/>
                <a:ea typeface="DM Sans"/>
                <a:cs typeface="DM Sans"/>
                <a:sym typeface="DM Sans"/>
              </a:rPr>
              <a:t>Streaming Sources</a:t>
            </a:r>
            <a:endParaRPr b="1" sz="15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b="1" sz="15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Files, Tables, Events, Change Data Feeds, etc.</a:t>
            </a:r>
            <a:endParaRPr sz="1500">
              <a:solidFill>
                <a:schemeClr val="dk1"/>
              </a:solidFill>
              <a:latin typeface="DM Sans"/>
              <a:ea typeface="DM Sans"/>
              <a:cs typeface="DM Sans"/>
              <a:sym typeface="DM Sans"/>
            </a:endParaRPr>
          </a:p>
        </p:txBody>
      </p:sp>
      <p:sp>
        <p:nvSpPr>
          <p:cNvPr id="4208" name="Google Shape;4208;p162"/>
          <p:cNvSpPr/>
          <p:nvPr/>
        </p:nvSpPr>
        <p:spPr>
          <a:xfrm>
            <a:off x="8503172" y="2962115"/>
            <a:ext cx="2075100" cy="7191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Streaming table</a:t>
            </a:r>
            <a:endParaRPr sz="1500">
              <a:latin typeface="DM Sans"/>
              <a:ea typeface="DM Sans"/>
              <a:cs typeface="DM Sans"/>
              <a:sym typeface="DM Sans"/>
            </a:endParaRPr>
          </a:p>
        </p:txBody>
      </p:sp>
      <p:sp>
        <p:nvSpPr>
          <p:cNvPr id="4209" name="Google Shape;4209;p162"/>
          <p:cNvSpPr/>
          <p:nvPr/>
        </p:nvSpPr>
        <p:spPr>
          <a:xfrm>
            <a:off x="8503172" y="4466233"/>
            <a:ext cx="2075100" cy="719100"/>
          </a:xfrm>
          <a:prstGeom prst="roundRect">
            <a:avLst>
              <a:gd fmla="val 16667" name="adj"/>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Materialized view</a:t>
            </a:r>
            <a:endParaRPr sz="1500">
              <a:latin typeface="DM Sans"/>
              <a:ea typeface="DM Sans"/>
              <a:cs typeface="DM Sans"/>
              <a:sym typeface="DM Sans"/>
            </a:endParaRPr>
          </a:p>
        </p:txBody>
      </p:sp>
      <p:sp>
        <p:nvSpPr>
          <p:cNvPr id="4210" name="Google Shape;4210;p162"/>
          <p:cNvSpPr/>
          <p:nvPr/>
        </p:nvSpPr>
        <p:spPr>
          <a:xfrm>
            <a:off x="8503172" y="2142515"/>
            <a:ext cx="2075100" cy="7191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Sink</a:t>
            </a:r>
            <a:endParaRPr sz="1500">
              <a:latin typeface="DM Sans"/>
              <a:ea typeface="DM Sans"/>
              <a:cs typeface="DM Sans"/>
              <a:sym typeface="DM Sans"/>
            </a:endParaRPr>
          </a:p>
        </p:txBody>
      </p:sp>
      <p:sp>
        <p:nvSpPr>
          <p:cNvPr id="4211" name="Google Shape;4211;p162"/>
          <p:cNvSpPr/>
          <p:nvPr/>
        </p:nvSpPr>
        <p:spPr>
          <a:xfrm>
            <a:off x="4840656" y="2113700"/>
            <a:ext cx="2075100" cy="7191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Flow types:</a:t>
            </a:r>
            <a:endParaRPr sz="1500">
              <a:latin typeface="DM Sans"/>
              <a:ea typeface="DM Sans"/>
              <a:cs typeface="DM Sans"/>
              <a:sym typeface="DM Sans"/>
            </a:endParaRPr>
          </a:p>
          <a:p>
            <a:pPr indent="0" lvl="0" marL="0" rtl="0" algn="ctr">
              <a:spcBef>
                <a:spcPts val="0"/>
              </a:spcBef>
              <a:spcAft>
                <a:spcPts val="0"/>
              </a:spcAft>
              <a:buNone/>
            </a:pPr>
            <a:r>
              <a:rPr lang="en" sz="1500">
                <a:latin typeface="DM Sans"/>
                <a:ea typeface="DM Sans"/>
                <a:cs typeface="DM Sans"/>
                <a:sym typeface="DM Sans"/>
              </a:rPr>
              <a:t>Append, Update, and Complete</a:t>
            </a:r>
            <a:endParaRPr sz="1500">
              <a:latin typeface="DM Sans"/>
              <a:ea typeface="DM Sans"/>
              <a:cs typeface="DM Sans"/>
              <a:sym typeface="DM Sans"/>
            </a:endParaRPr>
          </a:p>
        </p:txBody>
      </p:sp>
      <p:sp>
        <p:nvSpPr>
          <p:cNvPr id="4212" name="Google Shape;4212;p162"/>
          <p:cNvSpPr/>
          <p:nvPr/>
        </p:nvSpPr>
        <p:spPr>
          <a:xfrm>
            <a:off x="4840656" y="2933300"/>
            <a:ext cx="2075100" cy="7191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Flow type:</a:t>
            </a:r>
            <a:endParaRPr sz="1500">
              <a:latin typeface="DM Sans"/>
              <a:ea typeface="DM Sans"/>
              <a:cs typeface="DM Sans"/>
              <a:sym typeface="DM Sans"/>
            </a:endParaRPr>
          </a:p>
          <a:p>
            <a:pPr indent="0" lvl="0" marL="0" rtl="0" algn="ctr">
              <a:spcBef>
                <a:spcPts val="0"/>
              </a:spcBef>
              <a:spcAft>
                <a:spcPts val="0"/>
              </a:spcAft>
              <a:buNone/>
            </a:pPr>
            <a:r>
              <a:rPr lang="en" sz="1500">
                <a:latin typeface="DM Sans"/>
                <a:ea typeface="DM Sans"/>
                <a:cs typeface="DM Sans"/>
                <a:sym typeface="DM Sans"/>
              </a:rPr>
              <a:t>Apply Changes</a:t>
            </a:r>
            <a:endParaRPr sz="1500">
              <a:latin typeface="DM Sans"/>
              <a:ea typeface="DM Sans"/>
              <a:cs typeface="DM Sans"/>
              <a:sym typeface="DM Sans"/>
            </a:endParaRPr>
          </a:p>
        </p:txBody>
      </p:sp>
      <p:sp>
        <p:nvSpPr>
          <p:cNvPr id="4213" name="Google Shape;4213;p162"/>
          <p:cNvSpPr/>
          <p:nvPr/>
        </p:nvSpPr>
        <p:spPr>
          <a:xfrm>
            <a:off x="4840656" y="4466245"/>
            <a:ext cx="2075100" cy="719100"/>
          </a:xfrm>
          <a:prstGeom prst="roundRect">
            <a:avLst>
              <a:gd fmla="val 16667" name="adj"/>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Flow type: Materialized view </a:t>
            </a:r>
            <a:endParaRPr sz="1500">
              <a:latin typeface="DM Sans"/>
              <a:ea typeface="DM Sans"/>
              <a:cs typeface="DM Sans"/>
              <a:sym typeface="DM Sans"/>
            </a:endParaRPr>
          </a:p>
        </p:txBody>
      </p:sp>
      <p:sp>
        <p:nvSpPr>
          <p:cNvPr id="4214" name="Google Shape;4214;p162"/>
          <p:cNvSpPr/>
          <p:nvPr/>
        </p:nvSpPr>
        <p:spPr>
          <a:xfrm>
            <a:off x="1190617" y="341967"/>
            <a:ext cx="2343900" cy="71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DM Sans"/>
                <a:ea typeface="DM Sans"/>
                <a:cs typeface="DM Sans"/>
                <a:sym typeface="DM Sans"/>
              </a:rPr>
              <a:t>Data source</a:t>
            </a:r>
            <a:endParaRPr b="1" sz="1500">
              <a:latin typeface="DM Sans"/>
              <a:ea typeface="DM Sans"/>
              <a:cs typeface="DM Sans"/>
              <a:sym typeface="DM Sans"/>
            </a:endParaRPr>
          </a:p>
        </p:txBody>
      </p:sp>
      <p:sp>
        <p:nvSpPr>
          <p:cNvPr id="4215" name="Google Shape;4215;p162"/>
          <p:cNvSpPr/>
          <p:nvPr/>
        </p:nvSpPr>
        <p:spPr>
          <a:xfrm>
            <a:off x="1201699" y="4146800"/>
            <a:ext cx="2321400" cy="1358700"/>
          </a:xfrm>
          <a:prstGeom prst="roundRect">
            <a:avLst>
              <a:gd fmla="val 16667" name="adj"/>
            </a:avLst>
          </a:prstGeom>
          <a:solidFill>
            <a:schemeClr val="lt2"/>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 sz="1500">
                <a:solidFill>
                  <a:schemeClr val="dk1"/>
                </a:solidFill>
                <a:latin typeface="DM Sans"/>
                <a:ea typeface="DM Sans"/>
                <a:cs typeface="DM Sans"/>
                <a:sym typeface="DM Sans"/>
              </a:rPr>
              <a:t>Batch Sources</a:t>
            </a:r>
            <a:endParaRPr b="1" sz="15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b="1" sz="15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Files, </a:t>
            </a:r>
            <a:r>
              <a:rPr lang="en" sz="1500">
                <a:solidFill>
                  <a:schemeClr val="dk1"/>
                </a:solidFill>
                <a:latin typeface="DM Sans"/>
                <a:ea typeface="DM Sans"/>
                <a:cs typeface="DM Sans"/>
                <a:sym typeface="DM Sans"/>
              </a:rPr>
              <a:t>Tables</a:t>
            </a:r>
            <a:endParaRPr sz="1500">
              <a:solidFill>
                <a:schemeClr val="dk1"/>
              </a:solidFill>
              <a:latin typeface="DM Sans"/>
              <a:ea typeface="DM Sans"/>
              <a:cs typeface="DM Sans"/>
              <a:sym typeface="DM Sans"/>
            </a:endParaRPr>
          </a:p>
        </p:txBody>
      </p:sp>
      <p:cxnSp>
        <p:nvCxnSpPr>
          <p:cNvPr id="4216" name="Google Shape;4216;p162"/>
          <p:cNvCxnSpPr>
            <a:stCxn id="4207" idx="3"/>
            <a:endCxn id="4211" idx="1"/>
          </p:cNvCxnSpPr>
          <p:nvPr/>
        </p:nvCxnSpPr>
        <p:spPr>
          <a:xfrm flipH="1" rot="10800000">
            <a:off x="3523199" y="2473149"/>
            <a:ext cx="1317600" cy="405900"/>
          </a:xfrm>
          <a:prstGeom prst="straightConnector1">
            <a:avLst/>
          </a:prstGeom>
          <a:noFill/>
          <a:ln cap="flat" cmpd="sng" w="9525">
            <a:solidFill>
              <a:schemeClr val="dk2"/>
            </a:solidFill>
            <a:prstDash val="solid"/>
            <a:round/>
            <a:headEnd len="med" w="med" type="none"/>
            <a:tailEnd len="med" w="med" type="stealth"/>
          </a:ln>
        </p:spPr>
      </p:cxnSp>
      <p:cxnSp>
        <p:nvCxnSpPr>
          <p:cNvPr id="4217" name="Google Shape;4217;p162"/>
          <p:cNvCxnSpPr>
            <a:stCxn id="4215" idx="3"/>
            <a:endCxn id="4213" idx="1"/>
          </p:cNvCxnSpPr>
          <p:nvPr/>
        </p:nvCxnSpPr>
        <p:spPr>
          <a:xfrm flipH="1" rot="10800000">
            <a:off x="3523099" y="4825850"/>
            <a:ext cx="1317600" cy="300"/>
          </a:xfrm>
          <a:prstGeom prst="straightConnector1">
            <a:avLst/>
          </a:prstGeom>
          <a:noFill/>
          <a:ln cap="flat" cmpd="sng" w="9525">
            <a:solidFill>
              <a:schemeClr val="dk2"/>
            </a:solidFill>
            <a:prstDash val="solid"/>
            <a:round/>
            <a:headEnd len="med" w="med" type="none"/>
            <a:tailEnd len="med" w="med" type="stealth"/>
          </a:ln>
        </p:spPr>
      </p:cxnSp>
      <p:cxnSp>
        <p:nvCxnSpPr>
          <p:cNvPr id="4218" name="Google Shape;4218;p162"/>
          <p:cNvCxnSpPr>
            <a:stCxn id="4213" idx="3"/>
            <a:endCxn id="4209" idx="1"/>
          </p:cNvCxnSpPr>
          <p:nvPr/>
        </p:nvCxnSpPr>
        <p:spPr>
          <a:xfrm>
            <a:off x="6915756" y="4825795"/>
            <a:ext cx="1587300" cy="0"/>
          </a:xfrm>
          <a:prstGeom prst="straightConnector1">
            <a:avLst/>
          </a:prstGeom>
          <a:noFill/>
          <a:ln cap="flat" cmpd="sng" w="9525">
            <a:solidFill>
              <a:schemeClr val="dk2"/>
            </a:solidFill>
            <a:prstDash val="solid"/>
            <a:round/>
            <a:headEnd len="med" w="med" type="none"/>
            <a:tailEnd len="med" w="med" type="stealth"/>
          </a:ln>
        </p:spPr>
      </p:cxnSp>
      <p:cxnSp>
        <p:nvCxnSpPr>
          <p:cNvPr id="4219" name="Google Shape;4219;p162"/>
          <p:cNvCxnSpPr>
            <a:stCxn id="4211" idx="3"/>
            <a:endCxn id="4210" idx="1"/>
          </p:cNvCxnSpPr>
          <p:nvPr/>
        </p:nvCxnSpPr>
        <p:spPr>
          <a:xfrm>
            <a:off x="6915756" y="2473250"/>
            <a:ext cx="1587300" cy="28800"/>
          </a:xfrm>
          <a:prstGeom prst="straightConnector1">
            <a:avLst/>
          </a:prstGeom>
          <a:noFill/>
          <a:ln cap="flat" cmpd="sng" w="9525">
            <a:solidFill>
              <a:schemeClr val="dk2"/>
            </a:solidFill>
            <a:prstDash val="solid"/>
            <a:round/>
            <a:headEnd len="med" w="med" type="none"/>
            <a:tailEnd len="med" w="med" type="stealth"/>
          </a:ln>
        </p:spPr>
      </p:cxnSp>
      <p:cxnSp>
        <p:nvCxnSpPr>
          <p:cNvPr id="4220" name="Google Shape;4220;p162"/>
          <p:cNvCxnSpPr>
            <a:stCxn id="4207" idx="3"/>
            <a:endCxn id="4212" idx="1"/>
          </p:cNvCxnSpPr>
          <p:nvPr/>
        </p:nvCxnSpPr>
        <p:spPr>
          <a:xfrm>
            <a:off x="3523199" y="2879049"/>
            <a:ext cx="1317600" cy="413700"/>
          </a:xfrm>
          <a:prstGeom prst="straightConnector1">
            <a:avLst/>
          </a:prstGeom>
          <a:noFill/>
          <a:ln cap="flat" cmpd="sng" w="9525">
            <a:solidFill>
              <a:schemeClr val="dk2"/>
            </a:solidFill>
            <a:prstDash val="solid"/>
            <a:round/>
            <a:headEnd len="med" w="med" type="none"/>
            <a:tailEnd len="med" w="med" type="stealth"/>
          </a:ln>
        </p:spPr>
      </p:cxnSp>
      <p:cxnSp>
        <p:nvCxnSpPr>
          <p:cNvPr id="4221" name="Google Shape;4221;p162"/>
          <p:cNvCxnSpPr>
            <a:stCxn id="4211" idx="3"/>
            <a:endCxn id="4208" idx="1"/>
          </p:cNvCxnSpPr>
          <p:nvPr/>
        </p:nvCxnSpPr>
        <p:spPr>
          <a:xfrm>
            <a:off x="6915756" y="2473250"/>
            <a:ext cx="1587300" cy="848400"/>
          </a:xfrm>
          <a:prstGeom prst="straightConnector1">
            <a:avLst/>
          </a:prstGeom>
          <a:noFill/>
          <a:ln cap="flat" cmpd="sng" w="9525">
            <a:solidFill>
              <a:schemeClr val="dk2"/>
            </a:solidFill>
            <a:prstDash val="solid"/>
            <a:round/>
            <a:headEnd len="med" w="med" type="none"/>
            <a:tailEnd len="med" w="med" type="stealth"/>
          </a:ln>
        </p:spPr>
      </p:cxnSp>
      <p:cxnSp>
        <p:nvCxnSpPr>
          <p:cNvPr id="4222" name="Google Shape;4222;p162"/>
          <p:cNvCxnSpPr>
            <a:stCxn id="4212" idx="3"/>
            <a:endCxn id="4208" idx="1"/>
          </p:cNvCxnSpPr>
          <p:nvPr/>
        </p:nvCxnSpPr>
        <p:spPr>
          <a:xfrm>
            <a:off x="6915756" y="3292850"/>
            <a:ext cx="1587300" cy="28800"/>
          </a:xfrm>
          <a:prstGeom prst="straightConnector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6" name="Shape 4226"/>
        <p:cNvGrpSpPr/>
        <p:nvPr/>
      </p:nvGrpSpPr>
      <p:grpSpPr>
        <a:xfrm>
          <a:off x="0" y="0"/>
          <a:ext cx="0" cy="0"/>
          <a:chOff x="0" y="0"/>
          <a:chExt cx="0" cy="0"/>
        </a:xfrm>
      </p:grpSpPr>
      <p:sp>
        <p:nvSpPr>
          <p:cNvPr id="4227" name="Google Shape;4227;p163"/>
          <p:cNvSpPr/>
          <p:nvPr/>
        </p:nvSpPr>
        <p:spPr>
          <a:xfrm>
            <a:off x="1293050" y="1485200"/>
            <a:ext cx="9524700" cy="434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n" sz="1500">
                <a:latin typeface="DM Sans"/>
                <a:ea typeface="DM Sans"/>
                <a:cs typeface="DM Sans"/>
                <a:sym typeface="DM Sans"/>
              </a:rPr>
              <a:t>Pipeline</a:t>
            </a:r>
            <a:endParaRPr b="1"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228" name="Google Shape;4228;p163"/>
          <p:cNvSpPr/>
          <p:nvPr/>
        </p:nvSpPr>
        <p:spPr>
          <a:xfrm>
            <a:off x="2034325" y="2585325"/>
            <a:ext cx="1980900" cy="719100"/>
          </a:xfrm>
          <a:prstGeom prst="roundRect">
            <a:avLst>
              <a:gd fmla="val 16667" name="adj"/>
            </a:avLst>
          </a:prstGeom>
          <a:solidFill>
            <a:schemeClr val="lt2"/>
          </a:solidFill>
          <a:ln cap="flat" cmpd="sng" w="9525">
            <a:solidFill>
              <a:schemeClr val="accent3"/>
            </a:solidFill>
            <a:prstDash val="lg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Streaming source</a:t>
            </a:r>
            <a:endParaRPr sz="1500">
              <a:solidFill>
                <a:schemeClr val="dk1"/>
              </a:solidFill>
              <a:latin typeface="DM Sans"/>
              <a:ea typeface="DM Sans"/>
              <a:cs typeface="DM Sans"/>
              <a:sym typeface="DM Sans"/>
            </a:endParaRPr>
          </a:p>
        </p:txBody>
      </p:sp>
      <p:sp>
        <p:nvSpPr>
          <p:cNvPr id="4229" name="Google Shape;4229;p163"/>
          <p:cNvSpPr/>
          <p:nvPr/>
        </p:nvSpPr>
        <p:spPr>
          <a:xfrm>
            <a:off x="8045972" y="3390490"/>
            <a:ext cx="2075100" cy="7191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Materialized view</a:t>
            </a:r>
            <a:endParaRPr sz="1500">
              <a:latin typeface="DM Sans"/>
              <a:ea typeface="DM Sans"/>
              <a:cs typeface="DM Sans"/>
              <a:sym typeface="DM Sans"/>
            </a:endParaRPr>
          </a:p>
        </p:txBody>
      </p:sp>
      <p:sp>
        <p:nvSpPr>
          <p:cNvPr id="4230" name="Google Shape;4230;p163"/>
          <p:cNvSpPr/>
          <p:nvPr/>
        </p:nvSpPr>
        <p:spPr>
          <a:xfrm>
            <a:off x="8045972" y="4390033"/>
            <a:ext cx="2075100" cy="7191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Materialized view</a:t>
            </a:r>
            <a:endParaRPr sz="1500">
              <a:latin typeface="DM Sans"/>
              <a:ea typeface="DM Sans"/>
              <a:cs typeface="DM Sans"/>
              <a:sym typeface="DM Sans"/>
            </a:endParaRPr>
          </a:p>
        </p:txBody>
      </p:sp>
      <p:sp>
        <p:nvSpPr>
          <p:cNvPr id="4231" name="Google Shape;4231;p163"/>
          <p:cNvSpPr/>
          <p:nvPr/>
        </p:nvSpPr>
        <p:spPr>
          <a:xfrm>
            <a:off x="4993056" y="3390500"/>
            <a:ext cx="2075100" cy="7191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Streaming table</a:t>
            </a:r>
            <a:endParaRPr sz="1500">
              <a:latin typeface="DM Sans"/>
              <a:ea typeface="DM Sans"/>
              <a:cs typeface="DM Sans"/>
              <a:sym typeface="DM Sans"/>
            </a:endParaRPr>
          </a:p>
        </p:txBody>
      </p:sp>
      <p:sp>
        <p:nvSpPr>
          <p:cNvPr id="4232" name="Google Shape;4232;p163"/>
          <p:cNvSpPr/>
          <p:nvPr/>
        </p:nvSpPr>
        <p:spPr>
          <a:xfrm>
            <a:off x="4993056" y="4390045"/>
            <a:ext cx="2075100" cy="719100"/>
          </a:xfrm>
          <a:prstGeom prst="roundRect">
            <a:avLst>
              <a:gd fmla="val 16667" name="adj"/>
            </a:avLst>
          </a:prstGeom>
          <a:solidFill>
            <a:schemeClr val="l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Materialized view </a:t>
            </a:r>
            <a:endParaRPr sz="1500">
              <a:latin typeface="DM Sans"/>
              <a:ea typeface="DM Sans"/>
              <a:cs typeface="DM Sans"/>
              <a:sym typeface="DM Sans"/>
            </a:endParaRPr>
          </a:p>
        </p:txBody>
      </p:sp>
      <p:cxnSp>
        <p:nvCxnSpPr>
          <p:cNvPr id="4233" name="Google Shape;4233;p163"/>
          <p:cNvCxnSpPr>
            <a:stCxn id="4234" idx="3"/>
            <a:endCxn id="4231" idx="1"/>
          </p:cNvCxnSpPr>
          <p:nvPr/>
        </p:nvCxnSpPr>
        <p:spPr>
          <a:xfrm>
            <a:off x="4015225" y="3750075"/>
            <a:ext cx="977700" cy="0"/>
          </a:xfrm>
          <a:prstGeom prst="straightConnector1">
            <a:avLst/>
          </a:prstGeom>
          <a:noFill/>
          <a:ln cap="flat" cmpd="sng" w="9525">
            <a:solidFill>
              <a:schemeClr val="dk1"/>
            </a:solidFill>
            <a:prstDash val="solid"/>
            <a:round/>
            <a:headEnd len="med" w="med" type="none"/>
            <a:tailEnd len="med" w="med" type="stealth"/>
          </a:ln>
        </p:spPr>
      </p:cxnSp>
      <p:cxnSp>
        <p:nvCxnSpPr>
          <p:cNvPr id="4235" name="Google Shape;4235;p163"/>
          <p:cNvCxnSpPr>
            <a:stCxn id="4236" idx="3"/>
            <a:endCxn id="4232" idx="1"/>
          </p:cNvCxnSpPr>
          <p:nvPr/>
        </p:nvCxnSpPr>
        <p:spPr>
          <a:xfrm>
            <a:off x="4015225" y="4749600"/>
            <a:ext cx="977700" cy="0"/>
          </a:xfrm>
          <a:prstGeom prst="straightConnector1">
            <a:avLst/>
          </a:prstGeom>
          <a:noFill/>
          <a:ln cap="flat" cmpd="sng" w="9525">
            <a:solidFill>
              <a:schemeClr val="dk1"/>
            </a:solidFill>
            <a:prstDash val="solid"/>
            <a:round/>
            <a:headEnd len="med" w="med" type="none"/>
            <a:tailEnd len="med" w="med" type="stealth"/>
          </a:ln>
        </p:spPr>
      </p:cxnSp>
      <p:cxnSp>
        <p:nvCxnSpPr>
          <p:cNvPr id="4237" name="Google Shape;4237;p163"/>
          <p:cNvCxnSpPr>
            <a:stCxn id="4232" idx="3"/>
            <a:endCxn id="4230" idx="1"/>
          </p:cNvCxnSpPr>
          <p:nvPr/>
        </p:nvCxnSpPr>
        <p:spPr>
          <a:xfrm>
            <a:off x="7068156" y="4749595"/>
            <a:ext cx="977700" cy="0"/>
          </a:xfrm>
          <a:prstGeom prst="straightConnector1">
            <a:avLst/>
          </a:prstGeom>
          <a:noFill/>
          <a:ln cap="flat" cmpd="sng" w="9525">
            <a:solidFill>
              <a:schemeClr val="dk1"/>
            </a:solidFill>
            <a:prstDash val="solid"/>
            <a:round/>
            <a:headEnd len="med" w="med" type="none"/>
            <a:tailEnd len="med" w="med" type="stealth"/>
          </a:ln>
        </p:spPr>
      </p:cxnSp>
      <p:cxnSp>
        <p:nvCxnSpPr>
          <p:cNvPr id="4238" name="Google Shape;4238;p163"/>
          <p:cNvCxnSpPr>
            <a:stCxn id="4228" idx="3"/>
            <a:endCxn id="4231" idx="1"/>
          </p:cNvCxnSpPr>
          <p:nvPr/>
        </p:nvCxnSpPr>
        <p:spPr>
          <a:xfrm>
            <a:off x="4015225" y="2944875"/>
            <a:ext cx="977700" cy="805200"/>
          </a:xfrm>
          <a:prstGeom prst="straightConnector1">
            <a:avLst/>
          </a:prstGeom>
          <a:noFill/>
          <a:ln cap="flat" cmpd="sng" w="9525">
            <a:solidFill>
              <a:schemeClr val="dk1"/>
            </a:solidFill>
            <a:prstDash val="solid"/>
            <a:round/>
            <a:headEnd len="med" w="med" type="none"/>
            <a:tailEnd len="med" w="med" type="stealth"/>
          </a:ln>
        </p:spPr>
      </p:cxnSp>
      <p:cxnSp>
        <p:nvCxnSpPr>
          <p:cNvPr id="4239" name="Google Shape;4239;p163"/>
          <p:cNvCxnSpPr>
            <a:stCxn id="4231" idx="3"/>
            <a:endCxn id="4229" idx="1"/>
          </p:cNvCxnSpPr>
          <p:nvPr/>
        </p:nvCxnSpPr>
        <p:spPr>
          <a:xfrm>
            <a:off x="7068156" y="3750050"/>
            <a:ext cx="977700" cy="0"/>
          </a:xfrm>
          <a:prstGeom prst="straightConnector1">
            <a:avLst/>
          </a:prstGeom>
          <a:noFill/>
          <a:ln cap="flat" cmpd="sng" w="9525">
            <a:solidFill>
              <a:schemeClr val="dk1"/>
            </a:solidFill>
            <a:prstDash val="solid"/>
            <a:round/>
            <a:headEnd len="med" w="med" type="none"/>
            <a:tailEnd len="med" w="med" type="stealth"/>
          </a:ln>
        </p:spPr>
      </p:cxnSp>
      <p:sp>
        <p:nvSpPr>
          <p:cNvPr id="4234" name="Google Shape;4234;p163"/>
          <p:cNvSpPr/>
          <p:nvPr/>
        </p:nvSpPr>
        <p:spPr>
          <a:xfrm>
            <a:off x="2034325" y="3390525"/>
            <a:ext cx="1980900" cy="719100"/>
          </a:xfrm>
          <a:prstGeom prst="roundRect">
            <a:avLst>
              <a:gd fmla="val 16667" name="adj"/>
            </a:avLst>
          </a:prstGeom>
          <a:solidFill>
            <a:schemeClr val="lt2"/>
          </a:solidFill>
          <a:ln cap="flat" cmpd="sng" w="9525">
            <a:solidFill>
              <a:schemeClr val="accent3"/>
            </a:solidFill>
            <a:prstDash val="lg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Streaming source</a:t>
            </a:r>
            <a:endParaRPr sz="1500">
              <a:solidFill>
                <a:schemeClr val="dk1"/>
              </a:solidFill>
              <a:latin typeface="DM Sans"/>
              <a:ea typeface="DM Sans"/>
              <a:cs typeface="DM Sans"/>
              <a:sym typeface="DM Sans"/>
            </a:endParaRPr>
          </a:p>
        </p:txBody>
      </p:sp>
      <p:sp>
        <p:nvSpPr>
          <p:cNvPr id="4236" name="Google Shape;4236;p163"/>
          <p:cNvSpPr/>
          <p:nvPr/>
        </p:nvSpPr>
        <p:spPr>
          <a:xfrm>
            <a:off x="2034325" y="4390050"/>
            <a:ext cx="1980900" cy="719100"/>
          </a:xfrm>
          <a:prstGeom prst="roundRect">
            <a:avLst>
              <a:gd fmla="val 16667" name="adj"/>
            </a:avLst>
          </a:prstGeom>
          <a:solidFill>
            <a:schemeClr val="lt2"/>
          </a:solidFill>
          <a:ln cap="flat" cmpd="sng" w="9525">
            <a:solidFill>
              <a:schemeClr val="accent3"/>
            </a:solidFill>
            <a:prstDash val="lg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Batch or streaming</a:t>
            </a:r>
            <a:r>
              <a:rPr lang="en" sz="1500">
                <a:solidFill>
                  <a:schemeClr val="dk1"/>
                </a:solidFill>
                <a:latin typeface="DM Sans"/>
                <a:ea typeface="DM Sans"/>
                <a:cs typeface="DM Sans"/>
                <a:sym typeface="DM Sans"/>
              </a:rPr>
              <a:t> source</a:t>
            </a:r>
            <a:endParaRPr sz="1500">
              <a:solidFill>
                <a:schemeClr val="dk1"/>
              </a:solidFill>
              <a:latin typeface="DM Sans"/>
              <a:ea typeface="DM Sans"/>
              <a:cs typeface="DM Sans"/>
              <a:sym typeface="DM Sans"/>
            </a:endParaRPr>
          </a:p>
        </p:txBody>
      </p:sp>
      <p:sp>
        <p:nvSpPr>
          <p:cNvPr id="4240" name="Google Shape;4240;p163"/>
          <p:cNvSpPr txBox="1"/>
          <p:nvPr/>
        </p:nvSpPr>
        <p:spPr>
          <a:xfrm>
            <a:off x="2186875" y="1992175"/>
            <a:ext cx="1675800" cy="43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DM Sans"/>
                <a:ea typeface="DM Sans"/>
                <a:cs typeface="DM Sans"/>
                <a:sym typeface="DM Sans"/>
              </a:rPr>
              <a:t>Sources</a:t>
            </a:r>
            <a:endParaRPr sz="600">
              <a:solidFill>
                <a:schemeClr val="dk1"/>
              </a:solidFill>
              <a:latin typeface="DM Sans"/>
              <a:ea typeface="DM Sans"/>
              <a:cs typeface="DM Sans"/>
              <a:sym typeface="DM Sans"/>
            </a:endParaRPr>
          </a:p>
        </p:txBody>
      </p:sp>
      <p:sp>
        <p:nvSpPr>
          <p:cNvPr id="4241" name="Google Shape;4241;p163"/>
          <p:cNvSpPr txBox="1"/>
          <p:nvPr/>
        </p:nvSpPr>
        <p:spPr>
          <a:xfrm>
            <a:off x="5192700" y="2726625"/>
            <a:ext cx="1675800" cy="43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DM Sans"/>
                <a:ea typeface="DM Sans"/>
                <a:cs typeface="DM Sans"/>
                <a:sym typeface="DM Sans"/>
              </a:rPr>
              <a:t>Targets</a:t>
            </a:r>
            <a:endParaRPr sz="600">
              <a:solidFill>
                <a:schemeClr val="dk1"/>
              </a:solidFill>
              <a:latin typeface="DM Sans"/>
              <a:ea typeface="DM Sans"/>
              <a:cs typeface="DM Sans"/>
              <a:sym typeface="DM Sans"/>
            </a:endParaRPr>
          </a:p>
        </p:txBody>
      </p:sp>
      <p:sp>
        <p:nvSpPr>
          <p:cNvPr id="4242" name="Google Shape;4242;p163"/>
          <p:cNvSpPr txBox="1"/>
          <p:nvPr/>
        </p:nvSpPr>
        <p:spPr>
          <a:xfrm>
            <a:off x="3666175" y="5110725"/>
            <a:ext cx="1675800" cy="43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DM Sans"/>
                <a:ea typeface="DM Sans"/>
                <a:cs typeface="DM Sans"/>
                <a:sym typeface="DM Sans"/>
              </a:rPr>
              <a:t>Flows</a:t>
            </a:r>
            <a:endParaRPr sz="600">
              <a:solidFill>
                <a:schemeClr val="dk1"/>
              </a:solidFill>
              <a:latin typeface="DM Sans"/>
              <a:ea typeface="DM Sans"/>
              <a:cs typeface="DM Sans"/>
              <a:sym typeface="DM Sans"/>
            </a:endParaRPr>
          </a:p>
        </p:txBody>
      </p:sp>
      <p:sp>
        <p:nvSpPr>
          <p:cNvPr id="4243" name="Google Shape;4243;p163"/>
          <p:cNvSpPr txBox="1"/>
          <p:nvPr/>
        </p:nvSpPr>
        <p:spPr>
          <a:xfrm>
            <a:off x="6996325" y="5110725"/>
            <a:ext cx="1111500" cy="7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DM Sans"/>
                <a:ea typeface="DM Sans"/>
                <a:cs typeface="DM Sans"/>
                <a:sym typeface="DM Sans"/>
              </a:rPr>
              <a:t>Additional </a:t>
            </a:r>
            <a:r>
              <a:rPr lang="en" sz="1500">
                <a:solidFill>
                  <a:schemeClr val="dk1"/>
                </a:solidFill>
                <a:latin typeface="DM Sans"/>
                <a:ea typeface="DM Sans"/>
                <a:cs typeface="DM Sans"/>
                <a:sym typeface="DM Sans"/>
              </a:rPr>
              <a:t>Flows</a:t>
            </a:r>
            <a:endParaRPr sz="600">
              <a:solidFill>
                <a:schemeClr val="dk1"/>
              </a:solidFill>
              <a:latin typeface="DM Sans"/>
              <a:ea typeface="DM Sans"/>
              <a:cs typeface="DM Sans"/>
              <a:sym typeface="DM Sans"/>
            </a:endParaRPr>
          </a:p>
        </p:txBody>
      </p:sp>
      <p:sp>
        <p:nvSpPr>
          <p:cNvPr id="4244" name="Google Shape;4244;p163"/>
          <p:cNvSpPr txBox="1"/>
          <p:nvPr/>
        </p:nvSpPr>
        <p:spPr>
          <a:xfrm>
            <a:off x="8240700" y="2650425"/>
            <a:ext cx="1675800" cy="6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DM Sans"/>
                <a:ea typeface="DM Sans"/>
                <a:cs typeface="DM Sans"/>
                <a:sym typeface="DM Sans"/>
              </a:rPr>
              <a:t>Additional t</a:t>
            </a:r>
            <a:r>
              <a:rPr lang="en" sz="1500">
                <a:solidFill>
                  <a:schemeClr val="dk1"/>
                </a:solidFill>
                <a:latin typeface="DM Sans"/>
                <a:ea typeface="DM Sans"/>
                <a:cs typeface="DM Sans"/>
                <a:sym typeface="DM Sans"/>
              </a:rPr>
              <a:t>argets</a:t>
            </a:r>
            <a:endParaRPr sz="600">
              <a:solidFill>
                <a:schemeClr val="dk1"/>
              </a:solidFill>
              <a:latin typeface="DM Sans"/>
              <a:ea typeface="DM Sans"/>
              <a:cs typeface="DM Sans"/>
              <a:sym typeface="DM Sans"/>
            </a:endParaRPr>
          </a:p>
        </p:txBody>
      </p:sp>
      <p:cxnSp>
        <p:nvCxnSpPr>
          <p:cNvPr id="4245" name="Google Shape;4245;p163"/>
          <p:cNvCxnSpPr/>
          <p:nvPr/>
        </p:nvCxnSpPr>
        <p:spPr>
          <a:xfrm>
            <a:off x="4085850" y="2585325"/>
            <a:ext cx="14100" cy="2603400"/>
          </a:xfrm>
          <a:prstGeom prst="straightConnector1">
            <a:avLst/>
          </a:prstGeom>
          <a:noFill/>
          <a:ln cap="flat" cmpd="sng" w="19050">
            <a:solidFill>
              <a:schemeClr val="dk2"/>
            </a:solidFill>
            <a:prstDash val="lgDash"/>
            <a:round/>
            <a:headEnd len="med" w="med" type="none"/>
            <a:tailEnd len="med" w="med" type="none"/>
          </a:ln>
        </p:spPr>
      </p:cxnSp>
      <p:cxnSp>
        <p:nvCxnSpPr>
          <p:cNvPr id="4246" name="Google Shape;4246;p163"/>
          <p:cNvCxnSpPr/>
          <p:nvPr/>
        </p:nvCxnSpPr>
        <p:spPr>
          <a:xfrm>
            <a:off x="4924050" y="2585325"/>
            <a:ext cx="14100" cy="2603400"/>
          </a:xfrm>
          <a:prstGeom prst="straightConnector1">
            <a:avLst/>
          </a:prstGeom>
          <a:noFill/>
          <a:ln cap="flat" cmpd="sng" w="19050">
            <a:solidFill>
              <a:schemeClr val="dk2"/>
            </a:solidFill>
            <a:prstDash val="lgDash"/>
            <a:round/>
            <a:headEnd len="med" w="med" type="none"/>
            <a:tailEnd len="med" w="med" type="none"/>
          </a:ln>
        </p:spPr>
      </p:cxnSp>
      <p:cxnSp>
        <p:nvCxnSpPr>
          <p:cNvPr id="4247" name="Google Shape;4247;p163"/>
          <p:cNvCxnSpPr/>
          <p:nvPr/>
        </p:nvCxnSpPr>
        <p:spPr>
          <a:xfrm>
            <a:off x="7133850" y="2585325"/>
            <a:ext cx="14100" cy="2603400"/>
          </a:xfrm>
          <a:prstGeom prst="straightConnector1">
            <a:avLst/>
          </a:prstGeom>
          <a:noFill/>
          <a:ln cap="flat" cmpd="sng" w="19050">
            <a:solidFill>
              <a:schemeClr val="dk2"/>
            </a:solidFill>
            <a:prstDash val="lgDash"/>
            <a:round/>
            <a:headEnd len="med" w="med" type="none"/>
            <a:tailEnd len="med" w="med" type="none"/>
          </a:ln>
        </p:spPr>
      </p:cxnSp>
      <p:cxnSp>
        <p:nvCxnSpPr>
          <p:cNvPr id="4248" name="Google Shape;4248;p163"/>
          <p:cNvCxnSpPr/>
          <p:nvPr/>
        </p:nvCxnSpPr>
        <p:spPr>
          <a:xfrm>
            <a:off x="7972050" y="2585325"/>
            <a:ext cx="14100" cy="2603400"/>
          </a:xfrm>
          <a:prstGeom prst="straightConnector1">
            <a:avLst/>
          </a:prstGeom>
          <a:noFill/>
          <a:ln cap="flat" cmpd="sng" w="19050">
            <a:solidFill>
              <a:schemeClr val="dk2"/>
            </a:solidFill>
            <a:prstDash val="lgDash"/>
            <a:round/>
            <a:headEnd len="med" w="med" type="none"/>
            <a:tailEnd len="med" w="med" type="none"/>
          </a:ln>
        </p:spPr>
      </p:cxn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2" name="Shape 4252"/>
        <p:cNvGrpSpPr/>
        <p:nvPr/>
      </p:nvGrpSpPr>
      <p:grpSpPr>
        <a:xfrm>
          <a:off x="0" y="0"/>
          <a:ext cx="0" cy="0"/>
          <a:chOff x="0" y="0"/>
          <a:chExt cx="0" cy="0"/>
        </a:xfrm>
      </p:grpSpPr>
      <p:sp>
        <p:nvSpPr>
          <p:cNvPr id="4253" name="Google Shape;4253;p164"/>
          <p:cNvSpPr/>
          <p:nvPr/>
        </p:nvSpPr>
        <p:spPr>
          <a:xfrm>
            <a:off x="1523725" y="2865350"/>
            <a:ext cx="2491500" cy="17694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Streaming source</a:t>
            </a:r>
            <a:br>
              <a:rPr lang="en" sz="1500">
                <a:solidFill>
                  <a:schemeClr val="dk1"/>
                </a:solidFill>
                <a:latin typeface="DM Sans"/>
                <a:ea typeface="DM Sans"/>
                <a:cs typeface="DM Sans"/>
                <a:sym typeface="DM Sans"/>
              </a:rPr>
            </a:br>
            <a:br>
              <a:rPr lang="en" sz="1500">
                <a:solidFill>
                  <a:schemeClr val="dk1"/>
                </a:solidFill>
                <a:latin typeface="DM Sans"/>
                <a:ea typeface="DM Sans"/>
                <a:cs typeface="DM Sans"/>
                <a:sym typeface="DM Sans"/>
              </a:rPr>
            </a:br>
            <a:r>
              <a:rPr lang="en" sz="1500">
                <a:solidFill>
                  <a:schemeClr val="dk1"/>
                </a:solidFill>
                <a:latin typeface="DM Sans"/>
                <a:ea typeface="DM Sans"/>
                <a:cs typeface="DM Sans"/>
                <a:sym typeface="DM Sans"/>
              </a:rPr>
              <a:t>Files, events in a message bus, or other streaming data</a:t>
            </a:r>
            <a:endParaRPr sz="1500">
              <a:solidFill>
                <a:schemeClr val="dk1"/>
              </a:solidFill>
              <a:latin typeface="DM Sans"/>
              <a:ea typeface="DM Sans"/>
              <a:cs typeface="DM Sans"/>
              <a:sym typeface="DM Sans"/>
            </a:endParaRPr>
          </a:p>
        </p:txBody>
      </p:sp>
      <p:sp>
        <p:nvSpPr>
          <p:cNvPr id="4254" name="Google Shape;4254;p164"/>
          <p:cNvSpPr/>
          <p:nvPr/>
        </p:nvSpPr>
        <p:spPr>
          <a:xfrm>
            <a:off x="8045972" y="3390490"/>
            <a:ext cx="2075100" cy="7191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Streaming table</a:t>
            </a:r>
            <a:endParaRPr sz="1500">
              <a:latin typeface="DM Sans"/>
              <a:ea typeface="DM Sans"/>
              <a:cs typeface="DM Sans"/>
              <a:sym typeface="DM Sans"/>
            </a:endParaRPr>
          </a:p>
        </p:txBody>
      </p:sp>
      <p:sp>
        <p:nvSpPr>
          <p:cNvPr id="4255" name="Google Shape;4255;p164"/>
          <p:cNvSpPr/>
          <p:nvPr/>
        </p:nvSpPr>
        <p:spPr>
          <a:xfrm>
            <a:off x="4993050" y="3092450"/>
            <a:ext cx="2075100" cy="13152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Flow</a:t>
            </a:r>
            <a:br>
              <a:rPr lang="en" sz="1500">
                <a:latin typeface="DM Sans"/>
                <a:ea typeface="DM Sans"/>
                <a:cs typeface="DM Sans"/>
                <a:sym typeface="DM Sans"/>
              </a:rPr>
            </a:br>
            <a:br>
              <a:rPr lang="en" sz="1500">
                <a:latin typeface="DM Sans"/>
                <a:ea typeface="DM Sans"/>
                <a:cs typeface="DM Sans"/>
                <a:sym typeface="DM Sans"/>
              </a:rPr>
            </a:br>
            <a:r>
              <a:rPr lang="en" sz="1500">
                <a:latin typeface="DM Sans"/>
                <a:ea typeface="DM Sans"/>
                <a:cs typeface="DM Sans"/>
                <a:sym typeface="DM Sans"/>
              </a:rPr>
              <a:t>Handles each input exactly once, over multiple refreshes</a:t>
            </a:r>
            <a:endParaRPr sz="1500">
              <a:latin typeface="DM Sans"/>
              <a:ea typeface="DM Sans"/>
              <a:cs typeface="DM Sans"/>
              <a:sym typeface="DM Sans"/>
            </a:endParaRPr>
          </a:p>
        </p:txBody>
      </p:sp>
      <p:cxnSp>
        <p:nvCxnSpPr>
          <p:cNvPr id="4256" name="Google Shape;4256;p164"/>
          <p:cNvCxnSpPr>
            <a:stCxn id="4253" idx="3"/>
            <a:endCxn id="4255" idx="1"/>
          </p:cNvCxnSpPr>
          <p:nvPr/>
        </p:nvCxnSpPr>
        <p:spPr>
          <a:xfrm>
            <a:off x="4015225" y="3750050"/>
            <a:ext cx="977700" cy="0"/>
          </a:xfrm>
          <a:prstGeom prst="straightConnector1">
            <a:avLst/>
          </a:prstGeom>
          <a:noFill/>
          <a:ln cap="flat" cmpd="sng" w="9525">
            <a:solidFill>
              <a:schemeClr val="dk1"/>
            </a:solidFill>
            <a:prstDash val="solid"/>
            <a:round/>
            <a:headEnd len="med" w="med" type="none"/>
            <a:tailEnd len="med" w="med" type="stealth"/>
          </a:ln>
        </p:spPr>
      </p:cxnSp>
      <p:cxnSp>
        <p:nvCxnSpPr>
          <p:cNvPr id="4257" name="Google Shape;4257;p164"/>
          <p:cNvCxnSpPr>
            <a:stCxn id="4255" idx="3"/>
            <a:endCxn id="4254" idx="1"/>
          </p:cNvCxnSpPr>
          <p:nvPr/>
        </p:nvCxnSpPr>
        <p:spPr>
          <a:xfrm>
            <a:off x="7068150" y="3750050"/>
            <a:ext cx="977700" cy="0"/>
          </a:xfrm>
          <a:prstGeom prst="straightConnector1">
            <a:avLst/>
          </a:prstGeom>
          <a:noFill/>
          <a:ln cap="flat" cmpd="sng" w="9525">
            <a:solidFill>
              <a:schemeClr val="dk1"/>
            </a:solidFill>
            <a:prstDash val="solid"/>
            <a:round/>
            <a:headEnd len="med" w="med" type="none"/>
            <a:tailEnd len="med" w="med" type="stealth"/>
          </a:ln>
        </p:spPr>
      </p:cxnSp>
      <p:sp>
        <p:nvSpPr>
          <p:cNvPr id="4258" name="Google Shape;4258;p164"/>
          <p:cNvSpPr txBox="1"/>
          <p:nvPr/>
        </p:nvSpPr>
        <p:spPr>
          <a:xfrm>
            <a:off x="0" y="0"/>
            <a:ext cx="75330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/_static/images/tables/st-ingestion.png</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2" name="Shape 4262"/>
        <p:cNvGrpSpPr/>
        <p:nvPr/>
      </p:nvGrpSpPr>
      <p:grpSpPr>
        <a:xfrm>
          <a:off x="0" y="0"/>
          <a:ext cx="0" cy="0"/>
          <a:chOff x="0" y="0"/>
          <a:chExt cx="0" cy="0"/>
        </a:xfrm>
      </p:grpSpPr>
      <p:sp>
        <p:nvSpPr>
          <p:cNvPr id="4263" name="Google Shape;4263;p165"/>
          <p:cNvSpPr/>
          <p:nvPr/>
        </p:nvSpPr>
        <p:spPr>
          <a:xfrm>
            <a:off x="1841550" y="3032225"/>
            <a:ext cx="2173800" cy="14358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S</a:t>
            </a:r>
            <a:r>
              <a:rPr lang="en" sz="1500">
                <a:solidFill>
                  <a:schemeClr val="dk1"/>
                </a:solidFill>
                <a:latin typeface="DM Sans"/>
                <a:ea typeface="DM Sans"/>
                <a:cs typeface="DM Sans"/>
                <a:sym typeface="DM Sans"/>
              </a:rPr>
              <a:t>ource data</a:t>
            </a:r>
            <a:br>
              <a:rPr lang="en" sz="1500">
                <a:solidFill>
                  <a:schemeClr val="dk1"/>
                </a:solidFill>
                <a:latin typeface="DM Sans"/>
                <a:ea typeface="DM Sans"/>
                <a:cs typeface="DM Sans"/>
                <a:sym typeface="DM Sans"/>
              </a:rPr>
            </a:br>
            <a:br>
              <a:rPr lang="en" sz="1500">
                <a:solidFill>
                  <a:schemeClr val="dk1"/>
                </a:solidFill>
                <a:latin typeface="DM Sans"/>
                <a:ea typeface="DM Sans"/>
                <a:cs typeface="DM Sans"/>
                <a:sym typeface="DM Sans"/>
              </a:rPr>
            </a:br>
            <a:r>
              <a:rPr lang="en" sz="1500">
                <a:solidFill>
                  <a:schemeClr val="dk1"/>
                </a:solidFill>
                <a:latin typeface="DM Sans"/>
                <a:ea typeface="DM Sans"/>
                <a:cs typeface="DM Sans"/>
                <a:sym typeface="DM Sans"/>
              </a:rPr>
              <a:t>Tables, files, or other data</a:t>
            </a:r>
            <a:endParaRPr sz="1500">
              <a:solidFill>
                <a:schemeClr val="dk1"/>
              </a:solidFill>
              <a:latin typeface="DM Sans"/>
              <a:ea typeface="DM Sans"/>
              <a:cs typeface="DM Sans"/>
              <a:sym typeface="DM Sans"/>
            </a:endParaRPr>
          </a:p>
        </p:txBody>
      </p:sp>
      <p:sp>
        <p:nvSpPr>
          <p:cNvPr id="4264" name="Google Shape;4264;p165"/>
          <p:cNvSpPr/>
          <p:nvPr/>
        </p:nvSpPr>
        <p:spPr>
          <a:xfrm>
            <a:off x="4626500" y="3032075"/>
            <a:ext cx="2808300" cy="14358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Flow</a:t>
            </a:r>
            <a:br>
              <a:rPr lang="en" sz="1500">
                <a:latin typeface="DM Sans"/>
                <a:ea typeface="DM Sans"/>
                <a:cs typeface="DM Sans"/>
                <a:sym typeface="DM Sans"/>
              </a:rPr>
            </a:br>
            <a:br>
              <a:rPr lang="en" sz="1500">
                <a:latin typeface="DM Sans"/>
                <a:ea typeface="DM Sans"/>
                <a:cs typeface="DM Sans"/>
                <a:sym typeface="DM Sans"/>
              </a:rPr>
            </a:br>
            <a:r>
              <a:rPr lang="en" sz="1500">
                <a:latin typeface="DM Sans"/>
                <a:ea typeface="DM Sans"/>
                <a:cs typeface="DM Sans"/>
                <a:sym typeface="DM Sans"/>
              </a:rPr>
              <a:t>Handles the required input to keep the output correct, often incrementally.</a:t>
            </a:r>
            <a:endParaRPr sz="1500">
              <a:latin typeface="DM Sans"/>
              <a:ea typeface="DM Sans"/>
              <a:cs typeface="DM Sans"/>
              <a:sym typeface="DM Sans"/>
            </a:endParaRPr>
          </a:p>
        </p:txBody>
      </p:sp>
      <p:cxnSp>
        <p:nvCxnSpPr>
          <p:cNvPr id="4265" name="Google Shape;4265;p165"/>
          <p:cNvCxnSpPr>
            <a:stCxn id="4263" idx="3"/>
            <a:endCxn id="4264" idx="1"/>
          </p:cNvCxnSpPr>
          <p:nvPr/>
        </p:nvCxnSpPr>
        <p:spPr>
          <a:xfrm>
            <a:off x="4015350" y="3750125"/>
            <a:ext cx="611100" cy="0"/>
          </a:xfrm>
          <a:prstGeom prst="straightConnector1">
            <a:avLst/>
          </a:prstGeom>
          <a:noFill/>
          <a:ln cap="flat" cmpd="sng" w="9525">
            <a:solidFill>
              <a:schemeClr val="dk1"/>
            </a:solidFill>
            <a:prstDash val="solid"/>
            <a:round/>
            <a:headEnd len="med" w="med" type="none"/>
            <a:tailEnd len="med" w="med" type="stealth"/>
          </a:ln>
        </p:spPr>
      </p:cxnSp>
      <p:cxnSp>
        <p:nvCxnSpPr>
          <p:cNvPr id="4266" name="Google Shape;4266;p165"/>
          <p:cNvCxnSpPr>
            <a:stCxn id="4264" idx="3"/>
            <a:endCxn id="4267" idx="1"/>
          </p:cNvCxnSpPr>
          <p:nvPr/>
        </p:nvCxnSpPr>
        <p:spPr>
          <a:xfrm>
            <a:off x="7434800" y="3749975"/>
            <a:ext cx="611100" cy="300"/>
          </a:xfrm>
          <a:prstGeom prst="straightConnector1">
            <a:avLst/>
          </a:prstGeom>
          <a:noFill/>
          <a:ln cap="flat" cmpd="sng" w="9525">
            <a:solidFill>
              <a:schemeClr val="dk1"/>
            </a:solidFill>
            <a:prstDash val="solid"/>
            <a:round/>
            <a:headEnd len="med" w="med" type="none"/>
            <a:tailEnd len="med" w="med" type="stealth"/>
          </a:ln>
        </p:spPr>
      </p:cxnSp>
      <p:sp>
        <p:nvSpPr>
          <p:cNvPr id="4267" name="Google Shape;4267;p165"/>
          <p:cNvSpPr/>
          <p:nvPr/>
        </p:nvSpPr>
        <p:spPr>
          <a:xfrm>
            <a:off x="8045950" y="3032225"/>
            <a:ext cx="2173800" cy="14358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Materialized view</a:t>
            </a:r>
            <a:endParaRPr sz="1500">
              <a:latin typeface="DM Sans"/>
              <a:ea typeface="DM Sans"/>
              <a:cs typeface="DM Sans"/>
              <a:sym typeface="DM Sans"/>
            </a:endParaRPr>
          </a:p>
        </p:txBody>
      </p:sp>
      <p:sp>
        <p:nvSpPr>
          <p:cNvPr id="4268" name="Google Shape;4268;p165"/>
          <p:cNvSpPr txBox="1"/>
          <p:nvPr/>
        </p:nvSpPr>
        <p:spPr>
          <a:xfrm>
            <a:off x="0" y="0"/>
            <a:ext cx="75330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/_static/images/tables/mv-ingestion.png</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2" name="Shape 4272"/>
        <p:cNvGrpSpPr/>
        <p:nvPr/>
      </p:nvGrpSpPr>
      <p:grpSpPr>
        <a:xfrm>
          <a:off x="0" y="0"/>
          <a:ext cx="0" cy="0"/>
          <a:chOff x="0" y="0"/>
          <a:chExt cx="0" cy="0"/>
        </a:xfrm>
      </p:grpSpPr>
      <p:sp>
        <p:nvSpPr>
          <p:cNvPr id="4273" name="Google Shape;4273;p166"/>
          <p:cNvSpPr/>
          <p:nvPr/>
        </p:nvSpPr>
        <p:spPr>
          <a:xfrm>
            <a:off x="1206900" y="3032225"/>
            <a:ext cx="2808300" cy="14358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clean_transactions</a:t>
            </a:r>
            <a:br>
              <a:rPr lang="en" sz="1500">
                <a:solidFill>
                  <a:schemeClr val="dk1"/>
                </a:solidFill>
                <a:latin typeface="DM Sans"/>
                <a:ea typeface="DM Sans"/>
                <a:cs typeface="DM Sans"/>
                <a:sym typeface="DM Sans"/>
              </a:rPr>
            </a:br>
            <a:br>
              <a:rPr lang="en" sz="1500">
                <a:solidFill>
                  <a:schemeClr val="dk1"/>
                </a:solidFill>
                <a:latin typeface="DM Sans"/>
                <a:ea typeface="DM Sans"/>
                <a:cs typeface="DM Sans"/>
                <a:sym typeface="DM Sans"/>
              </a:rPr>
            </a:br>
            <a:r>
              <a:rPr lang="en" sz="1500">
                <a:solidFill>
                  <a:schemeClr val="dk1"/>
                </a:solidFill>
                <a:latin typeface="DM Sans"/>
                <a:ea typeface="DM Sans"/>
                <a:cs typeface="DM Sans"/>
                <a:sym typeface="DM Sans"/>
              </a:rPr>
              <a:t>(5000 rows upserted for those customers’ transactions)</a:t>
            </a:r>
            <a:endParaRPr sz="1500">
              <a:solidFill>
                <a:schemeClr val="dk1"/>
              </a:solidFill>
              <a:latin typeface="DM Sans"/>
              <a:ea typeface="DM Sans"/>
              <a:cs typeface="DM Sans"/>
              <a:sym typeface="DM Sans"/>
            </a:endParaRPr>
          </a:p>
        </p:txBody>
      </p:sp>
      <p:sp>
        <p:nvSpPr>
          <p:cNvPr id="4274" name="Google Shape;4274;p166"/>
          <p:cNvSpPr/>
          <p:nvPr/>
        </p:nvSpPr>
        <p:spPr>
          <a:xfrm>
            <a:off x="5313300" y="2171700"/>
            <a:ext cx="2808300" cy="14358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Flow</a:t>
            </a:r>
            <a:br>
              <a:rPr lang="en" sz="1500">
                <a:latin typeface="DM Sans"/>
                <a:ea typeface="DM Sans"/>
                <a:cs typeface="DM Sans"/>
                <a:sym typeface="DM Sans"/>
              </a:rPr>
            </a:br>
            <a:br>
              <a:rPr lang="en" sz="1500">
                <a:latin typeface="DM Sans"/>
                <a:ea typeface="DM Sans"/>
                <a:cs typeface="DM Sans"/>
                <a:sym typeface="DM Sans"/>
              </a:rPr>
            </a:br>
            <a:r>
              <a:rPr lang="en" sz="1500">
                <a:latin typeface="DM Sans"/>
                <a:ea typeface="DM Sans"/>
                <a:cs typeface="DM Sans"/>
                <a:sym typeface="DM Sans"/>
              </a:rPr>
              <a:t>(incrementally updates 3 rows for the countries affected by the changes)</a:t>
            </a:r>
            <a:endParaRPr sz="1500">
              <a:latin typeface="DM Sans"/>
              <a:ea typeface="DM Sans"/>
              <a:cs typeface="DM Sans"/>
              <a:sym typeface="DM Sans"/>
            </a:endParaRPr>
          </a:p>
        </p:txBody>
      </p:sp>
      <p:cxnSp>
        <p:nvCxnSpPr>
          <p:cNvPr id="4275" name="Google Shape;4275;p166"/>
          <p:cNvCxnSpPr>
            <a:stCxn id="4273" idx="3"/>
            <a:endCxn id="4274" idx="1"/>
          </p:cNvCxnSpPr>
          <p:nvPr/>
        </p:nvCxnSpPr>
        <p:spPr>
          <a:xfrm flipH="1" rot="10800000">
            <a:off x="4015200" y="2889725"/>
            <a:ext cx="1298100" cy="860400"/>
          </a:xfrm>
          <a:prstGeom prst="straightConnector1">
            <a:avLst/>
          </a:prstGeom>
          <a:noFill/>
          <a:ln cap="flat" cmpd="sng" w="9525">
            <a:solidFill>
              <a:schemeClr val="dk1"/>
            </a:solidFill>
            <a:prstDash val="solid"/>
            <a:round/>
            <a:headEnd len="med" w="med" type="none"/>
            <a:tailEnd len="med" w="med" type="stealth"/>
          </a:ln>
        </p:spPr>
      </p:cxnSp>
      <p:cxnSp>
        <p:nvCxnSpPr>
          <p:cNvPr id="4276" name="Google Shape;4276;p166"/>
          <p:cNvCxnSpPr>
            <a:stCxn id="4274" idx="3"/>
            <a:endCxn id="4277" idx="1"/>
          </p:cNvCxnSpPr>
          <p:nvPr/>
        </p:nvCxnSpPr>
        <p:spPr>
          <a:xfrm>
            <a:off x="8121600" y="2889600"/>
            <a:ext cx="611100" cy="300"/>
          </a:xfrm>
          <a:prstGeom prst="straightConnector1">
            <a:avLst/>
          </a:prstGeom>
          <a:noFill/>
          <a:ln cap="flat" cmpd="sng" w="9525">
            <a:solidFill>
              <a:schemeClr val="dk1"/>
            </a:solidFill>
            <a:prstDash val="solid"/>
            <a:round/>
            <a:headEnd len="med" w="med" type="none"/>
            <a:tailEnd len="med" w="med" type="stealth"/>
          </a:ln>
        </p:spPr>
      </p:cxnSp>
      <p:sp>
        <p:nvSpPr>
          <p:cNvPr id="4277" name="Google Shape;4277;p166"/>
          <p:cNvSpPr/>
          <p:nvPr/>
        </p:nvSpPr>
        <p:spPr>
          <a:xfrm>
            <a:off x="8732750" y="2171850"/>
            <a:ext cx="2173800" cy="14358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sales_report</a:t>
            </a:r>
            <a:br>
              <a:rPr lang="en" sz="1500">
                <a:latin typeface="DM Sans"/>
                <a:ea typeface="DM Sans"/>
                <a:cs typeface="DM Sans"/>
                <a:sym typeface="DM Sans"/>
              </a:rPr>
            </a:br>
            <a:endParaRPr sz="1500">
              <a:latin typeface="DM Sans"/>
              <a:ea typeface="DM Sans"/>
              <a:cs typeface="DM Sans"/>
              <a:sym typeface="DM Sans"/>
            </a:endParaRPr>
          </a:p>
          <a:p>
            <a:pPr indent="0" lvl="0" marL="0" rtl="0" algn="ctr">
              <a:spcBef>
                <a:spcPts val="0"/>
              </a:spcBef>
              <a:spcAft>
                <a:spcPts val="0"/>
              </a:spcAft>
              <a:buNone/>
            </a:pPr>
            <a:r>
              <a:rPr lang="en" sz="1500">
                <a:latin typeface="DM Sans"/>
                <a:ea typeface="DM Sans"/>
                <a:cs typeface="DM Sans"/>
                <a:sym typeface="DM Sans"/>
              </a:rPr>
              <a:t>(m</a:t>
            </a:r>
            <a:r>
              <a:rPr lang="en" sz="1500">
                <a:latin typeface="DM Sans"/>
                <a:ea typeface="DM Sans"/>
                <a:cs typeface="DM Sans"/>
                <a:sym typeface="DM Sans"/>
              </a:rPr>
              <a:t>aterialized view)</a:t>
            </a:r>
            <a:endParaRPr sz="1500">
              <a:latin typeface="DM Sans"/>
              <a:ea typeface="DM Sans"/>
              <a:cs typeface="DM Sans"/>
              <a:sym typeface="DM Sans"/>
            </a:endParaRPr>
          </a:p>
        </p:txBody>
      </p:sp>
      <p:sp>
        <p:nvSpPr>
          <p:cNvPr id="4278" name="Google Shape;4278;p166"/>
          <p:cNvSpPr/>
          <p:nvPr/>
        </p:nvSpPr>
        <p:spPr>
          <a:xfrm>
            <a:off x="1206900" y="1311400"/>
            <a:ext cx="2808300" cy="1435800"/>
          </a:xfrm>
          <a:prstGeom prst="roundRect">
            <a:avLst>
              <a:gd fmla="val 16667" name="adj"/>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dk1"/>
                </a:solidFill>
                <a:latin typeface="DM Sans"/>
                <a:ea typeface="DM Sans"/>
                <a:cs typeface="DM Sans"/>
                <a:sym typeface="DM Sans"/>
              </a:rPr>
              <a:t>c</a:t>
            </a:r>
            <a:r>
              <a:rPr lang="en" sz="1500">
                <a:solidFill>
                  <a:schemeClr val="dk1"/>
                </a:solidFill>
                <a:latin typeface="DM Sans"/>
                <a:ea typeface="DM Sans"/>
                <a:cs typeface="DM Sans"/>
                <a:sym typeface="DM Sans"/>
              </a:rPr>
              <a:t>lean_customers</a:t>
            </a:r>
            <a:br>
              <a:rPr lang="en" sz="1500">
                <a:solidFill>
                  <a:schemeClr val="dk1"/>
                </a:solidFill>
                <a:latin typeface="DM Sans"/>
                <a:ea typeface="DM Sans"/>
                <a:cs typeface="DM Sans"/>
                <a:sym typeface="DM Sans"/>
              </a:rPr>
            </a:br>
            <a:br>
              <a:rPr lang="en" sz="1500">
                <a:solidFill>
                  <a:schemeClr val="dk1"/>
                </a:solidFill>
                <a:latin typeface="DM Sans"/>
                <a:ea typeface="DM Sans"/>
                <a:cs typeface="DM Sans"/>
                <a:sym typeface="DM Sans"/>
              </a:rPr>
            </a:br>
            <a:r>
              <a:rPr lang="en" sz="1500">
                <a:solidFill>
                  <a:schemeClr val="dk1"/>
                </a:solidFill>
                <a:latin typeface="DM Sans"/>
                <a:ea typeface="DM Sans"/>
                <a:cs typeface="DM Sans"/>
                <a:sym typeface="DM Sans"/>
              </a:rPr>
              <a:t>(200 rows inserted, for customers in NL, UK, and USA)</a:t>
            </a:r>
            <a:endParaRPr sz="1500">
              <a:solidFill>
                <a:schemeClr val="dk1"/>
              </a:solidFill>
              <a:latin typeface="DM Sans"/>
              <a:ea typeface="DM Sans"/>
              <a:cs typeface="DM Sans"/>
              <a:sym typeface="DM Sans"/>
            </a:endParaRPr>
          </a:p>
        </p:txBody>
      </p:sp>
      <p:cxnSp>
        <p:nvCxnSpPr>
          <p:cNvPr id="4279" name="Google Shape;4279;p166"/>
          <p:cNvCxnSpPr>
            <a:stCxn id="4278" idx="3"/>
            <a:endCxn id="4274" idx="1"/>
          </p:cNvCxnSpPr>
          <p:nvPr/>
        </p:nvCxnSpPr>
        <p:spPr>
          <a:xfrm>
            <a:off x="4015200" y="2029300"/>
            <a:ext cx="1298100" cy="860400"/>
          </a:xfrm>
          <a:prstGeom prst="straightConnector1">
            <a:avLst/>
          </a:prstGeom>
          <a:noFill/>
          <a:ln cap="flat" cmpd="sng" w="9525">
            <a:solidFill>
              <a:schemeClr val="dk1"/>
            </a:solidFill>
            <a:prstDash val="solid"/>
            <a:round/>
            <a:headEnd len="med" w="med" type="none"/>
            <a:tailEnd len="med" w="med" type="stealth"/>
          </a:ln>
        </p:spPr>
      </p:cxnSp>
      <p:sp>
        <p:nvSpPr>
          <p:cNvPr id="4280" name="Google Shape;4280;p166"/>
          <p:cNvSpPr txBox="1"/>
          <p:nvPr/>
        </p:nvSpPr>
        <p:spPr>
          <a:xfrm>
            <a:off x="0" y="0"/>
            <a:ext cx="75330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/_static/images/tables/mv-update.png</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4" name="Shape 4284"/>
        <p:cNvGrpSpPr/>
        <p:nvPr/>
      </p:nvGrpSpPr>
      <p:grpSpPr>
        <a:xfrm>
          <a:off x="0" y="0"/>
          <a:ext cx="0" cy="0"/>
          <a:chOff x="0" y="0"/>
          <a:chExt cx="0" cy="0"/>
        </a:xfrm>
      </p:grpSpPr>
      <p:sp>
        <p:nvSpPr>
          <p:cNvPr id="4285" name="Google Shape;4285;p167"/>
          <p:cNvSpPr/>
          <p:nvPr/>
        </p:nvSpPr>
        <p:spPr>
          <a:xfrm>
            <a:off x="3534625" y="443275"/>
            <a:ext cx="7044000" cy="4731600"/>
          </a:xfrm>
          <a:prstGeom prst="roundRect">
            <a:avLst>
              <a:gd fmla="val 11284" name="adj"/>
            </a:avLst>
          </a:prstGeom>
          <a:solidFill>
            <a:schemeClr val="lt2"/>
          </a:solidFill>
          <a:ln cap="flat" cmpd="sng" w="9525">
            <a:solidFill>
              <a:schemeClr val="accent4"/>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n" sz="1500">
                <a:latin typeface="DM Sans"/>
                <a:ea typeface="DM Sans"/>
                <a:cs typeface="DM Sans"/>
                <a:sym typeface="DM Sans"/>
              </a:rPr>
              <a:t>Pipeline</a:t>
            </a:r>
            <a:endParaRPr b="1"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286" name="Google Shape;4286;p167"/>
          <p:cNvSpPr/>
          <p:nvPr/>
        </p:nvSpPr>
        <p:spPr>
          <a:xfrm>
            <a:off x="7379725" y="807925"/>
            <a:ext cx="2938800" cy="22353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DM Sans"/>
                <a:ea typeface="DM Sans"/>
                <a:cs typeface="DM Sans"/>
                <a:sym typeface="DM Sans"/>
              </a:rPr>
              <a:t>Streaming Target</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l">
              <a:spcBef>
                <a:spcPts val="0"/>
              </a:spcBef>
              <a:spcAft>
                <a:spcPts val="0"/>
              </a:spcAft>
              <a:buNone/>
            </a:pPr>
            <a:r>
              <a:t/>
            </a:r>
            <a:endParaRPr sz="1200"/>
          </a:p>
        </p:txBody>
      </p:sp>
      <p:sp>
        <p:nvSpPr>
          <p:cNvPr id="4287" name="Google Shape;4287;p167"/>
          <p:cNvSpPr/>
          <p:nvPr/>
        </p:nvSpPr>
        <p:spPr>
          <a:xfrm>
            <a:off x="7379730" y="3429000"/>
            <a:ext cx="2938800" cy="13821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DM Sans"/>
                <a:ea typeface="DM Sans"/>
                <a:cs typeface="DM Sans"/>
                <a:sym typeface="DM Sans"/>
              </a:rPr>
              <a:t>Batch Target</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l">
              <a:spcBef>
                <a:spcPts val="0"/>
              </a:spcBef>
              <a:spcAft>
                <a:spcPts val="0"/>
              </a:spcAft>
              <a:buNone/>
            </a:pPr>
            <a:r>
              <a:t/>
            </a:r>
            <a:endParaRPr sz="1200"/>
          </a:p>
        </p:txBody>
      </p:sp>
      <p:sp>
        <p:nvSpPr>
          <p:cNvPr id="4288" name="Google Shape;4288;p167"/>
          <p:cNvSpPr/>
          <p:nvPr/>
        </p:nvSpPr>
        <p:spPr>
          <a:xfrm>
            <a:off x="3717250" y="3429000"/>
            <a:ext cx="2938800" cy="13821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DM Sans"/>
                <a:ea typeface="DM Sans"/>
                <a:cs typeface="DM Sans"/>
                <a:sym typeface="DM Sans"/>
              </a:rPr>
              <a:t>Batch Processing</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l">
              <a:spcBef>
                <a:spcPts val="0"/>
              </a:spcBef>
              <a:spcAft>
                <a:spcPts val="0"/>
              </a:spcAft>
              <a:buNone/>
            </a:pPr>
            <a:r>
              <a:t/>
            </a:r>
            <a:endParaRPr sz="1200"/>
          </a:p>
        </p:txBody>
      </p:sp>
      <p:sp>
        <p:nvSpPr>
          <p:cNvPr id="4289" name="Google Shape;4289;p167"/>
          <p:cNvSpPr/>
          <p:nvPr/>
        </p:nvSpPr>
        <p:spPr>
          <a:xfrm>
            <a:off x="3717213" y="811042"/>
            <a:ext cx="2938800" cy="22353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DM Sans"/>
                <a:ea typeface="DM Sans"/>
                <a:cs typeface="DM Sans"/>
                <a:sym typeface="DM Sans"/>
              </a:rPr>
              <a:t>Streaming Processing</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l">
              <a:spcBef>
                <a:spcPts val="0"/>
              </a:spcBef>
              <a:spcAft>
                <a:spcPts val="0"/>
              </a:spcAft>
              <a:buNone/>
            </a:pPr>
            <a:r>
              <a:t/>
            </a:r>
            <a:endParaRPr sz="1200"/>
          </a:p>
        </p:txBody>
      </p:sp>
      <p:sp>
        <p:nvSpPr>
          <p:cNvPr id="4290" name="Google Shape;4290;p167"/>
          <p:cNvSpPr/>
          <p:nvPr/>
        </p:nvSpPr>
        <p:spPr>
          <a:xfrm>
            <a:off x="268943" y="1351575"/>
            <a:ext cx="2562600" cy="15387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 sz="1500">
                <a:solidFill>
                  <a:schemeClr val="lt1"/>
                </a:solidFill>
                <a:latin typeface="DM Sans"/>
                <a:ea typeface="DM Sans"/>
                <a:cs typeface="DM Sans"/>
                <a:sym typeface="DM Sans"/>
              </a:rPr>
              <a:t>Streaming Source</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rPr lang="en" sz="1500">
                <a:solidFill>
                  <a:schemeClr val="lt1"/>
                </a:solidFill>
                <a:latin typeface="DM Sans"/>
                <a:ea typeface="DM Sans"/>
                <a:cs typeface="DM Sans"/>
                <a:sym typeface="DM Sans"/>
              </a:rPr>
              <a:t>Files, tables, streaming tables, messages/events, </a:t>
            </a:r>
            <a:r>
              <a:rPr lang="en" sz="1500">
                <a:solidFill>
                  <a:schemeClr val="lt1"/>
                </a:solidFill>
                <a:latin typeface="DM Sans"/>
                <a:ea typeface="DM Sans"/>
                <a:cs typeface="DM Sans"/>
                <a:sym typeface="DM Sans"/>
              </a:rPr>
              <a:t>change data feeds</a:t>
            </a:r>
            <a:r>
              <a:rPr lang="en" sz="1500">
                <a:solidFill>
                  <a:schemeClr val="lt1"/>
                </a:solidFill>
                <a:latin typeface="DM Sans"/>
                <a:ea typeface="DM Sans"/>
                <a:cs typeface="DM Sans"/>
                <a:sym typeface="DM Sans"/>
              </a:rPr>
              <a:t>, etc.</a:t>
            </a:r>
            <a:endParaRPr sz="1500">
              <a:solidFill>
                <a:schemeClr val="lt1"/>
              </a:solidFill>
              <a:latin typeface="DM Sans"/>
              <a:ea typeface="DM Sans"/>
              <a:cs typeface="DM Sans"/>
              <a:sym typeface="DM Sans"/>
            </a:endParaRPr>
          </a:p>
        </p:txBody>
      </p:sp>
      <p:sp>
        <p:nvSpPr>
          <p:cNvPr id="4291" name="Google Shape;4291;p167"/>
          <p:cNvSpPr/>
          <p:nvPr/>
        </p:nvSpPr>
        <p:spPr>
          <a:xfrm>
            <a:off x="7811572" y="2175165"/>
            <a:ext cx="2075100" cy="719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DM Sans"/>
                <a:ea typeface="DM Sans"/>
                <a:cs typeface="DM Sans"/>
                <a:sym typeface="DM Sans"/>
              </a:rPr>
              <a:t>Streaming table</a:t>
            </a:r>
            <a:endParaRPr b="1" sz="1500">
              <a:latin typeface="DM Sans"/>
              <a:ea typeface="DM Sans"/>
              <a:cs typeface="DM Sans"/>
              <a:sym typeface="DM Sans"/>
            </a:endParaRPr>
          </a:p>
        </p:txBody>
      </p:sp>
      <p:sp>
        <p:nvSpPr>
          <p:cNvPr id="4292" name="Google Shape;4292;p167"/>
          <p:cNvSpPr/>
          <p:nvPr/>
        </p:nvSpPr>
        <p:spPr>
          <a:xfrm>
            <a:off x="7811572" y="3925683"/>
            <a:ext cx="2075100" cy="719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DM Sans"/>
                <a:ea typeface="DM Sans"/>
                <a:cs typeface="DM Sans"/>
                <a:sym typeface="DM Sans"/>
              </a:rPr>
              <a:t>Materialized view</a:t>
            </a:r>
            <a:endParaRPr b="1" sz="1500">
              <a:latin typeface="DM Sans"/>
              <a:ea typeface="DM Sans"/>
              <a:cs typeface="DM Sans"/>
              <a:sym typeface="DM Sans"/>
            </a:endParaRPr>
          </a:p>
        </p:txBody>
      </p:sp>
      <p:sp>
        <p:nvSpPr>
          <p:cNvPr id="4293" name="Google Shape;4293;p167"/>
          <p:cNvSpPr/>
          <p:nvPr/>
        </p:nvSpPr>
        <p:spPr>
          <a:xfrm>
            <a:off x="7811572" y="1355565"/>
            <a:ext cx="2075100" cy="719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DM Sans"/>
                <a:ea typeface="DM Sans"/>
                <a:cs typeface="DM Sans"/>
                <a:sym typeface="DM Sans"/>
              </a:rPr>
              <a:t>Sink</a:t>
            </a:r>
            <a:endParaRPr b="1" sz="1500">
              <a:latin typeface="DM Sans"/>
              <a:ea typeface="DM Sans"/>
              <a:cs typeface="DM Sans"/>
              <a:sym typeface="DM Sans"/>
            </a:endParaRPr>
          </a:p>
        </p:txBody>
      </p:sp>
      <p:sp>
        <p:nvSpPr>
          <p:cNvPr id="4294" name="Google Shape;4294;p167"/>
          <p:cNvSpPr/>
          <p:nvPr/>
        </p:nvSpPr>
        <p:spPr>
          <a:xfrm>
            <a:off x="4149106" y="1355575"/>
            <a:ext cx="2075100" cy="719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Append </a:t>
            </a:r>
            <a:r>
              <a:rPr b="1" lang="en" sz="1500">
                <a:latin typeface="DM Sans"/>
                <a:ea typeface="DM Sans"/>
                <a:cs typeface="DM Sans"/>
                <a:sym typeface="DM Sans"/>
              </a:rPr>
              <a:t>flow</a:t>
            </a:r>
            <a:endParaRPr b="1" sz="1500">
              <a:latin typeface="DM Sans"/>
              <a:ea typeface="DM Sans"/>
              <a:cs typeface="DM Sans"/>
              <a:sym typeface="DM Sans"/>
            </a:endParaRPr>
          </a:p>
        </p:txBody>
      </p:sp>
      <p:sp>
        <p:nvSpPr>
          <p:cNvPr id="4295" name="Google Shape;4295;p167"/>
          <p:cNvSpPr/>
          <p:nvPr/>
        </p:nvSpPr>
        <p:spPr>
          <a:xfrm>
            <a:off x="4149106" y="2175175"/>
            <a:ext cx="2075100" cy="719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Auto CDC</a:t>
            </a:r>
            <a:r>
              <a:rPr lang="en" sz="1500">
                <a:latin typeface="DM Sans"/>
                <a:ea typeface="DM Sans"/>
                <a:cs typeface="DM Sans"/>
                <a:sym typeface="DM Sans"/>
              </a:rPr>
              <a:t> </a:t>
            </a:r>
            <a:r>
              <a:rPr b="1" lang="en" sz="1500">
                <a:latin typeface="DM Sans"/>
                <a:ea typeface="DM Sans"/>
                <a:cs typeface="DM Sans"/>
                <a:sym typeface="DM Sans"/>
              </a:rPr>
              <a:t>flow</a:t>
            </a:r>
            <a:endParaRPr b="1" sz="1500">
              <a:latin typeface="DM Sans"/>
              <a:ea typeface="DM Sans"/>
              <a:cs typeface="DM Sans"/>
              <a:sym typeface="DM Sans"/>
            </a:endParaRPr>
          </a:p>
        </p:txBody>
      </p:sp>
      <p:sp>
        <p:nvSpPr>
          <p:cNvPr id="4296" name="Google Shape;4296;p167"/>
          <p:cNvSpPr/>
          <p:nvPr/>
        </p:nvSpPr>
        <p:spPr>
          <a:xfrm>
            <a:off x="333350" y="3594176"/>
            <a:ext cx="2562600" cy="13821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 sz="1500">
                <a:solidFill>
                  <a:schemeClr val="lt1"/>
                </a:solidFill>
                <a:latin typeface="DM Sans"/>
                <a:ea typeface="DM Sans"/>
                <a:cs typeface="DM Sans"/>
                <a:sym typeface="DM Sans"/>
              </a:rPr>
              <a:t>Batch Source</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rPr lang="en" sz="1500">
                <a:solidFill>
                  <a:schemeClr val="lt1"/>
                </a:solidFill>
                <a:latin typeface="DM Sans"/>
                <a:ea typeface="DM Sans"/>
                <a:cs typeface="DM Sans"/>
                <a:sym typeface="DM Sans"/>
              </a:rPr>
              <a:t>Files, tables, streaming tables, materialized views, etc.</a:t>
            </a:r>
            <a:endParaRPr sz="1500">
              <a:solidFill>
                <a:schemeClr val="lt1"/>
              </a:solidFill>
              <a:latin typeface="DM Sans"/>
              <a:ea typeface="DM Sans"/>
              <a:cs typeface="DM Sans"/>
              <a:sym typeface="DM Sans"/>
            </a:endParaRPr>
          </a:p>
        </p:txBody>
      </p:sp>
      <p:cxnSp>
        <p:nvCxnSpPr>
          <p:cNvPr id="4297" name="Google Shape;4297;p167"/>
          <p:cNvCxnSpPr>
            <a:stCxn id="4290" idx="3"/>
            <a:endCxn id="4294" idx="1"/>
          </p:cNvCxnSpPr>
          <p:nvPr/>
        </p:nvCxnSpPr>
        <p:spPr>
          <a:xfrm flipH="1" rot="10800000">
            <a:off x="2831543" y="1715025"/>
            <a:ext cx="1317600" cy="405900"/>
          </a:xfrm>
          <a:prstGeom prst="straightConnector1">
            <a:avLst/>
          </a:prstGeom>
          <a:noFill/>
          <a:ln cap="flat" cmpd="sng" w="19050">
            <a:solidFill>
              <a:schemeClr val="accent4"/>
            </a:solidFill>
            <a:prstDash val="solid"/>
            <a:round/>
            <a:headEnd len="med" w="med" type="none"/>
            <a:tailEnd len="med" w="med" type="stealth"/>
          </a:ln>
        </p:spPr>
      </p:cxnSp>
      <p:cxnSp>
        <p:nvCxnSpPr>
          <p:cNvPr id="4298" name="Google Shape;4298;p167"/>
          <p:cNvCxnSpPr>
            <a:stCxn id="4299" idx="3"/>
            <a:endCxn id="4292" idx="1"/>
          </p:cNvCxnSpPr>
          <p:nvPr/>
        </p:nvCxnSpPr>
        <p:spPr>
          <a:xfrm>
            <a:off x="6288631" y="4285220"/>
            <a:ext cx="1522800" cy="0"/>
          </a:xfrm>
          <a:prstGeom prst="straightConnector1">
            <a:avLst/>
          </a:prstGeom>
          <a:noFill/>
          <a:ln cap="flat" cmpd="sng" w="19050">
            <a:solidFill>
              <a:schemeClr val="accent4"/>
            </a:solidFill>
            <a:prstDash val="solid"/>
            <a:round/>
            <a:headEnd len="med" w="med" type="none"/>
            <a:tailEnd len="med" w="med" type="stealth"/>
          </a:ln>
        </p:spPr>
      </p:cxnSp>
      <p:cxnSp>
        <p:nvCxnSpPr>
          <p:cNvPr id="4300" name="Google Shape;4300;p167"/>
          <p:cNvCxnSpPr>
            <a:stCxn id="4294" idx="3"/>
            <a:endCxn id="4293" idx="1"/>
          </p:cNvCxnSpPr>
          <p:nvPr/>
        </p:nvCxnSpPr>
        <p:spPr>
          <a:xfrm>
            <a:off x="6224206" y="1715125"/>
            <a:ext cx="1587300" cy="0"/>
          </a:xfrm>
          <a:prstGeom prst="straightConnector1">
            <a:avLst/>
          </a:prstGeom>
          <a:noFill/>
          <a:ln cap="flat" cmpd="sng" w="19050">
            <a:solidFill>
              <a:schemeClr val="accent4"/>
            </a:solidFill>
            <a:prstDash val="solid"/>
            <a:round/>
            <a:headEnd len="med" w="med" type="none"/>
            <a:tailEnd len="med" w="med" type="stealth"/>
          </a:ln>
        </p:spPr>
      </p:cxnSp>
      <p:cxnSp>
        <p:nvCxnSpPr>
          <p:cNvPr id="4301" name="Google Shape;4301;p167"/>
          <p:cNvCxnSpPr>
            <a:stCxn id="4290" idx="3"/>
            <a:endCxn id="4295" idx="1"/>
          </p:cNvCxnSpPr>
          <p:nvPr/>
        </p:nvCxnSpPr>
        <p:spPr>
          <a:xfrm>
            <a:off x="2831543" y="2120925"/>
            <a:ext cx="1317600" cy="413700"/>
          </a:xfrm>
          <a:prstGeom prst="straightConnector1">
            <a:avLst/>
          </a:prstGeom>
          <a:noFill/>
          <a:ln cap="flat" cmpd="sng" w="19050">
            <a:solidFill>
              <a:schemeClr val="accent4"/>
            </a:solidFill>
            <a:prstDash val="solid"/>
            <a:round/>
            <a:headEnd len="med" w="med" type="none"/>
            <a:tailEnd len="med" w="med" type="stealth"/>
          </a:ln>
        </p:spPr>
      </p:cxnSp>
      <p:cxnSp>
        <p:nvCxnSpPr>
          <p:cNvPr id="4302" name="Google Shape;4302;p167"/>
          <p:cNvCxnSpPr>
            <a:stCxn id="4294" idx="3"/>
            <a:endCxn id="4291" idx="1"/>
          </p:cNvCxnSpPr>
          <p:nvPr/>
        </p:nvCxnSpPr>
        <p:spPr>
          <a:xfrm>
            <a:off x="6224206" y="1715125"/>
            <a:ext cx="1587300" cy="819600"/>
          </a:xfrm>
          <a:prstGeom prst="straightConnector1">
            <a:avLst/>
          </a:prstGeom>
          <a:noFill/>
          <a:ln cap="flat" cmpd="sng" w="19050">
            <a:solidFill>
              <a:schemeClr val="accent4"/>
            </a:solidFill>
            <a:prstDash val="solid"/>
            <a:round/>
            <a:headEnd len="med" w="med" type="none"/>
            <a:tailEnd len="med" w="med" type="stealth"/>
          </a:ln>
        </p:spPr>
      </p:cxnSp>
      <p:cxnSp>
        <p:nvCxnSpPr>
          <p:cNvPr id="4303" name="Google Shape;4303;p167"/>
          <p:cNvCxnSpPr>
            <a:stCxn id="4295" idx="3"/>
            <a:endCxn id="4291" idx="1"/>
          </p:cNvCxnSpPr>
          <p:nvPr/>
        </p:nvCxnSpPr>
        <p:spPr>
          <a:xfrm>
            <a:off x="6224206" y="2534725"/>
            <a:ext cx="1587300" cy="0"/>
          </a:xfrm>
          <a:prstGeom prst="straightConnector1">
            <a:avLst/>
          </a:prstGeom>
          <a:noFill/>
          <a:ln cap="flat" cmpd="sng" w="19050">
            <a:solidFill>
              <a:schemeClr val="accent4"/>
            </a:solidFill>
            <a:prstDash val="solid"/>
            <a:round/>
            <a:headEnd len="med" w="med" type="none"/>
            <a:tailEnd len="med" w="med" type="stealth"/>
          </a:ln>
        </p:spPr>
      </p:cxnSp>
      <p:sp>
        <p:nvSpPr>
          <p:cNvPr id="4299" name="Google Shape;4299;p167"/>
          <p:cNvSpPr/>
          <p:nvPr/>
        </p:nvSpPr>
        <p:spPr>
          <a:xfrm>
            <a:off x="4213531" y="3925670"/>
            <a:ext cx="2075100" cy="719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DM Sans"/>
                <a:ea typeface="DM Sans"/>
                <a:cs typeface="DM Sans"/>
                <a:sym typeface="DM Sans"/>
              </a:rPr>
              <a:t>Materialized view </a:t>
            </a:r>
            <a:r>
              <a:rPr b="1" lang="en" sz="1500">
                <a:latin typeface="DM Sans"/>
                <a:ea typeface="DM Sans"/>
                <a:cs typeface="DM Sans"/>
                <a:sym typeface="DM Sans"/>
              </a:rPr>
              <a:t>flow</a:t>
            </a:r>
            <a:endParaRPr b="1" sz="1500">
              <a:latin typeface="DM Sans"/>
              <a:ea typeface="DM Sans"/>
              <a:cs typeface="DM Sans"/>
              <a:sym typeface="DM Sans"/>
            </a:endParaRPr>
          </a:p>
        </p:txBody>
      </p:sp>
      <p:cxnSp>
        <p:nvCxnSpPr>
          <p:cNvPr id="4304" name="Google Shape;4304;p167"/>
          <p:cNvCxnSpPr>
            <a:stCxn id="4296" idx="3"/>
            <a:endCxn id="4299" idx="1"/>
          </p:cNvCxnSpPr>
          <p:nvPr/>
        </p:nvCxnSpPr>
        <p:spPr>
          <a:xfrm>
            <a:off x="2895950" y="4285226"/>
            <a:ext cx="1317600" cy="0"/>
          </a:xfrm>
          <a:prstGeom prst="straightConnector1">
            <a:avLst/>
          </a:prstGeom>
          <a:noFill/>
          <a:ln cap="flat" cmpd="sng" w="19050">
            <a:solidFill>
              <a:schemeClr val="accent4"/>
            </a:solidFill>
            <a:prstDash val="solid"/>
            <a:round/>
            <a:headEnd len="med" w="med" type="none"/>
            <a:tailEnd len="med" w="med" type="stealth"/>
          </a:ln>
        </p:spPr>
      </p:cxn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8" name="Shape 4308"/>
        <p:cNvGrpSpPr/>
        <p:nvPr/>
      </p:nvGrpSpPr>
      <p:grpSpPr>
        <a:xfrm>
          <a:off x="0" y="0"/>
          <a:ext cx="0" cy="0"/>
          <a:chOff x="0" y="0"/>
          <a:chExt cx="0" cy="0"/>
        </a:xfrm>
      </p:grpSpPr>
      <p:sp>
        <p:nvSpPr>
          <p:cNvPr id="4309" name="Google Shape;4309;p168"/>
          <p:cNvSpPr/>
          <p:nvPr/>
        </p:nvSpPr>
        <p:spPr>
          <a:xfrm>
            <a:off x="225125" y="175725"/>
            <a:ext cx="4347000" cy="48051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n" sz="1500">
                <a:latin typeface="DM Sans"/>
                <a:ea typeface="DM Sans"/>
                <a:cs typeface="DM Sans"/>
                <a:sym typeface="DM Sans"/>
              </a:rPr>
              <a:t>Pipeline (Streaming) </a:t>
            </a:r>
            <a:endParaRPr b="1"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310" name="Google Shape;4310;p168"/>
          <p:cNvSpPr/>
          <p:nvPr/>
        </p:nvSpPr>
        <p:spPr>
          <a:xfrm>
            <a:off x="524675" y="1016450"/>
            <a:ext cx="3672300" cy="16371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500">
                <a:solidFill>
                  <a:schemeClr val="lt1"/>
                </a:solidFill>
                <a:latin typeface="DM Sans"/>
                <a:ea typeface="DM Sans"/>
                <a:cs typeface="DM Sans"/>
                <a:sym typeface="DM Sans"/>
              </a:rPr>
              <a:t>Streaming Targets</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t/>
            </a:r>
            <a:endParaRPr sz="1500">
              <a:solidFill>
                <a:schemeClr val="lt1"/>
              </a:solidFill>
              <a:latin typeface="DM Sans"/>
              <a:ea typeface="DM Sans"/>
              <a:cs typeface="DM Sans"/>
              <a:sym typeface="DM Sans"/>
            </a:endParaRPr>
          </a:p>
        </p:txBody>
      </p:sp>
      <p:sp>
        <p:nvSpPr>
          <p:cNvPr id="4311" name="Google Shape;4311;p168"/>
          <p:cNvSpPr/>
          <p:nvPr/>
        </p:nvSpPr>
        <p:spPr>
          <a:xfrm>
            <a:off x="536475" y="3051575"/>
            <a:ext cx="3672300" cy="16371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500">
                <a:solidFill>
                  <a:schemeClr val="lt1"/>
                </a:solidFill>
                <a:latin typeface="DM Sans"/>
                <a:ea typeface="DM Sans"/>
                <a:cs typeface="DM Sans"/>
                <a:sym typeface="DM Sans"/>
              </a:rPr>
              <a:t>Flows     </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t/>
            </a:r>
            <a:endParaRPr sz="1500">
              <a:solidFill>
                <a:schemeClr val="lt1"/>
              </a:solidFill>
              <a:latin typeface="DM Sans"/>
              <a:ea typeface="DM Sans"/>
              <a:cs typeface="DM Sans"/>
              <a:sym typeface="DM Sans"/>
            </a:endParaRPr>
          </a:p>
        </p:txBody>
      </p:sp>
      <p:sp>
        <p:nvSpPr>
          <p:cNvPr id="4312" name="Google Shape;4312;p168"/>
          <p:cNvSpPr/>
          <p:nvPr/>
        </p:nvSpPr>
        <p:spPr>
          <a:xfrm>
            <a:off x="1127818" y="5221513"/>
            <a:ext cx="2562600" cy="15387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 sz="1500">
                <a:solidFill>
                  <a:schemeClr val="lt1"/>
                </a:solidFill>
                <a:latin typeface="DM Sans"/>
                <a:ea typeface="DM Sans"/>
                <a:cs typeface="DM Sans"/>
                <a:sym typeface="DM Sans"/>
              </a:rPr>
              <a:t>Streaming Source</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rPr lang="en" sz="1500">
                <a:solidFill>
                  <a:schemeClr val="lt1"/>
                </a:solidFill>
                <a:latin typeface="DM Sans"/>
                <a:ea typeface="DM Sans"/>
                <a:cs typeface="DM Sans"/>
                <a:sym typeface="DM Sans"/>
              </a:rPr>
              <a:t>Files, tables, streaming tables, messages/events, </a:t>
            </a:r>
            <a:r>
              <a:rPr lang="en" sz="1500">
                <a:solidFill>
                  <a:schemeClr val="lt1"/>
                </a:solidFill>
                <a:latin typeface="DM Sans"/>
                <a:ea typeface="DM Sans"/>
                <a:cs typeface="DM Sans"/>
                <a:sym typeface="DM Sans"/>
              </a:rPr>
              <a:t>change data feeds</a:t>
            </a:r>
            <a:r>
              <a:rPr lang="en" sz="1500">
                <a:solidFill>
                  <a:schemeClr val="lt1"/>
                </a:solidFill>
                <a:latin typeface="DM Sans"/>
                <a:ea typeface="DM Sans"/>
                <a:cs typeface="DM Sans"/>
                <a:sym typeface="DM Sans"/>
              </a:rPr>
              <a:t>, etc.</a:t>
            </a:r>
            <a:endParaRPr sz="1500">
              <a:solidFill>
                <a:schemeClr val="lt1"/>
              </a:solidFill>
              <a:latin typeface="DM Sans"/>
              <a:ea typeface="DM Sans"/>
              <a:cs typeface="DM Sans"/>
              <a:sym typeface="DM Sans"/>
            </a:endParaRPr>
          </a:p>
        </p:txBody>
      </p:sp>
      <p:sp>
        <p:nvSpPr>
          <p:cNvPr id="4313" name="Google Shape;4313;p168"/>
          <p:cNvSpPr/>
          <p:nvPr/>
        </p:nvSpPr>
        <p:spPr>
          <a:xfrm>
            <a:off x="677275" y="3498973"/>
            <a:ext cx="3381300" cy="1037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314" name="Google Shape;4314;p168"/>
          <p:cNvSpPr/>
          <p:nvPr/>
        </p:nvSpPr>
        <p:spPr>
          <a:xfrm>
            <a:off x="894650" y="3636963"/>
            <a:ext cx="1383000" cy="7614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Append </a:t>
            </a:r>
            <a:r>
              <a:rPr b="1" lang="en" sz="1200">
                <a:latin typeface="DM Sans"/>
                <a:ea typeface="DM Sans"/>
                <a:cs typeface="DM Sans"/>
                <a:sym typeface="DM Sans"/>
              </a:rPr>
              <a:t>flow</a:t>
            </a:r>
            <a:endParaRPr b="1" sz="1200">
              <a:latin typeface="DM Sans"/>
              <a:ea typeface="DM Sans"/>
              <a:cs typeface="DM Sans"/>
              <a:sym typeface="DM Sans"/>
            </a:endParaRPr>
          </a:p>
        </p:txBody>
      </p:sp>
      <p:sp>
        <p:nvSpPr>
          <p:cNvPr id="4315" name="Google Shape;4315;p168"/>
          <p:cNvSpPr/>
          <p:nvPr/>
        </p:nvSpPr>
        <p:spPr>
          <a:xfrm>
            <a:off x="2385625" y="3647063"/>
            <a:ext cx="1383000" cy="7614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Apply Changes </a:t>
            </a:r>
            <a:r>
              <a:rPr b="1" lang="en" sz="1200">
                <a:latin typeface="DM Sans"/>
                <a:ea typeface="DM Sans"/>
                <a:cs typeface="DM Sans"/>
                <a:sym typeface="DM Sans"/>
              </a:rPr>
              <a:t>flow</a:t>
            </a:r>
            <a:endParaRPr b="1" sz="1200">
              <a:latin typeface="DM Sans"/>
              <a:ea typeface="DM Sans"/>
              <a:cs typeface="DM Sans"/>
              <a:sym typeface="DM Sans"/>
            </a:endParaRPr>
          </a:p>
        </p:txBody>
      </p:sp>
      <p:sp>
        <p:nvSpPr>
          <p:cNvPr id="4316" name="Google Shape;4316;p168"/>
          <p:cNvSpPr/>
          <p:nvPr/>
        </p:nvSpPr>
        <p:spPr>
          <a:xfrm>
            <a:off x="6516025" y="3683913"/>
            <a:ext cx="1065000" cy="761400"/>
          </a:xfrm>
          <a:prstGeom prst="roundRect">
            <a:avLst>
              <a:gd fmla="val 16667" name="adj"/>
            </a:avLst>
          </a:prstGeom>
          <a:solidFill>
            <a:schemeClr val="lt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DM Sans"/>
                <a:ea typeface="DM Sans"/>
                <a:cs typeface="DM Sans"/>
                <a:sym typeface="DM Sans"/>
              </a:rPr>
              <a:t>Materialized view</a:t>
            </a:r>
            <a:r>
              <a:rPr lang="en" sz="1100">
                <a:latin typeface="DM Sans"/>
                <a:ea typeface="DM Sans"/>
                <a:cs typeface="DM Sans"/>
                <a:sym typeface="DM Sans"/>
              </a:rPr>
              <a:t> </a:t>
            </a:r>
            <a:r>
              <a:rPr b="1" lang="en" sz="1100">
                <a:latin typeface="DM Sans"/>
                <a:ea typeface="DM Sans"/>
                <a:cs typeface="DM Sans"/>
                <a:sym typeface="DM Sans"/>
              </a:rPr>
              <a:t>flow</a:t>
            </a:r>
            <a:endParaRPr b="1" sz="1100">
              <a:latin typeface="DM Sans"/>
              <a:ea typeface="DM Sans"/>
              <a:cs typeface="DM Sans"/>
              <a:sym typeface="DM Sans"/>
            </a:endParaRPr>
          </a:p>
        </p:txBody>
      </p:sp>
      <p:sp>
        <p:nvSpPr>
          <p:cNvPr id="4317" name="Google Shape;4317;p168"/>
          <p:cNvSpPr/>
          <p:nvPr/>
        </p:nvSpPr>
        <p:spPr>
          <a:xfrm>
            <a:off x="677275" y="1481323"/>
            <a:ext cx="3381300" cy="1037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318" name="Google Shape;4318;p168"/>
          <p:cNvSpPr/>
          <p:nvPr/>
        </p:nvSpPr>
        <p:spPr>
          <a:xfrm>
            <a:off x="894650" y="1666263"/>
            <a:ext cx="1383000" cy="7614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Sink</a:t>
            </a:r>
            <a:endParaRPr b="1" sz="1300">
              <a:latin typeface="DM Sans"/>
              <a:ea typeface="DM Sans"/>
              <a:cs typeface="DM Sans"/>
              <a:sym typeface="DM Sans"/>
            </a:endParaRPr>
          </a:p>
        </p:txBody>
      </p:sp>
      <p:sp>
        <p:nvSpPr>
          <p:cNvPr id="4319" name="Google Shape;4319;p168"/>
          <p:cNvSpPr/>
          <p:nvPr/>
        </p:nvSpPr>
        <p:spPr>
          <a:xfrm>
            <a:off x="2432150" y="1666138"/>
            <a:ext cx="1383000" cy="7614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Streaming table</a:t>
            </a:r>
            <a:endParaRPr b="1" sz="1300">
              <a:latin typeface="DM Sans"/>
              <a:ea typeface="DM Sans"/>
              <a:cs typeface="DM Sans"/>
              <a:sym typeface="DM Sans"/>
            </a:endParaRPr>
          </a:p>
        </p:txBody>
      </p:sp>
      <p:cxnSp>
        <p:nvCxnSpPr>
          <p:cNvPr id="4320" name="Google Shape;4320;p168"/>
          <p:cNvCxnSpPr>
            <a:stCxn id="4312" idx="0"/>
          </p:cNvCxnSpPr>
          <p:nvPr/>
        </p:nvCxnSpPr>
        <p:spPr>
          <a:xfrm rot="10800000">
            <a:off x="1625818" y="4408513"/>
            <a:ext cx="783300" cy="813000"/>
          </a:xfrm>
          <a:prstGeom prst="straightConnector1">
            <a:avLst/>
          </a:prstGeom>
          <a:noFill/>
          <a:ln cap="flat" cmpd="sng" w="28575">
            <a:solidFill>
              <a:schemeClr val="dk2"/>
            </a:solidFill>
            <a:prstDash val="solid"/>
            <a:round/>
            <a:headEnd len="med" w="med" type="none"/>
            <a:tailEnd len="med" w="med" type="triangle"/>
          </a:ln>
        </p:spPr>
      </p:cxnSp>
      <p:cxnSp>
        <p:nvCxnSpPr>
          <p:cNvPr id="4321" name="Google Shape;4321;p168"/>
          <p:cNvCxnSpPr>
            <a:stCxn id="4312" idx="0"/>
            <a:endCxn id="4315" idx="2"/>
          </p:cNvCxnSpPr>
          <p:nvPr/>
        </p:nvCxnSpPr>
        <p:spPr>
          <a:xfrm flipH="1" rot="10800000">
            <a:off x="2409118" y="4408513"/>
            <a:ext cx="668100" cy="813000"/>
          </a:xfrm>
          <a:prstGeom prst="straightConnector1">
            <a:avLst/>
          </a:prstGeom>
          <a:noFill/>
          <a:ln cap="flat" cmpd="sng" w="28575">
            <a:solidFill>
              <a:schemeClr val="dk2"/>
            </a:solidFill>
            <a:prstDash val="solid"/>
            <a:round/>
            <a:headEnd len="med" w="med" type="none"/>
            <a:tailEnd len="med" w="med" type="triangle"/>
          </a:ln>
        </p:spPr>
      </p:cxnSp>
      <p:cxnSp>
        <p:nvCxnSpPr>
          <p:cNvPr id="4322" name="Google Shape;4322;p168"/>
          <p:cNvCxnSpPr>
            <a:endCxn id="4319" idx="2"/>
          </p:cNvCxnSpPr>
          <p:nvPr/>
        </p:nvCxnSpPr>
        <p:spPr>
          <a:xfrm flipH="1" rot="10800000">
            <a:off x="3098450" y="2427538"/>
            <a:ext cx="25200" cy="1212000"/>
          </a:xfrm>
          <a:prstGeom prst="straightConnector1">
            <a:avLst/>
          </a:prstGeom>
          <a:noFill/>
          <a:ln cap="flat" cmpd="sng" w="28575">
            <a:solidFill>
              <a:schemeClr val="dk2"/>
            </a:solidFill>
            <a:prstDash val="solid"/>
            <a:round/>
            <a:headEnd len="med" w="med" type="none"/>
            <a:tailEnd len="med" w="med" type="triangle"/>
          </a:ln>
        </p:spPr>
      </p:cxnSp>
      <p:cxnSp>
        <p:nvCxnSpPr>
          <p:cNvPr id="4323" name="Google Shape;4323;p168"/>
          <p:cNvCxnSpPr/>
          <p:nvPr/>
        </p:nvCxnSpPr>
        <p:spPr>
          <a:xfrm flipH="1" rot="10800000">
            <a:off x="1573550" y="2427538"/>
            <a:ext cx="25200" cy="1212000"/>
          </a:xfrm>
          <a:prstGeom prst="straightConnector1">
            <a:avLst/>
          </a:prstGeom>
          <a:noFill/>
          <a:ln cap="flat" cmpd="sng" w="28575">
            <a:solidFill>
              <a:schemeClr val="dk2"/>
            </a:solidFill>
            <a:prstDash val="solid"/>
            <a:round/>
            <a:headEnd len="med" w="med" type="none"/>
            <a:tailEnd len="med" w="med" type="triangle"/>
          </a:ln>
        </p:spPr>
      </p:cxnSp>
      <p:cxnSp>
        <p:nvCxnSpPr>
          <p:cNvPr id="4324" name="Google Shape;4324;p168"/>
          <p:cNvCxnSpPr>
            <a:stCxn id="4316" idx="0"/>
            <a:endCxn id="4325" idx="2"/>
          </p:cNvCxnSpPr>
          <p:nvPr/>
        </p:nvCxnSpPr>
        <p:spPr>
          <a:xfrm rot="10800000">
            <a:off x="5920225" y="2427813"/>
            <a:ext cx="1128300" cy="1256100"/>
          </a:xfrm>
          <a:prstGeom prst="straightConnector1">
            <a:avLst/>
          </a:prstGeom>
          <a:noFill/>
          <a:ln cap="flat" cmpd="sng" w="28575">
            <a:solidFill>
              <a:schemeClr val="dk2"/>
            </a:solidFill>
            <a:prstDash val="solid"/>
            <a:round/>
            <a:headEnd len="med" w="med" type="none"/>
            <a:tailEnd len="med" w="med" type="triangle"/>
          </a:ln>
        </p:spPr>
      </p:cxnSp>
      <p:cxnSp>
        <p:nvCxnSpPr>
          <p:cNvPr id="4326" name="Google Shape;4326;p168"/>
          <p:cNvCxnSpPr>
            <a:stCxn id="4314" idx="0"/>
            <a:endCxn id="4319" idx="2"/>
          </p:cNvCxnSpPr>
          <p:nvPr/>
        </p:nvCxnSpPr>
        <p:spPr>
          <a:xfrm flipH="1" rot="10800000">
            <a:off x="1586150" y="2427663"/>
            <a:ext cx="1537500" cy="1209300"/>
          </a:xfrm>
          <a:prstGeom prst="straightConnector1">
            <a:avLst/>
          </a:prstGeom>
          <a:noFill/>
          <a:ln cap="flat" cmpd="sng" w="28575">
            <a:solidFill>
              <a:schemeClr val="dk2"/>
            </a:solidFill>
            <a:prstDash val="solid"/>
            <a:round/>
            <a:headEnd len="med" w="med" type="none"/>
            <a:tailEnd len="med" w="med" type="triangle"/>
          </a:ln>
        </p:spPr>
      </p:cxnSp>
      <p:sp>
        <p:nvSpPr>
          <p:cNvPr id="4327" name="Google Shape;4327;p168"/>
          <p:cNvSpPr txBox="1"/>
          <p:nvPr/>
        </p:nvSpPr>
        <p:spPr>
          <a:xfrm>
            <a:off x="7022250" y="3316200"/>
            <a:ext cx="612600" cy="3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DM Sans"/>
                <a:ea typeface="DM Sans"/>
                <a:cs typeface="DM Sans"/>
                <a:sym typeface="DM Sans"/>
              </a:rPr>
              <a:t>Batch</a:t>
            </a:r>
            <a:endParaRPr sz="1000">
              <a:solidFill>
                <a:schemeClr val="dk1"/>
              </a:solidFill>
              <a:latin typeface="DM Sans"/>
              <a:ea typeface="DM Sans"/>
              <a:cs typeface="DM Sans"/>
              <a:sym typeface="DM Sans"/>
            </a:endParaRPr>
          </a:p>
        </p:txBody>
      </p:sp>
      <p:sp>
        <p:nvSpPr>
          <p:cNvPr id="4328" name="Google Shape;4328;p168"/>
          <p:cNvSpPr/>
          <p:nvPr/>
        </p:nvSpPr>
        <p:spPr>
          <a:xfrm>
            <a:off x="5726075" y="175725"/>
            <a:ext cx="4347000" cy="4968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n" sz="1500">
                <a:latin typeface="DM Sans"/>
                <a:ea typeface="DM Sans"/>
                <a:cs typeface="DM Sans"/>
                <a:sym typeface="DM Sans"/>
              </a:rPr>
              <a:t>Pipeline (Batch) </a:t>
            </a:r>
            <a:endParaRPr b="1"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329" name="Google Shape;4329;p168"/>
          <p:cNvSpPr/>
          <p:nvPr/>
        </p:nvSpPr>
        <p:spPr>
          <a:xfrm>
            <a:off x="6020600" y="1065650"/>
            <a:ext cx="3672300" cy="16371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500">
                <a:solidFill>
                  <a:schemeClr val="lt1"/>
                </a:solidFill>
                <a:latin typeface="DM Sans"/>
                <a:ea typeface="DM Sans"/>
                <a:cs typeface="DM Sans"/>
                <a:sym typeface="DM Sans"/>
              </a:rPr>
              <a:t>Batch </a:t>
            </a:r>
            <a:r>
              <a:rPr b="1" lang="en" sz="1500">
                <a:solidFill>
                  <a:schemeClr val="lt1"/>
                </a:solidFill>
                <a:latin typeface="DM Sans"/>
                <a:ea typeface="DM Sans"/>
                <a:cs typeface="DM Sans"/>
                <a:sym typeface="DM Sans"/>
              </a:rPr>
              <a:t>Targets</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t/>
            </a:r>
            <a:endParaRPr sz="1500">
              <a:solidFill>
                <a:schemeClr val="lt1"/>
              </a:solidFill>
              <a:latin typeface="DM Sans"/>
              <a:ea typeface="DM Sans"/>
              <a:cs typeface="DM Sans"/>
              <a:sym typeface="DM Sans"/>
            </a:endParaRPr>
          </a:p>
        </p:txBody>
      </p:sp>
      <p:sp>
        <p:nvSpPr>
          <p:cNvPr id="4330" name="Google Shape;4330;p168"/>
          <p:cNvSpPr/>
          <p:nvPr/>
        </p:nvSpPr>
        <p:spPr>
          <a:xfrm>
            <a:off x="6024225" y="3187675"/>
            <a:ext cx="3672300" cy="16371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500">
                <a:solidFill>
                  <a:schemeClr val="lt1"/>
                </a:solidFill>
                <a:latin typeface="DM Sans"/>
                <a:ea typeface="DM Sans"/>
                <a:cs typeface="DM Sans"/>
                <a:sym typeface="DM Sans"/>
              </a:rPr>
              <a:t>Flows</a:t>
            </a:r>
            <a:endParaRPr b="1" sz="1500">
              <a:solidFill>
                <a:schemeClr val="lt1"/>
              </a:solidFill>
              <a:latin typeface="DM Sans"/>
              <a:ea typeface="DM Sans"/>
              <a:cs typeface="DM Sans"/>
              <a:sym typeface="DM Sans"/>
            </a:endParaRPr>
          </a:p>
          <a:p>
            <a:pPr indent="0" lvl="0" marL="0" marR="0" rtl="0" algn="l">
              <a:lnSpc>
                <a:spcPct val="100000"/>
              </a:lnSpc>
              <a:spcBef>
                <a:spcPts val="1300"/>
              </a:spcBef>
              <a:spcAft>
                <a:spcPts val="0"/>
              </a:spcAft>
              <a:buNone/>
            </a:pPr>
            <a:r>
              <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t/>
            </a:r>
            <a:endParaRPr sz="1500">
              <a:solidFill>
                <a:schemeClr val="lt1"/>
              </a:solidFill>
              <a:latin typeface="DM Sans"/>
              <a:ea typeface="DM Sans"/>
              <a:cs typeface="DM Sans"/>
              <a:sym typeface="DM Sans"/>
            </a:endParaRPr>
          </a:p>
        </p:txBody>
      </p:sp>
      <p:sp>
        <p:nvSpPr>
          <p:cNvPr id="4331" name="Google Shape;4331;p168"/>
          <p:cNvSpPr/>
          <p:nvPr/>
        </p:nvSpPr>
        <p:spPr>
          <a:xfrm>
            <a:off x="6618275" y="5262324"/>
            <a:ext cx="2562600" cy="1457100"/>
          </a:xfrm>
          <a:prstGeom prst="roundRect">
            <a:avLst>
              <a:gd fmla="val 16667" name="adj"/>
            </a:avLst>
          </a:prstGeom>
          <a:solidFill>
            <a:schemeClr val="accent5"/>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 sz="1500">
                <a:solidFill>
                  <a:schemeClr val="lt1"/>
                </a:solidFill>
                <a:latin typeface="DM Sans"/>
                <a:ea typeface="DM Sans"/>
                <a:cs typeface="DM Sans"/>
                <a:sym typeface="DM Sans"/>
              </a:rPr>
              <a:t>Batch Source</a:t>
            </a:r>
            <a:endParaRPr b="1" sz="1500">
              <a:solidFill>
                <a:schemeClr val="lt1"/>
              </a:solidFill>
              <a:latin typeface="DM Sans"/>
              <a:ea typeface="DM Sans"/>
              <a:cs typeface="DM Sans"/>
              <a:sym typeface="DM Sans"/>
            </a:endParaRPr>
          </a:p>
          <a:p>
            <a:pPr indent="0" lvl="0" marL="0" marR="0" rtl="0" algn="ctr">
              <a:lnSpc>
                <a:spcPct val="100000"/>
              </a:lnSpc>
              <a:spcBef>
                <a:spcPts val="1300"/>
              </a:spcBef>
              <a:spcAft>
                <a:spcPts val="0"/>
              </a:spcAft>
              <a:buNone/>
            </a:pPr>
            <a:r>
              <a:rPr lang="en" sz="1500">
                <a:solidFill>
                  <a:schemeClr val="lt1"/>
                </a:solidFill>
                <a:latin typeface="DM Sans"/>
                <a:ea typeface="DM Sans"/>
                <a:cs typeface="DM Sans"/>
                <a:sym typeface="DM Sans"/>
              </a:rPr>
              <a:t>Files, tables, streaming tables, materialized views, etc.</a:t>
            </a:r>
            <a:endParaRPr sz="1500">
              <a:solidFill>
                <a:schemeClr val="lt1"/>
              </a:solidFill>
              <a:latin typeface="DM Sans"/>
              <a:ea typeface="DM Sans"/>
              <a:cs typeface="DM Sans"/>
              <a:sym typeface="DM Sans"/>
            </a:endParaRPr>
          </a:p>
        </p:txBody>
      </p:sp>
      <p:sp>
        <p:nvSpPr>
          <p:cNvPr id="4332" name="Google Shape;4332;p168"/>
          <p:cNvSpPr/>
          <p:nvPr/>
        </p:nvSpPr>
        <p:spPr>
          <a:xfrm>
            <a:off x="6112775" y="3651325"/>
            <a:ext cx="3462600" cy="1037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333" name="Google Shape;4333;p168"/>
          <p:cNvSpPr/>
          <p:nvPr/>
        </p:nvSpPr>
        <p:spPr>
          <a:xfrm>
            <a:off x="6210925" y="3774975"/>
            <a:ext cx="919800" cy="761400"/>
          </a:xfrm>
          <a:prstGeom prst="roundRect">
            <a:avLst>
              <a:gd fmla="val 16667" name="adj"/>
            </a:avLst>
          </a:prstGeom>
          <a:solidFill>
            <a:schemeClr val="lt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ONCE </a:t>
            </a:r>
            <a:r>
              <a:rPr b="1" lang="en" sz="1200">
                <a:latin typeface="DM Sans"/>
                <a:ea typeface="DM Sans"/>
                <a:cs typeface="DM Sans"/>
                <a:sym typeface="DM Sans"/>
              </a:rPr>
              <a:t>flow</a:t>
            </a:r>
            <a:endParaRPr b="1" sz="1200">
              <a:latin typeface="DM Sans"/>
              <a:ea typeface="DM Sans"/>
              <a:cs typeface="DM Sans"/>
              <a:sym typeface="DM Sans"/>
            </a:endParaRPr>
          </a:p>
        </p:txBody>
      </p:sp>
      <p:sp>
        <p:nvSpPr>
          <p:cNvPr id="4334" name="Google Shape;4334;p168"/>
          <p:cNvSpPr/>
          <p:nvPr/>
        </p:nvSpPr>
        <p:spPr>
          <a:xfrm>
            <a:off x="8434475" y="3774975"/>
            <a:ext cx="1065000" cy="761400"/>
          </a:xfrm>
          <a:prstGeom prst="roundRect">
            <a:avLst>
              <a:gd fmla="val 16667" name="adj"/>
            </a:avLst>
          </a:prstGeom>
          <a:solidFill>
            <a:schemeClr val="lt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DM Sans"/>
                <a:ea typeface="DM Sans"/>
                <a:cs typeface="DM Sans"/>
                <a:sym typeface="DM Sans"/>
              </a:rPr>
              <a:t>Materialized view </a:t>
            </a:r>
            <a:r>
              <a:rPr b="1" lang="en" sz="1100">
                <a:latin typeface="DM Sans"/>
                <a:ea typeface="DM Sans"/>
                <a:cs typeface="DM Sans"/>
                <a:sym typeface="DM Sans"/>
              </a:rPr>
              <a:t>flow</a:t>
            </a:r>
            <a:endParaRPr b="1" sz="1100">
              <a:latin typeface="DM Sans"/>
              <a:ea typeface="DM Sans"/>
              <a:cs typeface="DM Sans"/>
              <a:sym typeface="DM Sans"/>
            </a:endParaRPr>
          </a:p>
        </p:txBody>
      </p:sp>
      <p:sp>
        <p:nvSpPr>
          <p:cNvPr id="4335" name="Google Shape;4335;p168"/>
          <p:cNvSpPr/>
          <p:nvPr/>
        </p:nvSpPr>
        <p:spPr>
          <a:xfrm>
            <a:off x="7296000" y="3789325"/>
            <a:ext cx="984900" cy="761400"/>
          </a:xfrm>
          <a:prstGeom prst="roundRect">
            <a:avLst>
              <a:gd fmla="val 16667" name="adj"/>
            </a:avLst>
          </a:prstGeom>
          <a:solidFill>
            <a:schemeClr val="lt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DM Sans"/>
                <a:ea typeface="DM Sans"/>
                <a:cs typeface="DM Sans"/>
                <a:sym typeface="DM Sans"/>
              </a:rPr>
              <a:t>APPLY CHANGES FROM SNAPSHOT</a:t>
            </a:r>
            <a:endParaRPr b="1" sz="1000">
              <a:latin typeface="DM Sans"/>
              <a:ea typeface="DM Sans"/>
              <a:cs typeface="DM Sans"/>
              <a:sym typeface="DM Sans"/>
            </a:endParaRPr>
          </a:p>
        </p:txBody>
      </p:sp>
      <p:sp>
        <p:nvSpPr>
          <p:cNvPr id="4336" name="Google Shape;4336;p168"/>
          <p:cNvSpPr/>
          <p:nvPr/>
        </p:nvSpPr>
        <p:spPr>
          <a:xfrm>
            <a:off x="6164725" y="1528275"/>
            <a:ext cx="3381300" cy="1037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DM Sans"/>
              <a:ea typeface="DM Sans"/>
              <a:cs typeface="DM Sans"/>
              <a:sym typeface="DM Sans"/>
            </a:endParaRPr>
          </a:p>
          <a:p>
            <a:pPr indent="0" lvl="0" marL="0" rtl="0" algn="ctr">
              <a:spcBef>
                <a:spcPts val="0"/>
              </a:spcBef>
              <a:spcAft>
                <a:spcPts val="0"/>
              </a:spcAft>
              <a:buNone/>
            </a:pPr>
            <a:r>
              <a:t/>
            </a:r>
            <a:endParaRPr sz="1500">
              <a:latin typeface="DM Sans"/>
              <a:ea typeface="DM Sans"/>
              <a:cs typeface="DM Sans"/>
              <a:sym typeface="DM Sans"/>
            </a:endParaRPr>
          </a:p>
        </p:txBody>
      </p:sp>
      <p:sp>
        <p:nvSpPr>
          <p:cNvPr id="4337" name="Google Shape;4337;p168"/>
          <p:cNvSpPr/>
          <p:nvPr/>
        </p:nvSpPr>
        <p:spPr>
          <a:xfrm>
            <a:off x="7897050" y="1666175"/>
            <a:ext cx="1537500" cy="7614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Materialized view</a:t>
            </a:r>
            <a:endParaRPr b="1" sz="1300">
              <a:latin typeface="DM Sans"/>
              <a:ea typeface="DM Sans"/>
              <a:cs typeface="DM Sans"/>
              <a:sym typeface="DM Sans"/>
            </a:endParaRPr>
          </a:p>
        </p:txBody>
      </p:sp>
      <p:cxnSp>
        <p:nvCxnSpPr>
          <p:cNvPr id="4338" name="Google Shape;4338;p168"/>
          <p:cNvCxnSpPr>
            <a:stCxn id="4331" idx="0"/>
            <a:endCxn id="4333" idx="2"/>
          </p:cNvCxnSpPr>
          <p:nvPr/>
        </p:nvCxnSpPr>
        <p:spPr>
          <a:xfrm rot="10800000">
            <a:off x="6670775" y="4536324"/>
            <a:ext cx="1228800" cy="726000"/>
          </a:xfrm>
          <a:prstGeom prst="straightConnector1">
            <a:avLst/>
          </a:prstGeom>
          <a:noFill/>
          <a:ln cap="flat" cmpd="sng" w="28575">
            <a:solidFill>
              <a:schemeClr val="dk2"/>
            </a:solidFill>
            <a:prstDash val="solid"/>
            <a:round/>
            <a:headEnd len="med" w="med" type="none"/>
            <a:tailEnd len="med" w="med" type="triangle"/>
          </a:ln>
        </p:spPr>
      </p:cxnSp>
      <p:cxnSp>
        <p:nvCxnSpPr>
          <p:cNvPr id="4339" name="Google Shape;4339;p168"/>
          <p:cNvCxnSpPr>
            <a:stCxn id="4331" idx="0"/>
            <a:endCxn id="4335" idx="2"/>
          </p:cNvCxnSpPr>
          <p:nvPr/>
        </p:nvCxnSpPr>
        <p:spPr>
          <a:xfrm rot="10800000">
            <a:off x="7788575" y="4550724"/>
            <a:ext cx="111000" cy="711600"/>
          </a:xfrm>
          <a:prstGeom prst="straightConnector1">
            <a:avLst/>
          </a:prstGeom>
          <a:noFill/>
          <a:ln cap="flat" cmpd="sng" w="28575">
            <a:solidFill>
              <a:schemeClr val="dk2"/>
            </a:solidFill>
            <a:prstDash val="solid"/>
            <a:round/>
            <a:headEnd len="med" w="med" type="none"/>
            <a:tailEnd len="med" w="med" type="triangle"/>
          </a:ln>
        </p:spPr>
      </p:cxnSp>
      <p:cxnSp>
        <p:nvCxnSpPr>
          <p:cNvPr id="4340" name="Google Shape;4340;p168"/>
          <p:cNvCxnSpPr>
            <a:stCxn id="4331" idx="0"/>
            <a:endCxn id="4334" idx="2"/>
          </p:cNvCxnSpPr>
          <p:nvPr/>
        </p:nvCxnSpPr>
        <p:spPr>
          <a:xfrm flipH="1" rot="10800000">
            <a:off x="7899575" y="4536324"/>
            <a:ext cx="1067400" cy="726000"/>
          </a:xfrm>
          <a:prstGeom prst="straightConnector1">
            <a:avLst/>
          </a:prstGeom>
          <a:noFill/>
          <a:ln cap="flat" cmpd="sng" w="28575">
            <a:solidFill>
              <a:schemeClr val="dk2"/>
            </a:solidFill>
            <a:prstDash val="solid"/>
            <a:round/>
            <a:headEnd len="med" w="med" type="none"/>
            <a:tailEnd len="med" w="med" type="triangle"/>
          </a:ln>
        </p:spPr>
      </p:cxnSp>
      <p:cxnSp>
        <p:nvCxnSpPr>
          <p:cNvPr id="4341" name="Google Shape;4341;p168"/>
          <p:cNvCxnSpPr>
            <a:stCxn id="4333" idx="0"/>
            <a:endCxn id="4342" idx="2"/>
          </p:cNvCxnSpPr>
          <p:nvPr/>
        </p:nvCxnSpPr>
        <p:spPr>
          <a:xfrm flipH="1" rot="10800000">
            <a:off x="6670825" y="2427675"/>
            <a:ext cx="319500" cy="1347300"/>
          </a:xfrm>
          <a:prstGeom prst="straightConnector1">
            <a:avLst/>
          </a:prstGeom>
          <a:noFill/>
          <a:ln cap="flat" cmpd="sng" w="28575">
            <a:solidFill>
              <a:schemeClr val="dk2"/>
            </a:solidFill>
            <a:prstDash val="solid"/>
            <a:round/>
            <a:headEnd len="med" w="med" type="none"/>
            <a:tailEnd len="med" w="med" type="triangle"/>
          </a:ln>
        </p:spPr>
      </p:cxnSp>
      <p:cxnSp>
        <p:nvCxnSpPr>
          <p:cNvPr id="4343" name="Google Shape;4343;p168"/>
          <p:cNvCxnSpPr>
            <a:stCxn id="4334" idx="0"/>
            <a:endCxn id="4337" idx="2"/>
          </p:cNvCxnSpPr>
          <p:nvPr/>
        </p:nvCxnSpPr>
        <p:spPr>
          <a:xfrm rot="10800000">
            <a:off x="8665775" y="2427675"/>
            <a:ext cx="301200" cy="1347300"/>
          </a:xfrm>
          <a:prstGeom prst="straightConnector1">
            <a:avLst/>
          </a:prstGeom>
          <a:noFill/>
          <a:ln cap="flat" cmpd="sng" w="28575">
            <a:solidFill>
              <a:schemeClr val="dk2"/>
            </a:solidFill>
            <a:prstDash val="solid"/>
            <a:round/>
            <a:headEnd len="med" w="med" type="none"/>
            <a:tailEnd len="med" w="med" type="triangle"/>
          </a:ln>
        </p:spPr>
      </p:cxnSp>
      <p:cxnSp>
        <p:nvCxnSpPr>
          <p:cNvPr id="4344" name="Google Shape;4344;p168"/>
          <p:cNvCxnSpPr>
            <a:endCxn id="4342" idx="2"/>
          </p:cNvCxnSpPr>
          <p:nvPr/>
        </p:nvCxnSpPr>
        <p:spPr>
          <a:xfrm rot="10800000">
            <a:off x="6990250" y="2427563"/>
            <a:ext cx="828600" cy="1354500"/>
          </a:xfrm>
          <a:prstGeom prst="straightConnector1">
            <a:avLst/>
          </a:prstGeom>
          <a:noFill/>
          <a:ln cap="flat" cmpd="sng" w="28575">
            <a:solidFill>
              <a:schemeClr val="dk2"/>
            </a:solidFill>
            <a:prstDash val="solid"/>
            <a:round/>
            <a:headEnd len="med" w="med" type="none"/>
            <a:tailEnd len="med" w="med" type="triangle"/>
          </a:ln>
        </p:spPr>
      </p:cxnSp>
      <p:sp>
        <p:nvSpPr>
          <p:cNvPr id="4342" name="Google Shape;4342;p168"/>
          <p:cNvSpPr/>
          <p:nvPr/>
        </p:nvSpPr>
        <p:spPr>
          <a:xfrm>
            <a:off x="6298750" y="1666163"/>
            <a:ext cx="1383000" cy="7614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DM Sans"/>
                <a:ea typeface="DM Sans"/>
                <a:cs typeface="DM Sans"/>
                <a:sym typeface="DM Sans"/>
              </a:rPr>
              <a:t>Streaming table</a:t>
            </a:r>
            <a:endParaRPr b="1" sz="1300">
              <a:latin typeface="DM Sans"/>
              <a:ea typeface="DM Sans"/>
              <a:cs typeface="DM Sans"/>
              <a:sym typeface="DM San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8" name="Shape 4348"/>
        <p:cNvGrpSpPr/>
        <p:nvPr/>
      </p:nvGrpSpPr>
      <p:grpSpPr>
        <a:xfrm>
          <a:off x="0" y="0"/>
          <a:ext cx="0" cy="0"/>
          <a:chOff x="0" y="0"/>
          <a:chExt cx="0" cy="0"/>
        </a:xfrm>
      </p:grpSpPr>
      <p:sp>
        <p:nvSpPr>
          <p:cNvPr id="4349" name="Google Shape;4349;p169"/>
          <p:cNvSpPr txBox="1"/>
          <p:nvPr/>
        </p:nvSpPr>
        <p:spPr>
          <a:xfrm>
            <a:off x="0" y="0"/>
            <a:ext cx="75330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a:solidFill>
                  <a:schemeClr val="accent1"/>
                </a:solidFill>
                <a:latin typeface="DM Sans Medium"/>
                <a:ea typeface="DM Sans Medium"/>
                <a:cs typeface="DM Sans Medium"/>
                <a:sym typeface="DM Sans Medium"/>
              </a:rPr>
              <a:t>/_static/images/mlflow/agent-trace-ui.png</a:t>
            </a:r>
            <a:endParaRPr/>
          </a:p>
        </p:txBody>
      </p:sp>
      <p:pic>
        <p:nvPicPr>
          <p:cNvPr id="4350" name="Google Shape;4350;p169" title="agent-trace-ui.png"/>
          <p:cNvPicPr preferRelativeResize="0"/>
          <p:nvPr/>
        </p:nvPicPr>
        <p:blipFill>
          <a:blip r:embed="rId3">
            <a:alphaModFix/>
          </a:blip>
          <a:stretch>
            <a:fillRect/>
          </a:stretch>
        </p:blipFill>
        <p:spPr>
          <a:xfrm>
            <a:off x="3546350" y="287900"/>
            <a:ext cx="7297254" cy="617460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4" name="Shape 4354"/>
        <p:cNvGrpSpPr/>
        <p:nvPr/>
      </p:nvGrpSpPr>
      <p:grpSpPr>
        <a:xfrm>
          <a:off x="0" y="0"/>
          <a:ext cx="0" cy="0"/>
          <a:chOff x="0" y="0"/>
          <a:chExt cx="0" cy="0"/>
        </a:xfrm>
      </p:grpSpPr>
      <p:sp>
        <p:nvSpPr>
          <p:cNvPr id="4355" name="Google Shape;4355;p170"/>
          <p:cNvSpPr/>
          <p:nvPr/>
        </p:nvSpPr>
        <p:spPr>
          <a:xfrm>
            <a:off x="5952312" y="2450025"/>
            <a:ext cx="965100" cy="7962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000">
                <a:latin typeface="DM Sans"/>
                <a:ea typeface="DM Sans"/>
                <a:cs typeface="DM Sans"/>
                <a:sym typeface="DM Sans"/>
              </a:rPr>
              <a:t>Response</a:t>
            </a:r>
            <a:endParaRPr b="1" sz="1000">
              <a:latin typeface="DM Sans"/>
              <a:ea typeface="DM Sans"/>
              <a:cs typeface="DM Sans"/>
              <a:sym typeface="DM Sans"/>
            </a:endParaRPr>
          </a:p>
        </p:txBody>
      </p:sp>
      <p:pic>
        <p:nvPicPr>
          <p:cNvPr id="4356" name="Google Shape;4356;p170"/>
          <p:cNvPicPr preferRelativeResize="0"/>
          <p:nvPr/>
        </p:nvPicPr>
        <p:blipFill rotWithShape="1">
          <a:blip r:embed="rId3">
            <a:alphaModFix/>
          </a:blip>
          <a:srcRect b="0" l="0" r="0" t="0"/>
          <a:stretch/>
        </p:blipFill>
        <p:spPr>
          <a:xfrm>
            <a:off x="6235000" y="2648811"/>
            <a:ext cx="400201" cy="398653"/>
          </a:xfrm>
          <a:prstGeom prst="rect">
            <a:avLst/>
          </a:prstGeom>
          <a:noFill/>
          <a:ln>
            <a:noFill/>
          </a:ln>
        </p:spPr>
      </p:pic>
      <p:sp>
        <p:nvSpPr>
          <p:cNvPr id="4357" name="Google Shape;4357;p170"/>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Unstructured data pipeline /static/images/ai-cookbook/intro-and-rag/unstructured-data-pipeline.png</a:t>
            </a:r>
            <a:endParaRPr sz="200"/>
          </a:p>
        </p:txBody>
      </p:sp>
      <p:sp>
        <p:nvSpPr>
          <p:cNvPr id="4358" name="Google Shape;4358;p170"/>
          <p:cNvSpPr/>
          <p:nvPr/>
        </p:nvSpPr>
        <p:spPr>
          <a:xfrm>
            <a:off x="1605375" y="1985275"/>
            <a:ext cx="4211700" cy="19155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59" name="Google Shape;4359;p170"/>
          <p:cNvSpPr txBox="1"/>
          <p:nvPr/>
        </p:nvSpPr>
        <p:spPr>
          <a:xfrm>
            <a:off x="1813175" y="1585075"/>
            <a:ext cx="270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A972"/>
                </a:solidFill>
                <a:latin typeface="DM Sans"/>
                <a:ea typeface="DM Sans"/>
                <a:cs typeface="DM Sans"/>
                <a:sym typeface="DM Sans"/>
              </a:rPr>
              <a:t>Simplified RAG</a:t>
            </a:r>
            <a:endParaRPr b="1">
              <a:solidFill>
                <a:srgbClr val="00A972"/>
              </a:solidFill>
              <a:latin typeface="DM Sans"/>
              <a:ea typeface="DM Sans"/>
              <a:cs typeface="DM Sans"/>
              <a:sym typeface="DM Sans"/>
            </a:endParaRPr>
          </a:p>
        </p:txBody>
      </p:sp>
      <p:sp>
        <p:nvSpPr>
          <p:cNvPr id="4360" name="Google Shape;4360;p170"/>
          <p:cNvSpPr/>
          <p:nvPr/>
        </p:nvSpPr>
        <p:spPr>
          <a:xfrm>
            <a:off x="1794425" y="2144975"/>
            <a:ext cx="991800" cy="15537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solidFill>
                  <a:schemeClr val="accent2"/>
                </a:solidFill>
                <a:latin typeface="DM Sans"/>
                <a:ea typeface="DM Sans"/>
                <a:cs typeface="DM Sans"/>
                <a:sym typeface="DM Sans"/>
              </a:rPr>
              <a:t>Retrieve</a:t>
            </a:r>
            <a:r>
              <a:rPr b="1" lang="en" sz="1100">
                <a:latin typeface="DM Sans"/>
                <a:ea typeface="DM Sans"/>
                <a:cs typeface="DM Sans"/>
                <a:sym typeface="DM Sans"/>
              </a:rPr>
              <a:t> </a:t>
            </a:r>
            <a:r>
              <a:rPr b="1" lang="en" sz="900">
                <a:latin typeface="DM Sans"/>
                <a:ea typeface="DM Sans"/>
                <a:cs typeface="DM Sans"/>
                <a:sym typeface="DM Sans"/>
              </a:rPr>
              <a:t>supporting data</a:t>
            </a:r>
            <a:endParaRPr b="1" sz="900">
              <a:latin typeface="DM Sans"/>
              <a:ea typeface="DM Sans"/>
              <a:cs typeface="DM Sans"/>
              <a:sym typeface="DM Sans"/>
            </a:endParaRPr>
          </a:p>
        </p:txBody>
      </p:sp>
      <p:sp>
        <p:nvSpPr>
          <p:cNvPr id="4361" name="Google Shape;4361;p170"/>
          <p:cNvSpPr/>
          <p:nvPr/>
        </p:nvSpPr>
        <p:spPr>
          <a:xfrm>
            <a:off x="3220500" y="2144975"/>
            <a:ext cx="991800" cy="15537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solidFill>
                  <a:schemeClr val="accent2"/>
                </a:solidFill>
                <a:latin typeface="DM Sans"/>
                <a:ea typeface="DM Sans"/>
                <a:cs typeface="DM Sans"/>
                <a:sym typeface="DM Sans"/>
              </a:rPr>
              <a:t>Augment</a:t>
            </a:r>
            <a:r>
              <a:rPr b="1" lang="en" sz="1100">
                <a:latin typeface="DM Sans"/>
                <a:ea typeface="DM Sans"/>
                <a:cs typeface="DM Sans"/>
                <a:sym typeface="DM Sans"/>
              </a:rPr>
              <a:t> </a:t>
            </a:r>
            <a:r>
              <a:rPr b="1" lang="en" sz="900">
                <a:latin typeface="DM Sans"/>
                <a:ea typeface="DM Sans"/>
                <a:cs typeface="DM Sans"/>
                <a:sym typeface="DM Sans"/>
              </a:rPr>
              <a:t>prompt with supporting data</a:t>
            </a:r>
            <a:endParaRPr b="1" sz="900">
              <a:latin typeface="DM Sans"/>
              <a:ea typeface="DM Sans"/>
              <a:cs typeface="DM Sans"/>
              <a:sym typeface="DM Sans"/>
            </a:endParaRPr>
          </a:p>
        </p:txBody>
      </p:sp>
      <p:cxnSp>
        <p:nvCxnSpPr>
          <p:cNvPr id="4362" name="Google Shape;4362;p170"/>
          <p:cNvCxnSpPr>
            <a:stCxn id="4360" idx="3"/>
            <a:endCxn id="4361" idx="1"/>
          </p:cNvCxnSpPr>
          <p:nvPr/>
        </p:nvCxnSpPr>
        <p:spPr>
          <a:xfrm>
            <a:off x="2786225" y="2921825"/>
            <a:ext cx="434400" cy="0"/>
          </a:xfrm>
          <a:prstGeom prst="straightConnector1">
            <a:avLst/>
          </a:prstGeom>
          <a:noFill/>
          <a:ln cap="flat" cmpd="sng" w="19050">
            <a:solidFill>
              <a:srgbClr val="618794"/>
            </a:solidFill>
            <a:prstDash val="dash"/>
            <a:round/>
            <a:headEnd len="med" w="med" type="none"/>
            <a:tailEnd len="med" w="med" type="triangle"/>
          </a:ln>
        </p:spPr>
      </p:cxnSp>
      <p:cxnSp>
        <p:nvCxnSpPr>
          <p:cNvPr id="4363" name="Google Shape;4363;p170"/>
          <p:cNvCxnSpPr>
            <a:stCxn id="4361" idx="3"/>
            <a:endCxn id="4364" idx="1"/>
          </p:cNvCxnSpPr>
          <p:nvPr/>
        </p:nvCxnSpPr>
        <p:spPr>
          <a:xfrm>
            <a:off x="4212300" y="2921825"/>
            <a:ext cx="434400" cy="0"/>
          </a:xfrm>
          <a:prstGeom prst="straightConnector1">
            <a:avLst/>
          </a:prstGeom>
          <a:noFill/>
          <a:ln cap="flat" cmpd="sng" w="19050">
            <a:solidFill>
              <a:srgbClr val="618794"/>
            </a:solidFill>
            <a:prstDash val="dash"/>
            <a:round/>
            <a:headEnd len="med" w="med" type="none"/>
            <a:tailEnd len="med" w="med" type="triangle"/>
          </a:ln>
        </p:spPr>
      </p:cxnSp>
      <p:sp>
        <p:nvSpPr>
          <p:cNvPr id="4364" name="Google Shape;4364;p170"/>
          <p:cNvSpPr/>
          <p:nvPr/>
        </p:nvSpPr>
        <p:spPr>
          <a:xfrm>
            <a:off x="4646575" y="2144975"/>
            <a:ext cx="991800" cy="1553700"/>
          </a:xfrm>
          <a:prstGeom prst="roundRect">
            <a:avLst>
              <a:gd fmla="val 16667" name="adj"/>
            </a:avLst>
          </a:prstGeom>
          <a:solidFill>
            <a:srgbClr val="FFFFFF"/>
          </a:solidFill>
          <a:ln cap="flat" cmpd="sng" w="19050">
            <a:solidFill>
              <a:srgbClr val="00ADD4"/>
            </a:solidFill>
            <a:prstDash val="solid"/>
            <a:round/>
            <a:headEnd len="sm" w="sm" type="none"/>
            <a:tailEnd len="sm" w="sm" type="none"/>
          </a:ln>
        </p:spPr>
        <p:txBody>
          <a:bodyPr anchorCtr="0" anchor="t" bIns="0" lIns="0" spcFirstLastPara="1" rIns="0" wrap="square" tIns="91425">
            <a:noAutofit/>
          </a:bodyPr>
          <a:lstStyle/>
          <a:p>
            <a:pPr indent="0" lvl="0" marL="0" rtl="0" algn="ctr">
              <a:spcBef>
                <a:spcPts val="0"/>
              </a:spcBef>
              <a:spcAft>
                <a:spcPts val="0"/>
              </a:spcAft>
              <a:buNone/>
            </a:pPr>
            <a:r>
              <a:rPr b="1" lang="en" sz="1100">
                <a:solidFill>
                  <a:schemeClr val="accent2"/>
                </a:solidFill>
                <a:latin typeface="DM Sans"/>
                <a:ea typeface="DM Sans"/>
                <a:cs typeface="DM Sans"/>
                <a:sym typeface="DM Sans"/>
              </a:rPr>
              <a:t>Generate</a:t>
            </a:r>
            <a:endParaRPr b="1" sz="1100">
              <a:latin typeface="DM Sans"/>
              <a:ea typeface="DM Sans"/>
              <a:cs typeface="DM Sans"/>
              <a:sym typeface="DM Sans"/>
            </a:endParaRPr>
          </a:p>
          <a:p>
            <a:pPr indent="0" lvl="0" marL="0" rtl="0" algn="ctr">
              <a:spcBef>
                <a:spcPts val="0"/>
              </a:spcBef>
              <a:spcAft>
                <a:spcPts val="0"/>
              </a:spcAft>
              <a:buNone/>
            </a:pPr>
            <a:r>
              <a:rPr b="1" lang="en" sz="900">
                <a:latin typeface="DM Sans"/>
                <a:ea typeface="DM Sans"/>
                <a:cs typeface="DM Sans"/>
                <a:sym typeface="DM Sans"/>
              </a:rPr>
              <a:t>a response</a:t>
            </a:r>
            <a:endParaRPr b="1" sz="900">
              <a:latin typeface="DM Sans"/>
              <a:ea typeface="DM Sans"/>
              <a:cs typeface="DM Sans"/>
              <a:sym typeface="DM Sans"/>
            </a:endParaRPr>
          </a:p>
        </p:txBody>
      </p:sp>
      <p:cxnSp>
        <p:nvCxnSpPr>
          <p:cNvPr id="4365" name="Google Shape;4365;p170"/>
          <p:cNvCxnSpPr>
            <a:stCxn id="4364" idx="3"/>
            <a:endCxn id="4366" idx="1"/>
          </p:cNvCxnSpPr>
          <p:nvPr/>
        </p:nvCxnSpPr>
        <p:spPr>
          <a:xfrm>
            <a:off x="5638375" y="2921825"/>
            <a:ext cx="434400" cy="0"/>
          </a:xfrm>
          <a:prstGeom prst="straightConnector1">
            <a:avLst/>
          </a:prstGeom>
          <a:noFill/>
          <a:ln cap="flat" cmpd="sng" w="19050">
            <a:solidFill>
              <a:srgbClr val="618794"/>
            </a:solidFill>
            <a:prstDash val="dash"/>
            <a:round/>
            <a:headEnd len="med" w="med" type="none"/>
            <a:tailEnd len="med" w="med" type="triangle"/>
          </a:ln>
        </p:spPr>
      </p:cxnSp>
      <p:sp>
        <p:nvSpPr>
          <p:cNvPr id="4367" name="Google Shape;4367;p170"/>
          <p:cNvSpPr/>
          <p:nvPr/>
        </p:nvSpPr>
        <p:spPr>
          <a:xfrm>
            <a:off x="505050" y="2442163"/>
            <a:ext cx="965100" cy="796200"/>
          </a:xfrm>
          <a:prstGeom prst="roundRect">
            <a:avLst>
              <a:gd fmla="val 16667" name="adj"/>
            </a:avLst>
          </a:prstGeom>
          <a:solidFill>
            <a:srgbClr val="FFFFFF"/>
          </a:solidFill>
          <a:ln>
            <a:noFill/>
          </a:ln>
        </p:spPr>
        <p:txBody>
          <a:bodyPr anchorCtr="0" anchor="b" bIns="0" lIns="0" spcFirstLastPara="1" rIns="0" wrap="square" tIns="91425">
            <a:noAutofit/>
          </a:bodyPr>
          <a:lstStyle/>
          <a:p>
            <a:pPr indent="0" lvl="0" marL="0" rtl="0" algn="ctr">
              <a:spcBef>
                <a:spcPts val="0"/>
              </a:spcBef>
              <a:spcAft>
                <a:spcPts val="0"/>
              </a:spcAft>
              <a:buNone/>
            </a:pPr>
            <a:r>
              <a:rPr b="1" lang="en" sz="1000">
                <a:latin typeface="DM Sans"/>
                <a:ea typeface="DM Sans"/>
                <a:cs typeface="DM Sans"/>
                <a:sym typeface="DM Sans"/>
              </a:rPr>
              <a:t>User prompt</a:t>
            </a:r>
            <a:endParaRPr b="1" sz="1000">
              <a:latin typeface="DM Sans"/>
              <a:ea typeface="DM Sans"/>
              <a:cs typeface="DM Sans"/>
              <a:sym typeface="DM Sans"/>
            </a:endParaRPr>
          </a:p>
        </p:txBody>
      </p:sp>
      <p:pic>
        <p:nvPicPr>
          <p:cNvPr id="4368" name="Google Shape;4368;p170"/>
          <p:cNvPicPr preferRelativeResize="0"/>
          <p:nvPr/>
        </p:nvPicPr>
        <p:blipFill rotWithShape="1">
          <a:blip r:embed="rId3">
            <a:alphaModFix/>
          </a:blip>
          <a:srcRect b="0" l="0" r="0" t="0"/>
          <a:stretch/>
        </p:blipFill>
        <p:spPr>
          <a:xfrm>
            <a:off x="787737" y="2640949"/>
            <a:ext cx="400201" cy="398653"/>
          </a:xfrm>
          <a:prstGeom prst="rect">
            <a:avLst/>
          </a:prstGeom>
          <a:noFill/>
          <a:ln>
            <a:noFill/>
          </a:ln>
        </p:spPr>
      </p:pic>
      <p:sp>
        <p:nvSpPr>
          <p:cNvPr id="4369" name="Google Shape;4369;p170"/>
          <p:cNvSpPr/>
          <p:nvPr/>
        </p:nvSpPr>
        <p:spPr>
          <a:xfrm>
            <a:off x="1867275" y="4239850"/>
            <a:ext cx="846300" cy="7053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900">
                <a:latin typeface="DM Sans"/>
                <a:ea typeface="DM Sans"/>
                <a:cs typeface="DM Sans"/>
                <a:sym typeface="DM Sans"/>
              </a:rPr>
              <a:t>Data sources</a:t>
            </a:r>
            <a:endParaRPr b="1" sz="900">
              <a:latin typeface="DM Sans"/>
              <a:ea typeface="DM Sans"/>
              <a:cs typeface="DM Sans"/>
              <a:sym typeface="DM Sans"/>
            </a:endParaRPr>
          </a:p>
        </p:txBody>
      </p:sp>
      <p:pic>
        <p:nvPicPr>
          <p:cNvPr id="4370" name="Google Shape;4370;p170"/>
          <p:cNvPicPr preferRelativeResize="0"/>
          <p:nvPr/>
        </p:nvPicPr>
        <p:blipFill rotWithShape="1">
          <a:blip r:embed="rId4">
            <a:alphaModFix/>
          </a:blip>
          <a:srcRect b="0" l="0" r="0" t="0"/>
          <a:stretch/>
        </p:blipFill>
        <p:spPr>
          <a:xfrm>
            <a:off x="2090225" y="4315451"/>
            <a:ext cx="400201" cy="414947"/>
          </a:xfrm>
          <a:prstGeom prst="rect">
            <a:avLst/>
          </a:prstGeom>
          <a:noFill/>
          <a:ln>
            <a:noFill/>
          </a:ln>
        </p:spPr>
      </p:pic>
      <p:cxnSp>
        <p:nvCxnSpPr>
          <p:cNvPr id="4371" name="Google Shape;4371;p170"/>
          <p:cNvCxnSpPr>
            <a:stCxn id="4372" idx="3"/>
            <a:endCxn id="4360" idx="1"/>
          </p:cNvCxnSpPr>
          <p:nvPr/>
        </p:nvCxnSpPr>
        <p:spPr>
          <a:xfrm>
            <a:off x="1401125" y="2921825"/>
            <a:ext cx="393300" cy="0"/>
          </a:xfrm>
          <a:prstGeom prst="straightConnector1">
            <a:avLst/>
          </a:prstGeom>
          <a:noFill/>
          <a:ln cap="flat" cmpd="sng" w="19050">
            <a:solidFill>
              <a:srgbClr val="618794"/>
            </a:solidFill>
            <a:prstDash val="dash"/>
            <a:round/>
            <a:headEnd len="med" w="med" type="none"/>
            <a:tailEnd len="med" w="med" type="triangle"/>
          </a:ln>
        </p:spPr>
      </p:cxnSp>
      <p:cxnSp>
        <p:nvCxnSpPr>
          <p:cNvPr id="4373" name="Google Shape;4373;p170"/>
          <p:cNvCxnSpPr>
            <a:stCxn id="4369" idx="0"/>
            <a:endCxn id="4360" idx="2"/>
          </p:cNvCxnSpPr>
          <p:nvPr/>
        </p:nvCxnSpPr>
        <p:spPr>
          <a:xfrm rot="10800000">
            <a:off x="2290425" y="3698650"/>
            <a:ext cx="0" cy="541200"/>
          </a:xfrm>
          <a:prstGeom prst="straightConnector1">
            <a:avLst/>
          </a:prstGeom>
          <a:noFill/>
          <a:ln cap="flat" cmpd="sng" w="19050">
            <a:solidFill>
              <a:srgbClr val="618794"/>
            </a:solidFill>
            <a:prstDash val="dash"/>
            <a:round/>
            <a:headEnd len="med" w="med" type="none"/>
            <a:tailEnd len="med" w="med" type="triangle"/>
          </a:ln>
        </p:spPr>
      </p:cxnSp>
      <p:sp>
        <p:nvSpPr>
          <p:cNvPr id="4374" name="Google Shape;4374;p170"/>
          <p:cNvSpPr/>
          <p:nvPr/>
        </p:nvSpPr>
        <p:spPr>
          <a:xfrm>
            <a:off x="1867175" y="3085975"/>
            <a:ext cx="846300" cy="3000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DM Sans"/>
                <a:ea typeface="DM Sans"/>
                <a:cs typeface="DM Sans"/>
                <a:sym typeface="DM Sans"/>
              </a:rPr>
              <a:t>Prompt</a:t>
            </a:r>
            <a:endParaRPr sz="900">
              <a:latin typeface="DM Sans"/>
              <a:ea typeface="DM Sans"/>
              <a:cs typeface="DM Sans"/>
              <a:sym typeface="DM Sans"/>
            </a:endParaRPr>
          </a:p>
        </p:txBody>
      </p:sp>
      <p:sp>
        <p:nvSpPr>
          <p:cNvPr id="4375" name="Google Shape;4375;p170"/>
          <p:cNvSpPr/>
          <p:nvPr/>
        </p:nvSpPr>
        <p:spPr>
          <a:xfrm>
            <a:off x="3293313" y="2931700"/>
            <a:ext cx="846300" cy="6129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DM Sans"/>
                <a:ea typeface="DM Sans"/>
                <a:cs typeface="DM Sans"/>
                <a:sym typeface="DM Sans"/>
              </a:rPr>
              <a:t>Prompt</a:t>
            </a:r>
            <a:endParaRPr sz="900">
              <a:latin typeface="DM Sans"/>
              <a:ea typeface="DM Sans"/>
              <a:cs typeface="DM Sans"/>
              <a:sym typeface="DM Sans"/>
            </a:endParaRPr>
          </a:p>
          <a:p>
            <a:pPr indent="0" lvl="0" marL="0" rtl="0" algn="ctr">
              <a:spcBef>
                <a:spcPts val="0"/>
              </a:spcBef>
              <a:spcAft>
                <a:spcPts val="0"/>
              </a:spcAft>
              <a:buNone/>
            </a:pPr>
            <a:r>
              <a:rPr lang="en" sz="900">
                <a:latin typeface="DM Sans"/>
                <a:ea typeface="DM Sans"/>
                <a:cs typeface="DM Sans"/>
                <a:sym typeface="DM Sans"/>
              </a:rPr>
              <a:t>+</a:t>
            </a:r>
            <a:endParaRPr sz="900">
              <a:latin typeface="DM Sans"/>
              <a:ea typeface="DM Sans"/>
              <a:cs typeface="DM Sans"/>
              <a:sym typeface="DM Sans"/>
            </a:endParaRPr>
          </a:p>
          <a:p>
            <a:pPr indent="0" lvl="0" marL="0" rtl="0" algn="ctr">
              <a:spcBef>
                <a:spcPts val="0"/>
              </a:spcBef>
              <a:spcAft>
                <a:spcPts val="0"/>
              </a:spcAft>
              <a:buNone/>
            </a:pPr>
            <a:r>
              <a:rPr lang="en" sz="900">
                <a:latin typeface="DM Sans"/>
                <a:ea typeface="DM Sans"/>
                <a:cs typeface="DM Sans"/>
                <a:sym typeface="DM Sans"/>
              </a:rPr>
              <a:t>Supporting data</a:t>
            </a:r>
            <a:endParaRPr sz="900">
              <a:latin typeface="DM Sans"/>
              <a:ea typeface="DM Sans"/>
              <a:cs typeface="DM Sans"/>
              <a:sym typeface="DM Sans"/>
            </a:endParaRPr>
          </a:p>
        </p:txBody>
      </p:sp>
      <p:sp>
        <p:nvSpPr>
          <p:cNvPr id="4376" name="Google Shape;4376;p170"/>
          <p:cNvSpPr/>
          <p:nvPr/>
        </p:nvSpPr>
        <p:spPr>
          <a:xfrm>
            <a:off x="4719388" y="2731475"/>
            <a:ext cx="846300" cy="871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DM Sans"/>
                <a:ea typeface="DM Sans"/>
                <a:cs typeface="DM Sans"/>
                <a:sym typeface="DM Sans"/>
              </a:rPr>
              <a:t>LLM</a:t>
            </a:r>
            <a:endParaRPr sz="900">
              <a:latin typeface="DM Sans"/>
              <a:ea typeface="DM Sans"/>
              <a:cs typeface="DM Sans"/>
              <a:sym typeface="DM Sans"/>
            </a:endParaRPr>
          </a:p>
          <a:p>
            <a:pPr indent="0" lvl="0" marL="0" rtl="0" algn="ctr">
              <a:spcBef>
                <a:spcPts val="0"/>
              </a:spcBef>
              <a:spcAft>
                <a:spcPts val="0"/>
              </a:spcAft>
              <a:buNone/>
            </a:pPr>
            <a:r>
              <a:rPr lang="en" sz="900">
                <a:latin typeface="DM Sans"/>
                <a:ea typeface="DM Sans"/>
                <a:cs typeface="DM Sans"/>
                <a:sym typeface="DM Sans"/>
              </a:rPr>
              <a:t>+</a:t>
            </a:r>
            <a:endParaRPr sz="900">
              <a:latin typeface="DM Sans"/>
              <a:ea typeface="DM Sans"/>
              <a:cs typeface="DM Sans"/>
              <a:sym typeface="DM Sans"/>
            </a:endParaRPr>
          </a:p>
          <a:p>
            <a:pPr indent="0" lvl="0" marL="0" rtl="0" algn="ctr">
              <a:spcBef>
                <a:spcPts val="0"/>
              </a:spcBef>
              <a:spcAft>
                <a:spcPts val="0"/>
              </a:spcAft>
              <a:buNone/>
            </a:pPr>
            <a:r>
              <a:rPr lang="en" sz="900">
                <a:latin typeface="DM Sans"/>
                <a:ea typeface="DM Sans"/>
                <a:cs typeface="DM Sans"/>
                <a:sym typeface="DM Sans"/>
              </a:rPr>
              <a:t>Prompt</a:t>
            </a:r>
            <a:endParaRPr sz="900">
              <a:latin typeface="DM Sans"/>
              <a:ea typeface="DM Sans"/>
              <a:cs typeface="DM Sans"/>
              <a:sym typeface="DM Sans"/>
            </a:endParaRPr>
          </a:p>
          <a:p>
            <a:pPr indent="0" lvl="0" marL="0" rtl="0" algn="ctr">
              <a:spcBef>
                <a:spcPts val="0"/>
              </a:spcBef>
              <a:spcAft>
                <a:spcPts val="0"/>
              </a:spcAft>
              <a:buNone/>
            </a:pPr>
            <a:r>
              <a:rPr lang="en" sz="900">
                <a:latin typeface="DM Sans"/>
                <a:ea typeface="DM Sans"/>
                <a:cs typeface="DM Sans"/>
                <a:sym typeface="DM Sans"/>
              </a:rPr>
              <a:t>+</a:t>
            </a:r>
            <a:endParaRPr sz="900">
              <a:latin typeface="DM Sans"/>
              <a:ea typeface="DM Sans"/>
              <a:cs typeface="DM Sans"/>
              <a:sym typeface="DM Sans"/>
            </a:endParaRPr>
          </a:p>
          <a:p>
            <a:pPr indent="0" lvl="0" marL="0" rtl="0" algn="ctr">
              <a:spcBef>
                <a:spcPts val="0"/>
              </a:spcBef>
              <a:spcAft>
                <a:spcPts val="0"/>
              </a:spcAft>
              <a:buNone/>
            </a:pPr>
            <a:r>
              <a:rPr lang="en" sz="900">
                <a:latin typeface="DM Sans"/>
                <a:ea typeface="DM Sans"/>
                <a:cs typeface="DM Sans"/>
                <a:sym typeface="DM Sans"/>
              </a:rPr>
              <a:t>Supporting data</a:t>
            </a:r>
            <a:endParaRPr sz="900">
              <a:latin typeface="DM Sans"/>
              <a:ea typeface="DM Sans"/>
              <a:cs typeface="DM Sans"/>
              <a:sym typeface="DM San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0" name="Shape 4380"/>
        <p:cNvGrpSpPr/>
        <p:nvPr/>
      </p:nvGrpSpPr>
      <p:grpSpPr>
        <a:xfrm>
          <a:off x="0" y="0"/>
          <a:ext cx="0" cy="0"/>
          <a:chOff x="0" y="0"/>
          <a:chExt cx="0" cy="0"/>
        </a:xfrm>
      </p:grpSpPr>
      <p:pic>
        <p:nvPicPr>
          <p:cNvPr id="4381" name="Google Shape;4381;p171" title="Flowchart.png"/>
          <p:cNvPicPr preferRelativeResize="0"/>
          <p:nvPr/>
        </p:nvPicPr>
        <p:blipFill>
          <a:blip r:embed="rId3">
            <a:alphaModFix/>
          </a:blip>
          <a:stretch>
            <a:fillRect/>
          </a:stretch>
        </p:blipFill>
        <p:spPr>
          <a:xfrm>
            <a:off x="152400" y="152400"/>
            <a:ext cx="9538227" cy="6553201"/>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5" name="Shape 4385"/>
        <p:cNvGrpSpPr/>
        <p:nvPr/>
      </p:nvGrpSpPr>
      <p:grpSpPr>
        <a:xfrm>
          <a:off x="0" y="0"/>
          <a:ext cx="0" cy="0"/>
          <a:chOff x="0" y="0"/>
          <a:chExt cx="0" cy="0"/>
        </a:xfrm>
      </p:grpSpPr>
      <p:sp>
        <p:nvSpPr>
          <p:cNvPr id="4386" name="Google Shape;4386;p172"/>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DLT pipeline tutorial/static/images/dlt/dlt-tutorial/dlt_tutorial_cdc_pipeline</a:t>
            </a:r>
            <a:r>
              <a:rPr lang="en" sz="1200">
                <a:solidFill>
                  <a:schemeClr val="accent1"/>
                </a:solidFill>
                <a:latin typeface="DM Sans Medium"/>
                <a:ea typeface="DM Sans Medium"/>
                <a:cs typeface="DM Sans Medium"/>
                <a:sym typeface="DM Sans Medium"/>
              </a:rPr>
              <a:t>.png</a:t>
            </a:r>
            <a:endParaRPr sz="200"/>
          </a:p>
        </p:txBody>
      </p:sp>
      <p:sp>
        <p:nvSpPr>
          <p:cNvPr id="4387" name="Google Shape;4387;p172"/>
          <p:cNvSpPr/>
          <p:nvPr/>
        </p:nvSpPr>
        <p:spPr>
          <a:xfrm>
            <a:off x="1841550" y="1997575"/>
            <a:ext cx="10172400" cy="4359000"/>
          </a:xfrm>
          <a:prstGeom prst="roundRect">
            <a:avLst>
              <a:gd fmla="val 65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M Sans Medium"/>
                <a:ea typeface="DM Sans Medium"/>
                <a:cs typeface="DM Sans Medium"/>
                <a:sym typeface="DM Sans Medium"/>
              </a:rPr>
              <a:t>ETL</a:t>
            </a:r>
            <a:r>
              <a:rPr lang="en" sz="1600">
                <a:solidFill>
                  <a:schemeClr val="dk2"/>
                </a:solidFill>
                <a:latin typeface="DM Sans Medium"/>
                <a:ea typeface="DM Sans Medium"/>
                <a:cs typeface="DM Sans Medium"/>
                <a:sym typeface="DM Sans Medium"/>
              </a:rPr>
              <a:t> pipeline</a:t>
            </a:r>
            <a:endParaRPr baseline="30000">
              <a:solidFill>
                <a:schemeClr val="dk2"/>
              </a:solidFill>
              <a:latin typeface="DM Sans Medium"/>
              <a:ea typeface="DM Sans Medium"/>
              <a:cs typeface="DM Sans Medium"/>
              <a:sym typeface="DM Sans Medium"/>
            </a:endParaRPr>
          </a:p>
        </p:txBody>
      </p:sp>
      <p:cxnSp>
        <p:nvCxnSpPr>
          <p:cNvPr id="4388" name="Google Shape;4388;p172"/>
          <p:cNvCxnSpPr>
            <a:stCxn id="4389" idx="6"/>
            <a:endCxn id="4390" idx="1"/>
          </p:cNvCxnSpPr>
          <p:nvPr/>
        </p:nvCxnSpPr>
        <p:spPr>
          <a:xfrm flipH="1" rot="10800000">
            <a:off x="6887295" y="3171670"/>
            <a:ext cx="443700" cy="1270200"/>
          </a:xfrm>
          <a:prstGeom prst="curvedConnector3">
            <a:avLst>
              <a:gd fmla="val 50001" name="adj1"/>
            </a:avLst>
          </a:prstGeom>
          <a:noFill/>
          <a:ln cap="flat" cmpd="sng" w="19050">
            <a:solidFill>
              <a:schemeClr val="dk2"/>
            </a:solidFill>
            <a:prstDash val="solid"/>
            <a:round/>
            <a:headEnd len="med" w="med" type="none"/>
            <a:tailEnd len="med" w="med" type="triangle"/>
          </a:ln>
        </p:spPr>
      </p:cxnSp>
      <p:cxnSp>
        <p:nvCxnSpPr>
          <p:cNvPr id="4391" name="Google Shape;4391;p172"/>
          <p:cNvCxnSpPr>
            <a:stCxn id="4392" idx="3"/>
            <a:endCxn id="4393" idx="1"/>
          </p:cNvCxnSpPr>
          <p:nvPr/>
        </p:nvCxnSpPr>
        <p:spPr>
          <a:xfrm>
            <a:off x="1051164" y="4441871"/>
            <a:ext cx="1055700" cy="0"/>
          </a:xfrm>
          <a:prstGeom prst="straightConnector1">
            <a:avLst/>
          </a:prstGeom>
          <a:noFill/>
          <a:ln cap="flat" cmpd="sng" w="19050">
            <a:solidFill>
              <a:schemeClr val="dk2"/>
            </a:solidFill>
            <a:prstDash val="solid"/>
            <a:round/>
            <a:headEnd len="med" w="med" type="none"/>
            <a:tailEnd len="med" w="med" type="triangle"/>
          </a:ln>
        </p:spPr>
      </p:cxnSp>
      <p:grpSp>
        <p:nvGrpSpPr>
          <p:cNvPr id="4394" name="Google Shape;4394;p172"/>
          <p:cNvGrpSpPr/>
          <p:nvPr/>
        </p:nvGrpSpPr>
        <p:grpSpPr>
          <a:xfrm>
            <a:off x="92351" y="4003121"/>
            <a:ext cx="958812" cy="877500"/>
            <a:chOff x="6319013" y="5452771"/>
            <a:chExt cx="959100" cy="877500"/>
          </a:xfrm>
        </p:grpSpPr>
        <p:sp>
          <p:nvSpPr>
            <p:cNvPr id="4392" name="Google Shape;4392;p172"/>
            <p:cNvSpPr/>
            <p:nvPr/>
          </p:nvSpPr>
          <p:spPr>
            <a:xfrm>
              <a:off x="6319013" y="5452771"/>
              <a:ext cx="9591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rPr lang="en" sz="1200">
                  <a:latin typeface="DM Sans Medium"/>
                  <a:ea typeface="DM Sans Medium"/>
                  <a:cs typeface="DM Sans Medium"/>
                  <a:sym typeface="DM Sans Medium"/>
                </a:rPr>
                <a:t>Raw CDC files (json)</a:t>
              </a:r>
              <a:endParaRPr sz="1200">
                <a:latin typeface="DM Sans Medium"/>
                <a:ea typeface="DM Sans Medium"/>
                <a:cs typeface="DM Sans Medium"/>
                <a:sym typeface="DM Sans Medium"/>
              </a:endParaRPr>
            </a:p>
          </p:txBody>
        </p:sp>
        <p:pic>
          <p:nvPicPr>
            <p:cNvPr id="4395" name="Google Shape;4395;p172"/>
            <p:cNvPicPr preferRelativeResize="0"/>
            <p:nvPr/>
          </p:nvPicPr>
          <p:blipFill rotWithShape="1">
            <a:blip r:embed="rId3">
              <a:alphaModFix/>
            </a:blip>
            <a:srcRect b="-2679" l="0" r="0" t="2679"/>
            <a:stretch/>
          </p:blipFill>
          <p:spPr>
            <a:xfrm>
              <a:off x="6557150" y="5492558"/>
              <a:ext cx="482974" cy="482974"/>
            </a:xfrm>
            <a:prstGeom prst="rect">
              <a:avLst/>
            </a:prstGeom>
            <a:noFill/>
            <a:ln>
              <a:noFill/>
            </a:ln>
          </p:spPr>
        </p:pic>
      </p:grpSp>
      <p:grpSp>
        <p:nvGrpSpPr>
          <p:cNvPr id="4396" name="Google Shape;4396;p172"/>
          <p:cNvGrpSpPr/>
          <p:nvPr/>
        </p:nvGrpSpPr>
        <p:grpSpPr>
          <a:xfrm>
            <a:off x="2106900" y="4003125"/>
            <a:ext cx="1896000" cy="877500"/>
            <a:chOff x="5479450" y="4471150"/>
            <a:chExt cx="1896000" cy="877500"/>
          </a:xfrm>
        </p:grpSpPr>
        <p:sp>
          <p:nvSpPr>
            <p:cNvPr id="4393" name="Google Shape;4393;p172"/>
            <p:cNvSpPr/>
            <p:nvPr/>
          </p:nvSpPr>
          <p:spPr>
            <a:xfrm>
              <a:off x="5479450" y="4471150"/>
              <a:ext cx="18960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customers_cdc_bronze</a:t>
              </a:r>
              <a:endParaRPr sz="1200">
                <a:latin typeface="DM Sans Medium"/>
                <a:ea typeface="DM Sans Medium"/>
                <a:cs typeface="DM Sans Medium"/>
                <a:sym typeface="DM Sans Medium"/>
              </a:endParaRPr>
            </a:p>
          </p:txBody>
        </p:sp>
        <p:pic>
          <p:nvPicPr>
            <p:cNvPr id="4397" name="Google Shape;4397;p172"/>
            <p:cNvPicPr preferRelativeResize="0"/>
            <p:nvPr/>
          </p:nvPicPr>
          <p:blipFill rotWithShape="1">
            <a:blip r:embed="rId4">
              <a:alphaModFix/>
            </a:blip>
            <a:srcRect b="0" l="0" r="0" t="0"/>
            <a:stretch/>
          </p:blipFill>
          <p:spPr>
            <a:xfrm>
              <a:off x="6186077" y="4539432"/>
              <a:ext cx="482730" cy="482730"/>
            </a:xfrm>
            <a:prstGeom prst="rect">
              <a:avLst/>
            </a:prstGeom>
            <a:noFill/>
            <a:ln>
              <a:noFill/>
            </a:ln>
          </p:spPr>
        </p:pic>
      </p:grpSp>
      <p:grpSp>
        <p:nvGrpSpPr>
          <p:cNvPr id="4398" name="Google Shape;4398;p172"/>
          <p:cNvGrpSpPr/>
          <p:nvPr/>
        </p:nvGrpSpPr>
        <p:grpSpPr>
          <a:xfrm>
            <a:off x="4775600" y="4003125"/>
            <a:ext cx="1896000" cy="877500"/>
            <a:chOff x="5479450" y="4471150"/>
            <a:chExt cx="1896000" cy="877500"/>
          </a:xfrm>
        </p:grpSpPr>
        <p:sp>
          <p:nvSpPr>
            <p:cNvPr id="4399" name="Google Shape;4399;p172"/>
            <p:cNvSpPr/>
            <p:nvPr/>
          </p:nvSpPr>
          <p:spPr>
            <a:xfrm>
              <a:off x="5479450" y="4471150"/>
              <a:ext cx="18960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customers_cdc_clean</a:t>
              </a:r>
              <a:endParaRPr sz="1200">
                <a:latin typeface="DM Sans Medium"/>
                <a:ea typeface="DM Sans Medium"/>
                <a:cs typeface="DM Sans Medium"/>
                <a:sym typeface="DM Sans Medium"/>
              </a:endParaRPr>
            </a:p>
          </p:txBody>
        </p:sp>
        <p:pic>
          <p:nvPicPr>
            <p:cNvPr id="4400" name="Google Shape;4400;p172"/>
            <p:cNvPicPr preferRelativeResize="0"/>
            <p:nvPr/>
          </p:nvPicPr>
          <p:blipFill rotWithShape="1">
            <a:blip r:embed="rId4">
              <a:alphaModFix/>
            </a:blip>
            <a:srcRect b="0" l="0" r="0" t="0"/>
            <a:stretch/>
          </p:blipFill>
          <p:spPr>
            <a:xfrm>
              <a:off x="6186077" y="4539432"/>
              <a:ext cx="482730" cy="482730"/>
            </a:xfrm>
            <a:prstGeom prst="rect">
              <a:avLst/>
            </a:prstGeom>
            <a:noFill/>
            <a:ln>
              <a:noFill/>
            </a:ln>
          </p:spPr>
        </p:pic>
      </p:grpSp>
      <p:cxnSp>
        <p:nvCxnSpPr>
          <p:cNvPr id="4401" name="Google Shape;4401;p172"/>
          <p:cNvCxnSpPr>
            <a:stCxn id="4393" idx="3"/>
            <a:endCxn id="4399" idx="1"/>
          </p:cNvCxnSpPr>
          <p:nvPr/>
        </p:nvCxnSpPr>
        <p:spPr>
          <a:xfrm>
            <a:off x="4002900" y="4441875"/>
            <a:ext cx="772800" cy="0"/>
          </a:xfrm>
          <a:prstGeom prst="straightConnector1">
            <a:avLst/>
          </a:prstGeom>
          <a:noFill/>
          <a:ln cap="flat" cmpd="sng" w="19050">
            <a:solidFill>
              <a:schemeClr val="dk2"/>
            </a:solidFill>
            <a:prstDash val="solid"/>
            <a:round/>
            <a:headEnd len="med" w="med" type="none"/>
            <a:tailEnd len="med" w="med" type="triangle"/>
          </a:ln>
        </p:spPr>
      </p:cxnSp>
      <p:grpSp>
        <p:nvGrpSpPr>
          <p:cNvPr id="4402" name="Google Shape;4402;p172"/>
          <p:cNvGrpSpPr/>
          <p:nvPr/>
        </p:nvGrpSpPr>
        <p:grpSpPr>
          <a:xfrm>
            <a:off x="7331000" y="2732950"/>
            <a:ext cx="1896000" cy="877500"/>
            <a:chOff x="5479450" y="4471150"/>
            <a:chExt cx="1896000" cy="877500"/>
          </a:xfrm>
        </p:grpSpPr>
        <p:sp>
          <p:nvSpPr>
            <p:cNvPr id="4390" name="Google Shape;4390;p172"/>
            <p:cNvSpPr/>
            <p:nvPr/>
          </p:nvSpPr>
          <p:spPr>
            <a:xfrm>
              <a:off x="5479450" y="4471150"/>
              <a:ext cx="18960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customers</a:t>
              </a:r>
              <a:endParaRPr sz="1200">
                <a:latin typeface="DM Sans Medium"/>
                <a:ea typeface="DM Sans Medium"/>
                <a:cs typeface="DM Sans Medium"/>
                <a:sym typeface="DM Sans Medium"/>
              </a:endParaRPr>
            </a:p>
          </p:txBody>
        </p:sp>
        <p:pic>
          <p:nvPicPr>
            <p:cNvPr id="4403" name="Google Shape;4403;p172"/>
            <p:cNvPicPr preferRelativeResize="0"/>
            <p:nvPr/>
          </p:nvPicPr>
          <p:blipFill rotWithShape="1">
            <a:blip r:embed="rId4">
              <a:alphaModFix/>
            </a:blip>
            <a:srcRect b="0" l="0" r="0" t="0"/>
            <a:stretch/>
          </p:blipFill>
          <p:spPr>
            <a:xfrm>
              <a:off x="6186077" y="4539432"/>
              <a:ext cx="482730" cy="482730"/>
            </a:xfrm>
            <a:prstGeom prst="rect">
              <a:avLst/>
            </a:prstGeom>
            <a:noFill/>
            <a:ln>
              <a:noFill/>
            </a:ln>
          </p:spPr>
        </p:pic>
      </p:grpSp>
      <p:grpSp>
        <p:nvGrpSpPr>
          <p:cNvPr id="4404" name="Google Shape;4404;p172"/>
          <p:cNvGrpSpPr/>
          <p:nvPr/>
        </p:nvGrpSpPr>
        <p:grpSpPr>
          <a:xfrm>
            <a:off x="7331000" y="5251600"/>
            <a:ext cx="1896000" cy="877500"/>
            <a:chOff x="5479450" y="4471150"/>
            <a:chExt cx="1896000" cy="877500"/>
          </a:xfrm>
        </p:grpSpPr>
        <p:sp>
          <p:nvSpPr>
            <p:cNvPr id="4405" name="Google Shape;4405;p172"/>
            <p:cNvSpPr/>
            <p:nvPr/>
          </p:nvSpPr>
          <p:spPr>
            <a:xfrm>
              <a:off x="5479450" y="4471150"/>
              <a:ext cx="18960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customers_history</a:t>
              </a:r>
              <a:endParaRPr sz="1200">
                <a:latin typeface="DM Sans Medium"/>
                <a:ea typeface="DM Sans Medium"/>
                <a:cs typeface="DM Sans Medium"/>
                <a:sym typeface="DM Sans Medium"/>
              </a:endParaRPr>
            </a:p>
          </p:txBody>
        </p:sp>
        <p:pic>
          <p:nvPicPr>
            <p:cNvPr id="4406" name="Google Shape;4406;p172"/>
            <p:cNvPicPr preferRelativeResize="0"/>
            <p:nvPr/>
          </p:nvPicPr>
          <p:blipFill rotWithShape="1">
            <a:blip r:embed="rId4">
              <a:alphaModFix/>
            </a:blip>
            <a:srcRect b="0" l="0" r="0" t="0"/>
            <a:stretch/>
          </p:blipFill>
          <p:spPr>
            <a:xfrm>
              <a:off x="6186077" y="4539432"/>
              <a:ext cx="482730" cy="482730"/>
            </a:xfrm>
            <a:prstGeom prst="rect">
              <a:avLst/>
            </a:prstGeom>
            <a:noFill/>
            <a:ln>
              <a:noFill/>
            </a:ln>
          </p:spPr>
        </p:pic>
      </p:grpSp>
      <p:cxnSp>
        <p:nvCxnSpPr>
          <p:cNvPr id="4407" name="Google Shape;4407;p172"/>
          <p:cNvCxnSpPr>
            <a:stCxn id="4389" idx="6"/>
            <a:endCxn id="4405" idx="1"/>
          </p:cNvCxnSpPr>
          <p:nvPr/>
        </p:nvCxnSpPr>
        <p:spPr>
          <a:xfrm>
            <a:off x="6887295" y="4441870"/>
            <a:ext cx="443700" cy="1248600"/>
          </a:xfrm>
          <a:prstGeom prst="curvedConnector3">
            <a:avLst>
              <a:gd fmla="val 50001" name="adj1"/>
            </a:avLst>
          </a:prstGeom>
          <a:noFill/>
          <a:ln cap="flat" cmpd="sng" w="19050">
            <a:solidFill>
              <a:schemeClr val="dk2"/>
            </a:solidFill>
            <a:prstDash val="solid"/>
            <a:round/>
            <a:headEnd len="med" w="med" type="none"/>
            <a:tailEnd len="med" w="med" type="triangle"/>
          </a:ln>
        </p:spPr>
      </p:cxnSp>
      <p:grpSp>
        <p:nvGrpSpPr>
          <p:cNvPr id="4408" name="Google Shape;4408;p172"/>
          <p:cNvGrpSpPr/>
          <p:nvPr/>
        </p:nvGrpSpPr>
        <p:grpSpPr>
          <a:xfrm>
            <a:off x="9882625" y="5251600"/>
            <a:ext cx="1896000" cy="877500"/>
            <a:chOff x="5479450" y="4471150"/>
            <a:chExt cx="1896000" cy="877500"/>
          </a:xfrm>
        </p:grpSpPr>
        <p:sp>
          <p:nvSpPr>
            <p:cNvPr id="4409" name="Google Shape;4409;p172"/>
            <p:cNvSpPr/>
            <p:nvPr/>
          </p:nvSpPr>
          <p:spPr>
            <a:xfrm>
              <a:off x="5479450" y="4471150"/>
              <a:ext cx="18960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customers_history_agg</a:t>
              </a:r>
              <a:endParaRPr sz="1200">
                <a:latin typeface="DM Sans Medium"/>
                <a:ea typeface="DM Sans Medium"/>
                <a:cs typeface="DM Sans Medium"/>
                <a:sym typeface="DM Sans Medium"/>
              </a:endParaRPr>
            </a:p>
          </p:txBody>
        </p:sp>
        <p:pic>
          <p:nvPicPr>
            <p:cNvPr id="4410" name="Google Shape;4410;p172"/>
            <p:cNvPicPr preferRelativeResize="0"/>
            <p:nvPr/>
          </p:nvPicPr>
          <p:blipFill rotWithShape="1">
            <a:blip r:embed="rId4">
              <a:alphaModFix/>
            </a:blip>
            <a:srcRect b="0" l="0" r="0" t="0"/>
            <a:stretch/>
          </p:blipFill>
          <p:spPr>
            <a:xfrm>
              <a:off x="6186077" y="4539432"/>
              <a:ext cx="482730" cy="482730"/>
            </a:xfrm>
            <a:prstGeom prst="rect">
              <a:avLst/>
            </a:prstGeom>
            <a:noFill/>
            <a:ln>
              <a:noFill/>
            </a:ln>
          </p:spPr>
        </p:pic>
      </p:grpSp>
      <p:cxnSp>
        <p:nvCxnSpPr>
          <p:cNvPr id="4411" name="Google Shape;4411;p172"/>
          <p:cNvCxnSpPr>
            <a:stCxn id="4405" idx="3"/>
            <a:endCxn id="4409" idx="1"/>
          </p:cNvCxnSpPr>
          <p:nvPr/>
        </p:nvCxnSpPr>
        <p:spPr>
          <a:xfrm>
            <a:off x="9227000" y="5690350"/>
            <a:ext cx="655500" cy="0"/>
          </a:xfrm>
          <a:prstGeom prst="straightConnector1">
            <a:avLst/>
          </a:prstGeom>
          <a:noFill/>
          <a:ln cap="flat" cmpd="sng" w="19050">
            <a:solidFill>
              <a:schemeClr val="dk2"/>
            </a:solidFill>
            <a:prstDash val="solid"/>
            <a:round/>
            <a:headEnd len="med" w="med" type="none"/>
            <a:tailEnd len="med" w="med" type="triangle"/>
          </a:ln>
        </p:spPr>
      </p:cxnSp>
      <p:cxnSp>
        <p:nvCxnSpPr>
          <p:cNvPr id="4412" name="Google Shape;4412;p172"/>
          <p:cNvCxnSpPr>
            <a:stCxn id="4413" idx="2"/>
            <a:endCxn id="4414" idx="0"/>
          </p:cNvCxnSpPr>
          <p:nvPr/>
        </p:nvCxnSpPr>
        <p:spPr>
          <a:xfrm>
            <a:off x="4389293" y="3463288"/>
            <a:ext cx="0" cy="916800"/>
          </a:xfrm>
          <a:prstGeom prst="straightConnector1">
            <a:avLst/>
          </a:prstGeom>
          <a:noFill/>
          <a:ln cap="flat" cmpd="sng" w="19050">
            <a:solidFill>
              <a:schemeClr val="accent4"/>
            </a:solidFill>
            <a:prstDash val="dash"/>
            <a:round/>
            <a:headEnd len="med" w="med" type="none"/>
            <a:tailEnd len="med" w="med" type="none"/>
          </a:ln>
        </p:spPr>
      </p:cxnSp>
      <p:sp>
        <p:nvSpPr>
          <p:cNvPr id="4413" name="Google Shape;4413;p172"/>
          <p:cNvSpPr/>
          <p:nvPr/>
        </p:nvSpPr>
        <p:spPr>
          <a:xfrm>
            <a:off x="3735293" y="2880088"/>
            <a:ext cx="1308000" cy="583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200">
                <a:latin typeface="DM Sans"/>
                <a:ea typeface="DM Sans"/>
                <a:cs typeface="DM Sans"/>
                <a:sym typeface="DM Sans"/>
              </a:rPr>
              <a:t>Clean CDC data</a:t>
            </a:r>
            <a:endParaRPr b="1" sz="1200">
              <a:latin typeface="DM Sans"/>
              <a:ea typeface="DM Sans"/>
              <a:cs typeface="DM Sans"/>
              <a:sym typeface="DM Sans"/>
            </a:endParaRPr>
          </a:p>
          <a:p>
            <a:pPr indent="0" lvl="0" marL="0" rtl="0" algn="ctr">
              <a:lnSpc>
                <a:spcPct val="100000"/>
              </a:lnSpc>
              <a:spcBef>
                <a:spcPts val="0"/>
              </a:spcBef>
              <a:spcAft>
                <a:spcPts val="0"/>
              </a:spcAft>
              <a:buNone/>
            </a:pPr>
            <a:r>
              <a:rPr lang="en" sz="1200">
                <a:latin typeface="DM Sans Medium"/>
                <a:ea typeface="DM Sans Medium"/>
                <a:cs typeface="DM Sans Medium"/>
                <a:sym typeface="DM Sans Medium"/>
              </a:rPr>
              <a:t>Make sure data </a:t>
            </a:r>
            <a:endParaRPr sz="1200">
              <a:latin typeface="DM Sans Medium"/>
              <a:ea typeface="DM Sans Medium"/>
              <a:cs typeface="DM Sans Medium"/>
              <a:sym typeface="DM Sans Medium"/>
            </a:endParaRPr>
          </a:p>
          <a:p>
            <a:pPr indent="0" lvl="0" marL="0" rtl="0" algn="ctr">
              <a:lnSpc>
                <a:spcPct val="100000"/>
              </a:lnSpc>
              <a:spcBef>
                <a:spcPts val="0"/>
              </a:spcBef>
              <a:spcAft>
                <a:spcPts val="0"/>
              </a:spcAft>
              <a:buNone/>
            </a:pPr>
            <a:r>
              <a:rPr lang="en" sz="1200">
                <a:latin typeface="DM Sans Medium"/>
                <a:ea typeface="DM Sans Medium"/>
                <a:cs typeface="DM Sans Medium"/>
                <a:sym typeface="DM Sans Medium"/>
              </a:rPr>
              <a:t>is correct</a:t>
            </a:r>
            <a:endParaRPr sz="1200">
              <a:latin typeface="DM Sans Medium"/>
              <a:ea typeface="DM Sans Medium"/>
              <a:cs typeface="DM Sans Medium"/>
              <a:sym typeface="DM Sans Medium"/>
            </a:endParaRPr>
          </a:p>
        </p:txBody>
      </p:sp>
      <p:sp>
        <p:nvSpPr>
          <p:cNvPr id="4414" name="Google Shape;4414;p172"/>
          <p:cNvSpPr/>
          <p:nvPr/>
        </p:nvSpPr>
        <p:spPr>
          <a:xfrm>
            <a:off x="4327595" y="4380220"/>
            <a:ext cx="123300" cy="1233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5" name="Google Shape;4415;p172"/>
          <p:cNvCxnSpPr>
            <a:stCxn id="4416" idx="2"/>
            <a:endCxn id="4417" idx="0"/>
          </p:cNvCxnSpPr>
          <p:nvPr/>
        </p:nvCxnSpPr>
        <p:spPr>
          <a:xfrm>
            <a:off x="9551018" y="4834250"/>
            <a:ext cx="3900" cy="794400"/>
          </a:xfrm>
          <a:prstGeom prst="straightConnector1">
            <a:avLst/>
          </a:prstGeom>
          <a:noFill/>
          <a:ln cap="flat" cmpd="sng" w="19050">
            <a:solidFill>
              <a:schemeClr val="accent4"/>
            </a:solidFill>
            <a:prstDash val="dash"/>
            <a:round/>
            <a:headEnd len="med" w="med" type="none"/>
            <a:tailEnd len="med" w="med" type="none"/>
          </a:ln>
        </p:spPr>
      </p:cxnSp>
      <p:sp>
        <p:nvSpPr>
          <p:cNvPr id="4416" name="Google Shape;4416;p172"/>
          <p:cNvSpPr/>
          <p:nvPr/>
        </p:nvSpPr>
        <p:spPr>
          <a:xfrm>
            <a:off x="8897018" y="4251050"/>
            <a:ext cx="1308000" cy="583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200">
                <a:latin typeface="DM Sans Medium"/>
                <a:ea typeface="DM Sans Medium"/>
                <a:cs typeface="DM Sans Medium"/>
                <a:sym typeface="DM Sans Medium"/>
              </a:rPr>
              <a:t>Materialized view</a:t>
            </a:r>
            <a:endParaRPr sz="1200">
              <a:latin typeface="DM Sans Medium"/>
              <a:ea typeface="DM Sans Medium"/>
              <a:cs typeface="DM Sans Medium"/>
              <a:sym typeface="DM Sans Medium"/>
            </a:endParaRPr>
          </a:p>
        </p:txBody>
      </p:sp>
      <p:sp>
        <p:nvSpPr>
          <p:cNvPr id="4417" name="Google Shape;4417;p172"/>
          <p:cNvSpPr/>
          <p:nvPr/>
        </p:nvSpPr>
        <p:spPr>
          <a:xfrm>
            <a:off x="9493170" y="5628695"/>
            <a:ext cx="123300" cy="1233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8" name="Google Shape;4418;p172"/>
          <p:cNvCxnSpPr>
            <a:stCxn id="4419" idx="2"/>
            <a:endCxn id="4420" idx="0"/>
          </p:cNvCxnSpPr>
          <p:nvPr/>
        </p:nvCxnSpPr>
        <p:spPr>
          <a:xfrm flipH="1" rot="-5400000">
            <a:off x="842118" y="3643150"/>
            <a:ext cx="916800" cy="557100"/>
          </a:xfrm>
          <a:prstGeom prst="curvedConnector3">
            <a:avLst>
              <a:gd fmla="val 50007" name="adj1"/>
            </a:avLst>
          </a:prstGeom>
          <a:noFill/>
          <a:ln cap="flat" cmpd="sng" w="19050">
            <a:solidFill>
              <a:schemeClr val="accent4"/>
            </a:solidFill>
            <a:prstDash val="dash"/>
            <a:round/>
            <a:headEnd len="med" w="med" type="none"/>
            <a:tailEnd len="med" w="med" type="none"/>
          </a:ln>
        </p:spPr>
      </p:cxnSp>
      <p:sp>
        <p:nvSpPr>
          <p:cNvPr id="4419" name="Google Shape;4419;p172"/>
          <p:cNvSpPr/>
          <p:nvPr/>
        </p:nvSpPr>
        <p:spPr>
          <a:xfrm>
            <a:off x="367968" y="2880100"/>
            <a:ext cx="1308000" cy="583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200">
                <a:latin typeface="DM Sans"/>
                <a:ea typeface="DM Sans"/>
                <a:cs typeface="DM Sans"/>
                <a:sym typeface="DM Sans"/>
              </a:rPr>
              <a:t>Auto Loader</a:t>
            </a:r>
            <a:br>
              <a:rPr lang="en" sz="1200">
                <a:latin typeface="DM Sans Medium"/>
                <a:ea typeface="DM Sans Medium"/>
                <a:cs typeface="DM Sans Medium"/>
                <a:sym typeface="DM Sans Medium"/>
              </a:rPr>
            </a:br>
            <a:r>
              <a:rPr lang="en" sz="1200">
                <a:latin typeface="DM Sans Medium"/>
                <a:ea typeface="DM Sans Medium"/>
                <a:cs typeface="DM Sans Medium"/>
                <a:sym typeface="DM Sans Medium"/>
              </a:rPr>
              <a:t>Incrementally load new data</a:t>
            </a:r>
            <a:endParaRPr sz="1200">
              <a:latin typeface="DM Sans Medium"/>
              <a:ea typeface="DM Sans Medium"/>
              <a:cs typeface="DM Sans Medium"/>
              <a:sym typeface="DM Sans Medium"/>
            </a:endParaRPr>
          </a:p>
        </p:txBody>
      </p:sp>
      <p:sp>
        <p:nvSpPr>
          <p:cNvPr id="4420" name="Google Shape;4420;p172"/>
          <p:cNvSpPr/>
          <p:nvPr/>
        </p:nvSpPr>
        <p:spPr>
          <a:xfrm>
            <a:off x="1517382" y="4380220"/>
            <a:ext cx="123300" cy="1233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21" name="Google Shape;4421;p172"/>
          <p:cNvCxnSpPr>
            <a:stCxn id="4422" idx="3"/>
            <a:endCxn id="4389" idx="4"/>
          </p:cNvCxnSpPr>
          <p:nvPr/>
        </p:nvCxnSpPr>
        <p:spPr>
          <a:xfrm flipH="1" rot="10800000">
            <a:off x="6282600" y="4503550"/>
            <a:ext cx="543000" cy="1186800"/>
          </a:xfrm>
          <a:prstGeom prst="curvedConnector2">
            <a:avLst/>
          </a:prstGeom>
          <a:noFill/>
          <a:ln cap="flat" cmpd="sng" w="19050">
            <a:solidFill>
              <a:schemeClr val="accent4"/>
            </a:solidFill>
            <a:prstDash val="dash"/>
            <a:round/>
            <a:headEnd len="med" w="med" type="none"/>
            <a:tailEnd len="med" w="med" type="none"/>
          </a:ln>
        </p:spPr>
      </p:cxnSp>
      <p:sp>
        <p:nvSpPr>
          <p:cNvPr id="4422" name="Google Shape;4422;p172"/>
          <p:cNvSpPr/>
          <p:nvPr/>
        </p:nvSpPr>
        <p:spPr>
          <a:xfrm>
            <a:off x="4002900" y="5398750"/>
            <a:ext cx="2279700" cy="583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200">
                <a:latin typeface="DM Sans"/>
                <a:ea typeface="DM Sans"/>
                <a:cs typeface="DM Sans"/>
                <a:sym typeface="DM Sans"/>
              </a:rPr>
              <a:t>AUTO CDC</a:t>
            </a:r>
            <a:endParaRPr b="1" sz="1200">
              <a:latin typeface="DM Sans"/>
              <a:ea typeface="DM Sans"/>
              <a:cs typeface="DM Sans"/>
              <a:sym typeface="DM Sans"/>
            </a:endParaRPr>
          </a:p>
          <a:p>
            <a:pPr indent="0" lvl="0" marL="0" rtl="0" algn="ctr">
              <a:lnSpc>
                <a:spcPct val="100000"/>
              </a:lnSpc>
              <a:spcBef>
                <a:spcPts val="0"/>
              </a:spcBef>
              <a:spcAft>
                <a:spcPts val="0"/>
              </a:spcAft>
              <a:buNone/>
            </a:pPr>
            <a:r>
              <a:rPr lang="en" sz="1200">
                <a:latin typeface="DM Sans Medium"/>
                <a:ea typeface="DM Sans Medium"/>
                <a:cs typeface="DM Sans Medium"/>
                <a:sym typeface="DM Sans Medium"/>
              </a:rPr>
              <a:t>Automatically merge and materialize the customer table</a:t>
            </a:r>
            <a:endParaRPr sz="1200">
              <a:latin typeface="DM Sans Medium"/>
              <a:ea typeface="DM Sans Medium"/>
              <a:cs typeface="DM Sans Medium"/>
              <a:sym typeface="DM Sans Medium"/>
            </a:endParaRPr>
          </a:p>
        </p:txBody>
      </p:sp>
      <p:sp>
        <p:nvSpPr>
          <p:cNvPr id="4389" name="Google Shape;4389;p172"/>
          <p:cNvSpPr/>
          <p:nvPr/>
        </p:nvSpPr>
        <p:spPr>
          <a:xfrm>
            <a:off x="6763995" y="4380220"/>
            <a:ext cx="123300" cy="1233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23" name="Google Shape;4423;p172"/>
          <p:cNvCxnSpPr>
            <a:stCxn id="4399" idx="3"/>
            <a:endCxn id="4389" idx="2"/>
          </p:cNvCxnSpPr>
          <p:nvPr/>
        </p:nvCxnSpPr>
        <p:spPr>
          <a:xfrm>
            <a:off x="6671600" y="4441875"/>
            <a:ext cx="92400" cy="0"/>
          </a:xfrm>
          <a:prstGeom prst="straightConnector1">
            <a:avLst/>
          </a:prstGeom>
          <a:noFill/>
          <a:ln cap="flat" cmpd="sng" w="19050">
            <a:solidFill>
              <a:schemeClr val="dk2"/>
            </a:solidFill>
            <a:prstDash val="solid"/>
            <a:round/>
            <a:headEnd len="med" w="med" type="none"/>
            <a:tailEnd len="med" w="med" type="none"/>
          </a:ln>
        </p:spPr>
      </p:cxnSp>
      <p:sp>
        <p:nvSpPr>
          <p:cNvPr id="4424" name="Google Shape;4424;p172"/>
          <p:cNvSpPr/>
          <p:nvPr/>
        </p:nvSpPr>
        <p:spPr>
          <a:xfrm>
            <a:off x="5939325" y="503400"/>
            <a:ext cx="1961400" cy="1144200"/>
          </a:xfrm>
          <a:prstGeom prst="roundRect">
            <a:avLst>
              <a:gd fmla="val 6548" name="adj"/>
            </a:avLst>
          </a:prstGeom>
          <a:solidFill>
            <a:srgbClr val="FFFFFF"/>
          </a:solidFill>
          <a:ln cap="flat" cmpd="sng" w="1905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DM Sans Medium"/>
                <a:ea typeface="DM Sans Medium"/>
                <a:cs typeface="DM Sans Medium"/>
                <a:sym typeface="DM Sans Medium"/>
              </a:rPr>
              <a:t>Job</a:t>
            </a:r>
            <a:endParaRPr baseline="30000">
              <a:solidFill>
                <a:schemeClr val="accent5"/>
              </a:solidFill>
              <a:latin typeface="DM Sans Medium"/>
              <a:ea typeface="DM Sans Medium"/>
              <a:cs typeface="DM Sans Medium"/>
              <a:sym typeface="DM Sans Medium"/>
            </a:endParaRPr>
          </a:p>
        </p:txBody>
      </p:sp>
      <p:pic>
        <p:nvPicPr>
          <p:cNvPr id="4425" name="Google Shape;4425;p172"/>
          <p:cNvPicPr preferRelativeResize="0"/>
          <p:nvPr/>
        </p:nvPicPr>
        <p:blipFill rotWithShape="1">
          <a:blip r:embed="rId5">
            <a:alphaModFix/>
          </a:blip>
          <a:srcRect b="0" l="0" r="0" t="0"/>
          <a:stretch/>
        </p:blipFill>
        <p:spPr>
          <a:xfrm>
            <a:off x="6698175" y="1139229"/>
            <a:ext cx="443700" cy="443700"/>
          </a:xfrm>
          <a:prstGeom prst="rect">
            <a:avLst/>
          </a:prstGeom>
          <a:noFill/>
          <a:ln>
            <a:noFill/>
          </a:ln>
        </p:spPr>
      </p:pic>
      <p:sp>
        <p:nvSpPr>
          <p:cNvPr id="4426" name="Google Shape;4426;p172"/>
          <p:cNvSpPr/>
          <p:nvPr/>
        </p:nvSpPr>
        <p:spPr>
          <a:xfrm>
            <a:off x="5997375" y="852825"/>
            <a:ext cx="1845300" cy="306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200">
                <a:latin typeface="DM Sans Medium"/>
                <a:ea typeface="DM Sans Medium"/>
                <a:cs typeface="DM Sans Medium"/>
                <a:sym typeface="DM Sans Medium"/>
              </a:rPr>
              <a:t>Orchestrate ETL pipeline</a:t>
            </a:r>
            <a:endParaRPr sz="1200">
              <a:latin typeface="DM Sans Medium"/>
              <a:ea typeface="DM Sans Medium"/>
              <a:cs typeface="DM Sans Medium"/>
              <a:sym typeface="DM Sans Medium"/>
            </a:endParaRPr>
          </a:p>
        </p:txBody>
      </p:sp>
      <p:cxnSp>
        <p:nvCxnSpPr>
          <p:cNvPr id="4427" name="Google Shape;4427;p172"/>
          <p:cNvCxnSpPr>
            <a:stCxn id="4424" idx="2"/>
            <a:endCxn id="4387" idx="0"/>
          </p:cNvCxnSpPr>
          <p:nvPr/>
        </p:nvCxnSpPr>
        <p:spPr>
          <a:xfrm>
            <a:off x="6920025" y="1647600"/>
            <a:ext cx="7800" cy="350100"/>
          </a:xfrm>
          <a:prstGeom prst="straightConnector1">
            <a:avLst/>
          </a:prstGeom>
          <a:noFill/>
          <a:ln cap="flat" cmpd="sng" w="19050">
            <a:solidFill>
              <a:schemeClr val="accent5"/>
            </a:solidFill>
            <a:prstDash val="solid"/>
            <a:round/>
            <a:headEnd len="med" w="med" type="none"/>
            <a:tailEnd len="med" w="med" type="triangle"/>
          </a:ln>
        </p:spPr>
      </p:cxn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1" name="Shape 4431"/>
        <p:cNvGrpSpPr/>
        <p:nvPr/>
      </p:nvGrpSpPr>
      <p:grpSpPr>
        <a:xfrm>
          <a:off x="0" y="0"/>
          <a:ext cx="0" cy="0"/>
          <a:chOff x="0" y="0"/>
          <a:chExt cx="0" cy="0"/>
        </a:xfrm>
      </p:grpSpPr>
      <p:sp>
        <p:nvSpPr>
          <p:cNvPr id="4432" name="Google Shape;4432;p173"/>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DLT pipeline tutorial/static/images/dlt/streaming_processing.png</a:t>
            </a:r>
            <a:endParaRPr sz="200"/>
          </a:p>
        </p:txBody>
      </p:sp>
      <p:sp>
        <p:nvSpPr>
          <p:cNvPr id="4433" name="Google Shape;4433;p173"/>
          <p:cNvSpPr/>
          <p:nvPr/>
        </p:nvSpPr>
        <p:spPr>
          <a:xfrm>
            <a:off x="5567855" y="3742517"/>
            <a:ext cx="99300" cy="864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34" name="Google Shape;4434;p173"/>
          <p:cNvSpPr/>
          <p:nvPr/>
        </p:nvSpPr>
        <p:spPr>
          <a:xfrm>
            <a:off x="5520316" y="3485188"/>
            <a:ext cx="99300" cy="864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35" name="Google Shape;4435;p173"/>
          <p:cNvSpPr/>
          <p:nvPr/>
        </p:nvSpPr>
        <p:spPr>
          <a:xfrm>
            <a:off x="5210828" y="3699396"/>
            <a:ext cx="99300" cy="864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36" name="Google Shape;4436;p173"/>
          <p:cNvSpPr/>
          <p:nvPr/>
        </p:nvSpPr>
        <p:spPr>
          <a:xfrm>
            <a:off x="4927120" y="3729968"/>
            <a:ext cx="99300" cy="864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37" name="Google Shape;4437;p173"/>
          <p:cNvSpPr/>
          <p:nvPr/>
        </p:nvSpPr>
        <p:spPr>
          <a:xfrm>
            <a:off x="5083152" y="3485188"/>
            <a:ext cx="99300" cy="864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38" name="Google Shape;4438;p173"/>
          <p:cNvSpPr/>
          <p:nvPr/>
        </p:nvSpPr>
        <p:spPr>
          <a:xfrm>
            <a:off x="4009183" y="3528714"/>
            <a:ext cx="99300" cy="864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39" name="Google Shape;4439;p173"/>
          <p:cNvSpPr/>
          <p:nvPr/>
        </p:nvSpPr>
        <p:spPr>
          <a:xfrm>
            <a:off x="3621681" y="3695398"/>
            <a:ext cx="99300" cy="86400"/>
          </a:xfrm>
          <a:prstGeom prst="rect">
            <a:avLst/>
          </a:prstGeom>
          <a:solidFill>
            <a:srgbClr val="8E7CC3"/>
          </a:solidFill>
          <a:ln cap="flat" cmpd="sng" w="12700">
            <a:solidFill>
              <a:srgbClr val="8E7CC3"/>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0" name="Google Shape;4440;p173"/>
          <p:cNvSpPr/>
          <p:nvPr/>
        </p:nvSpPr>
        <p:spPr>
          <a:xfrm>
            <a:off x="3544379" y="3495732"/>
            <a:ext cx="99300" cy="86400"/>
          </a:xfrm>
          <a:prstGeom prst="rect">
            <a:avLst/>
          </a:prstGeom>
          <a:solidFill>
            <a:srgbClr val="8E7CC3"/>
          </a:solidFill>
          <a:ln cap="flat" cmpd="sng" w="12700">
            <a:solidFill>
              <a:srgbClr val="8E7CC3"/>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1" name="Google Shape;4441;p173"/>
          <p:cNvSpPr/>
          <p:nvPr/>
        </p:nvSpPr>
        <p:spPr>
          <a:xfrm>
            <a:off x="3353416" y="3714230"/>
            <a:ext cx="99300" cy="86400"/>
          </a:xfrm>
          <a:prstGeom prst="rect">
            <a:avLst/>
          </a:prstGeom>
          <a:solidFill>
            <a:srgbClr val="8E7CC3"/>
          </a:solidFill>
          <a:ln cap="flat" cmpd="sng" w="12700">
            <a:solidFill>
              <a:srgbClr val="8E7CC3"/>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2" name="Google Shape;4442;p173"/>
          <p:cNvSpPr/>
          <p:nvPr/>
        </p:nvSpPr>
        <p:spPr>
          <a:xfrm>
            <a:off x="3118011" y="3485592"/>
            <a:ext cx="99300" cy="86400"/>
          </a:xfrm>
          <a:prstGeom prst="rect">
            <a:avLst/>
          </a:prstGeom>
          <a:solidFill>
            <a:srgbClr val="8E7CC3"/>
          </a:solidFill>
          <a:ln cap="flat" cmpd="sng" w="12700">
            <a:solidFill>
              <a:srgbClr val="8E7CC3"/>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3" name="Google Shape;4443;p173"/>
          <p:cNvSpPr/>
          <p:nvPr/>
        </p:nvSpPr>
        <p:spPr>
          <a:xfrm>
            <a:off x="4781546" y="3528714"/>
            <a:ext cx="99300" cy="864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4" name="Google Shape;4444;p173"/>
          <p:cNvSpPr/>
          <p:nvPr/>
        </p:nvSpPr>
        <p:spPr>
          <a:xfrm>
            <a:off x="4335955" y="3485592"/>
            <a:ext cx="99300" cy="864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5" name="Google Shape;4445;p173"/>
          <p:cNvSpPr/>
          <p:nvPr/>
        </p:nvSpPr>
        <p:spPr>
          <a:xfrm>
            <a:off x="3868312" y="3717597"/>
            <a:ext cx="99300" cy="86400"/>
          </a:xfrm>
          <a:prstGeom prst="rect">
            <a:avLst/>
          </a:prstGeom>
          <a:solidFill>
            <a:srgbClr val="8E7CC3"/>
          </a:solidFill>
          <a:ln cap="flat" cmpd="sng" w="12700">
            <a:solidFill>
              <a:srgbClr val="8E7CC3"/>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6" name="Google Shape;4446;p173"/>
          <p:cNvSpPr/>
          <p:nvPr/>
        </p:nvSpPr>
        <p:spPr>
          <a:xfrm>
            <a:off x="4197302" y="3734805"/>
            <a:ext cx="99300" cy="864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7" name="Google Shape;4447;p173"/>
          <p:cNvSpPr/>
          <p:nvPr/>
        </p:nvSpPr>
        <p:spPr>
          <a:xfrm>
            <a:off x="4591606" y="3674476"/>
            <a:ext cx="99300" cy="864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8" name="Google Shape;4448;p173"/>
          <p:cNvSpPr/>
          <p:nvPr/>
        </p:nvSpPr>
        <p:spPr>
          <a:xfrm>
            <a:off x="5399334" y="3640011"/>
            <a:ext cx="99300" cy="864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49" name="Google Shape;4449;p173"/>
          <p:cNvSpPr/>
          <p:nvPr/>
        </p:nvSpPr>
        <p:spPr>
          <a:xfrm>
            <a:off x="4419766" y="3766823"/>
            <a:ext cx="99300" cy="864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50" name="Google Shape;4450;p173"/>
          <p:cNvSpPr/>
          <p:nvPr/>
        </p:nvSpPr>
        <p:spPr>
          <a:xfrm>
            <a:off x="2997709" y="3738700"/>
            <a:ext cx="99300" cy="86400"/>
          </a:xfrm>
          <a:prstGeom prst="rect">
            <a:avLst/>
          </a:prstGeom>
          <a:solidFill>
            <a:srgbClr val="8E7CC3"/>
          </a:solidFill>
          <a:ln cap="flat" cmpd="sng" w="12700">
            <a:solidFill>
              <a:srgbClr val="8E7CC3"/>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51" name="Google Shape;4451;p173"/>
          <p:cNvSpPr/>
          <p:nvPr/>
        </p:nvSpPr>
        <p:spPr>
          <a:xfrm>
            <a:off x="5871549" y="3738700"/>
            <a:ext cx="99300" cy="864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52" name="Google Shape;4452;p173"/>
          <p:cNvSpPr/>
          <p:nvPr/>
        </p:nvSpPr>
        <p:spPr>
          <a:xfrm>
            <a:off x="5840494" y="3528714"/>
            <a:ext cx="99300" cy="864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53" name="Google Shape;4453;p173"/>
          <p:cNvSpPr/>
          <p:nvPr/>
        </p:nvSpPr>
        <p:spPr>
          <a:xfrm>
            <a:off x="2576399" y="3155869"/>
            <a:ext cx="3806400" cy="1046100"/>
          </a:xfrm>
          <a:prstGeom prst="rightArrow">
            <a:avLst>
              <a:gd fmla="val 50000" name="adj1"/>
              <a:gd fmla="val 48522" name="adj2"/>
            </a:avLst>
          </a:prstGeom>
          <a:noFill/>
          <a:ln cap="flat" cmpd="sng" w="25400">
            <a:solidFill>
              <a:srgbClr val="1B5162"/>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pic>
        <p:nvPicPr>
          <p:cNvPr descr="Icon&#10;&#10;Description automatically generated" id="4454" name="Google Shape;4454;p173"/>
          <p:cNvPicPr preferRelativeResize="0"/>
          <p:nvPr/>
        </p:nvPicPr>
        <p:blipFill rotWithShape="1">
          <a:blip r:embed="rId3">
            <a:alphaModFix/>
          </a:blip>
          <a:srcRect b="0" l="0" r="0" t="0"/>
          <a:stretch/>
        </p:blipFill>
        <p:spPr>
          <a:xfrm>
            <a:off x="6729493" y="3178788"/>
            <a:ext cx="1157846" cy="1009035"/>
          </a:xfrm>
          <a:prstGeom prst="rect">
            <a:avLst/>
          </a:prstGeom>
          <a:noFill/>
          <a:ln>
            <a:noFill/>
          </a:ln>
        </p:spPr>
      </p:pic>
      <p:sp>
        <p:nvSpPr>
          <p:cNvPr id="4455" name="Google Shape;4455;p173"/>
          <p:cNvSpPr txBox="1"/>
          <p:nvPr/>
        </p:nvSpPr>
        <p:spPr>
          <a:xfrm>
            <a:off x="3793969" y="2583788"/>
            <a:ext cx="1183200" cy="5772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b="0" i="0" lang="en" sz="1600" u="none" cap="none" strike="noStrike">
                <a:solidFill>
                  <a:srgbClr val="1B3139"/>
                </a:solidFill>
                <a:latin typeface="DM Sans Medium"/>
                <a:ea typeface="DM Sans Medium"/>
                <a:cs typeface="DM Sans Medium"/>
                <a:sym typeface="DM Sans Medium"/>
              </a:rPr>
              <a:t>Data Source</a:t>
            </a:r>
            <a:endParaRPr b="0" i="0" sz="1600" u="none" cap="none" strike="noStrike">
              <a:solidFill>
                <a:srgbClr val="1B3139"/>
              </a:solidFill>
              <a:latin typeface="DM Sans Medium"/>
              <a:ea typeface="DM Sans Medium"/>
              <a:cs typeface="DM Sans Medium"/>
              <a:sym typeface="DM Sans Medium"/>
            </a:endParaRPr>
          </a:p>
        </p:txBody>
      </p:sp>
      <p:sp>
        <p:nvSpPr>
          <p:cNvPr id="4456" name="Google Shape;4456;p173"/>
          <p:cNvSpPr txBox="1"/>
          <p:nvPr/>
        </p:nvSpPr>
        <p:spPr>
          <a:xfrm>
            <a:off x="6399275" y="2697631"/>
            <a:ext cx="2321700" cy="3492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600">
                <a:solidFill>
                  <a:srgbClr val="1B3139"/>
                </a:solidFill>
                <a:latin typeface="DM Sans Medium"/>
                <a:ea typeface="DM Sans Medium"/>
                <a:cs typeface="DM Sans Medium"/>
                <a:sym typeface="DM Sans Medium"/>
              </a:rPr>
              <a:t>Streaming </a:t>
            </a:r>
            <a:r>
              <a:rPr b="0" i="0" lang="en" sz="1600" u="none" cap="none" strike="noStrike">
                <a:solidFill>
                  <a:srgbClr val="1B3139"/>
                </a:solidFill>
                <a:latin typeface="DM Sans Medium"/>
                <a:ea typeface="DM Sans Medium"/>
                <a:cs typeface="DM Sans Medium"/>
                <a:sym typeface="DM Sans Medium"/>
              </a:rPr>
              <a:t>Processing</a:t>
            </a:r>
            <a:endParaRPr b="0" i="0" sz="1600" u="none" cap="none" strike="noStrike">
              <a:solidFill>
                <a:srgbClr val="1B3139"/>
              </a:solidFill>
              <a:latin typeface="DM Sans Medium"/>
              <a:ea typeface="DM Sans Medium"/>
              <a:cs typeface="DM Sans Medium"/>
              <a:sym typeface="DM Sans Medium"/>
            </a:endParaRPr>
          </a:p>
        </p:txBody>
      </p:sp>
      <p:sp>
        <p:nvSpPr>
          <p:cNvPr id="4457" name="Google Shape;4457;p173"/>
          <p:cNvSpPr txBox="1"/>
          <p:nvPr/>
        </p:nvSpPr>
        <p:spPr>
          <a:xfrm>
            <a:off x="5066051" y="4202126"/>
            <a:ext cx="1183200" cy="3492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600">
                <a:solidFill>
                  <a:srgbClr val="1B3139"/>
                </a:solidFill>
                <a:latin typeface="DM Sans Medium"/>
                <a:ea typeface="DM Sans Medium"/>
                <a:cs typeface="DM Sans Medium"/>
                <a:sym typeface="DM Sans Medium"/>
              </a:rPr>
              <a:t>1st Hour</a:t>
            </a:r>
            <a:endParaRPr b="0" i="0" sz="1600" u="none" cap="none" strike="noStrike">
              <a:solidFill>
                <a:srgbClr val="1B3139"/>
              </a:solidFill>
              <a:latin typeface="DM Sans Medium"/>
              <a:ea typeface="DM Sans Medium"/>
              <a:cs typeface="DM Sans Medium"/>
              <a:sym typeface="DM Sans Medium"/>
            </a:endParaRPr>
          </a:p>
        </p:txBody>
      </p:sp>
      <p:sp>
        <p:nvSpPr>
          <p:cNvPr id="4458" name="Google Shape;4458;p173"/>
          <p:cNvSpPr txBox="1"/>
          <p:nvPr/>
        </p:nvSpPr>
        <p:spPr>
          <a:xfrm>
            <a:off x="3881696" y="4202112"/>
            <a:ext cx="1183200" cy="3492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600">
                <a:solidFill>
                  <a:srgbClr val="1B3139"/>
                </a:solidFill>
                <a:latin typeface="DM Sans Medium"/>
                <a:ea typeface="DM Sans Medium"/>
                <a:cs typeface="DM Sans Medium"/>
                <a:sym typeface="DM Sans Medium"/>
              </a:rPr>
              <a:t>2nd Hour</a:t>
            </a:r>
            <a:endParaRPr b="0" i="0" sz="1600" u="none" cap="none" strike="noStrike">
              <a:solidFill>
                <a:srgbClr val="1B3139"/>
              </a:solidFill>
              <a:latin typeface="DM Sans Medium"/>
              <a:ea typeface="DM Sans Medium"/>
              <a:cs typeface="DM Sans Medium"/>
              <a:sym typeface="DM Sans Medium"/>
            </a:endParaRPr>
          </a:p>
        </p:txBody>
      </p:sp>
      <p:sp>
        <p:nvSpPr>
          <p:cNvPr id="4459" name="Google Shape;4459;p173"/>
          <p:cNvSpPr txBox="1"/>
          <p:nvPr/>
        </p:nvSpPr>
        <p:spPr>
          <a:xfrm>
            <a:off x="2697341" y="4202126"/>
            <a:ext cx="1183200" cy="3492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600">
                <a:solidFill>
                  <a:srgbClr val="1B3139"/>
                </a:solidFill>
                <a:latin typeface="DM Sans Medium"/>
                <a:ea typeface="DM Sans Medium"/>
                <a:cs typeface="DM Sans Medium"/>
                <a:sym typeface="DM Sans Medium"/>
              </a:rPr>
              <a:t>3rd Hour</a:t>
            </a:r>
            <a:endParaRPr b="0" i="0" sz="1600" u="none" cap="none" strike="noStrike">
              <a:solidFill>
                <a:srgbClr val="1B3139"/>
              </a:solidFill>
              <a:latin typeface="DM Sans Medium"/>
              <a:ea typeface="DM Sans Medium"/>
              <a:cs typeface="DM Sans Medium"/>
              <a:sym typeface="DM Sans Medium"/>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3" name="Shape 4463"/>
        <p:cNvGrpSpPr/>
        <p:nvPr/>
      </p:nvGrpSpPr>
      <p:grpSpPr>
        <a:xfrm>
          <a:off x="0" y="0"/>
          <a:ext cx="0" cy="0"/>
          <a:chOff x="0" y="0"/>
          <a:chExt cx="0" cy="0"/>
        </a:xfrm>
      </p:grpSpPr>
      <p:sp>
        <p:nvSpPr>
          <p:cNvPr id="4464" name="Google Shape;4464;p174"/>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DLT pipeline tutorial/static/images/dlt/batch_processing.png</a:t>
            </a:r>
            <a:endParaRPr sz="200"/>
          </a:p>
        </p:txBody>
      </p:sp>
      <p:sp>
        <p:nvSpPr>
          <p:cNvPr id="4465" name="Google Shape;4465;p174"/>
          <p:cNvSpPr txBox="1"/>
          <p:nvPr/>
        </p:nvSpPr>
        <p:spPr>
          <a:xfrm>
            <a:off x="2818990" y="1254624"/>
            <a:ext cx="1257600" cy="29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b="0" i="0" lang="en" sz="1600" u="none" cap="none" strike="noStrike">
                <a:solidFill>
                  <a:srgbClr val="1B3139"/>
                </a:solidFill>
                <a:latin typeface="DM Sans Medium"/>
                <a:ea typeface="DM Sans Medium"/>
                <a:cs typeface="DM Sans Medium"/>
                <a:sym typeface="DM Sans Medium"/>
              </a:rPr>
              <a:t>Data Source</a:t>
            </a:r>
            <a:endParaRPr b="0" i="0" sz="1600" u="none" cap="none" strike="noStrike">
              <a:solidFill>
                <a:srgbClr val="1B3139"/>
              </a:solidFill>
              <a:latin typeface="DM Sans Medium"/>
              <a:ea typeface="DM Sans Medium"/>
              <a:cs typeface="DM Sans Medium"/>
              <a:sym typeface="DM Sans Medium"/>
            </a:endParaRPr>
          </a:p>
        </p:txBody>
      </p:sp>
      <p:sp>
        <p:nvSpPr>
          <p:cNvPr id="4466" name="Google Shape;4466;p174"/>
          <p:cNvSpPr txBox="1"/>
          <p:nvPr/>
        </p:nvSpPr>
        <p:spPr>
          <a:xfrm>
            <a:off x="5638249" y="1254624"/>
            <a:ext cx="1728000" cy="29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600">
                <a:solidFill>
                  <a:srgbClr val="1B3139"/>
                </a:solidFill>
                <a:latin typeface="DM Sans Medium"/>
                <a:ea typeface="DM Sans Medium"/>
                <a:cs typeface="DM Sans Medium"/>
                <a:sym typeface="DM Sans Medium"/>
              </a:rPr>
              <a:t>Batch </a:t>
            </a:r>
            <a:r>
              <a:rPr b="0" i="0" lang="en" sz="1600" u="none" cap="none" strike="noStrike">
                <a:solidFill>
                  <a:srgbClr val="1B3139"/>
                </a:solidFill>
                <a:latin typeface="DM Sans Medium"/>
                <a:ea typeface="DM Sans Medium"/>
                <a:cs typeface="DM Sans Medium"/>
                <a:sym typeface="DM Sans Medium"/>
              </a:rPr>
              <a:t>Processing</a:t>
            </a:r>
            <a:endParaRPr b="0" i="0" sz="1600" u="none" cap="none" strike="noStrike">
              <a:solidFill>
                <a:srgbClr val="1B3139"/>
              </a:solidFill>
              <a:latin typeface="DM Sans Medium"/>
              <a:ea typeface="DM Sans Medium"/>
              <a:cs typeface="DM Sans Medium"/>
              <a:sym typeface="DM Sans Medium"/>
            </a:endParaRPr>
          </a:p>
        </p:txBody>
      </p:sp>
      <p:pic>
        <p:nvPicPr>
          <p:cNvPr descr="Icon&#10;&#10;Description automatically generated" id="4467" name="Google Shape;4467;p174"/>
          <p:cNvPicPr preferRelativeResize="0"/>
          <p:nvPr/>
        </p:nvPicPr>
        <p:blipFill rotWithShape="1">
          <a:blip r:embed="rId3">
            <a:alphaModFix/>
          </a:blip>
          <a:srcRect b="0" l="0" r="0" t="0"/>
          <a:stretch/>
        </p:blipFill>
        <p:spPr>
          <a:xfrm>
            <a:off x="6012178" y="1565281"/>
            <a:ext cx="980145" cy="854175"/>
          </a:xfrm>
          <a:prstGeom prst="rect">
            <a:avLst/>
          </a:prstGeom>
          <a:noFill/>
          <a:ln>
            <a:noFill/>
          </a:ln>
        </p:spPr>
      </p:pic>
      <p:sp>
        <p:nvSpPr>
          <p:cNvPr id="4468" name="Google Shape;4468;p174"/>
          <p:cNvSpPr/>
          <p:nvPr/>
        </p:nvSpPr>
        <p:spPr>
          <a:xfrm>
            <a:off x="3001815" y="1643956"/>
            <a:ext cx="980100" cy="854100"/>
          </a:xfrm>
          <a:prstGeom prst="can">
            <a:avLst>
              <a:gd fmla="val 20431" name="adj"/>
            </a:avLst>
          </a:prstGeom>
          <a:noFill/>
          <a:ln cap="flat" cmpd="sng" w="25400">
            <a:solidFill>
              <a:srgbClr val="1B3139"/>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69" name="Google Shape;4469;p174"/>
          <p:cNvSpPr/>
          <p:nvPr/>
        </p:nvSpPr>
        <p:spPr>
          <a:xfrm>
            <a:off x="3563860" y="2173358"/>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70" name="Google Shape;4470;p174"/>
          <p:cNvSpPr/>
          <p:nvPr/>
        </p:nvSpPr>
        <p:spPr>
          <a:xfrm>
            <a:off x="3495474" y="1955794"/>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71" name="Google Shape;4471;p174"/>
          <p:cNvSpPr/>
          <p:nvPr/>
        </p:nvSpPr>
        <p:spPr>
          <a:xfrm>
            <a:off x="3221932" y="2118967"/>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72" name="Google Shape;4472;p174"/>
          <p:cNvSpPr/>
          <p:nvPr/>
        </p:nvSpPr>
        <p:spPr>
          <a:xfrm>
            <a:off x="3153547" y="2010185"/>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73" name="Google Shape;4473;p174"/>
          <p:cNvSpPr/>
          <p:nvPr/>
        </p:nvSpPr>
        <p:spPr>
          <a:xfrm>
            <a:off x="3427089" y="2064576"/>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74" name="Google Shape;4474;p174"/>
          <p:cNvSpPr/>
          <p:nvPr/>
        </p:nvSpPr>
        <p:spPr>
          <a:xfrm>
            <a:off x="3358703" y="2227748"/>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75" name="Google Shape;4475;p174"/>
          <p:cNvSpPr/>
          <p:nvPr/>
        </p:nvSpPr>
        <p:spPr>
          <a:xfrm>
            <a:off x="3290318" y="1901403"/>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76" name="Google Shape;4476;p174"/>
          <p:cNvSpPr/>
          <p:nvPr/>
        </p:nvSpPr>
        <p:spPr>
          <a:xfrm>
            <a:off x="4446005" y="1890842"/>
            <a:ext cx="1257600" cy="228000"/>
          </a:xfrm>
          <a:prstGeom prst="rightArrow">
            <a:avLst>
              <a:gd fmla="val 50000" name="adj1"/>
              <a:gd fmla="val 48522" name="adj2"/>
            </a:avLst>
          </a:prstGeom>
          <a:noFill/>
          <a:ln cap="flat" cmpd="sng" w="25400">
            <a:solidFill>
              <a:srgbClr val="1B5162"/>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pic>
        <p:nvPicPr>
          <p:cNvPr descr="Icon&#10;&#10;Description automatically generated" id="4477" name="Google Shape;4477;p174"/>
          <p:cNvPicPr preferRelativeResize="0"/>
          <p:nvPr/>
        </p:nvPicPr>
        <p:blipFill rotWithShape="1">
          <a:blip r:embed="rId3">
            <a:alphaModFix/>
          </a:blip>
          <a:srcRect b="0" l="0" r="0" t="0"/>
          <a:stretch/>
        </p:blipFill>
        <p:spPr>
          <a:xfrm>
            <a:off x="6012178" y="2624213"/>
            <a:ext cx="980145" cy="854175"/>
          </a:xfrm>
          <a:prstGeom prst="rect">
            <a:avLst/>
          </a:prstGeom>
          <a:noFill/>
          <a:ln>
            <a:noFill/>
          </a:ln>
        </p:spPr>
      </p:pic>
      <p:sp>
        <p:nvSpPr>
          <p:cNvPr id="4478" name="Google Shape;4478;p174"/>
          <p:cNvSpPr/>
          <p:nvPr/>
        </p:nvSpPr>
        <p:spPr>
          <a:xfrm>
            <a:off x="3621028" y="3014740"/>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79" name="Google Shape;4479;p174"/>
          <p:cNvSpPr/>
          <p:nvPr/>
        </p:nvSpPr>
        <p:spPr>
          <a:xfrm>
            <a:off x="3501034" y="2974329"/>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80" name="Google Shape;4480;p174"/>
          <p:cNvSpPr/>
          <p:nvPr/>
        </p:nvSpPr>
        <p:spPr>
          <a:xfrm>
            <a:off x="3405791" y="3162142"/>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81" name="Google Shape;4481;p174"/>
          <p:cNvSpPr/>
          <p:nvPr/>
        </p:nvSpPr>
        <p:spPr>
          <a:xfrm>
            <a:off x="3153547" y="3089032"/>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82" name="Google Shape;4482;p174"/>
          <p:cNvSpPr/>
          <p:nvPr/>
        </p:nvSpPr>
        <p:spPr>
          <a:xfrm>
            <a:off x="3338595" y="3104303"/>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83" name="Google Shape;4483;p174"/>
          <p:cNvSpPr/>
          <p:nvPr/>
        </p:nvSpPr>
        <p:spPr>
          <a:xfrm>
            <a:off x="3246218" y="3162142"/>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84" name="Google Shape;4484;p174"/>
          <p:cNvSpPr/>
          <p:nvPr/>
        </p:nvSpPr>
        <p:spPr>
          <a:xfrm>
            <a:off x="3311725" y="2978266"/>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85" name="Google Shape;4485;p174"/>
          <p:cNvSpPr/>
          <p:nvPr/>
        </p:nvSpPr>
        <p:spPr>
          <a:xfrm>
            <a:off x="4447004" y="2967132"/>
            <a:ext cx="1257600" cy="228000"/>
          </a:xfrm>
          <a:prstGeom prst="rightArrow">
            <a:avLst>
              <a:gd fmla="val 50000" name="adj1"/>
              <a:gd fmla="val 48522" name="adj2"/>
            </a:avLst>
          </a:prstGeom>
          <a:noFill/>
          <a:ln cap="flat" cmpd="sng" w="25400">
            <a:solidFill>
              <a:srgbClr val="1B5162"/>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pic>
        <p:nvPicPr>
          <p:cNvPr descr="Icon&#10;&#10;Description automatically generated" id="4486" name="Google Shape;4486;p174"/>
          <p:cNvPicPr preferRelativeResize="0"/>
          <p:nvPr/>
        </p:nvPicPr>
        <p:blipFill rotWithShape="1">
          <a:blip r:embed="rId3">
            <a:alphaModFix/>
          </a:blip>
          <a:srcRect b="0" l="0" r="0" t="0"/>
          <a:stretch/>
        </p:blipFill>
        <p:spPr>
          <a:xfrm>
            <a:off x="6012178" y="3728741"/>
            <a:ext cx="980145" cy="854175"/>
          </a:xfrm>
          <a:prstGeom prst="rect">
            <a:avLst/>
          </a:prstGeom>
          <a:noFill/>
          <a:ln>
            <a:noFill/>
          </a:ln>
        </p:spPr>
      </p:pic>
      <p:sp>
        <p:nvSpPr>
          <p:cNvPr id="4487" name="Google Shape;4487;p174"/>
          <p:cNvSpPr/>
          <p:nvPr/>
        </p:nvSpPr>
        <p:spPr>
          <a:xfrm>
            <a:off x="4412303" y="4030698"/>
            <a:ext cx="1257600" cy="228000"/>
          </a:xfrm>
          <a:prstGeom prst="rightArrow">
            <a:avLst>
              <a:gd fmla="val 50000" name="adj1"/>
              <a:gd fmla="val 48522" name="adj2"/>
            </a:avLst>
          </a:prstGeom>
          <a:noFill/>
          <a:ln cap="flat" cmpd="sng" w="25400">
            <a:solidFill>
              <a:srgbClr val="1B5162"/>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88" name="Google Shape;4488;p174"/>
          <p:cNvSpPr/>
          <p:nvPr/>
        </p:nvSpPr>
        <p:spPr>
          <a:xfrm>
            <a:off x="3504101" y="3189758"/>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89" name="Google Shape;4489;p174"/>
          <p:cNvSpPr/>
          <p:nvPr/>
        </p:nvSpPr>
        <p:spPr>
          <a:xfrm>
            <a:off x="3321242" y="3416494"/>
            <a:ext cx="84000" cy="732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0" name="Google Shape;4490;p174"/>
          <p:cNvSpPr/>
          <p:nvPr/>
        </p:nvSpPr>
        <p:spPr>
          <a:xfrm>
            <a:off x="3603693" y="3141910"/>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1" name="Google Shape;4491;p174"/>
          <p:cNvSpPr/>
          <p:nvPr/>
        </p:nvSpPr>
        <p:spPr>
          <a:xfrm>
            <a:off x="3597862" y="3402580"/>
            <a:ext cx="84000" cy="732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2" name="Google Shape;4492;p174"/>
          <p:cNvSpPr/>
          <p:nvPr/>
        </p:nvSpPr>
        <p:spPr>
          <a:xfrm>
            <a:off x="3480489" y="3311593"/>
            <a:ext cx="84000" cy="732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3" name="Google Shape;4493;p174"/>
          <p:cNvSpPr/>
          <p:nvPr/>
        </p:nvSpPr>
        <p:spPr>
          <a:xfrm>
            <a:off x="3294355" y="3242712"/>
            <a:ext cx="84000" cy="732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4" name="Google Shape;4494;p174"/>
          <p:cNvSpPr/>
          <p:nvPr/>
        </p:nvSpPr>
        <p:spPr>
          <a:xfrm>
            <a:off x="3668811" y="3246593"/>
            <a:ext cx="84000" cy="73200"/>
          </a:xfrm>
          <a:prstGeom prst="rect">
            <a:avLst/>
          </a:prstGeom>
          <a:solidFill>
            <a:srgbClr val="FF9900"/>
          </a:solidFill>
          <a:ln cap="flat" cmpd="sng" w="12700">
            <a:solidFill>
              <a:srgbClr val="FF9900"/>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5" name="Google Shape;4495;p174"/>
          <p:cNvSpPr/>
          <p:nvPr/>
        </p:nvSpPr>
        <p:spPr>
          <a:xfrm>
            <a:off x="3001815" y="3781692"/>
            <a:ext cx="980100" cy="854100"/>
          </a:xfrm>
          <a:prstGeom prst="can">
            <a:avLst>
              <a:gd fmla="val 20431" name="adj"/>
            </a:avLst>
          </a:prstGeom>
          <a:noFill/>
          <a:ln cap="flat" cmpd="sng" w="25400">
            <a:solidFill>
              <a:srgbClr val="1B3139"/>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6" name="Google Shape;4496;p174"/>
          <p:cNvSpPr/>
          <p:nvPr/>
        </p:nvSpPr>
        <p:spPr>
          <a:xfrm>
            <a:off x="3703271" y="4061440"/>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7" name="Google Shape;4497;p174"/>
          <p:cNvSpPr/>
          <p:nvPr/>
        </p:nvSpPr>
        <p:spPr>
          <a:xfrm>
            <a:off x="3479821" y="3979957"/>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8" name="Google Shape;4498;p174"/>
          <p:cNvSpPr/>
          <p:nvPr/>
        </p:nvSpPr>
        <p:spPr>
          <a:xfrm>
            <a:off x="3405791" y="4119265"/>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499" name="Google Shape;4499;p174"/>
          <p:cNvSpPr/>
          <p:nvPr/>
        </p:nvSpPr>
        <p:spPr>
          <a:xfrm>
            <a:off x="3153547" y="4046155"/>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0" name="Google Shape;4500;p174"/>
          <p:cNvSpPr/>
          <p:nvPr/>
        </p:nvSpPr>
        <p:spPr>
          <a:xfrm>
            <a:off x="3338595" y="4061426"/>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1" name="Google Shape;4501;p174"/>
          <p:cNvSpPr/>
          <p:nvPr/>
        </p:nvSpPr>
        <p:spPr>
          <a:xfrm>
            <a:off x="3246218" y="4119266"/>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2" name="Google Shape;4502;p174"/>
          <p:cNvSpPr/>
          <p:nvPr/>
        </p:nvSpPr>
        <p:spPr>
          <a:xfrm>
            <a:off x="3153550" y="4199194"/>
            <a:ext cx="84000" cy="73200"/>
          </a:xfrm>
          <a:prstGeom prst="rect">
            <a:avLst/>
          </a:prstGeom>
          <a:solidFill>
            <a:srgbClr val="00A972"/>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3" name="Google Shape;4503;p174"/>
          <p:cNvSpPr/>
          <p:nvPr/>
        </p:nvSpPr>
        <p:spPr>
          <a:xfrm>
            <a:off x="3504101" y="4120813"/>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4" name="Google Shape;4504;p174"/>
          <p:cNvSpPr/>
          <p:nvPr/>
        </p:nvSpPr>
        <p:spPr>
          <a:xfrm>
            <a:off x="3321242" y="4299324"/>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5" name="Google Shape;4505;p174"/>
          <p:cNvSpPr/>
          <p:nvPr/>
        </p:nvSpPr>
        <p:spPr>
          <a:xfrm>
            <a:off x="3603693" y="4099033"/>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6" name="Google Shape;4506;p174"/>
          <p:cNvSpPr/>
          <p:nvPr/>
        </p:nvSpPr>
        <p:spPr>
          <a:xfrm>
            <a:off x="3597862" y="4285410"/>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7" name="Google Shape;4507;p174"/>
          <p:cNvSpPr/>
          <p:nvPr/>
        </p:nvSpPr>
        <p:spPr>
          <a:xfrm>
            <a:off x="3480489" y="4199202"/>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8" name="Google Shape;4508;p174"/>
          <p:cNvSpPr/>
          <p:nvPr/>
        </p:nvSpPr>
        <p:spPr>
          <a:xfrm>
            <a:off x="3294355" y="4199836"/>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09" name="Google Shape;4509;p174"/>
          <p:cNvSpPr/>
          <p:nvPr/>
        </p:nvSpPr>
        <p:spPr>
          <a:xfrm>
            <a:off x="3668811" y="4203716"/>
            <a:ext cx="84000" cy="73200"/>
          </a:xfrm>
          <a:prstGeom prst="rect">
            <a:avLst/>
          </a:prstGeom>
          <a:solidFill>
            <a:srgbClr val="FF9900"/>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10" name="Google Shape;4510;p174"/>
          <p:cNvSpPr/>
          <p:nvPr/>
        </p:nvSpPr>
        <p:spPr>
          <a:xfrm>
            <a:off x="3441227" y="4308681"/>
            <a:ext cx="84000" cy="73200"/>
          </a:xfrm>
          <a:prstGeom prst="rect">
            <a:avLst/>
          </a:prstGeom>
          <a:solidFill>
            <a:srgbClr val="8E7CC3"/>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11" name="Google Shape;4511;p174"/>
          <p:cNvSpPr/>
          <p:nvPr/>
        </p:nvSpPr>
        <p:spPr>
          <a:xfrm>
            <a:off x="3589776" y="4382974"/>
            <a:ext cx="84000" cy="73200"/>
          </a:xfrm>
          <a:prstGeom prst="rect">
            <a:avLst/>
          </a:prstGeom>
          <a:solidFill>
            <a:srgbClr val="8E7CC3"/>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12" name="Google Shape;4512;p174"/>
          <p:cNvSpPr/>
          <p:nvPr/>
        </p:nvSpPr>
        <p:spPr>
          <a:xfrm>
            <a:off x="3441227" y="4457268"/>
            <a:ext cx="84000" cy="73200"/>
          </a:xfrm>
          <a:prstGeom prst="rect">
            <a:avLst/>
          </a:prstGeom>
          <a:solidFill>
            <a:srgbClr val="8E7CC3"/>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13" name="Google Shape;4513;p174"/>
          <p:cNvSpPr/>
          <p:nvPr/>
        </p:nvSpPr>
        <p:spPr>
          <a:xfrm>
            <a:off x="3589776" y="4508972"/>
            <a:ext cx="84000" cy="73200"/>
          </a:xfrm>
          <a:prstGeom prst="rect">
            <a:avLst/>
          </a:prstGeom>
          <a:solidFill>
            <a:srgbClr val="8E7CC3"/>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14" name="Google Shape;4514;p174"/>
          <p:cNvSpPr/>
          <p:nvPr/>
        </p:nvSpPr>
        <p:spPr>
          <a:xfrm>
            <a:off x="3292677" y="4394269"/>
            <a:ext cx="84000" cy="73200"/>
          </a:xfrm>
          <a:prstGeom prst="rect">
            <a:avLst/>
          </a:prstGeom>
          <a:solidFill>
            <a:srgbClr val="8E7CC3"/>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15" name="Google Shape;4515;p174"/>
          <p:cNvSpPr/>
          <p:nvPr/>
        </p:nvSpPr>
        <p:spPr>
          <a:xfrm>
            <a:off x="3270094" y="4468562"/>
            <a:ext cx="84000" cy="73200"/>
          </a:xfrm>
          <a:prstGeom prst="rect">
            <a:avLst/>
          </a:prstGeom>
          <a:solidFill>
            <a:srgbClr val="8E7CC3"/>
          </a:solidFill>
          <a:ln>
            <a:noFill/>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16" name="Google Shape;4516;p174"/>
          <p:cNvSpPr/>
          <p:nvPr/>
        </p:nvSpPr>
        <p:spPr>
          <a:xfrm>
            <a:off x="3001815" y="2725827"/>
            <a:ext cx="980100" cy="854100"/>
          </a:xfrm>
          <a:prstGeom prst="can">
            <a:avLst>
              <a:gd fmla="val 20431" name="adj"/>
            </a:avLst>
          </a:prstGeom>
          <a:noFill/>
          <a:ln cap="flat" cmpd="sng" w="25400">
            <a:solidFill>
              <a:srgbClr val="1B3139"/>
            </a:solidFill>
            <a:prstDash val="solid"/>
            <a:round/>
            <a:headEnd len="sm" w="sm" type="none"/>
            <a:tailEnd len="sm" w="sm" type="none"/>
          </a:ln>
        </p:spPr>
        <p:txBody>
          <a:bodyPr anchorCtr="0" anchor="ctr" bIns="60925" lIns="121875" spcFirstLastPara="1" rIns="121875"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F7F4"/>
              </a:solidFill>
              <a:latin typeface="Arial"/>
              <a:ea typeface="Arial"/>
              <a:cs typeface="Arial"/>
              <a:sym typeface="Arial"/>
            </a:endParaRPr>
          </a:p>
        </p:txBody>
      </p:sp>
      <p:sp>
        <p:nvSpPr>
          <p:cNvPr id="4517" name="Google Shape;4517;p174"/>
          <p:cNvSpPr txBox="1"/>
          <p:nvPr/>
        </p:nvSpPr>
        <p:spPr>
          <a:xfrm>
            <a:off x="1877450" y="1856942"/>
            <a:ext cx="1001700" cy="29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600">
                <a:solidFill>
                  <a:srgbClr val="1B3139"/>
                </a:solidFill>
                <a:latin typeface="DM Sans Medium"/>
                <a:ea typeface="DM Sans Medium"/>
                <a:cs typeface="DM Sans Medium"/>
                <a:sym typeface="DM Sans Medium"/>
              </a:rPr>
              <a:t>1st Hour</a:t>
            </a:r>
            <a:endParaRPr b="0" i="0" sz="1600" u="none" cap="none" strike="noStrike">
              <a:solidFill>
                <a:srgbClr val="1B3139"/>
              </a:solidFill>
              <a:latin typeface="DM Sans Medium"/>
              <a:ea typeface="DM Sans Medium"/>
              <a:cs typeface="DM Sans Medium"/>
              <a:sym typeface="DM Sans Medium"/>
            </a:endParaRPr>
          </a:p>
        </p:txBody>
      </p:sp>
      <p:sp>
        <p:nvSpPr>
          <p:cNvPr id="4518" name="Google Shape;4518;p174"/>
          <p:cNvSpPr txBox="1"/>
          <p:nvPr/>
        </p:nvSpPr>
        <p:spPr>
          <a:xfrm>
            <a:off x="1877450" y="2933232"/>
            <a:ext cx="1001700" cy="29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600">
                <a:solidFill>
                  <a:srgbClr val="1B3139"/>
                </a:solidFill>
                <a:latin typeface="DM Sans Medium"/>
                <a:ea typeface="DM Sans Medium"/>
                <a:cs typeface="DM Sans Medium"/>
                <a:sym typeface="DM Sans Medium"/>
              </a:rPr>
              <a:t>2nd Hour</a:t>
            </a:r>
            <a:endParaRPr b="0" i="0" sz="1600" u="none" cap="none" strike="noStrike">
              <a:solidFill>
                <a:srgbClr val="1B3139"/>
              </a:solidFill>
              <a:latin typeface="DM Sans Medium"/>
              <a:ea typeface="DM Sans Medium"/>
              <a:cs typeface="DM Sans Medium"/>
              <a:sym typeface="DM Sans Medium"/>
            </a:endParaRPr>
          </a:p>
        </p:txBody>
      </p:sp>
      <p:sp>
        <p:nvSpPr>
          <p:cNvPr id="4519" name="Google Shape;4519;p174"/>
          <p:cNvSpPr txBox="1"/>
          <p:nvPr/>
        </p:nvSpPr>
        <p:spPr>
          <a:xfrm>
            <a:off x="1877450" y="3996798"/>
            <a:ext cx="1001700" cy="29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600">
                <a:solidFill>
                  <a:srgbClr val="1B3139"/>
                </a:solidFill>
                <a:latin typeface="DM Sans Medium"/>
                <a:ea typeface="DM Sans Medium"/>
                <a:cs typeface="DM Sans Medium"/>
                <a:sym typeface="DM Sans Medium"/>
              </a:rPr>
              <a:t>3rd Hour</a:t>
            </a:r>
            <a:endParaRPr b="0" i="0" sz="1600" u="none" cap="none" strike="noStrike">
              <a:solidFill>
                <a:srgbClr val="1B3139"/>
              </a:solidFill>
              <a:latin typeface="DM Sans Medium"/>
              <a:ea typeface="DM Sans Medium"/>
              <a:cs typeface="DM Sans Medium"/>
              <a:sym typeface="DM Sans Medium"/>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3" name="Shape 4523"/>
        <p:cNvGrpSpPr/>
        <p:nvPr/>
      </p:nvGrpSpPr>
      <p:grpSpPr>
        <a:xfrm>
          <a:off x="0" y="0"/>
          <a:ext cx="0" cy="0"/>
          <a:chOff x="0" y="0"/>
          <a:chExt cx="0" cy="0"/>
        </a:xfrm>
      </p:grpSpPr>
      <p:sp>
        <p:nvSpPr>
          <p:cNvPr id="4524" name="Google Shape;4524;p175"/>
          <p:cNvSpPr/>
          <p:nvPr/>
        </p:nvSpPr>
        <p:spPr>
          <a:xfrm>
            <a:off x="2112890" y="3543300"/>
            <a:ext cx="1809900" cy="501600"/>
          </a:xfrm>
          <a:prstGeom prst="rect">
            <a:avLst/>
          </a:prstGeom>
          <a:solidFill>
            <a:srgbClr val="B6D7A8"/>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Create bundle project</a:t>
            </a:r>
            <a:endParaRPr sz="1200"/>
          </a:p>
        </p:txBody>
      </p:sp>
      <p:sp>
        <p:nvSpPr>
          <p:cNvPr id="4525" name="Google Shape;4525;p175"/>
          <p:cNvSpPr/>
          <p:nvPr/>
        </p:nvSpPr>
        <p:spPr>
          <a:xfrm>
            <a:off x="65425" y="3543300"/>
            <a:ext cx="1809900" cy="501600"/>
          </a:xfrm>
          <a:prstGeom prst="rect">
            <a:avLst/>
          </a:prstGeom>
          <a:solidFill>
            <a:srgbClr val="D0E0E3"/>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Existing ETL pipeline</a:t>
            </a:r>
            <a:endParaRPr sz="1200"/>
          </a:p>
        </p:txBody>
      </p:sp>
      <p:sp>
        <p:nvSpPr>
          <p:cNvPr id="4526" name="Google Shape;4526;p175"/>
          <p:cNvSpPr/>
          <p:nvPr/>
        </p:nvSpPr>
        <p:spPr>
          <a:xfrm>
            <a:off x="4160355" y="3543300"/>
            <a:ext cx="1809900" cy="501600"/>
          </a:xfrm>
          <a:prstGeom prst="rect">
            <a:avLst/>
          </a:prstGeom>
          <a:solidFill>
            <a:srgbClr val="B6D7A8"/>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Generate bundle config</a:t>
            </a:r>
            <a:endParaRPr sz="1200"/>
          </a:p>
        </p:txBody>
      </p:sp>
      <p:sp>
        <p:nvSpPr>
          <p:cNvPr id="4527" name="Google Shape;4527;p175"/>
          <p:cNvSpPr/>
          <p:nvPr/>
        </p:nvSpPr>
        <p:spPr>
          <a:xfrm>
            <a:off x="6207820" y="3543300"/>
            <a:ext cx="1809900" cy="501600"/>
          </a:xfrm>
          <a:prstGeom prst="rect">
            <a:avLst/>
          </a:prstGeom>
          <a:solidFill>
            <a:srgbClr val="B6D7A8"/>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Review settings</a:t>
            </a:r>
            <a:endParaRPr sz="1200"/>
          </a:p>
        </p:txBody>
      </p:sp>
      <p:sp>
        <p:nvSpPr>
          <p:cNvPr id="4528" name="Google Shape;4528;p175"/>
          <p:cNvSpPr/>
          <p:nvPr/>
        </p:nvSpPr>
        <p:spPr>
          <a:xfrm>
            <a:off x="8255285" y="3543300"/>
            <a:ext cx="1809900" cy="501600"/>
          </a:xfrm>
          <a:prstGeom prst="rect">
            <a:avLst/>
          </a:prstGeom>
          <a:solidFill>
            <a:srgbClr val="B6D7A8"/>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Bind pipeline</a:t>
            </a:r>
            <a:endParaRPr sz="1200"/>
          </a:p>
        </p:txBody>
      </p:sp>
      <p:sp>
        <p:nvSpPr>
          <p:cNvPr id="4529" name="Google Shape;4529;p175"/>
          <p:cNvSpPr/>
          <p:nvPr/>
        </p:nvSpPr>
        <p:spPr>
          <a:xfrm>
            <a:off x="10302750" y="3543300"/>
            <a:ext cx="1809900" cy="501600"/>
          </a:xfrm>
          <a:prstGeom prst="rect">
            <a:avLst/>
          </a:prstGeom>
          <a:solidFill>
            <a:srgbClr val="FFF2CC"/>
          </a:solid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Deploy bundle</a:t>
            </a:r>
            <a:endParaRPr sz="1200"/>
          </a:p>
        </p:txBody>
      </p:sp>
      <p:cxnSp>
        <p:nvCxnSpPr>
          <p:cNvPr id="4530" name="Google Shape;4530;p175"/>
          <p:cNvCxnSpPr>
            <a:stCxn id="4525" idx="3"/>
            <a:endCxn id="4524" idx="1"/>
          </p:cNvCxnSpPr>
          <p:nvPr/>
        </p:nvCxnSpPr>
        <p:spPr>
          <a:xfrm>
            <a:off x="1875325" y="3794100"/>
            <a:ext cx="237600" cy="0"/>
          </a:xfrm>
          <a:prstGeom prst="straightConnector1">
            <a:avLst/>
          </a:prstGeom>
          <a:noFill/>
          <a:ln cap="flat" cmpd="sng" w="9525">
            <a:solidFill>
              <a:schemeClr val="dk2"/>
            </a:solidFill>
            <a:prstDash val="solid"/>
            <a:round/>
            <a:headEnd len="med" w="med" type="none"/>
            <a:tailEnd len="med" w="med" type="triangle"/>
          </a:ln>
        </p:spPr>
      </p:cxnSp>
      <p:cxnSp>
        <p:nvCxnSpPr>
          <p:cNvPr id="4531" name="Google Shape;4531;p175"/>
          <p:cNvCxnSpPr>
            <a:stCxn id="4527" idx="3"/>
            <a:endCxn id="4528" idx="1"/>
          </p:cNvCxnSpPr>
          <p:nvPr/>
        </p:nvCxnSpPr>
        <p:spPr>
          <a:xfrm>
            <a:off x="8017720" y="3794100"/>
            <a:ext cx="237600" cy="0"/>
          </a:xfrm>
          <a:prstGeom prst="straightConnector1">
            <a:avLst/>
          </a:prstGeom>
          <a:noFill/>
          <a:ln cap="flat" cmpd="sng" w="9525">
            <a:solidFill>
              <a:schemeClr val="dk2"/>
            </a:solidFill>
            <a:prstDash val="solid"/>
            <a:round/>
            <a:headEnd len="med" w="med" type="none"/>
            <a:tailEnd len="med" w="med" type="triangle"/>
          </a:ln>
        </p:spPr>
      </p:cxnSp>
      <p:cxnSp>
        <p:nvCxnSpPr>
          <p:cNvPr id="4532" name="Google Shape;4532;p175"/>
          <p:cNvCxnSpPr>
            <a:stCxn id="4524" idx="3"/>
            <a:endCxn id="4526" idx="1"/>
          </p:cNvCxnSpPr>
          <p:nvPr/>
        </p:nvCxnSpPr>
        <p:spPr>
          <a:xfrm>
            <a:off x="3922790" y="3794100"/>
            <a:ext cx="237600" cy="0"/>
          </a:xfrm>
          <a:prstGeom prst="straightConnector1">
            <a:avLst/>
          </a:prstGeom>
          <a:noFill/>
          <a:ln cap="flat" cmpd="sng" w="9525">
            <a:solidFill>
              <a:schemeClr val="dk2"/>
            </a:solidFill>
            <a:prstDash val="solid"/>
            <a:round/>
            <a:headEnd len="med" w="med" type="none"/>
            <a:tailEnd len="med" w="med" type="triangle"/>
          </a:ln>
        </p:spPr>
      </p:cxnSp>
      <p:cxnSp>
        <p:nvCxnSpPr>
          <p:cNvPr id="4533" name="Google Shape;4533;p175"/>
          <p:cNvCxnSpPr>
            <a:stCxn id="4526" idx="3"/>
            <a:endCxn id="4527" idx="1"/>
          </p:cNvCxnSpPr>
          <p:nvPr/>
        </p:nvCxnSpPr>
        <p:spPr>
          <a:xfrm>
            <a:off x="5970255" y="3794100"/>
            <a:ext cx="237600" cy="0"/>
          </a:xfrm>
          <a:prstGeom prst="straightConnector1">
            <a:avLst/>
          </a:prstGeom>
          <a:noFill/>
          <a:ln cap="flat" cmpd="sng" w="9525">
            <a:solidFill>
              <a:schemeClr val="dk2"/>
            </a:solidFill>
            <a:prstDash val="solid"/>
            <a:round/>
            <a:headEnd len="med" w="med" type="none"/>
            <a:tailEnd len="med" w="med" type="triangle"/>
          </a:ln>
        </p:spPr>
      </p:cxnSp>
      <p:cxnSp>
        <p:nvCxnSpPr>
          <p:cNvPr id="4534" name="Google Shape;4534;p175"/>
          <p:cNvCxnSpPr>
            <a:stCxn id="4528" idx="3"/>
            <a:endCxn id="4529" idx="1"/>
          </p:cNvCxnSpPr>
          <p:nvPr/>
        </p:nvCxnSpPr>
        <p:spPr>
          <a:xfrm>
            <a:off x="10065185" y="3794100"/>
            <a:ext cx="237600" cy="0"/>
          </a:xfrm>
          <a:prstGeom prst="straightConnector1">
            <a:avLst/>
          </a:prstGeom>
          <a:noFill/>
          <a:ln cap="flat" cmpd="sng" w="9525">
            <a:solidFill>
              <a:schemeClr val="dk2"/>
            </a:solidFill>
            <a:prstDash val="solid"/>
            <a:round/>
            <a:headEnd len="med" w="med" type="none"/>
            <a:tailEnd len="med" w="med" type="triangle"/>
          </a:ln>
        </p:spPr>
      </p:cxnSp>
      <p:sp>
        <p:nvSpPr>
          <p:cNvPr id="4535" name="Google Shape;4535;p175"/>
          <p:cNvSpPr txBox="1"/>
          <p:nvPr/>
        </p:nvSpPr>
        <p:spPr>
          <a:xfrm>
            <a:off x="0" y="0"/>
            <a:ext cx="105129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a:ea typeface="DM Sans"/>
                <a:cs typeface="DM Sans"/>
                <a:sym typeface="DM Sans"/>
              </a:rPr>
              <a:t>/dlt/convert-dlt-pipeline-dabs-process.png</a:t>
            </a:r>
            <a:endParaRPr sz="900">
              <a:solidFill>
                <a:schemeClr val="accent1"/>
              </a:solidFill>
              <a:latin typeface="DM Sans"/>
              <a:ea typeface="DM Sans"/>
              <a:cs typeface="DM Sans"/>
              <a:sym typeface="DM San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9" name="Shape 4539"/>
        <p:cNvGrpSpPr/>
        <p:nvPr/>
      </p:nvGrpSpPr>
      <p:grpSpPr>
        <a:xfrm>
          <a:off x="0" y="0"/>
          <a:ext cx="0" cy="0"/>
          <a:chOff x="0" y="0"/>
          <a:chExt cx="0" cy="0"/>
        </a:xfrm>
      </p:grpSpPr>
      <p:sp>
        <p:nvSpPr>
          <p:cNvPr id="4540" name="Google Shape;4540;p176"/>
          <p:cNvSpPr/>
          <p:nvPr/>
        </p:nvSpPr>
        <p:spPr>
          <a:xfrm>
            <a:off x="795875" y="2169600"/>
            <a:ext cx="2245800" cy="2147700"/>
          </a:xfrm>
          <a:prstGeom prst="roundRect">
            <a:avLst>
              <a:gd fmla="val 7615" name="adj"/>
            </a:avLst>
          </a:prstGeom>
          <a:solidFill>
            <a:schemeClr val="lt2"/>
          </a:solidFill>
          <a:ln cap="flat" cmpd="sng" w="9525">
            <a:solidFill>
              <a:srgbClr val="00875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325C69"/>
                </a:solidFill>
                <a:latin typeface="DM Sans"/>
                <a:ea typeface="DM Sans"/>
                <a:cs typeface="DM Sans"/>
                <a:sym typeface="DM Sans"/>
              </a:rPr>
              <a:t>Deletions</a:t>
            </a:r>
            <a:endParaRPr b="1" sz="1800">
              <a:solidFill>
                <a:srgbClr val="325C69"/>
              </a:solidFill>
              <a:latin typeface="DM Sans"/>
              <a:ea typeface="DM Sans"/>
              <a:cs typeface="DM Sans"/>
              <a:sym typeface="DM Sans"/>
            </a:endParaRPr>
          </a:p>
        </p:txBody>
      </p:sp>
      <p:sp>
        <p:nvSpPr>
          <p:cNvPr id="4541" name="Google Shape;4541;p176"/>
          <p:cNvSpPr/>
          <p:nvPr/>
        </p:nvSpPr>
        <p:spPr>
          <a:xfrm>
            <a:off x="3886675" y="2834575"/>
            <a:ext cx="1820700" cy="817800"/>
          </a:xfrm>
          <a:prstGeom prst="roundRect">
            <a:avLst>
              <a:gd fmla="val 9333" name="adj"/>
            </a:avLst>
          </a:prstGeom>
          <a:solidFill>
            <a:schemeClr val="lt2"/>
          </a:solidFill>
          <a:ln cap="flat" cmpd="sng" w="9525">
            <a:solidFill>
              <a:srgbClr val="0087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325C69"/>
                </a:solidFill>
                <a:latin typeface="DM Sans"/>
                <a:ea typeface="DM Sans"/>
                <a:cs typeface="DM Sans"/>
                <a:sym typeface="DM Sans"/>
              </a:rPr>
              <a:t>Source</a:t>
            </a:r>
            <a:endParaRPr b="1" sz="1800">
              <a:solidFill>
                <a:srgbClr val="325C69"/>
              </a:solidFill>
              <a:latin typeface="DM Sans"/>
              <a:ea typeface="DM Sans"/>
              <a:cs typeface="DM Sans"/>
              <a:sym typeface="DM Sans"/>
            </a:endParaRPr>
          </a:p>
        </p:txBody>
      </p:sp>
      <p:sp>
        <p:nvSpPr>
          <p:cNvPr id="4542" name="Google Shape;4542;p176"/>
          <p:cNvSpPr/>
          <p:nvPr/>
        </p:nvSpPr>
        <p:spPr>
          <a:xfrm>
            <a:off x="6552375" y="2834575"/>
            <a:ext cx="1820700" cy="817800"/>
          </a:xfrm>
          <a:prstGeom prst="roundRect">
            <a:avLst>
              <a:gd fmla="val 8000" name="adj"/>
            </a:avLst>
          </a:prstGeom>
          <a:solidFill>
            <a:schemeClr val="lt2"/>
          </a:solidFill>
          <a:ln cap="flat" cmpd="sng" w="9525">
            <a:solidFill>
              <a:srgbClr val="0087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325C69"/>
                </a:solidFill>
                <a:latin typeface="DM Sans"/>
                <a:ea typeface="DM Sans"/>
                <a:cs typeface="DM Sans"/>
                <a:sym typeface="DM Sans"/>
              </a:rPr>
              <a:t>Materialized view</a:t>
            </a:r>
            <a:endParaRPr b="1" sz="1800">
              <a:solidFill>
                <a:srgbClr val="325C69"/>
              </a:solidFill>
              <a:latin typeface="DM Sans"/>
              <a:ea typeface="DM Sans"/>
              <a:cs typeface="DM Sans"/>
              <a:sym typeface="DM Sans"/>
            </a:endParaRPr>
          </a:p>
        </p:txBody>
      </p:sp>
      <p:sp>
        <p:nvSpPr>
          <p:cNvPr id="4543" name="Google Shape;4543;p176"/>
          <p:cNvSpPr/>
          <p:nvPr/>
        </p:nvSpPr>
        <p:spPr>
          <a:xfrm>
            <a:off x="981200" y="2714700"/>
            <a:ext cx="1864500" cy="14064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lang="en">
                <a:solidFill>
                  <a:schemeClr val="dk2"/>
                </a:solidFill>
                <a:latin typeface="DM Sans"/>
                <a:ea typeface="DM Sans"/>
                <a:cs typeface="DM Sans"/>
                <a:sym typeface="DM Sans"/>
              </a:rPr>
              <a:t>UPDATE/DELETE</a:t>
            </a:r>
            <a:endParaRPr>
              <a:solidFill>
                <a:schemeClr val="dk2"/>
              </a:solidFill>
              <a:latin typeface="DM Sans"/>
              <a:ea typeface="DM Sans"/>
              <a:cs typeface="DM Sans"/>
              <a:sym typeface="DM Sans"/>
            </a:endParaRPr>
          </a:p>
          <a:p>
            <a:pPr indent="0" lvl="0" marL="0" rtl="0" algn="ctr">
              <a:lnSpc>
                <a:spcPct val="150000"/>
              </a:lnSpc>
              <a:spcBef>
                <a:spcPts val="0"/>
              </a:spcBef>
              <a:spcAft>
                <a:spcPts val="0"/>
              </a:spcAft>
              <a:buNone/>
            </a:pPr>
            <a:r>
              <a:rPr lang="en">
                <a:solidFill>
                  <a:schemeClr val="dk2"/>
                </a:solidFill>
                <a:latin typeface="DM Sans"/>
                <a:ea typeface="DM Sans"/>
                <a:cs typeface="DM Sans"/>
                <a:sym typeface="DM Sans"/>
              </a:rPr>
              <a:t>AUTO CDC</a:t>
            </a:r>
            <a:endParaRPr>
              <a:solidFill>
                <a:schemeClr val="dk2"/>
              </a:solidFill>
              <a:latin typeface="DM Sans"/>
              <a:ea typeface="DM Sans"/>
              <a:cs typeface="DM Sans"/>
              <a:sym typeface="DM Sans"/>
            </a:endParaRPr>
          </a:p>
          <a:p>
            <a:pPr indent="0" lvl="0" marL="0" rtl="0" algn="ctr">
              <a:lnSpc>
                <a:spcPct val="150000"/>
              </a:lnSpc>
              <a:spcBef>
                <a:spcPts val="0"/>
              </a:spcBef>
              <a:spcAft>
                <a:spcPts val="0"/>
              </a:spcAft>
              <a:buNone/>
            </a:pPr>
            <a:r>
              <a:rPr lang="en">
                <a:solidFill>
                  <a:schemeClr val="dk2"/>
                </a:solidFill>
                <a:latin typeface="DM Sans"/>
                <a:ea typeface="DM Sans"/>
                <a:cs typeface="DM Sans"/>
                <a:sym typeface="DM Sans"/>
              </a:rPr>
              <a:t>GROUP BY</a:t>
            </a:r>
            <a:endParaRPr>
              <a:solidFill>
                <a:schemeClr val="dk2"/>
              </a:solidFill>
              <a:latin typeface="DM Sans"/>
              <a:ea typeface="DM Sans"/>
              <a:cs typeface="DM Sans"/>
              <a:sym typeface="DM Sans"/>
            </a:endParaRPr>
          </a:p>
          <a:p>
            <a:pPr indent="0" lvl="0" marL="0" rtl="0" algn="ctr">
              <a:lnSpc>
                <a:spcPct val="100000"/>
              </a:lnSpc>
              <a:spcBef>
                <a:spcPts val="0"/>
              </a:spcBef>
              <a:spcAft>
                <a:spcPts val="0"/>
              </a:spcAft>
              <a:buNone/>
            </a:pPr>
            <a:r>
              <a:rPr lang="en">
                <a:solidFill>
                  <a:schemeClr val="dk2"/>
                </a:solidFill>
                <a:latin typeface="DM Sans"/>
                <a:ea typeface="DM Sans"/>
                <a:cs typeface="DM Sans"/>
                <a:sym typeface="DM Sans"/>
              </a:rPr>
              <a:t>INSERT</a:t>
            </a:r>
            <a:endParaRPr>
              <a:solidFill>
                <a:schemeClr val="dk2"/>
              </a:solidFill>
              <a:latin typeface="DM Sans"/>
              <a:ea typeface="DM Sans"/>
              <a:cs typeface="DM Sans"/>
              <a:sym typeface="DM Sans"/>
            </a:endParaRPr>
          </a:p>
        </p:txBody>
      </p:sp>
      <p:cxnSp>
        <p:nvCxnSpPr>
          <p:cNvPr id="4544" name="Google Shape;4544;p176"/>
          <p:cNvCxnSpPr>
            <a:stCxn id="4540" idx="3"/>
            <a:endCxn id="4541" idx="1"/>
          </p:cNvCxnSpPr>
          <p:nvPr/>
        </p:nvCxnSpPr>
        <p:spPr>
          <a:xfrm>
            <a:off x="3041675" y="3243450"/>
            <a:ext cx="845100" cy="0"/>
          </a:xfrm>
          <a:prstGeom prst="straightConnector1">
            <a:avLst/>
          </a:prstGeom>
          <a:noFill/>
          <a:ln cap="flat" cmpd="sng" w="19050">
            <a:solidFill>
              <a:schemeClr val="dk2"/>
            </a:solidFill>
            <a:prstDash val="solid"/>
            <a:round/>
            <a:headEnd len="med" w="med" type="none"/>
            <a:tailEnd len="med" w="med" type="triangle"/>
          </a:ln>
        </p:spPr>
      </p:cxnSp>
      <p:cxnSp>
        <p:nvCxnSpPr>
          <p:cNvPr id="4545" name="Google Shape;4545;p176"/>
          <p:cNvCxnSpPr>
            <a:stCxn id="4541" idx="3"/>
            <a:endCxn id="4542" idx="1"/>
          </p:cNvCxnSpPr>
          <p:nvPr/>
        </p:nvCxnSpPr>
        <p:spPr>
          <a:xfrm>
            <a:off x="5707375" y="3243475"/>
            <a:ext cx="845100" cy="0"/>
          </a:xfrm>
          <a:prstGeom prst="straightConnector1">
            <a:avLst/>
          </a:prstGeom>
          <a:noFill/>
          <a:ln cap="flat" cmpd="sng" w="19050">
            <a:solidFill>
              <a:schemeClr val="dk2"/>
            </a:solidFill>
            <a:prstDash val="solid"/>
            <a:round/>
            <a:headEnd len="med" w="med" type="none"/>
            <a:tailEnd len="med" w="med" type="triangle"/>
          </a:ln>
        </p:spPr>
      </p:cxnSp>
      <p:sp>
        <p:nvSpPr>
          <p:cNvPr id="4546" name="Google Shape;4546;p176"/>
          <p:cNvSpPr txBox="1"/>
          <p:nvPr/>
        </p:nvSpPr>
        <p:spPr>
          <a:xfrm>
            <a:off x="0" y="0"/>
            <a:ext cx="105129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a:ea typeface="DM Sans"/>
                <a:cs typeface="DM Sans"/>
                <a:sym typeface="DM Sans"/>
              </a:rPr>
              <a:t>/images/security/privacy/gdpr-get-started-materialized-views.png</a:t>
            </a:r>
            <a:endParaRPr sz="900">
              <a:solidFill>
                <a:schemeClr val="accent1"/>
              </a:solidFill>
              <a:latin typeface="DM Sans"/>
              <a:ea typeface="DM Sans"/>
              <a:cs typeface="DM Sans"/>
              <a:sym typeface="DM San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0" name="Shape 4550"/>
        <p:cNvGrpSpPr/>
        <p:nvPr/>
      </p:nvGrpSpPr>
      <p:grpSpPr>
        <a:xfrm>
          <a:off x="0" y="0"/>
          <a:ext cx="0" cy="0"/>
          <a:chOff x="0" y="0"/>
          <a:chExt cx="0" cy="0"/>
        </a:xfrm>
      </p:grpSpPr>
      <p:sp>
        <p:nvSpPr>
          <p:cNvPr id="4551" name="Google Shape;4551;p177"/>
          <p:cNvSpPr/>
          <p:nvPr/>
        </p:nvSpPr>
        <p:spPr>
          <a:xfrm>
            <a:off x="795875" y="2169600"/>
            <a:ext cx="2245800" cy="3597900"/>
          </a:xfrm>
          <a:prstGeom prst="roundRect">
            <a:avLst>
              <a:gd fmla="val 7615" name="adj"/>
            </a:avLst>
          </a:prstGeom>
          <a:solidFill>
            <a:schemeClr val="lt2"/>
          </a:solidFill>
          <a:ln cap="flat" cmpd="sng" w="9525">
            <a:solidFill>
              <a:srgbClr val="00875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325C69"/>
                </a:solidFill>
                <a:latin typeface="DM Sans"/>
                <a:ea typeface="DM Sans"/>
                <a:cs typeface="DM Sans"/>
                <a:sym typeface="DM Sans"/>
              </a:rPr>
              <a:t>Deletions</a:t>
            </a:r>
            <a:endParaRPr b="1" sz="1800">
              <a:solidFill>
                <a:srgbClr val="325C69"/>
              </a:solidFill>
              <a:latin typeface="DM Sans"/>
              <a:ea typeface="DM Sans"/>
              <a:cs typeface="DM Sans"/>
              <a:sym typeface="DM Sans"/>
            </a:endParaRPr>
          </a:p>
        </p:txBody>
      </p:sp>
      <p:sp>
        <p:nvSpPr>
          <p:cNvPr id="4552" name="Google Shape;4552;p177"/>
          <p:cNvSpPr/>
          <p:nvPr/>
        </p:nvSpPr>
        <p:spPr>
          <a:xfrm>
            <a:off x="3625025" y="3020100"/>
            <a:ext cx="1820700" cy="817800"/>
          </a:xfrm>
          <a:prstGeom prst="roundRect">
            <a:avLst>
              <a:gd fmla="val 9333" name="adj"/>
            </a:avLst>
          </a:prstGeom>
          <a:solidFill>
            <a:schemeClr val="lt2"/>
          </a:solidFill>
          <a:ln cap="flat" cmpd="sng" w="9525">
            <a:solidFill>
              <a:srgbClr val="0087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325C69"/>
                </a:solidFill>
                <a:latin typeface="DM Sans"/>
                <a:ea typeface="DM Sans"/>
                <a:cs typeface="DM Sans"/>
                <a:sym typeface="DM Sans"/>
              </a:rPr>
              <a:t>Source</a:t>
            </a:r>
            <a:endParaRPr b="1" sz="1800">
              <a:solidFill>
                <a:srgbClr val="325C69"/>
              </a:solidFill>
              <a:latin typeface="DM Sans"/>
              <a:ea typeface="DM Sans"/>
              <a:cs typeface="DM Sans"/>
              <a:sym typeface="DM Sans"/>
            </a:endParaRPr>
          </a:p>
        </p:txBody>
      </p:sp>
      <p:sp>
        <p:nvSpPr>
          <p:cNvPr id="4553" name="Google Shape;4553;p177"/>
          <p:cNvSpPr/>
          <p:nvPr/>
        </p:nvSpPr>
        <p:spPr>
          <a:xfrm>
            <a:off x="7228325" y="3020100"/>
            <a:ext cx="1820700" cy="817800"/>
          </a:xfrm>
          <a:prstGeom prst="roundRect">
            <a:avLst>
              <a:gd fmla="val 8000" name="adj"/>
            </a:avLst>
          </a:prstGeom>
          <a:solidFill>
            <a:schemeClr val="lt2"/>
          </a:solidFill>
          <a:ln cap="flat" cmpd="sng" w="9525">
            <a:solidFill>
              <a:srgbClr val="0087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325C69"/>
                </a:solidFill>
                <a:latin typeface="DM Sans"/>
                <a:ea typeface="DM Sans"/>
                <a:cs typeface="DM Sans"/>
                <a:sym typeface="DM Sans"/>
              </a:rPr>
              <a:t>Streaming table</a:t>
            </a:r>
            <a:endParaRPr b="1" sz="1800">
              <a:solidFill>
                <a:srgbClr val="325C69"/>
              </a:solidFill>
              <a:latin typeface="DM Sans"/>
              <a:ea typeface="DM Sans"/>
              <a:cs typeface="DM Sans"/>
              <a:sym typeface="DM Sans"/>
            </a:endParaRPr>
          </a:p>
        </p:txBody>
      </p:sp>
      <p:sp>
        <p:nvSpPr>
          <p:cNvPr id="4554" name="Google Shape;4554;p177"/>
          <p:cNvSpPr/>
          <p:nvPr/>
        </p:nvSpPr>
        <p:spPr>
          <a:xfrm>
            <a:off x="981200" y="2714700"/>
            <a:ext cx="1864500" cy="14064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lang="en">
                <a:solidFill>
                  <a:schemeClr val="dk2"/>
                </a:solidFill>
                <a:latin typeface="DM Sans"/>
                <a:ea typeface="DM Sans"/>
                <a:cs typeface="DM Sans"/>
                <a:sym typeface="DM Sans"/>
              </a:rPr>
              <a:t>UPDATE/DELETE</a:t>
            </a:r>
            <a:endParaRPr>
              <a:solidFill>
                <a:schemeClr val="dk2"/>
              </a:solidFill>
              <a:latin typeface="DM Sans"/>
              <a:ea typeface="DM Sans"/>
              <a:cs typeface="DM Sans"/>
              <a:sym typeface="DM Sans"/>
            </a:endParaRPr>
          </a:p>
          <a:p>
            <a:pPr indent="0" lvl="0" marL="0" rtl="0" algn="ctr">
              <a:lnSpc>
                <a:spcPct val="150000"/>
              </a:lnSpc>
              <a:spcBef>
                <a:spcPts val="0"/>
              </a:spcBef>
              <a:spcAft>
                <a:spcPts val="0"/>
              </a:spcAft>
              <a:buNone/>
            </a:pPr>
            <a:r>
              <a:rPr lang="en">
                <a:solidFill>
                  <a:schemeClr val="dk2"/>
                </a:solidFill>
                <a:latin typeface="DM Sans"/>
                <a:ea typeface="DM Sans"/>
                <a:cs typeface="DM Sans"/>
                <a:sym typeface="DM Sans"/>
              </a:rPr>
              <a:t>AUTO CDC</a:t>
            </a:r>
            <a:endParaRPr>
              <a:solidFill>
                <a:schemeClr val="dk2"/>
              </a:solidFill>
              <a:latin typeface="DM Sans"/>
              <a:ea typeface="DM Sans"/>
              <a:cs typeface="DM Sans"/>
              <a:sym typeface="DM Sans"/>
            </a:endParaRPr>
          </a:p>
          <a:p>
            <a:pPr indent="0" lvl="0" marL="0" rtl="0" algn="ctr">
              <a:lnSpc>
                <a:spcPct val="100000"/>
              </a:lnSpc>
              <a:spcBef>
                <a:spcPts val="0"/>
              </a:spcBef>
              <a:spcAft>
                <a:spcPts val="0"/>
              </a:spcAft>
              <a:buNone/>
            </a:pPr>
            <a:r>
              <a:rPr lang="en">
                <a:solidFill>
                  <a:schemeClr val="dk2"/>
                </a:solidFill>
                <a:latin typeface="DM Sans"/>
                <a:ea typeface="DM Sans"/>
                <a:cs typeface="DM Sans"/>
                <a:sym typeface="DM Sans"/>
              </a:rPr>
              <a:t>GROUP BY</a:t>
            </a:r>
            <a:endParaRPr>
              <a:solidFill>
                <a:schemeClr val="dk2"/>
              </a:solidFill>
              <a:latin typeface="DM Sans"/>
              <a:ea typeface="DM Sans"/>
              <a:cs typeface="DM Sans"/>
              <a:sym typeface="DM Sans"/>
            </a:endParaRPr>
          </a:p>
        </p:txBody>
      </p:sp>
      <p:cxnSp>
        <p:nvCxnSpPr>
          <p:cNvPr id="4555" name="Google Shape;4555;p177"/>
          <p:cNvCxnSpPr>
            <a:stCxn id="4554" idx="3"/>
            <a:endCxn id="4552" idx="1"/>
          </p:cNvCxnSpPr>
          <p:nvPr/>
        </p:nvCxnSpPr>
        <p:spPr>
          <a:xfrm>
            <a:off x="2845700" y="3417900"/>
            <a:ext cx="779400" cy="11100"/>
          </a:xfrm>
          <a:prstGeom prst="straightConnector1">
            <a:avLst/>
          </a:prstGeom>
          <a:noFill/>
          <a:ln cap="flat" cmpd="sng" w="19050">
            <a:solidFill>
              <a:schemeClr val="dk2"/>
            </a:solidFill>
            <a:prstDash val="solid"/>
            <a:round/>
            <a:headEnd len="med" w="med" type="none"/>
            <a:tailEnd len="med" w="med" type="triangle"/>
          </a:ln>
        </p:spPr>
      </p:cxnSp>
      <p:cxnSp>
        <p:nvCxnSpPr>
          <p:cNvPr id="4556" name="Google Shape;4556;p177"/>
          <p:cNvCxnSpPr>
            <a:stCxn id="4552" idx="3"/>
            <a:endCxn id="4553" idx="1"/>
          </p:cNvCxnSpPr>
          <p:nvPr/>
        </p:nvCxnSpPr>
        <p:spPr>
          <a:xfrm>
            <a:off x="5445725" y="3429000"/>
            <a:ext cx="1782600" cy="0"/>
          </a:xfrm>
          <a:prstGeom prst="straightConnector1">
            <a:avLst/>
          </a:prstGeom>
          <a:noFill/>
          <a:ln cap="flat" cmpd="sng" w="19050">
            <a:solidFill>
              <a:srgbClr val="FF3621"/>
            </a:solidFill>
            <a:prstDash val="solid"/>
            <a:round/>
            <a:headEnd len="med" w="med" type="none"/>
            <a:tailEnd len="med" w="med" type="triangle"/>
          </a:ln>
        </p:spPr>
      </p:cxnSp>
      <p:sp>
        <p:nvSpPr>
          <p:cNvPr id="4557" name="Google Shape;4557;p177"/>
          <p:cNvSpPr txBox="1"/>
          <p:nvPr/>
        </p:nvSpPr>
        <p:spPr>
          <a:xfrm>
            <a:off x="0" y="0"/>
            <a:ext cx="105129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a:ea typeface="DM Sans"/>
                <a:cs typeface="DM Sans"/>
                <a:sym typeface="DM Sans"/>
              </a:rPr>
              <a:t>/images/security/privacy/gdpr-get-started-streaming.png</a:t>
            </a:r>
            <a:endParaRPr sz="900">
              <a:solidFill>
                <a:schemeClr val="accent1"/>
              </a:solidFill>
              <a:latin typeface="DM Sans"/>
              <a:ea typeface="DM Sans"/>
              <a:cs typeface="DM Sans"/>
              <a:sym typeface="DM Sans"/>
            </a:endParaRPr>
          </a:p>
        </p:txBody>
      </p:sp>
      <p:sp>
        <p:nvSpPr>
          <p:cNvPr id="4558" name="Google Shape;4558;p177"/>
          <p:cNvSpPr/>
          <p:nvPr/>
        </p:nvSpPr>
        <p:spPr>
          <a:xfrm>
            <a:off x="986525" y="4361100"/>
            <a:ext cx="1864500" cy="12210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DM Sans"/>
                <a:ea typeface="DM Sans"/>
                <a:cs typeface="DM Sans"/>
                <a:sym typeface="DM Sans"/>
              </a:rPr>
              <a:t>INSERT</a:t>
            </a:r>
            <a:endParaRPr>
              <a:solidFill>
                <a:schemeClr val="dk2"/>
              </a:solidFill>
              <a:latin typeface="DM Sans"/>
              <a:ea typeface="DM Sans"/>
              <a:cs typeface="DM Sans"/>
              <a:sym typeface="DM Sans"/>
            </a:endParaRPr>
          </a:p>
        </p:txBody>
      </p:sp>
      <p:sp>
        <p:nvSpPr>
          <p:cNvPr id="4559" name="Google Shape;4559;p177"/>
          <p:cNvSpPr/>
          <p:nvPr/>
        </p:nvSpPr>
        <p:spPr>
          <a:xfrm>
            <a:off x="3625025" y="4562700"/>
            <a:ext cx="1820700" cy="817800"/>
          </a:xfrm>
          <a:prstGeom prst="roundRect">
            <a:avLst>
              <a:gd fmla="val 9333" name="adj"/>
            </a:avLst>
          </a:prstGeom>
          <a:solidFill>
            <a:schemeClr val="lt2"/>
          </a:solidFill>
          <a:ln cap="flat" cmpd="sng" w="9525">
            <a:solidFill>
              <a:srgbClr val="0087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325C69"/>
                </a:solidFill>
                <a:latin typeface="DM Sans"/>
                <a:ea typeface="DM Sans"/>
                <a:cs typeface="DM Sans"/>
                <a:sym typeface="DM Sans"/>
              </a:rPr>
              <a:t>Source</a:t>
            </a:r>
            <a:endParaRPr b="1" sz="1800">
              <a:solidFill>
                <a:srgbClr val="325C69"/>
              </a:solidFill>
              <a:latin typeface="DM Sans"/>
              <a:ea typeface="DM Sans"/>
              <a:cs typeface="DM Sans"/>
              <a:sym typeface="DM Sans"/>
            </a:endParaRPr>
          </a:p>
        </p:txBody>
      </p:sp>
      <p:sp>
        <p:nvSpPr>
          <p:cNvPr id="4560" name="Google Shape;4560;p177"/>
          <p:cNvSpPr/>
          <p:nvPr/>
        </p:nvSpPr>
        <p:spPr>
          <a:xfrm>
            <a:off x="7228325" y="4562700"/>
            <a:ext cx="1820700" cy="817800"/>
          </a:xfrm>
          <a:prstGeom prst="roundRect">
            <a:avLst>
              <a:gd fmla="val 8000" name="adj"/>
            </a:avLst>
          </a:prstGeom>
          <a:solidFill>
            <a:schemeClr val="lt2"/>
          </a:solidFill>
          <a:ln cap="flat" cmpd="sng" w="9525">
            <a:solidFill>
              <a:srgbClr val="0087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325C69"/>
                </a:solidFill>
                <a:latin typeface="DM Sans"/>
                <a:ea typeface="DM Sans"/>
                <a:cs typeface="DM Sans"/>
                <a:sym typeface="DM Sans"/>
              </a:rPr>
              <a:t>Streaming table</a:t>
            </a:r>
            <a:endParaRPr b="1" sz="1800">
              <a:solidFill>
                <a:srgbClr val="325C69"/>
              </a:solidFill>
              <a:latin typeface="DM Sans"/>
              <a:ea typeface="DM Sans"/>
              <a:cs typeface="DM Sans"/>
              <a:sym typeface="DM Sans"/>
            </a:endParaRPr>
          </a:p>
        </p:txBody>
      </p:sp>
      <p:cxnSp>
        <p:nvCxnSpPr>
          <p:cNvPr id="4561" name="Google Shape;4561;p177"/>
          <p:cNvCxnSpPr>
            <a:endCxn id="4559" idx="1"/>
          </p:cNvCxnSpPr>
          <p:nvPr/>
        </p:nvCxnSpPr>
        <p:spPr>
          <a:xfrm>
            <a:off x="2845625" y="4960500"/>
            <a:ext cx="779400" cy="11100"/>
          </a:xfrm>
          <a:prstGeom prst="straightConnector1">
            <a:avLst/>
          </a:prstGeom>
          <a:noFill/>
          <a:ln cap="flat" cmpd="sng" w="19050">
            <a:solidFill>
              <a:schemeClr val="dk2"/>
            </a:solidFill>
            <a:prstDash val="solid"/>
            <a:round/>
            <a:headEnd len="med" w="med" type="none"/>
            <a:tailEnd len="med" w="med" type="triangle"/>
          </a:ln>
        </p:spPr>
      </p:cxnSp>
      <p:cxnSp>
        <p:nvCxnSpPr>
          <p:cNvPr id="4562" name="Google Shape;4562;p177"/>
          <p:cNvCxnSpPr>
            <a:stCxn id="4559" idx="3"/>
            <a:endCxn id="4560" idx="1"/>
          </p:cNvCxnSpPr>
          <p:nvPr/>
        </p:nvCxnSpPr>
        <p:spPr>
          <a:xfrm>
            <a:off x="5445725" y="4971600"/>
            <a:ext cx="1782600" cy="0"/>
          </a:xfrm>
          <a:prstGeom prst="straightConnector1">
            <a:avLst/>
          </a:prstGeom>
          <a:noFill/>
          <a:ln cap="flat" cmpd="sng" w="19050">
            <a:solidFill>
              <a:srgbClr val="00A972"/>
            </a:solidFill>
            <a:prstDash val="solid"/>
            <a:round/>
            <a:headEnd len="med" w="med" type="none"/>
            <a:tailEnd len="med" w="med" type="triangle"/>
          </a:ln>
        </p:spPr>
      </p:cxnSp>
      <p:sp>
        <p:nvSpPr>
          <p:cNvPr id="4563" name="Google Shape;4563;p177"/>
          <p:cNvSpPr txBox="1"/>
          <p:nvPr/>
        </p:nvSpPr>
        <p:spPr>
          <a:xfrm>
            <a:off x="5546225" y="2169600"/>
            <a:ext cx="1581000" cy="9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F3621"/>
                </a:solidFill>
              </a:rPr>
              <a:t>Streaming is NOT supported</a:t>
            </a:r>
            <a:endParaRPr b="1" sz="1800">
              <a:solidFill>
                <a:srgbClr val="FF3621"/>
              </a:solidFill>
            </a:endParaRPr>
          </a:p>
        </p:txBody>
      </p:sp>
      <p:sp>
        <p:nvSpPr>
          <p:cNvPr id="4564" name="Google Shape;4564;p177"/>
          <p:cNvSpPr txBox="1"/>
          <p:nvPr/>
        </p:nvSpPr>
        <p:spPr>
          <a:xfrm>
            <a:off x="6080475" y="3131550"/>
            <a:ext cx="5124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3621"/>
                </a:solidFill>
              </a:rPr>
              <a:t>X</a:t>
            </a:r>
            <a:endParaRPr b="1" sz="1800">
              <a:solidFill>
                <a:srgbClr val="FF3621"/>
              </a:solidFill>
            </a:endParaRPr>
          </a:p>
        </p:txBody>
      </p:sp>
      <p:sp>
        <p:nvSpPr>
          <p:cNvPr id="4565" name="Google Shape;4565;p177"/>
          <p:cNvSpPr txBox="1"/>
          <p:nvPr/>
        </p:nvSpPr>
        <p:spPr>
          <a:xfrm>
            <a:off x="5532575" y="4164925"/>
            <a:ext cx="1581000" cy="9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0A972"/>
                </a:solidFill>
              </a:rPr>
              <a:t>Streaming IS supported</a:t>
            </a:r>
            <a:endParaRPr b="1" sz="1800">
              <a:solidFill>
                <a:srgbClr val="00A972"/>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9" name="Shape 4569"/>
        <p:cNvGrpSpPr/>
        <p:nvPr/>
      </p:nvGrpSpPr>
      <p:grpSpPr>
        <a:xfrm>
          <a:off x="0" y="0"/>
          <a:ext cx="0" cy="0"/>
          <a:chOff x="0" y="0"/>
          <a:chExt cx="0" cy="0"/>
        </a:xfrm>
      </p:grpSpPr>
      <p:sp>
        <p:nvSpPr>
          <p:cNvPr id="4570" name="Google Shape;4570;p178"/>
          <p:cNvSpPr txBox="1"/>
          <p:nvPr/>
        </p:nvSpPr>
        <p:spPr>
          <a:xfrm>
            <a:off x="0" y="0"/>
            <a:ext cx="105129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600">
                <a:solidFill>
                  <a:schemeClr val="accent1"/>
                </a:solidFill>
                <a:latin typeface="DM Sans"/>
                <a:ea typeface="DM Sans"/>
                <a:cs typeface="DM Sans"/>
                <a:sym typeface="DM Sans"/>
              </a:rPr>
              <a:t>/images/security/privacy/gdpr-get-started-example.png NOTE: Edited, not all vector… :(</a:t>
            </a:r>
            <a:endParaRPr sz="900">
              <a:solidFill>
                <a:schemeClr val="accent1"/>
              </a:solidFill>
              <a:latin typeface="DM Sans"/>
              <a:ea typeface="DM Sans"/>
              <a:cs typeface="DM Sans"/>
              <a:sym typeface="DM Sans"/>
            </a:endParaRPr>
          </a:p>
        </p:txBody>
      </p:sp>
      <p:pic>
        <p:nvPicPr>
          <p:cNvPr id="4571" name="Google Shape;4571;p178" title="gdpr-get-started-example.png"/>
          <p:cNvPicPr preferRelativeResize="0"/>
          <p:nvPr/>
        </p:nvPicPr>
        <p:blipFill>
          <a:blip r:embed="rId3">
            <a:alphaModFix/>
          </a:blip>
          <a:stretch>
            <a:fillRect/>
          </a:stretch>
        </p:blipFill>
        <p:spPr>
          <a:xfrm>
            <a:off x="152400" y="842050"/>
            <a:ext cx="11884151" cy="5705136"/>
          </a:xfrm>
          <a:prstGeom prst="rect">
            <a:avLst/>
          </a:prstGeom>
          <a:noFill/>
          <a:ln>
            <a:noFill/>
          </a:ln>
        </p:spPr>
      </p:pic>
      <p:sp>
        <p:nvSpPr>
          <p:cNvPr id="4572" name="Google Shape;4572;p178"/>
          <p:cNvSpPr txBox="1"/>
          <p:nvPr/>
        </p:nvSpPr>
        <p:spPr>
          <a:xfrm>
            <a:off x="3248950" y="842050"/>
            <a:ext cx="970200" cy="1046700"/>
          </a:xfrm>
          <a:prstGeom prst="rect">
            <a:avLst/>
          </a:prstGeom>
          <a:solidFill>
            <a:schemeClr val="lt1"/>
          </a:solidFill>
          <a:ln>
            <a:noFill/>
          </a:ln>
        </p:spPr>
        <p:txBody>
          <a:bodyPr anchorCtr="0" anchor="b" bIns="0" lIns="91425" spcFirstLastPara="1" rIns="91425" wrap="square" tIns="91425">
            <a:noAutofit/>
          </a:bodyPr>
          <a:lstStyle/>
          <a:p>
            <a:pPr indent="0" lvl="0" marL="0" rtl="0" algn="ctr">
              <a:spcBef>
                <a:spcPts val="0"/>
              </a:spcBef>
              <a:spcAft>
                <a:spcPts val="0"/>
              </a:spcAft>
              <a:buNone/>
            </a:pPr>
            <a:r>
              <a:rPr b="1" lang="en" sz="1500">
                <a:solidFill>
                  <a:srgbClr val="595959"/>
                </a:solidFill>
                <a:latin typeface="DM Sans"/>
                <a:ea typeface="DM Sans"/>
                <a:cs typeface="DM Sans"/>
                <a:sym typeface="DM Sans"/>
              </a:rPr>
              <a:t>Auto CDC</a:t>
            </a:r>
            <a:endParaRPr b="1" sz="1500">
              <a:solidFill>
                <a:srgbClr val="595959"/>
              </a:solidFill>
              <a:latin typeface="DM Sans"/>
              <a:ea typeface="DM Sans"/>
              <a:cs typeface="DM Sans"/>
              <a:sym typeface="DM Sans"/>
            </a:endParaRPr>
          </a:p>
        </p:txBody>
      </p:sp>
      <p:sp>
        <p:nvSpPr>
          <p:cNvPr id="4573" name="Google Shape;4573;p178"/>
          <p:cNvSpPr txBox="1"/>
          <p:nvPr/>
        </p:nvSpPr>
        <p:spPr>
          <a:xfrm>
            <a:off x="3248950" y="2630050"/>
            <a:ext cx="970200" cy="1046700"/>
          </a:xfrm>
          <a:prstGeom prst="rect">
            <a:avLst/>
          </a:prstGeom>
          <a:solidFill>
            <a:schemeClr val="lt1"/>
          </a:solidFill>
          <a:ln>
            <a:noFill/>
          </a:ln>
        </p:spPr>
        <p:txBody>
          <a:bodyPr anchorCtr="0" anchor="b" bIns="0" lIns="91425" spcFirstLastPara="1" rIns="91425" wrap="square" tIns="91425">
            <a:noAutofit/>
          </a:bodyPr>
          <a:lstStyle/>
          <a:p>
            <a:pPr indent="0" lvl="0" marL="0" rtl="0" algn="ctr">
              <a:spcBef>
                <a:spcPts val="0"/>
              </a:spcBef>
              <a:spcAft>
                <a:spcPts val="0"/>
              </a:spcAft>
              <a:buNone/>
            </a:pPr>
            <a:r>
              <a:rPr b="1" lang="en" sz="1500">
                <a:solidFill>
                  <a:srgbClr val="595959"/>
                </a:solidFill>
                <a:latin typeface="DM Sans"/>
                <a:ea typeface="DM Sans"/>
                <a:cs typeface="DM Sans"/>
                <a:sym typeface="DM Sans"/>
              </a:rPr>
              <a:t>Append</a:t>
            </a:r>
            <a:endParaRPr b="1" sz="1500">
              <a:solidFill>
                <a:srgbClr val="595959"/>
              </a:solidFill>
              <a:latin typeface="DM Sans"/>
              <a:ea typeface="DM Sans"/>
              <a:cs typeface="DM Sans"/>
              <a:sym typeface="DM San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7" name="Shape 4577"/>
        <p:cNvGrpSpPr/>
        <p:nvPr/>
      </p:nvGrpSpPr>
      <p:grpSpPr>
        <a:xfrm>
          <a:off x="0" y="0"/>
          <a:ext cx="0" cy="0"/>
          <a:chOff x="0" y="0"/>
          <a:chExt cx="0" cy="0"/>
        </a:xfrm>
      </p:grpSpPr>
      <p:sp>
        <p:nvSpPr>
          <p:cNvPr id="4578" name="Google Shape;4578;p17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579" name="Google Shape;4579;p179"/>
          <p:cNvSpPr/>
          <p:nvPr/>
        </p:nvSpPr>
        <p:spPr>
          <a:xfrm>
            <a:off x="2926500" y="2661550"/>
            <a:ext cx="2291700" cy="24822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4580" name="Google Shape;4580;p179"/>
          <p:cNvSpPr/>
          <p:nvPr/>
        </p:nvSpPr>
        <p:spPr>
          <a:xfrm>
            <a:off x="1181294" y="261766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S3</a:t>
            </a:r>
            <a:endParaRPr sz="900">
              <a:solidFill>
                <a:srgbClr val="1B5162"/>
              </a:solidFill>
              <a:latin typeface="DM Sans Medium"/>
              <a:ea typeface="DM Sans Medium"/>
              <a:cs typeface="DM Sans Medium"/>
              <a:sym typeface="DM Sans Medium"/>
            </a:endParaRPr>
          </a:p>
        </p:txBody>
      </p:sp>
      <p:sp>
        <p:nvSpPr>
          <p:cNvPr id="4581" name="Google Shape;4581;p179"/>
          <p:cNvSpPr txBox="1"/>
          <p:nvPr/>
        </p:nvSpPr>
        <p:spPr>
          <a:xfrm>
            <a:off x="3429750" y="2786950"/>
            <a:ext cx="1743600" cy="126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Databricks Serverless Plane </a:t>
            </a:r>
            <a:endParaRPr sz="900">
              <a:solidFill>
                <a:srgbClr val="1B3139"/>
              </a:solidFill>
              <a:latin typeface="DM Sans"/>
              <a:ea typeface="DM Sans"/>
              <a:cs typeface="DM Sans"/>
              <a:sym typeface="DM Sans"/>
            </a:endParaRPr>
          </a:p>
        </p:txBody>
      </p:sp>
      <p:cxnSp>
        <p:nvCxnSpPr>
          <p:cNvPr id="4582" name="Google Shape;4582;p179"/>
          <p:cNvCxnSpPr/>
          <p:nvPr/>
        </p:nvCxnSpPr>
        <p:spPr>
          <a:xfrm flipH="1">
            <a:off x="6021964" y="6620700"/>
            <a:ext cx="1626900" cy="1500"/>
          </a:xfrm>
          <a:prstGeom prst="straightConnector1">
            <a:avLst/>
          </a:prstGeom>
          <a:noFill/>
          <a:ln cap="flat" cmpd="sng" w="19050">
            <a:solidFill>
              <a:srgbClr val="618794"/>
            </a:solidFill>
            <a:prstDash val="solid"/>
            <a:round/>
            <a:headEnd len="med" w="med" type="triangle"/>
            <a:tailEnd len="sm" w="sm" type="triangle"/>
          </a:ln>
        </p:spPr>
      </p:cxnSp>
      <p:sp>
        <p:nvSpPr>
          <p:cNvPr id="4583" name="Google Shape;4583;p179"/>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/_static/images/security/network/aws-s3.png</a:t>
            </a:r>
            <a:endParaRPr/>
          </a:p>
        </p:txBody>
      </p:sp>
      <p:pic>
        <p:nvPicPr>
          <p:cNvPr id="4584" name="Google Shape;4584;p179"/>
          <p:cNvPicPr preferRelativeResize="0"/>
          <p:nvPr/>
        </p:nvPicPr>
        <p:blipFill>
          <a:blip r:embed="rId3">
            <a:alphaModFix/>
          </a:blip>
          <a:stretch>
            <a:fillRect/>
          </a:stretch>
        </p:blipFill>
        <p:spPr>
          <a:xfrm>
            <a:off x="1369175" y="2801110"/>
            <a:ext cx="471450" cy="471450"/>
          </a:xfrm>
          <a:prstGeom prst="rect">
            <a:avLst/>
          </a:prstGeom>
          <a:noFill/>
          <a:ln>
            <a:noFill/>
          </a:ln>
        </p:spPr>
      </p:pic>
      <p:pic>
        <p:nvPicPr>
          <p:cNvPr id="4585" name="Google Shape;4585;p179"/>
          <p:cNvPicPr preferRelativeResize="0"/>
          <p:nvPr/>
        </p:nvPicPr>
        <p:blipFill rotWithShape="1">
          <a:blip r:embed="rId4">
            <a:alphaModFix/>
          </a:blip>
          <a:srcRect b="0" l="17722" r="0" t="0"/>
          <a:stretch/>
        </p:blipFill>
        <p:spPr>
          <a:xfrm>
            <a:off x="3482600" y="4321970"/>
            <a:ext cx="324300" cy="400139"/>
          </a:xfrm>
          <a:prstGeom prst="rect">
            <a:avLst/>
          </a:prstGeom>
          <a:noFill/>
          <a:ln>
            <a:noFill/>
          </a:ln>
        </p:spPr>
      </p:pic>
      <p:sp>
        <p:nvSpPr>
          <p:cNvPr id="4586" name="Google Shape;4586;p179"/>
          <p:cNvSpPr/>
          <p:nvPr/>
        </p:nvSpPr>
        <p:spPr>
          <a:xfrm>
            <a:off x="5929325" y="2655863"/>
            <a:ext cx="2445300" cy="2482200"/>
          </a:xfrm>
          <a:prstGeom prst="roundRect">
            <a:avLst>
              <a:gd fmla="val 16667" name="adj"/>
            </a:avLst>
          </a:prstGeom>
          <a:noFill/>
          <a:ln cap="flat" cmpd="sng" w="9525">
            <a:solidFill>
              <a:srgbClr val="03875C"/>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grpSp>
        <p:nvGrpSpPr>
          <p:cNvPr id="4587" name="Google Shape;4587;p179"/>
          <p:cNvGrpSpPr/>
          <p:nvPr/>
        </p:nvGrpSpPr>
        <p:grpSpPr>
          <a:xfrm>
            <a:off x="6244477" y="3049906"/>
            <a:ext cx="1819547" cy="1869988"/>
            <a:chOff x="1013125" y="382029"/>
            <a:chExt cx="2245800" cy="2282700"/>
          </a:xfrm>
        </p:grpSpPr>
        <p:sp>
          <p:nvSpPr>
            <p:cNvPr id="4588" name="Google Shape;4588;p179"/>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4589" name="Google Shape;4589;p179"/>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4590" name="Google Shape;4590;p179"/>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4591" name="Google Shape;4591;p179"/>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4592" name="Google Shape;4592;p179"/>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pic>
        <p:nvPicPr>
          <p:cNvPr id="4593" name="Google Shape;4593;p179"/>
          <p:cNvPicPr preferRelativeResize="0"/>
          <p:nvPr/>
        </p:nvPicPr>
        <p:blipFill>
          <a:blip r:embed="rId5">
            <a:alphaModFix/>
          </a:blip>
          <a:stretch>
            <a:fillRect/>
          </a:stretch>
        </p:blipFill>
        <p:spPr>
          <a:xfrm>
            <a:off x="6456518" y="2743836"/>
            <a:ext cx="188635" cy="212833"/>
          </a:xfrm>
          <a:prstGeom prst="rect">
            <a:avLst/>
          </a:prstGeom>
          <a:noFill/>
          <a:ln>
            <a:noFill/>
          </a:ln>
        </p:spPr>
      </p:pic>
      <p:sp>
        <p:nvSpPr>
          <p:cNvPr id="4594" name="Google Shape;4594;p179"/>
          <p:cNvSpPr txBox="1"/>
          <p:nvPr/>
        </p:nvSpPr>
        <p:spPr>
          <a:xfrm>
            <a:off x="6543575" y="2738525"/>
            <a:ext cx="16269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Databricks Control Plane</a:t>
            </a:r>
            <a:endParaRPr sz="1400">
              <a:solidFill>
                <a:srgbClr val="1B3139"/>
              </a:solidFill>
              <a:latin typeface="DM Sans"/>
              <a:ea typeface="DM Sans"/>
              <a:cs typeface="DM Sans"/>
              <a:sym typeface="DM Sans"/>
            </a:endParaRPr>
          </a:p>
        </p:txBody>
      </p:sp>
      <p:grpSp>
        <p:nvGrpSpPr>
          <p:cNvPr id="4595" name="Google Shape;4595;p179"/>
          <p:cNvGrpSpPr/>
          <p:nvPr/>
        </p:nvGrpSpPr>
        <p:grpSpPr>
          <a:xfrm>
            <a:off x="8993819" y="2589710"/>
            <a:ext cx="847162" cy="739340"/>
            <a:chOff x="91762" y="2601287"/>
            <a:chExt cx="1189500" cy="1083600"/>
          </a:xfrm>
        </p:grpSpPr>
        <p:sp>
          <p:nvSpPr>
            <p:cNvPr id="4596" name="Google Shape;4596;p179"/>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4597" name="Google Shape;4597;p179"/>
            <p:cNvPicPr preferRelativeResize="0"/>
            <p:nvPr/>
          </p:nvPicPr>
          <p:blipFill rotWithShape="1">
            <a:blip r:embed="rId6">
              <a:alphaModFix/>
            </a:blip>
            <a:srcRect b="0" l="0" r="0" t="0"/>
            <a:stretch/>
          </p:blipFill>
          <p:spPr>
            <a:xfrm>
              <a:off x="452892" y="3143220"/>
              <a:ext cx="467236" cy="437700"/>
            </a:xfrm>
            <a:prstGeom prst="rect">
              <a:avLst/>
            </a:prstGeom>
            <a:noFill/>
            <a:ln>
              <a:noFill/>
            </a:ln>
          </p:spPr>
        </p:pic>
      </p:grpSp>
      <p:pic>
        <p:nvPicPr>
          <p:cNvPr id="4598" name="Google Shape;4598;p179"/>
          <p:cNvPicPr preferRelativeResize="0"/>
          <p:nvPr/>
        </p:nvPicPr>
        <p:blipFill>
          <a:blip r:embed="rId5">
            <a:alphaModFix/>
          </a:blip>
          <a:stretch>
            <a:fillRect/>
          </a:stretch>
        </p:blipFill>
        <p:spPr>
          <a:xfrm>
            <a:off x="3241118" y="2822011"/>
            <a:ext cx="188635" cy="212833"/>
          </a:xfrm>
          <a:prstGeom prst="rect">
            <a:avLst/>
          </a:prstGeom>
          <a:noFill/>
          <a:ln>
            <a:noFill/>
          </a:ln>
        </p:spPr>
      </p:pic>
      <p:sp>
        <p:nvSpPr>
          <p:cNvPr id="4599" name="Google Shape;4599;p179"/>
          <p:cNvSpPr txBox="1"/>
          <p:nvPr/>
        </p:nvSpPr>
        <p:spPr>
          <a:xfrm>
            <a:off x="3086150" y="3684763"/>
            <a:ext cx="11172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900">
                <a:solidFill>
                  <a:srgbClr val="1B5162"/>
                </a:solidFill>
                <a:latin typeface="DM Sans Medium"/>
                <a:ea typeface="DM Sans Medium"/>
                <a:cs typeface="DM Sans Medium"/>
                <a:sym typeface="DM Sans Medium"/>
              </a:rPr>
              <a:t>Dedicated S3 interface endpoint</a:t>
            </a:r>
            <a:endParaRPr sz="2400">
              <a:solidFill>
                <a:schemeClr val="dk2"/>
              </a:solidFill>
            </a:endParaRPr>
          </a:p>
        </p:txBody>
      </p:sp>
      <p:sp>
        <p:nvSpPr>
          <p:cNvPr id="4600" name="Google Shape;4600;p179"/>
          <p:cNvSpPr/>
          <p:nvPr/>
        </p:nvSpPr>
        <p:spPr>
          <a:xfrm>
            <a:off x="3128875" y="3273075"/>
            <a:ext cx="1965300" cy="1719600"/>
          </a:xfrm>
          <a:prstGeom prst="roundRect">
            <a:avLst>
              <a:gd fmla="val 22689" name="adj"/>
            </a:avLst>
          </a:prstGeom>
          <a:noFill/>
          <a:ln cap="flat" cmpd="sng" w="9525">
            <a:solidFill>
              <a:srgbClr val="4359FF"/>
            </a:solidFill>
            <a:prstDash val="solid"/>
            <a:round/>
            <a:headEnd len="sm" w="sm" type="none"/>
            <a:tailEnd len="sm" w="sm" type="none"/>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None/>
            </a:pPr>
            <a:r>
              <a:rPr b="1" lang="en" sz="900">
                <a:solidFill>
                  <a:srgbClr val="1B5162"/>
                </a:solidFill>
                <a:latin typeface="DM Sans"/>
                <a:ea typeface="DM Sans"/>
                <a:cs typeface="DM Sans"/>
                <a:sym typeface="DM Sans"/>
              </a:rPr>
              <a:t>Your Security Group</a:t>
            </a:r>
            <a:endParaRPr b="1" i="0" sz="900" u="none" cap="none" strike="noStrike">
              <a:solidFill>
                <a:srgbClr val="1B5162"/>
              </a:solidFill>
              <a:latin typeface="DM Sans"/>
              <a:ea typeface="DM Sans"/>
              <a:cs typeface="DM Sans"/>
              <a:sym typeface="DM Sans"/>
            </a:endParaRPr>
          </a:p>
        </p:txBody>
      </p:sp>
      <p:cxnSp>
        <p:nvCxnSpPr>
          <p:cNvPr id="4601" name="Google Shape;4601;p179"/>
          <p:cNvCxnSpPr/>
          <p:nvPr/>
        </p:nvCxnSpPr>
        <p:spPr>
          <a:xfrm rot="10800000">
            <a:off x="2028425" y="2798875"/>
            <a:ext cx="1424400" cy="1679700"/>
          </a:xfrm>
          <a:prstGeom prst="straightConnector1">
            <a:avLst/>
          </a:prstGeom>
          <a:noFill/>
          <a:ln cap="flat" cmpd="sng" w="9525">
            <a:solidFill>
              <a:srgbClr val="618794"/>
            </a:solidFill>
            <a:prstDash val="solid"/>
            <a:round/>
            <a:headEnd len="med" w="med" type="none"/>
            <a:tailEnd len="sm" w="sm" type="triangle"/>
          </a:ln>
        </p:spPr>
      </p:cxnSp>
      <p:sp>
        <p:nvSpPr>
          <p:cNvPr id="4602" name="Google Shape;4602;p179"/>
          <p:cNvSpPr/>
          <p:nvPr/>
        </p:nvSpPr>
        <p:spPr>
          <a:xfrm>
            <a:off x="8981394" y="3483485"/>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BI Apps</a:t>
            </a:r>
            <a:endParaRPr sz="900">
              <a:solidFill>
                <a:srgbClr val="1B5162"/>
              </a:solidFill>
              <a:latin typeface="DM Sans Medium"/>
              <a:ea typeface="DM Sans Medium"/>
              <a:cs typeface="DM Sans Medium"/>
              <a:sym typeface="DM Sans Medium"/>
            </a:endParaRPr>
          </a:p>
        </p:txBody>
      </p:sp>
      <p:sp>
        <p:nvSpPr>
          <p:cNvPr id="4603" name="Google Shape;4603;p179"/>
          <p:cNvSpPr/>
          <p:nvPr/>
        </p:nvSpPr>
        <p:spPr>
          <a:xfrm>
            <a:off x="8981394" y="437726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Delta Sharing </a:t>
            </a:r>
            <a:endParaRPr sz="900">
              <a:solidFill>
                <a:srgbClr val="1B5162"/>
              </a:solidFill>
              <a:latin typeface="DM Sans Medium"/>
              <a:ea typeface="DM Sans Medium"/>
              <a:cs typeface="DM Sans Medium"/>
              <a:sym typeface="DM Sans Medium"/>
            </a:endParaRPr>
          </a:p>
        </p:txBody>
      </p:sp>
      <p:pic>
        <p:nvPicPr>
          <p:cNvPr id="4604" name="Google Shape;4604;p179"/>
          <p:cNvPicPr preferRelativeResize="0"/>
          <p:nvPr/>
        </p:nvPicPr>
        <p:blipFill>
          <a:blip r:embed="rId7">
            <a:alphaModFix/>
          </a:blip>
          <a:stretch>
            <a:fillRect/>
          </a:stretch>
        </p:blipFill>
        <p:spPr>
          <a:xfrm>
            <a:off x="9242824" y="4779756"/>
            <a:ext cx="324300" cy="274693"/>
          </a:xfrm>
          <a:prstGeom prst="rect">
            <a:avLst/>
          </a:prstGeom>
          <a:noFill/>
          <a:ln cap="flat" cmpd="sng" w="9525">
            <a:solidFill>
              <a:srgbClr val="F9F7F4"/>
            </a:solidFill>
            <a:prstDash val="solid"/>
            <a:round/>
            <a:headEnd len="sm" w="sm" type="none"/>
            <a:tailEnd len="sm" w="sm" type="none"/>
          </a:ln>
        </p:spPr>
      </p:pic>
      <p:pic>
        <p:nvPicPr>
          <p:cNvPr descr="A picture containing object&#10;&#10;Description automatically generated" id="4605" name="Google Shape;4605;p179"/>
          <p:cNvPicPr preferRelativeResize="0"/>
          <p:nvPr/>
        </p:nvPicPr>
        <p:blipFill rotWithShape="1">
          <a:blip r:embed="rId8">
            <a:alphaModFix/>
          </a:blip>
          <a:srcRect b="17228" l="27702" r="26712" t="18025"/>
          <a:stretch/>
        </p:blipFill>
        <p:spPr>
          <a:xfrm>
            <a:off x="9061900" y="3912653"/>
            <a:ext cx="189040" cy="184421"/>
          </a:xfrm>
          <a:prstGeom prst="rect">
            <a:avLst/>
          </a:prstGeom>
          <a:noFill/>
          <a:ln cap="flat" cmpd="sng" w="9525">
            <a:solidFill>
              <a:srgbClr val="000000"/>
            </a:solidFill>
            <a:prstDash val="solid"/>
            <a:round/>
            <a:headEnd len="sm" w="sm" type="none"/>
            <a:tailEnd len="sm" w="sm" type="none"/>
          </a:ln>
        </p:spPr>
      </p:pic>
      <p:pic>
        <p:nvPicPr>
          <p:cNvPr id="4606" name="Google Shape;4606;p179"/>
          <p:cNvPicPr preferRelativeResize="0"/>
          <p:nvPr/>
        </p:nvPicPr>
        <p:blipFill rotWithShape="1">
          <a:blip r:embed="rId9">
            <a:alphaModFix/>
          </a:blip>
          <a:srcRect b="0" l="64446" r="0" t="0"/>
          <a:stretch/>
        </p:blipFill>
        <p:spPr>
          <a:xfrm>
            <a:off x="9556855" y="3912653"/>
            <a:ext cx="216044" cy="184421"/>
          </a:xfrm>
          <a:prstGeom prst="rect">
            <a:avLst/>
          </a:prstGeom>
          <a:noFill/>
          <a:ln cap="flat" cmpd="sng" w="9525">
            <a:solidFill>
              <a:srgbClr val="000000"/>
            </a:solidFill>
            <a:prstDash val="solid"/>
            <a:round/>
            <a:headEnd len="sm" w="sm" type="none"/>
            <a:tailEnd len="sm" w="sm" type="none"/>
          </a:ln>
        </p:spPr>
      </p:pic>
      <p:pic>
        <p:nvPicPr>
          <p:cNvPr id="4607" name="Google Shape;4607;p179"/>
          <p:cNvPicPr preferRelativeResize="0"/>
          <p:nvPr/>
        </p:nvPicPr>
        <p:blipFill rotWithShape="1">
          <a:blip r:embed="rId10">
            <a:alphaModFix/>
          </a:blip>
          <a:srcRect b="0" l="0" r="0" t="0"/>
          <a:stretch/>
        </p:blipFill>
        <p:spPr>
          <a:xfrm>
            <a:off x="9311683" y="3912653"/>
            <a:ext cx="184429" cy="184422"/>
          </a:xfrm>
          <a:prstGeom prst="rect">
            <a:avLst/>
          </a:prstGeom>
          <a:noFill/>
          <a:ln cap="flat" cmpd="sng" w="9525">
            <a:solidFill>
              <a:srgbClr val="000000"/>
            </a:solidFill>
            <a:prstDash val="solid"/>
            <a:round/>
            <a:headEnd len="sm" w="sm" type="none"/>
            <a:tailEnd len="sm" w="sm" type="none"/>
          </a:ln>
        </p:spPr>
      </p:pic>
      <p:pic>
        <p:nvPicPr>
          <p:cNvPr id="4608" name="Google Shape;4608;p179"/>
          <p:cNvPicPr preferRelativeResize="0"/>
          <p:nvPr/>
        </p:nvPicPr>
        <p:blipFill>
          <a:blip r:embed="rId11">
            <a:alphaModFix/>
          </a:blip>
          <a:stretch>
            <a:fillRect/>
          </a:stretch>
        </p:blipFill>
        <p:spPr>
          <a:xfrm>
            <a:off x="5481546" y="3777122"/>
            <a:ext cx="184426" cy="251050"/>
          </a:xfrm>
          <a:prstGeom prst="rect">
            <a:avLst/>
          </a:prstGeom>
          <a:noFill/>
          <a:ln>
            <a:noFill/>
          </a:ln>
        </p:spPr>
      </p:pic>
      <p:pic>
        <p:nvPicPr>
          <p:cNvPr id="4609" name="Google Shape;4609;p179"/>
          <p:cNvPicPr preferRelativeResize="0"/>
          <p:nvPr/>
        </p:nvPicPr>
        <p:blipFill>
          <a:blip r:embed="rId11">
            <a:alphaModFix/>
          </a:blip>
          <a:stretch>
            <a:fillRect/>
          </a:stretch>
        </p:blipFill>
        <p:spPr>
          <a:xfrm>
            <a:off x="8585796" y="2956672"/>
            <a:ext cx="184426" cy="251050"/>
          </a:xfrm>
          <a:prstGeom prst="rect">
            <a:avLst/>
          </a:prstGeom>
          <a:noFill/>
          <a:ln>
            <a:noFill/>
          </a:ln>
        </p:spPr>
      </p:pic>
      <p:pic>
        <p:nvPicPr>
          <p:cNvPr id="4610" name="Google Shape;4610;p179"/>
          <p:cNvPicPr preferRelativeResize="0"/>
          <p:nvPr/>
        </p:nvPicPr>
        <p:blipFill>
          <a:blip r:embed="rId11">
            <a:alphaModFix/>
          </a:blip>
          <a:stretch>
            <a:fillRect/>
          </a:stretch>
        </p:blipFill>
        <p:spPr>
          <a:xfrm>
            <a:off x="8585808" y="3727560"/>
            <a:ext cx="184426" cy="251050"/>
          </a:xfrm>
          <a:prstGeom prst="rect">
            <a:avLst/>
          </a:prstGeom>
          <a:noFill/>
          <a:ln>
            <a:noFill/>
          </a:ln>
        </p:spPr>
      </p:pic>
      <p:cxnSp>
        <p:nvCxnSpPr>
          <p:cNvPr id="4611" name="Google Shape;4611;p179"/>
          <p:cNvCxnSpPr>
            <a:endCxn id="4605" idx="1"/>
          </p:cNvCxnSpPr>
          <p:nvPr/>
        </p:nvCxnSpPr>
        <p:spPr>
          <a:xfrm>
            <a:off x="9061900" y="4004864"/>
            <a:ext cx="0" cy="0"/>
          </a:xfrm>
          <a:prstGeom prst="straightConnector1">
            <a:avLst/>
          </a:prstGeom>
          <a:noFill/>
          <a:ln cap="flat" cmpd="sng" w="9525">
            <a:solidFill>
              <a:schemeClr val="dk2"/>
            </a:solidFill>
            <a:prstDash val="solid"/>
            <a:round/>
            <a:headEnd len="med" w="med" type="none"/>
            <a:tailEnd len="med" w="med" type="none"/>
          </a:ln>
        </p:spPr>
      </p:cxnSp>
      <p:pic>
        <p:nvPicPr>
          <p:cNvPr id="4612" name="Google Shape;4612;p179"/>
          <p:cNvPicPr preferRelativeResize="0"/>
          <p:nvPr/>
        </p:nvPicPr>
        <p:blipFill>
          <a:blip r:embed="rId11">
            <a:alphaModFix/>
          </a:blip>
          <a:stretch>
            <a:fillRect/>
          </a:stretch>
        </p:blipFill>
        <p:spPr>
          <a:xfrm>
            <a:off x="8585808" y="4621335"/>
            <a:ext cx="184426" cy="251050"/>
          </a:xfrm>
          <a:prstGeom prst="rect">
            <a:avLst/>
          </a:prstGeom>
          <a:noFill/>
          <a:ln>
            <a:noFill/>
          </a:ln>
        </p:spPr>
      </p:pic>
      <p:cxnSp>
        <p:nvCxnSpPr>
          <p:cNvPr id="4613" name="Google Shape;4613;p179"/>
          <p:cNvCxnSpPr>
            <a:stCxn id="4603" idx="1"/>
            <a:endCxn id="4612" idx="3"/>
          </p:cNvCxnSpPr>
          <p:nvPr/>
        </p:nvCxnSpPr>
        <p:spPr>
          <a:xfrm rot="10800000">
            <a:off x="8770194" y="4746860"/>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614" name="Google Shape;4614;p179"/>
          <p:cNvCxnSpPr>
            <a:stCxn id="4586" idx="1"/>
            <a:endCxn id="4608" idx="3"/>
          </p:cNvCxnSpPr>
          <p:nvPr/>
        </p:nvCxnSpPr>
        <p:spPr>
          <a:xfrm flipH="1">
            <a:off x="5665925" y="3896963"/>
            <a:ext cx="263400" cy="5700"/>
          </a:xfrm>
          <a:prstGeom prst="straightConnector1">
            <a:avLst/>
          </a:prstGeom>
          <a:noFill/>
          <a:ln cap="flat" cmpd="sng" w="9525">
            <a:solidFill>
              <a:srgbClr val="618794"/>
            </a:solidFill>
            <a:prstDash val="solid"/>
            <a:round/>
            <a:headEnd len="med" w="med" type="none"/>
            <a:tailEnd len="med" w="med" type="none"/>
          </a:ln>
        </p:spPr>
      </p:cxnSp>
      <p:cxnSp>
        <p:nvCxnSpPr>
          <p:cNvPr id="4615" name="Google Shape;4615;p179"/>
          <p:cNvCxnSpPr>
            <a:stCxn id="4608" idx="1"/>
            <a:endCxn id="4579" idx="3"/>
          </p:cNvCxnSpPr>
          <p:nvPr/>
        </p:nvCxnSpPr>
        <p:spPr>
          <a:xfrm rot="10800000">
            <a:off x="5218146" y="3902647"/>
            <a:ext cx="263400" cy="0"/>
          </a:xfrm>
          <a:prstGeom prst="straightConnector1">
            <a:avLst/>
          </a:prstGeom>
          <a:noFill/>
          <a:ln cap="flat" cmpd="sng" w="9525">
            <a:solidFill>
              <a:srgbClr val="618794"/>
            </a:solidFill>
            <a:prstDash val="solid"/>
            <a:round/>
            <a:headEnd len="med" w="med" type="none"/>
            <a:tailEnd len="med" w="med" type="none"/>
          </a:ln>
        </p:spPr>
      </p:cxnSp>
      <p:cxnSp>
        <p:nvCxnSpPr>
          <p:cNvPr id="4616" name="Google Shape;4616;p179"/>
          <p:cNvCxnSpPr>
            <a:stCxn id="4612" idx="1"/>
          </p:cNvCxnSpPr>
          <p:nvPr/>
        </p:nvCxnSpPr>
        <p:spPr>
          <a:xfrm rot="10800000">
            <a:off x="8371008" y="4746859"/>
            <a:ext cx="214800" cy="0"/>
          </a:xfrm>
          <a:prstGeom prst="straightConnector1">
            <a:avLst/>
          </a:prstGeom>
          <a:noFill/>
          <a:ln cap="flat" cmpd="sng" w="9525">
            <a:solidFill>
              <a:srgbClr val="618794"/>
            </a:solidFill>
            <a:prstDash val="solid"/>
            <a:round/>
            <a:headEnd len="med" w="med" type="none"/>
            <a:tailEnd len="med" w="med" type="none"/>
          </a:ln>
        </p:spPr>
      </p:cxnSp>
      <p:cxnSp>
        <p:nvCxnSpPr>
          <p:cNvPr id="4617" name="Google Shape;4617;p179"/>
          <p:cNvCxnSpPr>
            <a:stCxn id="4602" idx="1"/>
            <a:endCxn id="4610" idx="3"/>
          </p:cNvCxnSpPr>
          <p:nvPr/>
        </p:nvCxnSpPr>
        <p:spPr>
          <a:xfrm rot="10800000">
            <a:off x="8770194" y="38530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618" name="Google Shape;4618;p179"/>
          <p:cNvCxnSpPr>
            <a:stCxn id="4610" idx="1"/>
            <a:endCxn id="4610" idx="1"/>
          </p:cNvCxnSpPr>
          <p:nvPr/>
        </p:nvCxnSpPr>
        <p:spPr>
          <a:xfrm>
            <a:off x="8585808" y="3853084"/>
            <a:ext cx="0" cy="0"/>
          </a:xfrm>
          <a:prstGeom prst="straightConnector1">
            <a:avLst/>
          </a:prstGeom>
          <a:noFill/>
          <a:ln cap="flat" cmpd="sng" w="9525">
            <a:solidFill>
              <a:schemeClr val="dk2"/>
            </a:solidFill>
            <a:prstDash val="solid"/>
            <a:round/>
            <a:headEnd len="med" w="med" type="none"/>
            <a:tailEnd len="med" w="med" type="none"/>
          </a:ln>
        </p:spPr>
      </p:cxnSp>
      <p:cxnSp>
        <p:nvCxnSpPr>
          <p:cNvPr id="4619" name="Google Shape;4619;p179"/>
          <p:cNvCxnSpPr/>
          <p:nvPr/>
        </p:nvCxnSpPr>
        <p:spPr>
          <a:xfrm rot="10800000">
            <a:off x="8372794" y="38530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620" name="Google Shape;4620;p179"/>
          <p:cNvCxnSpPr/>
          <p:nvPr/>
        </p:nvCxnSpPr>
        <p:spPr>
          <a:xfrm rot="10800000">
            <a:off x="8770194" y="308483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621" name="Google Shape;4621;p179"/>
          <p:cNvCxnSpPr/>
          <p:nvPr/>
        </p:nvCxnSpPr>
        <p:spPr>
          <a:xfrm rot="10800000">
            <a:off x="8372794" y="3084835"/>
            <a:ext cx="211200" cy="0"/>
          </a:xfrm>
          <a:prstGeom prst="straightConnector1">
            <a:avLst/>
          </a:prstGeom>
          <a:noFill/>
          <a:ln cap="flat" cmpd="sng" w="9525">
            <a:solidFill>
              <a:srgbClr val="618794"/>
            </a:solidFill>
            <a:prstDash val="solid"/>
            <a:round/>
            <a:headEnd len="med" w="med" type="none"/>
            <a:tailEnd len="med" w="med" type="none"/>
          </a:ln>
        </p:spPr>
      </p:cxnSp>
      <p:sp>
        <p:nvSpPr>
          <p:cNvPr id="4622" name="Google Shape;4622;p179"/>
          <p:cNvSpPr/>
          <p:nvPr/>
        </p:nvSpPr>
        <p:spPr>
          <a:xfrm>
            <a:off x="4088925" y="3777125"/>
            <a:ext cx="847200" cy="875400"/>
          </a:xfrm>
          <a:prstGeom prst="roundRect">
            <a:avLst>
              <a:gd fmla="val 16667" name="adj"/>
            </a:avLst>
          </a:prstGeom>
          <a:noFill/>
          <a:ln cap="flat" cmpd="sng" w="9525">
            <a:solidFill>
              <a:srgbClr val="EF64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a:t>
            </a:r>
            <a:endParaRPr sz="900">
              <a:solidFill>
                <a:srgbClr val="1B5162"/>
              </a:solidFill>
              <a:latin typeface="DM Sans Medium"/>
              <a:ea typeface="DM Sans Medium"/>
              <a:cs typeface="DM Sans Medium"/>
              <a:sym typeface="DM Sans Medium"/>
            </a:endParaRPr>
          </a:p>
          <a:p>
            <a:pPr indent="0" lvl="0" marL="0" rtl="0" algn="ctr">
              <a:spcBef>
                <a:spcPts val="0"/>
              </a:spcBef>
              <a:spcAft>
                <a:spcPts val="0"/>
              </a:spcAft>
              <a:buClr>
                <a:schemeClr val="dk1"/>
              </a:buClr>
              <a:buSzPts val="1100"/>
              <a:buFont typeface="Arial"/>
              <a:buNone/>
            </a:pPr>
            <a:r>
              <a:rPr lang="en" sz="900">
                <a:solidFill>
                  <a:srgbClr val="1B5162"/>
                </a:solidFill>
                <a:latin typeface="DM Sans Medium"/>
                <a:ea typeface="DM Sans Medium"/>
                <a:cs typeface="DM Sans Medium"/>
                <a:sym typeface="DM Sans Medium"/>
              </a:rPr>
              <a:t>Compute</a:t>
            </a:r>
            <a:endParaRPr sz="900">
              <a:solidFill>
                <a:srgbClr val="1B5162"/>
              </a:solidFill>
              <a:latin typeface="DM Sans Medium"/>
              <a:ea typeface="DM Sans Medium"/>
              <a:cs typeface="DM Sans Medium"/>
              <a:sym typeface="DM Sans Medium"/>
            </a:endParaRPr>
          </a:p>
        </p:txBody>
      </p:sp>
      <p:sp>
        <p:nvSpPr>
          <p:cNvPr id="4623" name="Google Shape;4623;p179"/>
          <p:cNvSpPr/>
          <p:nvPr/>
        </p:nvSpPr>
        <p:spPr>
          <a:xfrm>
            <a:off x="1181294" y="3573135"/>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S3</a:t>
            </a:r>
            <a:endParaRPr sz="900">
              <a:solidFill>
                <a:srgbClr val="1B5162"/>
              </a:solidFill>
              <a:latin typeface="DM Sans Medium"/>
              <a:ea typeface="DM Sans Medium"/>
              <a:cs typeface="DM Sans Medium"/>
              <a:sym typeface="DM Sans Medium"/>
            </a:endParaRPr>
          </a:p>
        </p:txBody>
      </p:sp>
      <p:pic>
        <p:nvPicPr>
          <p:cNvPr id="4624" name="Google Shape;4624;p179"/>
          <p:cNvPicPr preferRelativeResize="0"/>
          <p:nvPr/>
        </p:nvPicPr>
        <p:blipFill>
          <a:blip r:embed="rId3">
            <a:alphaModFix/>
          </a:blip>
          <a:stretch>
            <a:fillRect/>
          </a:stretch>
        </p:blipFill>
        <p:spPr>
          <a:xfrm>
            <a:off x="1369175" y="3756585"/>
            <a:ext cx="471450" cy="471450"/>
          </a:xfrm>
          <a:prstGeom prst="rect">
            <a:avLst/>
          </a:prstGeom>
          <a:noFill/>
          <a:ln>
            <a:noFill/>
          </a:ln>
        </p:spPr>
      </p:pic>
      <p:sp>
        <p:nvSpPr>
          <p:cNvPr id="4625" name="Google Shape;4625;p179"/>
          <p:cNvSpPr/>
          <p:nvPr/>
        </p:nvSpPr>
        <p:spPr>
          <a:xfrm>
            <a:off x="1181294" y="444846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S3</a:t>
            </a:r>
            <a:endParaRPr sz="900">
              <a:solidFill>
                <a:srgbClr val="1B5162"/>
              </a:solidFill>
              <a:latin typeface="DM Sans Medium"/>
              <a:ea typeface="DM Sans Medium"/>
              <a:cs typeface="DM Sans Medium"/>
              <a:sym typeface="DM Sans Medium"/>
            </a:endParaRPr>
          </a:p>
        </p:txBody>
      </p:sp>
      <p:pic>
        <p:nvPicPr>
          <p:cNvPr id="4626" name="Google Shape;4626;p179"/>
          <p:cNvPicPr preferRelativeResize="0"/>
          <p:nvPr/>
        </p:nvPicPr>
        <p:blipFill>
          <a:blip r:embed="rId3">
            <a:alphaModFix/>
          </a:blip>
          <a:stretch>
            <a:fillRect/>
          </a:stretch>
        </p:blipFill>
        <p:spPr>
          <a:xfrm>
            <a:off x="1369175" y="4631910"/>
            <a:ext cx="471450" cy="471450"/>
          </a:xfrm>
          <a:prstGeom prst="rect">
            <a:avLst/>
          </a:prstGeom>
          <a:noFill/>
          <a:ln>
            <a:noFill/>
          </a:ln>
        </p:spPr>
      </p:pic>
      <p:cxnSp>
        <p:nvCxnSpPr>
          <p:cNvPr id="4627" name="Google Shape;4627;p179"/>
          <p:cNvCxnSpPr>
            <a:endCxn id="4623" idx="3"/>
          </p:cNvCxnSpPr>
          <p:nvPr/>
        </p:nvCxnSpPr>
        <p:spPr>
          <a:xfrm rot="10800000">
            <a:off x="2028494" y="3942735"/>
            <a:ext cx="1406100" cy="609000"/>
          </a:xfrm>
          <a:prstGeom prst="straightConnector1">
            <a:avLst/>
          </a:prstGeom>
          <a:noFill/>
          <a:ln cap="flat" cmpd="sng" w="9525">
            <a:solidFill>
              <a:srgbClr val="618794"/>
            </a:solidFill>
            <a:prstDash val="solid"/>
            <a:round/>
            <a:headEnd len="med" w="med" type="none"/>
            <a:tailEnd len="med" w="med" type="triangle"/>
          </a:ln>
        </p:spPr>
      </p:cxnSp>
      <p:cxnSp>
        <p:nvCxnSpPr>
          <p:cNvPr id="4628" name="Google Shape;4628;p179"/>
          <p:cNvCxnSpPr>
            <a:endCxn id="4625" idx="3"/>
          </p:cNvCxnSpPr>
          <p:nvPr/>
        </p:nvCxnSpPr>
        <p:spPr>
          <a:xfrm flipH="1">
            <a:off x="2028494" y="4643460"/>
            <a:ext cx="1415100" cy="174600"/>
          </a:xfrm>
          <a:prstGeom prst="straightConnector1">
            <a:avLst/>
          </a:prstGeom>
          <a:noFill/>
          <a:ln cap="flat" cmpd="sng" w="9525">
            <a:solidFill>
              <a:srgbClr val="618794"/>
            </a:solidFill>
            <a:prstDash val="solid"/>
            <a:round/>
            <a:headEnd len="med" w="med" type="none"/>
            <a:tailEnd len="med" w="med" type="triangle"/>
          </a:ln>
        </p:spPr>
      </p:cxn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2" name="Shape 4632"/>
        <p:cNvGrpSpPr/>
        <p:nvPr/>
      </p:nvGrpSpPr>
      <p:grpSpPr>
        <a:xfrm>
          <a:off x="0" y="0"/>
          <a:ext cx="0" cy="0"/>
          <a:chOff x="0" y="0"/>
          <a:chExt cx="0" cy="0"/>
        </a:xfrm>
      </p:grpSpPr>
      <p:sp>
        <p:nvSpPr>
          <p:cNvPr id="4633" name="Google Shape;4633;p18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634" name="Google Shape;4634;p180"/>
          <p:cNvSpPr/>
          <p:nvPr/>
        </p:nvSpPr>
        <p:spPr>
          <a:xfrm>
            <a:off x="3137150" y="2698175"/>
            <a:ext cx="2291700" cy="24822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4635" name="Google Shape;4635;p180"/>
          <p:cNvSpPr txBox="1"/>
          <p:nvPr/>
        </p:nvSpPr>
        <p:spPr>
          <a:xfrm>
            <a:off x="3640400" y="2823575"/>
            <a:ext cx="1743600" cy="126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Databricks Serverless Plane </a:t>
            </a:r>
            <a:endParaRPr sz="900">
              <a:solidFill>
                <a:srgbClr val="1B3139"/>
              </a:solidFill>
              <a:latin typeface="DM Sans"/>
              <a:ea typeface="DM Sans"/>
              <a:cs typeface="DM Sans"/>
              <a:sym typeface="DM Sans"/>
            </a:endParaRPr>
          </a:p>
        </p:txBody>
      </p:sp>
      <p:cxnSp>
        <p:nvCxnSpPr>
          <p:cNvPr id="4636" name="Google Shape;4636;p180"/>
          <p:cNvCxnSpPr/>
          <p:nvPr/>
        </p:nvCxnSpPr>
        <p:spPr>
          <a:xfrm flipH="1">
            <a:off x="6021964" y="6620700"/>
            <a:ext cx="1626900" cy="1500"/>
          </a:xfrm>
          <a:prstGeom prst="straightConnector1">
            <a:avLst/>
          </a:prstGeom>
          <a:noFill/>
          <a:ln cap="flat" cmpd="sng" w="19050">
            <a:solidFill>
              <a:srgbClr val="618794"/>
            </a:solidFill>
            <a:prstDash val="solid"/>
            <a:round/>
            <a:headEnd len="med" w="med" type="triangle"/>
            <a:tailEnd len="sm" w="sm" type="triangle"/>
          </a:ln>
        </p:spPr>
      </p:cxnSp>
      <p:sp>
        <p:nvSpPr>
          <p:cNvPr id="4637" name="Google Shape;4637;p180"/>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/_static/images/security/network/pl-aws.png</a:t>
            </a:r>
            <a:endParaRPr/>
          </a:p>
        </p:txBody>
      </p:sp>
      <p:pic>
        <p:nvPicPr>
          <p:cNvPr id="4638" name="Google Shape;4638;p180"/>
          <p:cNvPicPr preferRelativeResize="0"/>
          <p:nvPr/>
        </p:nvPicPr>
        <p:blipFill rotWithShape="1">
          <a:blip r:embed="rId3">
            <a:alphaModFix/>
          </a:blip>
          <a:srcRect b="0" l="17722" r="0" t="0"/>
          <a:stretch/>
        </p:blipFill>
        <p:spPr>
          <a:xfrm>
            <a:off x="3693250" y="4358595"/>
            <a:ext cx="324300" cy="400139"/>
          </a:xfrm>
          <a:prstGeom prst="rect">
            <a:avLst/>
          </a:prstGeom>
          <a:noFill/>
          <a:ln>
            <a:noFill/>
          </a:ln>
        </p:spPr>
      </p:pic>
      <p:sp>
        <p:nvSpPr>
          <p:cNvPr id="4639" name="Google Shape;4639;p180"/>
          <p:cNvSpPr/>
          <p:nvPr/>
        </p:nvSpPr>
        <p:spPr>
          <a:xfrm>
            <a:off x="5929325" y="2655863"/>
            <a:ext cx="2445300" cy="2482200"/>
          </a:xfrm>
          <a:prstGeom prst="roundRect">
            <a:avLst>
              <a:gd fmla="val 16667" name="adj"/>
            </a:avLst>
          </a:prstGeom>
          <a:noFill/>
          <a:ln cap="flat" cmpd="sng" w="9525">
            <a:solidFill>
              <a:srgbClr val="03875C"/>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grpSp>
        <p:nvGrpSpPr>
          <p:cNvPr id="4640" name="Google Shape;4640;p180"/>
          <p:cNvGrpSpPr/>
          <p:nvPr/>
        </p:nvGrpSpPr>
        <p:grpSpPr>
          <a:xfrm>
            <a:off x="6244477" y="3049906"/>
            <a:ext cx="1819547" cy="1869988"/>
            <a:chOff x="1013125" y="382029"/>
            <a:chExt cx="2245800" cy="2282700"/>
          </a:xfrm>
        </p:grpSpPr>
        <p:sp>
          <p:nvSpPr>
            <p:cNvPr id="4641" name="Google Shape;4641;p180"/>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4642" name="Google Shape;4642;p180"/>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4643" name="Google Shape;4643;p180"/>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4644" name="Google Shape;4644;p180"/>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4645" name="Google Shape;4645;p180"/>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pic>
        <p:nvPicPr>
          <p:cNvPr id="4646" name="Google Shape;4646;p180"/>
          <p:cNvPicPr preferRelativeResize="0"/>
          <p:nvPr/>
        </p:nvPicPr>
        <p:blipFill>
          <a:blip r:embed="rId4">
            <a:alphaModFix/>
          </a:blip>
          <a:stretch>
            <a:fillRect/>
          </a:stretch>
        </p:blipFill>
        <p:spPr>
          <a:xfrm>
            <a:off x="6456518" y="2743836"/>
            <a:ext cx="188635" cy="212833"/>
          </a:xfrm>
          <a:prstGeom prst="rect">
            <a:avLst/>
          </a:prstGeom>
          <a:noFill/>
          <a:ln>
            <a:noFill/>
          </a:ln>
        </p:spPr>
      </p:pic>
      <p:sp>
        <p:nvSpPr>
          <p:cNvPr id="4647" name="Google Shape;4647;p180"/>
          <p:cNvSpPr txBox="1"/>
          <p:nvPr/>
        </p:nvSpPr>
        <p:spPr>
          <a:xfrm>
            <a:off x="6543575" y="2738525"/>
            <a:ext cx="16269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Databricks Control Plane</a:t>
            </a:r>
            <a:endParaRPr sz="1400">
              <a:solidFill>
                <a:srgbClr val="1B3139"/>
              </a:solidFill>
              <a:latin typeface="DM Sans"/>
              <a:ea typeface="DM Sans"/>
              <a:cs typeface="DM Sans"/>
              <a:sym typeface="DM Sans"/>
            </a:endParaRPr>
          </a:p>
        </p:txBody>
      </p:sp>
      <p:grpSp>
        <p:nvGrpSpPr>
          <p:cNvPr id="4648" name="Google Shape;4648;p180"/>
          <p:cNvGrpSpPr/>
          <p:nvPr/>
        </p:nvGrpSpPr>
        <p:grpSpPr>
          <a:xfrm>
            <a:off x="8993819" y="2589710"/>
            <a:ext cx="847162" cy="739340"/>
            <a:chOff x="91762" y="2601287"/>
            <a:chExt cx="1189500" cy="1083600"/>
          </a:xfrm>
        </p:grpSpPr>
        <p:sp>
          <p:nvSpPr>
            <p:cNvPr id="4649" name="Google Shape;4649;p180"/>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4650" name="Google Shape;4650;p180"/>
            <p:cNvPicPr preferRelativeResize="0"/>
            <p:nvPr/>
          </p:nvPicPr>
          <p:blipFill rotWithShape="1">
            <a:blip r:embed="rId5">
              <a:alphaModFix/>
            </a:blip>
            <a:srcRect b="0" l="0" r="0" t="0"/>
            <a:stretch/>
          </p:blipFill>
          <p:spPr>
            <a:xfrm>
              <a:off x="452892" y="3143220"/>
              <a:ext cx="467236" cy="437700"/>
            </a:xfrm>
            <a:prstGeom prst="rect">
              <a:avLst/>
            </a:prstGeom>
            <a:noFill/>
            <a:ln>
              <a:noFill/>
            </a:ln>
          </p:spPr>
        </p:pic>
      </p:grpSp>
      <p:pic>
        <p:nvPicPr>
          <p:cNvPr id="4651" name="Google Shape;4651;p180"/>
          <p:cNvPicPr preferRelativeResize="0"/>
          <p:nvPr/>
        </p:nvPicPr>
        <p:blipFill>
          <a:blip r:embed="rId4">
            <a:alphaModFix/>
          </a:blip>
          <a:stretch>
            <a:fillRect/>
          </a:stretch>
        </p:blipFill>
        <p:spPr>
          <a:xfrm>
            <a:off x="3451768" y="2858636"/>
            <a:ext cx="188635" cy="212833"/>
          </a:xfrm>
          <a:prstGeom prst="rect">
            <a:avLst/>
          </a:prstGeom>
          <a:noFill/>
          <a:ln>
            <a:noFill/>
          </a:ln>
        </p:spPr>
      </p:pic>
      <p:sp>
        <p:nvSpPr>
          <p:cNvPr id="4652" name="Google Shape;4652;p180"/>
          <p:cNvSpPr txBox="1"/>
          <p:nvPr/>
        </p:nvSpPr>
        <p:spPr>
          <a:xfrm>
            <a:off x="3296800" y="3721388"/>
            <a:ext cx="11172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Dedicated Interface Endpoint</a:t>
            </a:r>
            <a:endParaRPr sz="2400">
              <a:solidFill>
                <a:schemeClr val="dk2"/>
              </a:solidFill>
            </a:endParaRPr>
          </a:p>
        </p:txBody>
      </p:sp>
      <p:sp>
        <p:nvSpPr>
          <p:cNvPr id="4653" name="Google Shape;4653;p180"/>
          <p:cNvSpPr/>
          <p:nvPr/>
        </p:nvSpPr>
        <p:spPr>
          <a:xfrm>
            <a:off x="3300325" y="3309700"/>
            <a:ext cx="1965300" cy="1744800"/>
          </a:xfrm>
          <a:prstGeom prst="roundRect">
            <a:avLst>
              <a:gd fmla="val 22689" name="adj"/>
            </a:avLst>
          </a:prstGeom>
          <a:noFill/>
          <a:ln cap="flat" cmpd="sng" w="9525">
            <a:solidFill>
              <a:srgbClr val="4359FF"/>
            </a:solidFill>
            <a:prstDash val="solid"/>
            <a:round/>
            <a:headEnd len="sm" w="sm" type="none"/>
            <a:tailEnd len="sm" w="sm" type="none"/>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None/>
            </a:pPr>
            <a:r>
              <a:rPr b="1" lang="en" sz="900">
                <a:solidFill>
                  <a:srgbClr val="1B5162"/>
                </a:solidFill>
                <a:latin typeface="DM Sans"/>
                <a:ea typeface="DM Sans"/>
                <a:cs typeface="DM Sans"/>
                <a:sym typeface="DM Sans"/>
              </a:rPr>
              <a:t>Your Security Group</a:t>
            </a:r>
            <a:endParaRPr b="1" i="0" sz="900" u="none" cap="none" strike="noStrike">
              <a:solidFill>
                <a:srgbClr val="1B5162"/>
              </a:solidFill>
              <a:latin typeface="DM Sans"/>
              <a:ea typeface="DM Sans"/>
              <a:cs typeface="DM Sans"/>
              <a:sym typeface="DM Sans"/>
            </a:endParaRPr>
          </a:p>
        </p:txBody>
      </p:sp>
      <p:sp>
        <p:nvSpPr>
          <p:cNvPr id="4654" name="Google Shape;4654;p180"/>
          <p:cNvSpPr/>
          <p:nvPr/>
        </p:nvSpPr>
        <p:spPr>
          <a:xfrm>
            <a:off x="8981394" y="3483485"/>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BI Apps</a:t>
            </a:r>
            <a:endParaRPr sz="900">
              <a:solidFill>
                <a:srgbClr val="1B5162"/>
              </a:solidFill>
              <a:latin typeface="DM Sans Medium"/>
              <a:ea typeface="DM Sans Medium"/>
              <a:cs typeface="DM Sans Medium"/>
              <a:sym typeface="DM Sans Medium"/>
            </a:endParaRPr>
          </a:p>
        </p:txBody>
      </p:sp>
      <p:sp>
        <p:nvSpPr>
          <p:cNvPr id="4655" name="Google Shape;4655;p180"/>
          <p:cNvSpPr/>
          <p:nvPr/>
        </p:nvSpPr>
        <p:spPr>
          <a:xfrm>
            <a:off x="8981394" y="437726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Delta Sharing </a:t>
            </a:r>
            <a:endParaRPr sz="900">
              <a:solidFill>
                <a:srgbClr val="1B5162"/>
              </a:solidFill>
              <a:latin typeface="DM Sans Medium"/>
              <a:ea typeface="DM Sans Medium"/>
              <a:cs typeface="DM Sans Medium"/>
              <a:sym typeface="DM Sans Medium"/>
            </a:endParaRPr>
          </a:p>
        </p:txBody>
      </p:sp>
      <p:pic>
        <p:nvPicPr>
          <p:cNvPr id="4656" name="Google Shape;4656;p180"/>
          <p:cNvPicPr preferRelativeResize="0"/>
          <p:nvPr/>
        </p:nvPicPr>
        <p:blipFill>
          <a:blip r:embed="rId6">
            <a:alphaModFix/>
          </a:blip>
          <a:stretch>
            <a:fillRect/>
          </a:stretch>
        </p:blipFill>
        <p:spPr>
          <a:xfrm>
            <a:off x="9242824" y="4779756"/>
            <a:ext cx="324300" cy="274693"/>
          </a:xfrm>
          <a:prstGeom prst="rect">
            <a:avLst/>
          </a:prstGeom>
          <a:noFill/>
          <a:ln cap="flat" cmpd="sng" w="9525">
            <a:solidFill>
              <a:srgbClr val="F9F7F4"/>
            </a:solidFill>
            <a:prstDash val="solid"/>
            <a:round/>
            <a:headEnd len="sm" w="sm" type="none"/>
            <a:tailEnd len="sm" w="sm" type="none"/>
          </a:ln>
        </p:spPr>
      </p:pic>
      <p:pic>
        <p:nvPicPr>
          <p:cNvPr descr="A picture containing object&#10;&#10;Description automatically generated" id="4657" name="Google Shape;4657;p180"/>
          <p:cNvPicPr preferRelativeResize="0"/>
          <p:nvPr/>
        </p:nvPicPr>
        <p:blipFill rotWithShape="1">
          <a:blip r:embed="rId7">
            <a:alphaModFix/>
          </a:blip>
          <a:srcRect b="17228" l="27702" r="26712" t="18025"/>
          <a:stretch/>
        </p:blipFill>
        <p:spPr>
          <a:xfrm>
            <a:off x="9061900" y="3912653"/>
            <a:ext cx="189040" cy="184421"/>
          </a:xfrm>
          <a:prstGeom prst="rect">
            <a:avLst/>
          </a:prstGeom>
          <a:noFill/>
          <a:ln cap="flat" cmpd="sng" w="9525">
            <a:solidFill>
              <a:srgbClr val="000000"/>
            </a:solidFill>
            <a:prstDash val="solid"/>
            <a:round/>
            <a:headEnd len="sm" w="sm" type="none"/>
            <a:tailEnd len="sm" w="sm" type="none"/>
          </a:ln>
        </p:spPr>
      </p:pic>
      <p:pic>
        <p:nvPicPr>
          <p:cNvPr id="4658" name="Google Shape;4658;p180"/>
          <p:cNvPicPr preferRelativeResize="0"/>
          <p:nvPr/>
        </p:nvPicPr>
        <p:blipFill rotWithShape="1">
          <a:blip r:embed="rId8">
            <a:alphaModFix/>
          </a:blip>
          <a:srcRect b="0" l="64446" r="0" t="0"/>
          <a:stretch/>
        </p:blipFill>
        <p:spPr>
          <a:xfrm>
            <a:off x="9556855" y="3912653"/>
            <a:ext cx="216044" cy="184421"/>
          </a:xfrm>
          <a:prstGeom prst="rect">
            <a:avLst/>
          </a:prstGeom>
          <a:noFill/>
          <a:ln cap="flat" cmpd="sng" w="9525">
            <a:solidFill>
              <a:srgbClr val="000000"/>
            </a:solidFill>
            <a:prstDash val="solid"/>
            <a:round/>
            <a:headEnd len="sm" w="sm" type="none"/>
            <a:tailEnd len="sm" w="sm" type="none"/>
          </a:ln>
        </p:spPr>
      </p:pic>
      <p:pic>
        <p:nvPicPr>
          <p:cNvPr id="4659" name="Google Shape;4659;p180"/>
          <p:cNvPicPr preferRelativeResize="0"/>
          <p:nvPr/>
        </p:nvPicPr>
        <p:blipFill rotWithShape="1">
          <a:blip r:embed="rId9">
            <a:alphaModFix/>
          </a:blip>
          <a:srcRect b="0" l="0" r="0" t="0"/>
          <a:stretch/>
        </p:blipFill>
        <p:spPr>
          <a:xfrm>
            <a:off x="9311683" y="3912653"/>
            <a:ext cx="184429" cy="184422"/>
          </a:xfrm>
          <a:prstGeom prst="rect">
            <a:avLst/>
          </a:prstGeom>
          <a:noFill/>
          <a:ln cap="flat" cmpd="sng" w="9525">
            <a:solidFill>
              <a:srgbClr val="000000"/>
            </a:solidFill>
            <a:prstDash val="solid"/>
            <a:round/>
            <a:headEnd len="sm" w="sm" type="none"/>
            <a:tailEnd len="sm" w="sm" type="none"/>
          </a:ln>
        </p:spPr>
      </p:pic>
      <p:pic>
        <p:nvPicPr>
          <p:cNvPr id="4660" name="Google Shape;4660;p180"/>
          <p:cNvPicPr preferRelativeResize="0"/>
          <p:nvPr/>
        </p:nvPicPr>
        <p:blipFill>
          <a:blip r:embed="rId10">
            <a:alphaModFix/>
          </a:blip>
          <a:stretch>
            <a:fillRect/>
          </a:stretch>
        </p:blipFill>
        <p:spPr>
          <a:xfrm>
            <a:off x="5586871" y="3810922"/>
            <a:ext cx="184426" cy="251050"/>
          </a:xfrm>
          <a:prstGeom prst="rect">
            <a:avLst/>
          </a:prstGeom>
          <a:noFill/>
          <a:ln>
            <a:noFill/>
          </a:ln>
        </p:spPr>
      </p:pic>
      <p:pic>
        <p:nvPicPr>
          <p:cNvPr id="4661" name="Google Shape;4661;p180"/>
          <p:cNvPicPr preferRelativeResize="0"/>
          <p:nvPr/>
        </p:nvPicPr>
        <p:blipFill>
          <a:blip r:embed="rId10">
            <a:alphaModFix/>
          </a:blip>
          <a:stretch>
            <a:fillRect/>
          </a:stretch>
        </p:blipFill>
        <p:spPr>
          <a:xfrm>
            <a:off x="8585796" y="2956672"/>
            <a:ext cx="184426" cy="251050"/>
          </a:xfrm>
          <a:prstGeom prst="rect">
            <a:avLst/>
          </a:prstGeom>
          <a:noFill/>
          <a:ln>
            <a:noFill/>
          </a:ln>
        </p:spPr>
      </p:pic>
      <p:pic>
        <p:nvPicPr>
          <p:cNvPr id="4662" name="Google Shape;4662;p180"/>
          <p:cNvPicPr preferRelativeResize="0"/>
          <p:nvPr/>
        </p:nvPicPr>
        <p:blipFill>
          <a:blip r:embed="rId10">
            <a:alphaModFix/>
          </a:blip>
          <a:stretch>
            <a:fillRect/>
          </a:stretch>
        </p:blipFill>
        <p:spPr>
          <a:xfrm>
            <a:off x="8585808" y="3727560"/>
            <a:ext cx="184426" cy="251050"/>
          </a:xfrm>
          <a:prstGeom prst="rect">
            <a:avLst/>
          </a:prstGeom>
          <a:noFill/>
          <a:ln>
            <a:noFill/>
          </a:ln>
        </p:spPr>
      </p:pic>
      <p:cxnSp>
        <p:nvCxnSpPr>
          <p:cNvPr id="4663" name="Google Shape;4663;p180"/>
          <p:cNvCxnSpPr>
            <a:endCxn id="4657" idx="1"/>
          </p:cNvCxnSpPr>
          <p:nvPr/>
        </p:nvCxnSpPr>
        <p:spPr>
          <a:xfrm>
            <a:off x="9061900" y="4004864"/>
            <a:ext cx="0" cy="0"/>
          </a:xfrm>
          <a:prstGeom prst="straightConnector1">
            <a:avLst/>
          </a:prstGeom>
          <a:noFill/>
          <a:ln cap="flat" cmpd="sng" w="9525">
            <a:solidFill>
              <a:schemeClr val="dk2"/>
            </a:solidFill>
            <a:prstDash val="solid"/>
            <a:round/>
            <a:headEnd len="med" w="med" type="none"/>
            <a:tailEnd len="med" w="med" type="none"/>
          </a:ln>
        </p:spPr>
      </p:cxnSp>
      <p:pic>
        <p:nvPicPr>
          <p:cNvPr id="4664" name="Google Shape;4664;p180"/>
          <p:cNvPicPr preferRelativeResize="0"/>
          <p:nvPr/>
        </p:nvPicPr>
        <p:blipFill>
          <a:blip r:embed="rId10">
            <a:alphaModFix/>
          </a:blip>
          <a:stretch>
            <a:fillRect/>
          </a:stretch>
        </p:blipFill>
        <p:spPr>
          <a:xfrm>
            <a:off x="8585808" y="4621335"/>
            <a:ext cx="184426" cy="251050"/>
          </a:xfrm>
          <a:prstGeom prst="rect">
            <a:avLst/>
          </a:prstGeom>
          <a:noFill/>
          <a:ln>
            <a:noFill/>
          </a:ln>
        </p:spPr>
      </p:pic>
      <p:cxnSp>
        <p:nvCxnSpPr>
          <p:cNvPr id="4665" name="Google Shape;4665;p180"/>
          <p:cNvCxnSpPr>
            <a:stCxn id="4655" idx="1"/>
            <a:endCxn id="4664" idx="3"/>
          </p:cNvCxnSpPr>
          <p:nvPr/>
        </p:nvCxnSpPr>
        <p:spPr>
          <a:xfrm rot="10800000">
            <a:off x="8770194" y="4746860"/>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666" name="Google Shape;4666;p180"/>
          <p:cNvCxnSpPr>
            <a:stCxn id="4664" idx="1"/>
          </p:cNvCxnSpPr>
          <p:nvPr/>
        </p:nvCxnSpPr>
        <p:spPr>
          <a:xfrm rot="10800000">
            <a:off x="8371008" y="4746859"/>
            <a:ext cx="214800" cy="0"/>
          </a:xfrm>
          <a:prstGeom prst="straightConnector1">
            <a:avLst/>
          </a:prstGeom>
          <a:noFill/>
          <a:ln cap="flat" cmpd="sng" w="9525">
            <a:solidFill>
              <a:srgbClr val="618794"/>
            </a:solidFill>
            <a:prstDash val="solid"/>
            <a:round/>
            <a:headEnd len="med" w="med" type="none"/>
            <a:tailEnd len="med" w="med" type="none"/>
          </a:ln>
        </p:spPr>
      </p:cxnSp>
      <p:cxnSp>
        <p:nvCxnSpPr>
          <p:cNvPr id="4667" name="Google Shape;4667;p180"/>
          <p:cNvCxnSpPr>
            <a:stCxn id="4654" idx="1"/>
            <a:endCxn id="4662" idx="3"/>
          </p:cNvCxnSpPr>
          <p:nvPr/>
        </p:nvCxnSpPr>
        <p:spPr>
          <a:xfrm rot="10800000">
            <a:off x="8770194" y="38530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668" name="Google Shape;4668;p180"/>
          <p:cNvCxnSpPr>
            <a:stCxn id="4662" idx="1"/>
            <a:endCxn id="4662" idx="1"/>
          </p:cNvCxnSpPr>
          <p:nvPr/>
        </p:nvCxnSpPr>
        <p:spPr>
          <a:xfrm>
            <a:off x="8585808" y="3853084"/>
            <a:ext cx="0" cy="0"/>
          </a:xfrm>
          <a:prstGeom prst="straightConnector1">
            <a:avLst/>
          </a:prstGeom>
          <a:noFill/>
          <a:ln cap="flat" cmpd="sng" w="9525">
            <a:solidFill>
              <a:schemeClr val="dk2"/>
            </a:solidFill>
            <a:prstDash val="solid"/>
            <a:round/>
            <a:headEnd len="med" w="med" type="none"/>
            <a:tailEnd len="med" w="med" type="none"/>
          </a:ln>
        </p:spPr>
      </p:cxnSp>
      <p:cxnSp>
        <p:nvCxnSpPr>
          <p:cNvPr id="4669" name="Google Shape;4669;p180"/>
          <p:cNvCxnSpPr/>
          <p:nvPr/>
        </p:nvCxnSpPr>
        <p:spPr>
          <a:xfrm rot="10800000">
            <a:off x="8372794" y="38530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670" name="Google Shape;4670;p180"/>
          <p:cNvCxnSpPr/>
          <p:nvPr/>
        </p:nvCxnSpPr>
        <p:spPr>
          <a:xfrm rot="10800000">
            <a:off x="8770194" y="308483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671" name="Google Shape;4671;p180"/>
          <p:cNvCxnSpPr/>
          <p:nvPr/>
        </p:nvCxnSpPr>
        <p:spPr>
          <a:xfrm rot="10800000">
            <a:off x="8372794" y="3084835"/>
            <a:ext cx="211200" cy="0"/>
          </a:xfrm>
          <a:prstGeom prst="straightConnector1">
            <a:avLst/>
          </a:prstGeom>
          <a:noFill/>
          <a:ln cap="flat" cmpd="sng" w="9525">
            <a:solidFill>
              <a:srgbClr val="618794"/>
            </a:solidFill>
            <a:prstDash val="solid"/>
            <a:round/>
            <a:headEnd len="med" w="med" type="none"/>
            <a:tailEnd len="med" w="med" type="none"/>
          </a:ln>
        </p:spPr>
      </p:cxnSp>
      <p:sp>
        <p:nvSpPr>
          <p:cNvPr id="4672" name="Google Shape;4672;p180"/>
          <p:cNvSpPr/>
          <p:nvPr/>
        </p:nvSpPr>
        <p:spPr>
          <a:xfrm>
            <a:off x="4299575" y="3813750"/>
            <a:ext cx="847200" cy="875400"/>
          </a:xfrm>
          <a:prstGeom prst="roundRect">
            <a:avLst>
              <a:gd fmla="val 16667" name="adj"/>
            </a:avLst>
          </a:prstGeom>
          <a:noFill/>
          <a:ln cap="flat" cmpd="sng" w="9525">
            <a:solidFill>
              <a:srgbClr val="EF64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a:t>
            </a:r>
            <a:endParaRPr sz="900">
              <a:solidFill>
                <a:srgbClr val="1B5162"/>
              </a:solidFill>
              <a:latin typeface="DM Sans Medium"/>
              <a:ea typeface="DM Sans Medium"/>
              <a:cs typeface="DM Sans Medium"/>
              <a:sym typeface="DM Sans Medium"/>
            </a:endParaRPr>
          </a:p>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Compute</a:t>
            </a:r>
            <a:endParaRPr sz="900">
              <a:solidFill>
                <a:srgbClr val="1B5162"/>
              </a:solidFill>
              <a:latin typeface="DM Sans Medium"/>
              <a:ea typeface="DM Sans Medium"/>
              <a:cs typeface="DM Sans Medium"/>
              <a:sym typeface="DM Sans Medium"/>
            </a:endParaRPr>
          </a:p>
        </p:txBody>
      </p:sp>
      <p:cxnSp>
        <p:nvCxnSpPr>
          <p:cNvPr id="4673" name="Google Shape;4673;p180"/>
          <p:cNvCxnSpPr/>
          <p:nvPr/>
        </p:nvCxnSpPr>
        <p:spPr>
          <a:xfrm flipH="1">
            <a:off x="5428771" y="3936447"/>
            <a:ext cx="158100" cy="2700"/>
          </a:xfrm>
          <a:prstGeom prst="straightConnector1">
            <a:avLst/>
          </a:prstGeom>
          <a:noFill/>
          <a:ln cap="flat" cmpd="sng" w="9525">
            <a:solidFill>
              <a:srgbClr val="618794"/>
            </a:solidFill>
            <a:prstDash val="solid"/>
            <a:round/>
            <a:headEnd len="med" w="med" type="none"/>
            <a:tailEnd len="med" w="med" type="none"/>
          </a:ln>
        </p:spPr>
      </p:cxnSp>
      <p:cxnSp>
        <p:nvCxnSpPr>
          <p:cNvPr id="4674" name="Google Shape;4674;p180"/>
          <p:cNvCxnSpPr/>
          <p:nvPr/>
        </p:nvCxnSpPr>
        <p:spPr>
          <a:xfrm flipH="1">
            <a:off x="5757608" y="3937922"/>
            <a:ext cx="158100" cy="2700"/>
          </a:xfrm>
          <a:prstGeom prst="straightConnector1">
            <a:avLst/>
          </a:prstGeom>
          <a:noFill/>
          <a:ln cap="flat" cmpd="sng" w="9525">
            <a:solidFill>
              <a:srgbClr val="618794"/>
            </a:solidFill>
            <a:prstDash val="solid"/>
            <a:round/>
            <a:headEnd len="med" w="med" type="none"/>
            <a:tailEnd len="med" w="med" type="none"/>
          </a:ln>
        </p:spPr>
      </p:cxnSp>
      <p:sp>
        <p:nvSpPr>
          <p:cNvPr id="4675" name="Google Shape;4675;p180"/>
          <p:cNvSpPr/>
          <p:nvPr/>
        </p:nvSpPr>
        <p:spPr>
          <a:xfrm>
            <a:off x="1333525" y="2831550"/>
            <a:ext cx="1381500" cy="2306700"/>
          </a:xfrm>
          <a:prstGeom prst="roundRect">
            <a:avLst>
              <a:gd fmla="val 16667" name="adj"/>
            </a:avLst>
          </a:prstGeom>
          <a:noFill/>
          <a:ln cap="flat" cmpd="sng" w="9525">
            <a:solidFill>
              <a:srgbClr val="EF6450"/>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Clr>
                <a:schemeClr val="dk1"/>
              </a:buClr>
              <a:buSzPts val="1100"/>
              <a:buFont typeface="Arial"/>
              <a:buNone/>
            </a:pPr>
            <a:r>
              <a:t/>
            </a:r>
            <a:endParaRPr sz="900">
              <a:solidFill>
                <a:srgbClr val="1B3139"/>
              </a:solidFill>
              <a:latin typeface="DM Sans"/>
              <a:ea typeface="DM Sans"/>
              <a:cs typeface="DM Sans"/>
              <a:sym typeface="DM Sans"/>
            </a:endParaRPr>
          </a:p>
        </p:txBody>
      </p:sp>
      <p:sp>
        <p:nvSpPr>
          <p:cNvPr id="4676" name="Google Shape;4676;p180"/>
          <p:cNvSpPr txBox="1"/>
          <p:nvPr/>
        </p:nvSpPr>
        <p:spPr>
          <a:xfrm>
            <a:off x="1853325" y="2948475"/>
            <a:ext cx="791700" cy="2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rgbClr val="1B5162"/>
                </a:solidFill>
                <a:latin typeface="DM Sans Medium"/>
                <a:ea typeface="DM Sans Medium"/>
                <a:cs typeface="DM Sans Medium"/>
                <a:sym typeface="DM Sans Medium"/>
              </a:rPr>
              <a:t>Your VPC</a:t>
            </a:r>
            <a:endParaRPr sz="2400">
              <a:solidFill>
                <a:schemeClr val="dk2"/>
              </a:solidFill>
            </a:endParaRPr>
          </a:p>
        </p:txBody>
      </p:sp>
      <p:sp>
        <p:nvSpPr>
          <p:cNvPr id="4677" name="Google Shape;4677;p180"/>
          <p:cNvSpPr/>
          <p:nvPr/>
        </p:nvSpPr>
        <p:spPr>
          <a:xfrm>
            <a:off x="1489150" y="3326450"/>
            <a:ext cx="1000800" cy="944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8" name="Google Shape;4678;p180"/>
          <p:cNvSpPr/>
          <p:nvPr/>
        </p:nvSpPr>
        <p:spPr>
          <a:xfrm>
            <a:off x="1489150" y="4369050"/>
            <a:ext cx="1000800" cy="600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79" name="Google Shape;4679;p180"/>
          <p:cNvPicPr preferRelativeResize="0"/>
          <p:nvPr/>
        </p:nvPicPr>
        <p:blipFill>
          <a:blip r:embed="rId11">
            <a:alphaModFix/>
          </a:blip>
          <a:stretch>
            <a:fillRect/>
          </a:stretch>
        </p:blipFill>
        <p:spPr>
          <a:xfrm>
            <a:off x="1853332" y="3634607"/>
            <a:ext cx="234025" cy="261328"/>
          </a:xfrm>
          <a:prstGeom prst="rect">
            <a:avLst/>
          </a:prstGeom>
          <a:solidFill>
            <a:srgbClr val="FFFFFF">
              <a:alpha val="94050"/>
            </a:srgbClr>
          </a:solidFill>
          <a:ln cap="flat" cmpd="sng" w="19050">
            <a:solidFill>
              <a:srgbClr val="1B5162"/>
            </a:solidFill>
            <a:prstDash val="solid"/>
            <a:round/>
            <a:headEnd len="sm" w="sm" type="none"/>
            <a:tailEnd len="sm" w="sm" type="none"/>
          </a:ln>
        </p:spPr>
      </p:pic>
      <p:sp>
        <p:nvSpPr>
          <p:cNvPr id="4680" name="Google Shape;4680;p180"/>
          <p:cNvSpPr txBox="1"/>
          <p:nvPr/>
        </p:nvSpPr>
        <p:spPr>
          <a:xfrm>
            <a:off x="1663250" y="3392500"/>
            <a:ext cx="234000" cy="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endParaRPr>
          </a:p>
        </p:txBody>
      </p:sp>
      <p:sp>
        <p:nvSpPr>
          <p:cNvPr id="4681" name="Google Shape;4681;p180"/>
          <p:cNvSpPr txBox="1"/>
          <p:nvPr/>
        </p:nvSpPr>
        <p:spPr>
          <a:xfrm>
            <a:off x="1510750" y="3326450"/>
            <a:ext cx="95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800">
                <a:solidFill>
                  <a:srgbClr val="1B3038"/>
                </a:solidFill>
                <a:latin typeface="DM Sans"/>
                <a:ea typeface="DM Sans"/>
                <a:cs typeface="DM Sans"/>
                <a:sym typeface="DM Sans"/>
              </a:rPr>
              <a:t>Private Subnet</a:t>
            </a:r>
            <a:endParaRPr>
              <a:solidFill>
                <a:schemeClr val="dk1"/>
              </a:solidFill>
            </a:endParaRPr>
          </a:p>
          <a:p>
            <a:pPr indent="0" lvl="0" marL="0" rtl="0" algn="ctr">
              <a:spcBef>
                <a:spcPts val="0"/>
              </a:spcBef>
              <a:spcAft>
                <a:spcPts val="0"/>
              </a:spcAft>
              <a:buNone/>
            </a:pPr>
            <a:r>
              <a:t/>
            </a:r>
            <a:endParaRPr sz="800">
              <a:solidFill>
                <a:srgbClr val="1B3038"/>
              </a:solidFill>
              <a:latin typeface="DM Sans"/>
              <a:ea typeface="DM Sans"/>
              <a:cs typeface="DM Sans"/>
              <a:sym typeface="DM Sans"/>
            </a:endParaRPr>
          </a:p>
        </p:txBody>
      </p:sp>
      <p:sp>
        <p:nvSpPr>
          <p:cNvPr id="4682" name="Google Shape;4682;p180"/>
          <p:cNvSpPr txBox="1"/>
          <p:nvPr/>
        </p:nvSpPr>
        <p:spPr>
          <a:xfrm>
            <a:off x="1491525" y="3866150"/>
            <a:ext cx="95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Network Load Balancer</a:t>
            </a:r>
            <a:endParaRPr/>
          </a:p>
        </p:txBody>
      </p:sp>
      <p:pic>
        <p:nvPicPr>
          <p:cNvPr id="4683" name="Google Shape;4683;p180"/>
          <p:cNvPicPr preferRelativeResize="0"/>
          <p:nvPr/>
        </p:nvPicPr>
        <p:blipFill>
          <a:blip r:embed="rId12">
            <a:alphaModFix/>
          </a:blip>
          <a:stretch>
            <a:fillRect/>
          </a:stretch>
        </p:blipFill>
        <p:spPr>
          <a:xfrm>
            <a:off x="1823365" y="4601349"/>
            <a:ext cx="234015" cy="274067"/>
          </a:xfrm>
          <a:prstGeom prst="rect">
            <a:avLst/>
          </a:prstGeom>
          <a:noFill/>
          <a:ln>
            <a:noFill/>
          </a:ln>
        </p:spPr>
      </p:pic>
      <p:sp>
        <p:nvSpPr>
          <p:cNvPr id="4684" name="Google Shape;4684;p180"/>
          <p:cNvSpPr txBox="1"/>
          <p:nvPr/>
        </p:nvSpPr>
        <p:spPr>
          <a:xfrm>
            <a:off x="1520625" y="4369050"/>
            <a:ext cx="9576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Your Resources</a:t>
            </a:r>
            <a:endParaRPr>
              <a:solidFill>
                <a:schemeClr val="dk1"/>
              </a:solidFill>
            </a:endParaRPr>
          </a:p>
        </p:txBody>
      </p:sp>
      <p:pic>
        <p:nvPicPr>
          <p:cNvPr id="4685" name="Google Shape;4685;p180" title="1676298885648.png"/>
          <p:cNvPicPr preferRelativeResize="0"/>
          <p:nvPr/>
        </p:nvPicPr>
        <p:blipFill rotWithShape="1">
          <a:blip r:embed="rId13">
            <a:alphaModFix/>
          </a:blip>
          <a:srcRect b="19570" l="27705" r="27709" t="16535"/>
          <a:stretch/>
        </p:blipFill>
        <p:spPr>
          <a:xfrm>
            <a:off x="1510750" y="2920450"/>
            <a:ext cx="410400" cy="307800"/>
          </a:xfrm>
          <a:prstGeom prst="rect">
            <a:avLst/>
          </a:prstGeom>
          <a:noFill/>
          <a:ln>
            <a:noFill/>
          </a:ln>
        </p:spPr>
      </p:pic>
      <p:cxnSp>
        <p:nvCxnSpPr>
          <p:cNvPr id="4686" name="Google Shape;4686;p180"/>
          <p:cNvCxnSpPr/>
          <p:nvPr/>
        </p:nvCxnSpPr>
        <p:spPr>
          <a:xfrm>
            <a:off x="2884975" y="3892425"/>
            <a:ext cx="0" cy="3300"/>
          </a:xfrm>
          <a:prstGeom prst="straightConnector1">
            <a:avLst/>
          </a:prstGeom>
          <a:noFill/>
          <a:ln cap="flat" cmpd="sng" w="9525">
            <a:solidFill>
              <a:srgbClr val="618794"/>
            </a:solidFill>
            <a:prstDash val="solid"/>
            <a:round/>
            <a:headEnd len="med" w="med" type="none"/>
            <a:tailEnd len="med" w="med" type="none"/>
          </a:ln>
        </p:spPr>
      </p:cxnSp>
      <p:cxnSp>
        <p:nvCxnSpPr>
          <p:cNvPr id="4687" name="Google Shape;4687;p180"/>
          <p:cNvCxnSpPr>
            <a:endCxn id="4682" idx="3"/>
          </p:cNvCxnSpPr>
          <p:nvPr/>
        </p:nvCxnSpPr>
        <p:spPr>
          <a:xfrm rot="10800000">
            <a:off x="2449125" y="4081700"/>
            <a:ext cx="1196100" cy="570900"/>
          </a:xfrm>
          <a:prstGeom prst="straightConnector1">
            <a:avLst/>
          </a:prstGeom>
          <a:noFill/>
          <a:ln cap="flat" cmpd="sng" w="9525">
            <a:solidFill>
              <a:srgbClr val="618794"/>
            </a:solidFill>
            <a:prstDash val="solid"/>
            <a:round/>
            <a:headEnd len="med" w="med" type="none"/>
            <a:tailEnd len="med" w="med" type="triangle"/>
          </a:ln>
        </p:spPr>
      </p:cxn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1" name="Shape 4691"/>
        <p:cNvGrpSpPr/>
        <p:nvPr/>
      </p:nvGrpSpPr>
      <p:grpSpPr>
        <a:xfrm>
          <a:off x="0" y="0"/>
          <a:ext cx="0" cy="0"/>
          <a:chOff x="0" y="0"/>
          <a:chExt cx="0" cy="0"/>
        </a:xfrm>
      </p:grpSpPr>
      <p:sp>
        <p:nvSpPr>
          <p:cNvPr id="4692" name="Google Shape;4692;p181"/>
          <p:cNvSpPr/>
          <p:nvPr/>
        </p:nvSpPr>
        <p:spPr>
          <a:xfrm>
            <a:off x="4191025" y="2709600"/>
            <a:ext cx="1994100" cy="2593200"/>
          </a:xfrm>
          <a:prstGeom prst="roundRect">
            <a:avLst>
              <a:gd fmla="val 16667" name="adj"/>
            </a:avLst>
          </a:prstGeom>
          <a:noFill/>
          <a:ln cap="flat" cmpd="sng" w="9525">
            <a:solidFill>
              <a:srgbClr val="4359FF"/>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4693" name="Google Shape;4693;p181"/>
          <p:cNvSpPr/>
          <p:nvPr/>
        </p:nvSpPr>
        <p:spPr>
          <a:xfrm>
            <a:off x="4365088" y="3110500"/>
            <a:ext cx="1626900" cy="799800"/>
          </a:xfrm>
          <a:prstGeom prst="roundRect">
            <a:avLst>
              <a:gd fmla="val 22689" name="adj"/>
            </a:avLst>
          </a:prstGeom>
          <a:noFill/>
          <a:ln cap="flat" cmpd="sng" w="9525">
            <a:solidFill>
              <a:srgbClr val="4359FF"/>
            </a:solidFill>
            <a:prstDash val="solid"/>
            <a:round/>
            <a:headEnd len="sm" w="sm" type="none"/>
            <a:tailEnd len="sm" w="sm" type="none"/>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Private Link Subnet</a:t>
            </a:r>
            <a:endParaRPr b="1" i="0" sz="900" u="none" cap="none" strike="noStrike">
              <a:solidFill>
                <a:srgbClr val="1B5162"/>
              </a:solidFill>
              <a:latin typeface="DM Sans"/>
              <a:ea typeface="DM Sans"/>
              <a:cs typeface="DM Sans"/>
              <a:sym typeface="DM Sans"/>
            </a:endParaRPr>
          </a:p>
        </p:txBody>
      </p:sp>
      <p:sp>
        <p:nvSpPr>
          <p:cNvPr id="4694" name="Google Shape;4694;p181"/>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695" name="Google Shape;4695;p181"/>
          <p:cNvSpPr txBox="1"/>
          <p:nvPr/>
        </p:nvSpPr>
        <p:spPr>
          <a:xfrm>
            <a:off x="4523475" y="2792250"/>
            <a:ext cx="1743600" cy="126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Databricks Serverless Plane </a:t>
            </a:r>
            <a:endParaRPr sz="900">
              <a:solidFill>
                <a:srgbClr val="1B3139"/>
              </a:solidFill>
              <a:latin typeface="DM Sans"/>
              <a:ea typeface="DM Sans"/>
              <a:cs typeface="DM Sans"/>
              <a:sym typeface="DM Sans"/>
            </a:endParaRPr>
          </a:p>
        </p:txBody>
      </p:sp>
      <p:sp>
        <p:nvSpPr>
          <p:cNvPr id="4696" name="Google Shape;4696;p181"/>
          <p:cNvSpPr/>
          <p:nvPr/>
        </p:nvSpPr>
        <p:spPr>
          <a:xfrm>
            <a:off x="6717200" y="2709600"/>
            <a:ext cx="2445300" cy="2593200"/>
          </a:xfrm>
          <a:prstGeom prst="roundRect">
            <a:avLst>
              <a:gd fmla="val 16667" name="adj"/>
            </a:avLst>
          </a:prstGeom>
          <a:noFill/>
          <a:ln cap="flat" cmpd="sng" w="9525">
            <a:solidFill>
              <a:srgbClr val="03875C"/>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4697" name="Google Shape;4697;p181"/>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/_static/images/security/network/pl-aws.png</a:t>
            </a:r>
            <a:endParaRPr/>
          </a:p>
        </p:txBody>
      </p:sp>
      <p:grpSp>
        <p:nvGrpSpPr>
          <p:cNvPr id="4698" name="Google Shape;4698;p181"/>
          <p:cNvGrpSpPr/>
          <p:nvPr/>
        </p:nvGrpSpPr>
        <p:grpSpPr>
          <a:xfrm>
            <a:off x="7032352" y="3103631"/>
            <a:ext cx="1819547" cy="1869988"/>
            <a:chOff x="1013125" y="382029"/>
            <a:chExt cx="2245800" cy="2282700"/>
          </a:xfrm>
        </p:grpSpPr>
        <p:sp>
          <p:nvSpPr>
            <p:cNvPr id="4699" name="Google Shape;4699;p181"/>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4700" name="Google Shape;4700;p181"/>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4701" name="Google Shape;4701;p181"/>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4702" name="Google Shape;4702;p181"/>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4703" name="Google Shape;4703;p181"/>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pic>
        <p:nvPicPr>
          <p:cNvPr id="4704" name="Google Shape;4704;p181"/>
          <p:cNvPicPr preferRelativeResize="0"/>
          <p:nvPr/>
        </p:nvPicPr>
        <p:blipFill>
          <a:blip r:embed="rId3">
            <a:alphaModFix/>
          </a:blip>
          <a:stretch>
            <a:fillRect/>
          </a:stretch>
        </p:blipFill>
        <p:spPr>
          <a:xfrm>
            <a:off x="7078343" y="2766286"/>
            <a:ext cx="188635" cy="212833"/>
          </a:xfrm>
          <a:prstGeom prst="rect">
            <a:avLst/>
          </a:prstGeom>
          <a:noFill/>
          <a:ln>
            <a:noFill/>
          </a:ln>
        </p:spPr>
      </p:pic>
      <p:sp>
        <p:nvSpPr>
          <p:cNvPr id="4705" name="Google Shape;4705;p181"/>
          <p:cNvSpPr txBox="1"/>
          <p:nvPr/>
        </p:nvSpPr>
        <p:spPr>
          <a:xfrm>
            <a:off x="7331450" y="2792250"/>
            <a:ext cx="16269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Databricks Control Plane</a:t>
            </a:r>
            <a:endParaRPr sz="1400">
              <a:solidFill>
                <a:srgbClr val="1B3139"/>
              </a:solidFill>
              <a:latin typeface="DM Sans"/>
              <a:ea typeface="DM Sans"/>
              <a:cs typeface="DM Sans"/>
              <a:sym typeface="DM Sans"/>
            </a:endParaRPr>
          </a:p>
        </p:txBody>
      </p:sp>
      <p:pic>
        <p:nvPicPr>
          <p:cNvPr id="4706" name="Google Shape;4706;p181"/>
          <p:cNvPicPr preferRelativeResize="0"/>
          <p:nvPr/>
        </p:nvPicPr>
        <p:blipFill>
          <a:blip r:embed="rId3">
            <a:alphaModFix/>
          </a:blip>
          <a:stretch>
            <a:fillRect/>
          </a:stretch>
        </p:blipFill>
        <p:spPr>
          <a:xfrm>
            <a:off x="4352005" y="2824036"/>
            <a:ext cx="188635" cy="212833"/>
          </a:xfrm>
          <a:prstGeom prst="rect">
            <a:avLst/>
          </a:prstGeom>
          <a:noFill/>
          <a:ln>
            <a:noFill/>
          </a:ln>
        </p:spPr>
      </p:pic>
      <p:sp>
        <p:nvSpPr>
          <p:cNvPr id="4707" name="Google Shape;4707;p181"/>
          <p:cNvSpPr/>
          <p:nvPr/>
        </p:nvSpPr>
        <p:spPr>
          <a:xfrm rot="5400000">
            <a:off x="1081250" y="2184075"/>
            <a:ext cx="1611900" cy="3271800"/>
          </a:xfrm>
          <a:prstGeom prst="roundRect">
            <a:avLst>
              <a:gd fmla="val 16667" name="adj"/>
            </a:avLst>
          </a:prstGeom>
          <a:noFill/>
          <a:ln cap="flat" cmpd="sng" w="9525">
            <a:solidFill>
              <a:srgbClr val="EF6450"/>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900">
              <a:solidFill>
                <a:srgbClr val="1B3139"/>
              </a:solidFill>
              <a:latin typeface="DM Sans"/>
              <a:ea typeface="DM Sans"/>
              <a:cs typeface="DM Sans"/>
              <a:sym typeface="DM Sans"/>
            </a:endParaRPr>
          </a:p>
        </p:txBody>
      </p:sp>
      <p:sp>
        <p:nvSpPr>
          <p:cNvPr id="4708" name="Google Shape;4708;p181"/>
          <p:cNvSpPr/>
          <p:nvPr/>
        </p:nvSpPr>
        <p:spPr>
          <a:xfrm>
            <a:off x="4432613" y="4013900"/>
            <a:ext cx="1598100" cy="1154100"/>
          </a:xfrm>
          <a:prstGeom prst="roundRect">
            <a:avLst>
              <a:gd fmla="val 16667" name="adj"/>
            </a:avLst>
          </a:prstGeom>
          <a:noFill/>
          <a:ln cap="flat" cmpd="sng" w="9525">
            <a:solidFill>
              <a:srgbClr val="EF64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900">
              <a:solidFill>
                <a:srgbClr val="1B5162"/>
              </a:solidFill>
              <a:latin typeface="DM Sans Medium"/>
              <a:ea typeface="DM Sans Medium"/>
              <a:cs typeface="DM Sans Medium"/>
              <a:sym typeface="DM Sans Medium"/>
            </a:endParaRPr>
          </a:p>
        </p:txBody>
      </p:sp>
      <p:sp>
        <p:nvSpPr>
          <p:cNvPr id="4709" name="Google Shape;4709;p181"/>
          <p:cNvSpPr txBox="1"/>
          <p:nvPr/>
        </p:nvSpPr>
        <p:spPr>
          <a:xfrm>
            <a:off x="1782725" y="3077525"/>
            <a:ext cx="791700" cy="2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Your VPC</a:t>
            </a:r>
            <a:endParaRPr sz="2400">
              <a:solidFill>
                <a:schemeClr val="dk2"/>
              </a:solidFill>
            </a:endParaRPr>
          </a:p>
        </p:txBody>
      </p:sp>
      <p:sp>
        <p:nvSpPr>
          <p:cNvPr id="4710" name="Google Shape;4710;p181"/>
          <p:cNvSpPr/>
          <p:nvPr/>
        </p:nvSpPr>
        <p:spPr>
          <a:xfrm>
            <a:off x="1467750" y="3431400"/>
            <a:ext cx="791700" cy="972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1" name="Google Shape;4711;p181"/>
          <p:cNvSpPr/>
          <p:nvPr/>
        </p:nvSpPr>
        <p:spPr>
          <a:xfrm>
            <a:off x="387025" y="3421425"/>
            <a:ext cx="757200" cy="990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12" name="Google Shape;4712;p181"/>
          <p:cNvPicPr preferRelativeResize="0"/>
          <p:nvPr/>
        </p:nvPicPr>
        <p:blipFill>
          <a:blip r:embed="rId4">
            <a:alphaModFix/>
          </a:blip>
          <a:stretch>
            <a:fillRect/>
          </a:stretch>
        </p:blipFill>
        <p:spPr>
          <a:xfrm>
            <a:off x="1749195" y="3786882"/>
            <a:ext cx="234025" cy="261328"/>
          </a:xfrm>
          <a:prstGeom prst="rect">
            <a:avLst/>
          </a:prstGeom>
          <a:solidFill>
            <a:srgbClr val="FFFFFF">
              <a:alpha val="94050"/>
            </a:srgbClr>
          </a:solidFill>
          <a:ln cap="flat" cmpd="sng" w="19050">
            <a:solidFill>
              <a:srgbClr val="1B5162"/>
            </a:solidFill>
            <a:prstDash val="solid"/>
            <a:round/>
            <a:headEnd len="sm" w="sm" type="none"/>
            <a:tailEnd len="sm" w="sm" type="none"/>
          </a:ln>
        </p:spPr>
      </p:pic>
      <p:sp>
        <p:nvSpPr>
          <p:cNvPr id="4713" name="Google Shape;4713;p181"/>
          <p:cNvSpPr txBox="1"/>
          <p:nvPr/>
        </p:nvSpPr>
        <p:spPr>
          <a:xfrm>
            <a:off x="1407075" y="3416925"/>
            <a:ext cx="95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NLB </a:t>
            </a:r>
            <a:r>
              <a:rPr lang="en" sz="800">
                <a:solidFill>
                  <a:srgbClr val="1B3038"/>
                </a:solidFill>
                <a:latin typeface="DM Sans"/>
                <a:ea typeface="DM Sans"/>
                <a:cs typeface="DM Sans"/>
                <a:sym typeface="DM Sans"/>
              </a:rPr>
              <a:t>Subnet</a:t>
            </a:r>
            <a:endParaRPr>
              <a:solidFill>
                <a:schemeClr val="dk1"/>
              </a:solidFill>
            </a:endParaRPr>
          </a:p>
          <a:p>
            <a:pPr indent="0" lvl="0" marL="0" rtl="0" algn="ctr">
              <a:spcBef>
                <a:spcPts val="0"/>
              </a:spcBef>
              <a:spcAft>
                <a:spcPts val="0"/>
              </a:spcAft>
              <a:buNone/>
            </a:pPr>
            <a:r>
              <a:t/>
            </a:r>
            <a:endParaRPr sz="800">
              <a:solidFill>
                <a:srgbClr val="1B3038"/>
              </a:solidFill>
              <a:latin typeface="DM Sans"/>
              <a:ea typeface="DM Sans"/>
              <a:cs typeface="DM Sans"/>
              <a:sym typeface="DM Sans"/>
            </a:endParaRPr>
          </a:p>
        </p:txBody>
      </p:sp>
      <p:sp>
        <p:nvSpPr>
          <p:cNvPr id="4714" name="Google Shape;4714;p181"/>
          <p:cNvSpPr txBox="1"/>
          <p:nvPr/>
        </p:nvSpPr>
        <p:spPr>
          <a:xfrm>
            <a:off x="669275" y="3329375"/>
            <a:ext cx="234000" cy="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endParaRPr>
          </a:p>
        </p:txBody>
      </p:sp>
      <p:sp>
        <p:nvSpPr>
          <p:cNvPr id="4715" name="Google Shape;4715;p181"/>
          <p:cNvSpPr txBox="1"/>
          <p:nvPr/>
        </p:nvSpPr>
        <p:spPr>
          <a:xfrm>
            <a:off x="1386825" y="4031625"/>
            <a:ext cx="95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Network Load Balancer</a:t>
            </a:r>
            <a:endParaRPr/>
          </a:p>
        </p:txBody>
      </p:sp>
      <p:sp>
        <p:nvSpPr>
          <p:cNvPr id="4716" name="Google Shape;4716;p181"/>
          <p:cNvSpPr txBox="1"/>
          <p:nvPr/>
        </p:nvSpPr>
        <p:spPr>
          <a:xfrm>
            <a:off x="286850" y="3503663"/>
            <a:ext cx="95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Private</a:t>
            </a:r>
            <a:endParaRPr sz="800">
              <a:solidFill>
                <a:srgbClr val="1B3038"/>
              </a:solidFill>
              <a:latin typeface="DM Sans"/>
              <a:ea typeface="DM Sans"/>
              <a:cs typeface="DM Sans"/>
              <a:sym typeface="DM Sans"/>
            </a:endParaRPr>
          </a:p>
          <a:p>
            <a:pPr indent="0" lvl="0" marL="0" rtl="0" algn="ctr">
              <a:spcBef>
                <a:spcPts val="0"/>
              </a:spcBef>
              <a:spcAft>
                <a:spcPts val="0"/>
              </a:spcAft>
              <a:buNone/>
            </a:pPr>
            <a:r>
              <a:rPr lang="en" sz="800">
                <a:solidFill>
                  <a:srgbClr val="1B3038"/>
                </a:solidFill>
                <a:latin typeface="DM Sans"/>
                <a:ea typeface="DM Sans"/>
                <a:cs typeface="DM Sans"/>
                <a:sym typeface="DM Sans"/>
              </a:rPr>
              <a:t> Endpoint</a:t>
            </a:r>
            <a:endParaRPr>
              <a:solidFill>
                <a:schemeClr val="dk1"/>
              </a:solidFill>
            </a:endParaRPr>
          </a:p>
        </p:txBody>
      </p:sp>
      <p:pic>
        <p:nvPicPr>
          <p:cNvPr id="4717" name="Google Shape;4717;p181" title="1676298885648.png"/>
          <p:cNvPicPr preferRelativeResize="0"/>
          <p:nvPr/>
        </p:nvPicPr>
        <p:blipFill rotWithShape="1">
          <a:blip r:embed="rId5">
            <a:alphaModFix/>
          </a:blip>
          <a:srcRect b="19570" l="27705" r="27709" t="16535"/>
          <a:stretch/>
        </p:blipFill>
        <p:spPr>
          <a:xfrm>
            <a:off x="1440150" y="3049500"/>
            <a:ext cx="410400" cy="307800"/>
          </a:xfrm>
          <a:prstGeom prst="rect">
            <a:avLst/>
          </a:prstGeom>
          <a:noFill/>
          <a:ln>
            <a:noFill/>
          </a:ln>
        </p:spPr>
      </p:pic>
      <p:cxnSp>
        <p:nvCxnSpPr>
          <p:cNvPr id="4718" name="Google Shape;4718;p181"/>
          <p:cNvCxnSpPr/>
          <p:nvPr/>
        </p:nvCxnSpPr>
        <p:spPr>
          <a:xfrm>
            <a:off x="2019225" y="3838300"/>
            <a:ext cx="0" cy="3300"/>
          </a:xfrm>
          <a:prstGeom prst="straightConnector1">
            <a:avLst/>
          </a:prstGeom>
          <a:noFill/>
          <a:ln cap="flat" cmpd="sng" w="9525">
            <a:solidFill>
              <a:srgbClr val="618794"/>
            </a:solidFill>
            <a:prstDash val="solid"/>
            <a:round/>
            <a:headEnd len="med" w="med" type="none"/>
            <a:tailEnd len="med" w="med" type="none"/>
          </a:ln>
        </p:spPr>
      </p:cxnSp>
      <p:pic>
        <p:nvPicPr>
          <p:cNvPr id="4719" name="Google Shape;4719;p181"/>
          <p:cNvPicPr preferRelativeResize="0"/>
          <p:nvPr/>
        </p:nvPicPr>
        <p:blipFill rotWithShape="1">
          <a:blip r:embed="rId6">
            <a:alphaModFix/>
          </a:blip>
          <a:srcRect b="0" l="17722" r="0" t="0"/>
          <a:stretch/>
        </p:blipFill>
        <p:spPr>
          <a:xfrm>
            <a:off x="624125" y="3890358"/>
            <a:ext cx="324300" cy="400139"/>
          </a:xfrm>
          <a:prstGeom prst="rect">
            <a:avLst/>
          </a:prstGeom>
          <a:noFill/>
          <a:ln>
            <a:noFill/>
          </a:ln>
        </p:spPr>
      </p:pic>
      <p:pic>
        <p:nvPicPr>
          <p:cNvPr id="4720" name="Google Shape;4720;p181" title="2025-06-10_10-50-58.png"/>
          <p:cNvPicPr preferRelativeResize="0"/>
          <p:nvPr/>
        </p:nvPicPr>
        <p:blipFill>
          <a:blip r:embed="rId7">
            <a:alphaModFix/>
          </a:blip>
          <a:stretch>
            <a:fillRect/>
          </a:stretch>
        </p:blipFill>
        <p:spPr>
          <a:xfrm>
            <a:off x="4961698" y="4453125"/>
            <a:ext cx="423402" cy="431100"/>
          </a:xfrm>
          <a:prstGeom prst="rect">
            <a:avLst/>
          </a:prstGeom>
          <a:noFill/>
          <a:ln>
            <a:noFill/>
          </a:ln>
        </p:spPr>
      </p:pic>
      <p:sp>
        <p:nvSpPr>
          <p:cNvPr id="4721" name="Google Shape;4721;p181"/>
          <p:cNvSpPr txBox="1"/>
          <p:nvPr/>
        </p:nvSpPr>
        <p:spPr>
          <a:xfrm>
            <a:off x="4503175" y="4013900"/>
            <a:ext cx="1424100" cy="26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DM Sans"/>
                <a:ea typeface="DM Sans"/>
                <a:cs typeface="DM Sans"/>
                <a:sym typeface="DM Sans"/>
              </a:rPr>
              <a:t>Serverless Compute</a:t>
            </a:r>
            <a:endParaRPr sz="900">
              <a:solidFill>
                <a:schemeClr val="dk2"/>
              </a:solidFill>
              <a:latin typeface="DM Sans"/>
              <a:ea typeface="DM Sans"/>
              <a:cs typeface="DM Sans"/>
              <a:sym typeface="DM Sans"/>
            </a:endParaRPr>
          </a:p>
          <a:p>
            <a:pPr indent="0" lvl="0" marL="0" rtl="0" algn="ctr">
              <a:spcBef>
                <a:spcPts val="0"/>
              </a:spcBef>
              <a:spcAft>
                <a:spcPts val="0"/>
              </a:spcAft>
              <a:buNone/>
            </a:pPr>
            <a:r>
              <a:rPr lang="en" sz="900">
                <a:solidFill>
                  <a:schemeClr val="dk2"/>
                </a:solidFill>
                <a:latin typeface="DM Sans"/>
                <a:ea typeface="DM Sans"/>
                <a:cs typeface="DM Sans"/>
                <a:sym typeface="DM Sans"/>
              </a:rPr>
              <a:t> Subnet</a:t>
            </a:r>
            <a:endParaRPr sz="900">
              <a:solidFill>
                <a:schemeClr val="dk2"/>
              </a:solidFill>
              <a:latin typeface="DM Sans"/>
              <a:ea typeface="DM Sans"/>
              <a:cs typeface="DM Sans"/>
              <a:sym typeface="DM Sans"/>
            </a:endParaRPr>
          </a:p>
        </p:txBody>
      </p:sp>
      <p:sp>
        <p:nvSpPr>
          <p:cNvPr id="4722" name="Google Shape;4722;p181"/>
          <p:cNvSpPr txBox="1"/>
          <p:nvPr/>
        </p:nvSpPr>
        <p:spPr>
          <a:xfrm>
            <a:off x="4359950" y="4870300"/>
            <a:ext cx="1626900" cy="18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DM Sans"/>
                <a:ea typeface="DM Sans"/>
                <a:cs typeface="DM Sans"/>
                <a:sym typeface="DM Sans"/>
              </a:rPr>
              <a:t>Dedicated Compute</a:t>
            </a:r>
            <a:endParaRPr sz="900">
              <a:solidFill>
                <a:schemeClr val="dk2"/>
              </a:solidFill>
              <a:latin typeface="DM Sans"/>
              <a:ea typeface="DM Sans"/>
              <a:cs typeface="DM Sans"/>
              <a:sym typeface="DM Sans"/>
            </a:endParaRPr>
          </a:p>
        </p:txBody>
      </p:sp>
      <p:pic>
        <p:nvPicPr>
          <p:cNvPr id="4723" name="Google Shape;4723;p181"/>
          <p:cNvPicPr preferRelativeResize="0"/>
          <p:nvPr/>
        </p:nvPicPr>
        <p:blipFill rotWithShape="1">
          <a:blip r:embed="rId6">
            <a:alphaModFix/>
          </a:blip>
          <a:srcRect b="0" l="17722" r="0" t="0"/>
          <a:stretch/>
        </p:blipFill>
        <p:spPr>
          <a:xfrm>
            <a:off x="4974538" y="3411420"/>
            <a:ext cx="324300" cy="400139"/>
          </a:xfrm>
          <a:prstGeom prst="rect">
            <a:avLst/>
          </a:prstGeom>
          <a:noFill/>
          <a:ln>
            <a:noFill/>
          </a:ln>
        </p:spPr>
      </p:pic>
      <p:pic>
        <p:nvPicPr>
          <p:cNvPr id="4724" name="Google Shape;4724;p181" title="2025-06-10_10-55-01.png"/>
          <p:cNvPicPr preferRelativeResize="0"/>
          <p:nvPr/>
        </p:nvPicPr>
        <p:blipFill>
          <a:blip r:embed="rId8">
            <a:alphaModFix/>
          </a:blip>
          <a:stretch>
            <a:fillRect/>
          </a:stretch>
        </p:blipFill>
        <p:spPr>
          <a:xfrm>
            <a:off x="3066138" y="5302804"/>
            <a:ext cx="634588" cy="621896"/>
          </a:xfrm>
          <a:prstGeom prst="rect">
            <a:avLst/>
          </a:prstGeom>
          <a:noFill/>
          <a:ln>
            <a:noFill/>
          </a:ln>
        </p:spPr>
      </p:pic>
      <p:grpSp>
        <p:nvGrpSpPr>
          <p:cNvPr id="4725" name="Google Shape;4725;p181"/>
          <p:cNvGrpSpPr/>
          <p:nvPr/>
        </p:nvGrpSpPr>
        <p:grpSpPr>
          <a:xfrm>
            <a:off x="9752519" y="2647060"/>
            <a:ext cx="847162" cy="739340"/>
            <a:chOff x="91762" y="2601287"/>
            <a:chExt cx="1189500" cy="1083600"/>
          </a:xfrm>
        </p:grpSpPr>
        <p:sp>
          <p:nvSpPr>
            <p:cNvPr id="4726" name="Google Shape;4726;p181"/>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4727" name="Google Shape;4727;p181"/>
            <p:cNvPicPr preferRelativeResize="0"/>
            <p:nvPr/>
          </p:nvPicPr>
          <p:blipFill rotWithShape="1">
            <a:blip r:embed="rId9">
              <a:alphaModFix/>
            </a:blip>
            <a:srcRect b="0" l="0" r="0" t="0"/>
            <a:stretch/>
          </p:blipFill>
          <p:spPr>
            <a:xfrm>
              <a:off x="452892" y="3143220"/>
              <a:ext cx="467236" cy="437700"/>
            </a:xfrm>
            <a:prstGeom prst="rect">
              <a:avLst/>
            </a:prstGeom>
            <a:noFill/>
            <a:ln>
              <a:noFill/>
            </a:ln>
          </p:spPr>
        </p:pic>
      </p:grpSp>
      <p:sp>
        <p:nvSpPr>
          <p:cNvPr id="4728" name="Google Shape;4728;p181"/>
          <p:cNvSpPr/>
          <p:nvPr/>
        </p:nvSpPr>
        <p:spPr>
          <a:xfrm>
            <a:off x="9740094" y="3540835"/>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BI Apps</a:t>
            </a:r>
            <a:endParaRPr sz="900">
              <a:solidFill>
                <a:srgbClr val="1B5162"/>
              </a:solidFill>
              <a:latin typeface="DM Sans Medium"/>
              <a:ea typeface="DM Sans Medium"/>
              <a:cs typeface="DM Sans Medium"/>
              <a:sym typeface="DM Sans Medium"/>
            </a:endParaRPr>
          </a:p>
        </p:txBody>
      </p:sp>
      <p:sp>
        <p:nvSpPr>
          <p:cNvPr id="4729" name="Google Shape;4729;p181"/>
          <p:cNvSpPr/>
          <p:nvPr/>
        </p:nvSpPr>
        <p:spPr>
          <a:xfrm>
            <a:off x="9740094" y="443461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Delta Sharing </a:t>
            </a:r>
            <a:endParaRPr sz="900">
              <a:solidFill>
                <a:srgbClr val="1B5162"/>
              </a:solidFill>
              <a:latin typeface="DM Sans Medium"/>
              <a:ea typeface="DM Sans Medium"/>
              <a:cs typeface="DM Sans Medium"/>
              <a:sym typeface="DM Sans Medium"/>
            </a:endParaRPr>
          </a:p>
        </p:txBody>
      </p:sp>
      <p:pic>
        <p:nvPicPr>
          <p:cNvPr id="4730" name="Google Shape;4730;p181"/>
          <p:cNvPicPr preferRelativeResize="0"/>
          <p:nvPr/>
        </p:nvPicPr>
        <p:blipFill>
          <a:blip r:embed="rId10">
            <a:alphaModFix/>
          </a:blip>
          <a:stretch>
            <a:fillRect/>
          </a:stretch>
        </p:blipFill>
        <p:spPr>
          <a:xfrm>
            <a:off x="10001524" y="4837106"/>
            <a:ext cx="324300" cy="274693"/>
          </a:xfrm>
          <a:prstGeom prst="rect">
            <a:avLst/>
          </a:prstGeom>
          <a:noFill/>
          <a:ln cap="flat" cmpd="sng" w="9525">
            <a:solidFill>
              <a:srgbClr val="F9F7F4"/>
            </a:solidFill>
            <a:prstDash val="solid"/>
            <a:round/>
            <a:headEnd len="sm" w="sm" type="none"/>
            <a:tailEnd len="sm" w="sm" type="none"/>
          </a:ln>
        </p:spPr>
      </p:pic>
      <p:pic>
        <p:nvPicPr>
          <p:cNvPr descr="A picture containing object&#10;&#10;Description automatically generated" id="4731" name="Google Shape;4731;p181"/>
          <p:cNvPicPr preferRelativeResize="0"/>
          <p:nvPr/>
        </p:nvPicPr>
        <p:blipFill rotWithShape="1">
          <a:blip r:embed="rId11">
            <a:alphaModFix/>
          </a:blip>
          <a:srcRect b="17228" l="27702" r="26712" t="18025"/>
          <a:stretch/>
        </p:blipFill>
        <p:spPr>
          <a:xfrm>
            <a:off x="9820600" y="3970003"/>
            <a:ext cx="189040" cy="184421"/>
          </a:xfrm>
          <a:prstGeom prst="rect">
            <a:avLst/>
          </a:prstGeom>
          <a:noFill/>
          <a:ln cap="flat" cmpd="sng" w="9525">
            <a:solidFill>
              <a:srgbClr val="000000"/>
            </a:solidFill>
            <a:prstDash val="solid"/>
            <a:round/>
            <a:headEnd len="sm" w="sm" type="none"/>
            <a:tailEnd len="sm" w="sm" type="none"/>
          </a:ln>
        </p:spPr>
      </p:pic>
      <p:pic>
        <p:nvPicPr>
          <p:cNvPr id="4732" name="Google Shape;4732;p181"/>
          <p:cNvPicPr preferRelativeResize="0"/>
          <p:nvPr/>
        </p:nvPicPr>
        <p:blipFill rotWithShape="1">
          <a:blip r:embed="rId12">
            <a:alphaModFix/>
          </a:blip>
          <a:srcRect b="0" l="64446" r="0" t="0"/>
          <a:stretch/>
        </p:blipFill>
        <p:spPr>
          <a:xfrm>
            <a:off x="10325830" y="3970003"/>
            <a:ext cx="216044" cy="184421"/>
          </a:xfrm>
          <a:prstGeom prst="rect">
            <a:avLst/>
          </a:prstGeom>
          <a:noFill/>
          <a:ln cap="flat" cmpd="sng" w="9525">
            <a:solidFill>
              <a:srgbClr val="000000"/>
            </a:solidFill>
            <a:prstDash val="solid"/>
            <a:round/>
            <a:headEnd len="sm" w="sm" type="none"/>
            <a:tailEnd len="sm" w="sm" type="none"/>
          </a:ln>
        </p:spPr>
      </p:pic>
      <p:pic>
        <p:nvPicPr>
          <p:cNvPr id="4733" name="Google Shape;4733;p181"/>
          <p:cNvPicPr preferRelativeResize="0"/>
          <p:nvPr/>
        </p:nvPicPr>
        <p:blipFill rotWithShape="1">
          <a:blip r:embed="rId13">
            <a:alphaModFix/>
          </a:blip>
          <a:srcRect b="0" l="0" r="0" t="0"/>
          <a:stretch/>
        </p:blipFill>
        <p:spPr>
          <a:xfrm>
            <a:off x="10070383" y="3970003"/>
            <a:ext cx="184429" cy="184422"/>
          </a:xfrm>
          <a:prstGeom prst="rect">
            <a:avLst/>
          </a:prstGeom>
          <a:noFill/>
          <a:ln cap="flat" cmpd="sng" w="9525">
            <a:solidFill>
              <a:srgbClr val="000000"/>
            </a:solidFill>
            <a:prstDash val="solid"/>
            <a:round/>
            <a:headEnd len="sm" w="sm" type="none"/>
            <a:tailEnd len="sm" w="sm" type="none"/>
          </a:ln>
        </p:spPr>
      </p:pic>
      <p:pic>
        <p:nvPicPr>
          <p:cNvPr id="4734" name="Google Shape;4734;p181"/>
          <p:cNvPicPr preferRelativeResize="0"/>
          <p:nvPr/>
        </p:nvPicPr>
        <p:blipFill>
          <a:blip r:embed="rId14">
            <a:alphaModFix/>
          </a:blip>
          <a:stretch>
            <a:fillRect/>
          </a:stretch>
        </p:blipFill>
        <p:spPr>
          <a:xfrm>
            <a:off x="9344496" y="3014022"/>
            <a:ext cx="184426" cy="251050"/>
          </a:xfrm>
          <a:prstGeom prst="rect">
            <a:avLst/>
          </a:prstGeom>
          <a:noFill/>
          <a:ln>
            <a:noFill/>
          </a:ln>
        </p:spPr>
      </p:pic>
      <p:pic>
        <p:nvPicPr>
          <p:cNvPr id="4735" name="Google Shape;4735;p181"/>
          <p:cNvPicPr preferRelativeResize="0"/>
          <p:nvPr/>
        </p:nvPicPr>
        <p:blipFill>
          <a:blip r:embed="rId14">
            <a:alphaModFix/>
          </a:blip>
          <a:stretch>
            <a:fillRect/>
          </a:stretch>
        </p:blipFill>
        <p:spPr>
          <a:xfrm>
            <a:off x="9344508" y="3784910"/>
            <a:ext cx="184426" cy="251050"/>
          </a:xfrm>
          <a:prstGeom prst="rect">
            <a:avLst/>
          </a:prstGeom>
          <a:noFill/>
          <a:ln>
            <a:noFill/>
          </a:ln>
        </p:spPr>
      </p:pic>
      <p:cxnSp>
        <p:nvCxnSpPr>
          <p:cNvPr id="4736" name="Google Shape;4736;p181"/>
          <p:cNvCxnSpPr>
            <a:endCxn id="4731" idx="1"/>
          </p:cNvCxnSpPr>
          <p:nvPr/>
        </p:nvCxnSpPr>
        <p:spPr>
          <a:xfrm>
            <a:off x="9820600" y="4062214"/>
            <a:ext cx="0" cy="0"/>
          </a:xfrm>
          <a:prstGeom prst="straightConnector1">
            <a:avLst/>
          </a:prstGeom>
          <a:noFill/>
          <a:ln cap="flat" cmpd="sng" w="9525">
            <a:solidFill>
              <a:schemeClr val="dk2"/>
            </a:solidFill>
            <a:prstDash val="solid"/>
            <a:round/>
            <a:headEnd len="med" w="med" type="none"/>
            <a:tailEnd len="med" w="med" type="none"/>
          </a:ln>
        </p:spPr>
      </p:cxnSp>
      <p:pic>
        <p:nvPicPr>
          <p:cNvPr id="4737" name="Google Shape;4737;p181"/>
          <p:cNvPicPr preferRelativeResize="0"/>
          <p:nvPr/>
        </p:nvPicPr>
        <p:blipFill>
          <a:blip r:embed="rId14">
            <a:alphaModFix/>
          </a:blip>
          <a:stretch>
            <a:fillRect/>
          </a:stretch>
        </p:blipFill>
        <p:spPr>
          <a:xfrm>
            <a:off x="9344508" y="4678685"/>
            <a:ext cx="184426" cy="251050"/>
          </a:xfrm>
          <a:prstGeom prst="rect">
            <a:avLst/>
          </a:prstGeom>
          <a:noFill/>
          <a:ln>
            <a:noFill/>
          </a:ln>
        </p:spPr>
      </p:pic>
      <p:cxnSp>
        <p:nvCxnSpPr>
          <p:cNvPr id="4738" name="Google Shape;4738;p181"/>
          <p:cNvCxnSpPr>
            <a:stCxn id="4729" idx="1"/>
            <a:endCxn id="4737" idx="3"/>
          </p:cNvCxnSpPr>
          <p:nvPr/>
        </p:nvCxnSpPr>
        <p:spPr>
          <a:xfrm rot="10800000">
            <a:off x="9528894" y="4804210"/>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39" name="Google Shape;4739;p181"/>
          <p:cNvCxnSpPr>
            <a:stCxn id="4728" idx="1"/>
            <a:endCxn id="4735" idx="3"/>
          </p:cNvCxnSpPr>
          <p:nvPr/>
        </p:nvCxnSpPr>
        <p:spPr>
          <a:xfrm rot="10800000">
            <a:off x="9528894" y="391043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40" name="Google Shape;4740;p181"/>
          <p:cNvCxnSpPr/>
          <p:nvPr/>
        </p:nvCxnSpPr>
        <p:spPr>
          <a:xfrm rot="10800000">
            <a:off x="9528894" y="31421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41" name="Google Shape;4741;p181"/>
          <p:cNvCxnSpPr/>
          <p:nvPr/>
        </p:nvCxnSpPr>
        <p:spPr>
          <a:xfrm rot="10800000">
            <a:off x="9162494" y="31421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42" name="Google Shape;4742;p181"/>
          <p:cNvCxnSpPr/>
          <p:nvPr/>
        </p:nvCxnSpPr>
        <p:spPr>
          <a:xfrm rot="10800000">
            <a:off x="9162494" y="391043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43" name="Google Shape;4743;p181"/>
          <p:cNvCxnSpPr/>
          <p:nvPr/>
        </p:nvCxnSpPr>
        <p:spPr>
          <a:xfrm flipH="1">
            <a:off x="9178294" y="4804210"/>
            <a:ext cx="166200" cy="2100"/>
          </a:xfrm>
          <a:prstGeom prst="straightConnector1">
            <a:avLst/>
          </a:prstGeom>
          <a:noFill/>
          <a:ln cap="flat" cmpd="sng" w="9525">
            <a:solidFill>
              <a:srgbClr val="618794"/>
            </a:solidFill>
            <a:prstDash val="solid"/>
            <a:round/>
            <a:headEnd len="med" w="med" type="none"/>
            <a:tailEnd len="med" w="med" type="none"/>
          </a:ln>
        </p:spPr>
      </p:cxnSp>
      <p:pic>
        <p:nvPicPr>
          <p:cNvPr id="4744" name="Google Shape;4744;p181"/>
          <p:cNvPicPr preferRelativeResize="0"/>
          <p:nvPr/>
        </p:nvPicPr>
        <p:blipFill>
          <a:blip r:embed="rId14">
            <a:alphaModFix/>
          </a:blip>
          <a:stretch>
            <a:fillRect/>
          </a:stretch>
        </p:blipFill>
        <p:spPr>
          <a:xfrm>
            <a:off x="6326121" y="3825185"/>
            <a:ext cx="184426" cy="251050"/>
          </a:xfrm>
          <a:prstGeom prst="rect">
            <a:avLst/>
          </a:prstGeom>
          <a:noFill/>
          <a:ln>
            <a:noFill/>
          </a:ln>
        </p:spPr>
      </p:pic>
      <p:cxnSp>
        <p:nvCxnSpPr>
          <p:cNvPr id="4745" name="Google Shape;4745;p181"/>
          <p:cNvCxnSpPr>
            <a:endCxn id="4744" idx="3"/>
          </p:cNvCxnSpPr>
          <p:nvPr/>
        </p:nvCxnSpPr>
        <p:spPr>
          <a:xfrm rot="10800000">
            <a:off x="6510547" y="3950709"/>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46" name="Google Shape;4746;p181"/>
          <p:cNvCxnSpPr/>
          <p:nvPr/>
        </p:nvCxnSpPr>
        <p:spPr>
          <a:xfrm rot="10800000">
            <a:off x="6144106" y="3950710"/>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47" name="Google Shape;4747;p181"/>
          <p:cNvCxnSpPr>
            <a:stCxn id="4724" idx="1"/>
            <a:endCxn id="4719" idx="3"/>
          </p:cNvCxnSpPr>
          <p:nvPr/>
        </p:nvCxnSpPr>
        <p:spPr>
          <a:xfrm rot="10800000">
            <a:off x="948438" y="4090352"/>
            <a:ext cx="2117700" cy="1523400"/>
          </a:xfrm>
          <a:prstGeom prst="straightConnector1">
            <a:avLst/>
          </a:prstGeom>
          <a:noFill/>
          <a:ln cap="flat" cmpd="sng" w="9525">
            <a:solidFill>
              <a:srgbClr val="618794"/>
            </a:solidFill>
            <a:prstDash val="solid"/>
            <a:round/>
            <a:headEnd len="med" w="med" type="none"/>
            <a:tailEnd len="med" w="med" type="triangle"/>
          </a:ln>
        </p:spPr>
      </p:cxnSp>
      <p:sp>
        <p:nvSpPr>
          <p:cNvPr id="4748" name="Google Shape;4748;p181"/>
          <p:cNvSpPr txBox="1"/>
          <p:nvPr/>
        </p:nvSpPr>
        <p:spPr>
          <a:xfrm>
            <a:off x="3004838" y="6025475"/>
            <a:ext cx="757200" cy="26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DM Sans"/>
                <a:ea typeface="DM Sans"/>
                <a:cs typeface="DM Sans"/>
                <a:sym typeface="DM Sans"/>
              </a:rPr>
              <a:t>AWS PrivateLink</a:t>
            </a:r>
            <a:endParaRPr sz="900">
              <a:solidFill>
                <a:schemeClr val="dk2"/>
              </a:solidFill>
              <a:latin typeface="DM Sans"/>
              <a:ea typeface="DM Sans"/>
              <a:cs typeface="DM Sans"/>
              <a:sym typeface="DM Sans"/>
            </a:endParaRPr>
          </a:p>
        </p:txBody>
      </p:sp>
      <p:sp>
        <p:nvSpPr>
          <p:cNvPr id="4749" name="Google Shape;4749;p181"/>
          <p:cNvSpPr/>
          <p:nvPr/>
        </p:nvSpPr>
        <p:spPr>
          <a:xfrm>
            <a:off x="2702625" y="3430575"/>
            <a:ext cx="642000" cy="972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50" name="Google Shape;4750;p181"/>
          <p:cNvPicPr preferRelativeResize="0"/>
          <p:nvPr/>
        </p:nvPicPr>
        <p:blipFill>
          <a:blip r:embed="rId15">
            <a:alphaModFix/>
          </a:blip>
          <a:stretch>
            <a:fillRect/>
          </a:stretch>
        </p:blipFill>
        <p:spPr>
          <a:xfrm>
            <a:off x="2913877" y="3916649"/>
            <a:ext cx="234015" cy="274067"/>
          </a:xfrm>
          <a:prstGeom prst="rect">
            <a:avLst/>
          </a:prstGeom>
          <a:noFill/>
          <a:ln>
            <a:noFill/>
          </a:ln>
        </p:spPr>
      </p:pic>
      <p:sp>
        <p:nvSpPr>
          <p:cNvPr id="4751" name="Google Shape;4751;p181"/>
          <p:cNvSpPr txBox="1"/>
          <p:nvPr/>
        </p:nvSpPr>
        <p:spPr>
          <a:xfrm>
            <a:off x="2607288" y="3430575"/>
            <a:ext cx="847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Your Resources</a:t>
            </a:r>
            <a:endParaRPr/>
          </a:p>
        </p:txBody>
      </p:sp>
      <p:cxnSp>
        <p:nvCxnSpPr>
          <p:cNvPr id="4752" name="Google Shape;4752;p181"/>
          <p:cNvCxnSpPr>
            <a:endCxn id="4724" idx="3"/>
          </p:cNvCxnSpPr>
          <p:nvPr/>
        </p:nvCxnSpPr>
        <p:spPr>
          <a:xfrm flipH="1">
            <a:off x="3700725" y="4817252"/>
            <a:ext cx="900300" cy="796500"/>
          </a:xfrm>
          <a:prstGeom prst="straightConnector1">
            <a:avLst/>
          </a:prstGeom>
          <a:noFill/>
          <a:ln cap="flat" cmpd="sng" w="9525">
            <a:solidFill>
              <a:srgbClr val="618794"/>
            </a:solidFill>
            <a:prstDash val="solid"/>
            <a:round/>
            <a:headEnd len="med" w="med" type="none"/>
            <a:tailEnd len="med" w="med" type="triangle"/>
          </a:ln>
        </p:spPr>
      </p:cxnSp>
      <p:cxnSp>
        <p:nvCxnSpPr>
          <p:cNvPr id="4753" name="Google Shape;4753;p181"/>
          <p:cNvCxnSpPr/>
          <p:nvPr/>
        </p:nvCxnSpPr>
        <p:spPr>
          <a:xfrm>
            <a:off x="1144213" y="3982300"/>
            <a:ext cx="345000" cy="1800"/>
          </a:xfrm>
          <a:prstGeom prst="straightConnector1">
            <a:avLst/>
          </a:prstGeom>
          <a:noFill/>
          <a:ln cap="flat" cmpd="sng" w="9525">
            <a:solidFill>
              <a:schemeClr val="dk2"/>
            </a:solidFill>
            <a:prstDash val="solid"/>
            <a:round/>
            <a:headEnd len="med" w="med" type="none"/>
            <a:tailEnd len="med" w="med" type="triangle"/>
          </a:ln>
        </p:spPr>
      </p:cxnSp>
      <p:cxnSp>
        <p:nvCxnSpPr>
          <p:cNvPr id="4754" name="Google Shape;4754;p181"/>
          <p:cNvCxnSpPr/>
          <p:nvPr/>
        </p:nvCxnSpPr>
        <p:spPr>
          <a:xfrm>
            <a:off x="2259450" y="3958275"/>
            <a:ext cx="4476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8" name="Shape 4758"/>
        <p:cNvGrpSpPr/>
        <p:nvPr/>
      </p:nvGrpSpPr>
      <p:grpSpPr>
        <a:xfrm>
          <a:off x="0" y="0"/>
          <a:ext cx="0" cy="0"/>
          <a:chOff x="0" y="0"/>
          <a:chExt cx="0" cy="0"/>
        </a:xfrm>
      </p:grpSpPr>
      <p:sp>
        <p:nvSpPr>
          <p:cNvPr id="4759" name="Google Shape;4759;p18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760" name="Google Shape;4760;p182"/>
          <p:cNvSpPr/>
          <p:nvPr/>
        </p:nvSpPr>
        <p:spPr>
          <a:xfrm>
            <a:off x="3137150" y="2698175"/>
            <a:ext cx="2291700" cy="2482200"/>
          </a:xfrm>
          <a:prstGeom prst="roundRect">
            <a:avLst>
              <a:gd fmla="val 16667" name="adj"/>
            </a:avLst>
          </a:prstGeom>
          <a:noFill/>
          <a:ln cap="flat" cmpd="sng" w="9525">
            <a:solidFill>
              <a:srgbClr val="00ADD4"/>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4761" name="Google Shape;4761;p182"/>
          <p:cNvSpPr txBox="1"/>
          <p:nvPr/>
        </p:nvSpPr>
        <p:spPr>
          <a:xfrm>
            <a:off x="3640400" y="2823575"/>
            <a:ext cx="1743600" cy="126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Databricks Serverless Plane </a:t>
            </a:r>
            <a:endParaRPr sz="900">
              <a:solidFill>
                <a:srgbClr val="1B3139"/>
              </a:solidFill>
              <a:latin typeface="DM Sans"/>
              <a:ea typeface="DM Sans"/>
              <a:cs typeface="DM Sans"/>
              <a:sym typeface="DM Sans"/>
            </a:endParaRPr>
          </a:p>
        </p:txBody>
      </p:sp>
      <p:cxnSp>
        <p:nvCxnSpPr>
          <p:cNvPr id="4762" name="Google Shape;4762;p182"/>
          <p:cNvCxnSpPr/>
          <p:nvPr/>
        </p:nvCxnSpPr>
        <p:spPr>
          <a:xfrm flipH="1">
            <a:off x="6021964" y="6620700"/>
            <a:ext cx="1626900" cy="1500"/>
          </a:xfrm>
          <a:prstGeom prst="straightConnector1">
            <a:avLst/>
          </a:prstGeom>
          <a:noFill/>
          <a:ln cap="flat" cmpd="sng" w="19050">
            <a:solidFill>
              <a:srgbClr val="618794"/>
            </a:solidFill>
            <a:prstDash val="solid"/>
            <a:round/>
            <a:headEnd len="med" w="med" type="triangle"/>
            <a:tailEnd len="sm" w="sm" type="triangle"/>
          </a:ln>
        </p:spPr>
      </p:cxnSp>
      <p:sp>
        <p:nvSpPr>
          <p:cNvPr id="4763" name="Google Shape;4763;p182"/>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/_static/images/security/network/pl-azure.png</a:t>
            </a:r>
            <a:endParaRPr/>
          </a:p>
        </p:txBody>
      </p:sp>
      <p:sp>
        <p:nvSpPr>
          <p:cNvPr id="4764" name="Google Shape;4764;p182"/>
          <p:cNvSpPr/>
          <p:nvPr/>
        </p:nvSpPr>
        <p:spPr>
          <a:xfrm>
            <a:off x="5929325" y="2655863"/>
            <a:ext cx="2445300" cy="2482200"/>
          </a:xfrm>
          <a:prstGeom prst="roundRect">
            <a:avLst>
              <a:gd fmla="val 16667" name="adj"/>
            </a:avLst>
          </a:prstGeom>
          <a:noFill/>
          <a:ln cap="flat" cmpd="sng" w="9525">
            <a:solidFill>
              <a:srgbClr val="03875C"/>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grpSp>
        <p:nvGrpSpPr>
          <p:cNvPr id="4765" name="Google Shape;4765;p182"/>
          <p:cNvGrpSpPr/>
          <p:nvPr/>
        </p:nvGrpSpPr>
        <p:grpSpPr>
          <a:xfrm>
            <a:off x="6244477" y="3049906"/>
            <a:ext cx="1819547" cy="1869988"/>
            <a:chOff x="1013125" y="382029"/>
            <a:chExt cx="2245800" cy="2282700"/>
          </a:xfrm>
        </p:grpSpPr>
        <p:sp>
          <p:nvSpPr>
            <p:cNvPr id="4766" name="Google Shape;4766;p182"/>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4767" name="Google Shape;4767;p182"/>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4768" name="Google Shape;4768;p182"/>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4769" name="Google Shape;4769;p182"/>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4770" name="Google Shape;4770;p182"/>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pic>
        <p:nvPicPr>
          <p:cNvPr id="4771" name="Google Shape;4771;p182"/>
          <p:cNvPicPr preferRelativeResize="0"/>
          <p:nvPr/>
        </p:nvPicPr>
        <p:blipFill>
          <a:blip r:embed="rId3">
            <a:alphaModFix/>
          </a:blip>
          <a:stretch>
            <a:fillRect/>
          </a:stretch>
        </p:blipFill>
        <p:spPr>
          <a:xfrm>
            <a:off x="6456518" y="2743836"/>
            <a:ext cx="188635" cy="212833"/>
          </a:xfrm>
          <a:prstGeom prst="rect">
            <a:avLst/>
          </a:prstGeom>
          <a:noFill/>
          <a:ln>
            <a:noFill/>
          </a:ln>
        </p:spPr>
      </p:pic>
      <p:sp>
        <p:nvSpPr>
          <p:cNvPr id="4772" name="Google Shape;4772;p182"/>
          <p:cNvSpPr txBox="1"/>
          <p:nvPr/>
        </p:nvSpPr>
        <p:spPr>
          <a:xfrm>
            <a:off x="6543575" y="2738525"/>
            <a:ext cx="16269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Databricks Control Plane</a:t>
            </a:r>
            <a:endParaRPr sz="1400">
              <a:solidFill>
                <a:srgbClr val="1B3139"/>
              </a:solidFill>
              <a:latin typeface="DM Sans"/>
              <a:ea typeface="DM Sans"/>
              <a:cs typeface="DM Sans"/>
              <a:sym typeface="DM Sans"/>
            </a:endParaRPr>
          </a:p>
        </p:txBody>
      </p:sp>
      <p:grpSp>
        <p:nvGrpSpPr>
          <p:cNvPr id="4773" name="Google Shape;4773;p182"/>
          <p:cNvGrpSpPr/>
          <p:nvPr/>
        </p:nvGrpSpPr>
        <p:grpSpPr>
          <a:xfrm>
            <a:off x="8993819" y="2589710"/>
            <a:ext cx="847162" cy="739340"/>
            <a:chOff x="91762" y="2601287"/>
            <a:chExt cx="1189500" cy="1083600"/>
          </a:xfrm>
        </p:grpSpPr>
        <p:sp>
          <p:nvSpPr>
            <p:cNvPr id="4774" name="Google Shape;4774;p182"/>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4775" name="Google Shape;4775;p182"/>
            <p:cNvPicPr preferRelativeResize="0"/>
            <p:nvPr/>
          </p:nvPicPr>
          <p:blipFill rotWithShape="1">
            <a:blip r:embed="rId4">
              <a:alphaModFix/>
            </a:blip>
            <a:srcRect b="0" l="0" r="0" t="0"/>
            <a:stretch/>
          </p:blipFill>
          <p:spPr>
            <a:xfrm>
              <a:off x="452892" y="3143220"/>
              <a:ext cx="467236" cy="437700"/>
            </a:xfrm>
            <a:prstGeom prst="rect">
              <a:avLst/>
            </a:prstGeom>
            <a:noFill/>
            <a:ln>
              <a:noFill/>
            </a:ln>
          </p:spPr>
        </p:pic>
      </p:grpSp>
      <p:pic>
        <p:nvPicPr>
          <p:cNvPr id="4776" name="Google Shape;4776;p182"/>
          <p:cNvPicPr preferRelativeResize="0"/>
          <p:nvPr/>
        </p:nvPicPr>
        <p:blipFill>
          <a:blip r:embed="rId3">
            <a:alphaModFix/>
          </a:blip>
          <a:stretch>
            <a:fillRect/>
          </a:stretch>
        </p:blipFill>
        <p:spPr>
          <a:xfrm>
            <a:off x="3451768" y="2858636"/>
            <a:ext cx="188635" cy="212833"/>
          </a:xfrm>
          <a:prstGeom prst="rect">
            <a:avLst/>
          </a:prstGeom>
          <a:noFill/>
          <a:ln>
            <a:noFill/>
          </a:ln>
        </p:spPr>
      </p:pic>
      <p:sp>
        <p:nvSpPr>
          <p:cNvPr id="4777" name="Google Shape;4777;p182"/>
          <p:cNvSpPr/>
          <p:nvPr/>
        </p:nvSpPr>
        <p:spPr>
          <a:xfrm>
            <a:off x="3338625" y="3309700"/>
            <a:ext cx="1965300" cy="1744800"/>
          </a:xfrm>
          <a:prstGeom prst="roundRect">
            <a:avLst>
              <a:gd fmla="val 22689" name="adj"/>
            </a:avLst>
          </a:prstGeom>
          <a:noFill/>
          <a:ln cap="flat" cmpd="sng" w="9525">
            <a:solidFill>
              <a:srgbClr val="4359FF"/>
            </a:solidFill>
            <a:prstDash val="solid"/>
            <a:round/>
            <a:headEnd len="sm" w="sm" type="none"/>
            <a:tailEnd len="sm" w="sm" type="none"/>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None/>
            </a:pPr>
            <a:r>
              <a:rPr b="1" lang="en" sz="900">
                <a:solidFill>
                  <a:srgbClr val="1B5162"/>
                </a:solidFill>
                <a:latin typeface="DM Sans"/>
                <a:ea typeface="DM Sans"/>
                <a:cs typeface="DM Sans"/>
                <a:sym typeface="DM Sans"/>
              </a:rPr>
              <a:t>Your Security Group</a:t>
            </a:r>
            <a:endParaRPr b="1" i="0" sz="900" u="none" cap="none" strike="noStrike">
              <a:solidFill>
                <a:srgbClr val="1B5162"/>
              </a:solidFill>
              <a:latin typeface="DM Sans"/>
              <a:ea typeface="DM Sans"/>
              <a:cs typeface="DM Sans"/>
              <a:sym typeface="DM Sans"/>
            </a:endParaRPr>
          </a:p>
        </p:txBody>
      </p:sp>
      <p:sp>
        <p:nvSpPr>
          <p:cNvPr id="4778" name="Google Shape;4778;p182"/>
          <p:cNvSpPr txBox="1"/>
          <p:nvPr/>
        </p:nvSpPr>
        <p:spPr>
          <a:xfrm>
            <a:off x="3231913" y="3721388"/>
            <a:ext cx="11172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Dedicated Private </a:t>
            </a:r>
            <a:endParaRPr sz="900">
              <a:solidFill>
                <a:srgbClr val="1B5162"/>
              </a:solidFill>
              <a:latin typeface="DM Sans Medium"/>
              <a:ea typeface="DM Sans Medium"/>
              <a:cs typeface="DM Sans Medium"/>
              <a:sym typeface="DM Sans Medium"/>
            </a:endParaRPr>
          </a:p>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Endpoint</a:t>
            </a:r>
            <a:endParaRPr sz="2400">
              <a:solidFill>
                <a:schemeClr val="dk2"/>
              </a:solidFill>
            </a:endParaRPr>
          </a:p>
        </p:txBody>
      </p:sp>
      <p:sp>
        <p:nvSpPr>
          <p:cNvPr id="4779" name="Google Shape;4779;p182"/>
          <p:cNvSpPr/>
          <p:nvPr/>
        </p:nvSpPr>
        <p:spPr>
          <a:xfrm>
            <a:off x="8981394" y="3483485"/>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BI Apps</a:t>
            </a:r>
            <a:endParaRPr sz="900">
              <a:solidFill>
                <a:srgbClr val="1B5162"/>
              </a:solidFill>
              <a:latin typeface="DM Sans Medium"/>
              <a:ea typeface="DM Sans Medium"/>
              <a:cs typeface="DM Sans Medium"/>
              <a:sym typeface="DM Sans Medium"/>
            </a:endParaRPr>
          </a:p>
        </p:txBody>
      </p:sp>
      <p:sp>
        <p:nvSpPr>
          <p:cNvPr id="4780" name="Google Shape;4780;p182"/>
          <p:cNvSpPr/>
          <p:nvPr/>
        </p:nvSpPr>
        <p:spPr>
          <a:xfrm>
            <a:off x="8981394" y="437726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Delta Sharing </a:t>
            </a:r>
            <a:endParaRPr sz="900">
              <a:solidFill>
                <a:srgbClr val="1B5162"/>
              </a:solidFill>
              <a:latin typeface="DM Sans Medium"/>
              <a:ea typeface="DM Sans Medium"/>
              <a:cs typeface="DM Sans Medium"/>
              <a:sym typeface="DM Sans Medium"/>
            </a:endParaRPr>
          </a:p>
        </p:txBody>
      </p:sp>
      <p:pic>
        <p:nvPicPr>
          <p:cNvPr id="4781" name="Google Shape;4781;p182"/>
          <p:cNvPicPr preferRelativeResize="0"/>
          <p:nvPr/>
        </p:nvPicPr>
        <p:blipFill>
          <a:blip r:embed="rId5">
            <a:alphaModFix/>
          </a:blip>
          <a:stretch>
            <a:fillRect/>
          </a:stretch>
        </p:blipFill>
        <p:spPr>
          <a:xfrm>
            <a:off x="9242824" y="4779756"/>
            <a:ext cx="324300" cy="274693"/>
          </a:xfrm>
          <a:prstGeom prst="rect">
            <a:avLst/>
          </a:prstGeom>
          <a:noFill/>
          <a:ln cap="flat" cmpd="sng" w="9525">
            <a:solidFill>
              <a:srgbClr val="F9F7F4"/>
            </a:solidFill>
            <a:prstDash val="solid"/>
            <a:round/>
            <a:headEnd len="sm" w="sm" type="none"/>
            <a:tailEnd len="sm" w="sm" type="none"/>
          </a:ln>
        </p:spPr>
      </p:pic>
      <p:pic>
        <p:nvPicPr>
          <p:cNvPr descr="A picture containing object&#10;&#10;Description automatically generated" id="4782" name="Google Shape;4782;p182"/>
          <p:cNvPicPr preferRelativeResize="0"/>
          <p:nvPr/>
        </p:nvPicPr>
        <p:blipFill rotWithShape="1">
          <a:blip r:embed="rId6">
            <a:alphaModFix/>
          </a:blip>
          <a:srcRect b="17228" l="27702" r="26712" t="18025"/>
          <a:stretch/>
        </p:blipFill>
        <p:spPr>
          <a:xfrm>
            <a:off x="9061900" y="3912653"/>
            <a:ext cx="189040" cy="184421"/>
          </a:xfrm>
          <a:prstGeom prst="rect">
            <a:avLst/>
          </a:prstGeom>
          <a:noFill/>
          <a:ln cap="flat" cmpd="sng" w="9525">
            <a:solidFill>
              <a:srgbClr val="000000"/>
            </a:solidFill>
            <a:prstDash val="solid"/>
            <a:round/>
            <a:headEnd len="sm" w="sm" type="none"/>
            <a:tailEnd len="sm" w="sm" type="none"/>
          </a:ln>
        </p:spPr>
      </p:pic>
      <p:pic>
        <p:nvPicPr>
          <p:cNvPr id="4783" name="Google Shape;4783;p182"/>
          <p:cNvPicPr preferRelativeResize="0"/>
          <p:nvPr/>
        </p:nvPicPr>
        <p:blipFill rotWithShape="1">
          <a:blip r:embed="rId7">
            <a:alphaModFix/>
          </a:blip>
          <a:srcRect b="0" l="64446" r="0" t="0"/>
          <a:stretch/>
        </p:blipFill>
        <p:spPr>
          <a:xfrm>
            <a:off x="9556855" y="3912653"/>
            <a:ext cx="216044" cy="184421"/>
          </a:xfrm>
          <a:prstGeom prst="rect">
            <a:avLst/>
          </a:prstGeom>
          <a:noFill/>
          <a:ln cap="flat" cmpd="sng" w="9525">
            <a:solidFill>
              <a:srgbClr val="000000"/>
            </a:solidFill>
            <a:prstDash val="solid"/>
            <a:round/>
            <a:headEnd len="sm" w="sm" type="none"/>
            <a:tailEnd len="sm" w="sm" type="none"/>
          </a:ln>
        </p:spPr>
      </p:pic>
      <p:pic>
        <p:nvPicPr>
          <p:cNvPr id="4784" name="Google Shape;4784;p182"/>
          <p:cNvPicPr preferRelativeResize="0"/>
          <p:nvPr/>
        </p:nvPicPr>
        <p:blipFill rotWithShape="1">
          <a:blip r:embed="rId8">
            <a:alphaModFix/>
          </a:blip>
          <a:srcRect b="0" l="0" r="0" t="0"/>
          <a:stretch/>
        </p:blipFill>
        <p:spPr>
          <a:xfrm>
            <a:off x="9311683" y="3912653"/>
            <a:ext cx="184429" cy="184422"/>
          </a:xfrm>
          <a:prstGeom prst="rect">
            <a:avLst/>
          </a:prstGeom>
          <a:noFill/>
          <a:ln cap="flat" cmpd="sng" w="9525">
            <a:solidFill>
              <a:srgbClr val="000000"/>
            </a:solidFill>
            <a:prstDash val="solid"/>
            <a:round/>
            <a:headEnd len="sm" w="sm" type="none"/>
            <a:tailEnd len="sm" w="sm" type="none"/>
          </a:ln>
        </p:spPr>
      </p:pic>
      <p:pic>
        <p:nvPicPr>
          <p:cNvPr id="4785" name="Google Shape;4785;p182"/>
          <p:cNvPicPr preferRelativeResize="0"/>
          <p:nvPr/>
        </p:nvPicPr>
        <p:blipFill>
          <a:blip r:embed="rId9">
            <a:alphaModFix/>
          </a:blip>
          <a:stretch>
            <a:fillRect/>
          </a:stretch>
        </p:blipFill>
        <p:spPr>
          <a:xfrm>
            <a:off x="5586871" y="3810922"/>
            <a:ext cx="184426" cy="251050"/>
          </a:xfrm>
          <a:prstGeom prst="rect">
            <a:avLst/>
          </a:prstGeom>
          <a:noFill/>
          <a:ln>
            <a:noFill/>
          </a:ln>
        </p:spPr>
      </p:pic>
      <p:pic>
        <p:nvPicPr>
          <p:cNvPr id="4786" name="Google Shape;4786;p182"/>
          <p:cNvPicPr preferRelativeResize="0"/>
          <p:nvPr/>
        </p:nvPicPr>
        <p:blipFill>
          <a:blip r:embed="rId9">
            <a:alphaModFix/>
          </a:blip>
          <a:stretch>
            <a:fillRect/>
          </a:stretch>
        </p:blipFill>
        <p:spPr>
          <a:xfrm>
            <a:off x="8585796" y="2956672"/>
            <a:ext cx="184426" cy="251050"/>
          </a:xfrm>
          <a:prstGeom prst="rect">
            <a:avLst/>
          </a:prstGeom>
          <a:noFill/>
          <a:ln>
            <a:noFill/>
          </a:ln>
        </p:spPr>
      </p:pic>
      <p:pic>
        <p:nvPicPr>
          <p:cNvPr id="4787" name="Google Shape;4787;p182"/>
          <p:cNvPicPr preferRelativeResize="0"/>
          <p:nvPr/>
        </p:nvPicPr>
        <p:blipFill>
          <a:blip r:embed="rId9">
            <a:alphaModFix/>
          </a:blip>
          <a:stretch>
            <a:fillRect/>
          </a:stretch>
        </p:blipFill>
        <p:spPr>
          <a:xfrm>
            <a:off x="8585808" y="3727560"/>
            <a:ext cx="184426" cy="251050"/>
          </a:xfrm>
          <a:prstGeom prst="rect">
            <a:avLst/>
          </a:prstGeom>
          <a:noFill/>
          <a:ln>
            <a:noFill/>
          </a:ln>
        </p:spPr>
      </p:pic>
      <p:cxnSp>
        <p:nvCxnSpPr>
          <p:cNvPr id="4788" name="Google Shape;4788;p182"/>
          <p:cNvCxnSpPr>
            <a:endCxn id="4782" idx="1"/>
          </p:cNvCxnSpPr>
          <p:nvPr/>
        </p:nvCxnSpPr>
        <p:spPr>
          <a:xfrm>
            <a:off x="9061900" y="4004864"/>
            <a:ext cx="0" cy="0"/>
          </a:xfrm>
          <a:prstGeom prst="straightConnector1">
            <a:avLst/>
          </a:prstGeom>
          <a:noFill/>
          <a:ln cap="flat" cmpd="sng" w="9525">
            <a:solidFill>
              <a:schemeClr val="dk2"/>
            </a:solidFill>
            <a:prstDash val="solid"/>
            <a:round/>
            <a:headEnd len="med" w="med" type="none"/>
            <a:tailEnd len="med" w="med" type="none"/>
          </a:ln>
        </p:spPr>
      </p:cxnSp>
      <p:pic>
        <p:nvPicPr>
          <p:cNvPr id="4789" name="Google Shape;4789;p182"/>
          <p:cNvPicPr preferRelativeResize="0"/>
          <p:nvPr/>
        </p:nvPicPr>
        <p:blipFill>
          <a:blip r:embed="rId9">
            <a:alphaModFix/>
          </a:blip>
          <a:stretch>
            <a:fillRect/>
          </a:stretch>
        </p:blipFill>
        <p:spPr>
          <a:xfrm>
            <a:off x="8585808" y="4621335"/>
            <a:ext cx="184426" cy="251050"/>
          </a:xfrm>
          <a:prstGeom prst="rect">
            <a:avLst/>
          </a:prstGeom>
          <a:noFill/>
          <a:ln>
            <a:noFill/>
          </a:ln>
        </p:spPr>
      </p:pic>
      <p:cxnSp>
        <p:nvCxnSpPr>
          <p:cNvPr id="4790" name="Google Shape;4790;p182"/>
          <p:cNvCxnSpPr>
            <a:stCxn id="4780" idx="1"/>
            <a:endCxn id="4789" idx="3"/>
          </p:cNvCxnSpPr>
          <p:nvPr/>
        </p:nvCxnSpPr>
        <p:spPr>
          <a:xfrm rot="10800000">
            <a:off x="8770194" y="4746860"/>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91" name="Google Shape;4791;p182"/>
          <p:cNvCxnSpPr>
            <a:stCxn id="4789" idx="1"/>
          </p:cNvCxnSpPr>
          <p:nvPr/>
        </p:nvCxnSpPr>
        <p:spPr>
          <a:xfrm rot="10800000">
            <a:off x="8371008" y="4746859"/>
            <a:ext cx="214800" cy="0"/>
          </a:xfrm>
          <a:prstGeom prst="straightConnector1">
            <a:avLst/>
          </a:prstGeom>
          <a:noFill/>
          <a:ln cap="flat" cmpd="sng" w="9525">
            <a:solidFill>
              <a:srgbClr val="618794"/>
            </a:solidFill>
            <a:prstDash val="solid"/>
            <a:round/>
            <a:headEnd len="med" w="med" type="none"/>
            <a:tailEnd len="med" w="med" type="none"/>
          </a:ln>
        </p:spPr>
      </p:cxnSp>
      <p:cxnSp>
        <p:nvCxnSpPr>
          <p:cNvPr id="4792" name="Google Shape;4792;p182"/>
          <p:cNvCxnSpPr>
            <a:stCxn id="4779" idx="1"/>
            <a:endCxn id="4787" idx="3"/>
          </p:cNvCxnSpPr>
          <p:nvPr/>
        </p:nvCxnSpPr>
        <p:spPr>
          <a:xfrm rot="10800000">
            <a:off x="8770194" y="38530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93" name="Google Shape;4793;p182"/>
          <p:cNvCxnSpPr>
            <a:stCxn id="4787" idx="1"/>
            <a:endCxn id="4787" idx="1"/>
          </p:cNvCxnSpPr>
          <p:nvPr/>
        </p:nvCxnSpPr>
        <p:spPr>
          <a:xfrm>
            <a:off x="8585808" y="3853084"/>
            <a:ext cx="0" cy="0"/>
          </a:xfrm>
          <a:prstGeom prst="straightConnector1">
            <a:avLst/>
          </a:prstGeom>
          <a:noFill/>
          <a:ln cap="flat" cmpd="sng" w="9525">
            <a:solidFill>
              <a:schemeClr val="dk2"/>
            </a:solidFill>
            <a:prstDash val="solid"/>
            <a:round/>
            <a:headEnd len="med" w="med" type="none"/>
            <a:tailEnd len="med" w="med" type="none"/>
          </a:ln>
        </p:spPr>
      </p:cxnSp>
      <p:cxnSp>
        <p:nvCxnSpPr>
          <p:cNvPr id="4794" name="Google Shape;4794;p182"/>
          <p:cNvCxnSpPr/>
          <p:nvPr/>
        </p:nvCxnSpPr>
        <p:spPr>
          <a:xfrm rot="10800000">
            <a:off x="8372794" y="38530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95" name="Google Shape;4795;p182"/>
          <p:cNvCxnSpPr/>
          <p:nvPr/>
        </p:nvCxnSpPr>
        <p:spPr>
          <a:xfrm rot="10800000">
            <a:off x="8770194" y="308483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4796" name="Google Shape;4796;p182"/>
          <p:cNvCxnSpPr/>
          <p:nvPr/>
        </p:nvCxnSpPr>
        <p:spPr>
          <a:xfrm rot="10800000">
            <a:off x="8372794" y="3084835"/>
            <a:ext cx="211200" cy="0"/>
          </a:xfrm>
          <a:prstGeom prst="straightConnector1">
            <a:avLst/>
          </a:prstGeom>
          <a:noFill/>
          <a:ln cap="flat" cmpd="sng" w="9525">
            <a:solidFill>
              <a:srgbClr val="618794"/>
            </a:solidFill>
            <a:prstDash val="solid"/>
            <a:round/>
            <a:headEnd len="med" w="med" type="none"/>
            <a:tailEnd len="med" w="med" type="none"/>
          </a:ln>
        </p:spPr>
      </p:cxnSp>
      <p:sp>
        <p:nvSpPr>
          <p:cNvPr id="4797" name="Google Shape;4797;p182"/>
          <p:cNvSpPr/>
          <p:nvPr/>
        </p:nvSpPr>
        <p:spPr>
          <a:xfrm>
            <a:off x="4234688" y="3813750"/>
            <a:ext cx="847200" cy="875400"/>
          </a:xfrm>
          <a:prstGeom prst="roundRect">
            <a:avLst>
              <a:gd fmla="val 16667" name="adj"/>
            </a:avLst>
          </a:prstGeom>
          <a:noFill/>
          <a:ln cap="flat" cmpd="sng" w="9525">
            <a:solidFill>
              <a:srgbClr val="EF64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a:t>
            </a:r>
            <a:endParaRPr sz="900">
              <a:solidFill>
                <a:srgbClr val="1B5162"/>
              </a:solidFill>
              <a:latin typeface="DM Sans Medium"/>
              <a:ea typeface="DM Sans Medium"/>
              <a:cs typeface="DM Sans Medium"/>
              <a:sym typeface="DM Sans Medium"/>
            </a:endParaRPr>
          </a:p>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Compute</a:t>
            </a:r>
            <a:endParaRPr sz="900">
              <a:solidFill>
                <a:srgbClr val="1B5162"/>
              </a:solidFill>
              <a:latin typeface="DM Sans Medium"/>
              <a:ea typeface="DM Sans Medium"/>
              <a:cs typeface="DM Sans Medium"/>
              <a:sym typeface="DM Sans Medium"/>
            </a:endParaRPr>
          </a:p>
        </p:txBody>
      </p:sp>
      <p:cxnSp>
        <p:nvCxnSpPr>
          <p:cNvPr id="4798" name="Google Shape;4798;p182"/>
          <p:cNvCxnSpPr/>
          <p:nvPr/>
        </p:nvCxnSpPr>
        <p:spPr>
          <a:xfrm flipH="1">
            <a:off x="5428771" y="3936447"/>
            <a:ext cx="158100" cy="2700"/>
          </a:xfrm>
          <a:prstGeom prst="straightConnector1">
            <a:avLst/>
          </a:prstGeom>
          <a:noFill/>
          <a:ln cap="flat" cmpd="sng" w="9525">
            <a:solidFill>
              <a:srgbClr val="618794"/>
            </a:solidFill>
            <a:prstDash val="solid"/>
            <a:round/>
            <a:headEnd len="med" w="med" type="none"/>
            <a:tailEnd len="med" w="med" type="none"/>
          </a:ln>
        </p:spPr>
      </p:cxnSp>
      <p:cxnSp>
        <p:nvCxnSpPr>
          <p:cNvPr id="4799" name="Google Shape;4799;p182"/>
          <p:cNvCxnSpPr/>
          <p:nvPr/>
        </p:nvCxnSpPr>
        <p:spPr>
          <a:xfrm flipH="1">
            <a:off x="5757608" y="3937922"/>
            <a:ext cx="158100" cy="2700"/>
          </a:xfrm>
          <a:prstGeom prst="straightConnector1">
            <a:avLst/>
          </a:prstGeom>
          <a:noFill/>
          <a:ln cap="flat" cmpd="sng" w="9525">
            <a:solidFill>
              <a:srgbClr val="618794"/>
            </a:solidFill>
            <a:prstDash val="solid"/>
            <a:round/>
            <a:headEnd len="med" w="med" type="none"/>
            <a:tailEnd len="med" w="med" type="none"/>
          </a:ln>
        </p:spPr>
      </p:cxnSp>
      <p:sp>
        <p:nvSpPr>
          <p:cNvPr id="4800" name="Google Shape;4800;p182"/>
          <p:cNvSpPr/>
          <p:nvPr/>
        </p:nvSpPr>
        <p:spPr>
          <a:xfrm>
            <a:off x="1333525" y="2656050"/>
            <a:ext cx="1381500" cy="2482200"/>
          </a:xfrm>
          <a:prstGeom prst="roundRect">
            <a:avLst>
              <a:gd fmla="val 16667" name="adj"/>
            </a:avLst>
          </a:prstGeom>
          <a:noFill/>
          <a:ln cap="flat" cmpd="sng" w="9525">
            <a:solidFill>
              <a:srgbClr val="9900FF"/>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900">
              <a:solidFill>
                <a:srgbClr val="1B3139"/>
              </a:solidFill>
              <a:latin typeface="DM Sans"/>
              <a:ea typeface="DM Sans"/>
              <a:cs typeface="DM Sans"/>
              <a:sym typeface="DM Sans"/>
            </a:endParaRPr>
          </a:p>
        </p:txBody>
      </p:sp>
      <p:sp>
        <p:nvSpPr>
          <p:cNvPr id="4801" name="Google Shape;4801;p182"/>
          <p:cNvSpPr txBox="1"/>
          <p:nvPr/>
        </p:nvSpPr>
        <p:spPr>
          <a:xfrm>
            <a:off x="1776175" y="2707700"/>
            <a:ext cx="791700" cy="2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Your VNet</a:t>
            </a:r>
            <a:endParaRPr sz="2400">
              <a:solidFill>
                <a:schemeClr val="dk2"/>
              </a:solidFill>
            </a:endParaRPr>
          </a:p>
        </p:txBody>
      </p:sp>
      <p:sp>
        <p:nvSpPr>
          <p:cNvPr id="4802" name="Google Shape;4802;p182"/>
          <p:cNvSpPr/>
          <p:nvPr/>
        </p:nvSpPr>
        <p:spPr>
          <a:xfrm>
            <a:off x="1498750" y="3146188"/>
            <a:ext cx="1000800" cy="944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3" name="Google Shape;4803;p182"/>
          <p:cNvSpPr/>
          <p:nvPr/>
        </p:nvSpPr>
        <p:spPr>
          <a:xfrm>
            <a:off x="1499025" y="4446713"/>
            <a:ext cx="1000800" cy="600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4" name="Google Shape;4804;p182"/>
          <p:cNvSpPr txBox="1"/>
          <p:nvPr/>
        </p:nvSpPr>
        <p:spPr>
          <a:xfrm>
            <a:off x="1663250" y="3392500"/>
            <a:ext cx="234000" cy="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endParaRPr>
          </a:p>
        </p:txBody>
      </p:sp>
      <p:sp>
        <p:nvSpPr>
          <p:cNvPr id="4805" name="Google Shape;4805;p182"/>
          <p:cNvSpPr txBox="1"/>
          <p:nvPr/>
        </p:nvSpPr>
        <p:spPr>
          <a:xfrm>
            <a:off x="1520350" y="3213438"/>
            <a:ext cx="95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Private Subnet</a:t>
            </a:r>
            <a:endParaRPr>
              <a:solidFill>
                <a:schemeClr val="dk1"/>
              </a:solidFill>
            </a:endParaRPr>
          </a:p>
          <a:p>
            <a:pPr indent="0" lvl="0" marL="0" rtl="0" algn="ctr">
              <a:spcBef>
                <a:spcPts val="0"/>
              </a:spcBef>
              <a:spcAft>
                <a:spcPts val="0"/>
              </a:spcAft>
              <a:buNone/>
            </a:pPr>
            <a:r>
              <a:t/>
            </a:r>
            <a:endParaRPr sz="800">
              <a:solidFill>
                <a:srgbClr val="1B3038"/>
              </a:solidFill>
              <a:latin typeface="DM Sans"/>
              <a:ea typeface="DM Sans"/>
              <a:cs typeface="DM Sans"/>
              <a:sym typeface="DM Sans"/>
            </a:endParaRPr>
          </a:p>
        </p:txBody>
      </p:sp>
      <p:sp>
        <p:nvSpPr>
          <p:cNvPr id="4806" name="Google Shape;4806;p182"/>
          <p:cNvSpPr txBox="1"/>
          <p:nvPr/>
        </p:nvSpPr>
        <p:spPr>
          <a:xfrm>
            <a:off x="1520625" y="3735438"/>
            <a:ext cx="9576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Load Balancer</a:t>
            </a:r>
            <a:endParaRPr/>
          </a:p>
        </p:txBody>
      </p:sp>
      <p:pic>
        <p:nvPicPr>
          <p:cNvPr id="4807" name="Google Shape;4807;p182"/>
          <p:cNvPicPr preferRelativeResize="0"/>
          <p:nvPr/>
        </p:nvPicPr>
        <p:blipFill>
          <a:blip r:embed="rId10">
            <a:alphaModFix/>
          </a:blip>
          <a:stretch>
            <a:fillRect/>
          </a:stretch>
        </p:blipFill>
        <p:spPr>
          <a:xfrm>
            <a:off x="1853315" y="4637799"/>
            <a:ext cx="234015" cy="274067"/>
          </a:xfrm>
          <a:prstGeom prst="rect">
            <a:avLst/>
          </a:prstGeom>
          <a:noFill/>
          <a:ln>
            <a:noFill/>
          </a:ln>
        </p:spPr>
      </p:pic>
      <p:sp>
        <p:nvSpPr>
          <p:cNvPr id="4808" name="Google Shape;4808;p182"/>
          <p:cNvSpPr txBox="1"/>
          <p:nvPr/>
        </p:nvSpPr>
        <p:spPr>
          <a:xfrm>
            <a:off x="1520625" y="4369050"/>
            <a:ext cx="9576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Your Resources</a:t>
            </a:r>
            <a:endParaRPr>
              <a:solidFill>
                <a:schemeClr val="dk1"/>
              </a:solidFill>
            </a:endParaRPr>
          </a:p>
        </p:txBody>
      </p:sp>
      <p:cxnSp>
        <p:nvCxnSpPr>
          <p:cNvPr id="4809" name="Google Shape;4809;p182"/>
          <p:cNvCxnSpPr/>
          <p:nvPr/>
        </p:nvCxnSpPr>
        <p:spPr>
          <a:xfrm>
            <a:off x="2884975" y="3892425"/>
            <a:ext cx="0" cy="3300"/>
          </a:xfrm>
          <a:prstGeom prst="straightConnector1">
            <a:avLst/>
          </a:prstGeom>
          <a:noFill/>
          <a:ln cap="flat" cmpd="sng" w="9525">
            <a:solidFill>
              <a:srgbClr val="618794"/>
            </a:solidFill>
            <a:prstDash val="solid"/>
            <a:round/>
            <a:headEnd len="med" w="med" type="none"/>
            <a:tailEnd len="med" w="med" type="none"/>
          </a:ln>
        </p:spPr>
      </p:cxnSp>
      <p:pic>
        <p:nvPicPr>
          <p:cNvPr id="4810" name="Google Shape;4810;p182" title="images.png"/>
          <p:cNvPicPr preferRelativeResize="0"/>
          <p:nvPr/>
        </p:nvPicPr>
        <p:blipFill>
          <a:blip r:embed="rId11">
            <a:alphaModFix/>
          </a:blip>
          <a:stretch>
            <a:fillRect/>
          </a:stretch>
        </p:blipFill>
        <p:spPr>
          <a:xfrm>
            <a:off x="1495800" y="2798855"/>
            <a:ext cx="324300" cy="188619"/>
          </a:xfrm>
          <a:prstGeom prst="rect">
            <a:avLst/>
          </a:prstGeom>
          <a:noFill/>
          <a:ln>
            <a:noFill/>
          </a:ln>
        </p:spPr>
      </p:pic>
      <p:pic>
        <p:nvPicPr>
          <p:cNvPr id="4811" name="Google Shape;4811;p182"/>
          <p:cNvPicPr preferRelativeResize="0"/>
          <p:nvPr/>
        </p:nvPicPr>
        <p:blipFill rotWithShape="1">
          <a:blip r:embed="rId12">
            <a:alphaModFix/>
          </a:blip>
          <a:srcRect b="0" l="21303" r="21274" t="0"/>
          <a:stretch/>
        </p:blipFill>
        <p:spPr>
          <a:xfrm>
            <a:off x="1820550" y="3481263"/>
            <a:ext cx="299541" cy="274275"/>
          </a:xfrm>
          <a:prstGeom prst="rect">
            <a:avLst/>
          </a:prstGeom>
          <a:noFill/>
          <a:ln>
            <a:noFill/>
          </a:ln>
        </p:spPr>
      </p:pic>
      <p:pic>
        <p:nvPicPr>
          <p:cNvPr id="4812" name="Google Shape;4812;p182"/>
          <p:cNvPicPr preferRelativeResize="0"/>
          <p:nvPr/>
        </p:nvPicPr>
        <p:blipFill>
          <a:blip r:embed="rId13">
            <a:alphaModFix/>
          </a:blip>
          <a:stretch>
            <a:fillRect/>
          </a:stretch>
        </p:blipFill>
        <p:spPr>
          <a:xfrm>
            <a:off x="3683338" y="4321702"/>
            <a:ext cx="344116" cy="307800"/>
          </a:xfrm>
          <a:prstGeom prst="rect">
            <a:avLst/>
          </a:prstGeom>
          <a:noFill/>
          <a:ln>
            <a:noFill/>
          </a:ln>
        </p:spPr>
      </p:pic>
      <p:cxnSp>
        <p:nvCxnSpPr>
          <p:cNvPr id="4813" name="Google Shape;4813;p182"/>
          <p:cNvCxnSpPr>
            <a:stCxn id="4812" idx="1"/>
            <a:endCxn id="4806" idx="3"/>
          </p:cNvCxnSpPr>
          <p:nvPr/>
        </p:nvCxnSpPr>
        <p:spPr>
          <a:xfrm rot="10800000">
            <a:off x="2478238" y="3889402"/>
            <a:ext cx="1205100" cy="586200"/>
          </a:xfrm>
          <a:prstGeom prst="straightConnector1">
            <a:avLst/>
          </a:prstGeom>
          <a:noFill/>
          <a:ln cap="flat" cmpd="sng" w="9525">
            <a:solidFill>
              <a:srgbClr val="618794"/>
            </a:solidFill>
            <a:prstDash val="solid"/>
            <a:round/>
            <a:headEnd len="med" w="med" type="none"/>
            <a:tailEnd len="med" w="med" type="triangle"/>
          </a:ln>
        </p:spPr>
      </p:cxnSp>
      <p:cxnSp>
        <p:nvCxnSpPr>
          <p:cNvPr id="4814" name="Google Shape;4814;p182"/>
          <p:cNvCxnSpPr/>
          <p:nvPr/>
        </p:nvCxnSpPr>
        <p:spPr>
          <a:xfrm rot="10800000">
            <a:off x="1999425" y="4111913"/>
            <a:ext cx="0" cy="313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8" name="Shape 4818"/>
        <p:cNvGrpSpPr/>
        <p:nvPr/>
      </p:nvGrpSpPr>
      <p:grpSpPr>
        <a:xfrm>
          <a:off x="0" y="0"/>
          <a:ext cx="0" cy="0"/>
          <a:chOff x="0" y="0"/>
          <a:chExt cx="0" cy="0"/>
        </a:xfrm>
      </p:grpSpPr>
      <p:sp>
        <p:nvSpPr>
          <p:cNvPr id="4819" name="Google Shape;4819;p183"/>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cxnSp>
        <p:nvCxnSpPr>
          <p:cNvPr id="4820" name="Google Shape;4820;p183"/>
          <p:cNvCxnSpPr/>
          <p:nvPr/>
        </p:nvCxnSpPr>
        <p:spPr>
          <a:xfrm flipH="1">
            <a:off x="6021964" y="6620700"/>
            <a:ext cx="1626900" cy="1500"/>
          </a:xfrm>
          <a:prstGeom prst="straightConnector1">
            <a:avLst/>
          </a:prstGeom>
          <a:noFill/>
          <a:ln cap="flat" cmpd="sng" w="19050">
            <a:solidFill>
              <a:srgbClr val="618794"/>
            </a:solidFill>
            <a:prstDash val="solid"/>
            <a:round/>
            <a:headEnd len="med" w="med" type="triangle"/>
            <a:tailEnd len="sm" w="sm" type="triangle"/>
          </a:ln>
        </p:spPr>
      </p:cxnSp>
      <p:sp>
        <p:nvSpPr>
          <p:cNvPr id="4821" name="Google Shape;4821;p183"/>
          <p:cNvSpPr txBox="1"/>
          <p:nvPr/>
        </p:nvSpPr>
        <p:spPr>
          <a:xfrm>
            <a:off x="0" y="42275"/>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/_static/images/security/network/pl-azure-be.png</a:t>
            </a:r>
            <a:endParaRPr/>
          </a:p>
        </p:txBody>
      </p:sp>
      <p:cxnSp>
        <p:nvCxnSpPr>
          <p:cNvPr id="4822" name="Google Shape;4822;p183"/>
          <p:cNvCxnSpPr/>
          <p:nvPr/>
        </p:nvCxnSpPr>
        <p:spPr>
          <a:xfrm>
            <a:off x="11908033" y="5031197"/>
            <a:ext cx="0" cy="0"/>
          </a:xfrm>
          <a:prstGeom prst="straightConnector1">
            <a:avLst/>
          </a:prstGeom>
          <a:noFill/>
          <a:ln cap="flat" cmpd="sng" w="9525">
            <a:solidFill>
              <a:schemeClr val="dk2"/>
            </a:solidFill>
            <a:prstDash val="solid"/>
            <a:round/>
            <a:headEnd len="med" w="med" type="none"/>
            <a:tailEnd len="med" w="med" type="none"/>
          </a:ln>
        </p:spPr>
      </p:cxnSp>
      <p:grpSp>
        <p:nvGrpSpPr>
          <p:cNvPr id="4823" name="Google Shape;4823;p183"/>
          <p:cNvGrpSpPr/>
          <p:nvPr/>
        </p:nvGrpSpPr>
        <p:grpSpPr>
          <a:xfrm>
            <a:off x="805516" y="2074881"/>
            <a:ext cx="3297018" cy="3269489"/>
            <a:chOff x="5311370" y="-271360"/>
            <a:chExt cx="3377400" cy="3349200"/>
          </a:xfrm>
        </p:grpSpPr>
        <p:sp>
          <p:nvSpPr>
            <p:cNvPr id="4824" name="Google Shape;4824;p183"/>
            <p:cNvSpPr/>
            <p:nvPr/>
          </p:nvSpPr>
          <p:spPr>
            <a:xfrm rot="223342">
              <a:off x="5410467" y="-171497"/>
              <a:ext cx="3179207" cy="3149472"/>
            </a:xfrm>
            <a:prstGeom prst="ellipse">
              <a:avLst/>
            </a:prstGeom>
            <a:noFill/>
            <a:ln cap="flat" cmpd="sng" w="7600">
              <a:solidFill>
                <a:srgbClr val="9900FF"/>
              </a:solidFill>
              <a:prstDash val="solid"/>
              <a:round/>
              <a:headEnd len="sm" w="sm" type="none"/>
              <a:tailEnd len="sm" w="sm" type="none"/>
            </a:ln>
          </p:spPr>
          <p:txBody>
            <a:bodyPr anchorCtr="0" anchor="ctr" bIns="73050" lIns="73050" spcFirstLastPara="1" rIns="73050" wrap="square" tIns="73050">
              <a:noAutofit/>
            </a:bodyPr>
            <a:lstStyle/>
            <a:p>
              <a:pPr indent="0" lvl="0" marL="0" rtl="0" algn="ctr">
                <a:spcBef>
                  <a:spcPts val="0"/>
                </a:spcBef>
                <a:spcAft>
                  <a:spcPts val="0"/>
                </a:spcAft>
                <a:buNone/>
              </a:pPr>
              <a:r>
                <a:t/>
              </a:r>
              <a:endParaRPr sz="1118"/>
            </a:p>
          </p:txBody>
        </p:sp>
        <p:sp>
          <p:nvSpPr>
            <p:cNvPr id="4825" name="Google Shape;4825;p183"/>
            <p:cNvSpPr txBox="1"/>
            <p:nvPr/>
          </p:nvSpPr>
          <p:spPr>
            <a:xfrm rot="20923">
              <a:off x="6368815" y="46822"/>
              <a:ext cx="1478727" cy="219605"/>
            </a:xfrm>
            <a:prstGeom prst="rect">
              <a:avLst/>
            </a:prstGeom>
            <a:noFill/>
            <a:ln cap="flat" cmpd="sng" w="9525">
              <a:solidFill>
                <a:schemeClr val="lt1"/>
              </a:solidFill>
              <a:prstDash val="solid"/>
              <a:round/>
              <a:headEnd len="sm" w="sm" type="none"/>
              <a:tailEnd len="sm" w="sm" type="none"/>
            </a:ln>
          </p:spPr>
          <p:txBody>
            <a:bodyPr anchorCtr="0" anchor="t" bIns="73050" lIns="73050" spcFirstLastPara="1" rIns="73050" wrap="square" tIns="73050">
              <a:noAutofit/>
            </a:bodyPr>
            <a:lstStyle/>
            <a:p>
              <a:pPr indent="0" lvl="0" marL="0" rtl="0" algn="ctr">
                <a:spcBef>
                  <a:spcPts val="0"/>
                </a:spcBef>
                <a:spcAft>
                  <a:spcPts val="0"/>
                </a:spcAft>
                <a:buNone/>
              </a:pPr>
              <a:r>
                <a:rPr lang="en" sz="1300">
                  <a:solidFill>
                    <a:srgbClr val="1B5162"/>
                  </a:solidFill>
                  <a:latin typeface="DM Sans Medium"/>
                  <a:ea typeface="DM Sans Medium"/>
                  <a:cs typeface="DM Sans Medium"/>
                  <a:sym typeface="DM Sans Medium"/>
                </a:rPr>
                <a:t>Workspace VNet</a:t>
              </a:r>
              <a:endParaRPr sz="1300">
                <a:solidFill>
                  <a:schemeClr val="dk2"/>
                </a:solidFill>
              </a:endParaRPr>
            </a:p>
          </p:txBody>
        </p:sp>
        <p:pic>
          <p:nvPicPr>
            <p:cNvPr id="4826" name="Google Shape;4826;p183"/>
            <p:cNvPicPr preferRelativeResize="0"/>
            <p:nvPr/>
          </p:nvPicPr>
          <p:blipFill>
            <a:blip r:embed="rId3">
              <a:alphaModFix/>
            </a:blip>
            <a:stretch>
              <a:fillRect/>
            </a:stretch>
          </p:blipFill>
          <p:spPr>
            <a:xfrm rot="21283">
              <a:off x="5804547" y="1204566"/>
              <a:ext cx="176778" cy="199482"/>
            </a:xfrm>
            <a:prstGeom prst="rect">
              <a:avLst/>
            </a:prstGeom>
            <a:noFill/>
            <a:ln cap="flat" cmpd="sng" w="7600">
              <a:solidFill>
                <a:srgbClr val="FF5F46"/>
              </a:solidFill>
              <a:prstDash val="solid"/>
              <a:round/>
              <a:headEnd len="sm" w="sm" type="none"/>
              <a:tailEnd len="sm" w="sm" type="none"/>
            </a:ln>
          </p:spPr>
        </p:pic>
        <p:pic>
          <p:nvPicPr>
            <p:cNvPr id="4827" name="Google Shape;4827;p183"/>
            <p:cNvPicPr preferRelativeResize="0"/>
            <p:nvPr/>
          </p:nvPicPr>
          <p:blipFill>
            <a:blip r:embed="rId3">
              <a:alphaModFix/>
            </a:blip>
            <a:stretch>
              <a:fillRect/>
            </a:stretch>
          </p:blipFill>
          <p:spPr>
            <a:xfrm rot="21283">
              <a:off x="6072082" y="930081"/>
              <a:ext cx="176778" cy="199482"/>
            </a:xfrm>
            <a:prstGeom prst="rect">
              <a:avLst/>
            </a:prstGeom>
            <a:noFill/>
            <a:ln cap="flat" cmpd="sng" w="7600">
              <a:solidFill>
                <a:srgbClr val="FF5F46"/>
              </a:solidFill>
              <a:prstDash val="solid"/>
              <a:round/>
              <a:headEnd len="sm" w="sm" type="none"/>
              <a:tailEnd len="sm" w="sm" type="none"/>
            </a:ln>
          </p:spPr>
        </p:pic>
        <p:pic>
          <p:nvPicPr>
            <p:cNvPr id="4828" name="Google Shape;4828;p183"/>
            <p:cNvPicPr preferRelativeResize="0"/>
            <p:nvPr/>
          </p:nvPicPr>
          <p:blipFill>
            <a:blip r:embed="rId3">
              <a:alphaModFix/>
            </a:blip>
            <a:stretch>
              <a:fillRect/>
            </a:stretch>
          </p:blipFill>
          <p:spPr>
            <a:xfrm rot="21283">
              <a:off x="6289173" y="1204575"/>
              <a:ext cx="176778" cy="199482"/>
            </a:xfrm>
            <a:prstGeom prst="rect">
              <a:avLst/>
            </a:prstGeom>
            <a:noFill/>
            <a:ln cap="flat" cmpd="sng" w="7600">
              <a:solidFill>
                <a:srgbClr val="FF5F46"/>
              </a:solidFill>
              <a:prstDash val="solid"/>
              <a:round/>
              <a:headEnd len="sm" w="sm" type="none"/>
              <a:tailEnd len="sm" w="sm" type="none"/>
            </a:ln>
          </p:spPr>
        </p:pic>
        <p:sp>
          <p:nvSpPr>
            <p:cNvPr id="4829" name="Google Shape;4829;p183"/>
            <p:cNvSpPr txBox="1"/>
            <p:nvPr/>
          </p:nvSpPr>
          <p:spPr>
            <a:xfrm rot="20914">
              <a:off x="5762051" y="1542322"/>
              <a:ext cx="789015" cy="199804"/>
            </a:xfrm>
            <a:prstGeom prst="rect">
              <a:avLst/>
            </a:prstGeom>
            <a:noFill/>
            <a:ln cap="flat" cmpd="sng" w="9525">
              <a:solidFill>
                <a:schemeClr val="lt1"/>
              </a:solidFill>
              <a:prstDash val="solid"/>
              <a:round/>
              <a:headEnd len="sm" w="sm" type="none"/>
              <a:tailEnd len="sm" w="sm" type="none"/>
            </a:ln>
          </p:spPr>
          <p:txBody>
            <a:bodyPr anchorCtr="0" anchor="t" bIns="73050" lIns="73050" spcFirstLastPara="1" rIns="73050" wrap="square" tIns="730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Compute clusters</a:t>
              </a:r>
              <a:endParaRPr sz="900">
                <a:solidFill>
                  <a:schemeClr val="dk2"/>
                </a:solidFill>
              </a:endParaRPr>
            </a:p>
          </p:txBody>
        </p:sp>
        <p:pic>
          <p:nvPicPr>
            <p:cNvPr id="4830" name="Google Shape;4830;p183" title="subnet.png"/>
            <p:cNvPicPr preferRelativeResize="0"/>
            <p:nvPr/>
          </p:nvPicPr>
          <p:blipFill>
            <a:blip r:embed="rId4">
              <a:alphaModFix/>
            </a:blip>
            <a:stretch>
              <a:fillRect/>
            </a:stretch>
          </p:blipFill>
          <p:spPr>
            <a:xfrm rot="21292">
              <a:off x="7403981" y="715704"/>
              <a:ext cx="265380" cy="265380"/>
            </a:xfrm>
            <a:prstGeom prst="rect">
              <a:avLst/>
            </a:prstGeom>
            <a:noFill/>
            <a:ln cap="flat" cmpd="sng" w="7600">
              <a:solidFill>
                <a:schemeClr val="lt1"/>
              </a:solidFill>
              <a:prstDash val="solid"/>
              <a:round/>
              <a:headEnd len="sm" w="sm" type="none"/>
              <a:tailEnd len="sm" w="sm" type="none"/>
            </a:ln>
          </p:spPr>
        </p:pic>
        <p:pic>
          <p:nvPicPr>
            <p:cNvPr id="4831" name="Google Shape;4831;p183" title="subnet.png"/>
            <p:cNvPicPr preferRelativeResize="0"/>
            <p:nvPr/>
          </p:nvPicPr>
          <p:blipFill>
            <a:blip r:embed="rId4">
              <a:alphaModFix/>
            </a:blip>
            <a:stretch>
              <a:fillRect/>
            </a:stretch>
          </p:blipFill>
          <p:spPr>
            <a:xfrm rot="21292">
              <a:off x="7849090" y="1629683"/>
              <a:ext cx="265380" cy="265380"/>
            </a:xfrm>
            <a:prstGeom prst="rect">
              <a:avLst/>
            </a:prstGeom>
            <a:noFill/>
            <a:ln cap="flat" cmpd="sng" w="7600">
              <a:solidFill>
                <a:schemeClr val="lt1"/>
              </a:solidFill>
              <a:prstDash val="solid"/>
              <a:round/>
              <a:headEnd len="sm" w="sm" type="none"/>
              <a:tailEnd len="sm" w="sm" type="none"/>
            </a:ln>
          </p:spPr>
        </p:pic>
        <p:sp>
          <p:nvSpPr>
            <p:cNvPr id="4832" name="Google Shape;4832;p183"/>
            <p:cNvSpPr txBox="1"/>
            <p:nvPr/>
          </p:nvSpPr>
          <p:spPr>
            <a:xfrm rot="20621">
              <a:off x="7150097" y="1000842"/>
              <a:ext cx="850215" cy="320705"/>
            </a:xfrm>
            <a:prstGeom prst="rect">
              <a:avLst/>
            </a:prstGeom>
            <a:noFill/>
            <a:ln cap="flat" cmpd="sng" w="9525">
              <a:solidFill>
                <a:schemeClr val="lt1"/>
              </a:solidFill>
              <a:prstDash val="solid"/>
              <a:round/>
              <a:headEnd len="sm" w="sm" type="none"/>
              <a:tailEnd len="sm" w="sm" type="none"/>
            </a:ln>
          </p:spPr>
          <p:txBody>
            <a:bodyPr anchorCtr="0" anchor="t" bIns="73050" lIns="73050" spcFirstLastPara="1" rIns="73050" wrap="square" tIns="73050">
              <a:noAutofit/>
            </a:bodyPr>
            <a:lstStyle/>
            <a:p>
              <a:pPr indent="0" lvl="0" marL="0" rtl="0" algn="ctr">
                <a:spcBef>
                  <a:spcPts val="0"/>
                </a:spcBef>
                <a:spcAft>
                  <a:spcPts val="0"/>
                </a:spcAft>
                <a:buNone/>
              </a:pPr>
              <a:r>
                <a:rPr lang="en" sz="919">
                  <a:solidFill>
                    <a:srgbClr val="1B5162"/>
                  </a:solidFill>
                  <a:latin typeface="DM Sans Medium"/>
                  <a:ea typeface="DM Sans Medium"/>
                  <a:cs typeface="DM Sans Medium"/>
                  <a:sym typeface="DM Sans Medium"/>
                </a:rPr>
                <a:t>Private “Worker” subnet</a:t>
              </a:r>
              <a:endParaRPr sz="2117">
                <a:solidFill>
                  <a:schemeClr val="dk2"/>
                </a:solidFill>
              </a:endParaRPr>
            </a:p>
          </p:txBody>
        </p:sp>
        <p:sp>
          <p:nvSpPr>
            <p:cNvPr id="4833" name="Google Shape;4833;p183"/>
            <p:cNvSpPr txBox="1"/>
            <p:nvPr/>
          </p:nvSpPr>
          <p:spPr>
            <a:xfrm rot="20621">
              <a:off x="7555408" y="1879517"/>
              <a:ext cx="850215" cy="152703"/>
            </a:xfrm>
            <a:prstGeom prst="rect">
              <a:avLst/>
            </a:prstGeom>
            <a:noFill/>
            <a:ln cap="flat" cmpd="sng" w="9525">
              <a:solidFill>
                <a:schemeClr val="lt1"/>
              </a:solidFill>
              <a:prstDash val="solid"/>
              <a:round/>
              <a:headEnd len="sm" w="sm" type="none"/>
              <a:tailEnd len="sm" w="sm" type="none"/>
            </a:ln>
          </p:spPr>
          <p:txBody>
            <a:bodyPr anchorCtr="0" anchor="t" bIns="73050" lIns="73050" spcFirstLastPara="1" rIns="73050" wrap="square" tIns="73050">
              <a:noAutofit/>
            </a:bodyPr>
            <a:lstStyle/>
            <a:p>
              <a:pPr indent="0" lvl="0" marL="0" rtl="0" algn="ctr">
                <a:spcBef>
                  <a:spcPts val="0"/>
                </a:spcBef>
                <a:spcAft>
                  <a:spcPts val="0"/>
                </a:spcAft>
                <a:buNone/>
              </a:pPr>
              <a:r>
                <a:rPr lang="en" sz="919">
                  <a:solidFill>
                    <a:srgbClr val="1B5162"/>
                  </a:solidFill>
                  <a:latin typeface="DM Sans Medium"/>
                  <a:ea typeface="DM Sans Medium"/>
                  <a:cs typeface="DM Sans Medium"/>
                  <a:sym typeface="DM Sans Medium"/>
                </a:rPr>
                <a:t>Public “Host” subnet</a:t>
              </a:r>
              <a:endParaRPr sz="2117">
                <a:solidFill>
                  <a:schemeClr val="dk2"/>
                </a:solidFill>
              </a:endParaRPr>
            </a:p>
          </p:txBody>
        </p:sp>
        <p:pic>
          <p:nvPicPr>
            <p:cNvPr id="4834" name="Google Shape;4834;p183" title="download.png"/>
            <p:cNvPicPr preferRelativeResize="0"/>
            <p:nvPr/>
          </p:nvPicPr>
          <p:blipFill>
            <a:blip r:embed="rId5">
              <a:alphaModFix/>
            </a:blip>
            <a:stretch>
              <a:fillRect/>
            </a:stretch>
          </p:blipFill>
          <p:spPr>
            <a:xfrm rot="21296">
              <a:off x="6189402" y="191253"/>
              <a:ext cx="380167" cy="199587"/>
            </a:xfrm>
            <a:prstGeom prst="rect">
              <a:avLst/>
            </a:prstGeom>
            <a:noFill/>
            <a:ln cap="flat" cmpd="sng" w="7600">
              <a:solidFill>
                <a:schemeClr val="lt1"/>
              </a:solidFill>
              <a:prstDash val="solid"/>
              <a:round/>
              <a:headEnd len="sm" w="sm" type="none"/>
              <a:tailEnd len="sm" w="sm" type="none"/>
            </a:ln>
          </p:spPr>
        </p:pic>
      </p:grpSp>
      <p:sp>
        <p:nvSpPr>
          <p:cNvPr id="4835" name="Google Shape;4835;p183"/>
          <p:cNvSpPr/>
          <p:nvPr/>
        </p:nvSpPr>
        <p:spPr>
          <a:xfrm>
            <a:off x="5148900" y="3015975"/>
            <a:ext cx="1715100" cy="1072800"/>
          </a:xfrm>
          <a:prstGeom prst="roundRect">
            <a:avLst>
              <a:gd fmla="val 16667" name="adj"/>
            </a:avLst>
          </a:prstGeom>
          <a:solidFill>
            <a:schemeClr val="lt1"/>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36" name="Google Shape;4836;p183"/>
          <p:cNvGrpSpPr/>
          <p:nvPr/>
        </p:nvGrpSpPr>
        <p:grpSpPr>
          <a:xfrm>
            <a:off x="5246800" y="3145902"/>
            <a:ext cx="1519289" cy="670442"/>
            <a:chOff x="6649299" y="1381079"/>
            <a:chExt cx="1334700" cy="588985"/>
          </a:xfrm>
        </p:grpSpPr>
        <p:sp>
          <p:nvSpPr>
            <p:cNvPr id="4837" name="Google Shape;4837;p183"/>
            <p:cNvSpPr txBox="1"/>
            <p:nvPr/>
          </p:nvSpPr>
          <p:spPr>
            <a:xfrm rot="21689">
              <a:off x="6650935" y="1510458"/>
              <a:ext cx="1331426" cy="455412"/>
            </a:xfrm>
            <a:prstGeom prst="rect">
              <a:avLst/>
            </a:prstGeom>
            <a:noFill/>
            <a:ln>
              <a:noFill/>
            </a:ln>
          </p:spPr>
          <p:txBody>
            <a:bodyPr anchorCtr="0" anchor="t" bIns="85175" lIns="85175" spcFirstLastPara="1" rIns="85175" wrap="square" tIns="85175">
              <a:noAutofit/>
            </a:bodyPr>
            <a:lstStyle/>
            <a:p>
              <a:pPr indent="0" lvl="0" marL="0" rtl="0" algn="ctr">
                <a:spcBef>
                  <a:spcPts val="0"/>
                </a:spcBef>
                <a:spcAft>
                  <a:spcPts val="0"/>
                </a:spcAft>
                <a:buNone/>
              </a:pPr>
              <a:r>
                <a:rPr lang="en" sz="1038">
                  <a:solidFill>
                    <a:srgbClr val="1B5162"/>
                  </a:solidFill>
                  <a:latin typeface="Courier New"/>
                  <a:ea typeface="Courier New"/>
                  <a:cs typeface="Courier New"/>
                  <a:sym typeface="Courier New"/>
                </a:rPr>
                <a:t> databricks_ui_api</a:t>
              </a:r>
              <a:endParaRPr sz="1038">
                <a:solidFill>
                  <a:srgbClr val="1B5162"/>
                </a:solidFill>
                <a:latin typeface="Courier New"/>
                <a:ea typeface="Courier New"/>
                <a:cs typeface="Courier New"/>
                <a:sym typeface="Courier New"/>
              </a:endParaRPr>
            </a:p>
            <a:p>
              <a:pPr indent="0" lvl="0" marL="0" rtl="0" algn="ctr">
                <a:spcBef>
                  <a:spcPts val="0"/>
                </a:spcBef>
                <a:spcAft>
                  <a:spcPts val="0"/>
                </a:spcAft>
                <a:buNone/>
              </a:pPr>
              <a:r>
                <a:rPr lang="en" sz="1038">
                  <a:solidFill>
                    <a:srgbClr val="1B5162"/>
                  </a:solidFill>
                  <a:latin typeface="DM Sans Medium"/>
                  <a:ea typeface="DM Sans Medium"/>
                  <a:cs typeface="DM Sans Medium"/>
                  <a:sym typeface="DM Sans Medium"/>
                </a:rPr>
                <a:t> private endpoint</a:t>
              </a:r>
              <a:endParaRPr sz="2435">
                <a:solidFill>
                  <a:schemeClr val="dk2"/>
                </a:solidFill>
              </a:endParaRPr>
            </a:p>
          </p:txBody>
        </p:sp>
        <p:pic>
          <p:nvPicPr>
            <p:cNvPr id="4838" name="Google Shape;4838;p183"/>
            <p:cNvPicPr preferRelativeResize="0"/>
            <p:nvPr/>
          </p:nvPicPr>
          <p:blipFill>
            <a:blip r:embed="rId6">
              <a:alphaModFix/>
            </a:blip>
            <a:stretch>
              <a:fillRect/>
            </a:stretch>
          </p:blipFill>
          <p:spPr>
            <a:xfrm rot="21302">
              <a:off x="7170231" y="1381949"/>
              <a:ext cx="281596" cy="251878"/>
            </a:xfrm>
            <a:prstGeom prst="rect">
              <a:avLst/>
            </a:prstGeom>
            <a:noFill/>
            <a:ln>
              <a:noFill/>
            </a:ln>
          </p:spPr>
        </p:pic>
      </p:grpSp>
      <p:cxnSp>
        <p:nvCxnSpPr>
          <p:cNvPr id="4839" name="Google Shape;4839;p183"/>
          <p:cNvCxnSpPr>
            <a:endCxn id="4835" idx="1"/>
          </p:cNvCxnSpPr>
          <p:nvPr/>
        </p:nvCxnSpPr>
        <p:spPr>
          <a:xfrm>
            <a:off x="3996600" y="3380175"/>
            <a:ext cx="1152300" cy="172200"/>
          </a:xfrm>
          <a:prstGeom prst="curvedConnector3">
            <a:avLst>
              <a:gd fmla="val 50000" name="adj1"/>
            </a:avLst>
          </a:prstGeom>
          <a:noFill/>
          <a:ln cap="flat" cmpd="sng" w="9525">
            <a:solidFill>
              <a:schemeClr val="dk2"/>
            </a:solidFill>
            <a:prstDash val="dash"/>
            <a:round/>
            <a:headEnd len="med" w="med" type="none"/>
            <a:tailEnd len="med" w="med" type="none"/>
          </a:ln>
        </p:spPr>
      </p:cxnSp>
      <p:sp>
        <p:nvSpPr>
          <p:cNvPr id="4840" name="Google Shape;4840;p183"/>
          <p:cNvSpPr/>
          <p:nvPr/>
        </p:nvSpPr>
        <p:spPr>
          <a:xfrm>
            <a:off x="8248300" y="2514425"/>
            <a:ext cx="2445300" cy="2593200"/>
          </a:xfrm>
          <a:prstGeom prst="roundRect">
            <a:avLst>
              <a:gd fmla="val 16667" name="adj"/>
            </a:avLst>
          </a:prstGeom>
          <a:noFill/>
          <a:ln cap="flat" cmpd="sng" w="9525">
            <a:solidFill>
              <a:srgbClr val="FF5F46"/>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grpSp>
        <p:nvGrpSpPr>
          <p:cNvPr id="4841" name="Google Shape;4841;p183"/>
          <p:cNvGrpSpPr/>
          <p:nvPr/>
        </p:nvGrpSpPr>
        <p:grpSpPr>
          <a:xfrm>
            <a:off x="8563452" y="2908456"/>
            <a:ext cx="1819547" cy="1869988"/>
            <a:chOff x="1013125" y="382029"/>
            <a:chExt cx="2245800" cy="2282700"/>
          </a:xfrm>
        </p:grpSpPr>
        <p:sp>
          <p:nvSpPr>
            <p:cNvPr id="4842" name="Google Shape;4842;p183"/>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4843" name="Google Shape;4843;p183"/>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4844" name="Google Shape;4844;p183"/>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4845" name="Google Shape;4845;p183"/>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4846" name="Google Shape;4846;p183"/>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sp>
        <p:nvSpPr>
          <p:cNvPr id="4847" name="Google Shape;4847;p183"/>
          <p:cNvSpPr txBox="1"/>
          <p:nvPr/>
        </p:nvSpPr>
        <p:spPr>
          <a:xfrm>
            <a:off x="8510225" y="2514425"/>
            <a:ext cx="19260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Databricks</a:t>
            </a:r>
            <a:r>
              <a:rPr lang="en" sz="1100">
                <a:solidFill>
                  <a:srgbClr val="1B5162"/>
                </a:solidFill>
                <a:latin typeface="DM Sans Medium"/>
                <a:ea typeface="DM Sans Medium"/>
                <a:cs typeface="DM Sans Medium"/>
                <a:sym typeface="DM Sans Medium"/>
              </a:rPr>
              <a:t> Control Plane</a:t>
            </a:r>
            <a:endParaRPr sz="1600">
              <a:solidFill>
                <a:srgbClr val="1B3139"/>
              </a:solidFill>
              <a:latin typeface="DM Sans"/>
              <a:ea typeface="DM Sans"/>
              <a:cs typeface="DM Sans"/>
              <a:sym typeface="DM Sans"/>
            </a:endParaRPr>
          </a:p>
        </p:txBody>
      </p:sp>
      <p:cxnSp>
        <p:nvCxnSpPr>
          <p:cNvPr id="4848" name="Google Shape;4848;p183"/>
          <p:cNvCxnSpPr>
            <a:stCxn id="4835" idx="3"/>
            <a:endCxn id="4840" idx="1"/>
          </p:cNvCxnSpPr>
          <p:nvPr/>
        </p:nvCxnSpPr>
        <p:spPr>
          <a:xfrm>
            <a:off x="6864000" y="3552375"/>
            <a:ext cx="1384200" cy="258600"/>
          </a:xfrm>
          <a:prstGeom prst="curvedConnector3">
            <a:avLst>
              <a:gd fmla="val 50004" name="adj1"/>
            </a:avLst>
          </a:prstGeom>
          <a:noFill/>
          <a:ln cap="flat" cmpd="sng" w="9525">
            <a:solidFill>
              <a:schemeClr val="dk2"/>
            </a:solidFill>
            <a:prstDash val="dash"/>
            <a:round/>
            <a:headEnd len="med" w="med" type="none"/>
            <a:tailEnd len="med" w="med" type="none"/>
          </a:ln>
        </p:spPr>
      </p:cxnSp>
      <p:pic>
        <p:nvPicPr>
          <p:cNvPr id="4849" name="Google Shape;4849;p183" title="subnet.png"/>
          <p:cNvPicPr preferRelativeResize="0"/>
          <p:nvPr/>
        </p:nvPicPr>
        <p:blipFill>
          <a:blip r:embed="rId4">
            <a:alphaModFix/>
          </a:blip>
          <a:stretch>
            <a:fillRect/>
          </a:stretch>
        </p:blipFill>
        <p:spPr>
          <a:xfrm rot="21288">
            <a:off x="2150263" y="4309404"/>
            <a:ext cx="259064" cy="259064"/>
          </a:xfrm>
          <a:prstGeom prst="rect">
            <a:avLst/>
          </a:prstGeom>
          <a:noFill/>
          <a:ln>
            <a:noFill/>
          </a:ln>
        </p:spPr>
      </p:pic>
      <p:sp>
        <p:nvSpPr>
          <p:cNvPr id="4850" name="Google Shape;4850;p183"/>
          <p:cNvSpPr txBox="1"/>
          <p:nvPr/>
        </p:nvSpPr>
        <p:spPr>
          <a:xfrm>
            <a:off x="1780475" y="4569275"/>
            <a:ext cx="847200" cy="24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Private endpoint subnet</a:t>
            </a:r>
            <a:endParaRPr sz="900">
              <a:solidFill>
                <a:schemeClr val="dk2"/>
              </a:solidFill>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4" name="Shape 4854"/>
        <p:cNvGrpSpPr/>
        <p:nvPr/>
      </p:nvGrpSpPr>
      <p:grpSpPr>
        <a:xfrm>
          <a:off x="0" y="0"/>
          <a:ext cx="0" cy="0"/>
          <a:chOff x="0" y="0"/>
          <a:chExt cx="0" cy="0"/>
        </a:xfrm>
      </p:grpSpPr>
      <p:sp>
        <p:nvSpPr>
          <p:cNvPr id="4855" name="Google Shape;4855;p184"/>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856" name="Google Shape;4856;p184"/>
          <p:cNvSpPr txBox="1"/>
          <p:nvPr/>
        </p:nvSpPr>
        <p:spPr>
          <a:xfrm>
            <a:off x="185500" y="136025"/>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/_static/images/security/network/pl-azure-fe.png</a:t>
            </a:r>
            <a:endParaRPr/>
          </a:p>
        </p:txBody>
      </p:sp>
      <p:cxnSp>
        <p:nvCxnSpPr>
          <p:cNvPr id="4857" name="Google Shape;4857;p184"/>
          <p:cNvCxnSpPr/>
          <p:nvPr/>
        </p:nvCxnSpPr>
        <p:spPr>
          <a:xfrm>
            <a:off x="11953283" y="5674472"/>
            <a:ext cx="0" cy="0"/>
          </a:xfrm>
          <a:prstGeom prst="straightConnector1">
            <a:avLst/>
          </a:prstGeom>
          <a:noFill/>
          <a:ln cap="flat" cmpd="sng" w="9525">
            <a:solidFill>
              <a:schemeClr val="dk2"/>
            </a:solidFill>
            <a:prstDash val="solid"/>
            <a:round/>
            <a:headEnd len="med" w="med" type="none"/>
            <a:tailEnd len="med" w="med" type="none"/>
          </a:ln>
        </p:spPr>
      </p:cxnSp>
      <p:sp>
        <p:nvSpPr>
          <p:cNvPr id="4858" name="Google Shape;4858;p184"/>
          <p:cNvSpPr/>
          <p:nvPr/>
        </p:nvSpPr>
        <p:spPr>
          <a:xfrm>
            <a:off x="622688" y="1989550"/>
            <a:ext cx="1370100" cy="3359400"/>
          </a:xfrm>
          <a:prstGeom prst="roundRect">
            <a:avLst>
              <a:gd fmla="val 16667" name="adj"/>
            </a:avLst>
          </a:prstGeom>
          <a:noFill/>
          <a:ln cap="flat" cmpd="sng" w="9525">
            <a:solidFill>
              <a:srgbClr val="00A97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900">
              <a:solidFill>
                <a:srgbClr val="1B3139"/>
              </a:solidFill>
              <a:latin typeface="DM Sans"/>
              <a:ea typeface="DM Sans"/>
              <a:cs typeface="DM Sans"/>
              <a:sym typeface="DM Sans"/>
            </a:endParaRPr>
          </a:p>
        </p:txBody>
      </p:sp>
      <p:sp>
        <p:nvSpPr>
          <p:cNvPr id="4859" name="Google Shape;4859;p184"/>
          <p:cNvSpPr txBox="1"/>
          <p:nvPr/>
        </p:nvSpPr>
        <p:spPr>
          <a:xfrm>
            <a:off x="598675" y="1982100"/>
            <a:ext cx="1478400" cy="27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Customer On-premises &amp; Cloud</a:t>
            </a:r>
            <a:endParaRPr sz="2600">
              <a:solidFill>
                <a:schemeClr val="dk2"/>
              </a:solidFill>
            </a:endParaRPr>
          </a:p>
        </p:txBody>
      </p:sp>
      <p:sp>
        <p:nvSpPr>
          <p:cNvPr id="4860" name="Google Shape;4860;p184"/>
          <p:cNvSpPr txBox="1"/>
          <p:nvPr/>
        </p:nvSpPr>
        <p:spPr>
          <a:xfrm>
            <a:off x="825525" y="3382450"/>
            <a:ext cx="234000" cy="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endParaRPr>
          </a:p>
        </p:txBody>
      </p:sp>
      <p:cxnSp>
        <p:nvCxnSpPr>
          <p:cNvPr id="4861" name="Google Shape;4861;p184"/>
          <p:cNvCxnSpPr/>
          <p:nvPr/>
        </p:nvCxnSpPr>
        <p:spPr>
          <a:xfrm>
            <a:off x="2047250" y="3882375"/>
            <a:ext cx="0" cy="3300"/>
          </a:xfrm>
          <a:prstGeom prst="straightConnector1">
            <a:avLst/>
          </a:prstGeom>
          <a:noFill/>
          <a:ln cap="flat" cmpd="sng" w="9525">
            <a:solidFill>
              <a:srgbClr val="618794"/>
            </a:solidFill>
            <a:prstDash val="solid"/>
            <a:round/>
            <a:headEnd len="med" w="med" type="none"/>
            <a:tailEnd len="med" w="med" type="none"/>
          </a:ln>
        </p:spPr>
      </p:cxnSp>
      <p:pic>
        <p:nvPicPr>
          <p:cNvPr id="4862" name="Google Shape;4862;p184"/>
          <p:cNvPicPr preferRelativeResize="0"/>
          <p:nvPr/>
        </p:nvPicPr>
        <p:blipFill>
          <a:blip r:embed="rId3">
            <a:alphaModFix/>
          </a:blip>
          <a:stretch>
            <a:fillRect/>
          </a:stretch>
        </p:blipFill>
        <p:spPr>
          <a:xfrm>
            <a:off x="3890913" y="3993614"/>
            <a:ext cx="344116" cy="307817"/>
          </a:xfrm>
          <a:prstGeom prst="rect">
            <a:avLst/>
          </a:prstGeom>
          <a:noFill/>
          <a:ln>
            <a:noFill/>
          </a:ln>
        </p:spPr>
      </p:pic>
      <p:sp>
        <p:nvSpPr>
          <p:cNvPr id="4863" name="Google Shape;4863;p184"/>
          <p:cNvSpPr/>
          <p:nvPr/>
        </p:nvSpPr>
        <p:spPr>
          <a:xfrm>
            <a:off x="3186735" y="2057801"/>
            <a:ext cx="3252900" cy="3222900"/>
          </a:xfrm>
          <a:prstGeom prst="ellipse">
            <a:avLst/>
          </a:prstGeom>
          <a:noFill/>
          <a:ln cap="flat" cmpd="sng" w="9525">
            <a:solidFill>
              <a:srgbClr val="00AD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64" name="Google Shape;4864;p184"/>
          <p:cNvPicPr preferRelativeResize="0"/>
          <p:nvPr/>
        </p:nvPicPr>
        <p:blipFill rotWithShape="1">
          <a:blip r:embed="rId4">
            <a:alphaModFix/>
          </a:blip>
          <a:srcRect b="-12351" l="-8262" r="-8274" t="-11166"/>
          <a:stretch/>
        </p:blipFill>
        <p:spPr>
          <a:xfrm>
            <a:off x="2453150" y="3421200"/>
            <a:ext cx="339900" cy="344700"/>
          </a:xfrm>
          <a:prstGeom prst="roundRect">
            <a:avLst>
              <a:gd fmla="val 16667" name="adj"/>
            </a:avLst>
          </a:prstGeom>
          <a:noFill/>
          <a:ln cap="flat" cmpd="sng" w="9525">
            <a:solidFill>
              <a:srgbClr val="FFAB00"/>
            </a:solidFill>
            <a:prstDash val="solid"/>
            <a:round/>
            <a:headEnd len="sm" w="sm" type="none"/>
            <a:tailEnd len="sm" w="sm" type="none"/>
          </a:ln>
        </p:spPr>
      </p:pic>
      <p:pic>
        <p:nvPicPr>
          <p:cNvPr id="4865" name="Google Shape;4865;p184"/>
          <p:cNvPicPr preferRelativeResize="0"/>
          <p:nvPr/>
        </p:nvPicPr>
        <p:blipFill>
          <a:blip r:embed="rId3">
            <a:alphaModFix/>
          </a:blip>
          <a:stretch>
            <a:fillRect/>
          </a:stretch>
        </p:blipFill>
        <p:spPr>
          <a:xfrm>
            <a:off x="3890913" y="3231227"/>
            <a:ext cx="344116" cy="307800"/>
          </a:xfrm>
          <a:prstGeom prst="rect">
            <a:avLst/>
          </a:prstGeom>
          <a:noFill/>
          <a:ln>
            <a:noFill/>
          </a:ln>
        </p:spPr>
      </p:pic>
      <p:sp>
        <p:nvSpPr>
          <p:cNvPr id="4866" name="Google Shape;4866;p184"/>
          <p:cNvSpPr txBox="1"/>
          <p:nvPr/>
        </p:nvSpPr>
        <p:spPr>
          <a:xfrm>
            <a:off x="4072350" y="3231225"/>
            <a:ext cx="18195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Courier New"/>
                <a:ea typeface="Courier New"/>
                <a:cs typeface="Courier New"/>
                <a:sym typeface="Courier New"/>
              </a:rPr>
              <a:t>browser_authentication</a:t>
            </a:r>
            <a:r>
              <a:rPr lang="en" sz="900">
                <a:solidFill>
                  <a:srgbClr val="1B5162"/>
                </a:solidFill>
                <a:latin typeface="DM Sans Medium"/>
                <a:ea typeface="DM Sans Medium"/>
                <a:cs typeface="DM Sans Medium"/>
                <a:sym typeface="DM Sans Medium"/>
              </a:rPr>
              <a:t>  private endpoint</a:t>
            </a:r>
            <a:endParaRPr sz="2400">
              <a:solidFill>
                <a:schemeClr val="dk2"/>
              </a:solidFill>
            </a:endParaRPr>
          </a:p>
        </p:txBody>
      </p:sp>
      <p:sp>
        <p:nvSpPr>
          <p:cNvPr id="4867" name="Google Shape;4867;p184"/>
          <p:cNvSpPr txBox="1"/>
          <p:nvPr/>
        </p:nvSpPr>
        <p:spPr>
          <a:xfrm>
            <a:off x="4297050" y="2410600"/>
            <a:ext cx="13701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Transit VNet</a:t>
            </a:r>
            <a:endParaRPr sz="2700">
              <a:solidFill>
                <a:schemeClr val="dk2"/>
              </a:solidFill>
            </a:endParaRPr>
          </a:p>
        </p:txBody>
      </p:sp>
      <p:grpSp>
        <p:nvGrpSpPr>
          <p:cNvPr id="4868" name="Google Shape;4868;p184"/>
          <p:cNvGrpSpPr/>
          <p:nvPr/>
        </p:nvGrpSpPr>
        <p:grpSpPr>
          <a:xfrm>
            <a:off x="884156" y="2620660"/>
            <a:ext cx="847162" cy="739340"/>
            <a:chOff x="91762" y="2601287"/>
            <a:chExt cx="1189500" cy="1083600"/>
          </a:xfrm>
        </p:grpSpPr>
        <p:sp>
          <p:nvSpPr>
            <p:cNvPr id="4869" name="Google Shape;4869;p184"/>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4870" name="Google Shape;4870;p184"/>
            <p:cNvPicPr preferRelativeResize="0"/>
            <p:nvPr/>
          </p:nvPicPr>
          <p:blipFill rotWithShape="1">
            <a:blip r:embed="rId5">
              <a:alphaModFix/>
            </a:blip>
            <a:srcRect b="0" l="0" r="0" t="0"/>
            <a:stretch/>
          </p:blipFill>
          <p:spPr>
            <a:xfrm>
              <a:off x="452892" y="3143220"/>
              <a:ext cx="467236" cy="437700"/>
            </a:xfrm>
            <a:prstGeom prst="rect">
              <a:avLst/>
            </a:prstGeom>
            <a:noFill/>
            <a:ln>
              <a:noFill/>
            </a:ln>
          </p:spPr>
        </p:pic>
      </p:grpSp>
      <p:sp>
        <p:nvSpPr>
          <p:cNvPr id="4871" name="Google Shape;4871;p184"/>
          <p:cNvSpPr/>
          <p:nvPr/>
        </p:nvSpPr>
        <p:spPr>
          <a:xfrm>
            <a:off x="871731" y="351451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BI Apps</a:t>
            </a:r>
            <a:endParaRPr sz="900">
              <a:solidFill>
                <a:srgbClr val="1B5162"/>
              </a:solidFill>
              <a:latin typeface="DM Sans Medium"/>
              <a:ea typeface="DM Sans Medium"/>
              <a:cs typeface="DM Sans Medium"/>
              <a:sym typeface="DM Sans Medium"/>
            </a:endParaRPr>
          </a:p>
        </p:txBody>
      </p:sp>
      <p:sp>
        <p:nvSpPr>
          <p:cNvPr id="4872" name="Google Shape;4872;p184"/>
          <p:cNvSpPr/>
          <p:nvPr/>
        </p:nvSpPr>
        <p:spPr>
          <a:xfrm>
            <a:off x="871731" y="440821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Delta Sharing </a:t>
            </a:r>
            <a:endParaRPr sz="900">
              <a:solidFill>
                <a:srgbClr val="1B5162"/>
              </a:solidFill>
              <a:latin typeface="DM Sans Medium"/>
              <a:ea typeface="DM Sans Medium"/>
              <a:cs typeface="DM Sans Medium"/>
              <a:sym typeface="DM Sans Medium"/>
            </a:endParaRPr>
          </a:p>
        </p:txBody>
      </p:sp>
      <p:pic>
        <p:nvPicPr>
          <p:cNvPr id="4873" name="Google Shape;4873;p184"/>
          <p:cNvPicPr preferRelativeResize="0"/>
          <p:nvPr/>
        </p:nvPicPr>
        <p:blipFill>
          <a:blip r:embed="rId6">
            <a:alphaModFix/>
          </a:blip>
          <a:stretch>
            <a:fillRect/>
          </a:stretch>
        </p:blipFill>
        <p:spPr>
          <a:xfrm>
            <a:off x="1133162" y="4810706"/>
            <a:ext cx="324300" cy="274693"/>
          </a:xfrm>
          <a:prstGeom prst="rect">
            <a:avLst/>
          </a:prstGeom>
          <a:noFill/>
          <a:ln cap="flat" cmpd="sng" w="9525">
            <a:solidFill>
              <a:srgbClr val="F9F7F4"/>
            </a:solidFill>
            <a:prstDash val="solid"/>
            <a:round/>
            <a:headEnd len="sm" w="sm" type="none"/>
            <a:tailEnd len="sm" w="sm" type="none"/>
          </a:ln>
        </p:spPr>
      </p:pic>
      <p:pic>
        <p:nvPicPr>
          <p:cNvPr id="4874" name="Google Shape;4874;p184"/>
          <p:cNvPicPr preferRelativeResize="0"/>
          <p:nvPr/>
        </p:nvPicPr>
        <p:blipFill rotWithShape="1">
          <a:blip r:embed="rId7">
            <a:alphaModFix/>
          </a:blip>
          <a:srcRect b="0" l="64446" r="0" t="0"/>
          <a:stretch/>
        </p:blipFill>
        <p:spPr>
          <a:xfrm>
            <a:off x="1457468" y="3943603"/>
            <a:ext cx="216044" cy="184421"/>
          </a:xfrm>
          <a:prstGeom prst="rect">
            <a:avLst/>
          </a:prstGeom>
          <a:noFill/>
          <a:ln cap="flat" cmpd="sng" w="9525">
            <a:solidFill>
              <a:srgbClr val="000000"/>
            </a:solidFill>
            <a:prstDash val="solid"/>
            <a:round/>
            <a:headEnd len="sm" w="sm" type="none"/>
            <a:tailEnd len="sm" w="sm" type="none"/>
          </a:ln>
        </p:spPr>
      </p:pic>
      <p:pic>
        <p:nvPicPr>
          <p:cNvPr id="4875" name="Google Shape;4875;p184"/>
          <p:cNvPicPr preferRelativeResize="0"/>
          <p:nvPr/>
        </p:nvPicPr>
        <p:blipFill rotWithShape="1">
          <a:blip r:embed="rId8">
            <a:alphaModFix/>
          </a:blip>
          <a:srcRect b="0" l="0" r="0" t="0"/>
          <a:stretch/>
        </p:blipFill>
        <p:spPr>
          <a:xfrm>
            <a:off x="1202020" y="3943603"/>
            <a:ext cx="184429" cy="184422"/>
          </a:xfrm>
          <a:prstGeom prst="rect">
            <a:avLst/>
          </a:prstGeom>
          <a:noFill/>
          <a:ln cap="flat" cmpd="sng" w="9525">
            <a:solidFill>
              <a:srgbClr val="000000"/>
            </a:solidFill>
            <a:prstDash val="solid"/>
            <a:round/>
            <a:headEnd len="sm" w="sm" type="none"/>
            <a:tailEnd len="sm" w="sm" type="none"/>
          </a:ln>
        </p:spPr>
      </p:pic>
      <p:pic>
        <p:nvPicPr>
          <p:cNvPr descr="A picture containing object&#10;&#10;Description automatically generated" id="4876" name="Google Shape;4876;p184"/>
          <p:cNvPicPr preferRelativeResize="0"/>
          <p:nvPr/>
        </p:nvPicPr>
        <p:blipFill rotWithShape="1">
          <a:blip r:embed="rId9">
            <a:alphaModFix/>
          </a:blip>
          <a:srcRect b="17228" l="27702" r="26712" t="18025"/>
          <a:stretch/>
        </p:blipFill>
        <p:spPr>
          <a:xfrm>
            <a:off x="941950" y="3943603"/>
            <a:ext cx="189040" cy="184421"/>
          </a:xfrm>
          <a:prstGeom prst="rect">
            <a:avLst/>
          </a:prstGeom>
          <a:noFill/>
          <a:ln cap="flat" cmpd="sng" w="9525">
            <a:solidFill>
              <a:srgbClr val="000000"/>
            </a:solidFill>
            <a:prstDash val="solid"/>
            <a:round/>
            <a:headEnd len="sm" w="sm" type="none"/>
            <a:tailEnd len="sm" w="sm" type="none"/>
          </a:ln>
        </p:spPr>
      </p:pic>
      <p:sp>
        <p:nvSpPr>
          <p:cNvPr id="4877" name="Google Shape;4877;p184"/>
          <p:cNvSpPr txBox="1"/>
          <p:nvPr/>
        </p:nvSpPr>
        <p:spPr>
          <a:xfrm>
            <a:off x="2140838" y="3765900"/>
            <a:ext cx="964500" cy="47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ExpressRoute/VPN</a:t>
            </a:r>
            <a:endParaRPr sz="2400">
              <a:solidFill>
                <a:schemeClr val="dk2"/>
              </a:solidFill>
            </a:endParaRPr>
          </a:p>
        </p:txBody>
      </p:sp>
      <p:sp>
        <p:nvSpPr>
          <p:cNvPr id="4878" name="Google Shape;4878;p184"/>
          <p:cNvSpPr txBox="1"/>
          <p:nvPr/>
        </p:nvSpPr>
        <p:spPr>
          <a:xfrm>
            <a:off x="4001613" y="3975175"/>
            <a:ext cx="1542900" cy="34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Courier New"/>
                <a:ea typeface="Courier New"/>
                <a:cs typeface="Courier New"/>
                <a:sym typeface="Courier New"/>
              </a:rPr>
              <a:t> databricks_ui_api</a:t>
            </a:r>
            <a:endParaRPr sz="900">
              <a:solidFill>
                <a:srgbClr val="1B5162"/>
              </a:solidFill>
              <a:latin typeface="Courier New"/>
              <a:ea typeface="Courier New"/>
              <a:cs typeface="Courier New"/>
              <a:sym typeface="Courier New"/>
            </a:endParaRPr>
          </a:p>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 private endpoint</a:t>
            </a:r>
            <a:endParaRPr sz="2400">
              <a:solidFill>
                <a:schemeClr val="dk2"/>
              </a:solidFill>
            </a:endParaRPr>
          </a:p>
        </p:txBody>
      </p:sp>
      <p:sp>
        <p:nvSpPr>
          <p:cNvPr id="4879" name="Google Shape;4879;p184"/>
          <p:cNvSpPr/>
          <p:nvPr/>
        </p:nvSpPr>
        <p:spPr>
          <a:xfrm>
            <a:off x="3853550" y="3975175"/>
            <a:ext cx="1935775" cy="523700"/>
          </a:xfrm>
          <a:prstGeom prst="flowChartProcess">
            <a:avLst/>
          </a:prstGeom>
          <a:noFill/>
          <a:ln cap="flat" cmpd="sng" w="9525">
            <a:solidFill>
              <a:srgbClr val="00AD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t> </a:t>
            </a:r>
            <a:endParaRPr sz="1500"/>
          </a:p>
        </p:txBody>
      </p:sp>
      <p:sp>
        <p:nvSpPr>
          <p:cNvPr id="4880" name="Google Shape;4880;p184"/>
          <p:cNvSpPr/>
          <p:nvPr/>
        </p:nvSpPr>
        <p:spPr>
          <a:xfrm>
            <a:off x="9374900" y="2334750"/>
            <a:ext cx="2445300" cy="2593200"/>
          </a:xfrm>
          <a:prstGeom prst="roundRect">
            <a:avLst>
              <a:gd fmla="val 16667" name="adj"/>
            </a:avLst>
          </a:prstGeom>
          <a:noFill/>
          <a:ln cap="flat" cmpd="sng" w="9525">
            <a:solidFill>
              <a:srgbClr val="FF5F46"/>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grpSp>
        <p:nvGrpSpPr>
          <p:cNvPr id="4881" name="Google Shape;4881;p184"/>
          <p:cNvGrpSpPr/>
          <p:nvPr/>
        </p:nvGrpSpPr>
        <p:grpSpPr>
          <a:xfrm>
            <a:off x="9690052" y="2728781"/>
            <a:ext cx="1819547" cy="1869988"/>
            <a:chOff x="1013125" y="382029"/>
            <a:chExt cx="2245800" cy="2282700"/>
          </a:xfrm>
        </p:grpSpPr>
        <p:sp>
          <p:nvSpPr>
            <p:cNvPr id="4882" name="Google Shape;4882;p184"/>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4883" name="Google Shape;4883;p184"/>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4884" name="Google Shape;4884;p184"/>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4885" name="Google Shape;4885;p184"/>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4886" name="Google Shape;4886;p184"/>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pic>
        <p:nvPicPr>
          <p:cNvPr id="4887" name="Google Shape;4887;p184"/>
          <p:cNvPicPr preferRelativeResize="0"/>
          <p:nvPr/>
        </p:nvPicPr>
        <p:blipFill>
          <a:blip r:embed="rId10">
            <a:alphaModFix/>
          </a:blip>
          <a:stretch>
            <a:fillRect/>
          </a:stretch>
        </p:blipFill>
        <p:spPr>
          <a:xfrm>
            <a:off x="9818976" y="2410598"/>
            <a:ext cx="216026" cy="243770"/>
          </a:xfrm>
          <a:prstGeom prst="rect">
            <a:avLst/>
          </a:prstGeom>
          <a:noFill/>
          <a:ln>
            <a:noFill/>
          </a:ln>
        </p:spPr>
      </p:pic>
      <p:sp>
        <p:nvSpPr>
          <p:cNvPr id="4888" name="Google Shape;4888;p184"/>
          <p:cNvSpPr txBox="1"/>
          <p:nvPr/>
        </p:nvSpPr>
        <p:spPr>
          <a:xfrm>
            <a:off x="9818975" y="2410600"/>
            <a:ext cx="16269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Databricks </a:t>
            </a:r>
            <a:endParaRPr sz="1200">
              <a:solidFill>
                <a:srgbClr val="1B3139"/>
              </a:solidFill>
              <a:latin typeface="DM Sans"/>
              <a:ea typeface="DM Sans"/>
              <a:cs typeface="DM Sans"/>
              <a:sym typeface="DM Sans"/>
            </a:endParaRPr>
          </a:p>
        </p:txBody>
      </p:sp>
      <p:sp>
        <p:nvSpPr>
          <p:cNvPr id="4889" name="Google Shape;4889;p184"/>
          <p:cNvSpPr/>
          <p:nvPr/>
        </p:nvSpPr>
        <p:spPr>
          <a:xfrm>
            <a:off x="7128725" y="3874900"/>
            <a:ext cx="1370100" cy="739200"/>
          </a:xfrm>
          <a:prstGeom prst="roundRect">
            <a:avLst>
              <a:gd fmla="val 16667" name="adj"/>
            </a:avLst>
          </a:prstGeom>
          <a:solidFill>
            <a:schemeClr val="lt1"/>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184"/>
          <p:cNvSpPr txBox="1"/>
          <p:nvPr/>
        </p:nvSpPr>
        <p:spPr>
          <a:xfrm>
            <a:off x="7461575" y="3902275"/>
            <a:ext cx="10392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Azure Private Link service</a:t>
            </a:r>
            <a:endParaRPr sz="2400">
              <a:solidFill>
                <a:schemeClr val="dk2"/>
              </a:solidFill>
            </a:endParaRPr>
          </a:p>
        </p:txBody>
      </p:sp>
      <p:pic>
        <p:nvPicPr>
          <p:cNvPr id="4891" name="Google Shape;4891;p184" title="1725055558971.png"/>
          <p:cNvPicPr preferRelativeResize="0"/>
          <p:nvPr/>
        </p:nvPicPr>
        <p:blipFill rotWithShape="1">
          <a:blip r:embed="rId11">
            <a:alphaModFix/>
          </a:blip>
          <a:srcRect b="-13160" l="16771" r="16437" t="0"/>
          <a:stretch/>
        </p:blipFill>
        <p:spPr>
          <a:xfrm>
            <a:off x="7210950" y="4041205"/>
            <a:ext cx="344100" cy="391645"/>
          </a:xfrm>
          <a:prstGeom prst="rect">
            <a:avLst/>
          </a:prstGeom>
          <a:solidFill>
            <a:schemeClr val="lt1"/>
          </a:solidFill>
          <a:ln cap="flat" cmpd="sng" w="9525">
            <a:solidFill>
              <a:schemeClr val="lt1"/>
            </a:solidFill>
            <a:prstDash val="solid"/>
            <a:round/>
            <a:headEnd len="sm" w="sm" type="none"/>
            <a:tailEnd len="sm" w="sm" type="none"/>
          </a:ln>
        </p:spPr>
      </p:pic>
      <p:sp>
        <p:nvSpPr>
          <p:cNvPr id="4892" name="Google Shape;4892;p184"/>
          <p:cNvSpPr/>
          <p:nvPr/>
        </p:nvSpPr>
        <p:spPr>
          <a:xfrm>
            <a:off x="7127750" y="2965375"/>
            <a:ext cx="1370100" cy="739200"/>
          </a:xfrm>
          <a:prstGeom prst="roundRect">
            <a:avLst>
              <a:gd fmla="val 16667" name="adj"/>
            </a:avLst>
          </a:prstGeom>
          <a:solidFill>
            <a:schemeClr val="lt1"/>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184"/>
          <p:cNvSpPr txBox="1"/>
          <p:nvPr/>
        </p:nvSpPr>
        <p:spPr>
          <a:xfrm>
            <a:off x="7460600" y="2992750"/>
            <a:ext cx="10392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Entra ID service</a:t>
            </a:r>
            <a:endParaRPr sz="2400">
              <a:solidFill>
                <a:schemeClr val="dk2"/>
              </a:solidFill>
            </a:endParaRPr>
          </a:p>
        </p:txBody>
      </p:sp>
      <p:pic>
        <p:nvPicPr>
          <p:cNvPr id="4894" name="Google Shape;4894;p184" title="1725055558971.png"/>
          <p:cNvPicPr preferRelativeResize="0"/>
          <p:nvPr/>
        </p:nvPicPr>
        <p:blipFill rotWithShape="1">
          <a:blip r:embed="rId11">
            <a:alphaModFix/>
          </a:blip>
          <a:srcRect b="-13160" l="16771" r="16437" t="0"/>
          <a:stretch/>
        </p:blipFill>
        <p:spPr>
          <a:xfrm>
            <a:off x="7262213" y="3139155"/>
            <a:ext cx="344100" cy="391645"/>
          </a:xfrm>
          <a:prstGeom prst="rect">
            <a:avLst/>
          </a:prstGeom>
          <a:solidFill>
            <a:schemeClr val="lt1"/>
          </a:solidFill>
          <a:ln cap="flat" cmpd="sng" w="9525">
            <a:solidFill>
              <a:schemeClr val="lt1"/>
            </a:solidFill>
            <a:prstDash val="solid"/>
            <a:round/>
            <a:headEnd len="sm" w="sm" type="none"/>
            <a:tailEnd len="sm" w="sm" type="none"/>
          </a:ln>
        </p:spPr>
      </p:pic>
      <p:pic>
        <p:nvPicPr>
          <p:cNvPr id="4895" name="Google Shape;4895;p184" title="download.png"/>
          <p:cNvPicPr preferRelativeResize="0"/>
          <p:nvPr/>
        </p:nvPicPr>
        <p:blipFill>
          <a:blip r:embed="rId12">
            <a:alphaModFix/>
          </a:blip>
          <a:stretch>
            <a:fillRect/>
          </a:stretch>
        </p:blipFill>
        <p:spPr>
          <a:xfrm>
            <a:off x="4072352" y="2442556"/>
            <a:ext cx="464572" cy="243900"/>
          </a:xfrm>
          <a:prstGeom prst="rect">
            <a:avLst/>
          </a:prstGeom>
          <a:noFill/>
          <a:ln>
            <a:noFill/>
          </a:ln>
        </p:spPr>
      </p:pic>
      <p:cxnSp>
        <p:nvCxnSpPr>
          <p:cNvPr id="4896" name="Google Shape;4896;p184"/>
          <p:cNvCxnSpPr>
            <a:stCxn id="4858" idx="3"/>
            <a:endCxn id="4864" idx="1"/>
          </p:cNvCxnSpPr>
          <p:nvPr/>
        </p:nvCxnSpPr>
        <p:spPr>
          <a:xfrm flipH="1" rot="10800000">
            <a:off x="1992788" y="3593650"/>
            <a:ext cx="460500" cy="75600"/>
          </a:xfrm>
          <a:prstGeom prst="curvedConnector3">
            <a:avLst>
              <a:gd fmla="val 49985" name="adj1"/>
            </a:avLst>
          </a:prstGeom>
          <a:noFill/>
          <a:ln cap="flat" cmpd="sng" w="9525">
            <a:solidFill>
              <a:schemeClr val="dk2"/>
            </a:solidFill>
            <a:prstDash val="dash"/>
            <a:round/>
            <a:headEnd len="med" w="med" type="none"/>
            <a:tailEnd len="med" w="med" type="none"/>
          </a:ln>
        </p:spPr>
      </p:cxnSp>
      <p:cxnSp>
        <p:nvCxnSpPr>
          <p:cNvPr id="4897" name="Google Shape;4897;p184"/>
          <p:cNvCxnSpPr>
            <a:stCxn id="4864" idx="3"/>
            <a:endCxn id="4863" idx="2"/>
          </p:cNvCxnSpPr>
          <p:nvPr/>
        </p:nvCxnSpPr>
        <p:spPr>
          <a:xfrm>
            <a:off x="2793050" y="3593550"/>
            <a:ext cx="393600" cy="75600"/>
          </a:xfrm>
          <a:prstGeom prst="curvedConnector3">
            <a:avLst>
              <a:gd fmla="val 50011" name="adj1"/>
            </a:avLst>
          </a:prstGeom>
          <a:noFill/>
          <a:ln cap="flat" cmpd="sng" w="9525">
            <a:solidFill>
              <a:schemeClr val="dk2"/>
            </a:solidFill>
            <a:prstDash val="dash"/>
            <a:round/>
            <a:headEnd len="med" w="med" type="none"/>
            <a:tailEnd len="med" w="med" type="none"/>
          </a:ln>
        </p:spPr>
      </p:cxnSp>
      <p:cxnSp>
        <p:nvCxnSpPr>
          <p:cNvPr id="4898" name="Google Shape;4898;p184"/>
          <p:cNvCxnSpPr>
            <a:stCxn id="4899" idx="3"/>
            <a:endCxn id="4892" idx="1"/>
          </p:cNvCxnSpPr>
          <p:nvPr/>
        </p:nvCxnSpPr>
        <p:spPr>
          <a:xfrm flipH="1" rot="10800000">
            <a:off x="5789325" y="3334850"/>
            <a:ext cx="1338300" cy="97200"/>
          </a:xfrm>
          <a:prstGeom prst="curvedConnector3">
            <a:avLst>
              <a:gd fmla="val 50005" name="adj1"/>
            </a:avLst>
          </a:prstGeom>
          <a:noFill/>
          <a:ln cap="flat" cmpd="sng" w="9525">
            <a:solidFill>
              <a:schemeClr val="dk2"/>
            </a:solidFill>
            <a:prstDash val="dash"/>
            <a:round/>
            <a:headEnd len="med" w="med" type="none"/>
            <a:tailEnd len="med" w="med" type="none"/>
          </a:ln>
        </p:spPr>
      </p:cxnSp>
      <p:cxnSp>
        <p:nvCxnSpPr>
          <p:cNvPr id="4900" name="Google Shape;4900;p184"/>
          <p:cNvCxnSpPr>
            <a:stCxn id="4879" idx="3"/>
            <a:endCxn id="4889" idx="1"/>
          </p:cNvCxnSpPr>
          <p:nvPr/>
        </p:nvCxnSpPr>
        <p:spPr>
          <a:xfrm>
            <a:off x="5789325" y="4237025"/>
            <a:ext cx="1339500" cy="7500"/>
          </a:xfrm>
          <a:prstGeom prst="curvedConnector3">
            <a:avLst>
              <a:gd fmla="val 49996" name="adj1"/>
            </a:avLst>
          </a:prstGeom>
          <a:noFill/>
          <a:ln cap="flat" cmpd="sng" w="9525">
            <a:solidFill>
              <a:schemeClr val="dk2"/>
            </a:solidFill>
            <a:prstDash val="dash"/>
            <a:round/>
            <a:headEnd len="med" w="med" type="none"/>
            <a:tailEnd len="med" w="med" type="none"/>
          </a:ln>
        </p:spPr>
      </p:cxnSp>
      <p:cxnSp>
        <p:nvCxnSpPr>
          <p:cNvPr id="4901" name="Google Shape;4901;p184"/>
          <p:cNvCxnSpPr>
            <a:stCxn id="4892" idx="3"/>
            <a:endCxn id="4880" idx="1"/>
          </p:cNvCxnSpPr>
          <p:nvPr/>
        </p:nvCxnSpPr>
        <p:spPr>
          <a:xfrm>
            <a:off x="8497850" y="3334975"/>
            <a:ext cx="877200" cy="296400"/>
          </a:xfrm>
          <a:prstGeom prst="curvedConnector3">
            <a:avLst>
              <a:gd fmla="val 49991" name="adj1"/>
            </a:avLst>
          </a:prstGeom>
          <a:noFill/>
          <a:ln cap="flat" cmpd="sng" w="9525">
            <a:solidFill>
              <a:schemeClr val="dk2"/>
            </a:solidFill>
            <a:prstDash val="dash"/>
            <a:round/>
            <a:headEnd len="med" w="med" type="none"/>
            <a:tailEnd len="med" w="med" type="none"/>
          </a:ln>
        </p:spPr>
      </p:cxnSp>
      <p:cxnSp>
        <p:nvCxnSpPr>
          <p:cNvPr id="4902" name="Google Shape;4902;p184"/>
          <p:cNvCxnSpPr>
            <a:stCxn id="4889" idx="3"/>
            <a:endCxn id="4880" idx="1"/>
          </p:cNvCxnSpPr>
          <p:nvPr/>
        </p:nvCxnSpPr>
        <p:spPr>
          <a:xfrm flipH="1" rot="10800000">
            <a:off x="8498825" y="3631300"/>
            <a:ext cx="876000" cy="613200"/>
          </a:xfrm>
          <a:prstGeom prst="curvedConnector3">
            <a:avLst>
              <a:gd fmla="val 50004" name="adj1"/>
            </a:avLst>
          </a:prstGeom>
          <a:noFill/>
          <a:ln cap="flat" cmpd="sng" w="9525">
            <a:solidFill>
              <a:schemeClr val="dk2"/>
            </a:solidFill>
            <a:prstDash val="dash"/>
            <a:round/>
            <a:headEnd len="med" w="med" type="none"/>
            <a:tailEnd len="med" w="med" type="none"/>
          </a:ln>
        </p:spPr>
      </p:cxnSp>
      <p:sp>
        <p:nvSpPr>
          <p:cNvPr id="4899" name="Google Shape;4899;p184"/>
          <p:cNvSpPr/>
          <p:nvPr/>
        </p:nvSpPr>
        <p:spPr>
          <a:xfrm>
            <a:off x="3853550" y="3170200"/>
            <a:ext cx="1935775" cy="523700"/>
          </a:xfrm>
          <a:prstGeom prst="flowChartProcess">
            <a:avLst/>
          </a:prstGeom>
          <a:noFill/>
          <a:ln cap="flat" cmpd="sng" w="9525">
            <a:solidFill>
              <a:srgbClr val="00AD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6" name="Shape 4906"/>
        <p:cNvGrpSpPr/>
        <p:nvPr/>
      </p:nvGrpSpPr>
      <p:grpSpPr>
        <a:xfrm>
          <a:off x="0" y="0"/>
          <a:ext cx="0" cy="0"/>
          <a:chOff x="0" y="0"/>
          <a:chExt cx="0" cy="0"/>
        </a:xfrm>
      </p:grpSpPr>
      <p:sp>
        <p:nvSpPr>
          <p:cNvPr id="4907" name="Google Shape;4907;p185"/>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4908" name="Google Shape;4908;p185"/>
          <p:cNvSpPr txBox="1"/>
          <p:nvPr/>
        </p:nvSpPr>
        <p:spPr>
          <a:xfrm>
            <a:off x="-7289900" y="23100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/_static/images/security/network/pl-azure-fe.png</a:t>
            </a:r>
            <a:endParaRPr/>
          </a:p>
        </p:txBody>
      </p:sp>
      <p:cxnSp>
        <p:nvCxnSpPr>
          <p:cNvPr id="4909" name="Google Shape;4909;p185"/>
          <p:cNvCxnSpPr/>
          <p:nvPr/>
        </p:nvCxnSpPr>
        <p:spPr>
          <a:xfrm>
            <a:off x="11953283" y="5674472"/>
            <a:ext cx="0" cy="0"/>
          </a:xfrm>
          <a:prstGeom prst="straightConnector1">
            <a:avLst/>
          </a:prstGeom>
          <a:noFill/>
          <a:ln cap="flat" cmpd="sng" w="9525">
            <a:solidFill>
              <a:schemeClr val="dk2"/>
            </a:solidFill>
            <a:prstDash val="solid"/>
            <a:round/>
            <a:headEnd len="med" w="med" type="none"/>
            <a:tailEnd len="med" w="med" type="none"/>
          </a:ln>
        </p:spPr>
      </p:cxnSp>
      <p:sp>
        <p:nvSpPr>
          <p:cNvPr id="4910" name="Google Shape;4910;p185"/>
          <p:cNvSpPr txBox="1"/>
          <p:nvPr/>
        </p:nvSpPr>
        <p:spPr>
          <a:xfrm>
            <a:off x="863425" y="3293050"/>
            <a:ext cx="1478400" cy="27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50">
                <a:solidFill>
                  <a:srgbClr val="1B5162"/>
                </a:solidFill>
                <a:latin typeface="DM Sans Medium"/>
                <a:ea typeface="DM Sans Medium"/>
                <a:cs typeface="DM Sans Medium"/>
                <a:sym typeface="DM Sans Medium"/>
              </a:rPr>
              <a:t>Customer On-Premises &amp; Cloud</a:t>
            </a:r>
            <a:endParaRPr sz="1050">
              <a:solidFill>
                <a:schemeClr val="dk2"/>
              </a:solidFill>
            </a:endParaRPr>
          </a:p>
        </p:txBody>
      </p:sp>
      <p:sp>
        <p:nvSpPr>
          <p:cNvPr id="4911" name="Google Shape;4911;p185"/>
          <p:cNvSpPr txBox="1"/>
          <p:nvPr/>
        </p:nvSpPr>
        <p:spPr>
          <a:xfrm>
            <a:off x="1090275" y="4693400"/>
            <a:ext cx="234000" cy="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endParaRPr>
          </a:p>
        </p:txBody>
      </p:sp>
      <p:cxnSp>
        <p:nvCxnSpPr>
          <p:cNvPr id="4912" name="Google Shape;4912;p185"/>
          <p:cNvCxnSpPr/>
          <p:nvPr/>
        </p:nvCxnSpPr>
        <p:spPr>
          <a:xfrm>
            <a:off x="2312000" y="5193325"/>
            <a:ext cx="0" cy="3300"/>
          </a:xfrm>
          <a:prstGeom prst="straightConnector1">
            <a:avLst/>
          </a:prstGeom>
          <a:noFill/>
          <a:ln cap="flat" cmpd="sng" w="9525">
            <a:solidFill>
              <a:srgbClr val="618794"/>
            </a:solidFill>
            <a:prstDash val="solid"/>
            <a:round/>
            <a:headEnd len="med" w="med" type="none"/>
            <a:tailEnd len="med" w="med" type="none"/>
          </a:ln>
        </p:spPr>
      </p:cxnSp>
      <p:pic>
        <p:nvPicPr>
          <p:cNvPr id="4913" name="Google Shape;4913;p185"/>
          <p:cNvPicPr preferRelativeResize="0"/>
          <p:nvPr/>
        </p:nvPicPr>
        <p:blipFill>
          <a:blip r:embed="rId3">
            <a:alphaModFix/>
          </a:blip>
          <a:stretch>
            <a:fillRect/>
          </a:stretch>
        </p:blipFill>
        <p:spPr>
          <a:xfrm>
            <a:off x="4155663" y="5304564"/>
            <a:ext cx="344116" cy="307817"/>
          </a:xfrm>
          <a:prstGeom prst="rect">
            <a:avLst/>
          </a:prstGeom>
          <a:noFill/>
          <a:ln>
            <a:noFill/>
          </a:ln>
        </p:spPr>
      </p:pic>
      <p:pic>
        <p:nvPicPr>
          <p:cNvPr id="4914" name="Google Shape;4914;p185"/>
          <p:cNvPicPr preferRelativeResize="0"/>
          <p:nvPr/>
        </p:nvPicPr>
        <p:blipFill>
          <a:blip r:embed="rId3">
            <a:alphaModFix/>
          </a:blip>
          <a:stretch>
            <a:fillRect/>
          </a:stretch>
        </p:blipFill>
        <p:spPr>
          <a:xfrm>
            <a:off x="4155663" y="4542177"/>
            <a:ext cx="344116" cy="307800"/>
          </a:xfrm>
          <a:prstGeom prst="rect">
            <a:avLst/>
          </a:prstGeom>
          <a:noFill/>
          <a:ln>
            <a:noFill/>
          </a:ln>
        </p:spPr>
      </p:pic>
      <p:sp>
        <p:nvSpPr>
          <p:cNvPr id="4915" name="Google Shape;4915;p185"/>
          <p:cNvSpPr txBox="1"/>
          <p:nvPr/>
        </p:nvSpPr>
        <p:spPr>
          <a:xfrm>
            <a:off x="4337100" y="4542175"/>
            <a:ext cx="18195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Courier New"/>
                <a:ea typeface="Courier New"/>
                <a:cs typeface="Courier New"/>
                <a:sym typeface="Courier New"/>
              </a:rPr>
              <a:t>browser_authentication</a:t>
            </a:r>
            <a:r>
              <a:rPr lang="en" sz="900">
                <a:solidFill>
                  <a:srgbClr val="1B5162"/>
                </a:solidFill>
                <a:latin typeface="DM Sans Medium"/>
                <a:ea typeface="DM Sans Medium"/>
                <a:cs typeface="DM Sans Medium"/>
                <a:sym typeface="DM Sans Medium"/>
              </a:rPr>
              <a:t>  private endpoint</a:t>
            </a:r>
            <a:endParaRPr sz="2400">
              <a:solidFill>
                <a:schemeClr val="dk2"/>
              </a:solidFill>
            </a:endParaRPr>
          </a:p>
        </p:txBody>
      </p:sp>
      <p:grpSp>
        <p:nvGrpSpPr>
          <p:cNvPr id="4916" name="Google Shape;4916;p185"/>
          <p:cNvGrpSpPr/>
          <p:nvPr/>
        </p:nvGrpSpPr>
        <p:grpSpPr>
          <a:xfrm>
            <a:off x="1148906" y="3931610"/>
            <a:ext cx="847162" cy="739340"/>
            <a:chOff x="91762" y="2601287"/>
            <a:chExt cx="1189500" cy="1083600"/>
          </a:xfrm>
        </p:grpSpPr>
        <p:sp>
          <p:nvSpPr>
            <p:cNvPr id="4917" name="Google Shape;4917;p185"/>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4918" name="Google Shape;4918;p185"/>
            <p:cNvPicPr preferRelativeResize="0"/>
            <p:nvPr/>
          </p:nvPicPr>
          <p:blipFill rotWithShape="1">
            <a:blip r:embed="rId4">
              <a:alphaModFix/>
            </a:blip>
            <a:srcRect b="0" l="0" r="0" t="0"/>
            <a:stretch/>
          </p:blipFill>
          <p:spPr>
            <a:xfrm>
              <a:off x="452892" y="3143220"/>
              <a:ext cx="467236" cy="437700"/>
            </a:xfrm>
            <a:prstGeom prst="rect">
              <a:avLst/>
            </a:prstGeom>
            <a:noFill/>
            <a:ln>
              <a:noFill/>
            </a:ln>
          </p:spPr>
        </p:pic>
      </p:grpSp>
      <p:sp>
        <p:nvSpPr>
          <p:cNvPr id="4919" name="Google Shape;4919;p185"/>
          <p:cNvSpPr/>
          <p:nvPr/>
        </p:nvSpPr>
        <p:spPr>
          <a:xfrm>
            <a:off x="1136481" y="571916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Delta Sharing </a:t>
            </a:r>
            <a:endParaRPr sz="900">
              <a:solidFill>
                <a:srgbClr val="1B5162"/>
              </a:solidFill>
              <a:latin typeface="DM Sans Medium"/>
              <a:ea typeface="DM Sans Medium"/>
              <a:cs typeface="DM Sans Medium"/>
              <a:sym typeface="DM Sans Medium"/>
            </a:endParaRPr>
          </a:p>
        </p:txBody>
      </p:sp>
      <p:pic>
        <p:nvPicPr>
          <p:cNvPr id="4920" name="Google Shape;4920;p185"/>
          <p:cNvPicPr preferRelativeResize="0"/>
          <p:nvPr/>
        </p:nvPicPr>
        <p:blipFill rotWithShape="1">
          <a:blip r:embed="rId5">
            <a:alphaModFix/>
          </a:blip>
          <a:srcRect b="0" l="0" r="0" t="0"/>
          <a:stretch/>
        </p:blipFill>
        <p:spPr>
          <a:xfrm>
            <a:off x="1466770" y="5254553"/>
            <a:ext cx="184429" cy="184422"/>
          </a:xfrm>
          <a:prstGeom prst="rect">
            <a:avLst/>
          </a:prstGeom>
          <a:noFill/>
          <a:ln cap="flat" cmpd="sng" w="9525">
            <a:solidFill>
              <a:srgbClr val="000000"/>
            </a:solidFill>
            <a:prstDash val="solid"/>
            <a:round/>
            <a:headEnd len="sm" w="sm" type="none"/>
            <a:tailEnd len="sm" w="sm" type="none"/>
          </a:ln>
        </p:spPr>
      </p:pic>
      <p:pic>
        <p:nvPicPr>
          <p:cNvPr descr="A picture containing object&#10;&#10;Description automatically generated" id="4921" name="Google Shape;4921;p185"/>
          <p:cNvPicPr preferRelativeResize="0"/>
          <p:nvPr/>
        </p:nvPicPr>
        <p:blipFill rotWithShape="1">
          <a:blip r:embed="rId6">
            <a:alphaModFix/>
          </a:blip>
          <a:srcRect b="17228" l="27702" r="26712" t="18025"/>
          <a:stretch/>
        </p:blipFill>
        <p:spPr>
          <a:xfrm>
            <a:off x="1206700" y="5254553"/>
            <a:ext cx="189040" cy="184421"/>
          </a:xfrm>
          <a:prstGeom prst="rect">
            <a:avLst/>
          </a:prstGeom>
          <a:noFill/>
          <a:ln cap="flat" cmpd="sng" w="9525">
            <a:solidFill>
              <a:srgbClr val="000000"/>
            </a:solidFill>
            <a:prstDash val="solid"/>
            <a:round/>
            <a:headEnd len="sm" w="sm" type="none"/>
            <a:tailEnd len="sm" w="sm" type="none"/>
          </a:ln>
        </p:spPr>
      </p:pic>
      <p:sp>
        <p:nvSpPr>
          <p:cNvPr id="4922" name="Google Shape;4922;p185"/>
          <p:cNvSpPr txBox="1"/>
          <p:nvPr/>
        </p:nvSpPr>
        <p:spPr>
          <a:xfrm>
            <a:off x="2240149" y="5111274"/>
            <a:ext cx="1190400" cy="45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ExpressRoute/VPN</a:t>
            </a:r>
            <a:endParaRPr sz="2600">
              <a:solidFill>
                <a:schemeClr val="dk2"/>
              </a:solidFill>
            </a:endParaRPr>
          </a:p>
        </p:txBody>
      </p:sp>
      <p:sp>
        <p:nvSpPr>
          <p:cNvPr id="4923" name="Google Shape;4923;p185"/>
          <p:cNvSpPr txBox="1"/>
          <p:nvPr/>
        </p:nvSpPr>
        <p:spPr>
          <a:xfrm>
            <a:off x="4266363" y="5286125"/>
            <a:ext cx="1542900" cy="34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Courier New"/>
                <a:ea typeface="Courier New"/>
                <a:cs typeface="Courier New"/>
                <a:sym typeface="Courier New"/>
              </a:rPr>
              <a:t> databricks_ui_api</a:t>
            </a:r>
            <a:endParaRPr sz="900">
              <a:solidFill>
                <a:srgbClr val="1B5162"/>
              </a:solidFill>
              <a:latin typeface="Courier New"/>
              <a:ea typeface="Courier New"/>
              <a:cs typeface="Courier New"/>
              <a:sym typeface="Courier New"/>
            </a:endParaRPr>
          </a:p>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 private endpoint</a:t>
            </a:r>
            <a:endParaRPr sz="2400">
              <a:solidFill>
                <a:schemeClr val="dk2"/>
              </a:solidFill>
            </a:endParaRPr>
          </a:p>
        </p:txBody>
      </p:sp>
      <p:sp>
        <p:nvSpPr>
          <p:cNvPr id="4924" name="Google Shape;4924;p185"/>
          <p:cNvSpPr/>
          <p:nvPr/>
        </p:nvSpPr>
        <p:spPr>
          <a:xfrm>
            <a:off x="7098050" y="4245350"/>
            <a:ext cx="1370100" cy="739200"/>
          </a:xfrm>
          <a:prstGeom prst="roundRect">
            <a:avLst>
              <a:gd fmla="val 16667" name="adj"/>
            </a:avLst>
          </a:prstGeom>
          <a:solidFill>
            <a:schemeClr val="lt1"/>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185"/>
          <p:cNvSpPr/>
          <p:nvPr/>
        </p:nvSpPr>
        <p:spPr>
          <a:xfrm>
            <a:off x="894950" y="3262600"/>
            <a:ext cx="1370100" cy="3359400"/>
          </a:xfrm>
          <a:prstGeom prst="roundRect">
            <a:avLst>
              <a:gd fmla="val 16667" name="adj"/>
            </a:avLst>
          </a:prstGeom>
          <a:noFill/>
          <a:ln cap="flat" cmpd="sng" w="9525">
            <a:solidFill>
              <a:srgbClr val="00A97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900">
              <a:solidFill>
                <a:srgbClr val="1B3139"/>
              </a:solidFill>
              <a:latin typeface="DM Sans"/>
              <a:ea typeface="DM Sans"/>
              <a:cs typeface="DM Sans"/>
              <a:sym typeface="DM Sans"/>
            </a:endParaRPr>
          </a:p>
        </p:txBody>
      </p:sp>
      <p:sp>
        <p:nvSpPr>
          <p:cNvPr id="4926" name="Google Shape;4926;p185"/>
          <p:cNvSpPr/>
          <p:nvPr/>
        </p:nvSpPr>
        <p:spPr>
          <a:xfrm>
            <a:off x="7098050" y="3300500"/>
            <a:ext cx="1370100" cy="739200"/>
          </a:xfrm>
          <a:prstGeom prst="roundRect">
            <a:avLst>
              <a:gd fmla="val 16667" name="adj"/>
            </a:avLst>
          </a:prstGeom>
          <a:solidFill>
            <a:schemeClr val="lt1"/>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7" name="Google Shape;4927;p185"/>
          <p:cNvSpPr/>
          <p:nvPr/>
        </p:nvSpPr>
        <p:spPr>
          <a:xfrm>
            <a:off x="3451485" y="3368751"/>
            <a:ext cx="3252900" cy="3222900"/>
          </a:xfrm>
          <a:prstGeom prst="ellipse">
            <a:avLst/>
          </a:prstGeom>
          <a:noFill/>
          <a:ln cap="flat" cmpd="sng" w="9525">
            <a:solidFill>
              <a:srgbClr val="00AD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928" name="Google Shape;4928;p185"/>
          <p:cNvPicPr preferRelativeResize="0"/>
          <p:nvPr/>
        </p:nvPicPr>
        <p:blipFill rotWithShape="1">
          <a:blip r:embed="rId7">
            <a:alphaModFix/>
          </a:blip>
          <a:srcRect b="-12351" l="-8262" r="-8274" t="-11166"/>
          <a:stretch/>
        </p:blipFill>
        <p:spPr>
          <a:xfrm>
            <a:off x="2717900" y="4732150"/>
            <a:ext cx="339900" cy="344700"/>
          </a:xfrm>
          <a:prstGeom prst="roundRect">
            <a:avLst>
              <a:gd fmla="val 16667" name="adj"/>
            </a:avLst>
          </a:prstGeom>
          <a:noFill/>
          <a:ln cap="flat" cmpd="sng" w="9525">
            <a:solidFill>
              <a:srgbClr val="FFAB00"/>
            </a:solidFill>
            <a:prstDash val="solid"/>
            <a:round/>
            <a:headEnd len="sm" w="sm" type="none"/>
            <a:tailEnd len="sm" w="sm" type="none"/>
          </a:ln>
        </p:spPr>
      </p:pic>
      <p:sp>
        <p:nvSpPr>
          <p:cNvPr id="4929" name="Google Shape;4929;p185"/>
          <p:cNvSpPr txBox="1"/>
          <p:nvPr/>
        </p:nvSpPr>
        <p:spPr>
          <a:xfrm>
            <a:off x="4561800" y="3721550"/>
            <a:ext cx="13701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Transit VNet</a:t>
            </a:r>
            <a:endParaRPr sz="1200">
              <a:solidFill>
                <a:schemeClr val="dk2"/>
              </a:solidFill>
            </a:endParaRPr>
          </a:p>
        </p:txBody>
      </p:sp>
      <p:sp>
        <p:nvSpPr>
          <p:cNvPr id="4930" name="Google Shape;4930;p185"/>
          <p:cNvSpPr/>
          <p:nvPr/>
        </p:nvSpPr>
        <p:spPr>
          <a:xfrm>
            <a:off x="1136481" y="482546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BI Apps</a:t>
            </a:r>
            <a:endParaRPr sz="900">
              <a:solidFill>
                <a:srgbClr val="1B5162"/>
              </a:solidFill>
              <a:latin typeface="DM Sans Medium"/>
              <a:ea typeface="DM Sans Medium"/>
              <a:cs typeface="DM Sans Medium"/>
              <a:sym typeface="DM Sans Medium"/>
            </a:endParaRPr>
          </a:p>
        </p:txBody>
      </p:sp>
      <p:pic>
        <p:nvPicPr>
          <p:cNvPr id="4931" name="Google Shape;4931;p185"/>
          <p:cNvPicPr preferRelativeResize="0"/>
          <p:nvPr/>
        </p:nvPicPr>
        <p:blipFill>
          <a:blip r:embed="rId8">
            <a:alphaModFix/>
          </a:blip>
          <a:stretch>
            <a:fillRect/>
          </a:stretch>
        </p:blipFill>
        <p:spPr>
          <a:xfrm>
            <a:off x="1397912" y="6121656"/>
            <a:ext cx="324300" cy="274693"/>
          </a:xfrm>
          <a:prstGeom prst="rect">
            <a:avLst/>
          </a:prstGeom>
          <a:noFill/>
          <a:ln cap="flat" cmpd="sng" w="9525">
            <a:solidFill>
              <a:srgbClr val="F9F7F4"/>
            </a:solidFill>
            <a:prstDash val="solid"/>
            <a:round/>
            <a:headEnd len="sm" w="sm" type="none"/>
            <a:tailEnd len="sm" w="sm" type="none"/>
          </a:ln>
        </p:spPr>
      </p:pic>
      <p:pic>
        <p:nvPicPr>
          <p:cNvPr id="4932" name="Google Shape;4932;p185"/>
          <p:cNvPicPr preferRelativeResize="0"/>
          <p:nvPr/>
        </p:nvPicPr>
        <p:blipFill rotWithShape="1">
          <a:blip r:embed="rId9">
            <a:alphaModFix/>
          </a:blip>
          <a:srcRect b="0" l="64446" r="0" t="0"/>
          <a:stretch/>
        </p:blipFill>
        <p:spPr>
          <a:xfrm>
            <a:off x="1722218" y="5254553"/>
            <a:ext cx="216044" cy="184421"/>
          </a:xfrm>
          <a:prstGeom prst="rect">
            <a:avLst/>
          </a:prstGeom>
          <a:noFill/>
          <a:ln cap="flat" cmpd="sng" w="9525">
            <a:solidFill>
              <a:srgbClr val="000000"/>
            </a:solidFill>
            <a:prstDash val="solid"/>
            <a:round/>
            <a:headEnd len="sm" w="sm" type="none"/>
            <a:tailEnd len="sm" w="sm" type="none"/>
          </a:ln>
        </p:spPr>
      </p:pic>
      <p:sp>
        <p:nvSpPr>
          <p:cNvPr id="4933" name="Google Shape;4933;p185"/>
          <p:cNvSpPr/>
          <p:nvPr/>
        </p:nvSpPr>
        <p:spPr>
          <a:xfrm>
            <a:off x="4118300" y="5286125"/>
            <a:ext cx="1935775" cy="523700"/>
          </a:xfrm>
          <a:prstGeom prst="flowChartProcess">
            <a:avLst/>
          </a:prstGeom>
          <a:noFill/>
          <a:ln cap="flat" cmpd="sng" w="9525">
            <a:solidFill>
              <a:srgbClr val="00AD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4934" name="Google Shape;4934;p185"/>
          <p:cNvSpPr/>
          <p:nvPr/>
        </p:nvSpPr>
        <p:spPr>
          <a:xfrm>
            <a:off x="4118300" y="4481150"/>
            <a:ext cx="1935775" cy="523700"/>
          </a:xfrm>
          <a:prstGeom prst="flowChartProcess">
            <a:avLst/>
          </a:prstGeom>
          <a:noFill/>
          <a:ln cap="flat" cmpd="sng" w="9525">
            <a:solidFill>
              <a:srgbClr val="00AD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5" name="Google Shape;4935;p185"/>
          <p:cNvSpPr txBox="1"/>
          <p:nvPr/>
        </p:nvSpPr>
        <p:spPr>
          <a:xfrm>
            <a:off x="7430900" y="4272725"/>
            <a:ext cx="10392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Azure Private Link service</a:t>
            </a:r>
            <a:endParaRPr sz="2400">
              <a:solidFill>
                <a:schemeClr val="dk2"/>
              </a:solidFill>
            </a:endParaRPr>
          </a:p>
        </p:txBody>
      </p:sp>
      <p:pic>
        <p:nvPicPr>
          <p:cNvPr id="4936" name="Google Shape;4936;p185" title="1725055558971.png"/>
          <p:cNvPicPr preferRelativeResize="0"/>
          <p:nvPr/>
        </p:nvPicPr>
        <p:blipFill rotWithShape="1">
          <a:blip r:embed="rId10">
            <a:alphaModFix/>
          </a:blip>
          <a:srcRect b="-13160" l="16771" r="16437" t="0"/>
          <a:stretch/>
        </p:blipFill>
        <p:spPr>
          <a:xfrm>
            <a:off x="7180275" y="4411655"/>
            <a:ext cx="344100" cy="391645"/>
          </a:xfrm>
          <a:prstGeom prst="rect">
            <a:avLst/>
          </a:prstGeom>
          <a:solidFill>
            <a:schemeClr val="lt1"/>
          </a:solidFill>
          <a:ln cap="flat" cmpd="sng" w="9525">
            <a:solidFill>
              <a:schemeClr val="lt1"/>
            </a:solidFill>
            <a:prstDash val="solid"/>
            <a:round/>
            <a:headEnd len="sm" w="sm" type="none"/>
            <a:tailEnd len="sm" w="sm" type="none"/>
          </a:ln>
        </p:spPr>
      </p:pic>
      <p:sp>
        <p:nvSpPr>
          <p:cNvPr id="4937" name="Google Shape;4937;p185"/>
          <p:cNvSpPr txBox="1"/>
          <p:nvPr/>
        </p:nvSpPr>
        <p:spPr>
          <a:xfrm>
            <a:off x="7429925" y="3363200"/>
            <a:ext cx="10392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Entra ID service</a:t>
            </a:r>
            <a:endParaRPr sz="2400">
              <a:solidFill>
                <a:schemeClr val="dk2"/>
              </a:solidFill>
            </a:endParaRPr>
          </a:p>
        </p:txBody>
      </p:sp>
      <p:pic>
        <p:nvPicPr>
          <p:cNvPr id="4938" name="Google Shape;4938;p185" title="1725055558971.png"/>
          <p:cNvPicPr preferRelativeResize="0"/>
          <p:nvPr/>
        </p:nvPicPr>
        <p:blipFill rotWithShape="1">
          <a:blip r:embed="rId10">
            <a:alphaModFix/>
          </a:blip>
          <a:srcRect b="-13160" l="16771" r="16437" t="0"/>
          <a:stretch/>
        </p:blipFill>
        <p:spPr>
          <a:xfrm>
            <a:off x="7231538" y="3509605"/>
            <a:ext cx="344100" cy="391645"/>
          </a:xfrm>
          <a:prstGeom prst="rect">
            <a:avLst/>
          </a:prstGeom>
          <a:solidFill>
            <a:schemeClr val="lt1"/>
          </a:solidFill>
          <a:ln cap="flat" cmpd="sng" w="9525">
            <a:solidFill>
              <a:schemeClr val="lt1"/>
            </a:solidFill>
            <a:prstDash val="solid"/>
            <a:round/>
            <a:headEnd len="sm" w="sm" type="none"/>
            <a:tailEnd len="sm" w="sm" type="none"/>
          </a:ln>
        </p:spPr>
      </p:pic>
      <p:pic>
        <p:nvPicPr>
          <p:cNvPr id="4939" name="Google Shape;4939;p185" title="download.png"/>
          <p:cNvPicPr preferRelativeResize="0"/>
          <p:nvPr/>
        </p:nvPicPr>
        <p:blipFill>
          <a:blip r:embed="rId11">
            <a:alphaModFix/>
          </a:blip>
          <a:stretch>
            <a:fillRect/>
          </a:stretch>
        </p:blipFill>
        <p:spPr>
          <a:xfrm>
            <a:off x="4337102" y="3753506"/>
            <a:ext cx="464572" cy="243900"/>
          </a:xfrm>
          <a:prstGeom prst="rect">
            <a:avLst/>
          </a:prstGeom>
          <a:noFill/>
          <a:ln>
            <a:noFill/>
          </a:ln>
        </p:spPr>
      </p:pic>
      <p:pic>
        <p:nvPicPr>
          <p:cNvPr id="4940" name="Google Shape;4940;p185"/>
          <p:cNvPicPr preferRelativeResize="0"/>
          <p:nvPr/>
        </p:nvPicPr>
        <p:blipFill rotWithShape="1">
          <a:blip r:embed="rId5">
            <a:alphaModFix/>
          </a:blip>
          <a:srcRect b="0" l="0" r="0" t="0"/>
          <a:stretch/>
        </p:blipFill>
        <p:spPr>
          <a:xfrm>
            <a:off x="1472970" y="5254553"/>
            <a:ext cx="184429" cy="184422"/>
          </a:xfrm>
          <a:prstGeom prst="rect">
            <a:avLst/>
          </a:prstGeom>
          <a:noFill/>
          <a:ln cap="flat" cmpd="sng" w="9525">
            <a:solidFill>
              <a:srgbClr val="000000"/>
            </a:solidFill>
            <a:prstDash val="solid"/>
            <a:round/>
            <a:headEnd len="sm" w="sm" type="none"/>
            <a:tailEnd len="sm" w="sm" type="none"/>
          </a:ln>
        </p:spPr>
      </p:pic>
      <p:pic>
        <p:nvPicPr>
          <p:cNvPr descr="A picture containing object&#10;&#10;Description automatically generated" id="4941" name="Google Shape;4941;p185"/>
          <p:cNvPicPr preferRelativeResize="0"/>
          <p:nvPr/>
        </p:nvPicPr>
        <p:blipFill rotWithShape="1">
          <a:blip r:embed="rId6">
            <a:alphaModFix/>
          </a:blip>
          <a:srcRect b="17228" l="27702" r="26712" t="18025"/>
          <a:stretch/>
        </p:blipFill>
        <p:spPr>
          <a:xfrm>
            <a:off x="1212900" y="5254553"/>
            <a:ext cx="189040" cy="184421"/>
          </a:xfrm>
          <a:prstGeom prst="rect">
            <a:avLst/>
          </a:prstGeom>
          <a:noFill/>
          <a:ln cap="flat" cmpd="sng" w="9525">
            <a:solidFill>
              <a:srgbClr val="000000"/>
            </a:solidFill>
            <a:prstDash val="solid"/>
            <a:round/>
            <a:headEnd len="sm" w="sm" type="none"/>
            <a:tailEnd len="sm" w="sm" type="none"/>
          </a:ln>
        </p:spPr>
      </p:pic>
      <p:grpSp>
        <p:nvGrpSpPr>
          <p:cNvPr id="4942" name="Google Shape;4942;p185"/>
          <p:cNvGrpSpPr/>
          <p:nvPr/>
        </p:nvGrpSpPr>
        <p:grpSpPr>
          <a:xfrm>
            <a:off x="1657391" y="99256"/>
            <a:ext cx="3297018" cy="3269489"/>
            <a:chOff x="5311370" y="-271360"/>
            <a:chExt cx="3377400" cy="3349200"/>
          </a:xfrm>
        </p:grpSpPr>
        <p:sp>
          <p:nvSpPr>
            <p:cNvPr id="4943" name="Google Shape;4943;p185"/>
            <p:cNvSpPr/>
            <p:nvPr/>
          </p:nvSpPr>
          <p:spPr>
            <a:xfrm rot="223342">
              <a:off x="5410467" y="-171497"/>
              <a:ext cx="3179207" cy="3149472"/>
            </a:xfrm>
            <a:prstGeom prst="ellipse">
              <a:avLst/>
            </a:prstGeom>
            <a:noFill/>
            <a:ln cap="flat" cmpd="sng" w="7600">
              <a:solidFill>
                <a:srgbClr val="9900FF"/>
              </a:solidFill>
              <a:prstDash val="solid"/>
              <a:round/>
              <a:headEnd len="sm" w="sm" type="none"/>
              <a:tailEnd len="sm" w="sm" type="none"/>
            </a:ln>
          </p:spPr>
          <p:txBody>
            <a:bodyPr anchorCtr="0" anchor="ctr" bIns="73050" lIns="73050" spcFirstLastPara="1" rIns="73050" wrap="square" tIns="73050">
              <a:noAutofit/>
            </a:bodyPr>
            <a:lstStyle/>
            <a:p>
              <a:pPr indent="0" lvl="0" marL="0" rtl="0" algn="ctr">
                <a:spcBef>
                  <a:spcPts val="0"/>
                </a:spcBef>
                <a:spcAft>
                  <a:spcPts val="0"/>
                </a:spcAft>
                <a:buNone/>
              </a:pPr>
              <a:r>
                <a:t/>
              </a:r>
              <a:endParaRPr sz="1118"/>
            </a:p>
          </p:txBody>
        </p:sp>
        <p:sp>
          <p:nvSpPr>
            <p:cNvPr id="4944" name="Google Shape;4944;p185"/>
            <p:cNvSpPr txBox="1"/>
            <p:nvPr/>
          </p:nvSpPr>
          <p:spPr>
            <a:xfrm rot="21033">
              <a:off x="6486677" y="155288"/>
              <a:ext cx="1323925" cy="219605"/>
            </a:xfrm>
            <a:prstGeom prst="rect">
              <a:avLst/>
            </a:prstGeom>
            <a:noFill/>
            <a:ln cap="flat" cmpd="sng" w="9525">
              <a:solidFill>
                <a:schemeClr val="lt1"/>
              </a:solidFill>
              <a:prstDash val="solid"/>
              <a:round/>
              <a:headEnd len="sm" w="sm" type="none"/>
              <a:tailEnd len="sm" w="sm" type="none"/>
            </a:ln>
          </p:spPr>
          <p:txBody>
            <a:bodyPr anchorCtr="0" anchor="t" bIns="73050" lIns="73050" spcFirstLastPara="1" rIns="73050" wrap="square" tIns="73050">
              <a:noAutofit/>
            </a:bodyPr>
            <a:lstStyle/>
            <a:p>
              <a:pPr indent="0" lvl="0" marL="0" rtl="0" algn="ctr">
                <a:spcBef>
                  <a:spcPts val="0"/>
                </a:spcBef>
                <a:spcAft>
                  <a:spcPts val="0"/>
                </a:spcAft>
                <a:buNone/>
              </a:pPr>
              <a:r>
                <a:rPr lang="en" sz="1300">
                  <a:solidFill>
                    <a:srgbClr val="1B5162"/>
                  </a:solidFill>
                  <a:latin typeface="DM Sans Medium"/>
                  <a:ea typeface="DM Sans Medium"/>
                  <a:cs typeface="DM Sans Medium"/>
                  <a:sym typeface="DM Sans Medium"/>
                </a:rPr>
                <a:t>Workspace VNet</a:t>
              </a:r>
              <a:endParaRPr sz="1300">
                <a:solidFill>
                  <a:schemeClr val="dk2"/>
                </a:solidFill>
              </a:endParaRPr>
            </a:p>
          </p:txBody>
        </p:sp>
        <p:pic>
          <p:nvPicPr>
            <p:cNvPr id="4945" name="Google Shape;4945;p185"/>
            <p:cNvPicPr preferRelativeResize="0"/>
            <p:nvPr/>
          </p:nvPicPr>
          <p:blipFill>
            <a:blip r:embed="rId12">
              <a:alphaModFix/>
            </a:blip>
            <a:stretch>
              <a:fillRect/>
            </a:stretch>
          </p:blipFill>
          <p:spPr>
            <a:xfrm rot="21283">
              <a:off x="5804547" y="1204566"/>
              <a:ext cx="176778" cy="199482"/>
            </a:xfrm>
            <a:prstGeom prst="rect">
              <a:avLst/>
            </a:prstGeom>
            <a:noFill/>
            <a:ln cap="flat" cmpd="sng" w="7600">
              <a:solidFill>
                <a:srgbClr val="FF5F46"/>
              </a:solidFill>
              <a:prstDash val="solid"/>
              <a:round/>
              <a:headEnd len="sm" w="sm" type="none"/>
              <a:tailEnd len="sm" w="sm" type="none"/>
            </a:ln>
          </p:spPr>
        </p:pic>
        <p:pic>
          <p:nvPicPr>
            <p:cNvPr id="4946" name="Google Shape;4946;p185"/>
            <p:cNvPicPr preferRelativeResize="0"/>
            <p:nvPr/>
          </p:nvPicPr>
          <p:blipFill>
            <a:blip r:embed="rId12">
              <a:alphaModFix/>
            </a:blip>
            <a:stretch>
              <a:fillRect/>
            </a:stretch>
          </p:blipFill>
          <p:spPr>
            <a:xfrm rot="21283">
              <a:off x="6072082" y="930081"/>
              <a:ext cx="176778" cy="199482"/>
            </a:xfrm>
            <a:prstGeom prst="rect">
              <a:avLst/>
            </a:prstGeom>
            <a:noFill/>
            <a:ln cap="flat" cmpd="sng" w="7600">
              <a:solidFill>
                <a:srgbClr val="FF5F46"/>
              </a:solidFill>
              <a:prstDash val="solid"/>
              <a:round/>
              <a:headEnd len="sm" w="sm" type="none"/>
              <a:tailEnd len="sm" w="sm" type="none"/>
            </a:ln>
          </p:spPr>
        </p:pic>
        <p:pic>
          <p:nvPicPr>
            <p:cNvPr id="4947" name="Google Shape;4947;p185"/>
            <p:cNvPicPr preferRelativeResize="0"/>
            <p:nvPr/>
          </p:nvPicPr>
          <p:blipFill>
            <a:blip r:embed="rId12">
              <a:alphaModFix/>
            </a:blip>
            <a:stretch>
              <a:fillRect/>
            </a:stretch>
          </p:blipFill>
          <p:spPr>
            <a:xfrm rot="21283">
              <a:off x="6289173" y="1204575"/>
              <a:ext cx="176778" cy="199482"/>
            </a:xfrm>
            <a:prstGeom prst="rect">
              <a:avLst/>
            </a:prstGeom>
            <a:noFill/>
            <a:ln cap="flat" cmpd="sng" w="7600">
              <a:solidFill>
                <a:srgbClr val="FF5F46"/>
              </a:solidFill>
              <a:prstDash val="solid"/>
              <a:round/>
              <a:headEnd len="sm" w="sm" type="none"/>
              <a:tailEnd len="sm" w="sm" type="none"/>
            </a:ln>
          </p:spPr>
        </p:pic>
        <p:sp>
          <p:nvSpPr>
            <p:cNvPr id="4948" name="Google Shape;4948;p185"/>
            <p:cNvSpPr txBox="1"/>
            <p:nvPr/>
          </p:nvSpPr>
          <p:spPr>
            <a:xfrm rot="20914">
              <a:off x="5762051" y="1542322"/>
              <a:ext cx="789015" cy="199804"/>
            </a:xfrm>
            <a:prstGeom prst="rect">
              <a:avLst/>
            </a:prstGeom>
            <a:noFill/>
            <a:ln cap="flat" cmpd="sng" w="9525">
              <a:solidFill>
                <a:schemeClr val="lt1"/>
              </a:solidFill>
              <a:prstDash val="solid"/>
              <a:round/>
              <a:headEnd len="sm" w="sm" type="none"/>
              <a:tailEnd len="sm" w="sm" type="none"/>
            </a:ln>
          </p:spPr>
          <p:txBody>
            <a:bodyPr anchorCtr="0" anchor="t" bIns="73050" lIns="73050" spcFirstLastPara="1" rIns="73050" wrap="square" tIns="730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Compute clusters</a:t>
              </a:r>
              <a:endParaRPr sz="900">
                <a:solidFill>
                  <a:schemeClr val="dk2"/>
                </a:solidFill>
              </a:endParaRPr>
            </a:p>
          </p:txBody>
        </p:sp>
        <p:pic>
          <p:nvPicPr>
            <p:cNvPr id="4949" name="Google Shape;4949;p185" title="subnet.png"/>
            <p:cNvPicPr preferRelativeResize="0"/>
            <p:nvPr/>
          </p:nvPicPr>
          <p:blipFill>
            <a:blip r:embed="rId13">
              <a:alphaModFix/>
            </a:blip>
            <a:stretch>
              <a:fillRect/>
            </a:stretch>
          </p:blipFill>
          <p:spPr>
            <a:xfrm rot="21292">
              <a:off x="7403981" y="715704"/>
              <a:ext cx="265380" cy="265380"/>
            </a:xfrm>
            <a:prstGeom prst="rect">
              <a:avLst/>
            </a:prstGeom>
            <a:noFill/>
            <a:ln cap="flat" cmpd="sng" w="7600">
              <a:solidFill>
                <a:schemeClr val="lt1"/>
              </a:solidFill>
              <a:prstDash val="solid"/>
              <a:round/>
              <a:headEnd len="sm" w="sm" type="none"/>
              <a:tailEnd len="sm" w="sm" type="none"/>
            </a:ln>
          </p:spPr>
        </p:pic>
        <p:pic>
          <p:nvPicPr>
            <p:cNvPr id="4950" name="Google Shape;4950;p185" title="subnet.png"/>
            <p:cNvPicPr preferRelativeResize="0"/>
            <p:nvPr/>
          </p:nvPicPr>
          <p:blipFill>
            <a:blip r:embed="rId13">
              <a:alphaModFix/>
            </a:blip>
            <a:stretch>
              <a:fillRect/>
            </a:stretch>
          </p:blipFill>
          <p:spPr>
            <a:xfrm rot="21292">
              <a:off x="7849090" y="1629683"/>
              <a:ext cx="265380" cy="265380"/>
            </a:xfrm>
            <a:prstGeom prst="rect">
              <a:avLst/>
            </a:prstGeom>
            <a:noFill/>
            <a:ln cap="flat" cmpd="sng" w="7600">
              <a:solidFill>
                <a:schemeClr val="lt1"/>
              </a:solidFill>
              <a:prstDash val="solid"/>
              <a:round/>
              <a:headEnd len="sm" w="sm" type="none"/>
              <a:tailEnd len="sm" w="sm" type="none"/>
            </a:ln>
          </p:spPr>
        </p:pic>
        <p:sp>
          <p:nvSpPr>
            <p:cNvPr id="4951" name="Google Shape;4951;p185"/>
            <p:cNvSpPr txBox="1"/>
            <p:nvPr/>
          </p:nvSpPr>
          <p:spPr>
            <a:xfrm rot="20621">
              <a:off x="7150097" y="1000842"/>
              <a:ext cx="850215" cy="320705"/>
            </a:xfrm>
            <a:prstGeom prst="rect">
              <a:avLst/>
            </a:prstGeom>
            <a:noFill/>
            <a:ln cap="flat" cmpd="sng" w="9525">
              <a:solidFill>
                <a:schemeClr val="lt1"/>
              </a:solidFill>
              <a:prstDash val="solid"/>
              <a:round/>
              <a:headEnd len="sm" w="sm" type="none"/>
              <a:tailEnd len="sm" w="sm" type="none"/>
            </a:ln>
          </p:spPr>
          <p:txBody>
            <a:bodyPr anchorCtr="0" anchor="t" bIns="73050" lIns="73050" spcFirstLastPara="1" rIns="73050" wrap="square" tIns="730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Private “Worker” subnet</a:t>
              </a:r>
              <a:endParaRPr sz="900">
                <a:solidFill>
                  <a:schemeClr val="dk2"/>
                </a:solidFill>
              </a:endParaRPr>
            </a:p>
          </p:txBody>
        </p:sp>
        <p:sp>
          <p:nvSpPr>
            <p:cNvPr id="4952" name="Google Shape;4952;p185"/>
            <p:cNvSpPr txBox="1"/>
            <p:nvPr/>
          </p:nvSpPr>
          <p:spPr>
            <a:xfrm rot="20621">
              <a:off x="7555408" y="1879517"/>
              <a:ext cx="850215" cy="152703"/>
            </a:xfrm>
            <a:prstGeom prst="rect">
              <a:avLst/>
            </a:prstGeom>
            <a:noFill/>
            <a:ln cap="flat" cmpd="sng" w="9525">
              <a:solidFill>
                <a:schemeClr val="lt1"/>
              </a:solidFill>
              <a:prstDash val="solid"/>
              <a:round/>
              <a:headEnd len="sm" w="sm" type="none"/>
              <a:tailEnd len="sm" w="sm" type="none"/>
            </a:ln>
          </p:spPr>
          <p:txBody>
            <a:bodyPr anchorCtr="0" anchor="t" bIns="73050" lIns="73050" spcFirstLastPara="1" rIns="73050" wrap="square" tIns="730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Public “Host” subnet</a:t>
              </a:r>
              <a:endParaRPr sz="900">
                <a:solidFill>
                  <a:schemeClr val="dk2"/>
                </a:solidFill>
              </a:endParaRPr>
            </a:p>
          </p:txBody>
        </p:sp>
        <p:pic>
          <p:nvPicPr>
            <p:cNvPr id="4953" name="Google Shape;4953;p185" title="download.png"/>
            <p:cNvPicPr preferRelativeResize="0"/>
            <p:nvPr/>
          </p:nvPicPr>
          <p:blipFill>
            <a:blip r:embed="rId11">
              <a:alphaModFix/>
            </a:blip>
            <a:stretch>
              <a:fillRect/>
            </a:stretch>
          </p:blipFill>
          <p:spPr>
            <a:xfrm rot="21296">
              <a:off x="6189402" y="191253"/>
              <a:ext cx="380167" cy="199587"/>
            </a:xfrm>
            <a:prstGeom prst="rect">
              <a:avLst/>
            </a:prstGeom>
            <a:noFill/>
            <a:ln cap="flat" cmpd="sng" w="7600">
              <a:solidFill>
                <a:schemeClr val="lt1"/>
              </a:solidFill>
              <a:prstDash val="solid"/>
              <a:round/>
              <a:headEnd len="sm" w="sm" type="none"/>
              <a:tailEnd len="sm" w="sm" type="none"/>
            </a:ln>
          </p:spPr>
        </p:pic>
      </p:grpSp>
      <p:sp>
        <p:nvSpPr>
          <p:cNvPr id="4954" name="Google Shape;4954;p185"/>
          <p:cNvSpPr/>
          <p:nvPr/>
        </p:nvSpPr>
        <p:spPr>
          <a:xfrm>
            <a:off x="6083800" y="1221600"/>
            <a:ext cx="1626900" cy="1072800"/>
          </a:xfrm>
          <a:prstGeom prst="roundRect">
            <a:avLst>
              <a:gd fmla="val 16667" name="adj"/>
            </a:avLst>
          </a:prstGeom>
          <a:solidFill>
            <a:schemeClr val="lt1"/>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55" name="Google Shape;4955;p185"/>
          <p:cNvGrpSpPr/>
          <p:nvPr/>
        </p:nvGrpSpPr>
        <p:grpSpPr>
          <a:xfrm>
            <a:off x="6103856" y="1351479"/>
            <a:ext cx="1626937" cy="741388"/>
            <a:chOff x="6722383" y="1381079"/>
            <a:chExt cx="1266000" cy="651312"/>
          </a:xfrm>
        </p:grpSpPr>
        <p:sp>
          <p:nvSpPr>
            <p:cNvPr id="4956" name="Google Shape;4956;p185"/>
            <p:cNvSpPr txBox="1"/>
            <p:nvPr/>
          </p:nvSpPr>
          <p:spPr>
            <a:xfrm rot="22052">
              <a:off x="6724020" y="1572935"/>
              <a:ext cx="1262726" cy="455412"/>
            </a:xfrm>
            <a:prstGeom prst="rect">
              <a:avLst/>
            </a:prstGeom>
            <a:noFill/>
            <a:ln>
              <a:noFill/>
            </a:ln>
          </p:spPr>
          <p:txBody>
            <a:bodyPr anchorCtr="0" anchor="t" bIns="85175" lIns="85175" spcFirstLastPara="1" rIns="85175" wrap="square" tIns="85175">
              <a:noAutofit/>
            </a:bodyPr>
            <a:lstStyle/>
            <a:p>
              <a:pPr indent="0" lvl="0" marL="0" rtl="0" algn="ctr">
                <a:spcBef>
                  <a:spcPts val="0"/>
                </a:spcBef>
                <a:spcAft>
                  <a:spcPts val="0"/>
                </a:spcAft>
                <a:buNone/>
              </a:pPr>
              <a:r>
                <a:rPr lang="en" sz="1100">
                  <a:solidFill>
                    <a:srgbClr val="1B5162"/>
                  </a:solidFill>
                  <a:latin typeface="Courier New"/>
                  <a:ea typeface="Courier New"/>
                  <a:cs typeface="Courier New"/>
                  <a:sym typeface="Courier New"/>
                </a:rPr>
                <a:t> databricks_ui_api</a:t>
              </a:r>
              <a:endParaRPr sz="1100">
                <a:solidFill>
                  <a:srgbClr val="1B5162"/>
                </a:solidFill>
                <a:latin typeface="Courier New"/>
                <a:ea typeface="Courier New"/>
                <a:cs typeface="Courier New"/>
                <a:sym typeface="Courier New"/>
              </a:endParaRPr>
            </a:p>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 private endpoint</a:t>
              </a:r>
              <a:endParaRPr sz="1100">
                <a:solidFill>
                  <a:schemeClr val="dk2"/>
                </a:solidFill>
              </a:endParaRPr>
            </a:p>
          </p:txBody>
        </p:sp>
        <p:pic>
          <p:nvPicPr>
            <p:cNvPr id="4957" name="Google Shape;4957;p185"/>
            <p:cNvPicPr preferRelativeResize="0"/>
            <p:nvPr/>
          </p:nvPicPr>
          <p:blipFill>
            <a:blip r:embed="rId3">
              <a:alphaModFix/>
            </a:blip>
            <a:stretch>
              <a:fillRect/>
            </a:stretch>
          </p:blipFill>
          <p:spPr>
            <a:xfrm rot="21302">
              <a:off x="7198964" y="1381949"/>
              <a:ext cx="281596" cy="251878"/>
            </a:xfrm>
            <a:prstGeom prst="rect">
              <a:avLst/>
            </a:prstGeom>
            <a:noFill/>
            <a:ln>
              <a:noFill/>
            </a:ln>
          </p:spPr>
        </p:pic>
      </p:grpSp>
      <p:pic>
        <p:nvPicPr>
          <p:cNvPr id="4958" name="Google Shape;4958;p185" title="subnet.png"/>
          <p:cNvPicPr preferRelativeResize="0"/>
          <p:nvPr/>
        </p:nvPicPr>
        <p:blipFill>
          <a:blip r:embed="rId13">
            <a:alphaModFix/>
          </a:blip>
          <a:stretch>
            <a:fillRect/>
          </a:stretch>
        </p:blipFill>
        <p:spPr>
          <a:xfrm rot="21288">
            <a:off x="2929613" y="2376779"/>
            <a:ext cx="259064" cy="259064"/>
          </a:xfrm>
          <a:prstGeom prst="rect">
            <a:avLst/>
          </a:prstGeom>
          <a:noFill/>
          <a:ln>
            <a:noFill/>
          </a:ln>
        </p:spPr>
      </p:pic>
      <p:sp>
        <p:nvSpPr>
          <p:cNvPr id="4959" name="Google Shape;4959;p185"/>
          <p:cNvSpPr txBox="1"/>
          <p:nvPr/>
        </p:nvSpPr>
        <p:spPr>
          <a:xfrm>
            <a:off x="2537150" y="2591875"/>
            <a:ext cx="1044000" cy="24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rgbClr val="1B5162"/>
                </a:solidFill>
                <a:latin typeface="DM Sans Medium"/>
                <a:ea typeface="DM Sans Medium"/>
                <a:cs typeface="DM Sans Medium"/>
                <a:sym typeface="DM Sans Medium"/>
              </a:rPr>
              <a:t>Private endpoint s</a:t>
            </a:r>
            <a:r>
              <a:rPr lang="en" sz="900">
                <a:solidFill>
                  <a:srgbClr val="1B5162"/>
                </a:solidFill>
                <a:latin typeface="DM Sans Medium"/>
                <a:ea typeface="DM Sans Medium"/>
                <a:cs typeface="DM Sans Medium"/>
                <a:sym typeface="DM Sans Medium"/>
              </a:rPr>
              <a:t>ubnet</a:t>
            </a:r>
            <a:endParaRPr sz="900">
              <a:solidFill>
                <a:schemeClr val="dk2"/>
              </a:solidFill>
            </a:endParaRPr>
          </a:p>
        </p:txBody>
      </p:sp>
      <p:cxnSp>
        <p:nvCxnSpPr>
          <p:cNvPr id="4960" name="Google Shape;4960;p185"/>
          <p:cNvCxnSpPr>
            <a:stCxn id="4956" idx="3"/>
            <a:endCxn id="4961" idx="1"/>
          </p:cNvCxnSpPr>
          <p:nvPr/>
        </p:nvCxnSpPr>
        <p:spPr>
          <a:xfrm>
            <a:off x="7728673" y="1833676"/>
            <a:ext cx="1646100" cy="1797600"/>
          </a:xfrm>
          <a:prstGeom prst="curvedConnector3">
            <a:avLst>
              <a:gd fmla="val 50068" name="adj1"/>
            </a:avLst>
          </a:prstGeom>
          <a:noFill/>
          <a:ln cap="flat" cmpd="sng" w="9525">
            <a:solidFill>
              <a:schemeClr val="dk2"/>
            </a:solidFill>
            <a:prstDash val="dash"/>
            <a:round/>
            <a:headEnd len="med" w="med" type="none"/>
            <a:tailEnd len="med" w="med" type="none"/>
          </a:ln>
        </p:spPr>
      </p:cxnSp>
      <p:cxnSp>
        <p:nvCxnSpPr>
          <p:cNvPr id="4962" name="Google Shape;4962;p185"/>
          <p:cNvCxnSpPr>
            <a:endCxn id="4956" idx="1"/>
          </p:cNvCxnSpPr>
          <p:nvPr/>
        </p:nvCxnSpPr>
        <p:spPr>
          <a:xfrm>
            <a:off x="4915577" y="1465956"/>
            <a:ext cx="1190400" cy="358500"/>
          </a:xfrm>
          <a:prstGeom prst="curvedConnector3">
            <a:avLst>
              <a:gd fmla="val 49911" name="adj1"/>
            </a:avLst>
          </a:prstGeom>
          <a:noFill/>
          <a:ln cap="flat" cmpd="sng" w="9525">
            <a:solidFill>
              <a:schemeClr val="dk2"/>
            </a:solidFill>
            <a:prstDash val="dash"/>
            <a:round/>
            <a:headEnd len="med" w="med" type="none"/>
            <a:tailEnd len="med" w="med" type="none"/>
          </a:ln>
        </p:spPr>
      </p:cxnSp>
      <p:cxnSp>
        <p:nvCxnSpPr>
          <p:cNvPr id="4963" name="Google Shape;4963;p185"/>
          <p:cNvCxnSpPr>
            <a:stCxn id="4934" idx="3"/>
            <a:endCxn id="4926" idx="1"/>
          </p:cNvCxnSpPr>
          <p:nvPr/>
        </p:nvCxnSpPr>
        <p:spPr>
          <a:xfrm flipH="1" rot="10800000">
            <a:off x="6054075" y="3670200"/>
            <a:ext cx="1044000" cy="1072800"/>
          </a:xfrm>
          <a:prstGeom prst="curvedConnector3">
            <a:avLst>
              <a:gd fmla="val 49999" name="adj1"/>
            </a:avLst>
          </a:prstGeom>
          <a:noFill/>
          <a:ln cap="flat" cmpd="sng" w="9525">
            <a:solidFill>
              <a:schemeClr val="dk2"/>
            </a:solidFill>
            <a:prstDash val="dash"/>
            <a:round/>
            <a:headEnd len="med" w="med" type="none"/>
            <a:tailEnd len="med" w="med" type="none"/>
          </a:ln>
        </p:spPr>
      </p:cxnSp>
      <p:cxnSp>
        <p:nvCxnSpPr>
          <p:cNvPr id="4964" name="Google Shape;4964;p185"/>
          <p:cNvCxnSpPr>
            <a:stCxn id="4933" idx="3"/>
            <a:endCxn id="4924" idx="1"/>
          </p:cNvCxnSpPr>
          <p:nvPr/>
        </p:nvCxnSpPr>
        <p:spPr>
          <a:xfrm flipH="1" rot="10800000">
            <a:off x="6054075" y="4614975"/>
            <a:ext cx="1044000" cy="933000"/>
          </a:xfrm>
          <a:prstGeom prst="curvedConnector3">
            <a:avLst>
              <a:gd fmla="val 49999" name="adj1"/>
            </a:avLst>
          </a:prstGeom>
          <a:noFill/>
          <a:ln cap="flat" cmpd="sng" w="9525">
            <a:solidFill>
              <a:schemeClr val="dk2"/>
            </a:solidFill>
            <a:prstDash val="dash"/>
            <a:round/>
            <a:headEnd len="med" w="med" type="none"/>
            <a:tailEnd len="med" w="med" type="none"/>
          </a:ln>
        </p:spPr>
      </p:cxnSp>
      <p:cxnSp>
        <p:nvCxnSpPr>
          <p:cNvPr id="4965" name="Google Shape;4965;p185"/>
          <p:cNvCxnSpPr>
            <a:stCxn id="4926" idx="3"/>
            <a:endCxn id="4961" idx="1"/>
          </p:cNvCxnSpPr>
          <p:nvPr/>
        </p:nvCxnSpPr>
        <p:spPr>
          <a:xfrm flipH="1" rot="10800000">
            <a:off x="8468150" y="3631400"/>
            <a:ext cx="906900" cy="38700"/>
          </a:xfrm>
          <a:prstGeom prst="curvedConnector3">
            <a:avLst>
              <a:gd fmla="val 49992" name="adj1"/>
            </a:avLst>
          </a:prstGeom>
          <a:noFill/>
          <a:ln cap="flat" cmpd="sng" w="9525">
            <a:solidFill>
              <a:schemeClr val="dk2"/>
            </a:solidFill>
            <a:prstDash val="dash"/>
            <a:round/>
            <a:headEnd len="med" w="med" type="none"/>
            <a:tailEnd len="med" w="med" type="none"/>
          </a:ln>
        </p:spPr>
      </p:cxnSp>
      <p:cxnSp>
        <p:nvCxnSpPr>
          <p:cNvPr id="4966" name="Google Shape;4966;p185"/>
          <p:cNvCxnSpPr>
            <a:stCxn id="4924" idx="3"/>
            <a:endCxn id="4961" idx="1"/>
          </p:cNvCxnSpPr>
          <p:nvPr/>
        </p:nvCxnSpPr>
        <p:spPr>
          <a:xfrm flipH="1" rot="10800000">
            <a:off x="8468150" y="3631250"/>
            <a:ext cx="906900" cy="983700"/>
          </a:xfrm>
          <a:prstGeom prst="curvedConnector3">
            <a:avLst>
              <a:gd fmla="val 49992" name="adj1"/>
            </a:avLst>
          </a:prstGeom>
          <a:noFill/>
          <a:ln cap="flat" cmpd="sng" w="9525">
            <a:solidFill>
              <a:schemeClr val="dk2"/>
            </a:solidFill>
            <a:prstDash val="dash"/>
            <a:round/>
            <a:headEnd len="med" w="med" type="none"/>
            <a:tailEnd len="med" w="med" type="none"/>
          </a:ln>
        </p:spPr>
      </p:cxnSp>
      <p:cxnSp>
        <p:nvCxnSpPr>
          <p:cNvPr id="4967" name="Google Shape;4967;p185"/>
          <p:cNvCxnSpPr/>
          <p:nvPr/>
        </p:nvCxnSpPr>
        <p:spPr>
          <a:xfrm flipH="1" rot="-5400000">
            <a:off x="10675525" y="6851175"/>
            <a:ext cx="870000" cy="870000"/>
          </a:xfrm>
          <a:prstGeom prst="curvedConnector3">
            <a:avLst>
              <a:gd fmla="val 50000" name="adj1"/>
            </a:avLst>
          </a:prstGeom>
          <a:noFill/>
          <a:ln cap="flat" cmpd="sng" w="9525">
            <a:solidFill>
              <a:schemeClr val="dk2"/>
            </a:solidFill>
            <a:prstDash val="dash"/>
            <a:round/>
            <a:headEnd len="med" w="med" type="none"/>
            <a:tailEnd len="med" w="med" type="none"/>
          </a:ln>
        </p:spPr>
      </p:cxnSp>
      <p:cxnSp>
        <p:nvCxnSpPr>
          <p:cNvPr id="4968" name="Google Shape;4968;p185"/>
          <p:cNvCxnSpPr>
            <a:stCxn id="4925" idx="3"/>
            <a:endCxn id="4928" idx="1"/>
          </p:cNvCxnSpPr>
          <p:nvPr/>
        </p:nvCxnSpPr>
        <p:spPr>
          <a:xfrm flipH="1" rot="10800000">
            <a:off x="2265050" y="4904500"/>
            <a:ext cx="452700" cy="37800"/>
          </a:xfrm>
          <a:prstGeom prst="curvedConnector3">
            <a:avLst>
              <a:gd fmla="val 50017" name="adj1"/>
            </a:avLst>
          </a:prstGeom>
          <a:noFill/>
          <a:ln cap="flat" cmpd="sng" w="9525">
            <a:solidFill>
              <a:schemeClr val="dk2"/>
            </a:solidFill>
            <a:prstDash val="dash"/>
            <a:round/>
            <a:headEnd len="med" w="med" type="none"/>
            <a:tailEnd len="med" w="med" type="none"/>
          </a:ln>
        </p:spPr>
      </p:cxnSp>
      <p:cxnSp>
        <p:nvCxnSpPr>
          <p:cNvPr id="4969" name="Google Shape;4969;p185"/>
          <p:cNvCxnSpPr>
            <a:stCxn id="4928" idx="3"/>
            <a:endCxn id="4927" idx="2"/>
          </p:cNvCxnSpPr>
          <p:nvPr/>
        </p:nvCxnSpPr>
        <p:spPr>
          <a:xfrm>
            <a:off x="3057800" y="4904500"/>
            <a:ext cx="393600" cy="75600"/>
          </a:xfrm>
          <a:prstGeom prst="curvedConnector3">
            <a:avLst>
              <a:gd fmla="val 50011" name="adj1"/>
            </a:avLst>
          </a:prstGeom>
          <a:noFill/>
          <a:ln cap="flat" cmpd="sng" w="9525">
            <a:solidFill>
              <a:schemeClr val="dk2"/>
            </a:solidFill>
            <a:prstDash val="dash"/>
            <a:round/>
            <a:headEnd len="med" w="med" type="none"/>
            <a:tailEnd len="med" w="med" type="none"/>
          </a:ln>
        </p:spPr>
      </p:cxnSp>
      <p:sp>
        <p:nvSpPr>
          <p:cNvPr id="4961" name="Google Shape;4961;p185"/>
          <p:cNvSpPr/>
          <p:nvPr/>
        </p:nvSpPr>
        <p:spPr>
          <a:xfrm>
            <a:off x="9374900" y="2334750"/>
            <a:ext cx="2445300" cy="2593200"/>
          </a:xfrm>
          <a:prstGeom prst="roundRect">
            <a:avLst>
              <a:gd fmla="val 16667" name="adj"/>
            </a:avLst>
          </a:prstGeom>
          <a:noFill/>
          <a:ln cap="flat" cmpd="sng" w="9525">
            <a:solidFill>
              <a:srgbClr val="FF5F46"/>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grpSp>
        <p:nvGrpSpPr>
          <p:cNvPr id="4970" name="Google Shape;4970;p185"/>
          <p:cNvGrpSpPr/>
          <p:nvPr/>
        </p:nvGrpSpPr>
        <p:grpSpPr>
          <a:xfrm>
            <a:off x="9690052" y="2728781"/>
            <a:ext cx="1819547" cy="1869988"/>
            <a:chOff x="1013125" y="382029"/>
            <a:chExt cx="2245800" cy="2282700"/>
          </a:xfrm>
        </p:grpSpPr>
        <p:sp>
          <p:nvSpPr>
            <p:cNvPr id="4971" name="Google Shape;4971;p185"/>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4972" name="Google Shape;4972;p185"/>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4973" name="Google Shape;4973;p185"/>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4974" name="Google Shape;4974;p185"/>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4975" name="Google Shape;4975;p185"/>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sp>
        <p:nvSpPr>
          <p:cNvPr id="4976" name="Google Shape;4976;p185"/>
          <p:cNvSpPr txBox="1"/>
          <p:nvPr/>
        </p:nvSpPr>
        <p:spPr>
          <a:xfrm>
            <a:off x="9818975" y="2410600"/>
            <a:ext cx="16269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Databricks </a:t>
            </a:r>
            <a:endParaRPr sz="1200">
              <a:solidFill>
                <a:srgbClr val="1B3139"/>
              </a:solidFill>
              <a:latin typeface="DM Sans"/>
              <a:ea typeface="DM Sans"/>
              <a:cs typeface="DM Sans"/>
              <a:sym typeface="DM Sans"/>
            </a:endParaRPr>
          </a:p>
        </p:txBody>
      </p:sp>
      <p:pic>
        <p:nvPicPr>
          <p:cNvPr id="4977" name="Google Shape;4977;p185"/>
          <p:cNvPicPr preferRelativeResize="0"/>
          <p:nvPr/>
        </p:nvPicPr>
        <p:blipFill>
          <a:blip r:embed="rId12">
            <a:alphaModFix/>
          </a:blip>
          <a:stretch>
            <a:fillRect/>
          </a:stretch>
        </p:blipFill>
        <p:spPr>
          <a:xfrm>
            <a:off x="9818976" y="2410598"/>
            <a:ext cx="216026" cy="24377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1" name="Shape 4981"/>
        <p:cNvGrpSpPr/>
        <p:nvPr/>
      </p:nvGrpSpPr>
      <p:grpSpPr>
        <a:xfrm>
          <a:off x="0" y="0"/>
          <a:ext cx="0" cy="0"/>
          <a:chOff x="0" y="0"/>
          <a:chExt cx="0" cy="0"/>
        </a:xfrm>
      </p:grpSpPr>
      <p:sp>
        <p:nvSpPr>
          <p:cNvPr id="4982" name="Google Shape;4982;p186"/>
          <p:cNvSpPr/>
          <p:nvPr/>
        </p:nvSpPr>
        <p:spPr>
          <a:xfrm>
            <a:off x="8615075" y="4147800"/>
            <a:ext cx="2925300" cy="1108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3" name="Google Shape;4983;p186"/>
          <p:cNvSpPr/>
          <p:nvPr/>
        </p:nvSpPr>
        <p:spPr>
          <a:xfrm>
            <a:off x="8615075" y="2504350"/>
            <a:ext cx="2925300" cy="1108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4" name="Google Shape;4984;p186"/>
          <p:cNvSpPr/>
          <p:nvPr/>
        </p:nvSpPr>
        <p:spPr>
          <a:xfrm>
            <a:off x="8615100" y="978500"/>
            <a:ext cx="2925300" cy="990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5" name="Google Shape;4985;p186"/>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r>
              <a:rPr lang="en" sz="1300">
                <a:solidFill>
                  <a:schemeClr val="dk2"/>
                </a:solidFill>
                <a:latin typeface="Arial"/>
                <a:ea typeface="Arial"/>
                <a:cs typeface="Arial"/>
                <a:sym typeface="Arial"/>
              </a:rPr>
              <a:t>\</a:t>
            </a:r>
            <a:endParaRPr sz="1300">
              <a:solidFill>
                <a:schemeClr val="dk2"/>
              </a:solidFill>
              <a:latin typeface="Arial"/>
              <a:ea typeface="Arial"/>
              <a:cs typeface="Arial"/>
              <a:sym typeface="Arial"/>
            </a:endParaRPr>
          </a:p>
        </p:txBody>
      </p:sp>
      <p:sp>
        <p:nvSpPr>
          <p:cNvPr id="4986" name="Google Shape;4986;p186"/>
          <p:cNvSpPr txBox="1"/>
          <p:nvPr/>
        </p:nvSpPr>
        <p:spPr>
          <a:xfrm>
            <a:off x="0" y="-54735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/_static/images/security/network/service-endpoints.png</a:t>
            </a:r>
            <a:endParaRPr/>
          </a:p>
        </p:txBody>
      </p:sp>
      <p:cxnSp>
        <p:nvCxnSpPr>
          <p:cNvPr id="4987" name="Google Shape;4987;p186"/>
          <p:cNvCxnSpPr/>
          <p:nvPr/>
        </p:nvCxnSpPr>
        <p:spPr>
          <a:xfrm>
            <a:off x="11953283" y="5674472"/>
            <a:ext cx="0" cy="0"/>
          </a:xfrm>
          <a:prstGeom prst="straightConnector1">
            <a:avLst/>
          </a:prstGeom>
          <a:noFill/>
          <a:ln cap="flat" cmpd="sng" w="9525">
            <a:solidFill>
              <a:schemeClr val="dk2"/>
            </a:solidFill>
            <a:prstDash val="solid"/>
            <a:round/>
            <a:headEnd len="med" w="med" type="none"/>
            <a:tailEnd len="med" w="med" type="none"/>
          </a:ln>
        </p:spPr>
      </p:cxnSp>
      <p:cxnSp>
        <p:nvCxnSpPr>
          <p:cNvPr id="4988" name="Google Shape;4988;p186"/>
          <p:cNvCxnSpPr/>
          <p:nvPr/>
        </p:nvCxnSpPr>
        <p:spPr>
          <a:xfrm flipH="1" rot="-5400000">
            <a:off x="10675525" y="6851175"/>
            <a:ext cx="870000" cy="870000"/>
          </a:xfrm>
          <a:prstGeom prst="curvedConnector3">
            <a:avLst>
              <a:gd fmla="val 50000" name="adj1"/>
            </a:avLst>
          </a:prstGeom>
          <a:noFill/>
          <a:ln cap="flat" cmpd="sng" w="9525">
            <a:solidFill>
              <a:schemeClr val="dk2"/>
            </a:solidFill>
            <a:prstDash val="dash"/>
            <a:round/>
            <a:headEnd len="med" w="med" type="none"/>
            <a:tailEnd len="med" w="med" type="none"/>
          </a:ln>
        </p:spPr>
      </p:cxnSp>
      <p:sp>
        <p:nvSpPr>
          <p:cNvPr id="4989" name="Google Shape;4989;p186"/>
          <p:cNvSpPr txBox="1"/>
          <p:nvPr/>
        </p:nvSpPr>
        <p:spPr>
          <a:xfrm rot="22323">
            <a:off x="9675658" y="2746630"/>
            <a:ext cx="1617034" cy="518415"/>
          </a:xfrm>
          <a:prstGeom prst="rect">
            <a:avLst/>
          </a:prstGeom>
          <a:noFill/>
          <a:ln>
            <a:noFill/>
          </a:ln>
        </p:spPr>
        <p:txBody>
          <a:bodyPr anchorCtr="0" anchor="t" bIns="85175" lIns="85175" spcFirstLastPara="1" rIns="85175" wrap="square" tIns="85175">
            <a:noAutofit/>
          </a:bodyPr>
          <a:lstStyle/>
          <a:p>
            <a:pPr indent="0" lvl="0" marL="0" rtl="0" algn="ctr">
              <a:spcBef>
                <a:spcPts val="0"/>
              </a:spcBef>
              <a:spcAft>
                <a:spcPts val="0"/>
              </a:spcAft>
              <a:buNone/>
            </a:pPr>
            <a:r>
              <a:rPr lang="en" sz="1300">
                <a:solidFill>
                  <a:srgbClr val="1B5162"/>
                </a:solidFill>
                <a:latin typeface="DM Sans"/>
                <a:ea typeface="DM Sans"/>
                <a:cs typeface="DM Sans"/>
                <a:sym typeface="DM Sans"/>
              </a:rPr>
              <a:t>Customer managed storage</a:t>
            </a:r>
            <a:endParaRPr sz="1300">
              <a:solidFill>
                <a:srgbClr val="1B5162"/>
              </a:solidFill>
              <a:latin typeface="DM Sans"/>
              <a:ea typeface="DM Sans"/>
              <a:cs typeface="DM Sans"/>
              <a:sym typeface="DM Sans"/>
            </a:endParaRPr>
          </a:p>
          <a:p>
            <a:pPr indent="0" lvl="0" marL="0" rtl="0" algn="ctr">
              <a:spcBef>
                <a:spcPts val="0"/>
              </a:spcBef>
              <a:spcAft>
                <a:spcPts val="0"/>
              </a:spcAft>
              <a:buNone/>
            </a:pPr>
            <a:r>
              <a:t/>
            </a:r>
            <a:endParaRPr sz="1300">
              <a:solidFill>
                <a:schemeClr val="dk2"/>
              </a:solidFill>
            </a:endParaRPr>
          </a:p>
        </p:txBody>
      </p:sp>
      <p:pic>
        <p:nvPicPr>
          <p:cNvPr id="4990" name="Google Shape;4990;p186"/>
          <p:cNvPicPr preferRelativeResize="0"/>
          <p:nvPr/>
        </p:nvPicPr>
        <p:blipFill>
          <a:blip r:embed="rId3">
            <a:alphaModFix/>
          </a:blip>
          <a:stretch>
            <a:fillRect/>
          </a:stretch>
        </p:blipFill>
        <p:spPr>
          <a:xfrm>
            <a:off x="1180475" y="1409023"/>
            <a:ext cx="402525" cy="358875"/>
          </a:xfrm>
          <a:prstGeom prst="rect">
            <a:avLst/>
          </a:prstGeom>
          <a:noFill/>
          <a:ln>
            <a:noFill/>
          </a:ln>
        </p:spPr>
      </p:pic>
      <p:grpSp>
        <p:nvGrpSpPr>
          <p:cNvPr id="4991" name="Google Shape;4991;p186"/>
          <p:cNvGrpSpPr/>
          <p:nvPr/>
        </p:nvGrpSpPr>
        <p:grpSpPr>
          <a:xfrm>
            <a:off x="760995" y="1247769"/>
            <a:ext cx="3258492" cy="3866967"/>
            <a:chOff x="3586275" y="1341375"/>
            <a:chExt cx="2925300" cy="3211500"/>
          </a:xfrm>
        </p:grpSpPr>
        <p:sp>
          <p:nvSpPr>
            <p:cNvPr id="4992" name="Google Shape;4992;p186"/>
            <p:cNvSpPr/>
            <p:nvPr/>
          </p:nvSpPr>
          <p:spPr>
            <a:xfrm>
              <a:off x="3586275" y="1341375"/>
              <a:ext cx="2925300" cy="3211500"/>
            </a:xfrm>
            <a:prstGeom prst="roundRect">
              <a:avLst>
                <a:gd fmla="val 16667" name="adj"/>
              </a:avLst>
            </a:prstGeom>
            <a:solidFill>
              <a:schemeClr val="lt1"/>
            </a:solidFill>
            <a:ln cap="flat" cmpd="sng" w="12725">
              <a:solidFill>
                <a:srgbClr val="4359FF"/>
              </a:solidFill>
              <a:prstDash val="solid"/>
              <a:round/>
              <a:headEnd len="sm" w="sm" type="none"/>
              <a:tailEnd len="sm" w="sm" type="none"/>
            </a:ln>
          </p:spPr>
          <p:txBody>
            <a:bodyPr anchorCtr="0" anchor="ctr" bIns="122200" lIns="122200" spcFirstLastPara="1" rIns="122200" wrap="square" tIns="122200">
              <a:noAutofit/>
            </a:bodyPr>
            <a:lstStyle/>
            <a:p>
              <a:pPr indent="0" lvl="0" marL="0" rtl="0" algn="ctr">
                <a:spcBef>
                  <a:spcPts val="0"/>
                </a:spcBef>
                <a:spcAft>
                  <a:spcPts val="0"/>
                </a:spcAft>
                <a:buClr>
                  <a:schemeClr val="dk1"/>
                </a:buClr>
                <a:buSzPts val="1470"/>
                <a:buFont typeface="Arial"/>
                <a:buNone/>
              </a:pPr>
              <a:r>
                <a:t/>
              </a:r>
              <a:endParaRPr sz="1871"/>
            </a:p>
          </p:txBody>
        </p:sp>
        <p:sp>
          <p:nvSpPr>
            <p:cNvPr id="4993" name="Google Shape;4993;p186"/>
            <p:cNvSpPr txBox="1"/>
            <p:nvPr/>
          </p:nvSpPr>
          <p:spPr>
            <a:xfrm>
              <a:off x="4299516" y="1462438"/>
              <a:ext cx="1819500" cy="324300"/>
            </a:xfrm>
            <a:prstGeom prst="rect">
              <a:avLst/>
            </a:prstGeom>
            <a:noFill/>
            <a:ln>
              <a:noFill/>
            </a:ln>
          </p:spPr>
          <p:txBody>
            <a:bodyPr anchorCtr="0" anchor="t" bIns="122200" lIns="122200" spcFirstLastPara="1" rIns="122200" wrap="square" tIns="122200">
              <a:noAutofit/>
            </a:bodyPr>
            <a:lstStyle/>
            <a:p>
              <a:pPr indent="0" lvl="0" marL="0" rtl="0" algn="ctr">
                <a:spcBef>
                  <a:spcPts val="0"/>
                </a:spcBef>
                <a:spcAft>
                  <a:spcPts val="0"/>
                </a:spcAft>
                <a:buClr>
                  <a:schemeClr val="dk1"/>
                </a:buClr>
                <a:buSzPts val="1470"/>
                <a:buFont typeface="Arial"/>
                <a:buNone/>
              </a:pPr>
              <a:r>
                <a:rPr lang="en" sz="1737">
                  <a:solidFill>
                    <a:schemeClr val="dk2"/>
                  </a:solidFill>
                  <a:latin typeface="DM Sans"/>
                  <a:ea typeface="DM Sans"/>
                  <a:cs typeface="DM Sans"/>
                  <a:sym typeface="DM Sans"/>
                </a:rPr>
                <a:t>Azure Databricks Workspace</a:t>
              </a:r>
              <a:endParaRPr sz="1737">
                <a:solidFill>
                  <a:schemeClr val="dk2"/>
                </a:solidFill>
                <a:latin typeface="DM Sans"/>
                <a:ea typeface="DM Sans"/>
                <a:cs typeface="DM Sans"/>
                <a:sym typeface="DM Sans"/>
              </a:endParaRPr>
            </a:p>
          </p:txBody>
        </p:sp>
        <p:sp>
          <p:nvSpPr>
            <p:cNvPr id="4994" name="Google Shape;4994;p186"/>
            <p:cNvSpPr txBox="1"/>
            <p:nvPr/>
          </p:nvSpPr>
          <p:spPr>
            <a:xfrm>
              <a:off x="4618875" y="2044425"/>
              <a:ext cx="1752300" cy="324300"/>
            </a:xfrm>
            <a:prstGeom prst="rect">
              <a:avLst/>
            </a:prstGeom>
            <a:noFill/>
            <a:ln>
              <a:noFill/>
            </a:ln>
          </p:spPr>
          <p:txBody>
            <a:bodyPr anchorCtr="0" anchor="t" bIns="122200" lIns="122200" spcFirstLastPara="1" rIns="122200" wrap="square" tIns="122200">
              <a:noAutofit/>
            </a:bodyPr>
            <a:lstStyle/>
            <a:p>
              <a:pPr indent="0" lvl="0" marL="0" rtl="0" algn="l">
                <a:spcBef>
                  <a:spcPts val="0"/>
                </a:spcBef>
                <a:spcAft>
                  <a:spcPts val="0"/>
                </a:spcAft>
                <a:buNone/>
              </a:pPr>
              <a:r>
                <a:t/>
              </a:r>
              <a:endParaRPr sz="3208">
                <a:solidFill>
                  <a:schemeClr val="dk2"/>
                </a:solidFill>
              </a:endParaRPr>
            </a:p>
          </p:txBody>
        </p:sp>
      </p:grpSp>
      <p:pic>
        <p:nvPicPr>
          <p:cNvPr id="4995" name="Google Shape;4995;p186"/>
          <p:cNvPicPr preferRelativeResize="0"/>
          <p:nvPr/>
        </p:nvPicPr>
        <p:blipFill>
          <a:blip r:embed="rId3">
            <a:alphaModFix/>
          </a:blip>
          <a:stretch>
            <a:fillRect/>
          </a:stretch>
        </p:blipFill>
        <p:spPr>
          <a:xfrm>
            <a:off x="1105925" y="1535610"/>
            <a:ext cx="402525" cy="358875"/>
          </a:xfrm>
          <a:prstGeom prst="rect">
            <a:avLst/>
          </a:prstGeom>
          <a:noFill/>
          <a:ln>
            <a:noFill/>
          </a:ln>
        </p:spPr>
      </p:pic>
      <p:sp>
        <p:nvSpPr>
          <p:cNvPr id="4996" name="Google Shape;4996;p186"/>
          <p:cNvSpPr/>
          <p:nvPr/>
        </p:nvSpPr>
        <p:spPr>
          <a:xfrm>
            <a:off x="1022675" y="2390225"/>
            <a:ext cx="2794800" cy="154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7" name="Google Shape;4997;p186"/>
          <p:cNvSpPr/>
          <p:nvPr/>
        </p:nvSpPr>
        <p:spPr>
          <a:xfrm>
            <a:off x="1022675" y="4022325"/>
            <a:ext cx="2811900" cy="87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998" name="Google Shape;4998;p186" title="10061-icon-service-Virtual-Networks.png"/>
          <p:cNvPicPr preferRelativeResize="0"/>
          <p:nvPr/>
        </p:nvPicPr>
        <p:blipFill>
          <a:blip r:embed="rId4">
            <a:alphaModFix/>
          </a:blip>
          <a:stretch>
            <a:fillRect/>
          </a:stretch>
        </p:blipFill>
        <p:spPr>
          <a:xfrm>
            <a:off x="1400121" y="2987800"/>
            <a:ext cx="324300" cy="324300"/>
          </a:xfrm>
          <a:prstGeom prst="rect">
            <a:avLst/>
          </a:prstGeom>
          <a:noFill/>
          <a:ln>
            <a:noFill/>
          </a:ln>
        </p:spPr>
      </p:pic>
      <p:pic>
        <p:nvPicPr>
          <p:cNvPr id="4999" name="Google Shape;4999;p186" title="10061-icon-service-Virtual-Networks.png"/>
          <p:cNvPicPr preferRelativeResize="0"/>
          <p:nvPr/>
        </p:nvPicPr>
        <p:blipFill>
          <a:blip r:embed="rId4">
            <a:alphaModFix/>
          </a:blip>
          <a:stretch>
            <a:fillRect/>
          </a:stretch>
        </p:blipFill>
        <p:spPr>
          <a:xfrm>
            <a:off x="1400133" y="4273275"/>
            <a:ext cx="324300" cy="324300"/>
          </a:xfrm>
          <a:prstGeom prst="rect">
            <a:avLst/>
          </a:prstGeom>
          <a:noFill/>
          <a:ln>
            <a:noFill/>
          </a:ln>
        </p:spPr>
      </p:pic>
      <p:sp>
        <p:nvSpPr>
          <p:cNvPr id="5000" name="Google Shape;5000;p186"/>
          <p:cNvSpPr txBox="1"/>
          <p:nvPr/>
        </p:nvSpPr>
        <p:spPr>
          <a:xfrm>
            <a:off x="9574425" y="1213450"/>
            <a:ext cx="18195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latin typeface="DM Sans"/>
                <a:ea typeface="DM Sans"/>
                <a:cs typeface="DM Sans"/>
                <a:sym typeface="DM Sans"/>
              </a:rPr>
              <a:t>Azure Databricks managed storage</a:t>
            </a:r>
            <a:endParaRPr>
              <a:solidFill>
                <a:schemeClr val="dk2"/>
              </a:solidFill>
            </a:endParaRPr>
          </a:p>
        </p:txBody>
      </p:sp>
      <p:pic>
        <p:nvPicPr>
          <p:cNvPr id="5001" name="Google Shape;5001;p186"/>
          <p:cNvPicPr preferRelativeResize="0"/>
          <p:nvPr/>
        </p:nvPicPr>
        <p:blipFill rotWithShape="1">
          <a:blip r:embed="rId5">
            <a:alphaModFix/>
          </a:blip>
          <a:srcRect b="0" l="0" r="0" t="0"/>
          <a:stretch/>
        </p:blipFill>
        <p:spPr>
          <a:xfrm>
            <a:off x="8866488" y="1133224"/>
            <a:ext cx="744464" cy="744458"/>
          </a:xfrm>
          <a:prstGeom prst="rect">
            <a:avLst/>
          </a:prstGeom>
          <a:noFill/>
          <a:ln>
            <a:noFill/>
          </a:ln>
        </p:spPr>
      </p:pic>
      <p:pic>
        <p:nvPicPr>
          <p:cNvPr id="5002" name="Google Shape;5002;p186"/>
          <p:cNvPicPr preferRelativeResize="0"/>
          <p:nvPr/>
        </p:nvPicPr>
        <p:blipFill rotWithShape="1">
          <a:blip r:embed="rId6">
            <a:alphaModFix/>
          </a:blip>
          <a:srcRect b="0" l="39" r="39" t="0"/>
          <a:stretch/>
        </p:blipFill>
        <p:spPr>
          <a:xfrm>
            <a:off x="8929256" y="2633603"/>
            <a:ext cx="744464" cy="744459"/>
          </a:xfrm>
          <a:prstGeom prst="rect">
            <a:avLst/>
          </a:prstGeom>
          <a:noFill/>
          <a:ln>
            <a:noFill/>
          </a:ln>
        </p:spPr>
      </p:pic>
      <p:sp>
        <p:nvSpPr>
          <p:cNvPr id="5003" name="Google Shape;5003;p186"/>
          <p:cNvSpPr txBox="1"/>
          <p:nvPr/>
        </p:nvSpPr>
        <p:spPr>
          <a:xfrm>
            <a:off x="1767350" y="2927938"/>
            <a:ext cx="12366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DM Sans"/>
                <a:ea typeface="DM Sans"/>
                <a:cs typeface="DM Sans"/>
                <a:sym typeface="DM Sans"/>
              </a:rPr>
              <a:t>Public subnet</a:t>
            </a:r>
            <a:endParaRPr sz="1300">
              <a:solidFill>
                <a:schemeClr val="dk2"/>
              </a:solidFill>
              <a:latin typeface="DM Sans"/>
              <a:ea typeface="DM Sans"/>
              <a:cs typeface="DM Sans"/>
              <a:sym typeface="DM Sans"/>
            </a:endParaRPr>
          </a:p>
        </p:txBody>
      </p:sp>
      <p:sp>
        <p:nvSpPr>
          <p:cNvPr id="5004" name="Google Shape;5004;p186"/>
          <p:cNvSpPr txBox="1"/>
          <p:nvPr/>
        </p:nvSpPr>
        <p:spPr>
          <a:xfrm>
            <a:off x="1767350" y="4277925"/>
            <a:ext cx="14031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DM Sans"/>
                <a:ea typeface="DM Sans"/>
                <a:cs typeface="DM Sans"/>
                <a:sym typeface="DM Sans"/>
              </a:rPr>
              <a:t>Private subnet</a:t>
            </a:r>
            <a:endParaRPr sz="1300">
              <a:solidFill>
                <a:schemeClr val="dk2"/>
              </a:solidFill>
              <a:latin typeface="DM Sans"/>
              <a:ea typeface="DM Sans"/>
              <a:cs typeface="DM Sans"/>
              <a:sym typeface="DM Sans"/>
            </a:endParaRPr>
          </a:p>
        </p:txBody>
      </p:sp>
      <p:pic>
        <p:nvPicPr>
          <p:cNvPr id="5005" name="Google Shape;5005;p186"/>
          <p:cNvPicPr preferRelativeResize="0"/>
          <p:nvPr/>
        </p:nvPicPr>
        <p:blipFill rotWithShape="1">
          <a:blip r:embed="rId7">
            <a:alphaModFix/>
          </a:blip>
          <a:srcRect b="0" l="0" r="0" t="0"/>
          <a:stretch/>
        </p:blipFill>
        <p:spPr>
          <a:xfrm>
            <a:off x="8803716" y="4206577"/>
            <a:ext cx="869999" cy="869999"/>
          </a:xfrm>
          <a:prstGeom prst="rect">
            <a:avLst/>
          </a:prstGeom>
          <a:noFill/>
          <a:ln>
            <a:noFill/>
          </a:ln>
        </p:spPr>
      </p:pic>
      <p:sp>
        <p:nvSpPr>
          <p:cNvPr id="5006" name="Google Shape;5006;p186"/>
          <p:cNvSpPr txBox="1"/>
          <p:nvPr/>
        </p:nvSpPr>
        <p:spPr>
          <a:xfrm>
            <a:off x="9673725" y="4409388"/>
            <a:ext cx="1403100" cy="58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latin typeface="DM Sans"/>
                <a:ea typeface="DM Sans"/>
                <a:cs typeface="DM Sans"/>
                <a:sym typeface="DM Sans"/>
              </a:rPr>
              <a:t>Unsanctioned storage</a:t>
            </a:r>
            <a:endParaRPr sz="1300">
              <a:solidFill>
                <a:schemeClr val="dk2"/>
              </a:solidFill>
              <a:latin typeface="DM Sans"/>
              <a:ea typeface="DM Sans"/>
              <a:cs typeface="DM Sans"/>
              <a:sym typeface="DM Sans"/>
            </a:endParaRPr>
          </a:p>
        </p:txBody>
      </p:sp>
      <p:pic>
        <p:nvPicPr>
          <p:cNvPr id="5007" name="Google Shape;5007;p186"/>
          <p:cNvPicPr preferRelativeResize="0"/>
          <p:nvPr/>
        </p:nvPicPr>
        <p:blipFill rotWithShape="1">
          <a:blip r:embed="rId8">
            <a:alphaModFix/>
          </a:blip>
          <a:srcRect b="12776" l="2296" r="84822" t="14506"/>
          <a:stretch/>
        </p:blipFill>
        <p:spPr>
          <a:xfrm>
            <a:off x="3588751" y="2933716"/>
            <a:ext cx="430719" cy="438102"/>
          </a:xfrm>
          <a:prstGeom prst="rect">
            <a:avLst/>
          </a:prstGeom>
          <a:noFill/>
          <a:ln>
            <a:noFill/>
          </a:ln>
        </p:spPr>
      </p:pic>
      <p:sp>
        <p:nvSpPr>
          <p:cNvPr id="5008" name="Google Shape;5008;p186"/>
          <p:cNvSpPr/>
          <p:nvPr/>
        </p:nvSpPr>
        <p:spPr>
          <a:xfrm>
            <a:off x="2816588" y="2390225"/>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1</a:t>
            </a:r>
            <a:endParaRPr b="1">
              <a:solidFill>
                <a:schemeClr val="lt1"/>
              </a:solidFill>
              <a:latin typeface="DM Sans"/>
              <a:ea typeface="DM Sans"/>
              <a:cs typeface="DM Sans"/>
              <a:sym typeface="DM Sans"/>
            </a:endParaRPr>
          </a:p>
        </p:txBody>
      </p:sp>
      <p:sp>
        <p:nvSpPr>
          <p:cNvPr id="5009" name="Google Shape;5009;p186"/>
          <p:cNvSpPr/>
          <p:nvPr/>
        </p:nvSpPr>
        <p:spPr>
          <a:xfrm>
            <a:off x="1096188" y="2764613"/>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3</a:t>
            </a:r>
            <a:endParaRPr b="1">
              <a:solidFill>
                <a:schemeClr val="lt1"/>
              </a:solidFill>
              <a:latin typeface="DM Sans"/>
              <a:ea typeface="DM Sans"/>
              <a:cs typeface="DM Sans"/>
              <a:sym typeface="DM Sans"/>
            </a:endParaRPr>
          </a:p>
        </p:txBody>
      </p:sp>
      <p:sp>
        <p:nvSpPr>
          <p:cNvPr id="5010" name="Google Shape;5010;p186"/>
          <p:cNvSpPr/>
          <p:nvPr/>
        </p:nvSpPr>
        <p:spPr>
          <a:xfrm>
            <a:off x="8304900" y="2290625"/>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2</a:t>
            </a:r>
            <a:endParaRPr b="1">
              <a:solidFill>
                <a:schemeClr val="lt1"/>
              </a:solidFill>
              <a:latin typeface="DM Sans"/>
              <a:ea typeface="DM Sans"/>
              <a:cs typeface="DM Sans"/>
              <a:sym typeface="DM Sans"/>
            </a:endParaRPr>
          </a:p>
        </p:txBody>
      </p:sp>
      <p:grpSp>
        <p:nvGrpSpPr>
          <p:cNvPr id="5011" name="Google Shape;5011;p186"/>
          <p:cNvGrpSpPr/>
          <p:nvPr/>
        </p:nvGrpSpPr>
        <p:grpSpPr>
          <a:xfrm>
            <a:off x="3414126" y="2536150"/>
            <a:ext cx="2430900" cy="1227600"/>
            <a:chOff x="3414126" y="2536150"/>
            <a:chExt cx="2430900" cy="1227600"/>
          </a:xfrm>
        </p:grpSpPr>
        <p:sp>
          <p:nvSpPr>
            <p:cNvPr id="5012" name="Google Shape;5012;p186"/>
            <p:cNvSpPr/>
            <p:nvPr/>
          </p:nvSpPr>
          <p:spPr>
            <a:xfrm>
              <a:off x="3414126" y="2536150"/>
              <a:ext cx="2430900" cy="1227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3" name="Google Shape;5013;p186"/>
            <p:cNvSpPr txBox="1"/>
            <p:nvPr/>
          </p:nvSpPr>
          <p:spPr>
            <a:xfrm>
              <a:off x="3816874" y="2840200"/>
              <a:ext cx="187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DM Sans"/>
                  <a:ea typeface="DM Sans"/>
                  <a:cs typeface="DM Sans"/>
                  <a:sym typeface="DM Sans"/>
                </a:rPr>
                <a:t>Azure virtual network service endpoint </a:t>
              </a:r>
              <a:endParaRPr sz="1200">
                <a:solidFill>
                  <a:schemeClr val="dk2"/>
                </a:solidFill>
                <a:latin typeface="DM Sans"/>
                <a:ea typeface="DM Sans"/>
                <a:cs typeface="DM Sans"/>
                <a:sym typeface="DM Sans"/>
              </a:endParaRPr>
            </a:p>
          </p:txBody>
        </p:sp>
        <p:sp>
          <p:nvSpPr>
            <p:cNvPr id="5014" name="Google Shape;5014;p186"/>
            <p:cNvSpPr/>
            <p:nvPr/>
          </p:nvSpPr>
          <p:spPr>
            <a:xfrm>
              <a:off x="5514075" y="2623150"/>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4</a:t>
              </a:r>
              <a:endParaRPr b="1">
                <a:solidFill>
                  <a:schemeClr val="lt1"/>
                </a:solidFill>
                <a:latin typeface="DM Sans"/>
                <a:ea typeface="DM Sans"/>
                <a:cs typeface="DM Sans"/>
                <a:sym typeface="DM Sans"/>
              </a:endParaRPr>
            </a:p>
          </p:txBody>
        </p:sp>
        <p:cxnSp>
          <p:nvCxnSpPr>
            <p:cNvPr id="5015" name="Google Shape;5015;p186"/>
            <p:cNvCxnSpPr>
              <a:stCxn id="5013" idx="3"/>
            </p:cNvCxnSpPr>
            <p:nvPr/>
          </p:nvCxnSpPr>
          <p:spPr>
            <a:xfrm>
              <a:off x="5696074" y="3117250"/>
              <a:ext cx="600" cy="600"/>
            </a:xfrm>
            <a:prstGeom prst="curvedConnector2">
              <a:avLst/>
            </a:prstGeom>
            <a:noFill/>
            <a:ln cap="flat" cmpd="sng" w="9525">
              <a:solidFill>
                <a:schemeClr val="dk2"/>
              </a:solidFill>
              <a:prstDash val="solid"/>
              <a:round/>
              <a:headEnd len="med" w="med" type="none"/>
              <a:tailEnd len="med" w="med" type="none"/>
            </a:ln>
          </p:spPr>
        </p:cxnSp>
      </p:grpSp>
      <p:pic>
        <p:nvPicPr>
          <p:cNvPr id="5016" name="Google Shape;5016;p186" title="10085-icon-service-Service-Endpoint-Policies.png"/>
          <p:cNvPicPr preferRelativeResize="0"/>
          <p:nvPr/>
        </p:nvPicPr>
        <p:blipFill>
          <a:blip r:embed="rId9">
            <a:alphaModFix/>
          </a:blip>
          <a:stretch>
            <a:fillRect/>
          </a:stretch>
        </p:blipFill>
        <p:spPr>
          <a:xfrm>
            <a:off x="3077593" y="2390226"/>
            <a:ext cx="622682" cy="528900"/>
          </a:xfrm>
          <a:prstGeom prst="rect">
            <a:avLst/>
          </a:prstGeom>
          <a:noFill/>
          <a:ln>
            <a:noFill/>
          </a:ln>
        </p:spPr>
      </p:pic>
      <p:cxnSp>
        <p:nvCxnSpPr>
          <p:cNvPr id="5017" name="Google Shape;5017;p186"/>
          <p:cNvCxnSpPr>
            <a:stCxn id="5012" idx="3"/>
            <a:endCxn id="4984" idx="1"/>
          </p:cNvCxnSpPr>
          <p:nvPr/>
        </p:nvCxnSpPr>
        <p:spPr>
          <a:xfrm flipH="1" rot="10800000">
            <a:off x="5845026" y="1473850"/>
            <a:ext cx="2770200" cy="1676100"/>
          </a:xfrm>
          <a:prstGeom prst="curvedConnector3">
            <a:avLst>
              <a:gd fmla="val 49998" name="adj1"/>
            </a:avLst>
          </a:prstGeom>
          <a:noFill/>
          <a:ln cap="flat" cmpd="sng" w="9525">
            <a:solidFill>
              <a:srgbClr val="00A972"/>
            </a:solidFill>
            <a:prstDash val="solid"/>
            <a:round/>
            <a:headEnd len="med" w="med" type="none"/>
            <a:tailEnd len="med" w="med" type="stealth"/>
          </a:ln>
        </p:spPr>
      </p:cxnSp>
      <p:cxnSp>
        <p:nvCxnSpPr>
          <p:cNvPr id="5018" name="Google Shape;5018;p186"/>
          <p:cNvCxnSpPr>
            <a:stCxn id="5012" idx="3"/>
            <a:endCxn id="4983" idx="1"/>
          </p:cNvCxnSpPr>
          <p:nvPr/>
        </p:nvCxnSpPr>
        <p:spPr>
          <a:xfrm flipH="1" rot="10800000">
            <a:off x="5845026" y="3058450"/>
            <a:ext cx="2769900" cy="91500"/>
          </a:xfrm>
          <a:prstGeom prst="curvedConnector3">
            <a:avLst>
              <a:gd fmla="val 50003" name="adj1"/>
            </a:avLst>
          </a:prstGeom>
          <a:noFill/>
          <a:ln cap="flat" cmpd="sng" w="9525">
            <a:solidFill>
              <a:srgbClr val="00A972"/>
            </a:solidFill>
            <a:prstDash val="solid"/>
            <a:round/>
            <a:headEnd len="med" w="med" type="none"/>
            <a:tailEnd len="med" w="med" type="stealth"/>
          </a:ln>
        </p:spPr>
      </p:cxnSp>
      <p:cxnSp>
        <p:nvCxnSpPr>
          <p:cNvPr id="5019" name="Google Shape;5019;p186"/>
          <p:cNvCxnSpPr>
            <a:stCxn id="5012" idx="3"/>
            <a:endCxn id="4982" idx="1"/>
          </p:cNvCxnSpPr>
          <p:nvPr/>
        </p:nvCxnSpPr>
        <p:spPr>
          <a:xfrm>
            <a:off x="5845026" y="3149950"/>
            <a:ext cx="2769900" cy="1551900"/>
          </a:xfrm>
          <a:prstGeom prst="curvedConnector3">
            <a:avLst>
              <a:gd fmla="val 50003" name="adj1"/>
            </a:avLst>
          </a:prstGeom>
          <a:noFill/>
          <a:ln cap="flat" cmpd="sng" w="9525">
            <a:solidFill>
              <a:srgbClr val="FF3621"/>
            </a:solidFill>
            <a:prstDash val="solid"/>
            <a:round/>
            <a:headEnd len="med" w="med" type="none"/>
            <a:tailEnd len="med" w="med" type="stealth"/>
          </a:ln>
        </p:spPr>
      </p:cxnSp>
      <p:sp>
        <p:nvSpPr>
          <p:cNvPr id="5020" name="Google Shape;5020;p186"/>
          <p:cNvSpPr txBox="1"/>
          <p:nvPr/>
        </p:nvSpPr>
        <p:spPr>
          <a:xfrm>
            <a:off x="7162800" y="3677675"/>
            <a:ext cx="514500" cy="5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300">
                <a:solidFill>
                  <a:srgbClr val="FF3621"/>
                </a:solidFill>
              </a:rPr>
              <a:t>x</a:t>
            </a:r>
            <a:endParaRPr b="1" sz="3300">
              <a:solidFill>
                <a:srgbClr val="FF3621"/>
              </a:solidFill>
            </a:endParaRPr>
          </a:p>
        </p:txBody>
      </p:sp>
      <p:pic>
        <p:nvPicPr>
          <p:cNvPr id="5021" name="Google Shape;5021;p186"/>
          <p:cNvPicPr preferRelativeResize="0"/>
          <p:nvPr/>
        </p:nvPicPr>
        <p:blipFill rotWithShape="1">
          <a:blip r:embed="rId8">
            <a:alphaModFix/>
          </a:blip>
          <a:srcRect b="12776" l="2296" r="84822" t="14506"/>
          <a:stretch/>
        </p:blipFill>
        <p:spPr>
          <a:xfrm>
            <a:off x="3588753" y="2927715"/>
            <a:ext cx="324299" cy="352963"/>
          </a:xfrm>
          <a:prstGeom prst="rect">
            <a:avLst/>
          </a:prstGeom>
          <a:noFill/>
          <a:ln>
            <a:noFill/>
          </a:ln>
        </p:spPr>
      </p:pic>
      <p:sp>
        <p:nvSpPr>
          <p:cNvPr id="5022" name="Google Shape;5022;p186"/>
          <p:cNvSpPr/>
          <p:nvPr/>
        </p:nvSpPr>
        <p:spPr>
          <a:xfrm>
            <a:off x="8251775" y="4206575"/>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5</a:t>
            </a:r>
            <a:endParaRPr b="1">
              <a:solidFill>
                <a:schemeClr val="lt1"/>
              </a:solidFill>
              <a:latin typeface="DM Sans"/>
              <a:ea typeface="DM Sans"/>
              <a:cs typeface="DM Sans"/>
              <a:sym typeface="DM San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6" name="Shape 5026"/>
        <p:cNvGrpSpPr/>
        <p:nvPr/>
      </p:nvGrpSpPr>
      <p:grpSpPr>
        <a:xfrm>
          <a:off x="0" y="0"/>
          <a:ext cx="0" cy="0"/>
          <a:chOff x="0" y="0"/>
          <a:chExt cx="0" cy="0"/>
        </a:xfrm>
      </p:grpSpPr>
      <p:sp>
        <p:nvSpPr>
          <p:cNvPr id="5027" name="Google Shape;5027;p187"/>
          <p:cNvSpPr/>
          <p:nvPr/>
        </p:nvSpPr>
        <p:spPr>
          <a:xfrm>
            <a:off x="3766150" y="1107375"/>
            <a:ext cx="4220400" cy="28164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028" name="Google Shape;5028;p187"/>
          <p:cNvSpPr txBox="1"/>
          <p:nvPr/>
        </p:nvSpPr>
        <p:spPr>
          <a:xfrm>
            <a:off x="4507000" y="646900"/>
            <a:ext cx="2854500" cy="477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500">
                <a:solidFill>
                  <a:srgbClr val="00A972"/>
                </a:solidFill>
                <a:latin typeface="DM Sans"/>
                <a:ea typeface="DM Sans"/>
                <a:cs typeface="DM Sans"/>
                <a:sym typeface="DM Sans"/>
              </a:rPr>
              <a:t>Databricks workspace</a:t>
            </a:r>
            <a:endParaRPr b="1" sz="1500">
              <a:solidFill>
                <a:srgbClr val="00A972"/>
              </a:solidFill>
              <a:latin typeface="DM Sans"/>
              <a:ea typeface="DM Sans"/>
              <a:cs typeface="DM Sans"/>
              <a:sym typeface="DM Sans"/>
            </a:endParaRPr>
          </a:p>
        </p:txBody>
      </p:sp>
      <p:grpSp>
        <p:nvGrpSpPr>
          <p:cNvPr id="5029" name="Google Shape;5029;p187"/>
          <p:cNvGrpSpPr/>
          <p:nvPr/>
        </p:nvGrpSpPr>
        <p:grpSpPr>
          <a:xfrm>
            <a:off x="4224250" y="1404644"/>
            <a:ext cx="1089600" cy="796200"/>
            <a:chOff x="5680405" y="2153119"/>
            <a:chExt cx="1089600" cy="796200"/>
          </a:xfrm>
        </p:grpSpPr>
        <p:sp>
          <p:nvSpPr>
            <p:cNvPr id="5030" name="Google Shape;5030;p187"/>
            <p:cNvSpPr/>
            <p:nvPr/>
          </p:nvSpPr>
          <p:spPr>
            <a:xfrm>
              <a:off x="5680405" y="2153119"/>
              <a:ext cx="1089600" cy="7962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Model Serving</a:t>
              </a:r>
              <a:endParaRPr b="1" sz="1100">
                <a:latin typeface="DM Sans"/>
                <a:ea typeface="DM Sans"/>
                <a:cs typeface="DM Sans"/>
                <a:sym typeface="DM Sans"/>
              </a:endParaRPr>
            </a:p>
            <a:p>
              <a:pPr indent="0" lvl="0" marL="0" rtl="0" algn="ctr">
                <a:spcBef>
                  <a:spcPts val="0"/>
                </a:spcBef>
                <a:spcAft>
                  <a:spcPts val="0"/>
                </a:spcAft>
                <a:buNone/>
              </a:pPr>
              <a:r>
                <a:rPr b="1" lang="en" sz="1100">
                  <a:latin typeface="DM Sans"/>
                  <a:ea typeface="DM Sans"/>
                  <a:cs typeface="DM Sans"/>
                  <a:sym typeface="DM Sans"/>
                </a:rPr>
                <a:t>application</a:t>
              </a:r>
              <a:endParaRPr b="1" sz="1100">
                <a:latin typeface="DM Sans"/>
                <a:ea typeface="DM Sans"/>
                <a:cs typeface="DM Sans"/>
                <a:sym typeface="DM Sans"/>
              </a:endParaRPr>
            </a:p>
          </p:txBody>
        </p:sp>
        <p:pic>
          <p:nvPicPr>
            <p:cNvPr id="5031" name="Google Shape;5031;p187"/>
            <p:cNvPicPr preferRelativeResize="0"/>
            <p:nvPr/>
          </p:nvPicPr>
          <p:blipFill rotWithShape="1">
            <a:blip r:embed="rId3">
              <a:alphaModFix/>
            </a:blip>
            <a:srcRect b="-41422" l="-20704" r="-20718" t="0"/>
            <a:stretch/>
          </p:blipFill>
          <p:spPr>
            <a:xfrm>
              <a:off x="5989137" y="2207243"/>
              <a:ext cx="472159" cy="470185"/>
            </a:xfrm>
            <a:prstGeom prst="rect">
              <a:avLst/>
            </a:prstGeom>
            <a:noFill/>
            <a:ln>
              <a:noFill/>
            </a:ln>
          </p:spPr>
        </p:pic>
      </p:grpSp>
      <p:grpSp>
        <p:nvGrpSpPr>
          <p:cNvPr id="5032" name="Google Shape;5032;p187"/>
          <p:cNvGrpSpPr/>
          <p:nvPr/>
        </p:nvGrpSpPr>
        <p:grpSpPr>
          <a:xfrm>
            <a:off x="4162450" y="2751675"/>
            <a:ext cx="1213200" cy="942000"/>
            <a:chOff x="4073625" y="1344850"/>
            <a:chExt cx="1213200" cy="942000"/>
          </a:xfrm>
        </p:grpSpPr>
        <p:sp>
          <p:nvSpPr>
            <p:cNvPr id="5033" name="Google Shape;5033;p187"/>
            <p:cNvSpPr/>
            <p:nvPr/>
          </p:nvSpPr>
          <p:spPr>
            <a:xfrm>
              <a:off x="4073625" y="1344850"/>
              <a:ext cx="1213200" cy="9420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MLflow </a:t>
              </a:r>
              <a:endParaRPr b="1" sz="1100">
                <a:latin typeface="DM Sans"/>
                <a:ea typeface="DM Sans"/>
                <a:cs typeface="DM Sans"/>
                <a:sym typeface="DM Sans"/>
              </a:endParaRPr>
            </a:p>
            <a:p>
              <a:pPr indent="0" lvl="0" marL="0" rtl="0" algn="ctr">
                <a:spcBef>
                  <a:spcPts val="0"/>
                </a:spcBef>
                <a:spcAft>
                  <a:spcPts val="0"/>
                </a:spcAft>
                <a:buNone/>
              </a:pPr>
              <a:r>
                <a:rPr b="1" lang="en" sz="1100">
                  <a:latin typeface="DM Sans"/>
                  <a:ea typeface="DM Sans"/>
                  <a:cs typeface="DM Sans"/>
                  <a:sym typeface="DM Sans"/>
                </a:rPr>
                <a:t>tracking server</a:t>
              </a:r>
              <a:endParaRPr b="1" sz="1100">
                <a:latin typeface="DM Sans"/>
                <a:ea typeface="DM Sans"/>
                <a:cs typeface="DM Sans"/>
                <a:sym typeface="DM Sans"/>
              </a:endParaRPr>
            </a:p>
          </p:txBody>
        </p:sp>
        <p:pic>
          <p:nvPicPr>
            <p:cNvPr id="5034" name="Google Shape;5034;p187"/>
            <p:cNvPicPr preferRelativeResize="0"/>
            <p:nvPr/>
          </p:nvPicPr>
          <p:blipFill rotWithShape="1">
            <a:blip r:embed="rId4">
              <a:alphaModFix/>
            </a:blip>
            <a:srcRect b="0" l="0" r="0" t="0"/>
            <a:stretch/>
          </p:blipFill>
          <p:spPr>
            <a:xfrm>
              <a:off x="4420400" y="1408525"/>
              <a:ext cx="519650" cy="538799"/>
            </a:xfrm>
            <a:prstGeom prst="rect">
              <a:avLst/>
            </a:prstGeom>
            <a:noFill/>
            <a:ln>
              <a:noFill/>
            </a:ln>
          </p:spPr>
        </p:pic>
      </p:grpSp>
      <p:grpSp>
        <p:nvGrpSpPr>
          <p:cNvPr id="5035" name="Google Shape;5035;p187"/>
          <p:cNvGrpSpPr/>
          <p:nvPr/>
        </p:nvGrpSpPr>
        <p:grpSpPr>
          <a:xfrm>
            <a:off x="2152280" y="1404581"/>
            <a:ext cx="1089527" cy="796339"/>
            <a:chOff x="579727" y="3932083"/>
            <a:chExt cx="1136700" cy="834300"/>
          </a:xfrm>
        </p:grpSpPr>
        <p:sp>
          <p:nvSpPr>
            <p:cNvPr id="5036" name="Google Shape;5036;p187"/>
            <p:cNvSpPr/>
            <p:nvPr/>
          </p:nvSpPr>
          <p:spPr>
            <a:xfrm>
              <a:off x="579727" y="3932083"/>
              <a:ext cx="1136700" cy="8343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Users</a:t>
              </a:r>
              <a:endParaRPr b="1" sz="1100">
                <a:latin typeface="DM Sans"/>
                <a:ea typeface="DM Sans"/>
                <a:cs typeface="DM Sans"/>
                <a:sym typeface="DM Sans"/>
              </a:endParaRPr>
            </a:p>
          </p:txBody>
        </p:sp>
        <p:pic>
          <p:nvPicPr>
            <p:cNvPr id="5037" name="Google Shape;5037;p187"/>
            <p:cNvPicPr preferRelativeResize="0"/>
            <p:nvPr/>
          </p:nvPicPr>
          <p:blipFill rotWithShape="1">
            <a:blip r:embed="rId5">
              <a:alphaModFix/>
            </a:blip>
            <a:srcRect b="0" l="0" r="0" t="0"/>
            <a:stretch/>
          </p:blipFill>
          <p:spPr>
            <a:xfrm>
              <a:off x="902076" y="4036810"/>
              <a:ext cx="492600" cy="492766"/>
            </a:xfrm>
            <a:prstGeom prst="rect">
              <a:avLst/>
            </a:prstGeom>
            <a:noFill/>
            <a:ln>
              <a:noFill/>
            </a:ln>
          </p:spPr>
        </p:pic>
      </p:grpSp>
      <p:cxnSp>
        <p:nvCxnSpPr>
          <p:cNvPr id="5038" name="Google Shape;5038;p187"/>
          <p:cNvCxnSpPr/>
          <p:nvPr/>
        </p:nvCxnSpPr>
        <p:spPr>
          <a:xfrm>
            <a:off x="3270173" y="1874776"/>
            <a:ext cx="891900" cy="0"/>
          </a:xfrm>
          <a:prstGeom prst="straightConnector1">
            <a:avLst/>
          </a:prstGeom>
          <a:noFill/>
          <a:ln cap="flat" cmpd="sng" w="19050">
            <a:solidFill>
              <a:srgbClr val="618794"/>
            </a:solidFill>
            <a:prstDash val="dash"/>
            <a:round/>
            <a:headEnd len="med" w="med" type="none"/>
            <a:tailEnd len="med" w="med" type="triangle"/>
          </a:ln>
        </p:spPr>
      </p:cxnSp>
      <p:cxnSp>
        <p:nvCxnSpPr>
          <p:cNvPr id="5039" name="Google Shape;5039;p187"/>
          <p:cNvCxnSpPr/>
          <p:nvPr/>
        </p:nvCxnSpPr>
        <p:spPr>
          <a:xfrm rot="10800000">
            <a:off x="3270542" y="1730725"/>
            <a:ext cx="891900" cy="0"/>
          </a:xfrm>
          <a:prstGeom prst="straightConnector1">
            <a:avLst/>
          </a:prstGeom>
          <a:noFill/>
          <a:ln cap="flat" cmpd="sng" w="19050">
            <a:solidFill>
              <a:srgbClr val="618794"/>
            </a:solidFill>
            <a:prstDash val="dash"/>
            <a:round/>
            <a:headEnd len="med" w="med" type="none"/>
            <a:tailEnd len="med" w="med" type="triangle"/>
          </a:ln>
        </p:spPr>
      </p:cxnSp>
      <p:cxnSp>
        <p:nvCxnSpPr>
          <p:cNvPr id="5040" name="Google Shape;5040;p187"/>
          <p:cNvCxnSpPr>
            <a:stCxn id="5030" idx="2"/>
            <a:endCxn id="5033" idx="0"/>
          </p:cNvCxnSpPr>
          <p:nvPr/>
        </p:nvCxnSpPr>
        <p:spPr>
          <a:xfrm>
            <a:off x="4769050" y="2200844"/>
            <a:ext cx="0" cy="550800"/>
          </a:xfrm>
          <a:prstGeom prst="straightConnector1">
            <a:avLst/>
          </a:prstGeom>
          <a:noFill/>
          <a:ln cap="flat" cmpd="sng" w="19050">
            <a:solidFill>
              <a:srgbClr val="618794"/>
            </a:solidFill>
            <a:prstDash val="dash"/>
            <a:round/>
            <a:headEnd len="med" w="med" type="none"/>
            <a:tailEnd len="med" w="med" type="triangle"/>
          </a:ln>
        </p:spPr>
      </p:cxnSp>
      <p:sp>
        <p:nvSpPr>
          <p:cNvPr id="5041" name="Google Shape;5041;p187"/>
          <p:cNvSpPr/>
          <p:nvPr/>
        </p:nvSpPr>
        <p:spPr>
          <a:xfrm>
            <a:off x="4769050" y="2307513"/>
            <a:ext cx="6921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Traces</a:t>
            </a:r>
            <a:endParaRPr sz="1100">
              <a:solidFill>
                <a:srgbClr val="666666"/>
              </a:solidFill>
              <a:latin typeface="DM Sans"/>
              <a:ea typeface="DM Sans"/>
              <a:cs typeface="DM Sans"/>
              <a:sym typeface="DM Sans"/>
            </a:endParaRPr>
          </a:p>
        </p:txBody>
      </p:sp>
      <p:sp>
        <p:nvSpPr>
          <p:cNvPr id="5042" name="Google Shape;5042;p187"/>
          <p:cNvSpPr txBox="1"/>
          <p:nvPr/>
        </p:nvSpPr>
        <p:spPr>
          <a:xfrm>
            <a:off x="0" y="0"/>
            <a:ext cx="119778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Production tracing /images/mlflow3/prod-tracing-overview.png</a:t>
            </a:r>
            <a:endParaRPr sz="1200">
              <a:solidFill>
                <a:schemeClr val="accent1"/>
              </a:solidFill>
              <a:latin typeface="DM Sans Medium"/>
              <a:ea typeface="DM Sans Medium"/>
              <a:cs typeface="DM Sans Medium"/>
              <a:sym typeface="DM Sans Medium"/>
            </a:endParaRPr>
          </a:p>
        </p:txBody>
      </p:sp>
      <p:sp>
        <p:nvSpPr>
          <p:cNvPr id="5043" name="Google Shape;5043;p187"/>
          <p:cNvSpPr/>
          <p:nvPr/>
        </p:nvSpPr>
        <p:spPr>
          <a:xfrm>
            <a:off x="3310775" y="1874775"/>
            <a:ext cx="8373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Request</a:t>
            </a:r>
            <a:endParaRPr sz="1100">
              <a:solidFill>
                <a:srgbClr val="666666"/>
              </a:solidFill>
              <a:latin typeface="DM Sans"/>
              <a:ea typeface="DM Sans"/>
              <a:cs typeface="DM Sans"/>
              <a:sym typeface="DM Sans"/>
            </a:endParaRPr>
          </a:p>
        </p:txBody>
      </p:sp>
      <p:sp>
        <p:nvSpPr>
          <p:cNvPr id="5044" name="Google Shape;5044;p187"/>
          <p:cNvSpPr/>
          <p:nvPr/>
        </p:nvSpPr>
        <p:spPr>
          <a:xfrm>
            <a:off x="3314375" y="1492600"/>
            <a:ext cx="8373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Response</a:t>
            </a:r>
            <a:endParaRPr sz="1100">
              <a:solidFill>
                <a:srgbClr val="666666"/>
              </a:solidFill>
              <a:latin typeface="DM Sans"/>
              <a:ea typeface="DM Sans"/>
              <a:cs typeface="DM Sans"/>
              <a:sym typeface="DM Sans"/>
            </a:endParaRPr>
          </a:p>
        </p:txBody>
      </p:sp>
      <p:sp>
        <p:nvSpPr>
          <p:cNvPr id="5045" name="Google Shape;5045;p187"/>
          <p:cNvSpPr/>
          <p:nvPr/>
        </p:nvSpPr>
        <p:spPr>
          <a:xfrm>
            <a:off x="6554775" y="1404500"/>
            <a:ext cx="1278300" cy="796500"/>
          </a:xfrm>
          <a:prstGeom prst="can">
            <a:avLst>
              <a:gd fmla="val 25000" name="adj"/>
            </a:avLst>
          </a:prstGeom>
          <a:solidFill>
            <a:srgbClr val="EEEEEE"/>
          </a:solidFill>
          <a:ln cap="flat" cmpd="sng" w="28575">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DM Sans"/>
                <a:ea typeface="DM Sans"/>
                <a:cs typeface="DM Sans"/>
                <a:sym typeface="DM Sans"/>
              </a:rPr>
              <a:t>Inference</a:t>
            </a:r>
            <a:endParaRPr b="1" sz="1100">
              <a:latin typeface="DM Sans"/>
              <a:ea typeface="DM Sans"/>
              <a:cs typeface="DM Sans"/>
              <a:sym typeface="DM Sans"/>
            </a:endParaRPr>
          </a:p>
          <a:p>
            <a:pPr indent="0" lvl="0" marL="0" rtl="0" algn="ctr">
              <a:spcBef>
                <a:spcPts val="0"/>
              </a:spcBef>
              <a:spcAft>
                <a:spcPts val="0"/>
              </a:spcAft>
              <a:buNone/>
            </a:pPr>
            <a:r>
              <a:rPr b="1" lang="en" sz="1100">
                <a:latin typeface="DM Sans"/>
                <a:ea typeface="DM Sans"/>
                <a:cs typeface="DM Sans"/>
                <a:sym typeface="DM Sans"/>
              </a:rPr>
              <a:t>Delta table</a:t>
            </a:r>
            <a:endParaRPr b="1" sz="1100">
              <a:latin typeface="DM Sans"/>
              <a:ea typeface="DM Sans"/>
              <a:cs typeface="DM Sans"/>
              <a:sym typeface="DM Sans"/>
            </a:endParaRPr>
          </a:p>
        </p:txBody>
      </p:sp>
      <p:sp>
        <p:nvSpPr>
          <p:cNvPr id="5046" name="Google Shape;5046;p187"/>
          <p:cNvSpPr/>
          <p:nvPr/>
        </p:nvSpPr>
        <p:spPr>
          <a:xfrm>
            <a:off x="6554775" y="2824425"/>
            <a:ext cx="1278300" cy="796500"/>
          </a:xfrm>
          <a:prstGeom prst="can">
            <a:avLst>
              <a:gd fmla="val 25000" name="adj"/>
            </a:avLst>
          </a:prstGeom>
          <a:solidFill>
            <a:srgbClr val="EEEEEE"/>
          </a:solidFill>
          <a:ln cap="flat" cmpd="sng" w="28575">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DM Sans"/>
                <a:ea typeface="DM Sans"/>
                <a:cs typeface="DM Sans"/>
                <a:sym typeface="DM Sans"/>
              </a:rPr>
              <a:t>Monitoring</a:t>
            </a:r>
            <a:endParaRPr b="1" sz="1100">
              <a:latin typeface="DM Sans"/>
              <a:ea typeface="DM Sans"/>
              <a:cs typeface="DM Sans"/>
              <a:sym typeface="DM Sans"/>
            </a:endParaRPr>
          </a:p>
          <a:p>
            <a:pPr indent="0" lvl="0" marL="0" rtl="0" algn="ctr">
              <a:spcBef>
                <a:spcPts val="0"/>
              </a:spcBef>
              <a:spcAft>
                <a:spcPts val="0"/>
              </a:spcAft>
              <a:buNone/>
            </a:pPr>
            <a:r>
              <a:rPr b="1" lang="en" sz="1100">
                <a:latin typeface="DM Sans"/>
                <a:ea typeface="DM Sans"/>
                <a:cs typeface="DM Sans"/>
                <a:sym typeface="DM Sans"/>
              </a:rPr>
              <a:t>Delta table</a:t>
            </a:r>
            <a:endParaRPr b="1" sz="1100">
              <a:latin typeface="DM Sans"/>
              <a:ea typeface="DM Sans"/>
              <a:cs typeface="DM Sans"/>
              <a:sym typeface="DM Sans"/>
            </a:endParaRPr>
          </a:p>
        </p:txBody>
      </p:sp>
      <p:cxnSp>
        <p:nvCxnSpPr>
          <p:cNvPr id="5047" name="Google Shape;5047;p187"/>
          <p:cNvCxnSpPr>
            <a:stCxn id="5030" idx="3"/>
            <a:endCxn id="5045" idx="2"/>
          </p:cNvCxnSpPr>
          <p:nvPr/>
        </p:nvCxnSpPr>
        <p:spPr>
          <a:xfrm>
            <a:off x="5313850" y="1802744"/>
            <a:ext cx="1240800" cy="0"/>
          </a:xfrm>
          <a:prstGeom prst="straightConnector1">
            <a:avLst/>
          </a:prstGeom>
          <a:noFill/>
          <a:ln cap="flat" cmpd="sng" w="19050">
            <a:solidFill>
              <a:srgbClr val="618794"/>
            </a:solidFill>
            <a:prstDash val="dash"/>
            <a:round/>
            <a:headEnd len="med" w="med" type="none"/>
            <a:tailEnd len="med" w="med" type="triangle"/>
          </a:ln>
        </p:spPr>
      </p:cxnSp>
      <p:sp>
        <p:nvSpPr>
          <p:cNvPr id="5048" name="Google Shape;5048;p187"/>
          <p:cNvSpPr/>
          <p:nvPr/>
        </p:nvSpPr>
        <p:spPr>
          <a:xfrm>
            <a:off x="5443075" y="1878950"/>
            <a:ext cx="9825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AI Gateway</a:t>
            </a:r>
            <a:endParaRPr sz="1100">
              <a:solidFill>
                <a:srgbClr val="666666"/>
              </a:solidFill>
              <a:latin typeface="DM Sans"/>
              <a:ea typeface="DM Sans"/>
              <a:cs typeface="DM Sans"/>
              <a:sym typeface="DM Sans"/>
            </a:endParaRPr>
          </a:p>
        </p:txBody>
      </p:sp>
      <p:cxnSp>
        <p:nvCxnSpPr>
          <p:cNvPr id="5049" name="Google Shape;5049;p187"/>
          <p:cNvCxnSpPr>
            <a:stCxn id="5033" idx="3"/>
            <a:endCxn id="5046" idx="2"/>
          </p:cNvCxnSpPr>
          <p:nvPr/>
        </p:nvCxnSpPr>
        <p:spPr>
          <a:xfrm>
            <a:off x="5375650" y="3222675"/>
            <a:ext cx="1179000" cy="0"/>
          </a:xfrm>
          <a:prstGeom prst="straightConnector1">
            <a:avLst/>
          </a:prstGeom>
          <a:noFill/>
          <a:ln cap="flat" cmpd="sng" w="19050">
            <a:solidFill>
              <a:srgbClr val="618794"/>
            </a:solidFill>
            <a:prstDash val="dash"/>
            <a:round/>
            <a:headEnd len="med" w="med" type="none"/>
            <a:tailEnd len="med" w="med" type="triangle"/>
          </a:ln>
        </p:spPr>
      </p:cxnSp>
      <p:sp>
        <p:nvSpPr>
          <p:cNvPr id="5050" name="Google Shape;5050;p187"/>
          <p:cNvSpPr/>
          <p:nvPr/>
        </p:nvSpPr>
        <p:spPr>
          <a:xfrm>
            <a:off x="5473950" y="3218975"/>
            <a:ext cx="982500" cy="4770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Production monitoring</a:t>
            </a:r>
            <a:endParaRPr sz="1100">
              <a:solidFill>
                <a:srgbClr val="666666"/>
              </a:solidFill>
              <a:latin typeface="DM Sans"/>
              <a:ea typeface="DM Sans"/>
              <a:cs typeface="DM Sans"/>
              <a:sym typeface="DM San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4" name="Shape 5054"/>
        <p:cNvGrpSpPr/>
        <p:nvPr/>
      </p:nvGrpSpPr>
      <p:grpSpPr>
        <a:xfrm>
          <a:off x="0" y="0"/>
          <a:ext cx="0" cy="0"/>
          <a:chOff x="0" y="0"/>
          <a:chExt cx="0" cy="0"/>
        </a:xfrm>
      </p:grpSpPr>
      <p:sp>
        <p:nvSpPr>
          <p:cNvPr id="5055" name="Google Shape;5055;p188"/>
          <p:cNvSpPr/>
          <p:nvPr/>
        </p:nvSpPr>
        <p:spPr>
          <a:xfrm>
            <a:off x="3766150" y="2388225"/>
            <a:ext cx="4354800" cy="15357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056" name="Google Shape;5056;p188"/>
          <p:cNvSpPr txBox="1"/>
          <p:nvPr/>
        </p:nvSpPr>
        <p:spPr>
          <a:xfrm>
            <a:off x="4537950" y="1911225"/>
            <a:ext cx="2854500" cy="477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500">
                <a:solidFill>
                  <a:srgbClr val="00A972"/>
                </a:solidFill>
                <a:latin typeface="DM Sans"/>
                <a:ea typeface="DM Sans"/>
                <a:cs typeface="DM Sans"/>
                <a:sym typeface="DM Sans"/>
              </a:rPr>
              <a:t>Databricks workspace</a:t>
            </a:r>
            <a:endParaRPr b="1" sz="1500">
              <a:solidFill>
                <a:srgbClr val="00A972"/>
              </a:solidFill>
              <a:latin typeface="DM Sans"/>
              <a:ea typeface="DM Sans"/>
              <a:cs typeface="DM Sans"/>
              <a:sym typeface="DM Sans"/>
            </a:endParaRPr>
          </a:p>
        </p:txBody>
      </p:sp>
      <p:grpSp>
        <p:nvGrpSpPr>
          <p:cNvPr id="5057" name="Google Shape;5057;p188"/>
          <p:cNvGrpSpPr/>
          <p:nvPr/>
        </p:nvGrpSpPr>
        <p:grpSpPr>
          <a:xfrm>
            <a:off x="4162450" y="2751675"/>
            <a:ext cx="1213200" cy="942000"/>
            <a:chOff x="4073625" y="1344850"/>
            <a:chExt cx="1213200" cy="942000"/>
          </a:xfrm>
        </p:grpSpPr>
        <p:sp>
          <p:nvSpPr>
            <p:cNvPr id="5058" name="Google Shape;5058;p188"/>
            <p:cNvSpPr/>
            <p:nvPr/>
          </p:nvSpPr>
          <p:spPr>
            <a:xfrm>
              <a:off x="4073625" y="1344850"/>
              <a:ext cx="1213200" cy="942000"/>
            </a:xfrm>
            <a:prstGeom prst="roundRect">
              <a:avLst>
                <a:gd fmla="val 16667" name="adj"/>
              </a:avLst>
            </a:prstGeom>
            <a:solidFill>
              <a:srgbClr val="FFFFFF"/>
            </a:solidFill>
            <a:ln cap="flat" cmpd="sng" w="19050">
              <a:solidFill>
                <a:srgbClr val="FF5F46"/>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MLflow </a:t>
              </a:r>
              <a:endParaRPr b="1" sz="1100">
                <a:latin typeface="DM Sans"/>
                <a:ea typeface="DM Sans"/>
                <a:cs typeface="DM Sans"/>
                <a:sym typeface="DM Sans"/>
              </a:endParaRPr>
            </a:p>
            <a:p>
              <a:pPr indent="0" lvl="0" marL="0" rtl="0" algn="ctr">
                <a:spcBef>
                  <a:spcPts val="0"/>
                </a:spcBef>
                <a:spcAft>
                  <a:spcPts val="0"/>
                </a:spcAft>
                <a:buNone/>
              </a:pPr>
              <a:r>
                <a:rPr b="1" lang="en" sz="1100">
                  <a:latin typeface="DM Sans"/>
                  <a:ea typeface="DM Sans"/>
                  <a:cs typeface="DM Sans"/>
                  <a:sym typeface="DM Sans"/>
                </a:rPr>
                <a:t>tracking server</a:t>
              </a:r>
              <a:endParaRPr b="1" sz="1100">
                <a:latin typeface="DM Sans"/>
                <a:ea typeface="DM Sans"/>
                <a:cs typeface="DM Sans"/>
                <a:sym typeface="DM Sans"/>
              </a:endParaRPr>
            </a:p>
          </p:txBody>
        </p:sp>
        <p:pic>
          <p:nvPicPr>
            <p:cNvPr id="5059" name="Google Shape;5059;p188"/>
            <p:cNvPicPr preferRelativeResize="0"/>
            <p:nvPr/>
          </p:nvPicPr>
          <p:blipFill rotWithShape="1">
            <a:blip r:embed="rId3">
              <a:alphaModFix/>
            </a:blip>
            <a:srcRect b="0" l="0" r="0" t="0"/>
            <a:stretch/>
          </p:blipFill>
          <p:spPr>
            <a:xfrm>
              <a:off x="4420400" y="1408525"/>
              <a:ext cx="519650" cy="538799"/>
            </a:xfrm>
            <a:prstGeom prst="rect">
              <a:avLst/>
            </a:prstGeom>
            <a:noFill/>
            <a:ln>
              <a:noFill/>
            </a:ln>
          </p:spPr>
        </p:pic>
      </p:grpSp>
      <p:grpSp>
        <p:nvGrpSpPr>
          <p:cNvPr id="5060" name="Google Shape;5060;p188"/>
          <p:cNvGrpSpPr/>
          <p:nvPr/>
        </p:nvGrpSpPr>
        <p:grpSpPr>
          <a:xfrm>
            <a:off x="2152280" y="1404581"/>
            <a:ext cx="1089527" cy="796339"/>
            <a:chOff x="579727" y="3932083"/>
            <a:chExt cx="1136700" cy="834300"/>
          </a:xfrm>
        </p:grpSpPr>
        <p:sp>
          <p:nvSpPr>
            <p:cNvPr id="5061" name="Google Shape;5061;p188"/>
            <p:cNvSpPr/>
            <p:nvPr/>
          </p:nvSpPr>
          <p:spPr>
            <a:xfrm>
              <a:off x="579727" y="3932083"/>
              <a:ext cx="1136700" cy="8343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Users</a:t>
              </a:r>
              <a:endParaRPr b="1" sz="1100">
                <a:latin typeface="DM Sans"/>
                <a:ea typeface="DM Sans"/>
                <a:cs typeface="DM Sans"/>
                <a:sym typeface="DM Sans"/>
              </a:endParaRPr>
            </a:p>
          </p:txBody>
        </p:sp>
        <p:pic>
          <p:nvPicPr>
            <p:cNvPr id="5062" name="Google Shape;5062;p188"/>
            <p:cNvPicPr preferRelativeResize="0"/>
            <p:nvPr/>
          </p:nvPicPr>
          <p:blipFill rotWithShape="1">
            <a:blip r:embed="rId4">
              <a:alphaModFix/>
            </a:blip>
            <a:srcRect b="0" l="0" r="0" t="0"/>
            <a:stretch/>
          </p:blipFill>
          <p:spPr>
            <a:xfrm>
              <a:off x="902076" y="4036810"/>
              <a:ext cx="492600" cy="492766"/>
            </a:xfrm>
            <a:prstGeom prst="rect">
              <a:avLst/>
            </a:prstGeom>
            <a:noFill/>
            <a:ln>
              <a:noFill/>
            </a:ln>
          </p:spPr>
        </p:pic>
      </p:grpSp>
      <p:cxnSp>
        <p:nvCxnSpPr>
          <p:cNvPr id="5063" name="Google Shape;5063;p188"/>
          <p:cNvCxnSpPr/>
          <p:nvPr/>
        </p:nvCxnSpPr>
        <p:spPr>
          <a:xfrm rot="5400000">
            <a:off x="2313325" y="2512622"/>
            <a:ext cx="623400" cy="0"/>
          </a:xfrm>
          <a:prstGeom prst="straightConnector1">
            <a:avLst/>
          </a:prstGeom>
          <a:noFill/>
          <a:ln cap="flat" cmpd="sng" w="19050">
            <a:solidFill>
              <a:srgbClr val="618794"/>
            </a:solidFill>
            <a:prstDash val="dash"/>
            <a:round/>
            <a:headEnd len="med" w="med" type="none"/>
            <a:tailEnd len="med" w="med" type="triangle"/>
          </a:ln>
        </p:spPr>
      </p:cxnSp>
      <p:cxnSp>
        <p:nvCxnSpPr>
          <p:cNvPr id="5064" name="Google Shape;5064;p188"/>
          <p:cNvCxnSpPr/>
          <p:nvPr/>
        </p:nvCxnSpPr>
        <p:spPr>
          <a:xfrm rot="-5400000">
            <a:off x="2457375" y="2512872"/>
            <a:ext cx="623400" cy="0"/>
          </a:xfrm>
          <a:prstGeom prst="straightConnector1">
            <a:avLst/>
          </a:prstGeom>
          <a:noFill/>
          <a:ln cap="flat" cmpd="sng" w="19050">
            <a:solidFill>
              <a:srgbClr val="618794"/>
            </a:solidFill>
            <a:prstDash val="dash"/>
            <a:round/>
            <a:headEnd len="med" w="med" type="none"/>
            <a:tailEnd len="med" w="med" type="triangle"/>
          </a:ln>
        </p:spPr>
      </p:cxnSp>
      <p:cxnSp>
        <p:nvCxnSpPr>
          <p:cNvPr id="5065" name="Google Shape;5065;p188"/>
          <p:cNvCxnSpPr/>
          <p:nvPr/>
        </p:nvCxnSpPr>
        <p:spPr>
          <a:xfrm>
            <a:off x="3241851" y="3222675"/>
            <a:ext cx="920700" cy="0"/>
          </a:xfrm>
          <a:prstGeom prst="straightConnector1">
            <a:avLst/>
          </a:prstGeom>
          <a:noFill/>
          <a:ln cap="flat" cmpd="sng" w="19050">
            <a:solidFill>
              <a:srgbClr val="618794"/>
            </a:solidFill>
            <a:prstDash val="dash"/>
            <a:round/>
            <a:headEnd len="med" w="med" type="none"/>
            <a:tailEnd len="med" w="med" type="triangle"/>
          </a:ln>
        </p:spPr>
      </p:cxnSp>
      <p:grpSp>
        <p:nvGrpSpPr>
          <p:cNvPr id="5066" name="Google Shape;5066;p188"/>
          <p:cNvGrpSpPr/>
          <p:nvPr/>
        </p:nvGrpSpPr>
        <p:grpSpPr>
          <a:xfrm>
            <a:off x="2152238" y="2824819"/>
            <a:ext cx="1089600" cy="796200"/>
            <a:chOff x="5680405" y="2153119"/>
            <a:chExt cx="1089600" cy="796200"/>
          </a:xfrm>
        </p:grpSpPr>
        <p:sp>
          <p:nvSpPr>
            <p:cNvPr id="5067" name="Google Shape;5067;p188"/>
            <p:cNvSpPr/>
            <p:nvPr/>
          </p:nvSpPr>
          <p:spPr>
            <a:xfrm>
              <a:off x="5680405" y="2153119"/>
              <a:ext cx="1089600" cy="7962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b="1" lang="en" sz="1100">
                  <a:latin typeface="DM Sans"/>
                  <a:ea typeface="DM Sans"/>
                  <a:cs typeface="DM Sans"/>
                  <a:sym typeface="DM Sans"/>
                </a:rPr>
                <a:t>External</a:t>
              </a:r>
              <a:endParaRPr b="1" sz="1100">
                <a:latin typeface="DM Sans"/>
                <a:ea typeface="DM Sans"/>
                <a:cs typeface="DM Sans"/>
                <a:sym typeface="DM Sans"/>
              </a:endParaRPr>
            </a:p>
            <a:p>
              <a:pPr indent="0" lvl="0" marL="0" rtl="0" algn="ctr">
                <a:spcBef>
                  <a:spcPts val="0"/>
                </a:spcBef>
                <a:spcAft>
                  <a:spcPts val="0"/>
                </a:spcAft>
                <a:buNone/>
              </a:pPr>
              <a:r>
                <a:rPr b="1" lang="en" sz="1100">
                  <a:latin typeface="DM Sans"/>
                  <a:ea typeface="DM Sans"/>
                  <a:cs typeface="DM Sans"/>
                  <a:sym typeface="DM Sans"/>
                </a:rPr>
                <a:t>application</a:t>
              </a:r>
              <a:endParaRPr b="1" sz="1100">
                <a:latin typeface="DM Sans"/>
                <a:ea typeface="DM Sans"/>
                <a:cs typeface="DM Sans"/>
                <a:sym typeface="DM Sans"/>
              </a:endParaRPr>
            </a:p>
          </p:txBody>
        </p:sp>
        <p:pic>
          <p:nvPicPr>
            <p:cNvPr id="5068" name="Google Shape;5068;p188"/>
            <p:cNvPicPr preferRelativeResize="0"/>
            <p:nvPr/>
          </p:nvPicPr>
          <p:blipFill rotWithShape="1">
            <a:blip r:embed="rId5">
              <a:alphaModFix/>
            </a:blip>
            <a:srcRect b="-41422" l="-20704" r="-20718" t="0"/>
            <a:stretch/>
          </p:blipFill>
          <p:spPr>
            <a:xfrm>
              <a:off x="5989137" y="2207243"/>
              <a:ext cx="472159" cy="470185"/>
            </a:xfrm>
            <a:prstGeom prst="rect">
              <a:avLst/>
            </a:prstGeom>
            <a:noFill/>
            <a:ln>
              <a:noFill/>
            </a:ln>
          </p:spPr>
        </p:pic>
      </p:grpSp>
      <p:sp>
        <p:nvSpPr>
          <p:cNvPr id="5069" name="Google Shape;5069;p188"/>
          <p:cNvSpPr/>
          <p:nvPr/>
        </p:nvSpPr>
        <p:spPr>
          <a:xfrm>
            <a:off x="3171250" y="3228138"/>
            <a:ext cx="6921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Traces</a:t>
            </a:r>
            <a:endParaRPr sz="1100">
              <a:solidFill>
                <a:srgbClr val="666666"/>
              </a:solidFill>
              <a:latin typeface="DM Sans"/>
              <a:ea typeface="DM Sans"/>
              <a:cs typeface="DM Sans"/>
              <a:sym typeface="DM Sans"/>
            </a:endParaRPr>
          </a:p>
        </p:txBody>
      </p:sp>
      <p:sp>
        <p:nvSpPr>
          <p:cNvPr id="5070" name="Google Shape;5070;p188"/>
          <p:cNvSpPr txBox="1"/>
          <p:nvPr/>
        </p:nvSpPr>
        <p:spPr>
          <a:xfrm>
            <a:off x="0" y="0"/>
            <a:ext cx="119778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Production tracing /images/mlflow3/prod-tracing-overview-external.png</a:t>
            </a:r>
            <a:endParaRPr sz="200"/>
          </a:p>
        </p:txBody>
      </p:sp>
      <p:sp>
        <p:nvSpPr>
          <p:cNvPr id="5071" name="Google Shape;5071;p188"/>
          <p:cNvSpPr/>
          <p:nvPr/>
        </p:nvSpPr>
        <p:spPr>
          <a:xfrm>
            <a:off x="1873025" y="2388225"/>
            <a:ext cx="7521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Request</a:t>
            </a:r>
            <a:endParaRPr sz="1100">
              <a:solidFill>
                <a:srgbClr val="666666"/>
              </a:solidFill>
              <a:latin typeface="DM Sans"/>
              <a:ea typeface="DM Sans"/>
              <a:cs typeface="DM Sans"/>
              <a:sym typeface="DM Sans"/>
            </a:endParaRPr>
          </a:p>
        </p:txBody>
      </p:sp>
      <p:sp>
        <p:nvSpPr>
          <p:cNvPr id="5072" name="Google Shape;5072;p188"/>
          <p:cNvSpPr/>
          <p:nvPr/>
        </p:nvSpPr>
        <p:spPr>
          <a:xfrm>
            <a:off x="2776938" y="2388225"/>
            <a:ext cx="8373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Response</a:t>
            </a:r>
            <a:endParaRPr sz="1100">
              <a:solidFill>
                <a:srgbClr val="666666"/>
              </a:solidFill>
              <a:latin typeface="DM Sans"/>
              <a:ea typeface="DM Sans"/>
              <a:cs typeface="DM Sans"/>
              <a:sym typeface="DM Sans"/>
            </a:endParaRPr>
          </a:p>
        </p:txBody>
      </p:sp>
      <p:sp>
        <p:nvSpPr>
          <p:cNvPr id="5073" name="Google Shape;5073;p188"/>
          <p:cNvSpPr/>
          <p:nvPr/>
        </p:nvSpPr>
        <p:spPr>
          <a:xfrm>
            <a:off x="6554775" y="2824425"/>
            <a:ext cx="1278300" cy="796500"/>
          </a:xfrm>
          <a:prstGeom prst="can">
            <a:avLst>
              <a:gd fmla="val 25000" name="adj"/>
            </a:avLst>
          </a:prstGeom>
          <a:solidFill>
            <a:srgbClr val="EEEEEE"/>
          </a:solidFill>
          <a:ln cap="flat" cmpd="sng" w="28575">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DM Sans"/>
                <a:ea typeface="DM Sans"/>
                <a:cs typeface="DM Sans"/>
                <a:sym typeface="DM Sans"/>
              </a:rPr>
              <a:t>Monitoring</a:t>
            </a:r>
            <a:endParaRPr b="1" sz="1100">
              <a:latin typeface="DM Sans"/>
              <a:ea typeface="DM Sans"/>
              <a:cs typeface="DM Sans"/>
              <a:sym typeface="DM Sans"/>
            </a:endParaRPr>
          </a:p>
          <a:p>
            <a:pPr indent="0" lvl="0" marL="0" rtl="0" algn="ctr">
              <a:spcBef>
                <a:spcPts val="0"/>
              </a:spcBef>
              <a:spcAft>
                <a:spcPts val="0"/>
              </a:spcAft>
              <a:buNone/>
            </a:pPr>
            <a:r>
              <a:rPr b="1" lang="en" sz="1100">
                <a:latin typeface="DM Sans"/>
                <a:ea typeface="DM Sans"/>
                <a:cs typeface="DM Sans"/>
                <a:sym typeface="DM Sans"/>
              </a:rPr>
              <a:t>Delta table</a:t>
            </a:r>
            <a:endParaRPr b="1" sz="1100">
              <a:latin typeface="DM Sans"/>
              <a:ea typeface="DM Sans"/>
              <a:cs typeface="DM Sans"/>
              <a:sym typeface="DM Sans"/>
            </a:endParaRPr>
          </a:p>
        </p:txBody>
      </p:sp>
      <p:cxnSp>
        <p:nvCxnSpPr>
          <p:cNvPr id="5074" name="Google Shape;5074;p188"/>
          <p:cNvCxnSpPr>
            <a:endCxn id="5073" idx="2"/>
          </p:cNvCxnSpPr>
          <p:nvPr/>
        </p:nvCxnSpPr>
        <p:spPr>
          <a:xfrm>
            <a:off x="5375775" y="3222675"/>
            <a:ext cx="1179000" cy="0"/>
          </a:xfrm>
          <a:prstGeom prst="straightConnector1">
            <a:avLst/>
          </a:prstGeom>
          <a:noFill/>
          <a:ln cap="flat" cmpd="sng" w="19050">
            <a:solidFill>
              <a:srgbClr val="618794"/>
            </a:solidFill>
            <a:prstDash val="dash"/>
            <a:round/>
            <a:headEnd len="med" w="med" type="none"/>
            <a:tailEnd len="med" w="med" type="triangle"/>
          </a:ln>
        </p:spPr>
      </p:cxnSp>
      <p:sp>
        <p:nvSpPr>
          <p:cNvPr id="5075" name="Google Shape;5075;p188"/>
          <p:cNvSpPr/>
          <p:nvPr/>
        </p:nvSpPr>
        <p:spPr>
          <a:xfrm>
            <a:off x="5473950" y="3218975"/>
            <a:ext cx="982500" cy="4770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DM Sans"/>
                <a:ea typeface="DM Sans"/>
                <a:cs typeface="DM Sans"/>
                <a:sym typeface="DM Sans"/>
              </a:rPr>
              <a:t>Production monitoring</a:t>
            </a:r>
            <a:endParaRPr sz="1100">
              <a:solidFill>
                <a:srgbClr val="666666"/>
              </a:solidFill>
              <a:latin typeface="DM Sans"/>
              <a:ea typeface="DM Sans"/>
              <a:cs typeface="DM Sans"/>
              <a:sym typeface="DM San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9" name="Shape 5079"/>
        <p:cNvGrpSpPr/>
        <p:nvPr/>
      </p:nvGrpSpPr>
      <p:grpSpPr>
        <a:xfrm>
          <a:off x="0" y="0"/>
          <a:ext cx="0" cy="0"/>
          <a:chOff x="0" y="0"/>
          <a:chExt cx="0" cy="0"/>
        </a:xfrm>
      </p:grpSpPr>
      <p:sp>
        <p:nvSpPr>
          <p:cNvPr id="5080" name="Google Shape;5080;p189"/>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
        <p:nvSpPr>
          <p:cNvPr id="5081" name="Google Shape;5081;p189"/>
          <p:cNvSpPr/>
          <p:nvPr/>
        </p:nvSpPr>
        <p:spPr>
          <a:xfrm>
            <a:off x="3137150" y="2698175"/>
            <a:ext cx="2291700" cy="2482200"/>
          </a:xfrm>
          <a:prstGeom prst="roundRect">
            <a:avLst>
              <a:gd fmla="val 16667" name="adj"/>
            </a:avLst>
          </a:prstGeom>
          <a:noFill/>
          <a:ln cap="flat" cmpd="sng" w="9525">
            <a:solidFill>
              <a:srgbClr val="00ADD4"/>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5082" name="Google Shape;5082;p189"/>
          <p:cNvSpPr txBox="1"/>
          <p:nvPr/>
        </p:nvSpPr>
        <p:spPr>
          <a:xfrm>
            <a:off x="3640400" y="2823575"/>
            <a:ext cx="1743600" cy="126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Databricks Serverless Plane </a:t>
            </a:r>
            <a:endParaRPr sz="900">
              <a:solidFill>
                <a:srgbClr val="1B3139"/>
              </a:solidFill>
              <a:latin typeface="DM Sans"/>
              <a:ea typeface="DM Sans"/>
              <a:cs typeface="DM Sans"/>
              <a:sym typeface="DM Sans"/>
            </a:endParaRPr>
          </a:p>
        </p:txBody>
      </p:sp>
      <p:cxnSp>
        <p:nvCxnSpPr>
          <p:cNvPr id="5083" name="Google Shape;5083;p189"/>
          <p:cNvCxnSpPr/>
          <p:nvPr/>
        </p:nvCxnSpPr>
        <p:spPr>
          <a:xfrm flipH="1">
            <a:off x="6021964" y="6620700"/>
            <a:ext cx="1626900" cy="1500"/>
          </a:xfrm>
          <a:prstGeom prst="straightConnector1">
            <a:avLst/>
          </a:prstGeom>
          <a:noFill/>
          <a:ln cap="flat" cmpd="sng" w="19050">
            <a:solidFill>
              <a:srgbClr val="618794"/>
            </a:solidFill>
            <a:prstDash val="solid"/>
            <a:round/>
            <a:headEnd len="med" w="med" type="triangle"/>
            <a:tailEnd len="sm" w="sm" type="triangle"/>
          </a:ln>
        </p:spPr>
      </p:cxnSp>
      <p:sp>
        <p:nvSpPr>
          <p:cNvPr id="5084" name="Google Shape;5084;p189"/>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/_static/images/security/network/pl-azure.png</a:t>
            </a:r>
            <a:endParaRPr/>
          </a:p>
        </p:txBody>
      </p:sp>
      <p:sp>
        <p:nvSpPr>
          <p:cNvPr id="5085" name="Google Shape;5085;p189"/>
          <p:cNvSpPr/>
          <p:nvPr/>
        </p:nvSpPr>
        <p:spPr>
          <a:xfrm>
            <a:off x="5929325" y="2655863"/>
            <a:ext cx="2445300" cy="2482200"/>
          </a:xfrm>
          <a:prstGeom prst="roundRect">
            <a:avLst>
              <a:gd fmla="val 16667" name="adj"/>
            </a:avLst>
          </a:prstGeom>
          <a:noFill/>
          <a:ln cap="flat" cmpd="sng" w="9525">
            <a:solidFill>
              <a:srgbClr val="03875C"/>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grpSp>
        <p:nvGrpSpPr>
          <p:cNvPr id="5086" name="Google Shape;5086;p189"/>
          <p:cNvGrpSpPr/>
          <p:nvPr/>
        </p:nvGrpSpPr>
        <p:grpSpPr>
          <a:xfrm>
            <a:off x="6244477" y="3049906"/>
            <a:ext cx="1819547" cy="1869988"/>
            <a:chOff x="1013125" y="382029"/>
            <a:chExt cx="2245800" cy="2282700"/>
          </a:xfrm>
        </p:grpSpPr>
        <p:sp>
          <p:nvSpPr>
            <p:cNvPr id="5087" name="Google Shape;5087;p189"/>
            <p:cNvSpPr/>
            <p:nvPr/>
          </p:nvSpPr>
          <p:spPr>
            <a:xfrm>
              <a:off x="1013125" y="382029"/>
              <a:ext cx="2245800" cy="2282700"/>
            </a:xfrm>
            <a:prstGeom prst="roundRect">
              <a:avLst>
                <a:gd fmla="val 5209" name="adj"/>
              </a:avLst>
            </a:prstGeom>
            <a:solidFill>
              <a:srgbClr val="FFFFFF"/>
            </a:solidFill>
            <a:ln cap="flat" cmpd="sng" w="9525">
              <a:solidFill>
                <a:srgbClr val="618794"/>
              </a:solidFill>
              <a:prstDash val="solid"/>
              <a:round/>
              <a:headEnd len="sm" w="sm" type="none"/>
              <a:tailEnd len="sm" w="sm" type="none"/>
            </a:ln>
          </p:spPr>
          <p:txBody>
            <a:bodyPr anchorCtr="0" anchor="t" bIns="51450" lIns="51450" spcFirstLastPara="1" rIns="51450" wrap="square" tIns="5145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Control plane</a:t>
              </a:r>
              <a:endParaRPr sz="900">
                <a:solidFill>
                  <a:srgbClr val="1B5162"/>
                </a:solidFill>
                <a:latin typeface="DM Sans Medium"/>
                <a:ea typeface="DM Sans Medium"/>
                <a:cs typeface="DM Sans Medium"/>
                <a:sym typeface="DM Sans Medium"/>
              </a:endParaRPr>
            </a:p>
          </p:txBody>
        </p:sp>
        <p:sp>
          <p:nvSpPr>
            <p:cNvPr id="5088" name="Google Shape;5088;p189"/>
            <p:cNvSpPr/>
            <p:nvPr/>
          </p:nvSpPr>
          <p:spPr>
            <a:xfrm>
              <a:off x="1193025" y="800753"/>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i="0" lang="en" sz="800" u="none" cap="none" strike="noStrike">
                  <a:solidFill>
                    <a:srgbClr val="1B3038"/>
                  </a:solidFill>
                  <a:latin typeface="DM Sans"/>
                  <a:ea typeface="DM Sans"/>
                  <a:cs typeface="DM Sans"/>
                  <a:sym typeface="DM Sans"/>
                </a:rPr>
                <a:t>Web </a:t>
              </a:r>
              <a:r>
                <a:rPr lang="en" sz="800">
                  <a:solidFill>
                    <a:srgbClr val="1B3038"/>
                  </a:solidFill>
                  <a:latin typeface="DM Sans"/>
                  <a:ea typeface="DM Sans"/>
                  <a:cs typeface="DM Sans"/>
                  <a:sym typeface="DM Sans"/>
                </a:rPr>
                <a:t>a</a:t>
              </a:r>
              <a:r>
                <a:rPr i="0" lang="en" sz="800" u="none" cap="none" strike="noStrike">
                  <a:solidFill>
                    <a:srgbClr val="1B3038"/>
                  </a:solidFill>
                  <a:latin typeface="DM Sans"/>
                  <a:ea typeface="DM Sans"/>
                  <a:cs typeface="DM Sans"/>
                  <a:sym typeface="DM Sans"/>
                </a:rPr>
                <a:t>pplication</a:t>
              </a:r>
              <a:endParaRPr i="0" sz="800" u="none" cap="none" strike="noStrike">
                <a:solidFill>
                  <a:srgbClr val="1B3038"/>
                </a:solidFill>
                <a:latin typeface="DM Sans"/>
                <a:ea typeface="DM Sans"/>
                <a:cs typeface="DM Sans"/>
                <a:sym typeface="DM Sans"/>
              </a:endParaRPr>
            </a:p>
          </p:txBody>
        </p:sp>
        <p:sp>
          <p:nvSpPr>
            <p:cNvPr id="5089" name="Google Shape;5089;p189"/>
            <p:cNvSpPr/>
            <p:nvPr/>
          </p:nvSpPr>
          <p:spPr>
            <a:xfrm>
              <a:off x="1193025" y="1688455"/>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Unity Catalog</a:t>
              </a:r>
              <a:endParaRPr sz="800">
                <a:solidFill>
                  <a:srgbClr val="1B3038"/>
                </a:solidFill>
                <a:latin typeface="DM Sans"/>
                <a:ea typeface="DM Sans"/>
                <a:cs typeface="DM Sans"/>
                <a:sym typeface="DM Sans"/>
              </a:endParaRPr>
            </a:p>
          </p:txBody>
        </p:sp>
        <p:sp>
          <p:nvSpPr>
            <p:cNvPr id="5090" name="Google Shape;5090;p189"/>
            <p:cNvSpPr/>
            <p:nvPr/>
          </p:nvSpPr>
          <p:spPr>
            <a:xfrm>
              <a:off x="1193025" y="21323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Queries and code</a:t>
              </a:r>
              <a:endParaRPr sz="800">
                <a:solidFill>
                  <a:srgbClr val="1B3038"/>
                </a:solidFill>
                <a:latin typeface="DM Sans"/>
                <a:ea typeface="DM Sans"/>
                <a:cs typeface="DM Sans"/>
                <a:sym typeface="DM Sans"/>
              </a:endParaRPr>
            </a:p>
          </p:txBody>
        </p:sp>
        <p:sp>
          <p:nvSpPr>
            <p:cNvPr id="5091" name="Google Shape;5091;p189"/>
            <p:cNvSpPr/>
            <p:nvPr/>
          </p:nvSpPr>
          <p:spPr>
            <a:xfrm>
              <a:off x="1193025" y="1244604"/>
              <a:ext cx="1950600" cy="374400"/>
            </a:xfrm>
            <a:prstGeom prst="roundRect">
              <a:avLst>
                <a:gd fmla="val 16667" name="adj"/>
              </a:avLst>
            </a:prstGeom>
            <a:solidFill>
              <a:srgbClr val="FFFFFF"/>
            </a:solidFill>
            <a:ln cap="flat" cmpd="sng" w="9525">
              <a:solidFill>
                <a:srgbClr val="61879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 sz="800">
                  <a:solidFill>
                    <a:srgbClr val="1B3038"/>
                  </a:solidFill>
                  <a:latin typeface="DM Sans"/>
                  <a:ea typeface="DM Sans"/>
                  <a:cs typeface="DM Sans"/>
                  <a:sym typeface="DM Sans"/>
                </a:rPr>
                <a:t>Compute orchestration</a:t>
              </a:r>
              <a:endParaRPr sz="800">
                <a:solidFill>
                  <a:srgbClr val="1B3038"/>
                </a:solidFill>
                <a:latin typeface="DM Sans"/>
                <a:ea typeface="DM Sans"/>
                <a:cs typeface="DM Sans"/>
                <a:sym typeface="DM Sans"/>
              </a:endParaRPr>
            </a:p>
          </p:txBody>
        </p:sp>
      </p:grpSp>
      <p:pic>
        <p:nvPicPr>
          <p:cNvPr id="5092" name="Google Shape;5092;p189"/>
          <p:cNvPicPr preferRelativeResize="0"/>
          <p:nvPr/>
        </p:nvPicPr>
        <p:blipFill>
          <a:blip r:embed="rId3">
            <a:alphaModFix/>
          </a:blip>
          <a:stretch>
            <a:fillRect/>
          </a:stretch>
        </p:blipFill>
        <p:spPr>
          <a:xfrm>
            <a:off x="6456518" y="2743836"/>
            <a:ext cx="188635" cy="212833"/>
          </a:xfrm>
          <a:prstGeom prst="rect">
            <a:avLst/>
          </a:prstGeom>
          <a:noFill/>
          <a:ln>
            <a:noFill/>
          </a:ln>
        </p:spPr>
      </p:pic>
      <p:sp>
        <p:nvSpPr>
          <p:cNvPr id="5093" name="Google Shape;5093;p189"/>
          <p:cNvSpPr txBox="1"/>
          <p:nvPr/>
        </p:nvSpPr>
        <p:spPr>
          <a:xfrm>
            <a:off x="6543575" y="2738525"/>
            <a:ext cx="1626900" cy="126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Databricks Control Plane</a:t>
            </a:r>
            <a:endParaRPr sz="1400">
              <a:solidFill>
                <a:srgbClr val="1B3139"/>
              </a:solidFill>
              <a:latin typeface="DM Sans"/>
              <a:ea typeface="DM Sans"/>
              <a:cs typeface="DM Sans"/>
              <a:sym typeface="DM Sans"/>
            </a:endParaRPr>
          </a:p>
        </p:txBody>
      </p:sp>
      <p:grpSp>
        <p:nvGrpSpPr>
          <p:cNvPr id="5094" name="Google Shape;5094;p189"/>
          <p:cNvGrpSpPr/>
          <p:nvPr/>
        </p:nvGrpSpPr>
        <p:grpSpPr>
          <a:xfrm>
            <a:off x="8993819" y="2589710"/>
            <a:ext cx="847162" cy="739340"/>
            <a:chOff x="91762" y="2601287"/>
            <a:chExt cx="1189500" cy="1083600"/>
          </a:xfrm>
        </p:grpSpPr>
        <p:sp>
          <p:nvSpPr>
            <p:cNvPr id="5095" name="Google Shape;5095;p189"/>
            <p:cNvSpPr/>
            <p:nvPr/>
          </p:nvSpPr>
          <p:spPr>
            <a:xfrm>
              <a:off x="91762" y="2601287"/>
              <a:ext cx="1189500" cy="10836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Users and applications</a:t>
              </a:r>
              <a:endParaRPr sz="900">
                <a:solidFill>
                  <a:srgbClr val="1B5162"/>
                </a:solidFill>
                <a:latin typeface="DM Sans Medium"/>
                <a:ea typeface="DM Sans Medium"/>
                <a:cs typeface="DM Sans Medium"/>
                <a:sym typeface="DM Sans Medium"/>
              </a:endParaRPr>
            </a:p>
          </p:txBody>
        </p:sp>
        <p:pic>
          <p:nvPicPr>
            <p:cNvPr id="5096" name="Google Shape;5096;p189"/>
            <p:cNvPicPr preferRelativeResize="0"/>
            <p:nvPr/>
          </p:nvPicPr>
          <p:blipFill rotWithShape="1">
            <a:blip r:embed="rId4">
              <a:alphaModFix/>
            </a:blip>
            <a:srcRect b="0" l="0" r="0" t="0"/>
            <a:stretch/>
          </p:blipFill>
          <p:spPr>
            <a:xfrm>
              <a:off x="452892" y="3143220"/>
              <a:ext cx="467236" cy="437700"/>
            </a:xfrm>
            <a:prstGeom prst="rect">
              <a:avLst/>
            </a:prstGeom>
            <a:noFill/>
            <a:ln>
              <a:noFill/>
            </a:ln>
          </p:spPr>
        </p:pic>
      </p:grpSp>
      <p:pic>
        <p:nvPicPr>
          <p:cNvPr id="5097" name="Google Shape;5097;p189"/>
          <p:cNvPicPr preferRelativeResize="0"/>
          <p:nvPr/>
        </p:nvPicPr>
        <p:blipFill>
          <a:blip r:embed="rId3">
            <a:alphaModFix/>
          </a:blip>
          <a:stretch>
            <a:fillRect/>
          </a:stretch>
        </p:blipFill>
        <p:spPr>
          <a:xfrm>
            <a:off x="3451768" y="2858636"/>
            <a:ext cx="188635" cy="212833"/>
          </a:xfrm>
          <a:prstGeom prst="rect">
            <a:avLst/>
          </a:prstGeom>
          <a:noFill/>
          <a:ln>
            <a:noFill/>
          </a:ln>
        </p:spPr>
      </p:pic>
      <p:sp>
        <p:nvSpPr>
          <p:cNvPr id="5098" name="Google Shape;5098;p189"/>
          <p:cNvSpPr/>
          <p:nvPr/>
        </p:nvSpPr>
        <p:spPr>
          <a:xfrm>
            <a:off x="3338625" y="3309700"/>
            <a:ext cx="1965300" cy="1744800"/>
          </a:xfrm>
          <a:prstGeom prst="roundRect">
            <a:avLst>
              <a:gd fmla="val 22689" name="adj"/>
            </a:avLst>
          </a:prstGeom>
          <a:noFill/>
          <a:ln cap="flat" cmpd="sng" w="9525">
            <a:solidFill>
              <a:srgbClr val="4359FF"/>
            </a:solidFill>
            <a:prstDash val="solid"/>
            <a:round/>
            <a:headEnd len="sm" w="sm" type="none"/>
            <a:tailEnd len="sm" w="sm" type="none"/>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None/>
            </a:pPr>
            <a:r>
              <a:rPr b="1" lang="en" sz="900">
                <a:solidFill>
                  <a:srgbClr val="1B5162"/>
                </a:solidFill>
                <a:latin typeface="DM Sans"/>
                <a:ea typeface="DM Sans"/>
                <a:cs typeface="DM Sans"/>
                <a:sym typeface="DM Sans"/>
              </a:rPr>
              <a:t>Your Security Group</a:t>
            </a:r>
            <a:endParaRPr b="1" i="0" sz="900" u="none" cap="none" strike="noStrike">
              <a:solidFill>
                <a:srgbClr val="1B5162"/>
              </a:solidFill>
              <a:latin typeface="DM Sans"/>
              <a:ea typeface="DM Sans"/>
              <a:cs typeface="DM Sans"/>
              <a:sym typeface="DM Sans"/>
            </a:endParaRPr>
          </a:p>
        </p:txBody>
      </p:sp>
      <p:sp>
        <p:nvSpPr>
          <p:cNvPr id="5099" name="Google Shape;5099;p189"/>
          <p:cNvSpPr txBox="1"/>
          <p:nvPr/>
        </p:nvSpPr>
        <p:spPr>
          <a:xfrm>
            <a:off x="3231913" y="3721388"/>
            <a:ext cx="11172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Dedicated Private </a:t>
            </a:r>
            <a:endParaRPr sz="900">
              <a:solidFill>
                <a:srgbClr val="1B5162"/>
              </a:solidFill>
              <a:latin typeface="DM Sans Medium"/>
              <a:ea typeface="DM Sans Medium"/>
              <a:cs typeface="DM Sans Medium"/>
              <a:sym typeface="DM Sans Medium"/>
            </a:endParaRPr>
          </a:p>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Endpoint</a:t>
            </a:r>
            <a:endParaRPr sz="2400">
              <a:solidFill>
                <a:schemeClr val="dk2"/>
              </a:solidFill>
            </a:endParaRPr>
          </a:p>
        </p:txBody>
      </p:sp>
      <p:sp>
        <p:nvSpPr>
          <p:cNvPr id="5100" name="Google Shape;5100;p189"/>
          <p:cNvSpPr/>
          <p:nvPr/>
        </p:nvSpPr>
        <p:spPr>
          <a:xfrm>
            <a:off x="8981394" y="3483485"/>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BI Apps</a:t>
            </a:r>
            <a:endParaRPr sz="900">
              <a:solidFill>
                <a:srgbClr val="1B5162"/>
              </a:solidFill>
              <a:latin typeface="DM Sans Medium"/>
              <a:ea typeface="DM Sans Medium"/>
              <a:cs typeface="DM Sans Medium"/>
              <a:sym typeface="DM Sans Medium"/>
            </a:endParaRPr>
          </a:p>
        </p:txBody>
      </p:sp>
      <p:sp>
        <p:nvSpPr>
          <p:cNvPr id="5101" name="Google Shape;5101;p189"/>
          <p:cNvSpPr/>
          <p:nvPr/>
        </p:nvSpPr>
        <p:spPr>
          <a:xfrm>
            <a:off x="8981394" y="4377260"/>
            <a:ext cx="847200" cy="739200"/>
          </a:xfrm>
          <a:prstGeom prst="roundRect">
            <a:avLst>
              <a:gd fmla="val 5492" name="adj"/>
            </a:avLst>
          </a:prstGeom>
          <a:solidFill>
            <a:srgbClr val="FFFFFF"/>
          </a:solidFill>
          <a:ln cap="flat" cmpd="sng" w="9525">
            <a:solidFill>
              <a:srgbClr val="00A97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rPr lang="en" sz="900">
                <a:solidFill>
                  <a:srgbClr val="1B5162"/>
                </a:solidFill>
                <a:latin typeface="DM Sans Medium"/>
                <a:ea typeface="DM Sans Medium"/>
                <a:cs typeface="DM Sans Medium"/>
                <a:sym typeface="DM Sans Medium"/>
              </a:rPr>
              <a:t>Delta Sharing </a:t>
            </a:r>
            <a:endParaRPr sz="900">
              <a:solidFill>
                <a:srgbClr val="1B5162"/>
              </a:solidFill>
              <a:latin typeface="DM Sans Medium"/>
              <a:ea typeface="DM Sans Medium"/>
              <a:cs typeface="DM Sans Medium"/>
              <a:sym typeface="DM Sans Medium"/>
            </a:endParaRPr>
          </a:p>
        </p:txBody>
      </p:sp>
      <p:pic>
        <p:nvPicPr>
          <p:cNvPr id="5102" name="Google Shape;5102;p189"/>
          <p:cNvPicPr preferRelativeResize="0"/>
          <p:nvPr/>
        </p:nvPicPr>
        <p:blipFill>
          <a:blip r:embed="rId5">
            <a:alphaModFix/>
          </a:blip>
          <a:stretch>
            <a:fillRect/>
          </a:stretch>
        </p:blipFill>
        <p:spPr>
          <a:xfrm>
            <a:off x="9242824" y="4779756"/>
            <a:ext cx="324300" cy="274693"/>
          </a:xfrm>
          <a:prstGeom prst="rect">
            <a:avLst/>
          </a:prstGeom>
          <a:noFill/>
          <a:ln cap="flat" cmpd="sng" w="9525">
            <a:solidFill>
              <a:srgbClr val="F9F7F4"/>
            </a:solidFill>
            <a:prstDash val="solid"/>
            <a:round/>
            <a:headEnd len="sm" w="sm" type="none"/>
            <a:tailEnd len="sm" w="sm" type="none"/>
          </a:ln>
        </p:spPr>
      </p:pic>
      <p:pic>
        <p:nvPicPr>
          <p:cNvPr descr="A picture containing object&#10;&#10;Description automatically generated" id="5103" name="Google Shape;5103;p189"/>
          <p:cNvPicPr preferRelativeResize="0"/>
          <p:nvPr/>
        </p:nvPicPr>
        <p:blipFill rotWithShape="1">
          <a:blip r:embed="rId6">
            <a:alphaModFix/>
          </a:blip>
          <a:srcRect b="17228" l="27702" r="26712" t="18025"/>
          <a:stretch/>
        </p:blipFill>
        <p:spPr>
          <a:xfrm>
            <a:off x="9061900" y="3912653"/>
            <a:ext cx="189040" cy="184421"/>
          </a:xfrm>
          <a:prstGeom prst="rect">
            <a:avLst/>
          </a:prstGeom>
          <a:noFill/>
          <a:ln cap="flat" cmpd="sng" w="9525">
            <a:solidFill>
              <a:srgbClr val="000000"/>
            </a:solidFill>
            <a:prstDash val="solid"/>
            <a:round/>
            <a:headEnd len="sm" w="sm" type="none"/>
            <a:tailEnd len="sm" w="sm" type="none"/>
          </a:ln>
        </p:spPr>
      </p:pic>
      <p:pic>
        <p:nvPicPr>
          <p:cNvPr id="5104" name="Google Shape;5104;p189"/>
          <p:cNvPicPr preferRelativeResize="0"/>
          <p:nvPr/>
        </p:nvPicPr>
        <p:blipFill rotWithShape="1">
          <a:blip r:embed="rId7">
            <a:alphaModFix/>
          </a:blip>
          <a:srcRect b="0" l="64446" r="0" t="0"/>
          <a:stretch/>
        </p:blipFill>
        <p:spPr>
          <a:xfrm>
            <a:off x="9556855" y="3912653"/>
            <a:ext cx="216044" cy="184421"/>
          </a:xfrm>
          <a:prstGeom prst="rect">
            <a:avLst/>
          </a:prstGeom>
          <a:noFill/>
          <a:ln cap="flat" cmpd="sng" w="9525">
            <a:solidFill>
              <a:srgbClr val="000000"/>
            </a:solidFill>
            <a:prstDash val="solid"/>
            <a:round/>
            <a:headEnd len="sm" w="sm" type="none"/>
            <a:tailEnd len="sm" w="sm" type="none"/>
          </a:ln>
        </p:spPr>
      </p:pic>
      <p:pic>
        <p:nvPicPr>
          <p:cNvPr id="5105" name="Google Shape;5105;p189"/>
          <p:cNvPicPr preferRelativeResize="0"/>
          <p:nvPr/>
        </p:nvPicPr>
        <p:blipFill rotWithShape="1">
          <a:blip r:embed="rId8">
            <a:alphaModFix/>
          </a:blip>
          <a:srcRect b="0" l="0" r="0" t="0"/>
          <a:stretch/>
        </p:blipFill>
        <p:spPr>
          <a:xfrm>
            <a:off x="9311683" y="3912653"/>
            <a:ext cx="184429" cy="184422"/>
          </a:xfrm>
          <a:prstGeom prst="rect">
            <a:avLst/>
          </a:prstGeom>
          <a:noFill/>
          <a:ln cap="flat" cmpd="sng" w="9525">
            <a:solidFill>
              <a:srgbClr val="000000"/>
            </a:solidFill>
            <a:prstDash val="solid"/>
            <a:round/>
            <a:headEnd len="sm" w="sm" type="none"/>
            <a:tailEnd len="sm" w="sm" type="none"/>
          </a:ln>
        </p:spPr>
      </p:pic>
      <p:pic>
        <p:nvPicPr>
          <p:cNvPr id="5106" name="Google Shape;5106;p189"/>
          <p:cNvPicPr preferRelativeResize="0"/>
          <p:nvPr/>
        </p:nvPicPr>
        <p:blipFill>
          <a:blip r:embed="rId9">
            <a:alphaModFix/>
          </a:blip>
          <a:stretch>
            <a:fillRect/>
          </a:stretch>
        </p:blipFill>
        <p:spPr>
          <a:xfrm>
            <a:off x="5586871" y="3810922"/>
            <a:ext cx="184426" cy="251050"/>
          </a:xfrm>
          <a:prstGeom prst="rect">
            <a:avLst/>
          </a:prstGeom>
          <a:noFill/>
          <a:ln>
            <a:noFill/>
          </a:ln>
        </p:spPr>
      </p:pic>
      <p:pic>
        <p:nvPicPr>
          <p:cNvPr id="5107" name="Google Shape;5107;p189"/>
          <p:cNvPicPr preferRelativeResize="0"/>
          <p:nvPr/>
        </p:nvPicPr>
        <p:blipFill>
          <a:blip r:embed="rId9">
            <a:alphaModFix/>
          </a:blip>
          <a:stretch>
            <a:fillRect/>
          </a:stretch>
        </p:blipFill>
        <p:spPr>
          <a:xfrm>
            <a:off x="8585796" y="2956672"/>
            <a:ext cx="184426" cy="251050"/>
          </a:xfrm>
          <a:prstGeom prst="rect">
            <a:avLst/>
          </a:prstGeom>
          <a:noFill/>
          <a:ln>
            <a:noFill/>
          </a:ln>
        </p:spPr>
      </p:pic>
      <p:pic>
        <p:nvPicPr>
          <p:cNvPr id="5108" name="Google Shape;5108;p189"/>
          <p:cNvPicPr preferRelativeResize="0"/>
          <p:nvPr/>
        </p:nvPicPr>
        <p:blipFill>
          <a:blip r:embed="rId9">
            <a:alphaModFix/>
          </a:blip>
          <a:stretch>
            <a:fillRect/>
          </a:stretch>
        </p:blipFill>
        <p:spPr>
          <a:xfrm>
            <a:off x="8585808" y="3727560"/>
            <a:ext cx="184426" cy="251050"/>
          </a:xfrm>
          <a:prstGeom prst="rect">
            <a:avLst/>
          </a:prstGeom>
          <a:noFill/>
          <a:ln>
            <a:noFill/>
          </a:ln>
        </p:spPr>
      </p:pic>
      <p:cxnSp>
        <p:nvCxnSpPr>
          <p:cNvPr id="5109" name="Google Shape;5109;p189"/>
          <p:cNvCxnSpPr>
            <a:endCxn id="5103" idx="1"/>
          </p:cNvCxnSpPr>
          <p:nvPr/>
        </p:nvCxnSpPr>
        <p:spPr>
          <a:xfrm>
            <a:off x="9061900" y="4004864"/>
            <a:ext cx="0" cy="0"/>
          </a:xfrm>
          <a:prstGeom prst="straightConnector1">
            <a:avLst/>
          </a:prstGeom>
          <a:noFill/>
          <a:ln cap="flat" cmpd="sng" w="9525">
            <a:solidFill>
              <a:schemeClr val="dk2"/>
            </a:solidFill>
            <a:prstDash val="solid"/>
            <a:round/>
            <a:headEnd len="med" w="med" type="none"/>
            <a:tailEnd len="med" w="med" type="none"/>
          </a:ln>
        </p:spPr>
      </p:cxnSp>
      <p:pic>
        <p:nvPicPr>
          <p:cNvPr id="5110" name="Google Shape;5110;p189"/>
          <p:cNvPicPr preferRelativeResize="0"/>
          <p:nvPr/>
        </p:nvPicPr>
        <p:blipFill>
          <a:blip r:embed="rId9">
            <a:alphaModFix/>
          </a:blip>
          <a:stretch>
            <a:fillRect/>
          </a:stretch>
        </p:blipFill>
        <p:spPr>
          <a:xfrm>
            <a:off x="8585808" y="4621335"/>
            <a:ext cx="184426" cy="251050"/>
          </a:xfrm>
          <a:prstGeom prst="rect">
            <a:avLst/>
          </a:prstGeom>
          <a:noFill/>
          <a:ln>
            <a:noFill/>
          </a:ln>
        </p:spPr>
      </p:pic>
      <p:cxnSp>
        <p:nvCxnSpPr>
          <p:cNvPr id="5111" name="Google Shape;5111;p189"/>
          <p:cNvCxnSpPr>
            <a:stCxn id="5101" idx="1"/>
            <a:endCxn id="5110" idx="3"/>
          </p:cNvCxnSpPr>
          <p:nvPr/>
        </p:nvCxnSpPr>
        <p:spPr>
          <a:xfrm rot="10800000">
            <a:off x="8770194" y="4746860"/>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5112" name="Google Shape;5112;p189"/>
          <p:cNvCxnSpPr>
            <a:stCxn id="5110" idx="1"/>
          </p:cNvCxnSpPr>
          <p:nvPr/>
        </p:nvCxnSpPr>
        <p:spPr>
          <a:xfrm rot="10800000">
            <a:off x="8371008" y="4746859"/>
            <a:ext cx="214800" cy="0"/>
          </a:xfrm>
          <a:prstGeom prst="straightConnector1">
            <a:avLst/>
          </a:prstGeom>
          <a:noFill/>
          <a:ln cap="flat" cmpd="sng" w="9525">
            <a:solidFill>
              <a:srgbClr val="618794"/>
            </a:solidFill>
            <a:prstDash val="solid"/>
            <a:round/>
            <a:headEnd len="med" w="med" type="none"/>
            <a:tailEnd len="med" w="med" type="none"/>
          </a:ln>
        </p:spPr>
      </p:cxnSp>
      <p:cxnSp>
        <p:nvCxnSpPr>
          <p:cNvPr id="5113" name="Google Shape;5113;p189"/>
          <p:cNvCxnSpPr>
            <a:stCxn id="5100" idx="1"/>
            <a:endCxn id="5108" idx="3"/>
          </p:cNvCxnSpPr>
          <p:nvPr/>
        </p:nvCxnSpPr>
        <p:spPr>
          <a:xfrm rot="10800000">
            <a:off x="8770194" y="38530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5114" name="Google Shape;5114;p189"/>
          <p:cNvCxnSpPr>
            <a:stCxn id="5108" idx="1"/>
            <a:endCxn id="5108" idx="1"/>
          </p:cNvCxnSpPr>
          <p:nvPr/>
        </p:nvCxnSpPr>
        <p:spPr>
          <a:xfrm>
            <a:off x="8585808" y="3853084"/>
            <a:ext cx="0" cy="0"/>
          </a:xfrm>
          <a:prstGeom prst="straightConnector1">
            <a:avLst/>
          </a:prstGeom>
          <a:noFill/>
          <a:ln cap="flat" cmpd="sng" w="9525">
            <a:solidFill>
              <a:schemeClr val="dk2"/>
            </a:solidFill>
            <a:prstDash val="solid"/>
            <a:round/>
            <a:headEnd len="med" w="med" type="none"/>
            <a:tailEnd len="med" w="med" type="none"/>
          </a:ln>
        </p:spPr>
      </p:cxnSp>
      <p:cxnSp>
        <p:nvCxnSpPr>
          <p:cNvPr id="5115" name="Google Shape;5115;p189"/>
          <p:cNvCxnSpPr/>
          <p:nvPr/>
        </p:nvCxnSpPr>
        <p:spPr>
          <a:xfrm rot="10800000">
            <a:off x="8372794" y="385308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5116" name="Google Shape;5116;p189"/>
          <p:cNvCxnSpPr/>
          <p:nvPr/>
        </p:nvCxnSpPr>
        <p:spPr>
          <a:xfrm rot="10800000">
            <a:off x="8770194" y="3084835"/>
            <a:ext cx="211200" cy="0"/>
          </a:xfrm>
          <a:prstGeom prst="straightConnector1">
            <a:avLst/>
          </a:prstGeom>
          <a:noFill/>
          <a:ln cap="flat" cmpd="sng" w="9525">
            <a:solidFill>
              <a:srgbClr val="618794"/>
            </a:solidFill>
            <a:prstDash val="solid"/>
            <a:round/>
            <a:headEnd len="med" w="med" type="none"/>
            <a:tailEnd len="med" w="med" type="none"/>
          </a:ln>
        </p:spPr>
      </p:cxnSp>
      <p:cxnSp>
        <p:nvCxnSpPr>
          <p:cNvPr id="5117" name="Google Shape;5117;p189"/>
          <p:cNvCxnSpPr/>
          <p:nvPr/>
        </p:nvCxnSpPr>
        <p:spPr>
          <a:xfrm rot="10800000">
            <a:off x="8372794" y="3084835"/>
            <a:ext cx="211200" cy="0"/>
          </a:xfrm>
          <a:prstGeom prst="straightConnector1">
            <a:avLst/>
          </a:prstGeom>
          <a:noFill/>
          <a:ln cap="flat" cmpd="sng" w="9525">
            <a:solidFill>
              <a:srgbClr val="618794"/>
            </a:solidFill>
            <a:prstDash val="solid"/>
            <a:round/>
            <a:headEnd len="med" w="med" type="none"/>
            <a:tailEnd len="med" w="med" type="none"/>
          </a:ln>
        </p:spPr>
      </p:cxnSp>
      <p:sp>
        <p:nvSpPr>
          <p:cNvPr id="5118" name="Google Shape;5118;p189"/>
          <p:cNvSpPr/>
          <p:nvPr/>
        </p:nvSpPr>
        <p:spPr>
          <a:xfrm>
            <a:off x="4234688" y="3813750"/>
            <a:ext cx="847200" cy="875400"/>
          </a:xfrm>
          <a:prstGeom prst="roundRect">
            <a:avLst>
              <a:gd fmla="val 16667" name="adj"/>
            </a:avLst>
          </a:prstGeom>
          <a:noFill/>
          <a:ln cap="flat" cmpd="sng" w="9525">
            <a:solidFill>
              <a:srgbClr val="EF64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Your</a:t>
            </a:r>
            <a:endParaRPr sz="900">
              <a:solidFill>
                <a:srgbClr val="1B5162"/>
              </a:solidFill>
              <a:latin typeface="DM Sans Medium"/>
              <a:ea typeface="DM Sans Medium"/>
              <a:cs typeface="DM Sans Medium"/>
              <a:sym typeface="DM Sans Medium"/>
            </a:endParaRPr>
          </a:p>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Compute</a:t>
            </a:r>
            <a:endParaRPr sz="900">
              <a:solidFill>
                <a:srgbClr val="1B5162"/>
              </a:solidFill>
              <a:latin typeface="DM Sans Medium"/>
              <a:ea typeface="DM Sans Medium"/>
              <a:cs typeface="DM Sans Medium"/>
              <a:sym typeface="DM Sans Medium"/>
            </a:endParaRPr>
          </a:p>
        </p:txBody>
      </p:sp>
      <p:cxnSp>
        <p:nvCxnSpPr>
          <p:cNvPr id="5119" name="Google Shape;5119;p189"/>
          <p:cNvCxnSpPr/>
          <p:nvPr/>
        </p:nvCxnSpPr>
        <p:spPr>
          <a:xfrm flipH="1">
            <a:off x="5428771" y="3936447"/>
            <a:ext cx="158100" cy="2700"/>
          </a:xfrm>
          <a:prstGeom prst="straightConnector1">
            <a:avLst/>
          </a:prstGeom>
          <a:noFill/>
          <a:ln cap="flat" cmpd="sng" w="9525">
            <a:solidFill>
              <a:srgbClr val="618794"/>
            </a:solidFill>
            <a:prstDash val="solid"/>
            <a:round/>
            <a:headEnd len="med" w="med" type="none"/>
            <a:tailEnd len="med" w="med" type="none"/>
          </a:ln>
        </p:spPr>
      </p:cxnSp>
      <p:cxnSp>
        <p:nvCxnSpPr>
          <p:cNvPr id="5120" name="Google Shape;5120;p189"/>
          <p:cNvCxnSpPr/>
          <p:nvPr/>
        </p:nvCxnSpPr>
        <p:spPr>
          <a:xfrm flipH="1">
            <a:off x="5757608" y="3937922"/>
            <a:ext cx="158100" cy="2700"/>
          </a:xfrm>
          <a:prstGeom prst="straightConnector1">
            <a:avLst/>
          </a:prstGeom>
          <a:noFill/>
          <a:ln cap="flat" cmpd="sng" w="9525">
            <a:solidFill>
              <a:srgbClr val="618794"/>
            </a:solidFill>
            <a:prstDash val="solid"/>
            <a:round/>
            <a:headEnd len="med" w="med" type="none"/>
            <a:tailEnd len="med" w="med" type="none"/>
          </a:ln>
        </p:spPr>
      </p:cxnSp>
      <p:sp>
        <p:nvSpPr>
          <p:cNvPr id="5121" name="Google Shape;5121;p189"/>
          <p:cNvSpPr/>
          <p:nvPr/>
        </p:nvSpPr>
        <p:spPr>
          <a:xfrm>
            <a:off x="1333525" y="2656050"/>
            <a:ext cx="1381500" cy="2482200"/>
          </a:xfrm>
          <a:prstGeom prst="roundRect">
            <a:avLst>
              <a:gd fmla="val 16667" name="adj"/>
            </a:avLst>
          </a:prstGeom>
          <a:noFill/>
          <a:ln cap="flat" cmpd="sng" w="9525">
            <a:solidFill>
              <a:srgbClr val="9900FF"/>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900">
              <a:solidFill>
                <a:srgbClr val="1B3139"/>
              </a:solidFill>
              <a:latin typeface="DM Sans"/>
              <a:ea typeface="DM Sans"/>
              <a:cs typeface="DM Sans"/>
              <a:sym typeface="DM Sans"/>
            </a:endParaRPr>
          </a:p>
        </p:txBody>
      </p:sp>
      <p:sp>
        <p:nvSpPr>
          <p:cNvPr id="5122" name="Google Shape;5122;p189"/>
          <p:cNvSpPr txBox="1"/>
          <p:nvPr/>
        </p:nvSpPr>
        <p:spPr>
          <a:xfrm>
            <a:off x="1776175" y="2707700"/>
            <a:ext cx="791700" cy="2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B5162"/>
                </a:solidFill>
                <a:latin typeface="DM Sans Medium"/>
                <a:ea typeface="DM Sans Medium"/>
                <a:cs typeface="DM Sans Medium"/>
                <a:sym typeface="DM Sans Medium"/>
              </a:rPr>
              <a:t>Your VNet</a:t>
            </a:r>
            <a:endParaRPr sz="2400">
              <a:solidFill>
                <a:schemeClr val="dk2"/>
              </a:solidFill>
            </a:endParaRPr>
          </a:p>
        </p:txBody>
      </p:sp>
      <p:sp>
        <p:nvSpPr>
          <p:cNvPr id="5123" name="Google Shape;5123;p189"/>
          <p:cNvSpPr/>
          <p:nvPr/>
        </p:nvSpPr>
        <p:spPr>
          <a:xfrm>
            <a:off x="1498750" y="3146188"/>
            <a:ext cx="1000800" cy="944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4" name="Google Shape;5124;p189"/>
          <p:cNvSpPr/>
          <p:nvPr/>
        </p:nvSpPr>
        <p:spPr>
          <a:xfrm>
            <a:off x="1499025" y="4446713"/>
            <a:ext cx="1000800" cy="600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5" name="Google Shape;5125;p189"/>
          <p:cNvSpPr txBox="1"/>
          <p:nvPr/>
        </p:nvSpPr>
        <p:spPr>
          <a:xfrm>
            <a:off x="1663250" y="3392500"/>
            <a:ext cx="234000" cy="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endParaRPr>
          </a:p>
        </p:txBody>
      </p:sp>
      <p:sp>
        <p:nvSpPr>
          <p:cNvPr id="5126" name="Google Shape;5126;p189"/>
          <p:cNvSpPr txBox="1"/>
          <p:nvPr/>
        </p:nvSpPr>
        <p:spPr>
          <a:xfrm>
            <a:off x="1520350" y="3090450"/>
            <a:ext cx="95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Private Subnet</a:t>
            </a:r>
            <a:endParaRPr>
              <a:solidFill>
                <a:schemeClr val="dk1"/>
              </a:solidFill>
            </a:endParaRPr>
          </a:p>
          <a:p>
            <a:pPr indent="0" lvl="0" marL="0" rtl="0" algn="ctr">
              <a:spcBef>
                <a:spcPts val="0"/>
              </a:spcBef>
              <a:spcAft>
                <a:spcPts val="0"/>
              </a:spcAft>
              <a:buNone/>
            </a:pPr>
            <a:r>
              <a:t/>
            </a:r>
            <a:endParaRPr sz="800">
              <a:solidFill>
                <a:srgbClr val="1B3038"/>
              </a:solidFill>
              <a:latin typeface="DM Sans"/>
              <a:ea typeface="DM Sans"/>
              <a:cs typeface="DM Sans"/>
              <a:sym typeface="DM Sans"/>
            </a:endParaRPr>
          </a:p>
        </p:txBody>
      </p:sp>
      <p:sp>
        <p:nvSpPr>
          <p:cNvPr id="5127" name="Google Shape;5127;p189"/>
          <p:cNvSpPr txBox="1"/>
          <p:nvPr/>
        </p:nvSpPr>
        <p:spPr>
          <a:xfrm>
            <a:off x="1520625" y="3624513"/>
            <a:ext cx="95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Standard Load Balancer</a:t>
            </a:r>
            <a:endParaRPr/>
          </a:p>
        </p:txBody>
      </p:sp>
      <p:pic>
        <p:nvPicPr>
          <p:cNvPr id="5128" name="Google Shape;5128;p189"/>
          <p:cNvPicPr preferRelativeResize="0"/>
          <p:nvPr/>
        </p:nvPicPr>
        <p:blipFill>
          <a:blip r:embed="rId10">
            <a:alphaModFix/>
          </a:blip>
          <a:stretch>
            <a:fillRect/>
          </a:stretch>
        </p:blipFill>
        <p:spPr>
          <a:xfrm>
            <a:off x="1853315" y="4637799"/>
            <a:ext cx="234015" cy="274067"/>
          </a:xfrm>
          <a:prstGeom prst="rect">
            <a:avLst/>
          </a:prstGeom>
          <a:noFill/>
          <a:ln>
            <a:noFill/>
          </a:ln>
        </p:spPr>
      </p:pic>
      <p:sp>
        <p:nvSpPr>
          <p:cNvPr id="5129" name="Google Shape;5129;p189"/>
          <p:cNvSpPr txBox="1"/>
          <p:nvPr/>
        </p:nvSpPr>
        <p:spPr>
          <a:xfrm>
            <a:off x="1520625" y="4369050"/>
            <a:ext cx="9576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1B3038"/>
                </a:solidFill>
                <a:latin typeface="DM Sans"/>
                <a:ea typeface="DM Sans"/>
                <a:cs typeface="DM Sans"/>
                <a:sym typeface="DM Sans"/>
              </a:rPr>
              <a:t>Your Resources</a:t>
            </a:r>
            <a:endParaRPr>
              <a:solidFill>
                <a:schemeClr val="dk1"/>
              </a:solidFill>
            </a:endParaRPr>
          </a:p>
        </p:txBody>
      </p:sp>
      <p:cxnSp>
        <p:nvCxnSpPr>
          <p:cNvPr id="5130" name="Google Shape;5130;p189"/>
          <p:cNvCxnSpPr/>
          <p:nvPr/>
        </p:nvCxnSpPr>
        <p:spPr>
          <a:xfrm>
            <a:off x="2884975" y="3892425"/>
            <a:ext cx="0" cy="3300"/>
          </a:xfrm>
          <a:prstGeom prst="straightConnector1">
            <a:avLst/>
          </a:prstGeom>
          <a:noFill/>
          <a:ln cap="flat" cmpd="sng" w="9525">
            <a:solidFill>
              <a:srgbClr val="618794"/>
            </a:solidFill>
            <a:prstDash val="solid"/>
            <a:round/>
            <a:headEnd len="med" w="med" type="none"/>
            <a:tailEnd len="med" w="med" type="none"/>
          </a:ln>
        </p:spPr>
      </p:cxnSp>
      <p:pic>
        <p:nvPicPr>
          <p:cNvPr id="5131" name="Google Shape;5131;p189" title="images.png"/>
          <p:cNvPicPr preferRelativeResize="0"/>
          <p:nvPr/>
        </p:nvPicPr>
        <p:blipFill>
          <a:blip r:embed="rId11">
            <a:alphaModFix/>
          </a:blip>
          <a:stretch>
            <a:fillRect/>
          </a:stretch>
        </p:blipFill>
        <p:spPr>
          <a:xfrm>
            <a:off x="1495800" y="2798855"/>
            <a:ext cx="324300" cy="188619"/>
          </a:xfrm>
          <a:prstGeom prst="rect">
            <a:avLst/>
          </a:prstGeom>
          <a:noFill/>
          <a:ln>
            <a:noFill/>
          </a:ln>
        </p:spPr>
      </p:pic>
      <p:pic>
        <p:nvPicPr>
          <p:cNvPr id="5132" name="Google Shape;5132;p189"/>
          <p:cNvPicPr preferRelativeResize="0"/>
          <p:nvPr/>
        </p:nvPicPr>
        <p:blipFill rotWithShape="1">
          <a:blip r:embed="rId12">
            <a:alphaModFix/>
          </a:blip>
          <a:srcRect b="0" l="21303" r="21274" t="0"/>
          <a:stretch/>
        </p:blipFill>
        <p:spPr>
          <a:xfrm>
            <a:off x="1820550" y="3392500"/>
            <a:ext cx="299541" cy="274275"/>
          </a:xfrm>
          <a:prstGeom prst="rect">
            <a:avLst/>
          </a:prstGeom>
          <a:noFill/>
          <a:ln>
            <a:noFill/>
          </a:ln>
        </p:spPr>
      </p:pic>
      <p:pic>
        <p:nvPicPr>
          <p:cNvPr id="5133" name="Google Shape;5133;p189"/>
          <p:cNvPicPr preferRelativeResize="0"/>
          <p:nvPr/>
        </p:nvPicPr>
        <p:blipFill>
          <a:blip r:embed="rId13">
            <a:alphaModFix/>
          </a:blip>
          <a:stretch>
            <a:fillRect/>
          </a:stretch>
        </p:blipFill>
        <p:spPr>
          <a:xfrm>
            <a:off x="3683338" y="4321702"/>
            <a:ext cx="344116" cy="307800"/>
          </a:xfrm>
          <a:prstGeom prst="rect">
            <a:avLst/>
          </a:prstGeom>
          <a:noFill/>
          <a:ln>
            <a:noFill/>
          </a:ln>
        </p:spPr>
      </p:pic>
      <p:cxnSp>
        <p:nvCxnSpPr>
          <p:cNvPr id="5134" name="Google Shape;5134;p189"/>
          <p:cNvCxnSpPr>
            <a:stCxn id="5133" idx="1"/>
            <a:endCxn id="5127" idx="3"/>
          </p:cNvCxnSpPr>
          <p:nvPr/>
        </p:nvCxnSpPr>
        <p:spPr>
          <a:xfrm rot="10800000">
            <a:off x="2478238" y="3840202"/>
            <a:ext cx="1205100" cy="635400"/>
          </a:xfrm>
          <a:prstGeom prst="straightConnector1">
            <a:avLst/>
          </a:prstGeom>
          <a:noFill/>
          <a:ln cap="flat" cmpd="sng" w="9525">
            <a:solidFill>
              <a:srgbClr val="618794"/>
            </a:solidFill>
            <a:prstDash val="solid"/>
            <a:round/>
            <a:headEnd len="med" w="med" type="none"/>
            <a:tailEnd len="med" w="med" type="triangle"/>
          </a:ln>
        </p:spPr>
      </p:cxnSp>
      <p:cxnSp>
        <p:nvCxnSpPr>
          <p:cNvPr id="5135" name="Google Shape;5135;p189"/>
          <p:cNvCxnSpPr/>
          <p:nvPr/>
        </p:nvCxnSpPr>
        <p:spPr>
          <a:xfrm rot="10800000">
            <a:off x="1999425" y="4111913"/>
            <a:ext cx="0" cy="313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9" name="Shape 5139"/>
        <p:cNvGrpSpPr/>
        <p:nvPr/>
      </p:nvGrpSpPr>
      <p:grpSpPr>
        <a:xfrm>
          <a:off x="0" y="0"/>
          <a:ext cx="0" cy="0"/>
          <a:chOff x="0" y="0"/>
          <a:chExt cx="0" cy="0"/>
        </a:xfrm>
      </p:grpSpPr>
      <p:sp>
        <p:nvSpPr>
          <p:cNvPr id="5140" name="Google Shape;5140;p190"/>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cxnSp>
        <p:nvCxnSpPr>
          <p:cNvPr id="5141" name="Google Shape;5141;p190"/>
          <p:cNvCxnSpPr/>
          <p:nvPr/>
        </p:nvCxnSpPr>
        <p:spPr>
          <a:xfrm flipH="1">
            <a:off x="6021964" y="6620700"/>
            <a:ext cx="1626900" cy="1500"/>
          </a:xfrm>
          <a:prstGeom prst="straightConnector1">
            <a:avLst/>
          </a:prstGeom>
          <a:noFill/>
          <a:ln cap="flat" cmpd="sng" w="19050">
            <a:solidFill>
              <a:srgbClr val="618794"/>
            </a:solidFill>
            <a:prstDash val="solid"/>
            <a:round/>
            <a:headEnd len="med" w="med" type="triangle"/>
            <a:tailEnd len="sm" w="sm" type="triangle"/>
          </a:ln>
        </p:spPr>
      </p:cxnSp>
      <p:sp>
        <p:nvSpPr>
          <p:cNvPr id="5142" name="Google Shape;5142;p190"/>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/_static/images/security/network/pl-azure.png</a:t>
            </a:r>
            <a:endParaRPr/>
          </a:p>
        </p:txBody>
      </p:sp>
      <p:sp>
        <p:nvSpPr>
          <p:cNvPr id="5143" name="Google Shape;5143;p190"/>
          <p:cNvSpPr/>
          <p:nvPr/>
        </p:nvSpPr>
        <p:spPr>
          <a:xfrm>
            <a:off x="5974500" y="2713200"/>
            <a:ext cx="1230000" cy="1885500"/>
          </a:xfrm>
          <a:prstGeom prst="roundRect">
            <a:avLst>
              <a:gd fmla="val 9090" name="adj"/>
            </a:avLst>
          </a:prstGeom>
          <a:solidFill>
            <a:srgbClr val="EFEFEF"/>
          </a:solidFill>
          <a:ln cap="flat" cmpd="sng" w="9525">
            <a:solidFill>
              <a:srgbClr val="618794"/>
            </a:solidFill>
            <a:prstDash val="solid"/>
            <a:round/>
            <a:headEnd len="sm" w="sm" type="none"/>
            <a:tailEnd len="sm" w="sm" type="none"/>
          </a:ln>
        </p:spPr>
        <p:txBody>
          <a:bodyPr anchorCtr="0" anchor="t" bIns="18275" lIns="0" spcFirstLastPara="1" rIns="0" wrap="square" tIns="18275">
            <a:noAutofit/>
          </a:bodyPr>
          <a:lstStyle/>
          <a:p>
            <a:pPr indent="0" lvl="0" marL="0" marR="0" rtl="0" algn="ctr">
              <a:lnSpc>
                <a:spcPct val="100000"/>
              </a:lnSpc>
              <a:spcBef>
                <a:spcPts val="0"/>
              </a:spcBef>
              <a:spcAft>
                <a:spcPts val="0"/>
              </a:spcAft>
              <a:buNone/>
            </a:pPr>
            <a:r>
              <a:rPr lang="en">
                <a:solidFill>
                  <a:srgbClr val="1B5162"/>
                </a:solidFill>
                <a:latin typeface="DM Sans Medium"/>
                <a:ea typeface="DM Sans Medium"/>
                <a:cs typeface="DM Sans Medium"/>
                <a:sym typeface="DM Sans Medium"/>
              </a:rPr>
              <a:t>Hub VPC</a:t>
            </a:r>
            <a:endParaRPr>
              <a:solidFill>
                <a:srgbClr val="1B5162"/>
              </a:solidFill>
              <a:latin typeface="DM Sans Medium"/>
              <a:ea typeface="DM Sans Medium"/>
              <a:cs typeface="DM Sans Medium"/>
              <a:sym typeface="DM Sans Medium"/>
            </a:endParaRPr>
          </a:p>
        </p:txBody>
      </p:sp>
      <p:sp>
        <p:nvSpPr>
          <p:cNvPr id="5144" name="Google Shape;5144;p190"/>
          <p:cNvSpPr/>
          <p:nvPr/>
        </p:nvSpPr>
        <p:spPr>
          <a:xfrm>
            <a:off x="4535750" y="2713200"/>
            <a:ext cx="1253700" cy="1885500"/>
          </a:xfrm>
          <a:prstGeom prst="roundRect">
            <a:avLst>
              <a:gd fmla="val 4606" name="adj"/>
            </a:avLst>
          </a:prstGeom>
          <a:solidFill>
            <a:srgbClr val="EFEFEF"/>
          </a:solidFill>
          <a:ln cap="flat" cmpd="sng" w="9525">
            <a:solidFill>
              <a:srgbClr val="618794"/>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lang="en">
                <a:solidFill>
                  <a:srgbClr val="1B5162"/>
                </a:solidFill>
                <a:latin typeface="DM Sans Medium"/>
                <a:ea typeface="DM Sans Medium"/>
                <a:cs typeface="DM Sans Medium"/>
                <a:sym typeface="DM Sans Medium"/>
              </a:rPr>
              <a:t>Transit VPC</a:t>
            </a:r>
            <a:endParaRPr sz="1200">
              <a:solidFill>
                <a:srgbClr val="1B5162"/>
              </a:solidFill>
              <a:latin typeface="DM Sans"/>
              <a:ea typeface="DM Sans"/>
              <a:cs typeface="DM Sans"/>
              <a:sym typeface="DM Sans"/>
            </a:endParaRPr>
          </a:p>
        </p:txBody>
      </p:sp>
      <p:sp>
        <p:nvSpPr>
          <p:cNvPr id="5145" name="Google Shape;5145;p190"/>
          <p:cNvSpPr/>
          <p:nvPr/>
        </p:nvSpPr>
        <p:spPr>
          <a:xfrm>
            <a:off x="2165500" y="2714875"/>
            <a:ext cx="1371300" cy="1885500"/>
          </a:xfrm>
          <a:prstGeom prst="roundRect">
            <a:avLst>
              <a:gd fmla="val 8167" name="adj"/>
            </a:avLst>
          </a:prstGeom>
          <a:solidFill>
            <a:srgbClr val="EFEFEF"/>
          </a:solidFill>
          <a:ln cap="flat" cmpd="sng" w="9525">
            <a:solidFill>
              <a:srgbClr val="618794"/>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lang="en">
                <a:solidFill>
                  <a:srgbClr val="1B5162"/>
                </a:solidFill>
                <a:latin typeface="DM Sans Medium"/>
                <a:ea typeface="DM Sans Medium"/>
                <a:cs typeface="DM Sans Medium"/>
                <a:sym typeface="DM Sans Medium"/>
              </a:rPr>
              <a:t>Customer on premises</a:t>
            </a:r>
            <a:endParaRPr>
              <a:solidFill>
                <a:srgbClr val="1B5162"/>
              </a:solidFill>
              <a:latin typeface="DM Sans Medium"/>
              <a:ea typeface="DM Sans Medium"/>
              <a:cs typeface="DM Sans Medium"/>
              <a:sym typeface="DM Sans Medium"/>
            </a:endParaRPr>
          </a:p>
        </p:txBody>
      </p:sp>
      <p:sp>
        <p:nvSpPr>
          <p:cNvPr id="5146" name="Google Shape;5146;p190"/>
          <p:cNvSpPr/>
          <p:nvPr/>
        </p:nvSpPr>
        <p:spPr>
          <a:xfrm>
            <a:off x="2701900" y="4133590"/>
            <a:ext cx="684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REST Client</a:t>
            </a:r>
            <a:endParaRPr sz="1100">
              <a:solidFill>
                <a:srgbClr val="1B5162"/>
              </a:solidFill>
              <a:latin typeface="DM Sans Medium"/>
              <a:ea typeface="DM Sans Medium"/>
              <a:cs typeface="DM Sans Medium"/>
              <a:sym typeface="DM Sans Medium"/>
            </a:endParaRPr>
          </a:p>
        </p:txBody>
      </p:sp>
      <p:cxnSp>
        <p:nvCxnSpPr>
          <p:cNvPr id="5147" name="Google Shape;5147;p190"/>
          <p:cNvCxnSpPr>
            <a:stCxn id="5148" idx="1"/>
          </p:cNvCxnSpPr>
          <p:nvPr/>
        </p:nvCxnSpPr>
        <p:spPr>
          <a:xfrm flipH="1">
            <a:off x="3631097" y="3929341"/>
            <a:ext cx="203700" cy="600"/>
          </a:xfrm>
          <a:prstGeom prst="bentConnector3">
            <a:avLst>
              <a:gd fmla="val 50000" name="adj1"/>
            </a:avLst>
          </a:prstGeom>
          <a:noFill/>
          <a:ln cap="flat" cmpd="sng" w="9525">
            <a:solidFill>
              <a:srgbClr val="1B3038"/>
            </a:solidFill>
            <a:prstDash val="solid"/>
            <a:round/>
            <a:headEnd len="sm" w="sm" type="none"/>
            <a:tailEnd len="sm" w="sm" type="none"/>
          </a:ln>
        </p:spPr>
      </p:cxnSp>
      <p:cxnSp>
        <p:nvCxnSpPr>
          <p:cNvPr id="5149" name="Google Shape;5149;p190"/>
          <p:cNvCxnSpPr>
            <a:stCxn id="5146" idx="3"/>
            <a:endCxn id="5150" idx="3"/>
          </p:cNvCxnSpPr>
          <p:nvPr/>
        </p:nvCxnSpPr>
        <p:spPr>
          <a:xfrm flipH="1" rot="10800000">
            <a:off x="3386200" y="3883240"/>
            <a:ext cx="600" cy="433800"/>
          </a:xfrm>
          <a:prstGeom prst="bentConnector3">
            <a:avLst>
              <a:gd fmla="val 39687500" name="adj1"/>
            </a:avLst>
          </a:prstGeom>
          <a:noFill/>
          <a:ln cap="flat" cmpd="sng" w="9525">
            <a:solidFill>
              <a:srgbClr val="1B3038"/>
            </a:solidFill>
            <a:prstDash val="solid"/>
            <a:round/>
            <a:headEnd len="med" w="med" type="none"/>
            <a:tailEnd len="med" w="med" type="none"/>
          </a:ln>
        </p:spPr>
      </p:cxnSp>
      <p:sp>
        <p:nvSpPr>
          <p:cNvPr id="5151" name="Google Shape;5151;p190"/>
          <p:cNvSpPr/>
          <p:nvPr/>
        </p:nvSpPr>
        <p:spPr>
          <a:xfrm>
            <a:off x="2701900" y="3258341"/>
            <a:ext cx="684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Browser</a:t>
            </a:r>
            <a:endParaRPr sz="1100">
              <a:solidFill>
                <a:srgbClr val="1B5162"/>
              </a:solidFill>
              <a:latin typeface="DM Sans Medium"/>
              <a:ea typeface="DM Sans Medium"/>
              <a:cs typeface="DM Sans Medium"/>
              <a:sym typeface="DM Sans Medium"/>
            </a:endParaRPr>
          </a:p>
        </p:txBody>
      </p:sp>
      <p:sp>
        <p:nvSpPr>
          <p:cNvPr id="5150" name="Google Shape;5150;p190"/>
          <p:cNvSpPr/>
          <p:nvPr/>
        </p:nvSpPr>
        <p:spPr>
          <a:xfrm>
            <a:off x="2701900" y="3699711"/>
            <a:ext cx="684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BI Tools</a:t>
            </a:r>
            <a:endParaRPr sz="1100">
              <a:solidFill>
                <a:srgbClr val="1B5162"/>
              </a:solidFill>
              <a:latin typeface="DM Sans Medium"/>
              <a:ea typeface="DM Sans Medium"/>
              <a:cs typeface="DM Sans Medium"/>
              <a:sym typeface="DM Sans Medium"/>
            </a:endParaRPr>
          </a:p>
        </p:txBody>
      </p:sp>
      <p:sp>
        <p:nvSpPr>
          <p:cNvPr id="5152" name="Google Shape;5152;p190"/>
          <p:cNvSpPr txBox="1"/>
          <p:nvPr/>
        </p:nvSpPr>
        <p:spPr>
          <a:xfrm>
            <a:off x="2092701" y="3952970"/>
            <a:ext cx="646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B5162"/>
                </a:solidFill>
                <a:latin typeface="DM Sans Medium"/>
                <a:ea typeface="DM Sans Medium"/>
                <a:cs typeface="DM Sans Medium"/>
                <a:sym typeface="DM Sans Medium"/>
              </a:rPr>
              <a:t>User</a:t>
            </a:r>
            <a:endParaRPr>
              <a:solidFill>
                <a:srgbClr val="1B5162"/>
              </a:solidFill>
              <a:latin typeface="DM Sans Medium"/>
              <a:ea typeface="DM Sans Medium"/>
              <a:cs typeface="DM Sans Medium"/>
              <a:sym typeface="DM Sans Medium"/>
            </a:endParaRPr>
          </a:p>
        </p:txBody>
      </p:sp>
      <p:grpSp>
        <p:nvGrpSpPr>
          <p:cNvPr id="5153" name="Google Shape;5153;p190"/>
          <p:cNvGrpSpPr/>
          <p:nvPr/>
        </p:nvGrpSpPr>
        <p:grpSpPr>
          <a:xfrm>
            <a:off x="2320851" y="3583354"/>
            <a:ext cx="190500" cy="443831"/>
            <a:chOff x="935392" y="2315522"/>
            <a:chExt cx="190500" cy="443831"/>
          </a:xfrm>
        </p:grpSpPr>
        <p:sp>
          <p:nvSpPr>
            <p:cNvPr id="5154" name="Google Shape;5154;p190"/>
            <p:cNvSpPr/>
            <p:nvPr/>
          </p:nvSpPr>
          <p:spPr>
            <a:xfrm>
              <a:off x="956792" y="2315522"/>
              <a:ext cx="147600" cy="147600"/>
            </a:xfrm>
            <a:prstGeom prst="ellipse">
              <a:avLst/>
            </a:prstGeom>
            <a:solidFill>
              <a:srgbClr val="E7E6E6"/>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190"/>
            <p:cNvSpPr/>
            <p:nvPr/>
          </p:nvSpPr>
          <p:spPr>
            <a:xfrm rot="-5400000">
              <a:off x="883492" y="2516953"/>
              <a:ext cx="294300" cy="190500"/>
            </a:xfrm>
            <a:prstGeom prst="flowChartDelay">
              <a:avLst/>
            </a:prstGeom>
            <a:solidFill>
              <a:srgbClr val="EEEDE9"/>
            </a:solidFill>
            <a:ln cap="flat" cmpd="sng" w="9525">
              <a:solidFill>
                <a:srgbClr val="1B516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cxnSp>
        <p:nvCxnSpPr>
          <p:cNvPr id="5156" name="Google Shape;5156;p190"/>
          <p:cNvCxnSpPr>
            <a:stCxn id="5151" idx="3"/>
            <a:endCxn id="5150" idx="3"/>
          </p:cNvCxnSpPr>
          <p:nvPr/>
        </p:nvCxnSpPr>
        <p:spPr>
          <a:xfrm>
            <a:off x="3386200" y="3441791"/>
            <a:ext cx="600" cy="441300"/>
          </a:xfrm>
          <a:prstGeom prst="bentConnector3">
            <a:avLst>
              <a:gd fmla="val 39687500" name="adj1"/>
            </a:avLst>
          </a:prstGeom>
          <a:noFill/>
          <a:ln cap="flat" cmpd="sng" w="9525">
            <a:solidFill>
              <a:srgbClr val="1B3038"/>
            </a:solidFill>
            <a:prstDash val="solid"/>
            <a:round/>
            <a:headEnd len="sm" w="sm" type="none"/>
            <a:tailEnd len="sm" w="sm" type="none"/>
          </a:ln>
        </p:spPr>
      </p:cxnSp>
      <p:sp>
        <p:nvSpPr>
          <p:cNvPr id="5157" name="Google Shape;5157;p190"/>
          <p:cNvSpPr/>
          <p:nvPr/>
        </p:nvSpPr>
        <p:spPr>
          <a:xfrm>
            <a:off x="7566334" y="3889158"/>
            <a:ext cx="62700" cy="8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158" name="Google Shape;5158;p190"/>
          <p:cNvSpPr/>
          <p:nvPr/>
        </p:nvSpPr>
        <p:spPr>
          <a:xfrm>
            <a:off x="3813317" y="2714883"/>
            <a:ext cx="379500" cy="239100"/>
          </a:xfrm>
          <a:prstGeom prst="roundRect">
            <a:avLst>
              <a:gd fmla="val 16667" name="adj"/>
            </a:avLst>
          </a:prstGeom>
          <a:solidFill>
            <a:srgbClr val="FFFFFF"/>
          </a:solidFill>
          <a:ln cap="flat" cmpd="sng" w="9525">
            <a:solidFill>
              <a:srgbClr val="1B5162"/>
            </a:solidFill>
            <a:prstDash val="dash"/>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DNS</a:t>
            </a:r>
            <a:endParaRPr baseline="30000" sz="1100">
              <a:solidFill>
                <a:srgbClr val="1B5162"/>
              </a:solidFill>
              <a:latin typeface="DM Sans Medium"/>
              <a:ea typeface="DM Sans Medium"/>
              <a:cs typeface="DM Sans Medium"/>
              <a:sym typeface="DM Sans Medium"/>
            </a:endParaRPr>
          </a:p>
        </p:txBody>
      </p:sp>
      <p:cxnSp>
        <p:nvCxnSpPr>
          <p:cNvPr id="5159" name="Google Shape;5159;p190"/>
          <p:cNvCxnSpPr>
            <a:stCxn id="5148" idx="3"/>
            <a:endCxn id="5160" idx="1"/>
          </p:cNvCxnSpPr>
          <p:nvPr/>
        </p:nvCxnSpPr>
        <p:spPr>
          <a:xfrm>
            <a:off x="4174697" y="3929341"/>
            <a:ext cx="785400" cy="600"/>
          </a:xfrm>
          <a:prstGeom prst="curvedConnector3">
            <a:avLst>
              <a:gd fmla="val 49993" name="adj1"/>
            </a:avLst>
          </a:prstGeom>
          <a:noFill/>
          <a:ln cap="flat" cmpd="sng" w="9525">
            <a:solidFill>
              <a:srgbClr val="1B5162"/>
            </a:solidFill>
            <a:prstDash val="solid"/>
            <a:round/>
            <a:headEnd len="sm" w="sm" type="none"/>
            <a:tailEnd len="sm" w="sm" type="triangle"/>
          </a:ln>
        </p:spPr>
      </p:cxnSp>
      <p:cxnSp>
        <p:nvCxnSpPr>
          <p:cNvPr id="5161" name="Google Shape;5161;p190"/>
          <p:cNvCxnSpPr>
            <a:stCxn id="5162" idx="1"/>
            <a:endCxn id="5160" idx="3"/>
          </p:cNvCxnSpPr>
          <p:nvPr/>
        </p:nvCxnSpPr>
        <p:spPr>
          <a:xfrm flipH="1">
            <a:off x="5299990" y="3929634"/>
            <a:ext cx="1120800" cy="600"/>
          </a:xfrm>
          <a:prstGeom prst="bentConnector3">
            <a:avLst>
              <a:gd fmla="val 50005" name="adj1"/>
            </a:avLst>
          </a:prstGeom>
          <a:noFill/>
          <a:ln cap="flat" cmpd="sng" w="9525">
            <a:solidFill>
              <a:srgbClr val="1B5162"/>
            </a:solidFill>
            <a:prstDash val="solid"/>
            <a:round/>
            <a:headEnd len="sm" w="sm" type="triangle"/>
            <a:tailEnd len="sm" w="sm" type="none"/>
          </a:ln>
        </p:spPr>
      </p:cxnSp>
      <p:grpSp>
        <p:nvGrpSpPr>
          <p:cNvPr id="5163" name="Google Shape;5163;p190"/>
          <p:cNvGrpSpPr/>
          <p:nvPr/>
        </p:nvGrpSpPr>
        <p:grpSpPr>
          <a:xfrm>
            <a:off x="6385247" y="3754744"/>
            <a:ext cx="339900" cy="349800"/>
            <a:chOff x="6768657" y="2766385"/>
            <a:chExt cx="339900" cy="349800"/>
          </a:xfrm>
        </p:grpSpPr>
        <p:sp>
          <p:nvSpPr>
            <p:cNvPr id="5164" name="Google Shape;5164;p190"/>
            <p:cNvSpPr/>
            <p:nvPr/>
          </p:nvSpPr>
          <p:spPr>
            <a:xfrm>
              <a:off x="6768657" y="2766385"/>
              <a:ext cx="339900" cy="349800"/>
            </a:xfrm>
            <a:prstGeom prst="roundRect">
              <a:avLst>
                <a:gd fmla="val 16667" name="adj"/>
              </a:avLst>
            </a:prstGeom>
            <a:solidFill>
              <a:srgbClr val="FFFFFF"/>
            </a:solidFill>
            <a:ln cap="flat" cmpd="sng" w="9525">
              <a:solidFill>
                <a:srgbClr val="FFAB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62" name="Google Shape;5162;p190"/>
            <p:cNvPicPr preferRelativeResize="0"/>
            <p:nvPr/>
          </p:nvPicPr>
          <p:blipFill>
            <a:blip r:embed="rId3">
              <a:alphaModFix/>
            </a:blip>
            <a:stretch>
              <a:fillRect/>
            </a:stretch>
          </p:blipFill>
          <p:spPr>
            <a:xfrm>
              <a:off x="6804200" y="2806925"/>
              <a:ext cx="268700" cy="268700"/>
            </a:xfrm>
            <a:prstGeom prst="rect">
              <a:avLst/>
            </a:prstGeom>
            <a:noFill/>
            <a:ln>
              <a:noFill/>
            </a:ln>
          </p:spPr>
        </p:pic>
      </p:grpSp>
      <p:grpSp>
        <p:nvGrpSpPr>
          <p:cNvPr id="5165" name="Google Shape;5165;p190"/>
          <p:cNvGrpSpPr/>
          <p:nvPr/>
        </p:nvGrpSpPr>
        <p:grpSpPr>
          <a:xfrm>
            <a:off x="6385247" y="3109035"/>
            <a:ext cx="339900" cy="349800"/>
            <a:chOff x="6768657" y="2766385"/>
            <a:chExt cx="339900" cy="349800"/>
          </a:xfrm>
        </p:grpSpPr>
        <p:sp>
          <p:nvSpPr>
            <p:cNvPr id="5166" name="Google Shape;5166;p190"/>
            <p:cNvSpPr/>
            <p:nvPr/>
          </p:nvSpPr>
          <p:spPr>
            <a:xfrm>
              <a:off x="6768657" y="2766385"/>
              <a:ext cx="339900" cy="349800"/>
            </a:xfrm>
            <a:prstGeom prst="roundRect">
              <a:avLst>
                <a:gd fmla="val 16667" name="adj"/>
              </a:avLst>
            </a:prstGeom>
            <a:solidFill>
              <a:srgbClr val="FFFFFF"/>
            </a:solidFill>
            <a:ln cap="flat" cmpd="sng" w="9525">
              <a:solidFill>
                <a:srgbClr val="FFAB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67" name="Google Shape;5167;p190"/>
            <p:cNvPicPr preferRelativeResize="0"/>
            <p:nvPr/>
          </p:nvPicPr>
          <p:blipFill>
            <a:blip r:embed="rId3">
              <a:alphaModFix/>
            </a:blip>
            <a:stretch>
              <a:fillRect/>
            </a:stretch>
          </p:blipFill>
          <p:spPr>
            <a:xfrm>
              <a:off x="6804200" y="2806925"/>
              <a:ext cx="268700" cy="268700"/>
            </a:xfrm>
            <a:prstGeom prst="rect">
              <a:avLst/>
            </a:prstGeom>
            <a:noFill/>
            <a:ln>
              <a:noFill/>
            </a:ln>
          </p:spPr>
        </p:pic>
      </p:grpSp>
      <p:cxnSp>
        <p:nvCxnSpPr>
          <p:cNvPr id="5168" name="Google Shape;5168;p190"/>
          <p:cNvCxnSpPr>
            <a:stCxn id="5164" idx="3"/>
          </p:cNvCxnSpPr>
          <p:nvPr/>
        </p:nvCxnSpPr>
        <p:spPr>
          <a:xfrm>
            <a:off x="6725147" y="3929644"/>
            <a:ext cx="776100" cy="0"/>
          </a:xfrm>
          <a:prstGeom prst="straightConnector1">
            <a:avLst/>
          </a:prstGeom>
          <a:noFill/>
          <a:ln cap="flat" cmpd="sng" w="9525">
            <a:solidFill>
              <a:srgbClr val="1B5162"/>
            </a:solidFill>
            <a:prstDash val="solid"/>
            <a:round/>
            <a:headEnd len="sm" w="sm" type="none"/>
            <a:tailEnd len="sm" w="sm" type="triangle"/>
          </a:ln>
        </p:spPr>
      </p:cxnSp>
      <p:sp>
        <p:nvSpPr>
          <p:cNvPr id="5169" name="Google Shape;5169;p190"/>
          <p:cNvSpPr/>
          <p:nvPr/>
        </p:nvSpPr>
        <p:spPr>
          <a:xfrm>
            <a:off x="6858644" y="4566747"/>
            <a:ext cx="62700" cy="8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170" name="Google Shape;5170;p190"/>
          <p:cNvSpPr txBox="1"/>
          <p:nvPr/>
        </p:nvSpPr>
        <p:spPr>
          <a:xfrm>
            <a:off x="3676986" y="4121077"/>
            <a:ext cx="719700" cy="498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AWS Direct Connect / VPN</a:t>
            </a:r>
            <a:endParaRPr sz="1000">
              <a:solidFill>
                <a:srgbClr val="1B5162"/>
              </a:solidFill>
              <a:latin typeface="DM Sans Medium"/>
              <a:ea typeface="DM Sans Medium"/>
              <a:cs typeface="DM Sans Medium"/>
              <a:sym typeface="DM Sans Medium"/>
            </a:endParaRPr>
          </a:p>
        </p:txBody>
      </p:sp>
      <p:grpSp>
        <p:nvGrpSpPr>
          <p:cNvPr id="5171" name="Google Shape;5171;p190"/>
          <p:cNvGrpSpPr/>
          <p:nvPr/>
        </p:nvGrpSpPr>
        <p:grpSpPr>
          <a:xfrm>
            <a:off x="3834797" y="3754441"/>
            <a:ext cx="339900" cy="349800"/>
            <a:chOff x="4903945" y="2770785"/>
            <a:chExt cx="339900" cy="349800"/>
          </a:xfrm>
        </p:grpSpPr>
        <p:cxnSp>
          <p:nvCxnSpPr>
            <p:cNvPr id="5172" name="Google Shape;5172;p190"/>
            <p:cNvCxnSpPr/>
            <p:nvPr/>
          </p:nvCxnSpPr>
          <p:spPr>
            <a:xfrm>
              <a:off x="4982209" y="3003734"/>
              <a:ext cx="125700" cy="0"/>
            </a:xfrm>
            <a:prstGeom prst="straightConnector1">
              <a:avLst/>
            </a:prstGeom>
            <a:noFill/>
            <a:ln cap="flat" cmpd="sng" w="9525">
              <a:solidFill>
                <a:srgbClr val="FFAB00"/>
              </a:solidFill>
              <a:prstDash val="solid"/>
              <a:round/>
              <a:headEnd len="med" w="med" type="none"/>
              <a:tailEnd len="med" w="med" type="none"/>
            </a:ln>
          </p:spPr>
        </p:cxnSp>
        <p:sp>
          <p:nvSpPr>
            <p:cNvPr id="5148" name="Google Shape;5148;p190"/>
            <p:cNvSpPr/>
            <p:nvPr/>
          </p:nvSpPr>
          <p:spPr>
            <a:xfrm>
              <a:off x="4903945" y="2770785"/>
              <a:ext cx="339900" cy="3498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73" name="Google Shape;5173;p190"/>
            <p:cNvPicPr preferRelativeResize="0"/>
            <p:nvPr/>
          </p:nvPicPr>
          <p:blipFill>
            <a:blip r:embed="rId4">
              <a:alphaModFix/>
            </a:blip>
            <a:stretch>
              <a:fillRect/>
            </a:stretch>
          </p:blipFill>
          <p:spPr>
            <a:xfrm>
              <a:off x="4943100" y="2810463"/>
              <a:ext cx="261625" cy="261625"/>
            </a:xfrm>
            <a:prstGeom prst="rect">
              <a:avLst/>
            </a:prstGeom>
            <a:noFill/>
            <a:ln>
              <a:noFill/>
            </a:ln>
          </p:spPr>
        </p:pic>
      </p:grpSp>
      <p:sp>
        <p:nvSpPr>
          <p:cNvPr id="5174" name="Google Shape;5174;p190"/>
          <p:cNvSpPr txBox="1"/>
          <p:nvPr/>
        </p:nvSpPr>
        <p:spPr>
          <a:xfrm>
            <a:off x="4552563" y="4121077"/>
            <a:ext cx="1134300" cy="498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AWS Direct </a:t>
            </a:r>
            <a:br>
              <a:rPr lang="en" sz="1000">
                <a:solidFill>
                  <a:srgbClr val="1B5162"/>
                </a:solidFill>
                <a:latin typeface="DM Sans Medium"/>
                <a:ea typeface="DM Sans Medium"/>
                <a:cs typeface="DM Sans Medium"/>
                <a:sym typeface="DM Sans Medium"/>
              </a:rPr>
            </a:br>
            <a:r>
              <a:rPr lang="en" sz="1000">
                <a:solidFill>
                  <a:srgbClr val="1B5162"/>
                </a:solidFill>
                <a:latin typeface="DM Sans Medium"/>
                <a:ea typeface="DM Sans Medium"/>
                <a:cs typeface="DM Sans Medium"/>
                <a:sym typeface="DM Sans Medium"/>
              </a:rPr>
              <a:t>Connect / </a:t>
            </a:r>
            <a:br>
              <a:rPr lang="en" sz="1000">
                <a:solidFill>
                  <a:srgbClr val="1B5162"/>
                </a:solidFill>
                <a:latin typeface="DM Sans Medium"/>
                <a:ea typeface="DM Sans Medium"/>
                <a:cs typeface="DM Sans Medium"/>
                <a:sym typeface="DM Sans Medium"/>
              </a:rPr>
            </a:br>
            <a:r>
              <a:rPr lang="en" sz="1000">
                <a:solidFill>
                  <a:srgbClr val="1B5162"/>
                </a:solidFill>
                <a:latin typeface="DM Sans Medium"/>
                <a:ea typeface="DM Sans Medium"/>
                <a:cs typeface="DM Sans Medium"/>
                <a:sym typeface="DM Sans Medium"/>
              </a:rPr>
              <a:t>VPN Gateway</a:t>
            </a:r>
            <a:endParaRPr sz="1000">
              <a:solidFill>
                <a:srgbClr val="1B5162"/>
              </a:solidFill>
              <a:latin typeface="DM Sans Medium"/>
              <a:ea typeface="DM Sans Medium"/>
              <a:cs typeface="DM Sans Medium"/>
              <a:sym typeface="DM Sans Medium"/>
            </a:endParaRPr>
          </a:p>
        </p:txBody>
      </p:sp>
      <p:grpSp>
        <p:nvGrpSpPr>
          <p:cNvPr id="5175" name="Google Shape;5175;p190"/>
          <p:cNvGrpSpPr/>
          <p:nvPr/>
        </p:nvGrpSpPr>
        <p:grpSpPr>
          <a:xfrm>
            <a:off x="4959980" y="3754744"/>
            <a:ext cx="339900" cy="349800"/>
            <a:chOff x="5848757" y="2770785"/>
            <a:chExt cx="339900" cy="349800"/>
          </a:xfrm>
        </p:grpSpPr>
        <p:sp>
          <p:nvSpPr>
            <p:cNvPr id="5160" name="Google Shape;5160;p190"/>
            <p:cNvSpPr/>
            <p:nvPr/>
          </p:nvSpPr>
          <p:spPr>
            <a:xfrm>
              <a:off x="5848757" y="2770785"/>
              <a:ext cx="339900" cy="3498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76" name="Google Shape;5176;p190"/>
            <p:cNvPicPr preferRelativeResize="0"/>
            <p:nvPr/>
          </p:nvPicPr>
          <p:blipFill>
            <a:blip r:embed="rId5">
              <a:alphaModFix/>
            </a:blip>
            <a:stretch>
              <a:fillRect/>
            </a:stretch>
          </p:blipFill>
          <p:spPr>
            <a:xfrm>
              <a:off x="5884300" y="2806925"/>
              <a:ext cx="268700" cy="268700"/>
            </a:xfrm>
            <a:prstGeom prst="rect">
              <a:avLst/>
            </a:prstGeom>
            <a:noFill/>
            <a:ln>
              <a:noFill/>
            </a:ln>
          </p:spPr>
        </p:pic>
      </p:grpSp>
      <p:sp>
        <p:nvSpPr>
          <p:cNvPr id="5177" name="Google Shape;5177;p190"/>
          <p:cNvSpPr/>
          <p:nvPr/>
        </p:nvSpPr>
        <p:spPr>
          <a:xfrm>
            <a:off x="7481758" y="2714875"/>
            <a:ext cx="2036400" cy="1885500"/>
          </a:xfrm>
          <a:prstGeom prst="roundRect">
            <a:avLst>
              <a:gd fmla="val 2890" name="adj"/>
            </a:avLst>
          </a:prstGeom>
          <a:solidFill>
            <a:srgbClr val="EFEFEF"/>
          </a:solidFill>
          <a:ln cap="flat" cmpd="sng" w="9525">
            <a:solidFill>
              <a:srgbClr val="FF5F46"/>
            </a:solidFill>
            <a:prstDash val="solid"/>
            <a:round/>
            <a:headEnd len="sm" w="sm" type="none"/>
            <a:tailEnd len="sm" w="sm" type="none"/>
          </a:ln>
        </p:spPr>
        <p:txBody>
          <a:bodyPr anchorCtr="0" anchor="t" bIns="91425" lIns="91425" spcFirstLastPara="1" rIns="91425" wrap="square" tIns="18275">
            <a:noAutofit/>
          </a:bodyPr>
          <a:lstStyle/>
          <a:p>
            <a:pPr indent="0" lvl="0" marL="0" rtl="0" algn="l">
              <a:spcBef>
                <a:spcPts val="0"/>
              </a:spcBef>
              <a:spcAft>
                <a:spcPts val="0"/>
              </a:spcAft>
              <a:buNone/>
            </a:pPr>
            <a:r>
              <a:rPr lang="en">
                <a:solidFill>
                  <a:srgbClr val="FF5F46"/>
                </a:solidFill>
                <a:latin typeface="DM Sans Medium"/>
                <a:ea typeface="DM Sans Medium"/>
                <a:cs typeface="DM Sans Medium"/>
                <a:sym typeface="DM Sans Medium"/>
              </a:rPr>
              <a:t>    Control Plane</a:t>
            </a:r>
            <a:r>
              <a:rPr lang="en" sz="1600">
                <a:solidFill>
                  <a:srgbClr val="FF5F46"/>
                </a:solidFill>
                <a:latin typeface="DM Sans Medium"/>
                <a:ea typeface="DM Sans Medium"/>
                <a:cs typeface="DM Sans Medium"/>
                <a:sym typeface="DM Sans Medium"/>
              </a:rPr>
              <a:t> </a:t>
            </a:r>
            <a:endParaRPr sz="1600">
              <a:solidFill>
                <a:srgbClr val="FF5F46"/>
              </a:solidFill>
              <a:latin typeface="DM Sans Medium"/>
              <a:ea typeface="DM Sans Medium"/>
              <a:cs typeface="DM Sans Medium"/>
              <a:sym typeface="DM Sans Medium"/>
            </a:endParaRPr>
          </a:p>
          <a:p>
            <a:pPr indent="0" lvl="0" marL="0" rtl="0" algn="ctr">
              <a:spcBef>
                <a:spcPts val="0"/>
              </a:spcBef>
              <a:spcAft>
                <a:spcPts val="0"/>
              </a:spcAft>
              <a:buNone/>
            </a:pPr>
            <a:r>
              <a:t/>
            </a:r>
            <a:endParaRPr sz="1600">
              <a:solidFill>
                <a:srgbClr val="FF5F46"/>
              </a:solidFill>
              <a:latin typeface="DM Sans Medium"/>
              <a:ea typeface="DM Sans Medium"/>
              <a:cs typeface="DM Sans Medium"/>
              <a:sym typeface="DM Sans Medium"/>
            </a:endParaRPr>
          </a:p>
        </p:txBody>
      </p:sp>
      <p:pic>
        <p:nvPicPr>
          <p:cNvPr id="5178" name="Google Shape;5178;p190"/>
          <p:cNvPicPr preferRelativeResize="0"/>
          <p:nvPr/>
        </p:nvPicPr>
        <p:blipFill rotWithShape="1">
          <a:blip r:embed="rId6">
            <a:alphaModFix/>
          </a:blip>
          <a:srcRect b="0" l="0" r="82955" t="0"/>
          <a:stretch/>
        </p:blipFill>
        <p:spPr>
          <a:xfrm>
            <a:off x="7552696" y="2796104"/>
            <a:ext cx="190500" cy="175858"/>
          </a:xfrm>
          <a:prstGeom prst="rect">
            <a:avLst/>
          </a:prstGeom>
          <a:noFill/>
          <a:ln>
            <a:noFill/>
          </a:ln>
        </p:spPr>
      </p:pic>
      <p:sp>
        <p:nvSpPr>
          <p:cNvPr id="5179" name="Google Shape;5179;p190"/>
          <p:cNvSpPr/>
          <p:nvPr/>
        </p:nvSpPr>
        <p:spPr>
          <a:xfrm>
            <a:off x="7538477" y="3332800"/>
            <a:ext cx="912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Workspace 1</a:t>
            </a:r>
            <a:endParaRPr sz="1100">
              <a:solidFill>
                <a:srgbClr val="1B5162"/>
              </a:solidFill>
              <a:latin typeface="DM Sans Medium"/>
              <a:ea typeface="DM Sans Medium"/>
              <a:cs typeface="DM Sans Medium"/>
              <a:sym typeface="DM Sans Medium"/>
            </a:endParaRPr>
          </a:p>
        </p:txBody>
      </p:sp>
      <p:sp>
        <p:nvSpPr>
          <p:cNvPr id="5180" name="Google Shape;5180;p190"/>
          <p:cNvSpPr/>
          <p:nvPr/>
        </p:nvSpPr>
        <p:spPr>
          <a:xfrm>
            <a:off x="8540284" y="3332800"/>
            <a:ext cx="912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Workspace 2</a:t>
            </a:r>
            <a:endParaRPr sz="1100">
              <a:solidFill>
                <a:srgbClr val="1B5162"/>
              </a:solidFill>
              <a:latin typeface="DM Sans Medium"/>
              <a:ea typeface="DM Sans Medium"/>
              <a:cs typeface="DM Sans Medium"/>
              <a:sym typeface="DM Sans Medium"/>
            </a:endParaRPr>
          </a:p>
        </p:txBody>
      </p:sp>
      <p:sp>
        <p:nvSpPr>
          <p:cNvPr id="5181" name="Google Shape;5181;p190"/>
          <p:cNvSpPr/>
          <p:nvPr/>
        </p:nvSpPr>
        <p:spPr>
          <a:xfrm>
            <a:off x="7538477" y="3883100"/>
            <a:ext cx="912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Workspace 3</a:t>
            </a:r>
            <a:endParaRPr sz="1100">
              <a:solidFill>
                <a:srgbClr val="1B5162"/>
              </a:solidFill>
              <a:latin typeface="DM Sans Medium"/>
              <a:ea typeface="DM Sans Medium"/>
              <a:cs typeface="DM Sans Medium"/>
              <a:sym typeface="DM Sans Medium"/>
            </a:endParaRPr>
          </a:p>
        </p:txBody>
      </p:sp>
      <p:sp>
        <p:nvSpPr>
          <p:cNvPr id="5182" name="Google Shape;5182;p190"/>
          <p:cNvSpPr/>
          <p:nvPr/>
        </p:nvSpPr>
        <p:spPr>
          <a:xfrm>
            <a:off x="8540284" y="3883100"/>
            <a:ext cx="912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Workspace N</a:t>
            </a:r>
            <a:endParaRPr sz="1100">
              <a:solidFill>
                <a:srgbClr val="1B5162"/>
              </a:solidFill>
              <a:latin typeface="DM Sans Medium"/>
              <a:ea typeface="DM Sans Medium"/>
              <a:cs typeface="DM Sans Medium"/>
              <a:sym typeface="DM Sans Medium"/>
            </a:endParaRPr>
          </a:p>
        </p:txBody>
      </p:sp>
      <p:cxnSp>
        <p:nvCxnSpPr>
          <p:cNvPr id="5183" name="Google Shape;5183;p190"/>
          <p:cNvCxnSpPr>
            <a:stCxn id="5176" idx="3"/>
            <a:endCxn id="5167" idx="1"/>
          </p:cNvCxnSpPr>
          <p:nvPr/>
        </p:nvCxnSpPr>
        <p:spPr>
          <a:xfrm flipH="1" rot="10800000">
            <a:off x="5264222" y="3283834"/>
            <a:ext cx="1156500" cy="641400"/>
          </a:xfrm>
          <a:prstGeom prst="straightConnector1">
            <a:avLst/>
          </a:prstGeom>
          <a:noFill/>
          <a:ln cap="flat" cmpd="sng" w="9525">
            <a:solidFill>
              <a:srgbClr val="1B5162"/>
            </a:solidFill>
            <a:prstDash val="dash"/>
            <a:round/>
            <a:headEnd len="sm" w="sm" type="triangle"/>
            <a:tailEnd len="sm" w="sm" type="triangle"/>
          </a:ln>
        </p:spPr>
      </p:cxnSp>
      <p:sp>
        <p:nvSpPr>
          <p:cNvPr id="5184" name="Google Shape;5184;p190"/>
          <p:cNvSpPr txBox="1"/>
          <p:nvPr/>
        </p:nvSpPr>
        <p:spPr>
          <a:xfrm>
            <a:off x="5988050" y="3487239"/>
            <a:ext cx="1134300" cy="239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DNS Inbound</a:t>
            </a:r>
            <a:endParaRPr sz="1000">
              <a:solidFill>
                <a:srgbClr val="1B5162"/>
              </a:solidFill>
              <a:latin typeface="DM Sans Medium"/>
              <a:ea typeface="DM Sans Medium"/>
              <a:cs typeface="DM Sans Medium"/>
              <a:sym typeface="DM Sans Medium"/>
            </a:endParaRPr>
          </a:p>
        </p:txBody>
      </p:sp>
      <p:sp>
        <p:nvSpPr>
          <p:cNvPr id="5185" name="Google Shape;5185;p190"/>
          <p:cNvSpPr txBox="1"/>
          <p:nvPr/>
        </p:nvSpPr>
        <p:spPr>
          <a:xfrm>
            <a:off x="5988050" y="4126426"/>
            <a:ext cx="1134300" cy="239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Front-end VPCE</a:t>
            </a:r>
            <a:endParaRPr sz="1000">
              <a:solidFill>
                <a:srgbClr val="1B5162"/>
              </a:solidFill>
              <a:latin typeface="DM Sans Medium"/>
              <a:ea typeface="DM Sans Medium"/>
              <a:cs typeface="DM Sans Medium"/>
              <a:sym typeface="DM Sans Medium"/>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9" name="Shape 5189"/>
        <p:cNvGrpSpPr/>
        <p:nvPr/>
      </p:nvGrpSpPr>
      <p:grpSpPr>
        <a:xfrm>
          <a:off x="0" y="0"/>
          <a:ext cx="0" cy="0"/>
          <a:chOff x="0" y="0"/>
          <a:chExt cx="0" cy="0"/>
        </a:xfrm>
      </p:grpSpPr>
      <p:sp>
        <p:nvSpPr>
          <p:cNvPr id="5190" name="Google Shape;5190;p191"/>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cxnSp>
        <p:nvCxnSpPr>
          <p:cNvPr id="5191" name="Google Shape;5191;p191"/>
          <p:cNvCxnSpPr/>
          <p:nvPr/>
        </p:nvCxnSpPr>
        <p:spPr>
          <a:xfrm flipH="1">
            <a:off x="6021964" y="6620700"/>
            <a:ext cx="1626900" cy="1500"/>
          </a:xfrm>
          <a:prstGeom prst="straightConnector1">
            <a:avLst/>
          </a:prstGeom>
          <a:noFill/>
          <a:ln cap="flat" cmpd="sng" w="19050">
            <a:solidFill>
              <a:srgbClr val="618794"/>
            </a:solidFill>
            <a:prstDash val="solid"/>
            <a:round/>
            <a:headEnd len="med" w="med" type="triangle"/>
            <a:tailEnd len="sm" w="sm" type="triangle"/>
          </a:ln>
        </p:spPr>
      </p:cxnSp>
      <p:sp>
        <p:nvSpPr>
          <p:cNvPr id="5192" name="Google Shape;5192;p191"/>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High-level architecture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/_static/images/security/network/pl-azure.png</a:t>
            </a:r>
            <a:endParaRPr/>
          </a:p>
        </p:txBody>
      </p:sp>
      <p:sp>
        <p:nvSpPr>
          <p:cNvPr id="5193" name="Google Shape;5193;p191"/>
          <p:cNvSpPr/>
          <p:nvPr/>
        </p:nvSpPr>
        <p:spPr>
          <a:xfrm>
            <a:off x="5795375" y="2213975"/>
            <a:ext cx="1230000" cy="1885500"/>
          </a:xfrm>
          <a:prstGeom prst="roundRect">
            <a:avLst>
              <a:gd fmla="val 9090" name="adj"/>
            </a:avLst>
          </a:prstGeom>
          <a:solidFill>
            <a:srgbClr val="EFEFEF"/>
          </a:solidFill>
          <a:ln cap="flat" cmpd="sng" w="9525">
            <a:solidFill>
              <a:srgbClr val="618794"/>
            </a:solidFill>
            <a:prstDash val="solid"/>
            <a:round/>
            <a:headEnd len="sm" w="sm" type="none"/>
            <a:tailEnd len="sm" w="sm" type="none"/>
          </a:ln>
        </p:spPr>
        <p:txBody>
          <a:bodyPr anchorCtr="0" anchor="t" bIns="18275" lIns="0" spcFirstLastPara="1" rIns="0" wrap="square" tIns="18275">
            <a:noAutofit/>
          </a:bodyPr>
          <a:lstStyle/>
          <a:p>
            <a:pPr indent="0" lvl="0" marL="0" marR="0" rtl="0" algn="ctr">
              <a:lnSpc>
                <a:spcPct val="100000"/>
              </a:lnSpc>
              <a:spcBef>
                <a:spcPts val="0"/>
              </a:spcBef>
              <a:spcAft>
                <a:spcPts val="0"/>
              </a:spcAft>
              <a:buNone/>
            </a:pPr>
            <a:r>
              <a:rPr lang="en">
                <a:solidFill>
                  <a:srgbClr val="1B5162"/>
                </a:solidFill>
                <a:latin typeface="DM Sans Medium"/>
                <a:ea typeface="DM Sans Medium"/>
                <a:cs typeface="DM Sans Medium"/>
                <a:sym typeface="DM Sans Medium"/>
              </a:rPr>
              <a:t>Prod VPC</a:t>
            </a:r>
            <a:endParaRPr>
              <a:solidFill>
                <a:srgbClr val="1B5162"/>
              </a:solidFill>
              <a:latin typeface="DM Sans Medium"/>
              <a:ea typeface="DM Sans Medium"/>
              <a:cs typeface="DM Sans Medium"/>
              <a:sym typeface="DM Sans Medium"/>
            </a:endParaRPr>
          </a:p>
        </p:txBody>
      </p:sp>
      <p:sp>
        <p:nvSpPr>
          <p:cNvPr id="5194" name="Google Shape;5194;p191"/>
          <p:cNvSpPr/>
          <p:nvPr/>
        </p:nvSpPr>
        <p:spPr>
          <a:xfrm>
            <a:off x="4356625" y="2213975"/>
            <a:ext cx="1253700" cy="1885500"/>
          </a:xfrm>
          <a:prstGeom prst="roundRect">
            <a:avLst>
              <a:gd fmla="val 4606" name="adj"/>
            </a:avLst>
          </a:prstGeom>
          <a:solidFill>
            <a:srgbClr val="EFEFEF"/>
          </a:solidFill>
          <a:ln cap="flat" cmpd="sng" w="9525">
            <a:solidFill>
              <a:srgbClr val="618794"/>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lang="en">
                <a:solidFill>
                  <a:srgbClr val="1B5162"/>
                </a:solidFill>
                <a:latin typeface="DM Sans Medium"/>
                <a:ea typeface="DM Sans Medium"/>
                <a:cs typeface="DM Sans Medium"/>
                <a:sym typeface="DM Sans Medium"/>
              </a:rPr>
              <a:t>Transit VPC</a:t>
            </a:r>
            <a:endParaRPr sz="1200">
              <a:solidFill>
                <a:srgbClr val="1B5162"/>
              </a:solidFill>
              <a:latin typeface="DM Sans"/>
              <a:ea typeface="DM Sans"/>
              <a:cs typeface="DM Sans"/>
              <a:sym typeface="DM Sans"/>
            </a:endParaRPr>
          </a:p>
        </p:txBody>
      </p:sp>
      <p:sp>
        <p:nvSpPr>
          <p:cNvPr id="5195" name="Google Shape;5195;p191"/>
          <p:cNvSpPr/>
          <p:nvPr/>
        </p:nvSpPr>
        <p:spPr>
          <a:xfrm>
            <a:off x="1986375" y="2215650"/>
            <a:ext cx="1371300" cy="1885500"/>
          </a:xfrm>
          <a:prstGeom prst="roundRect">
            <a:avLst>
              <a:gd fmla="val 8167" name="adj"/>
            </a:avLst>
          </a:prstGeom>
          <a:solidFill>
            <a:srgbClr val="EFEFEF"/>
          </a:solidFill>
          <a:ln cap="flat" cmpd="sng" w="9525">
            <a:solidFill>
              <a:srgbClr val="618794"/>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lang="en">
                <a:solidFill>
                  <a:srgbClr val="1B5162"/>
                </a:solidFill>
                <a:latin typeface="DM Sans Medium"/>
                <a:ea typeface="DM Sans Medium"/>
                <a:cs typeface="DM Sans Medium"/>
                <a:sym typeface="DM Sans Medium"/>
              </a:rPr>
              <a:t>Customer on premises</a:t>
            </a:r>
            <a:endParaRPr>
              <a:solidFill>
                <a:srgbClr val="1B5162"/>
              </a:solidFill>
              <a:latin typeface="DM Sans Medium"/>
              <a:ea typeface="DM Sans Medium"/>
              <a:cs typeface="DM Sans Medium"/>
              <a:sym typeface="DM Sans Medium"/>
            </a:endParaRPr>
          </a:p>
        </p:txBody>
      </p:sp>
      <p:sp>
        <p:nvSpPr>
          <p:cNvPr id="5196" name="Google Shape;5196;p191"/>
          <p:cNvSpPr/>
          <p:nvPr/>
        </p:nvSpPr>
        <p:spPr>
          <a:xfrm>
            <a:off x="2522775" y="3634365"/>
            <a:ext cx="684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REST Client</a:t>
            </a:r>
            <a:endParaRPr sz="1100">
              <a:solidFill>
                <a:srgbClr val="1B5162"/>
              </a:solidFill>
              <a:latin typeface="DM Sans Medium"/>
              <a:ea typeface="DM Sans Medium"/>
              <a:cs typeface="DM Sans Medium"/>
              <a:sym typeface="DM Sans Medium"/>
            </a:endParaRPr>
          </a:p>
        </p:txBody>
      </p:sp>
      <p:cxnSp>
        <p:nvCxnSpPr>
          <p:cNvPr id="5197" name="Google Shape;5197;p191"/>
          <p:cNvCxnSpPr>
            <a:stCxn id="5198" idx="1"/>
          </p:cNvCxnSpPr>
          <p:nvPr/>
        </p:nvCxnSpPr>
        <p:spPr>
          <a:xfrm flipH="1">
            <a:off x="3451972" y="3430116"/>
            <a:ext cx="203700" cy="600"/>
          </a:xfrm>
          <a:prstGeom prst="bentConnector3">
            <a:avLst>
              <a:gd fmla="val 50000" name="adj1"/>
            </a:avLst>
          </a:prstGeom>
          <a:noFill/>
          <a:ln cap="flat" cmpd="sng" w="9525">
            <a:solidFill>
              <a:srgbClr val="1B3038"/>
            </a:solidFill>
            <a:prstDash val="solid"/>
            <a:round/>
            <a:headEnd len="sm" w="sm" type="none"/>
            <a:tailEnd len="sm" w="sm" type="none"/>
          </a:ln>
        </p:spPr>
      </p:cxnSp>
      <p:cxnSp>
        <p:nvCxnSpPr>
          <p:cNvPr id="5199" name="Google Shape;5199;p191"/>
          <p:cNvCxnSpPr>
            <a:stCxn id="5196" idx="3"/>
            <a:endCxn id="5200" idx="3"/>
          </p:cNvCxnSpPr>
          <p:nvPr/>
        </p:nvCxnSpPr>
        <p:spPr>
          <a:xfrm flipH="1" rot="10800000">
            <a:off x="3207075" y="3384015"/>
            <a:ext cx="600" cy="433800"/>
          </a:xfrm>
          <a:prstGeom prst="bentConnector3">
            <a:avLst>
              <a:gd fmla="val 39687500" name="adj1"/>
            </a:avLst>
          </a:prstGeom>
          <a:noFill/>
          <a:ln cap="flat" cmpd="sng" w="9525">
            <a:solidFill>
              <a:srgbClr val="1B3038"/>
            </a:solidFill>
            <a:prstDash val="solid"/>
            <a:round/>
            <a:headEnd len="med" w="med" type="none"/>
            <a:tailEnd len="med" w="med" type="none"/>
          </a:ln>
        </p:spPr>
      </p:cxnSp>
      <p:sp>
        <p:nvSpPr>
          <p:cNvPr id="5201" name="Google Shape;5201;p191"/>
          <p:cNvSpPr/>
          <p:nvPr/>
        </p:nvSpPr>
        <p:spPr>
          <a:xfrm>
            <a:off x="2522775" y="2759116"/>
            <a:ext cx="684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Browser</a:t>
            </a:r>
            <a:endParaRPr sz="1100">
              <a:solidFill>
                <a:srgbClr val="1B5162"/>
              </a:solidFill>
              <a:latin typeface="DM Sans Medium"/>
              <a:ea typeface="DM Sans Medium"/>
              <a:cs typeface="DM Sans Medium"/>
              <a:sym typeface="DM Sans Medium"/>
            </a:endParaRPr>
          </a:p>
        </p:txBody>
      </p:sp>
      <p:sp>
        <p:nvSpPr>
          <p:cNvPr id="5200" name="Google Shape;5200;p191"/>
          <p:cNvSpPr/>
          <p:nvPr/>
        </p:nvSpPr>
        <p:spPr>
          <a:xfrm>
            <a:off x="2522775" y="3200486"/>
            <a:ext cx="684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BI Tools</a:t>
            </a:r>
            <a:endParaRPr sz="1100">
              <a:solidFill>
                <a:srgbClr val="1B5162"/>
              </a:solidFill>
              <a:latin typeface="DM Sans Medium"/>
              <a:ea typeface="DM Sans Medium"/>
              <a:cs typeface="DM Sans Medium"/>
              <a:sym typeface="DM Sans Medium"/>
            </a:endParaRPr>
          </a:p>
        </p:txBody>
      </p:sp>
      <p:sp>
        <p:nvSpPr>
          <p:cNvPr id="5202" name="Google Shape;5202;p191"/>
          <p:cNvSpPr txBox="1"/>
          <p:nvPr/>
        </p:nvSpPr>
        <p:spPr>
          <a:xfrm>
            <a:off x="1913576" y="3453745"/>
            <a:ext cx="646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B5162"/>
                </a:solidFill>
                <a:latin typeface="DM Sans Medium"/>
                <a:ea typeface="DM Sans Medium"/>
                <a:cs typeface="DM Sans Medium"/>
                <a:sym typeface="DM Sans Medium"/>
              </a:rPr>
              <a:t>User</a:t>
            </a:r>
            <a:endParaRPr>
              <a:solidFill>
                <a:srgbClr val="1B5162"/>
              </a:solidFill>
              <a:latin typeface="DM Sans Medium"/>
              <a:ea typeface="DM Sans Medium"/>
              <a:cs typeface="DM Sans Medium"/>
              <a:sym typeface="DM Sans Medium"/>
            </a:endParaRPr>
          </a:p>
        </p:txBody>
      </p:sp>
      <p:grpSp>
        <p:nvGrpSpPr>
          <p:cNvPr id="5203" name="Google Shape;5203;p191"/>
          <p:cNvGrpSpPr/>
          <p:nvPr/>
        </p:nvGrpSpPr>
        <p:grpSpPr>
          <a:xfrm>
            <a:off x="2141726" y="3084129"/>
            <a:ext cx="190500" cy="443831"/>
            <a:chOff x="935392" y="2315522"/>
            <a:chExt cx="190500" cy="443831"/>
          </a:xfrm>
        </p:grpSpPr>
        <p:sp>
          <p:nvSpPr>
            <p:cNvPr id="5204" name="Google Shape;5204;p191"/>
            <p:cNvSpPr/>
            <p:nvPr/>
          </p:nvSpPr>
          <p:spPr>
            <a:xfrm>
              <a:off x="956792" y="2315522"/>
              <a:ext cx="147600" cy="147600"/>
            </a:xfrm>
            <a:prstGeom prst="ellipse">
              <a:avLst/>
            </a:prstGeom>
            <a:solidFill>
              <a:srgbClr val="E7E6E6"/>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191"/>
            <p:cNvSpPr/>
            <p:nvPr/>
          </p:nvSpPr>
          <p:spPr>
            <a:xfrm rot="-5400000">
              <a:off x="883492" y="2516953"/>
              <a:ext cx="294300" cy="190500"/>
            </a:xfrm>
            <a:prstGeom prst="flowChartDelay">
              <a:avLst/>
            </a:prstGeom>
            <a:solidFill>
              <a:srgbClr val="EEEDE9"/>
            </a:solidFill>
            <a:ln cap="flat" cmpd="sng" w="9525">
              <a:solidFill>
                <a:srgbClr val="1B516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cxnSp>
        <p:nvCxnSpPr>
          <p:cNvPr id="5206" name="Google Shape;5206;p191"/>
          <p:cNvCxnSpPr>
            <a:stCxn id="5201" idx="3"/>
            <a:endCxn id="5200" idx="3"/>
          </p:cNvCxnSpPr>
          <p:nvPr/>
        </p:nvCxnSpPr>
        <p:spPr>
          <a:xfrm>
            <a:off x="3207075" y="2942566"/>
            <a:ext cx="600" cy="441300"/>
          </a:xfrm>
          <a:prstGeom prst="bentConnector3">
            <a:avLst>
              <a:gd fmla="val 39687500" name="adj1"/>
            </a:avLst>
          </a:prstGeom>
          <a:noFill/>
          <a:ln cap="flat" cmpd="sng" w="9525">
            <a:solidFill>
              <a:srgbClr val="1B3038"/>
            </a:solidFill>
            <a:prstDash val="solid"/>
            <a:round/>
            <a:headEnd len="sm" w="sm" type="none"/>
            <a:tailEnd len="sm" w="sm" type="none"/>
          </a:ln>
        </p:spPr>
      </p:cxnSp>
      <p:sp>
        <p:nvSpPr>
          <p:cNvPr id="5207" name="Google Shape;5207;p191"/>
          <p:cNvSpPr/>
          <p:nvPr/>
        </p:nvSpPr>
        <p:spPr>
          <a:xfrm>
            <a:off x="7387209" y="3389933"/>
            <a:ext cx="62700" cy="8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208" name="Google Shape;5208;p191"/>
          <p:cNvSpPr/>
          <p:nvPr/>
        </p:nvSpPr>
        <p:spPr>
          <a:xfrm>
            <a:off x="3634192" y="2215658"/>
            <a:ext cx="379500" cy="239100"/>
          </a:xfrm>
          <a:prstGeom prst="roundRect">
            <a:avLst>
              <a:gd fmla="val 16667" name="adj"/>
            </a:avLst>
          </a:prstGeom>
          <a:solidFill>
            <a:srgbClr val="FFFFFF"/>
          </a:solidFill>
          <a:ln cap="flat" cmpd="sng" w="9525">
            <a:solidFill>
              <a:srgbClr val="1B5162"/>
            </a:solidFill>
            <a:prstDash val="dash"/>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DNS</a:t>
            </a:r>
            <a:endParaRPr baseline="30000" sz="1100">
              <a:solidFill>
                <a:srgbClr val="1B5162"/>
              </a:solidFill>
              <a:latin typeface="DM Sans Medium"/>
              <a:ea typeface="DM Sans Medium"/>
              <a:cs typeface="DM Sans Medium"/>
              <a:sym typeface="DM Sans Medium"/>
            </a:endParaRPr>
          </a:p>
        </p:txBody>
      </p:sp>
      <p:cxnSp>
        <p:nvCxnSpPr>
          <p:cNvPr id="5209" name="Google Shape;5209;p191"/>
          <p:cNvCxnSpPr>
            <a:stCxn id="5198" idx="3"/>
            <a:endCxn id="5210" idx="1"/>
          </p:cNvCxnSpPr>
          <p:nvPr/>
        </p:nvCxnSpPr>
        <p:spPr>
          <a:xfrm>
            <a:off x="3995572" y="3430116"/>
            <a:ext cx="785400" cy="600"/>
          </a:xfrm>
          <a:prstGeom prst="curvedConnector3">
            <a:avLst>
              <a:gd fmla="val 49993" name="adj1"/>
            </a:avLst>
          </a:prstGeom>
          <a:noFill/>
          <a:ln cap="flat" cmpd="sng" w="9525">
            <a:solidFill>
              <a:srgbClr val="1B5162"/>
            </a:solidFill>
            <a:prstDash val="solid"/>
            <a:round/>
            <a:headEnd len="sm" w="sm" type="none"/>
            <a:tailEnd len="sm" w="sm" type="triangle"/>
          </a:ln>
        </p:spPr>
      </p:cxnSp>
      <p:cxnSp>
        <p:nvCxnSpPr>
          <p:cNvPr id="5211" name="Google Shape;5211;p191"/>
          <p:cNvCxnSpPr>
            <a:stCxn id="5212" idx="1"/>
            <a:endCxn id="5210" idx="3"/>
          </p:cNvCxnSpPr>
          <p:nvPr/>
        </p:nvCxnSpPr>
        <p:spPr>
          <a:xfrm flipH="1">
            <a:off x="5120865" y="3430409"/>
            <a:ext cx="1120800" cy="600"/>
          </a:xfrm>
          <a:prstGeom prst="bentConnector3">
            <a:avLst>
              <a:gd fmla="val 50005" name="adj1"/>
            </a:avLst>
          </a:prstGeom>
          <a:noFill/>
          <a:ln cap="flat" cmpd="sng" w="9525">
            <a:solidFill>
              <a:srgbClr val="1B5162"/>
            </a:solidFill>
            <a:prstDash val="solid"/>
            <a:round/>
            <a:headEnd len="sm" w="sm" type="triangle"/>
            <a:tailEnd len="sm" w="sm" type="none"/>
          </a:ln>
        </p:spPr>
      </p:cxnSp>
      <p:grpSp>
        <p:nvGrpSpPr>
          <p:cNvPr id="5213" name="Google Shape;5213;p191"/>
          <p:cNvGrpSpPr/>
          <p:nvPr/>
        </p:nvGrpSpPr>
        <p:grpSpPr>
          <a:xfrm>
            <a:off x="6206122" y="3255519"/>
            <a:ext cx="339900" cy="349800"/>
            <a:chOff x="6768657" y="2766385"/>
            <a:chExt cx="339900" cy="349800"/>
          </a:xfrm>
        </p:grpSpPr>
        <p:sp>
          <p:nvSpPr>
            <p:cNvPr id="5214" name="Google Shape;5214;p191"/>
            <p:cNvSpPr/>
            <p:nvPr/>
          </p:nvSpPr>
          <p:spPr>
            <a:xfrm>
              <a:off x="6768657" y="2766385"/>
              <a:ext cx="339900" cy="349800"/>
            </a:xfrm>
            <a:prstGeom prst="roundRect">
              <a:avLst>
                <a:gd fmla="val 16667" name="adj"/>
              </a:avLst>
            </a:prstGeom>
            <a:solidFill>
              <a:srgbClr val="FFFFFF"/>
            </a:solidFill>
            <a:ln cap="flat" cmpd="sng" w="9525">
              <a:solidFill>
                <a:srgbClr val="FFAB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12" name="Google Shape;5212;p191"/>
            <p:cNvPicPr preferRelativeResize="0"/>
            <p:nvPr/>
          </p:nvPicPr>
          <p:blipFill>
            <a:blip r:embed="rId3">
              <a:alphaModFix/>
            </a:blip>
            <a:stretch>
              <a:fillRect/>
            </a:stretch>
          </p:blipFill>
          <p:spPr>
            <a:xfrm>
              <a:off x="6804200" y="2806925"/>
              <a:ext cx="268700" cy="268700"/>
            </a:xfrm>
            <a:prstGeom prst="rect">
              <a:avLst/>
            </a:prstGeom>
            <a:noFill/>
            <a:ln>
              <a:noFill/>
            </a:ln>
          </p:spPr>
        </p:pic>
      </p:grpSp>
      <p:grpSp>
        <p:nvGrpSpPr>
          <p:cNvPr id="5215" name="Google Shape;5215;p191"/>
          <p:cNvGrpSpPr/>
          <p:nvPr/>
        </p:nvGrpSpPr>
        <p:grpSpPr>
          <a:xfrm>
            <a:off x="6206122" y="2609810"/>
            <a:ext cx="339900" cy="349800"/>
            <a:chOff x="6768657" y="2766385"/>
            <a:chExt cx="339900" cy="349800"/>
          </a:xfrm>
        </p:grpSpPr>
        <p:sp>
          <p:nvSpPr>
            <p:cNvPr id="5216" name="Google Shape;5216;p191"/>
            <p:cNvSpPr/>
            <p:nvPr/>
          </p:nvSpPr>
          <p:spPr>
            <a:xfrm>
              <a:off x="6768657" y="2766385"/>
              <a:ext cx="339900" cy="349800"/>
            </a:xfrm>
            <a:prstGeom prst="roundRect">
              <a:avLst>
                <a:gd fmla="val 16667" name="adj"/>
              </a:avLst>
            </a:prstGeom>
            <a:solidFill>
              <a:srgbClr val="FFFFFF"/>
            </a:solidFill>
            <a:ln cap="flat" cmpd="sng" w="9525">
              <a:solidFill>
                <a:srgbClr val="FFAB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17" name="Google Shape;5217;p191"/>
            <p:cNvPicPr preferRelativeResize="0"/>
            <p:nvPr/>
          </p:nvPicPr>
          <p:blipFill>
            <a:blip r:embed="rId3">
              <a:alphaModFix/>
            </a:blip>
            <a:stretch>
              <a:fillRect/>
            </a:stretch>
          </p:blipFill>
          <p:spPr>
            <a:xfrm>
              <a:off x="6804200" y="2806925"/>
              <a:ext cx="268700" cy="268700"/>
            </a:xfrm>
            <a:prstGeom prst="rect">
              <a:avLst/>
            </a:prstGeom>
            <a:noFill/>
            <a:ln>
              <a:noFill/>
            </a:ln>
          </p:spPr>
        </p:pic>
      </p:grpSp>
      <p:sp>
        <p:nvSpPr>
          <p:cNvPr id="5218" name="Google Shape;5218;p191"/>
          <p:cNvSpPr/>
          <p:nvPr/>
        </p:nvSpPr>
        <p:spPr>
          <a:xfrm>
            <a:off x="6679519" y="4067522"/>
            <a:ext cx="62700" cy="8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219" name="Google Shape;5219;p191"/>
          <p:cNvSpPr txBox="1"/>
          <p:nvPr/>
        </p:nvSpPr>
        <p:spPr>
          <a:xfrm>
            <a:off x="3497861" y="3621852"/>
            <a:ext cx="719700" cy="498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AWS Direct Connect / VPN</a:t>
            </a:r>
            <a:endParaRPr sz="1000">
              <a:solidFill>
                <a:srgbClr val="1B5162"/>
              </a:solidFill>
              <a:latin typeface="DM Sans Medium"/>
              <a:ea typeface="DM Sans Medium"/>
              <a:cs typeface="DM Sans Medium"/>
              <a:sym typeface="DM Sans Medium"/>
            </a:endParaRPr>
          </a:p>
        </p:txBody>
      </p:sp>
      <p:grpSp>
        <p:nvGrpSpPr>
          <p:cNvPr id="5220" name="Google Shape;5220;p191"/>
          <p:cNvGrpSpPr/>
          <p:nvPr/>
        </p:nvGrpSpPr>
        <p:grpSpPr>
          <a:xfrm>
            <a:off x="3655672" y="3255216"/>
            <a:ext cx="339900" cy="349800"/>
            <a:chOff x="4903945" y="2770785"/>
            <a:chExt cx="339900" cy="349800"/>
          </a:xfrm>
        </p:grpSpPr>
        <p:cxnSp>
          <p:nvCxnSpPr>
            <p:cNvPr id="5221" name="Google Shape;5221;p191"/>
            <p:cNvCxnSpPr/>
            <p:nvPr/>
          </p:nvCxnSpPr>
          <p:spPr>
            <a:xfrm>
              <a:off x="4982209" y="3003734"/>
              <a:ext cx="125700" cy="0"/>
            </a:xfrm>
            <a:prstGeom prst="straightConnector1">
              <a:avLst/>
            </a:prstGeom>
            <a:noFill/>
            <a:ln cap="flat" cmpd="sng" w="9525">
              <a:solidFill>
                <a:srgbClr val="FFAB00"/>
              </a:solidFill>
              <a:prstDash val="solid"/>
              <a:round/>
              <a:headEnd len="med" w="med" type="none"/>
              <a:tailEnd len="med" w="med" type="none"/>
            </a:ln>
          </p:spPr>
        </p:cxnSp>
        <p:sp>
          <p:nvSpPr>
            <p:cNvPr id="5198" name="Google Shape;5198;p191"/>
            <p:cNvSpPr/>
            <p:nvPr/>
          </p:nvSpPr>
          <p:spPr>
            <a:xfrm>
              <a:off x="4903945" y="2770785"/>
              <a:ext cx="339900" cy="3498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22" name="Google Shape;5222;p191"/>
            <p:cNvPicPr preferRelativeResize="0"/>
            <p:nvPr/>
          </p:nvPicPr>
          <p:blipFill>
            <a:blip r:embed="rId4">
              <a:alphaModFix/>
            </a:blip>
            <a:stretch>
              <a:fillRect/>
            </a:stretch>
          </p:blipFill>
          <p:spPr>
            <a:xfrm>
              <a:off x="4943100" y="2810463"/>
              <a:ext cx="261625" cy="261625"/>
            </a:xfrm>
            <a:prstGeom prst="rect">
              <a:avLst/>
            </a:prstGeom>
            <a:noFill/>
            <a:ln>
              <a:noFill/>
            </a:ln>
          </p:spPr>
        </p:pic>
      </p:grpSp>
      <p:sp>
        <p:nvSpPr>
          <p:cNvPr id="5223" name="Google Shape;5223;p191"/>
          <p:cNvSpPr txBox="1"/>
          <p:nvPr/>
        </p:nvSpPr>
        <p:spPr>
          <a:xfrm>
            <a:off x="4373438" y="3621852"/>
            <a:ext cx="1134300" cy="498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AWS Direct </a:t>
            </a:r>
            <a:br>
              <a:rPr lang="en" sz="1000">
                <a:solidFill>
                  <a:srgbClr val="1B5162"/>
                </a:solidFill>
                <a:latin typeface="DM Sans Medium"/>
                <a:ea typeface="DM Sans Medium"/>
                <a:cs typeface="DM Sans Medium"/>
                <a:sym typeface="DM Sans Medium"/>
              </a:rPr>
            </a:br>
            <a:r>
              <a:rPr lang="en" sz="1000">
                <a:solidFill>
                  <a:srgbClr val="1B5162"/>
                </a:solidFill>
                <a:latin typeface="DM Sans Medium"/>
                <a:ea typeface="DM Sans Medium"/>
                <a:cs typeface="DM Sans Medium"/>
                <a:sym typeface="DM Sans Medium"/>
              </a:rPr>
              <a:t>Connect / </a:t>
            </a:r>
            <a:br>
              <a:rPr lang="en" sz="1000">
                <a:solidFill>
                  <a:srgbClr val="1B5162"/>
                </a:solidFill>
                <a:latin typeface="DM Sans Medium"/>
                <a:ea typeface="DM Sans Medium"/>
                <a:cs typeface="DM Sans Medium"/>
                <a:sym typeface="DM Sans Medium"/>
              </a:rPr>
            </a:br>
            <a:r>
              <a:rPr lang="en" sz="1000">
                <a:solidFill>
                  <a:srgbClr val="1B5162"/>
                </a:solidFill>
                <a:latin typeface="DM Sans Medium"/>
                <a:ea typeface="DM Sans Medium"/>
                <a:cs typeface="DM Sans Medium"/>
                <a:sym typeface="DM Sans Medium"/>
              </a:rPr>
              <a:t>VPN Gateway</a:t>
            </a:r>
            <a:endParaRPr sz="1000">
              <a:solidFill>
                <a:srgbClr val="1B5162"/>
              </a:solidFill>
              <a:latin typeface="DM Sans Medium"/>
              <a:ea typeface="DM Sans Medium"/>
              <a:cs typeface="DM Sans Medium"/>
              <a:sym typeface="DM Sans Medium"/>
            </a:endParaRPr>
          </a:p>
        </p:txBody>
      </p:sp>
      <p:grpSp>
        <p:nvGrpSpPr>
          <p:cNvPr id="5224" name="Google Shape;5224;p191"/>
          <p:cNvGrpSpPr/>
          <p:nvPr/>
        </p:nvGrpSpPr>
        <p:grpSpPr>
          <a:xfrm>
            <a:off x="4780855" y="3255519"/>
            <a:ext cx="339900" cy="349800"/>
            <a:chOff x="5848757" y="2770785"/>
            <a:chExt cx="339900" cy="349800"/>
          </a:xfrm>
        </p:grpSpPr>
        <p:sp>
          <p:nvSpPr>
            <p:cNvPr id="5210" name="Google Shape;5210;p191"/>
            <p:cNvSpPr/>
            <p:nvPr/>
          </p:nvSpPr>
          <p:spPr>
            <a:xfrm>
              <a:off x="5848757" y="2770785"/>
              <a:ext cx="339900" cy="3498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25" name="Google Shape;5225;p191"/>
            <p:cNvPicPr preferRelativeResize="0"/>
            <p:nvPr/>
          </p:nvPicPr>
          <p:blipFill>
            <a:blip r:embed="rId5">
              <a:alphaModFix/>
            </a:blip>
            <a:stretch>
              <a:fillRect/>
            </a:stretch>
          </p:blipFill>
          <p:spPr>
            <a:xfrm>
              <a:off x="5884300" y="2806925"/>
              <a:ext cx="268700" cy="268700"/>
            </a:xfrm>
            <a:prstGeom prst="rect">
              <a:avLst/>
            </a:prstGeom>
            <a:noFill/>
            <a:ln>
              <a:noFill/>
            </a:ln>
          </p:spPr>
        </p:pic>
      </p:grpSp>
      <p:sp>
        <p:nvSpPr>
          <p:cNvPr id="5226" name="Google Shape;5226;p191"/>
          <p:cNvSpPr/>
          <p:nvPr/>
        </p:nvSpPr>
        <p:spPr>
          <a:xfrm>
            <a:off x="7302633" y="2215650"/>
            <a:ext cx="2036400" cy="1885500"/>
          </a:xfrm>
          <a:prstGeom prst="roundRect">
            <a:avLst>
              <a:gd fmla="val 2890" name="adj"/>
            </a:avLst>
          </a:prstGeom>
          <a:solidFill>
            <a:srgbClr val="EFEFEF"/>
          </a:solidFill>
          <a:ln cap="flat" cmpd="sng" w="9525">
            <a:solidFill>
              <a:srgbClr val="FF5F46"/>
            </a:solidFill>
            <a:prstDash val="solid"/>
            <a:round/>
            <a:headEnd len="sm" w="sm" type="none"/>
            <a:tailEnd len="sm" w="sm" type="none"/>
          </a:ln>
        </p:spPr>
        <p:txBody>
          <a:bodyPr anchorCtr="0" anchor="t" bIns="91425" lIns="91425" spcFirstLastPara="1" rIns="91425" wrap="square" tIns="18275">
            <a:noAutofit/>
          </a:bodyPr>
          <a:lstStyle/>
          <a:p>
            <a:pPr indent="0" lvl="0" marL="0" rtl="0" algn="l">
              <a:spcBef>
                <a:spcPts val="0"/>
              </a:spcBef>
              <a:spcAft>
                <a:spcPts val="0"/>
              </a:spcAft>
              <a:buNone/>
            </a:pPr>
            <a:r>
              <a:rPr lang="en">
                <a:solidFill>
                  <a:srgbClr val="FF5F46"/>
                </a:solidFill>
                <a:latin typeface="DM Sans Medium"/>
                <a:ea typeface="DM Sans Medium"/>
                <a:cs typeface="DM Sans Medium"/>
                <a:sym typeface="DM Sans Medium"/>
              </a:rPr>
              <a:t>    Control plane</a:t>
            </a:r>
            <a:r>
              <a:rPr lang="en" sz="1600">
                <a:solidFill>
                  <a:srgbClr val="FF5F46"/>
                </a:solidFill>
                <a:latin typeface="DM Sans Medium"/>
                <a:ea typeface="DM Sans Medium"/>
                <a:cs typeface="DM Sans Medium"/>
                <a:sym typeface="DM Sans Medium"/>
              </a:rPr>
              <a:t> </a:t>
            </a:r>
            <a:endParaRPr sz="1600">
              <a:solidFill>
                <a:srgbClr val="FF5F46"/>
              </a:solidFill>
              <a:latin typeface="DM Sans Medium"/>
              <a:ea typeface="DM Sans Medium"/>
              <a:cs typeface="DM Sans Medium"/>
              <a:sym typeface="DM Sans Medium"/>
            </a:endParaRPr>
          </a:p>
          <a:p>
            <a:pPr indent="0" lvl="0" marL="0" rtl="0" algn="ctr">
              <a:spcBef>
                <a:spcPts val="0"/>
              </a:spcBef>
              <a:spcAft>
                <a:spcPts val="0"/>
              </a:spcAft>
              <a:buNone/>
            </a:pPr>
            <a:r>
              <a:t/>
            </a:r>
            <a:endParaRPr sz="1600">
              <a:solidFill>
                <a:srgbClr val="FF5F46"/>
              </a:solidFill>
              <a:latin typeface="DM Sans Medium"/>
              <a:ea typeface="DM Sans Medium"/>
              <a:cs typeface="DM Sans Medium"/>
              <a:sym typeface="DM Sans Medium"/>
            </a:endParaRPr>
          </a:p>
        </p:txBody>
      </p:sp>
      <p:pic>
        <p:nvPicPr>
          <p:cNvPr id="5227" name="Google Shape;5227;p191"/>
          <p:cNvPicPr preferRelativeResize="0"/>
          <p:nvPr/>
        </p:nvPicPr>
        <p:blipFill rotWithShape="1">
          <a:blip r:embed="rId6">
            <a:alphaModFix/>
          </a:blip>
          <a:srcRect b="0" l="0" r="82955" t="0"/>
          <a:stretch/>
        </p:blipFill>
        <p:spPr>
          <a:xfrm>
            <a:off x="7373571" y="2296879"/>
            <a:ext cx="190500" cy="175858"/>
          </a:xfrm>
          <a:prstGeom prst="rect">
            <a:avLst/>
          </a:prstGeom>
          <a:noFill/>
          <a:ln>
            <a:noFill/>
          </a:ln>
        </p:spPr>
      </p:pic>
      <p:sp>
        <p:nvSpPr>
          <p:cNvPr id="5228" name="Google Shape;5228;p191"/>
          <p:cNvSpPr/>
          <p:nvPr/>
        </p:nvSpPr>
        <p:spPr>
          <a:xfrm>
            <a:off x="7359352" y="2833575"/>
            <a:ext cx="912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Prod workspace</a:t>
            </a:r>
            <a:endParaRPr sz="1100">
              <a:solidFill>
                <a:srgbClr val="1B5162"/>
              </a:solidFill>
              <a:latin typeface="DM Sans Medium"/>
              <a:ea typeface="DM Sans Medium"/>
              <a:cs typeface="DM Sans Medium"/>
              <a:sym typeface="DM Sans Medium"/>
            </a:endParaRPr>
          </a:p>
        </p:txBody>
      </p:sp>
      <p:sp>
        <p:nvSpPr>
          <p:cNvPr id="5229" name="Google Shape;5229;p191"/>
          <p:cNvSpPr/>
          <p:nvPr/>
        </p:nvSpPr>
        <p:spPr>
          <a:xfrm>
            <a:off x="7359352" y="3383875"/>
            <a:ext cx="912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Prod workspace</a:t>
            </a:r>
            <a:endParaRPr sz="1100">
              <a:solidFill>
                <a:srgbClr val="1B5162"/>
              </a:solidFill>
              <a:latin typeface="DM Sans Medium"/>
              <a:ea typeface="DM Sans Medium"/>
              <a:cs typeface="DM Sans Medium"/>
              <a:sym typeface="DM Sans Medium"/>
            </a:endParaRPr>
          </a:p>
        </p:txBody>
      </p:sp>
      <p:sp>
        <p:nvSpPr>
          <p:cNvPr id="5230" name="Google Shape;5230;p191"/>
          <p:cNvSpPr/>
          <p:nvPr/>
        </p:nvSpPr>
        <p:spPr>
          <a:xfrm>
            <a:off x="8361159" y="3383875"/>
            <a:ext cx="912300" cy="3669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Non-prod workspace</a:t>
            </a:r>
            <a:endParaRPr sz="1100">
              <a:solidFill>
                <a:srgbClr val="1B5162"/>
              </a:solidFill>
              <a:latin typeface="DM Sans Medium"/>
              <a:ea typeface="DM Sans Medium"/>
              <a:cs typeface="DM Sans Medium"/>
              <a:sym typeface="DM Sans Medium"/>
            </a:endParaRPr>
          </a:p>
        </p:txBody>
      </p:sp>
      <p:cxnSp>
        <p:nvCxnSpPr>
          <p:cNvPr id="5231" name="Google Shape;5231;p191"/>
          <p:cNvCxnSpPr>
            <a:stCxn id="5225" idx="3"/>
            <a:endCxn id="5217" idx="1"/>
          </p:cNvCxnSpPr>
          <p:nvPr/>
        </p:nvCxnSpPr>
        <p:spPr>
          <a:xfrm flipH="1" rot="10800000">
            <a:off x="5085097" y="2784609"/>
            <a:ext cx="1156500" cy="641400"/>
          </a:xfrm>
          <a:prstGeom prst="straightConnector1">
            <a:avLst/>
          </a:prstGeom>
          <a:noFill/>
          <a:ln cap="flat" cmpd="sng" w="9525">
            <a:solidFill>
              <a:srgbClr val="1B5162"/>
            </a:solidFill>
            <a:prstDash val="dash"/>
            <a:round/>
            <a:headEnd len="sm" w="sm" type="triangle"/>
            <a:tailEnd len="sm" w="sm" type="triangle"/>
          </a:ln>
        </p:spPr>
      </p:cxnSp>
      <p:sp>
        <p:nvSpPr>
          <p:cNvPr id="5232" name="Google Shape;5232;p191"/>
          <p:cNvSpPr txBox="1"/>
          <p:nvPr/>
        </p:nvSpPr>
        <p:spPr>
          <a:xfrm>
            <a:off x="5808925" y="2988014"/>
            <a:ext cx="1134300" cy="239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DNS Inbound</a:t>
            </a:r>
            <a:endParaRPr sz="1000">
              <a:solidFill>
                <a:srgbClr val="1B5162"/>
              </a:solidFill>
              <a:latin typeface="DM Sans Medium"/>
              <a:ea typeface="DM Sans Medium"/>
              <a:cs typeface="DM Sans Medium"/>
              <a:sym typeface="DM Sans Medium"/>
            </a:endParaRPr>
          </a:p>
        </p:txBody>
      </p:sp>
      <p:sp>
        <p:nvSpPr>
          <p:cNvPr id="5233" name="Google Shape;5233;p191"/>
          <p:cNvSpPr txBox="1"/>
          <p:nvPr/>
        </p:nvSpPr>
        <p:spPr>
          <a:xfrm>
            <a:off x="5808925" y="3627201"/>
            <a:ext cx="1134300" cy="239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Front-end VPCE</a:t>
            </a:r>
            <a:endParaRPr sz="1000">
              <a:solidFill>
                <a:srgbClr val="1B5162"/>
              </a:solidFill>
              <a:latin typeface="DM Sans Medium"/>
              <a:ea typeface="DM Sans Medium"/>
              <a:cs typeface="DM Sans Medium"/>
              <a:sym typeface="DM Sans Medium"/>
            </a:endParaRPr>
          </a:p>
        </p:txBody>
      </p:sp>
      <p:grpSp>
        <p:nvGrpSpPr>
          <p:cNvPr id="5234" name="Google Shape;5234;p191"/>
          <p:cNvGrpSpPr/>
          <p:nvPr/>
        </p:nvGrpSpPr>
        <p:grpSpPr>
          <a:xfrm>
            <a:off x="5660937" y="4246876"/>
            <a:ext cx="1498878" cy="1354067"/>
            <a:chOff x="5680175" y="3377950"/>
            <a:chExt cx="1230000" cy="1111166"/>
          </a:xfrm>
        </p:grpSpPr>
        <p:sp>
          <p:nvSpPr>
            <p:cNvPr id="5235" name="Google Shape;5235;p191"/>
            <p:cNvSpPr/>
            <p:nvPr/>
          </p:nvSpPr>
          <p:spPr>
            <a:xfrm>
              <a:off x="6074999" y="4405416"/>
              <a:ext cx="62700" cy="83700"/>
            </a:xfrm>
            <a:prstGeom prst="rect">
              <a:avLst/>
            </a:prstGeom>
            <a:noFill/>
            <a:ln>
              <a:noFill/>
            </a:ln>
          </p:spPr>
          <p:txBody>
            <a:bodyPr anchorCtr="0" anchor="ctr" bIns="111400" lIns="111400" spcFirstLastPara="1" rIns="111400" wrap="square" tIns="111400">
              <a:noAutofit/>
            </a:bodyPr>
            <a:lstStyle/>
            <a:p>
              <a:pPr indent="0" lvl="0" marL="0" rtl="0" algn="ctr">
                <a:spcBef>
                  <a:spcPts val="0"/>
                </a:spcBef>
                <a:spcAft>
                  <a:spcPts val="0"/>
                </a:spcAft>
                <a:buNone/>
              </a:pPr>
              <a:r>
                <a:t/>
              </a:r>
              <a:endParaRPr sz="1705">
                <a:latin typeface="DM Sans"/>
                <a:ea typeface="DM Sans"/>
                <a:cs typeface="DM Sans"/>
                <a:sym typeface="DM Sans"/>
              </a:endParaRPr>
            </a:p>
          </p:txBody>
        </p:sp>
        <p:sp>
          <p:nvSpPr>
            <p:cNvPr id="5236" name="Google Shape;5236;p191"/>
            <p:cNvSpPr/>
            <p:nvPr/>
          </p:nvSpPr>
          <p:spPr>
            <a:xfrm>
              <a:off x="5680175" y="3377950"/>
              <a:ext cx="1230000" cy="1027500"/>
            </a:xfrm>
            <a:prstGeom prst="roundRect">
              <a:avLst>
                <a:gd fmla="val 9090" name="adj"/>
              </a:avLst>
            </a:prstGeom>
            <a:solidFill>
              <a:srgbClr val="EFEFEF"/>
            </a:solidFill>
            <a:ln cap="flat" cmpd="sng" w="11625">
              <a:solidFill>
                <a:srgbClr val="618794"/>
              </a:solidFill>
              <a:prstDash val="solid"/>
              <a:round/>
              <a:headEnd len="sm" w="sm" type="none"/>
              <a:tailEnd len="sm" w="sm" type="none"/>
            </a:ln>
          </p:spPr>
          <p:txBody>
            <a:bodyPr anchorCtr="0" anchor="t" bIns="22275" lIns="0" spcFirstLastPara="1" rIns="0" wrap="square" tIns="22275">
              <a:noAutofit/>
            </a:bodyPr>
            <a:lstStyle/>
            <a:p>
              <a:pPr indent="0" lvl="0" marL="0" marR="0" rtl="0" algn="ctr">
                <a:lnSpc>
                  <a:spcPct val="100000"/>
                </a:lnSpc>
                <a:spcBef>
                  <a:spcPts val="0"/>
                </a:spcBef>
                <a:spcAft>
                  <a:spcPts val="0"/>
                </a:spcAft>
                <a:buNone/>
              </a:pPr>
              <a:r>
                <a:rPr lang="en" sz="1350">
                  <a:solidFill>
                    <a:srgbClr val="1B5162"/>
                  </a:solidFill>
                  <a:latin typeface="DM Sans Medium"/>
                  <a:ea typeface="DM Sans Medium"/>
                  <a:cs typeface="DM Sans Medium"/>
                  <a:sym typeface="DM Sans Medium"/>
                </a:rPr>
                <a:t>  </a:t>
              </a:r>
              <a:r>
                <a:rPr lang="en" sz="1350">
                  <a:solidFill>
                    <a:srgbClr val="1B5162"/>
                  </a:solidFill>
                  <a:latin typeface="DM Sans Medium"/>
                  <a:ea typeface="DM Sans Medium"/>
                  <a:cs typeface="DM Sans Medium"/>
                  <a:sym typeface="DM Sans Medium"/>
                </a:rPr>
                <a:t>Non-prod VPC</a:t>
              </a:r>
              <a:endParaRPr sz="1350">
                <a:solidFill>
                  <a:srgbClr val="1B5162"/>
                </a:solidFill>
                <a:latin typeface="DM Sans Medium"/>
                <a:ea typeface="DM Sans Medium"/>
                <a:cs typeface="DM Sans Medium"/>
                <a:sym typeface="DM Sans Medium"/>
              </a:endParaRPr>
            </a:p>
          </p:txBody>
        </p:sp>
        <p:grpSp>
          <p:nvGrpSpPr>
            <p:cNvPr id="5237" name="Google Shape;5237;p191"/>
            <p:cNvGrpSpPr/>
            <p:nvPr/>
          </p:nvGrpSpPr>
          <p:grpSpPr>
            <a:xfrm>
              <a:off x="5728025" y="3772407"/>
              <a:ext cx="1134300" cy="610782"/>
              <a:chOff x="5832575" y="2499719"/>
              <a:chExt cx="1134300" cy="610782"/>
            </a:xfrm>
          </p:grpSpPr>
          <p:grpSp>
            <p:nvGrpSpPr>
              <p:cNvPr id="5238" name="Google Shape;5238;p191"/>
              <p:cNvGrpSpPr/>
              <p:nvPr/>
            </p:nvGrpSpPr>
            <p:grpSpPr>
              <a:xfrm>
                <a:off x="6229772" y="2499719"/>
                <a:ext cx="339900" cy="349800"/>
                <a:chOff x="6768657" y="2766385"/>
                <a:chExt cx="339900" cy="349800"/>
              </a:xfrm>
            </p:grpSpPr>
            <p:sp>
              <p:nvSpPr>
                <p:cNvPr id="5239" name="Google Shape;5239;p191"/>
                <p:cNvSpPr/>
                <p:nvPr/>
              </p:nvSpPr>
              <p:spPr>
                <a:xfrm>
                  <a:off x="6768657" y="2766385"/>
                  <a:ext cx="339900" cy="349800"/>
                </a:xfrm>
                <a:prstGeom prst="roundRect">
                  <a:avLst>
                    <a:gd fmla="val 16667" name="adj"/>
                  </a:avLst>
                </a:prstGeom>
                <a:solidFill>
                  <a:srgbClr val="FFFFFF"/>
                </a:solidFill>
                <a:ln cap="flat" cmpd="sng" w="11625">
                  <a:solidFill>
                    <a:srgbClr val="FFAB00"/>
                  </a:solidFill>
                  <a:prstDash val="solid"/>
                  <a:round/>
                  <a:headEnd len="sm" w="sm" type="none"/>
                  <a:tailEnd len="sm" w="sm" type="none"/>
                </a:ln>
              </p:spPr>
              <p:txBody>
                <a:bodyPr anchorCtr="0" anchor="ctr" bIns="111400" lIns="111400" spcFirstLastPara="1" rIns="111400" wrap="square" tIns="111400">
                  <a:noAutofit/>
                </a:bodyPr>
                <a:lstStyle/>
                <a:p>
                  <a:pPr indent="0" lvl="0" marL="0" rtl="0" algn="l">
                    <a:spcBef>
                      <a:spcPts val="0"/>
                    </a:spcBef>
                    <a:spcAft>
                      <a:spcPts val="0"/>
                    </a:spcAft>
                    <a:buNone/>
                  </a:pPr>
                  <a:r>
                    <a:t/>
                  </a:r>
                  <a:endParaRPr/>
                </a:p>
              </p:txBody>
            </p:sp>
            <p:pic>
              <p:nvPicPr>
                <p:cNvPr id="5240" name="Google Shape;5240;p191"/>
                <p:cNvPicPr preferRelativeResize="0"/>
                <p:nvPr/>
              </p:nvPicPr>
              <p:blipFill>
                <a:blip r:embed="rId3">
                  <a:alphaModFix/>
                </a:blip>
                <a:stretch>
                  <a:fillRect/>
                </a:stretch>
              </p:blipFill>
              <p:spPr>
                <a:xfrm>
                  <a:off x="6804200" y="2806925"/>
                  <a:ext cx="268700" cy="268700"/>
                </a:xfrm>
                <a:prstGeom prst="rect">
                  <a:avLst/>
                </a:prstGeom>
                <a:noFill/>
                <a:ln>
                  <a:noFill/>
                </a:ln>
              </p:spPr>
            </p:pic>
          </p:grpSp>
          <p:sp>
            <p:nvSpPr>
              <p:cNvPr id="5241" name="Google Shape;5241;p191"/>
              <p:cNvSpPr txBox="1"/>
              <p:nvPr/>
            </p:nvSpPr>
            <p:spPr>
              <a:xfrm>
                <a:off x="5832575" y="2871401"/>
                <a:ext cx="1134300" cy="239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18">
                    <a:solidFill>
                      <a:srgbClr val="1B5162"/>
                    </a:solidFill>
                    <a:latin typeface="DM Sans Medium"/>
                    <a:ea typeface="DM Sans Medium"/>
                    <a:cs typeface="DM Sans Medium"/>
                    <a:sym typeface="DM Sans Medium"/>
                  </a:rPr>
                  <a:t>Front-end VPCE2</a:t>
                </a:r>
                <a:endParaRPr sz="1218">
                  <a:solidFill>
                    <a:srgbClr val="1B5162"/>
                  </a:solidFill>
                  <a:latin typeface="DM Sans Medium"/>
                  <a:ea typeface="DM Sans Medium"/>
                  <a:cs typeface="DM Sans Medium"/>
                  <a:sym typeface="DM Sans Medium"/>
                </a:endParaRPr>
              </a:p>
            </p:txBody>
          </p:sp>
        </p:grpSp>
      </p:grpSp>
      <p:cxnSp>
        <p:nvCxnSpPr>
          <p:cNvPr id="5242" name="Google Shape;5242;p191"/>
          <p:cNvCxnSpPr>
            <a:stCxn id="5214" idx="3"/>
            <a:endCxn id="5228" idx="1"/>
          </p:cNvCxnSpPr>
          <p:nvPr/>
        </p:nvCxnSpPr>
        <p:spPr>
          <a:xfrm flipH="1" rot="10800000">
            <a:off x="6546022" y="3017019"/>
            <a:ext cx="813300" cy="413400"/>
          </a:xfrm>
          <a:prstGeom prst="straightConnector1">
            <a:avLst/>
          </a:prstGeom>
          <a:noFill/>
          <a:ln cap="flat" cmpd="sng" w="9525">
            <a:solidFill>
              <a:srgbClr val="1B5162"/>
            </a:solidFill>
            <a:prstDash val="solid"/>
            <a:round/>
            <a:headEnd len="sm" w="sm" type="none"/>
            <a:tailEnd len="sm" w="sm" type="triangle"/>
          </a:ln>
        </p:spPr>
      </p:cxnSp>
      <p:cxnSp>
        <p:nvCxnSpPr>
          <p:cNvPr id="5243" name="Google Shape;5243;p191"/>
          <p:cNvCxnSpPr>
            <a:stCxn id="5212" idx="3"/>
            <a:endCxn id="5229" idx="1"/>
          </p:cNvCxnSpPr>
          <p:nvPr/>
        </p:nvCxnSpPr>
        <p:spPr>
          <a:xfrm>
            <a:off x="6510365" y="3430409"/>
            <a:ext cx="849000" cy="136800"/>
          </a:xfrm>
          <a:prstGeom prst="straightConnector1">
            <a:avLst/>
          </a:prstGeom>
          <a:noFill/>
          <a:ln cap="flat" cmpd="sng" w="9525">
            <a:solidFill>
              <a:srgbClr val="1B5162"/>
            </a:solidFill>
            <a:prstDash val="solid"/>
            <a:round/>
            <a:headEnd len="sm" w="sm" type="none"/>
            <a:tailEnd len="sm" w="sm" type="triangle"/>
          </a:ln>
        </p:spPr>
      </p:cxnSp>
      <p:cxnSp>
        <p:nvCxnSpPr>
          <p:cNvPr id="5244" name="Google Shape;5244;p191"/>
          <p:cNvCxnSpPr>
            <a:stCxn id="5240" idx="3"/>
            <a:endCxn id="5230" idx="2"/>
          </p:cNvCxnSpPr>
          <p:nvPr/>
        </p:nvCxnSpPr>
        <p:spPr>
          <a:xfrm flipH="1" rot="10800000">
            <a:off x="6574022" y="3750882"/>
            <a:ext cx="2243400" cy="1189800"/>
          </a:xfrm>
          <a:prstGeom prst="straightConnector1">
            <a:avLst/>
          </a:prstGeom>
          <a:noFill/>
          <a:ln cap="flat" cmpd="sng" w="9525">
            <a:solidFill>
              <a:srgbClr val="1B5162"/>
            </a:solidFill>
            <a:prstDash val="solid"/>
            <a:round/>
            <a:headEnd len="sm" w="sm" type="none"/>
            <a:tailEnd len="sm" w="sm" type="triangle"/>
          </a:ln>
        </p:spPr>
      </p:cxnSp>
      <p:cxnSp>
        <p:nvCxnSpPr>
          <p:cNvPr id="5245" name="Google Shape;5245;p191"/>
          <p:cNvCxnSpPr>
            <a:stCxn id="5225" idx="3"/>
            <a:endCxn id="5240" idx="1"/>
          </p:cNvCxnSpPr>
          <p:nvPr/>
        </p:nvCxnSpPr>
        <p:spPr>
          <a:xfrm>
            <a:off x="5085097" y="3426009"/>
            <a:ext cx="1161600" cy="1514700"/>
          </a:xfrm>
          <a:prstGeom prst="straightConnector1">
            <a:avLst/>
          </a:prstGeom>
          <a:noFill/>
          <a:ln cap="flat" cmpd="sng" w="9525">
            <a:solidFill>
              <a:srgbClr val="1B5162"/>
            </a:solidFill>
            <a:prstDash val="solid"/>
            <a:round/>
            <a:headEnd len="sm" w="sm" type="none"/>
            <a:tailEnd len="sm" w="sm" type="triangle"/>
          </a:ln>
        </p:spPr>
      </p:cxn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9" name="Shape 5249"/>
        <p:cNvGrpSpPr/>
        <p:nvPr/>
      </p:nvGrpSpPr>
      <p:grpSpPr>
        <a:xfrm>
          <a:off x="0" y="0"/>
          <a:ext cx="0" cy="0"/>
          <a:chOff x="0" y="0"/>
          <a:chExt cx="0" cy="0"/>
        </a:xfrm>
      </p:grpSpPr>
      <p:sp>
        <p:nvSpPr>
          <p:cNvPr id="5250" name="Google Shape;5250;p192"/>
          <p:cNvSpPr txBox="1"/>
          <p:nvPr>
            <p:ph idx="12" type="sldNum"/>
          </p:nvPr>
        </p:nvSpPr>
        <p:spPr>
          <a:xfrm>
            <a:off x="11097669" y="6473300"/>
            <a:ext cx="324300" cy="186600"/>
          </a:xfrm>
          <a:prstGeom prst="rect">
            <a:avLst/>
          </a:prstGeom>
        </p:spPr>
        <p:txBody>
          <a:bodyPr anchorCtr="0" anchor="t" bIns="121875" lIns="121875" spcFirstLastPara="1" rIns="121875" wrap="square" tIns="121875">
            <a:normAutofit fontScale="25000" lnSpcReduction="20000"/>
          </a:bodyPr>
          <a:lstStyle/>
          <a:p>
            <a:pPr indent="0" lvl="0" marL="0" rtl="0" algn="r">
              <a:spcBef>
                <a:spcPts val="0"/>
              </a:spcBef>
              <a:spcAft>
                <a:spcPts val="0"/>
              </a:spcAft>
              <a:buNone/>
            </a:pPr>
            <a:fld id="{00000000-1234-1234-1234-123412341234}" type="slidenum">
              <a:rPr lang="en"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cxnSp>
        <p:nvCxnSpPr>
          <p:cNvPr id="5251" name="Google Shape;5251;p192"/>
          <p:cNvCxnSpPr/>
          <p:nvPr/>
        </p:nvCxnSpPr>
        <p:spPr>
          <a:xfrm flipH="1">
            <a:off x="6021964" y="6620700"/>
            <a:ext cx="1626900" cy="1500"/>
          </a:xfrm>
          <a:prstGeom prst="straightConnector1">
            <a:avLst/>
          </a:prstGeom>
          <a:noFill/>
          <a:ln cap="flat" cmpd="sng" w="19050">
            <a:solidFill>
              <a:srgbClr val="618794"/>
            </a:solidFill>
            <a:prstDash val="solid"/>
            <a:round/>
            <a:headEnd len="med" w="med" type="triangle"/>
            <a:tailEnd len="sm" w="sm" type="triangle"/>
          </a:ln>
        </p:spPr>
      </p:cxnSp>
      <p:sp>
        <p:nvSpPr>
          <p:cNvPr id="5252" name="Google Shape;5252;p192"/>
          <p:cNvSpPr txBox="1"/>
          <p:nvPr/>
        </p:nvSpPr>
        <p:spPr>
          <a:xfrm>
            <a:off x="0" y="0"/>
            <a:ext cx="11357100" cy="990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ResponsesAgent interface</a:t>
            </a:r>
            <a:endParaRPr sz="2400">
              <a:solidFill>
                <a:schemeClr val="accent1"/>
              </a:solidFill>
              <a:latin typeface="DM Sans Medium"/>
              <a:ea typeface="DM Sans Medium"/>
              <a:cs typeface="DM Sans Medium"/>
              <a:sym typeface="DM Sans Medium"/>
            </a:endParaRPr>
          </a:p>
          <a:p>
            <a:pPr indent="0" lvl="0" marL="0" rtl="0" algn="l">
              <a:lnSpc>
                <a:spcPct val="90000"/>
              </a:lnSpc>
              <a:spcBef>
                <a:spcPts val="1100"/>
              </a:spcBef>
              <a:spcAft>
                <a:spcPts val="0"/>
              </a:spcAft>
              <a:buNone/>
            </a:pPr>
            <a:r>
              <a:rPr lang="en" sz="2400">
                <a:solidFill>
                  <a:schemeClr val="accent1"/>
                </a:solidFill>
                <a:latin typeface="DM Sans Medium"/>
                <a:ea typeface="DM Sans Medium"/>
                <a:cs typeface="DM Sans Medium"/>
                <a:sym typeface="DM Sans Medium"/>
              </a:rPr>
              <a:t>/_static/images/generative-ai/responses-agent-overview.svg</a:t>
            </a:r>
            <a:endParaRPr/>
          </a:p>
        </p:txBody>
      </p:sp>
      <p:pic>
        <p:nvPicPr>
          <p:cNvPr id="5253" name="Google Shape;5253;p192" title="Flowchart.png"/>
          <p:cNvPicPr preferRelativeResize="0"/>
          <p:nvPr/>
        </p:nvPicPr>
        <p:blipFill>
          <a:blip r:embed="rId3">
            <a:alphaModFix/>
          </a:blip>
          <a:stretch>
            <a:fillRect/>
          </a:stretch>
        </p:blipFill>
        <p:spPr>
          <a:xfrm>
            <a:off x="1548100" y="1143000"/>
            <a:ext cx="7443422" cy="53253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7" name="Shape 5257"/>
        <p:cNvGrpSpPr/>
        <p:nvPr/>
      </p:nvGrpSpPr>
      <p:grpSpPr>
        <a:xfrm>
          <a:off x="0" y="0"/>
          <a:ext cx="0" cy="0"/>
          <a:chOff x="0" y="0"/>
          <a:chExt cx="0" cy="0"/>
        </a:xfrm>
      </p:grpSpPr>
      <p:sp>
        <p:nvSpPr>
          <p:cNvPr id="5258" name="Google Shape;5258;p193"/>
          <p:cNvSpPr txBox="1"/>
          <p:nvPr/>
        </p:nvSpPr>
        <p:spPr>
          <a:xfrm>
            <a:off x="0" y="0"/>
            <a:ext cx="121890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DLT-META overview</a:t>
            </a:r>
            <a:r>
              <a:rPr lang="en" sz="1200">
                <a:solidFill>
                  <a:schemeClr val="accent1"/>
                </a:solidFill>
                <a:latin typeface="DM Sans Medium"/>
                <a:ea typeface="DM Sans Medium"/>
                <a:cs typeface="DM Sans Medium"/>
                <a:sym typeface="DM Sans Medium"/>
              </a:rPr>
              <a:t> /images/dlt/dlt-meta-overview.svg</a:t>
            </a:r>
            <a:endParaRPr sz="200"/>
          </a:p>
        </p:txBody>
      </p:sp>
      <p:sp>
        <p:nvSpPr>
          <p:cNvPr id="5259" name="Google Shape;5259;p193"/>
          <p:cNvSpPr/>
          <p:nvPr/>
        </p:nvSpPr>
        <p:spPr>
          <a:xfrm>
            <a:off x="1911825" y="539350"/>
            <a:ext cx="2723100" cy="2070600"/>
          </a:xfrm>
          <a:prstGeom prst="roundRect">
            <a:avLst>
              <a:gd fmla="val 16667"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DM Sans"/>
                <a:ea typeface="DM Sans"/>
                <a:cs typeface="DM Sans"/>
                <a:sym typeface="DM Sans"/>
              </a:rPr>
              <a:t>Input</a:t>
            </a:r>
            <a:endParaRPr b="1">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60" name="Google Shape;5260;p193"/>
          <p:cNvSpPr/>
          <p:nvPr/>
        </p:nvSpPr>
        <p:spPr>
          <a:xfrm>
            <a:off x="2122150" y="1022025"/>
            <a:ext cx="2369142" cy="1328508"/>
          </a:xfrm>
          <a:prstGeom prst="flowChartMulti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Onboarding files</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61" name="Google Shape;5261;p193"/>
          <p:cNvSpPr/>
          <p:nvPr/>
        </p:nvSpPr>
        <p:spPr>
          <a:xfrm>
            <a:off x="6155650" y="975850"/>
            <a:ext cx="2723100" cy="1197600"/>
          </a:xfrm>
          <a:prstGeom prst="roundRect">
            <a:avLst>
              <a:gd fmla="val 16667"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DM Sans"/>
                <a:ea typeface="DM Sans"/>
                <a:cs typeface="DM Sans"/>
                <a:sym typeface="DM Sans"/>
              </a:rPr>
              <a:t>dlt-meta API</a:t>
            </a:r>
            <a:endParaRPr b="1">
              <a:solidFill>
                <a:schemeClr val="dk1"/>
              </a:solidFill>
              <a:latin typeface="DM Sans"/>
              <a:ea typeface="DM Sans"/>
              <a:cs typeface="DM Sans"/>
              <a:sym typeface="DM Sans"/>
            </a:endParaRPr>
          </a:p>
          <a:p>
            <a:pPr indent="0" lvl="0" marL="0" rtl="0" algn="ctr">
              <a:spcBef>
                <a:spcPts val="0"/>
              </a:spcBef>
              <a:spcAft>
                <a:spcPts val="0"/>
              </a:spcAft>
              <a:buNone/>
            </a:pPr>
            <a:r>
              <a:t/>
            </a:r>
            <a:endParaRPr b="1">
              <a:solidFill>
                <a:schemeClr val="dk1"/>
              </a:solidFill>
              <a:latin typeface="DM Sans"/>
              <a:ea typeface="DM Sans"/>
              <a:cs typeface="DM Sans"/>
              <a:sym typeface="DM Sans"/>
            </a:endParaRPr>
          </a:p>
          <a:p>
            <a:pPr indent="0" lvl="0" marL="0" rtl="0" algn="ctr">
              <a:spcBef>
                <a:spcPts val="0"/>
              </a:spcBef>
              <a:spcAft>
                <a:spcPts val="0"/>
              </a:spcAft>
              <a:buNone/>
            </a:pPr>
            <a:r>
              <a:rPr lang="en">
                <a:solidFill>
                  <a:schemeClr val="dk1"/>
                </a:solidFill>
                <a:latin typeface="DM Sans"/>
                <a:ea typeface="DM Sans"/>
                <a:cs typeface="DM Sans"/>
                <a:sym typeface="DM Sans"/>
              </a:rPr>
              <a:t>Onboard processing</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62" name="Google Shape;5262;p193"/>
          <p:cNvSpPr/>
          <p:nvPr/>
        </p:nvSpPr>
        <p:spPr>
          <a:xfrm>
            <a:off x="6163000" y="4045525"/>
            <a:ext cx="3775200" cy="2273100"/>
          </a:xfrm>
          <a:prstGeom prst="roundRect">
            <a:avLst>
              <a:gd fmla="val 16667"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DM Sans"/>
                <a:ea typeface="DM Sans"/>
                <a:cs typeface="DM Sans"/>
                <a:sym typeface="DM Sans"/>
              </a:rPr>
              <a:t>Pipelines: DataflowPipeline</a:t>
            </a:r>
            <a:endParaRPr b="1">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63" name="Google Shape;5263;p193"/>
          <p:cNvSpPr/>
          <p:nvPr/>
        </p:nvSpPr>
        <p:spPr>
          <a:xfrm>
            <a:off x="1911825" y="4290825"/>
            <a:ext cx="2147700" cy="1527900"/>
          </a:xfrm>
          <a:prstGeom prst="can">
            <a:avLst>
              <a:gd fmla="val 25000" name="adj"/>
            </a:avLst>
          </a:prstGeom>
          <a:solidFill>
            <a:schemeClr val="l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Source data</a:t>
            </a:r>
            <a:endParaRPr>
              <a:solidFill>
                <a:schemeClr val="dk1"/>
              </a:solidFill>
              <a:latin typeface="DM Sans"/>
              <a:ea typeface="DM Sans"/>
              <a:cs typeface="DM Sans"/>
              <a:sym typeface="DM Sans"/>
            </a:endParaRPr>
          </a:p>
        </p:txBody>
      </p:sp>
      <p:sp>
        <p:nvSpPr>
          <p:cNvPr id="5264" name="Google Shape;5264;p193"/>
          <p:cNvSpPr/>
          <p:nvPr/>
        </p:nvSpPr>
        <p:spPr>
          <a:xfrm>
            <a:off x="6155650" y="2581225"/>
            <a:ext cx="2723100" cy="1007450"/>
          </a:xfrm>
          <a:prstGeom prst="flowChartMagneticDisk">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Stored metadata</a:t>
            </a:r>
            <a:endParaRPr>
              <a:solidFill>
                <a:schemeClr val="dk1"/>
              </a:solidFill>
              <a:latin typeface="DM Sans"/>
              <a:ea typeface="DM Sans"/>
              <a:cs typeface="DM Sans"/>
              <a:sym typeface="DM Sans"/>
            </a:endParaRPr>
          </a:p>
        </p:txBody>
      </p:sp>
      <p:pic>
        <p:nvPicPr>
          <p:cNvPr id="5265" name="Google Shape;5265;p193"/>
          <p:cNvPicPr preferRelativeResize="0"/>
          <p:nvPr/>
        </p:nvPicPr>
        <p:blipFill rotWithShape="1">
          <a:blip r:embed="rId3">
            <a:alphaModFix/>
          </a:blip>
          <a:srcRect b="0" l="0" r="0" t="0"/>
          <a:stretch/>
        </p:blipFill>
        <p:spPr>
          <a:xfrm>
            <a:off x="8592913" y="2964133"/>
            <a:ext cx="653499" cy="507665"/>
          </a:xfrm>
          <a:prstGeom prst="rect">
            <a:avLst/>
          </a:prstGeom>
          <a:noFill/>
          <a:ln>
            <a:noFill/>
          </a:ln>
        </p:spPr>
      </p:pic>
      <p:pic>
        <p:nvPicPr>
          <p:cNvPr id="5266" name="Google Shape;5266;p193"/>
          <p:cNvPicPr preferRelativeResize="0"/>
          <p:nvPr/>
        </p:nvPicPr>
        <p:blipFill rotWithShape="1">
          <a:blip r:embed="rId3">
            <a:alphaModFix/>
          </a:blip>
          <a:srcRect b="0" l="0" r="0" t="0"/>
          <a:stretch/>
        </p:blipFill>
        <p:spPr>
          <a:xfrm>
            <a:off x="9623626" y="5747696"/>
            <a:ext cx="653499" cy="507665"/>
          </a:xfrm>
          <a:prstGeom prst="rect">
            <a:avLst/>
          </a:prstGeom>
          <a:noFill/>
          <a:ln>
            <a:noFill/>
          </a:ln>
        </p:spPr>
      </p:pic>
      <p:sp>
        <p:nvSpPr>
          <p:cNvPr id="5267" name="Google Shape;5267;p193"/>
          <p:cNvSpPr/>
          <p:nvPr/>
        </p:nvSpPr>
        <p:spPr>
          <a:xfrm>
            <a:off x="8421463" y="4604350"/>
            <a:ext cx="996375" cy="900850"/>
          </a:xfrm>
          <a:prstGeom prst="flowChartMagneticDisk">
            <a:avLst/>
          </a:prstGeom>
          <a:solidFill>
            <a:schemeClr val="lt1"/>
          </a:solidFill>
          <a:ln cap="flat" cmpd="sng" w="28575">
            <a:solidFill>
              <a:srgbClr val="C4CCD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Silver</a:t>
            </a:r>
            <a:endParaRPr>
              <a:solidFill>
                <a:schemeClr val="dk1"/>
              </a:solidFill>
              <a:latin typeface="DM Sans"/>
              <a:ea typeface="DM Sans"/>
              <a:cs typeface="DM Sans"/>
              <a:sym typeface="DM Sans"/>
            </a:endParaRPr>
          </a:p>
        </p:txBody>
      </p:sp>
      <p:sp>
        <p:nvSpPr>
          <p:cNvPr id="5268" name="Google Shape;5268;p193"/>
          <p:cNvSpPr/>
          <p:nvPr/>
        </p:nvSpPr>
        <p:spPr>
          <a:xfrm>
            <a:off x="6683363" y="4604350"/>
            <a:ext cx="996375" cy="900850"/>
          </a:xfrm>
          <a:prstGeom prst="flowChartMagneticDisk">
            <a:avLst/>
          </a:prstGeom>
          <a:solidFill>
            <a:schemeClr val="lt1"/>
          </a:solidFill>
          <a:ln cap="flat" cmpd="sng" w="2857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Bronze</a:t>
            </a:r>
            <a:endParaRPr>
              <a:solidFill>
                <a:schemeClr val="dk1"/>
              </a:solidFill>
              <a:latin typeface="DM Sans"/>
              <a:ea typeface="DM Sans"/>
              <a:cs typeface="DM Sans"/>
              <a:sym typeface="DM Sans"/>
            </a:endParaRPr>
          </a:p>
        </p:txBody>
      </p:sp>
      <p:sp>
        <p:nvSpPr>
          <p:cNvPr id="5269" name="Google Shape;5269;p193"/>
          <p:cNvSpPr txBox="1"/>
          <p:nvPr/>
        </p:nvSpPr>
        <p:spPr>
          <a:xfrm>
            <a:off x="6477625" y="5594150"/>
            <a:ext cx="1407900" cy="66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Raw ingestion, and history</a:t>
            </a:r>
            <a:endParaRPr sz="1200">
              <a:solidFill>
                <a:schemeClr val="dk1"/>
              </a:solidFill>
              <a:latin typeface="DM Sans"/>
              <a:ea typeface="DM Sans"/>
              <a:cs typeface="DM Sans"/>
              <a:sym typeface="DM Sans"/>
            </a:endParaRPr>
          </a:p>
        </p:txBody>
      </p:sp>
      <p:sp>
        <p:nvSpPr>
          <p:cNvPr id="5270" name="Google Shape;5270;p193"/>
          <p:cNvSpPr txBox="1"/>
          <p:nvPr/>
        </p:nvSpPr>
        <p:spPr>
          <a:xfrm>
            <a:off x="8215713" y="5594150"/>
            <a:ext cx="1407900" cy="66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Filtered, cleaned, augmented</a:t>
            </a:r>
            <a:endParaRPr sz="1200">
              <a:solidFill>
                <a:schemeClr val="dk1"/>
              </a:solidFill>
              <a:latin typeface="DM Sans"/>
              <a:ea typeface="DM Sans"/>
              <a:cs typeface="DM Sans"/>
              <a:sym typeface="DM Sans"/>
            </a:endParaRPr>
          </a:p>
        </p:txBody>
      </p:sp>
      <p:cxnSp>
        <p:nvCxnSpPr>
          <p:cNvPr id="5271" name="Google Shape;5271;p193"/>
          <p:cNvCxnSpPr>
            <a:stCxn id="5259" idx="3"/>
            <a:endCxn id="5261" idx="1"/>
          </p:cNvCxnSpPr>
          <p:nvPr/>
        </p:nvCxnSpPr>
        <p:spPr>
          <a:xfrm>
            <a:off x="4634925" y="1574650"/>
            <a:ext cx="1520700" cy="0"/>
          </a:xfrm>
          <a:prstGeom prst="straightConnector1">
            <a:avLst/>
          </a:prstGeom>
          <a:noFill/>
          <a:ln cap="flat" cmpd="sng" w="9525">
            <a:solidFill>
              <a:schemeClr val="dk2"/>
            </a:solidFill>
            <a:prstDash val="solid"/>
            <a:round/>
            <a:headEnd len="med" w="med" type="none"/>
            <a:tailEnd len="med" w="med" type="triangle"/>
          </a:ln>
        </p:spPr>
      </p:cxnSp>
      <p:cxnSp>
        <p:nvCxnSpPr>
          <p:cNvPr id="5272" name="Google Shape;5272;p193"/>
          <p:cNvCxnSpPr>
            <a:stCxn id="5263" idx="4"/>
            <a:endCxn id="5268" idx="2"/>
          </p:cNvCxnSpPr>
          <p:nvPr/>
        </p:nvCxnSpPr>
        <p:spPr>
          <a:xfrm>
            <a:off x="4059525" y="5054775"/>
            <a:ext cx="2623800" cy="0"/>
          </a:xfrm>
          <a:prstGeom prst="straightConnector1">
            <a:avLst/>
          </a:prstGeom>
          <a:noFill/>
          <a:ln cap="flat" cmpd="sng" w="9525">
            <a:solidFill>
              <a:schemeClr val="dk2"/>
            </a:solidFill>
            <a:prstDash val="solid"/>
            <a:round/>
            <a:headEnd len="med" w="med" type="none"/>
            <a:tailEnd len="med" w="med" type="triangle"/>
          </a:ln>
        </p:spPr>
      </p:cxnSp>
      <p:cxnSp>
        <p:nvCxnSpPr>
          <p:cNvPr id="5273" name="Google Shape;5273;p193"/>
          <p:cNvCxnSpPr>
            <a:stCxn id="5268" idx="4"/>
            <a:endCxn id="5267" idx="2"/>
          </p:cNvCxnSpPr>
          <p:nvPr/>
        </p:nvCxnSpPr>
        <p:spPr>
          <a:xfrm>
            <a:off x="7679738" y="5054775"/>
            <a:ext cx="741600" cy="0"/>
          </a:xfrm>
          <a:prstGeom prst="straightConnector1">
            <a:avLst/>
          </a:prstGeom>
          <a:noFill/>
          <a:ln cap="flat" cmpd="sng" w="9525">
            <a:solidFill>
              <a:schemeClr val="dk2"/>
            </a:solidFill>
            <a:prstDash val="solid"/>
            <a:round/>
            <a:headEnd len="med" w="med" type="none"/>
            <a:tailEnd len="med" w="med" type="triangle"/>
          </a:ln>
        </p:spPr>
      </p:cxnSp>
      <p:cxnSp>
        <p:nvCxnSpPr>
          <p:cNvPr id="5274" name="Google Shape;5274;p193"/>
          <p:cNvCxnSpPr>
            <a:stCxn id="5261" idx="2"/>
            <a:endCxn id="5264" idx="1"/>
          </p:cNvCxnSpPr>
          <p:nvPr/>
        </p:nvCxnSpPr>
        <p:spPr>
          <a:xfrm>
            <a:off x="7517200" y="2173450"/>
            <a:ext cx="0" cy="407700"/>
          </a:xfrm>
          <a:prstGeom prst="straightConnector1">
            <a:avLst/>
          </a:prstGeom>
          <a:noFill/>
          <a:ln cap="flat" cmpd="sng" w="9525">
            <a:solidFill>
              <a:schemeClr val="dk2"/>
            </a:solidFill>
            <a:prstDash val="solid"/>
            <a:round/>
            <a:headEnd len="med" w="med" type="none"/>
            <a:tailEnd len="med" w="med" type="triangle"/>
          </a:ln>
        </p:spPr>
      </p:cxnSp>
      <p:cxnSp>
        <p:nvCxnSpPr>
          <p:cNvPr id="5275" name="Google Shape;5275;p193"/>
          <p:cNvCxnSpPr>
            <a:stCxn id="5264" idx="3"/>
          </p:cNvCxnSpPr>
          <p:nvPr/>
        </p:nvCxnSpPr>
        <p:spPr>
          <a:xfrm>
            <a:off x="7517200" y="3588675"/>
            <a:ext cx="6300" cy="448200"/>
          </a:xfrm>
          <a:prstGeom prst="straightConnector1">
            <a:avLst/>
          </a:prstGeom>
          <a:noFill/>
          <a:ln cap="flat" cmpd="sng" w="9525">
            <a:solidFill>
              <a:schemeClr val="dk2"/>
            </a:solidFill>
            <a:prstDash val="solid"/>
            <a:round/>
            <a:headEnd len="med" w="med" type="none"/>
            <a:tailEnd len="med" w="med" type="triangle"/>
          </a:ln>
        </p:spPr>
      </p:cxnSp>
      <p:sp>
        <p:nvSpPr>
          <p:cNvPr id="5276" name="Google Shape;5276;p193"/>
          <p:cNvSpPr/>
          <p:nvPr/>
        </p:nvSpPr>
        <p:spPr>
          <a:xfrm>
            <a:off x="4552050" y="622575"/>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1</a:t>
            </a:r>
            <a:endParaRPr b="1">
              <a:solidFill>
                <a:schemeClr val="lt1"/>
              </a:solidFill>
              <a:latin typeface="DM Sans"/>
              <a:ea typeface="DM Sans"/>
              <a:cs typeface="DM Sans"/>
              <a:sym typeface="DM Sans"/>
            </a:endParaRPr>
          </a:p>
        </p:txBody>
      </p:sp>
      <p:sp>
        <p:nvSpPr>
          <p:cNvPr id="5277" name="Google Shape;5277;p193"/>
          <p:cNvSpPr/>
          <p:nvPr/>
        </p:nvSpPr>
        <p:spPr>
          <a:xfrm>
            <a:off x="7679750" y="2246838"/>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2</a:t>
            </a:r>
            <a:endParaRPr b="1">
              <a:solidFill>
                <a:schemeClr val="lt1"/>
              </a:solidFill>
              <a:latin typeface="DM Sans"/>
              <a:ea typeface="DM Sans"/>
              <a:cs typeface="DM Sans"/>
              <a:sym typeface="DM Sans"/>
            </a:endParaRPr>
          </a:p>
        </p:txBody>
      </p:sp>
      <p:sp>
        <p:nvSpPr>
          <p:cNvPr id="5278" name="Google Shape;5278;p193"/>
          <p:cNvSpPr/>
          <p:nvPr/>
        </p:nvSpPr>
        <p:spPr>
          <a:xfrm>
            <a:off x="4114975" y="4604338"/>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3</a:t>
            </a:r>
            <a:endParaRPr b="1">
              <a:solidFill>
                <a:schemeClr val="lt1"/>
              </a:solidFill>
              <a:latin typeface="DM Sans"/>
              <a:ea typeface="DM Sans"/>
              <a:cs typeface="DM Sans"/>
              <a:sym typeface="DM Sans"/>
            </a:endParaRPr>
          </a:p>
        </p:txBody>
      </p:sp>
      <p:sp>
        <p:nvSpPr>
          <p:cNvPr id="5279" name="Google Shape;5279;p193"/>
          <p:cNvSpPr/>
          <p:nvPr/>
        </p:nvSpPr>
        <p:spPr>
          <a:xfrm>
            <a:off x="7920113" y="5244188"/>
            <a:ext cx="261000" cy="261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4</a:t>
            </a:r>
            <a:endParaRPr b="1">
              <a:solidFill>
                <a:schemeClr val="lt1"/>
              </a:solidFill>
              <a:latin typeface="DM Sans"/>
              <a:ea typeface="DM Sans"/>
              <a:cs typeface="DM Sans"/>
              <a:sym typeface="DM San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3" name="Shape 5283"/>
        <p:cNvGrpSpPr/>
        <p:nvPr/>
      </p:nvGrpSpPr>
      <p:grpSpPr>
        <a:xfrm>
          <a:off x="0" y="0"/>
          <a:ext cx="0" cy="0"/>
          <a:chOff x="0" y="0"/>
          <a:chExt cx="0" cy="0"/>
        </a:xfrm>
      </p:grpSpPr>
      <p:sp>
        <p:nvSpPr>
          <p:cNvPr id="5284" name="Google Shape;5284;p194"/>
          <p:cNvSpPr/>
          <p:nvPr/>
        </p:nvSpPr>
        <p:spPr>
          <a:xfrm>
            <a:off x="1911825" y="539350"/>
            <a:ext cx="2723100" cy="2070600"/>
          </a:xfrm>
          <a:prstGeom prst="roundRect">
            <a:avLst>
              <a:gd fmla="val 16667"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DM Sans"/>
                <a:ea typeface="DM Sans"/>
                <a:cs typeface="DM Sans"/>
                <a:sym typeface="DM Sans"/>
              </a:rPr>
              <a:t>Input</a:t>
            </a:r>
            <a:endParaRPr b="1">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85" name="Google Shape;5285;p194"/>
          <p:cNvSpPr/>
          <p:nvPr/>
        </p:nvSpPr>
        <p:spPr>
          <a:xfrm>
            <a:off x="2122150" y="1022025"/>
            <a:ext cx="2369142" cy="1328508"/>
          </a:xfrm>
          <a:prstGeom prst="flowChartMulti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Onboarding files</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86" name="Google Shape;5286;p194"/>
          <p:cNvSpPr/>
          <p:nvPr/>
        </p:nvSpPr>
        <p:spPr>
          <a:xfrm>
            <a:off x="6155650" y="975850"/>
            <a:ext cx="2723100" cy="1197600"/>
          </a:xfrm>
          <a:prstGeom prst="roundRect">
            <a:avLst>
              <a:gd fmla="val 16667"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DM Sans"/>
                <a:ea typeface="DM Sans"/>
                <a:cs typeface="DM Sans"/>
                <a:sym typeface="DM Sans"/>
              </a:rPr>
              <a:t>dlt-meta API</a:t>
            </a:r>
            <a:endParaRPr b="1">
              <a:solidFill>
                <a:schemeClr val="dk1"/>
              </a:solidFill>
              <a:latin typeface="DM Sans"/>
              <a:ea typeface="DM Sans"/>
              <a:cs typeface="DM Sans"/>
              <a:sym typeface="DM Sans"/>
            </a:endParaRPr>
          </a:p>
          <a:p>
            <a:pPr indent="0" lvl="0" marL="0" rtl="0" algn="ctr">
              <a:spcBef>
                <a:spcPts val="0"/>
              </a:spcBef>
              <a:spcAft>
                <a:spcPts val="0"/>
              </a:spcAft>
              <a:buNone/>
            </a:pPr>
            <a:r>
              <a:t/>
            </a:r>
            <a:endParaRPr b="1">
              <a:solidFill>
                <a:schemeClr val="dk1"/>
              </a:solidFill>
              <a:latin typeface="DM Sans"/>
              <a:ea typeface="DM Sans"/>
              <a:cs typeface="DM Sans"/>
              <a:sym typeface="DM Sans"/>
            </a:endParaRPr>
          </a:p>
          <a:p>
            <a:pPr indent="0" lvl="0" marL="0" rtl="0" algn="ctr">
              <a:spcBef>
                <a:spcPts val="0"/>
              </a:spcBef>
              <a:spcAft>
                <a:spcPts val="0"/>
              </a:spcAft>
              <a:buNone/>
            </a:pPr>
            <a:r>
              <a:rPr lang="en">
                <a:solidFill>
                  <a:schemeClr val="dk1"/>
                </a:solidFill>
                <a:latin typeface="DM Sans"/>
                <a:ea typeface="DM Sans"/>
                <a:cs typeface="DM Sans"/>
                <a:sym typeface="DM Sans"/>
              </a:rPr>
              <a:t>Onboard processing</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87" name="Google Shape;5287;p194"/>
          <p:cNvSpPr/>
          <p:nvPr/>
        </p:nvSpPr>
        <p:spPr>
          <a:xfrm>
            <a:off x="6163000" y="4045525"/>
            <a:ext cx="3775200" cy="2273100"/>
          </a:xfrm>
          <a:prstGeom prst="roundRect">
            <a:avLst>
              <a:gd fmla="val 16667"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DM Sans"/>
                <a:ea typeface="DM Sans"/>
                <a:cs typeface="DM Sans"/>
                <a:sym typeface="DM Sans"/>
              </a:rPr>
              <a:t>Pipelines: DataflowPipeline</a:t>
            </a:r>
            <a:endParaRPr b="1">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88" name="Google Shape;5288;p194"/>
          <p:cNvSpPr/>
          <p:nvPr/>
        </p:nvSpPr>
        <p:spPr>
          <a:xfrm>
            <a:off x="1911825" y="4290825"/>
            <a:ext cx="2147700" cy="1527900"/>
          </a:xfrm>
          <a:prstGeom prst="can">
            <a:avLst>
              <a:gd fmla="val 25000" name="adj"/>
            </a:avLst>
          </a:prstGeom>
          <a:solidFill>
            <a:schemeClr val="l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Source data</a:t>
            </a:r>
            <a:endParaRPr>
              <a:solidFill>
                <a:schemeClr val="dk1"/>
              </a:solidFill>
              <a:latin typeface="DM Sans"/>
              <a:ea typeface="DM Sans"/>
              <a:cs typeface="DM Sans"/>
              <a:sym typeface="DM Sans"/>
            </a:endParaRPr>
          </a:p>
        </p:txBody>
      </p:sp>
      <p:sp>
        <p:nvSpPr>
          <p:cNvPr id="5289" name="Google Shape;5289;p194"/>
          <p:cNvSpPr/>
          <p:nvPr/>
        </p:nvSpPr>
        <p:spPr>
          <a:xfrm>
            <a:off x="6155650" y="2581225"/>
            <a:ext cx="2723100" cy="1007450"/>
          </a:xfrm>
          <a:prstGeom prst="flowChartMagneticDisk">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Stored metadata</a:t>
            </a:r>
            <a:endParaRPr>
              <a:solidFill>
                <a:schemeClr val="dk1"/>
              </a:solidFill>
              <a:latin typeface="DM Sans"/>
              <a:ea typeface="DM Sans"/>
              <a:cs typeface="DM Sans"/>
              <a:sym typeface="DM Sans"/>
            </a:endParaRPr>
          </a:p>
        </p:txBody>
      </p:sp>
      <p:pic>
        <p:nvPicPr>
          <p:cNvPr id="5290" name="Google Shape;5290;p194"/>
          <p:cNvPicPr preferRelativeResize="0"/>
          <p:nvPr/>
        </p:nvPicPr>
        <p:blipFill rotWithShape="1">
          <a:blip r:embed="rId3">
            <a:alphaModFix/>
          </a:blip>
          <a:srcRect b="0" l="0" r="0" t="0"/>
          <a:stretch/>
        </p:blipFill>
        <p:spPr>
          <a:xfrm>
            <a:off x="8592913" y="2964133"/>
            <a:ext cx="653499" cy="507665"/>
          </a:xfrm>
          <a:prstGeom prst="rect">
            <a:avLst/>
          </a:prstGeom>
          <a:noFill/>
          <a:ln>
            <a:noFill/>
          </a:ln>
        </p:spPr>
      </p:pic>
      <p:pic>
        <p:nvPicPr>
          <p:cNvPr id="5291" name="Google Shape;5291;p194"/>
          <p:cNvPicPr preferRelativeResize="0"/>
          <p:nvPr/>
        </p:nvPicPr>
        <p:blipFill rotWithShape="1">
          <a:blip r:embed="rId3">
            <a:alphaModFix/>
          </a:blip>
          <a:srcRect b="0" l="0" r="0" t="0"/>
          <a:stretch/>
        </p:blipFill>
        <p:spPr>
          <a:xfrm>
            <a:off x="9623626" y="5747696"/>
            <a:ext cx="653499" cy="507665"/>
          </a:xfrm>
          <a:prstGeom prst="rect">
            <a:avLst/>
          </a:prstGeom>
          <a:noFill/>
          <a:ln>
            <a:noFill/>
          </a:ln>
        </p:spPr>
      </p:pic>
      <p:sp>
        <p:nvSpPr>
          <p:cNvPr id="5292" name="Google Shape;5292;p194"/>
          <p:cNvSpPr/>
          <p:nvPr/>
        </p:nvSpPr>
        <p:spPr>
          <a:xfrm>
            <a:off x="8421463" y="4604350"/>
            <a:ext cx="996375" cy="900850"/>
          </a:xfrm>
          <a:prstGeom prst="flowChartMagneticDisk">
            <a:avLst/>
          </a:prstGeom>
          <a:solidFill>
            <a:schemeClr val="lt1"/>
          </a:solidFill>
          <a:ln cap="flat" cmpd="sng" w="28575">
            <a:solidFill>
              <a:srgbClr val="C4CCD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Silver</a:t>
            </a:r>
            <a:endParaRPr>
              <a:solidFill>
                <a:schemeClr val="dk1"/>
              </a:solidFill>
              <a:latin typeface="DM Sans"/>
              <a:ea typeface="DM Sans"/>
              <a:cs typeface="DM Sans"/>
              <a:sym typeface="DM Sans"/>
            </a:endParaRPr>
          </a:p>
        </p:txBody>
      </p:sp>
      <p:sp>
        <p:nvSpPr>
          <p:cNvPr id="5293" name="Google Shape;5293;p194"/>
          <p:cNvSpPr/>
          <p:nvPr/>
        </p:nvSpPr>
        <p:spPr>
          <a:xfrm>
            <a:off x="6683363" y="4604350"/>
            <a:ext cx="996375" cy="900850"/>
          </a:xfrm>
          <a:prstGeom prst="flowChartMagneticDisk">
            <a:avLst/>
          </a:prstGeom>
          <a:solidFill>
            <a:schemeClr val="lt1"/>
          </a:solidFill>
          <a:ln cap="flat" cmpd="sng" w="2857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Bronze</a:t>
            </a:r>
            <a:endParaRPr>
              <a:solidFill>
                <a:schemeClr val="dk1"/>
              </a:solidFill>
              <a:latin typeface="DM Sans"/>
              <a:ea typeface="DM Sans"/>
              <a:cs typeface="DM Sans"/>
              <a:sym typeface="DM Sans"/>
            </a:endParaRPr>
          </a:p>
        </p:txBody>
      </p:sp>
      <p:sp>
        <p:nvSpPr>
          <p:cNvPr id="5294" name="Google Shape;5294;p194"/>
          <p:cNvSpPr txBox="1"/>
          <p:nvPr/>
        </p:nvSpPr>
        <p:spPr>
          <a:xfrm>
            <a:off x="6477625" y="5594150"/>
            <a:ext cx="1407900" cy="66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Raw ingestion, and history</a:t>
            </a:r>
            <a:endParaRPr sz="1200">
              <a:solidFill>
                <a:schemeClr val="dk1"/>
              </a:solidFill>
              <a:latin typeface="DM Sans"/>
              <a:ea typeface="DM Sans"/>
              <a:cs typeface="DM Sans"/>
              <a:sym typeface="DM Sans"/>
            </a:endParaRPr>
          </a:p>
        </p:txBody>
      </p:sp>
      <p:sp>
        <p:nvSpPr>
          <p:cNvPr id="5295" name="Google Shape;5295;p194"/>
          <p:cNvSpPr txBox="1"/>
          <p:nvPr/>
        </p:nvSpPr>
        <p:spPr>
          <a:xfrm>
            <a:off x="8215713" y="5594150"/>
            <a:ext cx="1407900" cy="66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Filtered, cleaned, augmented</a:t>
            </a:r>
            <a:endParaRPr sz="1200">
              <a:solidFill>
                <a:schemeClr val="dk1"/>
              </a:solidFill>
              <a:latin typeface="DM Sans"/>
              <a:ea typeface="DM Sans"/>
              <a:cs typeface="DM Sans"/>
              <a:sym typeface="DM Sans"/>
            </a:endParaRPr>
          </a:p>
        </p:txBody>
      </p:sp>
      <p:cxnSp>
        <p:nvCxnSpPr>
          <p:cNvPr id="5296" name="Google Shape;5296;p194"/>
          <p:cNvCxnSpPr>
            <a:stCxn id="5284" idx="3"/>
            <a:endCxn id="5286" idx="1"/>
          </p:cNvCxnSpPr>
          <p:nvPr/>
        </p:nvCxnSpPr>
        <p:spPr>
          <a:xfrm>
            <a:off x="4634925" y="1574650"/>
            <a:ext cx="1520700" cy="0"/>
          </a:xfrm>
          <a:prstGeom prst="straightConnector1">
            <a:avLst/>
          </a:prstGeom>
          <a:noFill/>
          <a:ln cap="flat" cmpd="sng" w="9525">
            <a:solidFill>
              <a:schemeClr val="dk2"/>
            </a:solidFill>
            <a:prstDash val="solid"/>
            <a:round/>
            <a:headEnd len="med" w="med" type="none"/>
            <a:tailEnd len="med" w="med" type="triangle"/>
          </a:ln>
        </p:spPr>
      </p:cxnSp>
      <p:cxnSp>
        <p:nvCxnSpPr>
          <p:cNvPr id="5297" name="Google Shape;5297;p194"/>
          <p:cNvCxnSpPr>
            <a:stCxn id="5288" idx="4"/>
            <a:endCxn id="5293" idx="2"/>
          </p:cNvCxnSpPr>
          <p:nvPr/>
        </p:nvCxnSpPr>
        <p:spPr>
          <a:xfrm>
            <a:off x="4059525" y="5054775"/>
            <a:ext cx="2623800" cy="0"/>
          </a:xfrm>
          <a:prstGeom prst="straightConnector1">
            <a:avLst/>
          </a:prstGeom>
          <a:noFill/>
          <a:ln cap="flat" cmpd="sng" w="9525">
            <a:solidFill>
              <a:schemeClr val="dk2"/>
            </a:solidFill>
            <a:prstDash val="solid"/>
            <a:round/>
            <a:headEnd len="med" w="med" type="none"/>
            <a:tailEnd len="med" w="med" type="triangle"/>
          </a:ln>
        </p:spPr>
      </p:cxnSp>
      <p:cxnSp>
        <p:nvCxnSpPr>
          <p:cNvPr id="5298" name="Google Shape;5298;p194"/>
          <p:cNvCxnSpPr>
            <a:stCxn id="5293" idx="4"/>
            <a:endCxn id="5292" idx="2"/>
          </p:cNvCxnSpPr>
          <p:nvPr/>
        </p:nvCxnSpPr>
        <p:spPr>
          <a:xfrm>
            <a:off x="7679738" y="5054775"/>
            <a:ext cx="741600" cy="0"/>
          </a:xfrm>
          <a:prstGeom prst="straightConnector1">
            <a:avLst/>
          </a:prstGeom>
          <a:noFill/>
          <a:ln cap="flat" cmpd="sng" w="9525">
            <a:solidFill>
              <a:schemeClr val="dk2"/>
            </a:solidFill>
            <a:prstDash val="solid"/>
            <a:round/>
            <a:headEnd len="med" w="med" type="none"/>
            <a:tailEnd len="med" w="med" type="triangle"/>
          </a:ln>
        </p:spPr>
      </p:cxnSp>
      <p:cxnSp>
        <p:nvCxnSpPr>
          <p:cNvPr id="5299" name="Google Shape;5299;p194"/>
          <p:cNvCxnSpPr>
            <a:stCxn id="5286" idx="2"/>
            <a:endCxn id="5289" idx="1"/>
          </p:cNvCxnSpPr>
          <p:nvPr/>
        </p:nvCxnSpPr>
        <p:spPr>
          <a:xfrm>
            <a:off x="7517200" y="2173450"/>
            <a:ext cx="0" cy="407700"/>
          </a:xfrm>
          <a:prstGeom prst="straightConnector1">
            <a:avLst/>
          </a:prstGeom>
          <a:noFill/>
          <a:ln cap="flat" cmpd="sng" w="9525">
            <a:solidFill>
              <a:schemeClr val="dk2"/>
            </a:solidFill>
            <a:prstDash val="solid"/>
            <a:round/>
            <a:headEnd len="med" w="med" type="none"/>
            <a:tailEnd len="med" w="med" type="triangle"/>
          </a:ln>
        </p:spPr>
      </p:cxnSp>
      <p:cxnSp>
        <p:nvCxnSpPr>
          <p:cNvPr id="5300" name="Google Shape;5300;p194"/>
          <p:cNvCxnSpPr>
            <a:stCxn id="5289" idx="3"/>
          </p:cNvCxnSpPr>
          <p:nvPr/>
        </p:nvCxnSpPr>
        <p:spPr>
          <a:xfrm>
            <a:off x="7517200" y="3588675"/>
            <a:ext cx="6300" cy="448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4" name="Shape 5304"/>
        <p:cNvGrpSpPr/>
        <p:nvPr/>
      </p:nvGrpSpPr>
      <p:grpSpPr>
        <a:xfrm>
          <a:off x="0" y="0"/>
          <a:ext cx="0" cy="0"/>
          <a:chOff x="0" y="0"/>
          <a:chExt cx="0" cy="0"/>
        </a:xfrm>
      </p:grpSpPr>
      <p:sp>
        <p:nvSpPr>
          <p:cNvPr id="5305" name="Google Shape;5305;p195"/>
          <p:cNvSpPr/>
          <p:nvPr/>
        </p:nvSpPr>
        <p:spPr>
          <a:xfrm>
            <a:off x="3716650" y="3031925"/>
            <a:ext cx="5352300" cy="2111100"/>
          </a:xfrm>
          <a:prstGeom prst="roundRect">
            <a:avLst>
              <a:gd fmla="val 65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M Sans Medium"/>
                <a:ea typeface="DM Sans Medium"/>
                <a:cs typeface="DM Sans Medium"/>
                <a:sym typeface="DM Sans Medium"/>
              </a:rPr>
              <a:t>Lakeflow Declarative Pipelines</a:t>
            </a:r>
            <a:endParaRPr baseline="30000">
              <a:solidFill>
                <a:schemeClr val="dk2"/>
              </a:solidFill>
              <a:latin typeface="DM Sans Medium"/>
              <a:ea typeface="DM Sans Medium"/>
              <a:cs typeface="DM Sans Medium"/>
              <a:sym typeface="DM Sans Medium"/>
            </a:endParaRPr>
          </a:p>
        </p:txBody>
      </p:sp>
      <p:sp>
        <p:nvSpPr>
          <p:cNvPr id="5306" name="Google Shape;5306;p195"/>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DLT pipeline tutorial/static/images/dlt/dlt-recover-streaming-flow.png</a:t>
            </a:r>
            <a:endParaRPr sz="200"/>
          </a:p>
        </p:txBody>
      </p:sp>
      <p:sp>
        <p:nvSpPr>
          <p:cNvPr id="5307" name="Google Shape;5307;p195"/>
          <p:cNvSpPr/>
          <p:nvPr/>
        </p:nvSpPr>
        <p:spPr>
          <a:xfrm>
            <a:off x="741975" y="837375"/>
            <a:ext cx="4430700" cy="1895400"/>
          </a:xfrm>
          <a:prstGeom prst="roundRect">
            <a:avLst>
              <a:gd fmla="val 654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M Sans Medium"/>
                <a:ea typeface="DM Sans Medium"/>
                <a:cs typeface="DM Sans Medium"/>
                <a:sym typeface="DM Sans Medium"/>
              </a:rPr>
              <a:t>Cloud storage</a:t>
            </a:r>
            <a:endParaRPr baseline="30000">
              <a:solidFill>
                <a:schemeClr val="dk2"/>
              </a:solidFill>
              <a:latin typeface="DM Sans Medium"/>
              <a:ea typeface="DM Sans Medium"/>
              <a:cs typeface="DM Sans Medium"/>
              <a:sym typeface="DM Sans Medium"/>
            </a:endParaRPr>
          </a:p>
        </p:txBody>
      </p:sp>
      <p:grpSp>
        <p:nvGrpSpPr>
          <p:cNvPr id="5308" name="Google Shape;5308;p195"/>
          <p:cNvGrpSpPr/>
          <p:nvPr/>
        </p:nvGrpSpPr>
        <p:grpSpPr>
          <a:xfrm>
            <a:off x="897924" y="1416800"/>
            <a:ext cx="1709487" cy="877500"/>
            <a:chOff x="6319010" y="5452775"/>
            <a:chExt cx="1710000" cy="877500"/>
          </a:xfrm>
        </p:grpSpPr>
        <p:sp>
          <p:nvSpPr>
            <p:cNvPr id="5309" name="Google Shape;5309;p195"/>
            <p:cNvSpPr/>
            <p:nvPr/>
          </p:nvSpPr>
          <p:spPr>
            <a:xfrm>
              <a:off x="6319010" y="5452775"/>
              <a:ext cx="17100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rPr lang="en" sz="1200">
                  <a:latin typeface="DM Sans Medium"/>
                  <a:ea typeface="DM Sans Medium"/>
                  <a:cs typeface="DM Sans Medium"/>
                  <a:sym typeface="DM Sans Medium"/>
                </a:rPr>
                <a:t>Customers</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rPr lang="en" sz="1200">
                  <a:latin typeface="DM Sans Medium"/>
                  <a:ea typeface="DM Sans Medium"/>
                  <a:cs typeface="DM Sans Medium"/>
                  <a:sym typeface="DM Sans Medium"/>
                </a:rPr>
                <a:t>Change Data Feed</a:t>
              </a:r>
              <a:endParaRPr sz="1200">
                <a:latin typeface="DM Sans Medium"/>
                <a:ea typeface="DM Sans Medium"/>
                <a:cs typeface="DM Sans Medium"/>
                <a:sym typeface="DM Sans Medium"/>
              </a:endParaRPr>
            </a:p>
          </p:txBody>
        </p:sp>
        <p:pic>
          <p:nvPicPr>
            <p:cNvPr id="5310" name="Google Shape;5310;p195"/>
            <p:cNvPicPr preferRelativeResize="0"/>
            <p:nvPr/>
          </p:nvPicPr>
          <p:blipFill rotWithShape="1">
            <a:blip r:embed="rId3">
              <a:alphaModFix/>
            </a:blip>
            <a:srcRect b="-2679" l="0" r="0" t="2679"/>
            <a:stretch/>
          </p:blipFill>
          <p:spPr>
            <a:xfrm>
              <a:off x="6932513" y="5452783"/>
              <a:ext cx="482974" cy="482974"/>
            </a:xfrm>
            <a:prstGeom prst="rect">
              <a:avLst/>
            </a:prstGeom>
            <a:noFill/>
            <a:ln>
              <a:noFill/>
            </a:ln>
          </p:spPr>
        </p:pic>
      </p:grpSp>
      <p:grpSp>
        <p:nvGrpSpPr>
          <p:cNvPr id="5311" name="Google Shape;5311;p195"/>
          <p:cNvGrpSpPr/>
          <p:nvPr/>
        </p:nvGrpSpPr>
        <p:grpSpPr>
          <a:xfrm>
            <a:off x="3945225" y="3648725"/>
            <a:ext cx="1896000" cy="1053900"/>
            <a:chOff x="4684475" y="4320125"/>
            <a:chExt cx="1896000" cy="1053900"/>
          </a:xfrm>
        </p:grpSpPr>
        <p:sp>
          <p:nvSpPr>
            <p:cNvPr id="5312" name="Google Shape;5312;p195"/>
            <p:cNvSpPr/>
            <p:nvPr/>
          </p:nvSpPr>
          <p:spPr>
            <a:xfrm>
              <a:off x="4684475" y="4320125"/>
              <a:ext cx="1896000" cy="10539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a:t>
              </a:r>
              <a:r>
                <a:rPr lang="en" sz="1200">
                  <a:latin typeface="DM Sans Medium"/>
                  <a:ea typeface="DM Sans Medium"/>
                  <a:cs typeface="DM Sans Medium"/>
                  <a:sym typeface="DM Sans Medium"/>
                </a:rPr>
                <a:t>ustomers_raw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(view) deduplicated</a:t>
              </a:r>
              <a:endParaRPr sz="1200">
                <a:latin typeface="DM Sans Medium"/>
                <a:ea typeface="DM Sans Medium"/>
                <a:cs typeface="DM Sans Medium"/>
                <a:sym typeface="DM Sans Medium"/>
              </a:endParaRPr>
            </a:p>
          </p:txBody>
        </p:sp>
        <p:pic>
          <p:nvPicPr>
            <p:cNvPr id="5313" name="Google Shape;5313;p195"/>
            <p:cNvPicPr preferRelativeResize="0"/>
            <p:nvPr/>
          </p:nvPicPr>
          <p:blipFill rotWithShape="1">
            <a:blip r:embed="rId4">
              <a:alphaModFix/>
            </a:blip>
            <a:srcRect b="0" l="0" r="0" t="0"/>
            <a:stretch/>
          </p:blipFill>
          <p:spPr>
            <a:xfrm>
              <a:off x="5391102" y="4388407"/>
              <a:ext cx="482730" cy="482730"/>
            </a:xfrm>
            <a:prstGeom prst="rect">
              <a:avLst/>
            </a:prstGeom>
            <a:noFill/>
            <a:ln>
              <a:noFill/>
            </a:ln>
          </p:spPr>
        </p:pic>
      </p:grpSp>
      <p:grpSp>
        <p:nvGrpSpPr>
          <p:cNvPr id="5314" name="Google Shape;5314;p195"/>
          <p:cNvGrpSpPr/>
          <p:nvPr/>
        </p:nvGrpSpPr>
        <p:grpSpPr>
          <a:xfrm>
            <a:off x="3286874" y="1416788"/>
            <a:ext cx="1709487" cy="877500"/>
            <a:chOff x="6467454" y="5131250"/>
            <a:chExt cx="1710000" cy="877500"/>
          </a:xfrm>
        </p:grpSpPr>
        <p:sp>
          <p:nvSpPr>
            <p:cNvPr id="5315" name="Google Shape;5315;p195"/>
            <p:cNvSpPr/>
            <p:nvPr/>
          </p:nvSpPr>
          <p:spPr>
            <a:xfrm>
              <a:off x="6467454" y="5131250"/>
              <a:ext cx="1710000" cy="8775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rPr lang="en" sz="1200">
                  <a:latin typeface="DM Sans Medium"/>
                  <a:ea typeface="DM Sans Medium"/>
                  <a:cs typeface="DM Sans Medium"/>
                  <a:sym typeface="DM Sans Medium"/>
                </a:rPr>
                <a:t>Customers</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rPr lang="en" sz="1200">
                  <a:latin typeface="DM Sans Medium"/>
                  <a:ea typeface="DM Sans Medium"/>
                  <a:cs typeface="DM Sans Medium"/>
                  <a:sym typeface="DM Sans Medium"/>
                </a:rPr>
                <a:t>Initial snapshot</a:t>
              </a:r>
              <a:endParaRPr sz="1200">
                <a:latin typeface="DM Sans Medium"/>
                <a:ea typeface="DM Sans Medium"/>
                <a:cs typeface="DM Sans Medium"/>
                <a:sym typeface="DM Sans Medium"/>
              </a:endParaRPr>
            </a:p>
          </p:txBody>
        </p:sp>
        <p:pic>
          <p:nvPicPr>
            <p:cNvPr id="5316" name="Google Shape;5316;p195"/>
            <p:cNvPicPr preferRelativeResize="0"/>
            <p:nvPr/>
          </p:nvPicPr>
          <p:blipFill rotWithShape="1">
            <a:blip r:embed="rId3">
              <a:alphaModFix/>
            </a:blip>
            <a:srcRect b="-2679" l="0" r="0" t="2679"/>
            <a:stretch/>
          </p:blipFill>
          <p:spPr>
            <a:xfrm>
              <a:off x="7080957" y="5131258"/>
              <a:ext cx="482974" cy="482974"/>
            </a:xfrm>
            <a:prstGeom prst="rect">
              <a:avLst/>
            </a:prstGeom>
            <a:noFill/>
            <a:ln>
              <a:noFill/>
            </a:ln>
          </p:spPr>
        </p:pic>
      </p:grpSp>
      <p:grpSp>
        <p:nvGrpSpPr>
          <p:cNvPr id="5317" name="Google Shape;5317;p195"/>
          <p:cNvGrpSpPr/>
          <p:nvPr/>
        </p:nvGrpSpPr>
        <p:grpSpPr>
          <a:xfrm>
            <a:off x="7017200" y="3648725"/>
            <a:ext cx="1896000" cy="1053900"/>
            <a:chOff x="4684475" y="4320125"/>
            <a:chExt cx="1896000" cy="1053900"/>
          </a:xfrm>
        </p:grpSpPr>
        <p:sp>
          <p:nvSpPr>
            <p:cNvPr id="5318" name="Google Shape;5318;p195"/>
            <p:cNvSpPr/>
            <p:nvPr/>
          </p:nvSpPr>
          <p:spPr>
            <a:xfrm>
              <a:off x="4684475" y="4320125"/>
              <a:ext cx="1896000" cy="10539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0">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a:t>
              </a:r>
              <a:r>
                <a:rPr lang="en" sz="1200">
                  <a:latin typeface="DM Sans Medium"/>
                  <a:ea typeface="DM Sans Medium"/>
                  <a:cs typeface="DM Sans Medium"/>
                  <a:sym typeface="DM Sans Medium"/>
                </a:rPr>
                <a:t>ustomers</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(streaming table)</a:t>
              </a:r>
              <a:endParaRPr sz="1200">
                <a:latin typeface="DM Sans Medium"/>
                <a:ea typeface="DM Sans Medium"/>
                <a:cs typeface="DM Sans Medium"/>
                <a:sym typeface="DM Sans Medium"/>
              </a:endParaRPr>
            </a:p>
          </p:txBody>
        </p:sp>
        <p:pic>
          <p:nvPicPr>
            <p:cNvPr id="5319" name="Google Shape;5319;p195"/>
            <p:cNvPicPr preferRelativeResize="0"/>
            <p:nvPr/>
          </p:nvPicPr>
          <p:blipFill rotWithShape="1">
            <a:blip r:embed="rId4">
              <a:alphaModFix/>
            </a:blip>
            <a:srcRect b="0" l="0" r="0" t="0"/>
            <a:stretch/>
          </p:blipFill>
          <p:spPr>
            <a:xfrm>
              <a:off x="5391102" y="4388407"/>
              <a:ext cx="482730" cy="482730"/>
            </a:xfrm>
            <a:prstGeom prst="rect">
              <a:avLst/>
            </a:prstGeom>
            <a:noFill/>
            <a:ln>
              <a:noFill/>
            </a:ln>
          </p:spPr>
        </p:pic>
      </p:grpSp>
      <p:cxnSp>
        <p:nvCxnSpPr>
          <p:cNvPr id="5320" name="Google Shape;5320;p195"/>
          <p:cNvCxnSpPr>
            <a:stCxn id="5309" idx="2"/>
            <a:endCxn id="5312" idx="1"/>
          </p:cNvCxnSpPr>
          <p:nvPr/>
        </p:nvCxnSpPr>
        <p:spPr>
          <a:xfrm flipH="1" rot="-5400000">
            <a:off x="1908367" y="2138600"/>
            <a:ext cx="1881300" cy="2192700"/>
          </a:xfrm>
          <a:prstGeom prst="bentConnector2">
            <a:avLst/>
          </a:prstGeom>
          <a:noFill/>
          <a:ln cap="flat" cmpd="sng" w="19050">
            <a:solidFill>
              <a:schemeClr val="dk2"/>
            </a:solidFill>
            <a:prstDash val="solid"/>
            <a:round/>
            <a:headEnd len="med" w="med" type="none"/>
            <a:tailEnd len="med" w="med" type="triangle"/>
          </a:ln>
        </p:spPr>
      </p:cxnSp>
      <p:cxnSp>
        <p:nvCxnSpPr>
          <p:cNvPr id="5321" name="Google Shape;5321;p195"/>
          <p:cNvCxnSpPr>
            <a:stCxn id="5312" idx="3"/>
            <a:endCxn id="5318" idx="1"/>
          </p:cNvCxnSpPr>
          <p:nvPr/>
        </p:nvCxnSpPr>
        <p:spPr>
          <a:xfrm>
            <a:off x="5841225" y="4175675"/>
            <a:ext cx="1176000" cy="600"/>
          </a:xfrm>
          <a:prstGeom prst="bentConnector3">
            <a:avLst>
              <a:gd fmla="val 49999" name="adj1"/>
            </a:avLst>
          </a:prstGeom>
          <a:noFill/>
          <a:ln cap="flat" cmpd="sng" w="19050">
            <a:solidFill>
              <a:schemeClr val="dk2"/>
            </a:solidFill>
            <a:prstDash val="solid"/>
            <a:round/>
            <a:headEnd len="med" w="med" type="none"/>
            <a:tailEnd len="med" w="med" type="triangle"/>
          </a:ln>
        </p:spPr>
      </p:cxnSp>
      <p:cxnSp>
        <p:nvCxnSpPr>
          <p:cNvPr id="5322" name="Google Shape;5322;p195"/>
          <p:cNvCxnSpPr>
            <a:stCxn id="5315" idx="3"/>
            <a:endCxn id="5318" idx="0"/>
          </p:cNvCxnSpPr>
          <p:nvPr/>
        </p:nvCxnSpPr>
        <p:spPr>
          <a:xfrm>
            <a:off x="4996361" y="1855538"/>
            <a:ext cx="2968800" cy="1793100"/>
          </a:xfrm>
          <a:prstGeom prst="bentConnector2">
            <a:avLst/>
          </a:prstGeom>
          <a:noFill/>
          <a:ln cap="flat" cmpd="sng" w="19050">
            <a:solidFill>
              <a:schemeClr val="dk2"/>
            </a:solidFill>
            <a:prstDash val="solid"/>
            <a:round/>
            <a:headEnd len="med" w="med" type="none"/>
            <a:tailEnd len="med" w="med" type="triangle"/>
          </a:ln>
        </p:spPr>
      </p:cxnSp>
      <p:sp>
        <p:nvSpPr>
          <p:cNvPr id="5323" name="Google Shape;5323;p195"/>
          <p:cNvSpPr txBox="1"/>
          <p:nvPr/>
        </p:nvSpPr>
        <p:spPr>
          <a:xfrm>
            <a:off x="5675829" y="1402863"/>
            <a:ext cx="1896000" cy="5772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200">
                <a:solidFill>
                  <a:srgbClr val="1B3139"/>
                </a:solidFill>
                <a:latin typeface="DM Sans Medium"/>
                <a:ea typeface="DM Sans Medium"/>
                <a:cs typeface="DM Sans Medium"/>
                <a:sym typeface="DM Sans Medium"/>
              </a:rPr>
              <a:t>initial_snapshot_flow</a:t>
            </a:r>
            <a:endParaRPr b="0" i="0" sz="1200" u="none" cap="none" strike="noStrike">
              <a:solidFill>
                <a:srgbClr val="1B3139"/>
              </a:solidFill>
              <a:latin typeface="DM Sans Medium"/>
              <a:ea typeface="DM Sans Medium"/>
              <a:cs typeface="DM Sans Medium"/>
              <a:sym typeface="DM Sans Medium"/>
            </a:endParaRPr>
          </a:p>
        </p:txBody>
      </p:sp>
      <p:sp>
        <p:nvSpPr>
          <p:cNvPr id="5324" name="Google Shape;5324;p195"/>
          <p:cNvSpPr txBox="1"/>
          <p:nvPr/>
        </p:nvSpPr>
        <p:spPr>
          <a:xfrm>
            <a:off x="1824829" y="4090588"/>
            <a:ext cx="1896000" cy="5772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B3139"/>
              </a:buClr>
              <a:buSzPts val="5700"/>
              <a:buFont typeface="DM Sans Medium"/>
              <a:buNone/>
            </a:pPr>
            <a:r>
              <a:rPr lang="en" sz="1200">
                <a:solidFill>
                  <a:srgbClr val="1B3139"/>
                </a:solidFill>
                <a:latin typeface="DM Sans Medium"/>
                <a:ea typeface="DM Sans Medium"/>
                <a:cs typeface="DM Sans Medium"/>
                <a:sym typeface="DM Sans Medium"/>
              </a:rPr>
              <a:t>incremental_cdc_flow</a:t>
            </a:r>
            <a:endParaRPr b="0" i="0" sz="1200" u="none" cap="none" strike="noStrike">
              <a:solidFill>
                <a:srgbClr val="1B3139"/>
              </a:solidFill>
              <a:latin typeface="DM Sans Medium"/>
              <a:ea typeface="DM Sans Medium"/>
              <a:cs typeface="DM Sans Medium"/>
              <a:sym typeface="DM Sans Medium"/>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8" name="Shape 5328"/>
        <p:cNvGrpSpPr/>
        <p:nvPr/>
      </p:nvGrpSpPr>
      <p:grpSpPr>
        <a:xfrm>
          <a:off x="0" y="0"/>
          <a:ext cx="0" cy="0"/>
          <a:chOff x="0" y="0"/>
          <a:chExt cx="0" cy="0"/>
        </a:xfrm>
      </p:grpSpPr>
      <p:cxnSp>
        <p:nvCxnSpPr>
          <p:cNvPr id="5329" name="Google Shape;5329;p196"/>
          <p:cNvCxnSpPr/>
          <p:nvPr/>
        </p:nvCxnSpPr>
        <p:spPr>
          <a:xfrm flipH="1" rot="10800000">
            <a:off x="4712163" y="3397875"/>
            <a:ext cx="2161200" cy="20700"/>
          </a:xfrm>
          <a:prstGeom prst="straightConnector1">
            <a:avLst/>
          </a:prstGeom>
          <a:noFill/>
          <a:ln cap="flat" cmpd="sng" w="19050">
            <a:solidFill>
              <a:srgbClr val="618794"/>
            </a:solidFill>
            <a:prstDash val="dash"/>
            <a:round/>
            <a:headEnd len="med" w="med" type="triangle"/>
            <a:tailEnd len="med" w="med" type="triangle"/>
          </a:ln>
        </p:spPr>
      </p:cxnSp>
      <p:sp>
        <p:nvSpPr>
          <p:cNvPr id="5330" name="Google Shape;5330;p196"/>
          <p:cNvSpPr/>
          <p:nvPr/>
        </p:nvSpPr>
        <p:spPr>
          <a:xfrm>
            <a:off x="677975" y="1974275"/>
            <a:ext cx="4232700" cy="2573700"/>
          </a:xfrm>
          <a:prstGeom prst="roundRect">
            <a:avLst>
              <a:gd fmla="val 16667" name="adj"/>
            </a:avLst>
          </a:prstGeom>
          <a:noFill/>
          <a:ln cap="flat" cmpd="sng" w="13950">
            <a:solidFill>
              <a:srgbClr val="4359FF"/>
            </a:solidFill>
            <a:prstDash val="solid"/>
            <a:round/>
            <a:headEnd len="sm" w="sm" type="none"/>
            <a:tailEnd len="sm" w="sm" type="none"/>
          </a:ln>
        </p:spPr>
        <p:txBody>
          <a:bodyPr anchorCtr="0" anchor="ctr" bIns="133875" lIns="133875" spcFirstLastPara="1" rIns="133875" wrap="square" tIns="133875">
            <a:noAutofit/>
          </a:bodyPr>
          <a:lstStyle/>
          <a:p>
            <a:pPr indent="0" lvl="0" marL="0" rtl="0" algn="ctr">
              <a:spcBef>
                <a:spcPts val="0"/>
              </a:spcBef>
              <a:spcAft>
                <a:spcPts val="0"/>
              </a:spcAft>
              <a:buClr>
                <a:schemeClr val="dk1"/>
              </a:buClr>
              <a:buSzPts val="1611"/>
              <a:buFont typeface="Arial"/>
              <a:buNone/>
            </a:pPr>
            <a:r>
              <a:t/>
            </a:r>
            <a:endParaRPr sz="2050"/>
          </a:p>
        </p:txBody>
      </p:sp>
      <p:sp>
        <p:nvSpPr>
          <p:cNvPr id="5331" name="Google Shape;5331;p196"/>
          <p:cNvSpPr/>
          <p:nvPr/>
        </p:nvSpPr>
        <p:spPr>
          <a:xfrm>
            <a:off x="6490299" y="2211280"/>
            <a:ext cx="2365200" cy="2099700"/>
          </a:xfrm>
          <a:prstGeom prst="roundRect">
            <a:avLst>
              <a:gd fmla="val 16667" name="adj"/>
            </a:avLst>
          </a:prstGeom>
          <a:noFill/>
          <a:ln cap="flat" cmpd="sng" w="9525">
            <a:solidFill>
              <a:srgbClr val="FF5F46"/>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DM Sans"/>
              <a:ea typeface="DM Sans"/>
              <a:cs typeface="DM Sans"/>
              <a:sym typeface="DM Sans"/>
            </a:endParaRPr>
          </a:p>
        </p:txBody>
      </p:sp>
      <p:sp>
        <p:nvSpPr>
          <p:cNvPr id="5332" name="Google Shape;5332;p196"/>
          <p:cNvSpPr txBox="1"/>
          <p:nvPr/>
        </p:nvSpPr>
        <p:spPr>
          <a:xfrm>
            <a:off x="6780576" y="2333112"/>
            <a:ext cx="1748400" cy="50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a:solidFill>
                  <a:srgbClr val="1B5162"/>
                </a:solidFill>
                <a:latin typeface="DM Sans Medium"/>
                <a:ea typeface="DM Sans Medium"/>
                <a:cs typeface="DM Sans Medium"/>
                <a:sym typeface="DM Sans Medium"/>
              </a:rPr>
              <a:t>Databricks workspace</a:t>
            </a:r>
            <a:r>
              <a:rPr lang="en" sz="1300">
                <a:solidFill>
                  <a:srgbClr val="1B5162"/>
                </a:solidFill>
                <a:latin typeface="DM Sans Medium"/>
                <a:ea typeface="DM Sans Medium"/>
                <a:cs typeface="DM Sans Medium"/>
                <a:sym typeface="DM Sans Medium"/>
              </a:rPr>
              <a:t> </a:t>
            </a:r>
            <a:endParaRPr sz="1300">
              <a:solidFill>
                <a:srgbClr val="1B3139"/>
              </a:solidFill>
              <a:latin typeface="DM Sans"/>
              <a:ea typeface="DM Sans"/>
              <a:cs typeface="DM Sans"/>
              <a:sym typeface="DM Sans"/>
            </a:endParaRPr>
          </a:p>
        </p:txBody>
      </p:sp>
      <p:pic>
        <p:nvPicPr>
          <p:cNvPr id="5333" name="Google Shape;5333;p196"/>
          <p:cNvPicPr preferRelativeResize="0"/>
          <p:nvPr/>
        </p:nvPicPr>
        <p:blipFill>
          <a:blip r:embed="rId3">
            <a:alphaModFix/>
          </a:blip>
          <a:stretch>
            <a:fillRect/>
          </a:stretch>
        </p:blipFill>
        <p:spPr>
          <a:xfrm>
            <a:off x="6780575" y="2419476"/>
            <a:ext cx="292500" cy="330042"/>
          </a:xfrm>
          <a:prstGeom prst="rect">
            <a:avLst/>
          </a:prstGeom>
          <a:noFill/>
          <a:ln>
            <a:noFill/>
          </a:ln>
        </p:spPr>
      </p:pic>
      <p:sp>
        <p:nvSpPr>
          <p:cNvPr id="5334" name="Google Shape;5334;p196"/>
          <p:cNvSpPr/>
          <p:nvPr/>
        </p:nvSpPr>
        <p:spPr>
          <a:xfrm>
            <a:off x="6968900" y="2979500"/>
            <a:ext cx="1434300" cy="1134300"/>
          </a:xfrm>
          <a:prstGeom prst="roundRect">
            <a:avLst>
              <a:gd fmla="val 16667" name="adj"/>
            </a:avLst>
          </a:prstGeom>
          <a:solidFill>
            <a:srgbClr val="EEEDE9"/>
          </a:solidFill>
          <a:ln cap="flat" cmpd="sng" w="9525">
            <a:solidFill>
              <a:srgbClr val="FF5F46"/>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Compute</a:t>
            </a:r>
            <a:endParaRPr sz="1200">
              <a:latin typeface="DM Sans"/>
              <a:ea typeface="DM Sans"/>
              <a:cs typeface="DM Sans"/>
              <a:sym typeface="DM Sans"/>
            </a:endParaRPr>
          </a:p>
        </p:txBody>
      </p:sp>
      <p:sp>
        <p:nvSpPr>
          <p:cNvPr id="5335" name="Google Shape;5335;p196"/>
          <p:cNvSpPr/>
          <p:nvPr/>
        </p:nvSpPr>
        <p:spPr>
          <a:xfrm>
            <a:off x="4897007" y="2979500"/>
            <a:ext cx="16515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666666"/>
                </a:solidFill>
                <a:latin typeface="DM Sans"/>
                <a:ea typeface="DM Sans"/>
                <a:cs typeface="DM Sans"/>
                <a:sym typeface="DM Sans"/>
              </a:rPr>
              <a:t>Databricks Connect</a:t>
            </a:r>
            <a:endParaRPr b="1" sz="1200">
              <a:solidFill>
                <a:srgbClr val="666666"/>
              </a:solidFill>
              <a:latin typeface="DM Sans"/>
              <a:ea typeface="DM Sans"/>
              <a:cs typeface="DM Sans"/>
              <a:sym typeface="DM Sans"/>
            </a:endParaRPr>
          </a:p>
        </p:txBody>
      </p:sp>
      <p:sp>
        <p:nvSpPr>
          <p:cNvPr id="5336" name="Google Shape;5336;p196"/>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Databricks Connect main image /static/images/db-connect/run-debug-code.png</a:t>
            </a:r>
            <a:endParaRPr sz="200"/>
          </a:p>
        </p:txBody>
      </p:sp>
      <p:pic>
        <p:nvPicPr>
          <p:cNvPr id="5337" name="Google Shape;5337;p196"/>
          <p:cNvPicPr preferRelativeResize="0"/>
          <p:nvPr/>
        </p:nvPicPr>
        <p:blipFill rotWithShape="1">
          <a:blip r:embed="rId4">
            <a:alphaModFix/>
          </a:blip>
          <a:srcRect b="0" l="0" r="0" t="0"/>
          <a:stretch/>
        </p:blipFill>
        <p:spPr>
          <a:xfrm>
            <a:off x="7360251" y="3303150"/>
            <a:ext cx="666749" cy="666749"/>
          </a:xfrm>
          <a:prstGeom prst="rect">
            <a:avLst/>
          </a:prstGeom>
          <a:noFill/>
          <a:ln>
            <a:noFill/>
          </a:ln>
        </p:spPr>
      </p:pic>
      <p:sp>
        <p:nvSpPr>
          <p:cNvPr id="5338" name="Google Shape;5338;p196"/>
          <p:cNvSpPr/>
          <p:nvPr/>
        </p:nvSpPr>
        <p:spPr>
          <a:xfrm>
            <a:off x="4982794" y="3497895"/>
            <a:ext cx="1507500" cy="249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666666"/>
                </a:solidFill>
                <a:latin typeface="DM Sans"/>
                <a:ea typeface="DM Sans"/>
                <a:cs typeface="DM Sans"/>
                <a:sym typeface="DM Sans"/>
              </a:rPr>
              <a:t>DataFrame API</a:t>
            </a:r>
            <a:endParaRPr b="1" sz="1200">
              <a:solidFill>
                <a:srgbClr val="666666"/>
              </a:solidFill>
              <a:latin typeface="DM Sans"/>
              <a:ea typeface="DM Sans"/>
              <a:cs typeface="DM Sans"/>
              <a:sym typeface="DM Sans"/>
            </a:endParaRPr>
          </a:p>
        </p:txBody>
      </p:sp>
      <p:sp>
        <p:nvSpPr>
          <p:cNvPr id="5339" name="Google Shape;5339;p196"/>
          <p:cNvSpPr txBox="1"/>
          <p:nvPr/>
        </p:nvSpPr>
        <p:spPr>
          <a:xfrm>
            <a:off x="2577099" y="2094045"/>
            <a:ext cx="1573500" cy="2493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500">
                <a:solidFill>
                  <a:srgbClr val="1B5162"/>
                </a:solidFill>
                <a:latin typeface="DM Sans Medium"/>
                <a:ea typeface="DM Sans Medium"/>
                <a:cs typeface="DM Sans Medium"/>
                <a:sym typeface="DM Sans Medium"/>
              </a:rPr>
              <a:t>Local IDE</a:t>
            </a:r>
            <a:endParaRPr sz="1500">
              <a:solidFill>
                <a:srgbClr val="1B3139"/>
              </a:solidFill>
              <a:latin typeface="DM Sans"/>
              <a:ea typeface="DM Sans"/>
              <a:cs typeface="DM Sans"/>
              <a:sym typeface="DM Sans"/>
            </a:endParaRPr>
          </a:p>
        </p:txBody>
      </p:sp>
      <p:pic>
        <p:nvPicPr>
          <p:cNvPr id="5340" name="Google Shape;5340;p196"/>
          <p:cNvPicPr preferRelativeResize="0"/>
          <p:nvPr/>
        </p:nvPicPr>
        <p:blipFill>
          <a:blip r:embed="rId5">
            <a:alphaModFix/>
          </a:blip>
          <a:stretch>
            <a:fillRect/>
          </a:stretch>
        </p:blipFill>
        <p:spPr>
          <a:xfrm>
            <a:off x="1252050" y="2094050"/>
            <a:ext cx="350999" cy="350999"/>
          </a:xfrm>
          <a:prstGeom prst="rect">
            <a:avLst/>
          </a:prstGeom>
          <a:noFill/>
          <a:ln>
            <a:noFill/>
          </a:ln>
        </p:spPr>
      </p:pic>
      <p:pic>
        <p:nvPicPr>
          <p:cNvPr id="5341" name="Google Shape;5341;p196"/>
          <p:cNvPicPr preferRelativeResize="0"/>
          <p:nvPr/>
        </p:nvPicPr>
        <p:blipFill>
          <a:blip r:embed="rId6">
            <a:alphaModFix/>
          </a:blip>
          <a:stretch>
            <a:fillRect/>
          </a:stretch>
        </p:blipFill>
        <p:spPr>
          <a:xfrm>
            <a:off x="1778173" y="2066798"/>
            <a:ext cx="351000" cy="405503"/>
          </a:xfrm>
          <a:prstGeom prst="rect">
            <a:avLst/>
          </a:prstGeom>
          <a:noFill/>
          <a:ln>
            <a:noFill/>
          </a:ln>
        </p:spPr>
      </p:pic>
      <p:pic>
        <p:nvPicPr>
          <p:cNvPr id="5342" name="Google Shape;5342;p196"/>
          <p:cNvPicPr preferRelativeResize="0"/>
          <p:nvPr/>
        </p:nvPicPr>
        <p:blipFill>
          <a:blip r:embed="rId7">
            <a:alphaModFix/>
          </a:blip>
          <a:stretch>
            <a:fillRect/>
          </a:stretch>
        </p:blipFill>
        <p:spPr>
          <a:xfrm>
            <a:off x="2257415" y="2066803"/>
            <a:ext cx="405481" cy="405499"/>
          </a:xfrm>
          <a:prstGeom prst="rect">
            <a:avLst/>
          </a:prstGeom>
          <a:noFill/>
          <a:ln>
            <a:noFill/>
          </a:ln>
        </p:spPr>
      </p:pic>
      <p:sp>
        <p:nvSpPr>
          <p:cNvPr id="5343" name="Google Shape;5343;p196"/>
          <p:cNvSpPr/>
          <p:nvPr/>
        </p:nvSpPr>
        <p:spPr>
          <a:xfrm>
            <a:off x="855275" y="2566700"/>
            <a:ext cx="3810300" cy="1730400"/>
          </a:xfrm>
          <a:prstGeom prst="roundRect">
            <a:avLst>
              <a:gd fmla="val 16667" name="adj"/>
            </a:avLst>
          </a:prstGeom>
          <a:solidFill>
            <a:srgbClr val="EEEDE9"/>
          </a:solidFill>
          <a:ln>
            <a:noFill/>
          </a:ln>
        </p:spPr>
        <p:txBody>
          <a:bodyPr anchorCtr="0" anchor="ctr" bIns="84600" lIns="84600" spcFirstLastPara="1" rIns="84600" wrap="square" tIns="84600">
            <a:noAutofit/>
          </a:bodyPr>
          <a:lstStyle/>
          <a:p>
            <a:pPr indent="0" lvl="0" marL="0" rtl="0" algn="l">
              <a:lnSpc>
                <a:spcPct val="90000"/>
              </a:lnSpc>
              <a:spcBef>
                <a:spcPts val="0"/>
              </a:spcBef>
              <a:spcAft>
                <a:spcPts val="0"/>
              </a:spcAft>
              <a:buNone/>
            </a:pPr>
            <a:r>
              <a:rPr lang="en" sz="925">
                <a:solidFill>
                  <a:srgbClr val="1967D2"/>
                </a:solidFill>
                <a:latin typeface="Roboto Mono"/>
                <a:ea typeface="Roboto Mono"/>
                <a:cs typeface="Roboto Mono"/>
                <a:sym typeface="Roboto Mono"/>
              </a:rPr>
              <a:t>from </a:t>
            </a:r>
            <a:r>
              <a:rPr lang="en" sz="925">
                <a:solidFill>
                  <a:srgbClr val="37474F"/>
                </a:solidFill>
                <a:latin typeface="Roboto Mono"/>
                <a:ea typeface="Roboto Mono"/>
                <a:cs typeface="Roboto Mono"/>
                <a:sym typeface="Roboto Mono"/>
              </a:rPr>
              <a:t>databricks.connect</a:t>
            </a:r>
            <a:r>
              <a:rPr lang="en" sz="925">
                <a:solidFill>
                  <a:srgbClr val="1967D2"/>
                </a:solidFill>
                <a:latin typeface="Roboto Mono"/>
                <a:ea typeface="Roboto Mono"/>
                <a:cs typeface="Roboto Mono"/>
                <a:sym typeface="Roboto Mono"/>
              </a:rPr>
              <a:t> import </a:t>
            </a:r>
            <a:r>
              <a:rPr lang="en" sz="925">
                <a:solidFill>
                  <a:srgbClr val="37474F"/>
                </a:solidFill>
                <a:latin typeface="Roboto Mono"/>
                <a:ea typeface="Roboto Mono"/>
                <a:cs typeface="Roboto Mono"/>
                <a:sym typeface="Roboto Mono"/>
              </a:rPr>
              <a:t>DatabricksSession</a:t>
            </a:r>
            <a:endParaRPr sz="925">
              <a:solidFill>
                <a:srgbClr val="1967D2"/>
              </a:solidFill>
              <a:latin typeface="Roboto Mono"/>
              <a:ea typeface="Roboto Mono"/>
              <a:cs typeface="Roboto Mono"/>
              <a:sym typeface="Roboto Mono"/>
            </a:endParaRPr>
          </a:p>
          <a:p>
            <a:pPr indent="0" lvl="0" marL="0" rtl="0" algn="l">
              <a:lnSpc>
                <a:spcPct val="90000"/>
              </a:lnSpc>
              <a:spcBef>
                <a:spcPts val="0"/>
              </a:spcBef>
              <a:spcAft>
                <a:spcPts val="0"/>
              </a:spcAft>
              <a:buNone/>
            </a:pPr>
            <a:r>
              <a:rPr lang="en" sz="925">
                <a:solidFill>
                  <a:srgbClr val="37474F"/>
                </a:solidFill>
                <a:latin typeface="Roboto Mono"/>
                <a:ea typeface="Roboto Mono"/>
                <a:cs typeface="Roboto Mono"/>
                <a:sym typeface="Roboto Mono"/>
              </a:rPr>
              <a:t>spark = DatabricksSession.builder.getOrCreate()</a:t>
            </a:r>
            <a:endParaRPr sz="925">
              <a:solidFill>
                <a:srgbClr val="FFFFFF">
                  <a:alpha val="0"/>
                </a:srgbClr>
              </a:solidFill>
              <a:latin typeface="Roboto Mono"/>
              <a:ea typeface="Roboto Mono"/>
              <a:cs typeface="Roboto Mono"/>
              <a:sym typeface="Roboto Mono"/>
            </a:endParaRPr>
          </a:p>
          <a:p>
            <a:pPr indent="0" lvl="0" marL="0" rtl="0" algn="l">
              <a:lnSpc>
                <a:spcPct val="90000"/>
              </a:lnSpc>
              <a:spcBef>
                <a:spcPts val="0"/>
              </a:spcBef>
              <a:spcAft>
                <a:spcPts val="0"/>
              </a:spcAft>
              <a:buNone/>
            </a:pPr>
            <a:r>
              <a:t/>
            </a:r>
            <a:endParaRPr sz="925">
              <a:solidFill>
                <a:srgbClr val="FFFFFF">
                  <a:alpha val="0"/>
                </a:srgbClr>
              </a:solidFill>
              <a:latin typeface="Roboto Mono"/>
              <a:ea typeface="Roboto Mono"/>
              <a:cs typeface="Roboto Mono"/>
              <a:sym typeface="Roboto Mono"/>
            </a:endParaRPr>
          </a:p>
          <a:p>
            <a:pPr indent="0" lvl="0" marL="0" rtl="0" algn="l">
              <a:lnSpc>
                <a:spcPct val="90000"/>
              </a:lnSpc>
              <a:spcBef>
                <a:spcPts val="0"/>
              </a:spcBef>
              <a:spcAft>
                <a:spcPts val="0"/>
              </a:spcAft>
              <a:buNone/>
            </a:pPr>
            <a:r>
              <a:t/>
            </a:r>
            <a:endParaRPr sz="925">
              <a:solidFill>
                <a:srgbClr val="FFFFFF">
                  <a:alpha val="0"/>
                </a:srgbClr>
              </a:solidFill>
              <a:latin typeface="Roboto Mono"/>
              <a:ea typeface="Roboto Mono"/>
              <a:cs typeface="Roboto Mono"/>
              <a:sym typeface="Roboto Mono"/>
            </a:endParaRPr>
          </a:p>
          <a:p>
            <a:pPr indent="0" lvl="0" marL="0" rtl="0" algn="l">
              <a:lnSpc>
                <a:spcPct val="90000"/>
              </a:lnSpc>
              <a:spcBef>
                <a:spcPts val="0"/>
              </a:spcBef>
              <a:spcAft>
                <a:spcPts val="0"/>
              </a:spcAft>
              <a:buNone/>
            </a:pPr>
            <a:r>
              <a:t/>
            </a:r>
            <a:endParaRPr sz="925">
              <a:solidFill>
                <a:srgbClr val="188038"/>
              </a:solidFill>
              <a:latin typeface="Roboto Mono"/>
              <a:ea typeface="Roboto Mono"/>
              <a:cs typeface="Roboto Mono"/>
              <a:sym typeface="Roboto Mono"/>
            </a:endParaRPr>
          </a:p>
          <a:p>
            <a:pPr indent="0" lvl="0" marL="0" rtl="0" algn="l">
              <a:lnSpc>
                <a:spcPct val="90000"/>
              </a:lnSpc>
              <a:spcBef>
                <a:spcPts val="0"/>
              </a:spcBef>
              <a:spcAft>
                <a:spcPts val="0"/>
              </a:spcAft>
              <a:buNone/>
            </a:pPr>
            <a:r>
              <a:rPr lang="en" sz="925">
                <a:solidFill>
                  <a:srgbClr val="37474F"/>
                </a:solidFill>
                <a:latin typeface="Roboto Mono"/>
                <a:ea typeface="Roboto Mono"/>
                <a:cs typeface="Roboto Mono"/>
                <a:sym typeface="Roboto Mono"/>
              </a:rPr>
              <a:t>df</a:t>
            </a:r>
            <a:r>
              <a:rPr lang="en" sz="925">
                <a:solidFill>
                  <a:srgbClr val="FFFFFF">
                    <a:alpha val="0"/>
                  </a:srgbClr>
                </a:solidFill>
                <a:latin typeface="Roboto Mono"/>
                <a:ea typeface="Roboto Mono"/>
                <a:cs typeface="Roboto Mono"/>
                <a:sym typeface="Roboto Mono"/>
              </a:rPr>
              <a:t> </a:t>
            </a:r>
            <a:r>
              <a:rPr lang="en" sz="925">
                <a:solidFill>
                  <a:srgbClr val="37474F"/>
                </a:solidFill>
                <a:latin typeface="Roboto Mono"/>
                <a:ea typeface="Roboto Mono"/>
                <a:cs typeface="Roboto Mono"/>
                <a:sym typeface="Roboto Mono"/>
              </a:rPr>
              <a:t>=</a:t>
            </a:r>
            <a:r>
              <a:rPr lang="en" sz="925">
                <a:solidFill>
                  <a:srgbClr val="FFFFFF">
                    <a:alpha val="0"/>
                  </a:srgbClr>
                </a:solidFill>
                <a:latin typeface="Roboto Mono"/>
                <a:ea typeface="Roboto Mono"/>
                <a:cs typeface="Roboto Mono"/>
                <a:sym typeface="Roboto Mono"/>
              </a:rPr>
              <a:t> </a:t>
            </a:r>
            <a:r>
              <a:rPr lang="en" sz="925">
                <a:solidFill>
                  <a:srgbClr val="37474F"/>
                </a:solidFill>
                <a:latin typeface="Roboto Mono"/>
                <a:ea typeface="Roboto Mono"/>
                <a:cs typeface="Roboto Mono"/>
                <a:sym typeface="Roboto Mono"/>
              </a:rPr>
              <a:t>spark.read.table(</a:t>
            </a:r>
            <a:r>
              <a:rPr lang="en" sz="925">
                <a:solidFill>
                  <a:srgbClr val="188038"/>
                </a:solidFill>
                <a:latin typeface="Roboto Mono"/>
                <a:ea typeface="Roboto Mono"/>
                <a:cs typeface="Roboto Mono"/>
                <a:sym typeface="Roboto Mono"/>
              </a:rPr>
              <a:t>"samples.nyctaxi.trips"</a:t>
            </a:r>
            <a:r>
              <a:rPr lang="en" sz="925">
                <a:solidFill>
                  <a:srgbClr val="37474F"/>
                </a:solidFill>
                <a:latin typeface="Roboto Mono"/>
                <a:ea typeface="Roboto Mono"/>
                <a:cs typeface="Roboto Mono"/>
                <a:sym typeface="Roboto Mono"/>
              </a:rPr>
              <a:t>)</a:t>
            </a:r>
            <a:endParaRPr sz="925">
              <a:solidFill>
                <a:srgbClr val="37474F"/>
              </a:solidFill>
              <a:latin typeface="Roboto Mono"/>
              <a:ea typeface="Roboto Mono"/>
              <a:cs typeface="Roboto Mono"/>
              <a:sym typeface="Roboto Mono"/>
            </a:endParaRPr>
          </a:p>
          <a:p>
            <a:pPr indent="0" lvl="0" marL="0" rtl="0" algn="l">
              <a:lnSpc>
                <a:spcPct val="90000"/>
              </a:lnSpc>
              <a:spcBef>
                <a:spcPts val="0"/>
              </a:spcBef>
              <a:spcAft>
                <a:spcPts val="0"/>
              </a:spcAft>
              <a:buNone/>
            </a:pPr>
            <a:r>
              <a:rPr lang="en" sz="925">
                <a:solidFill>
                  <a:srgbClr val="37474F"/>
                </a:solidFill>
                <a:latin typeface="Roboto Mono"/>
                <a:ea typeface="Roboto Mono"/>
                <a:cs typeface="Roboto Mono"/>
                <a:sym typeface="Roboto Mono"/>
              </a:rPr>
              <a:t>df = df.filter(df.trip_distance&gt;0.5)</a:t>
            </a:r>
            <a:endParaRPr sz="925">
              <a:solidFill>
                <a:srgbClr val="37474F"/>
              </a:solidFill>
              <a:latin typeface="Roboto Mono"/>
              <a:ea typeface="Roboto Mono"/>
              <a:cs typeface="Roboto Mono"/>
              <a:sym typeface="Roboto Mono"/>
            </a:endParaRPr>
          </a:p>
          <a:p>
            <a:pPr indent="0" lvl="0" marL="0" rtl="0" algn="l">
              <a:lnSpc>
                <a:spcPct val="90000"/>
              </a:lnSpc>
              <a:spcBef>
                <a:spcPts val="0"/>
              </a:spcBef>
              <a:spcAft>
                <a:spcPts val="0"/>
              </a:spcAft>
              <a:buNone/>
            </a:pPr>
            <a:r>
              <a:t/>
            </a:r>
            <a:endParaRPr sz="925">
              <a:solidFill>
                <a:srgbClr val="37474F"/>
              </a:solidFill>
              <a:latin typeface="Roboto Mono"/>
              <a:ea typeface="Roboto Mono"/>
              <a:cs typeface="Roboto Mono"/>
              <a:sym typeface="Roboto Mono"/>
            </a:endParaRPr>
          </a:p>
          <a:p>
            <a:pPr indent="0" lvl="0" marL="0" rtl="0" algn="l">
              <a:lnSpc>
                <a:spcPct val="90000"/>
              </a:lnSpc>
              <a:spcBef>
                <a:spcPts val="0"/>
              </a:spcBef>
              <a:spcAft>
                <a:spcPts val="0"/>
              </a:spcAft>
              <a:buNone/>
            </a:pPr>
            <a:r>
              <a:t/>
            </a:r>
            <a:endParaRPr sz="925">
              <a:solidFill>
                <a:srgbClr val="37474F"/>
              </a:solidFill>
              <a:latin typeface="Roboto Mono"/>
              <a:ea typeface="Roboto Mono"/>
              <a:cs typeface="Roboto Mono"/>
              <a:sym typeface="Roboto Mono"/>
            </a:endParaRPr>
          </a:p>
          <a:p>
            <a:pPr indent="0" lvl="0" marL="0" rtl="0" algn="l">
              <a:lnSpc>
                <a:spcPct val="90000"/>
              </a:lnSpc>
              <a:spcBef>
                <a:spcPts val="0"/>
              </a:spcBef>
              <a:spcAft>
                <a:spcPts val="0"/>
              </a:spcAft>
              <a:buNone/>
            </a:pPr>
            <a:r>
              <a:t/>
            </a:r>
            <a:endParaRPr sz="925">
              <a:solidFill>
                <a:srgbClr val="37474F"/>
              </a:solidFill>
              <a:latin typeface="Roboto Mono"/>
              <a:ea typeface="Roboto Mono"/>
              <a:cs typeface="Roboto Mono"/>
              <a:sym typeface="Roboto Mono"/>
            </a:endParaRPr>
          </a:p>
          <a:p>
            <a:pPr indent="0" lvl="0" marL="0" rtl="0" algn="l">
              <a:lnSpc>
                <a:spcPct val="90000"/>
              </a:lnSpc>
              <a:spcBef>
                <a:spcPts val="0"/>
              </a:spcBef>
              <a:spcAft>
                <a:spcPts val="0"/>
              </a:spcAft>
              <a:buNone/>
            </a:pPr>
            <a:r>
              <a:rPr lang="en" sz="925">
                <a:solidFill>
                  <a:srgbClr val="37474F"/>
                </a:solidFill>
                <a:latin typeface="Roboto Mono"/>
                <a:ea typeface="Roboto Mono"/>
                <a:cs typeface="Roboto Mono"/>
                <a:sym typeface="Roboto Mono"/>
              </a:rPr>
              <a:t>df_pd = df.limit(3).toPandas()</a:t>
            </a:r>
            <a:endParaRPr sz="925">
              <a:solidFill>
                <a:srgbClr val="188038"/>
              </a:solidFill>
              <a:latin typeface="Roboto Mono"/>
              <a:ea typeface="Roboto Mono"/>
              <a:cs typeface="Roboto Mono"/>
              <a:sym typeface="Roboto Mono"/>
            </a:endParaRPr>
          </a:p>
          <a:p>
            <a:pPr indent="0" lvl="0" marL="0" rtl="0" algn="l">
              <a:lnSpc>
                <a:spcPct val="90000"/>
              </a:lnSpc>
              <a:spcBef>
                <a:spcPts val="0"/>
              </a:spcBef>
              <a:spcAft>
                <a:spcPts val="0"/>
              </a:spcAft>
              <a:buNone/>
            </a:pPr>
            <a:r>
              <a:rPr lang="en" sz="925">
                <a:solidFill>
                  <a:srgbClr val="37474F"/>
                </a:solidFill>
                <a:latin typeface="Roboto Mono"/>
                <a:ea typeface="Roboto Mono"/>
                <a:cs typeface="Roboto Mono"/>
                <a:sym typeface="Roboto Mono"/>
              </a:rPr>
              <a:t>print(df_pd)</a:t>
            </a:r>
            <a:endParaRPr sz="925">
              <a:solidFill>
                <a:srgbClr val="1B3139"/>
              </a:solidFill>
              <a:latin typeface="DM Mono Medium"/>
              <a:ea typeface="DM Mono Medium"/>
              <a:cs typeface="DM Mono Medium"/>
              <a:sym typeface="DM Mono Medium"/>
            </a:endParaRPr>
          </a:p>
        </p:txBody>
      </p:sp>
      <p:sp>
        <p:nvSpPr>
          <p:cNvPr id="5344" name="Google Shape;5344;p196"/>
          <p:cNvSpPr/>
          <p:nvPr/>
        </p:nvSpPr>
        <p:spPr>
          <a:xfrm>
            <a:off x="980184" y="3239751"/>
            <a:ext cx="3411300" cy="377700"/>
          </a:xfrm>
          <a:prstGeom prst="rect">
            <a:avLst/>
          </a:prstGeom>
          <a:noFill/>
          <a:ln cap="flat" cmpd="sng" w="13225">
            <a:solidFill>
              <a:srgbClr val="FF5F46"/>
            </a:solidFill>
            <a:prstDash val="solid"/>
            <a:round/>
            <a:headEnd len="sm" w="sm" type="none"/>
            <a:tailEnd len="sm" w="sm" type="none"/>
          </a:ln>
        </p:spPr>
        <p:txBody>
          <a:bodyPr anchorCtr="0" anchor="ctr" bIns="63450" lIns="63450" spcFirstLastPara="1" rIns="63450" wrap="square" tIns="63450">
            <a:noAutofit/>
          </a:bodyPr>
          <a:lstStyle/>
          <a:p>
            <a:pPr indent="0" lvl="0" marL="0" marR="0" rtl="0" algn="l">
              <a:lnSpc>
                <a:spcPct val="100000"/>
              </a:lnSpc>
              <a:spcBef>
                <a:spcPts val="0"/>
              </a:spcBef>
              <a:spcAft>
                <a:spcPts val="0"/>
              </a:spcAft>
              <a:buNone/>
            </a:pPr>
            <a:r>
              <a:t/>
            </a:r>
            <a:endParaRPr sz="1017"/>
          </a:p>
        </p:txBody>
      </p:sp>
      <p:sp>
        <p:nvSpPr>
          <p:cNvPr id="5345" name="Google Shape;5345;p196"/>
          <p:cNvSpPr/>
          <p:nvPr/>
        </p:nvSpPr>
        <p:spPr>
          <a:xfrm>
            <a:off x="4490236" y="3861562"/>
            <a:ext cx="292500" cy="377700"/>
          </a:xfrm>
          <a:prstGeom prst="curvedLeftArrow">
            <a:avLst>
              <a:gd fmla="val 25000" name="adj1"/>
              <a:gd fmla="val 50000" name="adj2"/>
              <a:gd fmla="val 25000" name="adj3"/>
            </a:avLst>
          </a:prstGeom>
          <a:solidFill>
            <a:srgbClr val="FFAB00"/>
          </a:solidFill>
          <a:ln cap="flat" cmpd="sng" w="6625">
            <a:solidFill>
              <a:srgbClr val="FFAB00"/>
            </a:solidFill>
            <a:prstDash val="solid"/>
            <a:round/>
            <a:headEnd len="sm" w="sm" type="none"/>
            <a:tailEnd len="sm" w="sm" type="none"/>
          </a:ln>
        </p:spPr>
        <p:txBody>
          <a:bodyPr anchorCtr="0" anchor="ctr" bIns="63450" lIns="63450" spcFirstLastPara="1" rIns="63450" wrap="square" tIns="63450">
            <a:noAutofit/>
          </a:bodyPr>
          <a:lstStyle/>
          <a:p>
            <a:pPr indent="0" lvl="0" marL="0" rtl="0" algn="l">
              <a:spcBef>
                <a:spcPts val="0"/>
              </a:spcBef>
              <a:spcAft>
                <a:spcPts val="0"/>
              </a:spcAft>
              <a:buNone/>
            </a:pPr>
            <a:r>
              <a:t/>
            </a:r>
            <a:endParaRPr/>
          </a:p>
        </p:txBody>
      </p:sp>
      <p:sp>
        <p:nvSpPr>
          <p:cNvPr id="5346" name="Google Shape;5346;p196"/>
          <p:cNvSpPr/>
          <p:nvPr/>
        </p:nvSpPr>
        <p:spPr>
          <a:xfrm>
            <a:off x="980184" y="3837876"/>
            <a:ext cx="3411300" cy="377700"/>
          </a:xfrm>
          <a:prstGeom prst="rect">
            <a:avLst/>
          </a:prstGeom>
          <a:noFill/>
          <a:ln cap="flat" cmpd="sng" w="13225">
            <a:solidFill>
              <a:srgbClr val="FFAB00"/>
            </a:solidFill>
            <a:prstDash val="solid"/>
            <a:round/>
            <a:headEnd len="sm" w="sm" type="none"/>
            <a:tailEnd len="sm" w="sm" type="none"/>
          </a:ln>
        </p:spPr>
        <p:txBody>
          <a:bodyPr anchorCtr="0" anchor="ctr" bIns="63450" lIns="63450" spcFirstLastPara="1" rIns="63450" wrap="square" tIns="63450">
            <a:noAutofit/>
          </a:bodyPr>
          <a:lstStyle/>
          <a:p>
            <a:pPr indent="0" lvl="0" marL="0" marR="0" rtl="0" algn="l">
              <a:lnSpc>
                <a:spcPct val="100000"/>
              </a:lnSpc>
              <a:spcBef>
                <a:spcPts val="0"/>
              </a:spcBef>
              <a:spcAft>
                <a:spcPts val="0"/>
              </a:spcAft>
              <a:buNone/>
            </a:pPr>
            <a:r>
              <a:t/>
            </a:r>
            <a:endParaRPr sz="1017"/>
          </a:p>
        </p:txBody>
      </p:sp>
      <p:sp>
        <p:nvSpPr>
          <p:cNvPr id="5347" name="Google Shape;5347;p196"/>
          <p:cNvSpPr/>
          <p:nvPr/>
        </p:nvSpPr>
        <p:spPr>
          <a:xfrm>
            <a:off x="888480" y="3022558"/>
            <a:ext cx="3607500" cy="214800"/>
          </a:xfrm>
          <a:prstGeom prst="rect">
            <a:avLst/>
          </a:prstGeom>
          <a:noFill/>
          <a:ln>
            <a:noFill/>
          </a:ln>
        </p:spPr>
        <p:txBody>
          <a:bodyPr anchorCtr="0" anchor="ctr" bIns="84600" lIns="84600" spcFirstLastPara="1" rIns="84600" wrap="square" tIns="84600">
            <a:noAutofit/>
          </a:bodyPr>
          <a:lstStyle/>
          <a:p>
            <a:pPr indent="0" lvl="0" marL="0" rtl="0" algn="l">
              <a:spcBef>
                <a:spcPts val="0"/>
              </a:spcBef>
              <a:spcAft>
                <a:spcPts val="0"/>
              </a:spcAft>
              <a:buNone/>
            </a:pPr>
            <a:r>
              <a:rPr b="1" lang="en" sz="925">
                <a:solidFill>
                  <a:srgbClr val="FF5F46"/>
                </a:solidFill>
                <a:latin typeface="Inter"/>
                <a:ea typeface="Inter"/>
                <a:cs typeface="Inter"/>
                <a:sym typeface="Inter"/>
              </a:rPr>
              <a:t>Data transformations run on Databricks compute</a:t>
            </a:r>
            <a:endParaRPr b="1" sz="925">
              <a:solidFill>
                <a:srgbClr val="FF5F46"/>
              </a:solidFill>
              <a:latin typeface="Inter"/>
              <a:ea typeface="Inter"/>
              <a:cs typeface="Inter"/>
              <a:sym typeface="Inter"/>
            </a:endParaRPr>
          </a:p>
        </p:txBody>
      </p:sp>
      <p:sp>
        <p:nvSpPr>
          <p:cNvPr id="5348" name="Google Shape;5348;p196"/>
          <p:cNvSpPr/>
          <p:nvPr/>
        </p:nvSpPr>
        <p:spPr>
          <a:xfrm>
            <a:off x="896689" y="3644973"/>
            <a:ext cx="3607500" cy="214800"/>
          </a:xfrm>
          <a:prstGeom prst="rect">
            <a:avLst/>
          </a:prstGeom>
          <a:noFill/>
          <a:ln>
            <a:noFill/>
          </a:ln>
        </p:spPr>
        <p:txBody>
          <a:bodyPr anchorCtr="0" anchor="ctr" bIns="84600" lIns="84600" spcFirstLastPara="1" rIns="84600" wrap="square" tIns="84600">
            <a:noAutofit/>
          </a:bodyPr>
          <a:lstStyle/>
          <a:p>
            <a:pPr indent="0" lvl="0" marL="0" rtl="0" algn="l">
              <a:spcBef>
                <a:spcPts val="0"/>
              </a:spcBef>
              <a:spcAft>
                <a:spcPts val="0"/>
              </a:spcAft>
              <a:buNone/>
            </a:pPr>
            <a:r>
              <a:rPr b="1" lang="en" sz="925">
                <a:solidFill>
                  <a:srgbClr val="FFAB00"/>
                </a:solidFill>
                <a:latin typeface="Inter"/>
                <a:ea typeface="Inter"/>
                <a:cs typeface="Inter"/>
                <a:sym typeface="Inter"/>
              </a:rPr>
              <a:t>Python code runs locally</a:t>
            </a:r>
            <a:endParaRPr b="1" sz="925">
              <a:solidFill>
                <a:srgbClr val="FFAB00"/>
              </a:solidFill>
              <a:latin typeface="Inter"/>
              <a:ea typeface="Inter"/>
              <a:cs typeface="Inter"/>
              <a:sym typeface="Inter"/>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2" name="Shape 5352"/>
        <p:cNvGrpSpPr/>
        <p:nvPr/>
      </p:nvGrpSpPr>
      <p:grpSpPr>
        <a:xfrm>
          <a:off x="0" y="0"/>
          <a:ext cx="0" cy="0"/>
          <a:chOff x="0" y="0"/>
          <a:chExt cx="0" cy="0"/>
        </a:xfrm>
      </p:grpSpPr>
      <p:sp>
        <p:nvSpPr>
          <p:cNvPr id="5353" name="Google Shape;5353;p197"/>
          <p:cNvSpPr/>
          <p:nvPr/>
        </p:nvSpPr>
        <p:spPr>
          <a:xfrm>
            <a:off x="2519675" y="3046816"/>
            <a:ext cx="8209500" cy="1915500"/>
          </a:xfrm>
          <a:prstGeom prst="roundRect">
            <a:avLst>
              <a:gd fmla="val 16667" name="adj"/>
            </a:avLst>
          </a:prstGeom>
          <a:solidFill>
            <a:srgbClr val="F9F7F4"/>
          </a:solidFill>
          <a:ln cap="flat" cmpd="sng" w="19050">
            <a:solidFill>
              <a:schemeClr val="lt2"/>
            </a:solidFill>
            <a:prstDash val="solid"/>
            <a:round/>
            <a:headEnd len="sm" w="sm" type="none"/>
            <a:tailEnd len="sm" w="sm" type="none"/>
          </a:ln>
          <a:effectLst>
            <a:outerShdw blurRad="85725" rotWithShape="0" algn="bl" dir="2700000" dist="38100">
              <a:schemeClr val="dk2">
                <a:alpha val="35000"/>
              </a:schemeClr>
            </a:outerShdw>
          </a:effectLst>
        </p:spPr>
        <p:txBody>
          <a:bodyPr anchorCtr="0" anchor="t" bIns="91425" lIns="91425" spcFirstLastPara="1" rIns="91425" wrap="square" tIns="0">
            <a:noAutofit/>
          </a:bodyPr>
          <a:lstStyle/>
          <a:p>
            <a:pPr indent="0" lvl="0" marL="0" rtl="0" algn="ctr">
              <a:spcBef>
                <a:spcPts val="0"/>
              </a:spcBef>
              <a:spcAft>
                <a:spcPts val="0"/>
              </a:spcAft>
              <a:buNone/>
            </a:pPr>
            <a:r>
              <a:t/>
            </a:r>
            <a:endParaRPr sz="1200">
              <a:solidFill>
                <a:srgbClr val="325C69"/>
              </a:solidFill>
              <a:latin typeface="DM Sans"/>
              <a:ea typeface="DM Sans"/>
              <a:cs typeface="DM Sans"/>
              <a:sym typeface="DM Sans"/>
            </a:endParaRPr>
          </a:p>
        </p:txBody>
      </p:sp>
      <p:sp>
        <p:nvSpPr>
          <p:cNvPr id="5354" name="Google Shape;5354;p197"/>
          <p:cNvSpPr txBox="1"/>
          <p:nvPr/>
        </p:nvSpPr>
        <p:spPr>
          <a:xfrm>
            <a:off x="0" y="0"/>
            <a:ext cx="105129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100"/>
              </a:spcBef>
              <a:spcAft>
                <a:spcPts val="0"/>
              </a:spcAft>
              <a:buNone/>
            </a:pPr>
            <a:r>
              <a:rPr lang="en" sz="1200">
                <a:solidFill>
                  <a:schemeClr val="accent1"/>
                </a:solidFill>
                <a:latin typeface="DM Sans Medium"/>
                <a:ea typeface="DM Sans Medium"/>
                <a:cs typeface="DM Sans Medium"/>
                <a:sym typeface="DM Sans Medium"/>
              </a:rPr>
              <a:t>DE concepts - Schema evolution </a:t>
            </a:r>
            <a:r>
              <a:rPr lang="en" sz="1200">
                <a:solidFill>
                  <a:schemeClr val="accent1"/>
                </a:solidFill>
                <a:latin typeface="DM Sans Medium"/>
                <a:ea typeface="DM Sans Medium"/>
                <a:cs typeface="DM Sans Medium"/>
                <a:sym typeface="DM Sans Medium"/>
              </a:rPr>
              <a:t>main image /static/images/data-engineering/schema-evolution.png</a:t>
            </a:r>
            <a:endParaRPr sz="200"/>
          </a:p>
        </p:txBody>
      </p:sp>
      <p:sp>
        <p:nvSpPr>
          <p:cNvPr id="5355" name="Google Shape;5355;p197"/>
          <p:cNvSpPr/>
          <p:nvPr/>
        </p:nvSpPr>
        <p:spPr>
          <a:xfrm>
            <a:off x="1437025" y="497840"/>
            <a:ext cx="2072100" cy="1362600"/>
          </a:xfrm>
          <a:prstGeom prst="roundRect">
            <a:avLst>
              <a:gd fmla="val 16667" name="adj"/>
            </a:avLst>
          </a:prstGeom>
          <a:solidFill>
            <a:srgbClr val="FFDB96"/>
          </a:solidFill>
          <a:ln cap="flat" cmpd="sng" w="9525">
            <a:solidFill>
              <a:srgbClr val="7F7F7F"/>
            </a:solidFill>
            <a:prstDash val="solid"/>
            <a:round/>
            <a:headEnd len="sm" w="sm" type="none"/>
            <a:tailEnd len="sm" w="sm" type="none"/>
          </a:ln>
          <a:effectLst>
            <a:outerShdw blurRad="57150" rotWithShape="0" algn="bl" dir="2700000" dist="38100">
              <a:schemeClr val="dk2">
                <a:alpha val="30000"/>
              </a:scheme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DM Sans"/>
                <a:ea typeface="DM Sans"/>
                <a:cs typeface="DM Sans"/>
                <a:sym typeface="DM Sans"/>
              </a:rPr>
              <a:t>     </a:t>
            </a:r>
            <a:r>
              <a:rPr b="1" lang="en">
                <a:latin typeface="DM Sans"/>
                <a:ea typeface="DM Sans"/>
                <a:cs typeface="DM Sans"/>
                <a:sym typeface="DM Sans"/>
              </a:rPr>
              <a:t>Connectors</a:t>
            </a:r>
            <a:br>
              <a:rPr lang="en">
                <a:latin typeface="DM Sans"/>
                <a:ea typeface="DM Sans"/>
                <a:cs typeface="DM Sans"/>
                <a:sym typeface="DM Sans"/>
              </a:rPr>
            </a:br>
            <a:endParaRPr sz="300">
              <a:latin typeface="DM Sans"/>
              <a:ea typeface="DM Sans"/>
              <a:cs typeface="DM Sans"/>
              <a:sym typeface="DM Sans"/>
            </a:endParaRPr>
          </a:p>
          <a:p>
            <a:pPr indent="0" lvl="0" marL="0" rtl="0" algn="ctr">
              <a:spcBef>
                <a:spcPts val="0"/>
              </a:spcBef>
              <a:spcAft>
                <a:spcPts val="0"/>
              </a:spcAft>
              <a:buNone/>
            </a:pPr>
            <a:r>
              <a:rPr lang="en" sz="1100">
                <a:latin typeface="DM Sans"/>
                <a:ea typeface="DM Sans"/>
                <a:cs typeface="DM Sans"/>
                <a:sym typeface="DM Sans"/>
              </a:rPr>
              <a:t>Auto Loader</a:t>
            </a:r>
            <a:endParaRPr sz="1100">
              <a:latin typeface="DM Sans"/>
              <a:ea typeface="DM Sans"/>
              <a:cs typeface="DM Sans"/>
              <a:sym typeface="DM Sans"/>
            </a:endParaRPr>
          </a:p>
          <a:p>
            <a:pPr indent="0" lvl="0" marL="0" rtl="0" algn="ctr">
              <a:spcBef>
                <a:spcPts val="0"/>
              </a:spcBef>
              <a:spcAft>
                <a:spcPts val="0"/>
              </a:spcAft>
              <a:buNone/>
            </a:pPr>
            <a:r>
              <a:rPr lang="en" sz="1100">
                <a:latin typeface="DM Sans"/>
                <a:ea typeface="DM Sans"/>
                <a:cs typeface="DM Sans"/>
                <a:sym typeface="DM Sans"/>
              </a:rPr>
              <a:t>Kafka</a:t>
            </a:r>
            <a:endParaRPr sz="1100">
              <a:latin typeface="DM Sans"/>
              <a:ea typeface="DM Sans"/>
              <a:cs typeface="DM Sans"/>
              <a:sym typeface="DM Sans"/>
            </a:endParaRPr>
          </a:p>
          <a:p>
            <a:pPr indent="0" lvl="0" marL="0" rtl="0" algn="ctr">
              <a:spcBef>
                <a:spcPts val="0"/>
              </a:spcBef>
              <a:spcAft>
                <a:spcPts val="0"/>
              </a:spcAft>
              <a:buNone/>
            </a:pPr>
            <a:r>
              <a:rPr lang="en" sz="1100">
                <a:latin typeface="DM Sans"/>
                <a:ea typeface="DM Sans"/>
                <a:cs typeface="DM Sans"/>
                <a:sym typeface="DM Sans"/>
              </a:rPr>
              <a:t>Kinesis</a:t>
            </a:r>
            <a:endParaRPr sz="1100">
              <a:latin typeface="DM Sans"/>
              <a:ea typeface="DM Sans"/>
              <a:cs typeface="DM Sans"/>
              <a:sym typeface="DM Sans"/>
            </a:endParaRPr>
          </a:p>
          <a:p>
            <a:pPr indent="0" lvl="0" marL="0" rtl="0" algn="ctr">
              <a:spcBef>
                <a:spcPts val="0"/>
              </a:spcBef>
              <a:spcAft>
                <a:spcPts val="0"/>
              </a:spcAft>
              <a:buNone/>
            </a:pPr>
            <a:r>
              <a:rPr lang="en" sz="1100">
                <a:latin typeface="DM Sans"/>
                <a:ea typeface="DM Sans"/>
                <a:cs typeface="DM Sans"/>
                <a:sym typeface="DM Sans"/>
              </a:rPr>
              <a:t>Lakeflow managed</a:t>
            </a:r>
            <a:endParaRPr sz="1100">
              <a:latin typeface="DM Sans"/>
              <a:ea typeface="DM Sans"/>
              <a:cs typeface="DM Sans"/>
              <a:sym typeface="DM Sans"/>
            </a:endParaRPr>
          </a:p>
        </p:txBody>
      </p:sp>
      <p:sp>
        <p:nvSpPr>
          <p:cNvPr id="5356" name="Google Shape;5356;p197"/>
          <p:cNvSpPr/>
          <p:nvPr/>
        </p:nvSpPr>
        <p:spPr>
          <a:xfrm>
            <a:off x="3974375" y="497840"/>
            <a:ext cx="2072100" cy="1362600"/>
          </a:xfrm>
          <a:prstGeom prst="roundRect">
            <a:avLst>
              <a:gd fmla="val 16667" name="adj"/>
            </a:avLst>
          </a:prstGeom>
          <a:solidFill>
            <a:srgbClr val="FFAB00"/>
          </a:solidFill>
          <a:ln cap="flat" cmpd="sng" w="9525">
            <a:solidFill>
              <a:srgbClr val="7F7F7F"/>
            </a:solidFill>
            <a:prstDash val="solid"/>
            <a:round/>
            <a:headEnd len="sm" w="sm" type="none"/>
            <a:tailEnd len="sm" w="sm" type="none"/>
          </a:ln>
          <a:effectLst>
            <a:outerShdw blurRad="57150" rotWithShape="0" algn="bl" dir="2700000" dist="38100">
              <a:schemeClr val="dk2">
                <a:alpha val="30000"/>
              </a:scheme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DM Sans"/>
                <a:ea typeface="DM Sans"/>
                <a:cs typeface="DM Sans"/>
                <a:sym typeface="DM Sans"/>
              </a:rPr>
              <a:t>         Format parsers</a:t>
            </a:r>
            <a:br>
              <a:rPr lang="en">
                <a:latin typeface="DM Sans"/>
                <a:ea typeface="DM Sans"/>
                <a:cs typeface="DM Sans"/>
                <a:sym typeface="DM Sans"/>
              </a:rPr>
            </a:br>
            <a:endParaRPr sz="300">
              <a:latin typeface="DM Sans"/>
              <a:ea typeface="DM Sans"/>
              <a:cs typeface="DM Sans"/>
              <a:sym typeface="DM Sans"/>
            </a:endParaRPr>
          </a:p>
          <a:p>
            <a:pPr indent="0" lvl="0" marL="0" rtl="0" algn="ctr">
              <a:spcBef>
                <a:spcPts val="0"/>
              </a:spcBef>
              <a:spcAft>
                <a:spcPts val="0"/>
              </a:spcAft>
              <a:buNone/>
            </a:pPr>
            <a:r>
              <a:rPr lang="en" sz="1100">
                <a:latin typeface="DM Sans"/>
                <a:ea typeface="DM Sans"/>
                <a:cs typeface="DM Sans"/>
                <a:sym typeface="DM Sans"/>
              </a:rPr>
              <a:t>JSON</a:t>
            </a:r>
            <a:endParaRPr sz="1100">
              <a:latin typeface="DM Sans"/>
              <a:ea typeface="DM Sans"/>
              <a:cs typeface="DM Sans"/>
              <a:sym typeface="DM Sans"/>
            </a:endParaRPr>
          </a:p>
          <a:p>
            <a:pPr indent="0" lvl="0" marL="0" rtl="0" algn="ctr">
              <a:spcBef>
                <a:spcPts val="0"/>
              </a:spcBef>
              <a:spcAft>
                <a:spcPts val="0"/>
              </a:spcAft>
              <a:buNone/>
            </a:pPr>
            <a:r>
              <a:rPr lang="en" sz="1100">
                <a:latin typeface="DM Sans"/>
                <a:ea typeface="DM Sans"/>
                <a:cs typeface="DM Sans"/>
                <a:sym typeface="DM Sans"/>
              </a:rPr>
              <a:t>Avro</a:t>
            </a:r>
            <a:endParaRPr sz="1100">
              <a:latin typeface="DM Sans"/>
              <a:ea typeface="DM Sans"/>
              <a:cs typeface="DM Sans"/>
              <a:sym typeface="DM Sans"/>
            </a:endParaRPr>
          </a:p>
          <a:p>
            <a:pPr indent="0" lvl="0" marL="0" rtl="0" algn="ctr">
              <a:spcBef>
                <a:spcPts val="0"/>
              </a:spcBef>
              <a:spcAft>
                <a:spcPts val="0"/>
              </a:spcAft>
              <a:buNone/>
            </a:pPr>
            <a:r>
              <a:rPr lang="en" sz="1100">
                <a:latin typeface="DM Sans"/>
                <a:ea typeface="DM Sans"/>
                <a:cs typeface="DM Sans"/>
                <a:sym typeface="DM Sans"/>
              </a:rPr>
              <a:t>XML</a:t>
            </a:r>
            <a:endParaRPr sz="1100">
              <a:latin typeface="DM Sans"/>
              <a:ea typeface="DM Sans"/>
              <a:cs typeface="DM Sans"/>
              <a:sym typeface="DM Sans"/>
            </a:endParaRPr>
          </a:p>
          <a:p>
            <a:pPr indent="0" lvl="0" marL="0" rtl="0" algn="ctr">
              <a:spcBef>
                <a:spcPts val="0"/>
              </a:spcBef>
              <a:spcAft>
                <a:spcPts val="0"/>
              </a:spcAft>
              <a:buNone/>
            </a:pPr>
            <a:r>
              <a:rPr lang="en" sz="1100">
                <a:latin typeface="DM Sans"/>
                <a:ea typeface="DM Sans"/>
                <a:cs typeface="DM Sans"/>
                <a:sym typeface="DM Sans"/>
              </a:rPr>
              <a:t>protobuf</a:t>
            </a:r>
            <a:endParaRPr sz="1100">
              <a:latin typeface="DM Sans"/>
              <a:ea typeface="DM Sans"/>
              <a:cs typeface="DM Sans"/>
              <a:sym typeface="DM Sans"/>
            </a:endParaRPr>
          </a:p>
        </p:txBody>
      </p:sp>
      <p:sp>
        <p:nvSpPr>
          <p:cNvPr id="5357" name="Google Shape;5357;p197"/>
          <p:cNvSpPr/>
          <p:nvPr/>
        </p:nvSpPr>
        <p:spPr>
          <a:xfrm>
            <a:off x="6511725" y="497840"/>
            <a:ext cx="2345100" cy="1362600"/>
          </a:xfrm>
          <a:prstGeom prst="roundRect">
            <a:avLst>
              <a:gd fmla="val 16667" name="adj"/>
            </a:avLst>
          </a:prstGeom>
          <a:solidFill>
            <a:srgbClr val="212121"/>
          </a:solidFill>
          <a:ln cap="flat" cmpd="sng" w="9525">
            <a:solidFill>
              <a:srgbClr val="7F7F7F"/>
            </a:solidFill>
            <a:prstDash val="solid"/>
            <a:round/>
            <a:headEnd len="sm" w="sm" type="none"/>
            <a:tailEnd len="sm" w="sm" type="none"/>
          </a:ln>
          <a:effectLst>
            <a:outerShdw blurRad="57150" rotWithShape="0" algn="bl" dir="2700000" dist="38100">
              <a:schemeClr val="dk2">
                <a:alpha val="30000"/>
              </a:scheme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DM Sans"/>
                <a:ea typeface="DM Sans"/>
                <a:cs typeface="DM Sans"/>
                <a:sym typeface="DM Sans"/>
              </a:rPr>
              <a:t>         Processing engine</a:t>
            </a:r>
            <a:br>
              <a:rPr lang="en">
                <a:solidFill>
                  <a:schemeClr val="lt1"/>
                </a:solidFill>
                <a:latin typeface="DM Sans"/>
                <a:ea typeface="DM Sans"/>
                <a:cs typeface="DM Sans"/>
                <a:sym typeface="DM Sans"/>
              </a:rPr>
            </a:br>
            <a:endParaRPr sz="300">
              <a:solidFill>
                <a:schemeClr val="lt1"/>
              </a:solidFill>
              <a:latin typeface="DM Sans"/>
              <a:ea typeface="DM Sans"/>
              <a:cs typeface="DM Sans"/>
              <a:sym typeface="DM Sans"/>
            </a:endParaRPr>
          </a:p>
          <a:p>
            <a:pPr indent="0" lvl="0" marL="0" rtl="0" algn="ctr">
              <a:spcBef>
                <a:spcPts val="0"/>
              </a:spcBef>
              <a:spcAft>
                <a:spcPts val="0"/>
              </a:spcAft>
              <a:buNone/>
            </a:pPr>
            <a:r>
              <a:rPr lang="en" sz="1100">
                <a:solidFill>
                  <a:schemeClr val="lt1"/>
                </a:solidFill>
                <a:latin typeface="DM Sans"/>
                <a:ea typeface="DM Sans"/>
                <a:cs typeface="DM Sans"/>
                <a:sym typeface="DM Sans"/>
              </a:rPr>
              <a:t>         Structured streaming</a:t>
            </a:r>
            <a:endParaRPr sz="1100">
              <a:solidFill>
                <a:schemeClr val="lt1"/>
              </a:solidFill>
              <a:latin typeface="DM Sans"/>
              <a:ea typeface="DM Sans"/>
              <a:cs typeface="DM Sans"/>
              <a:sym typeface="DM Sans"/>
            </a:endParaRPr>
          </a:p>
          <a:p>
            <a:pPr indent="0" lvl="0" marL="0" rtl="0" algn="ctr">
              <a:spcBef>
                <a:spcPts val="0"/>
              </a:spcBef>
              <a:spcAft>
                <a:spcPts val="0"/>
              </a:spcAft>
              <a:buNone/>
            </a:pPr>
            <a:r>
              <a:t/>
            </a:r>
            <a:endParaRPr sz="1100">
              <a:solidFill>
                <a:schemeClr val="lt1"/>
              </a:solidFill>
              <a:latin typeface="DM Sans"/>
              <a:ea typeface="DM Sans"/>
              <a:cs typeface="DM Sans"/>
              <a:sym typeface="DM Sans"/>
            </a:endParaRPr>
          </a:p>
          <a:p>
            <a:pPr indent="0" lvl="0" marL="0" rtl="0" algn="ctr">
              <a:spcBef>
                <a:spcPts val="0"/>
              </a:spcBef>
              <a:spcAft>
                <a:spcPts val="0"/>
              </a:spcAft>
              <a:buNone/>
            </a:pPr>
            <a:r>
              <a:rPr lang="en" sz="1000">
                <a:solidFill>
                  <a:srgbClr val="FFE599"/>
                </a:solidFill>
                <a:latin typeface="DM Sans"/>
                <a:ea typeface="DM Sans"/>
                <a:cs typeface="DM Sans"/>
                <a:sym typeface="DM Sans"/>
              </a:rPr>
              <a:t>Schema evolution</a:t>
            </a:r>
            <a:br>
              <a:rPr lang="en" sz="1000">
                <a:solidFill>
                  <a:srgbClr val="FFE599"/>
                </a:solidFill>
                <a:latin typeface="DM Sans"/>
                <a:ea typeface="DM Sans"/>
                <a:cs typeface="DM Sans"/>
                <a:sym typeface="DM Sans"/>
              </a:rPr>
            </a:br>
            <a:r>
              <a:rPr lang="en" sz="1000">
                <a:solidFill>
                  <a:srgbClr val="FFE599"/>
                </a:solidFill>
                <a:latin typeface="DM Sans"/>
                <a:ea typeface="DM Sans"/>
                <a:cs typeface="DM Sans"/>
                <a:sym typeface="DM Sans"/>
              </a:rPr>
              <a:t>requires restart</a:t>
            </a:r>
            <a:endParaRPr sz="1000">
              <a:solidFill>
                <a:srgbClr val="FFE599"/>
              </a:solidFill>
              <a:latin typeface="DM Sans"/>
              <a:ea typeface="DM Sans"/>
              <a:cs typeface="DM Sans"/>
              <a:sym typeface="DM Sans"/>
            </a:endParaRPr>
          </a:p>
        </p:txBody>
      </p:sp>
      <p:sp>
        <p:nvSpPr>
          <p:cNvPr id="5358" name="Google Shape;5358;p197"/>
          <p:cNvSpPr/>
          <p:nvPr/>
        </p:nvSpPr>
        <p:spPr>
          <a:xfrm>
            <a:off x="3051025" y="3580066"/>
            <a:ext cx="2072100" cy="1116000"/>
          </a:xfrm>
          <a:prstGeom prst="roundRect">
            <a:avLst>
              <a:gd fmla="val 16667" name="adj"/>
            </a:avLst>
          </a:prstGeom>
          <a:solidFill>
            <a:srgbClr val="FFFFFF">
              <a:alpha val="94050"/>
            </a:srgbClr>
          </a:solid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325C69"/>
                </a:solidFill>
                <a:latin typeface="DM Sans"/>
                <a:ea typeface="DM Sans"/>
                <a:cs typeface="DM Sans"/>
                <a:sym typeface="DM Sans"/>
              </a:rPr>
              <a:t>Streaming tables</a:t>
            </a:r>
            <a:br>
              <a:rPr lang="en">
                <a:solidFill>
                  <a:srgbClr val="325C69"/>
                </a:solidFill>
                <a:latin typeface="DM Sans"/>
                <a:ea typeface="DM Sans"/>
                <a:cs typeface="DM Sans"/>
                <a:sym typeface="DM Sans"/>
              </a:rPr>
            </a:br>
            <a:endParaRPr sz="300">
              <a:solidFill>
                <a:srgbClr val="325C69"/>
              </a:solidFill>
              <a:latin typeface="DM Sans"/>
              <a:ea typeface="DM Sans"/>
              <a:cs typeface="DM Sans"/>
              <a:sym typeface="DM Sans"/>
            </a:endParaRPr>
          </a:p>
          <a:p>
            <a:pPr indent="0" lvl="0" marL="0" rtl="0" algn="ctr">
              <a:spcBef>
                <a:spcPts val="0"/>
              </a:spcBef>
              <a:spcAft>
                <a:spcPts val="0"/>
              </a:spcAft>
              <a:buNone/>
            </a:pPr>
            <a:r>
              <a:rPr lang="en" sz="1100">
                <a:solidFill>
                  <a:srgbClr val="801C17"/>
                </a:solidFill>
                <a:latin typeface="Barlow"/>
                <a:ea typeface="Barlow"/>
                <a:cs typeface="Barlow"/>
                <a:sym typeface="Barlow"/>
              </a:rPr>
              <a:t>mergeSchema = true</a:t>
            </a:r>
            <a:endParaRPr sz="1100">
              <a:solidFill>
                <a:srgbClr val="801C17"/>
              </a:solidFill>
              <a:latin typeface="Barlow"/>
              <a:ea typeface="Barlow"/>
              <a:cs typeface="Barlow"/>
              <a:sym typeface="Barlow"/>
            </a:endParaRPr>
          </a:p>
          <a:p>
            <a:pPr indent="0" lvl="0" marL="0" rtl="0" algn="ctr">
              <a:spcBef>
                <a:spcPts val="0"/>
              </a:spcBef>
              <a:spcAft>
                <a:spcPts val="0"/>
              </a:spcAft>
              <a:buNone/>
            </a:pPr>
            <a:r>
              <a:t/>
            </a:r>
            <a:endParaRPr sz="300">
              <a:solidFill>
                <a:srgbClr val="325C69"/>
              </a:solidFill>
              <a:latin typeface="DM Sans"/>
              <a:ea typeface="DM Sans"/>
              <a:cs typeface="DM Sans"/>
              <a:sym typeface="DM Sans"/>
            </a:endParaRPr>
          </a:p>
          <a:p>
            <a:pPr indent="0" lvl="0" marL="0" rtl="0" algn="ctr">
              <a:spcBef>
                <a:spcPts val="0"/>
              </a:spcBef>
              <a:spcAft>
                <a:spcPts val="0"/>
              </a:spcAft>
              <a:buNone/>
            </a:pPr>
            <a:r>
              <a:t/>
            </a:r>
            <a:endParaRPr sz="1000">
              <a:solidFill>
                <a:srgbClr val="325C69"/>
              </a:solidFill>
              <a:latin typeface="DM Sans"/>
              <a:ea typeface="DM Sans"/>
              <a:cs typeface="DM Sans"/>
              <a:sym typeface="DM Sans"/>
            </a:endParaRPr>
          </a:p>
          <a:p>
            <a:pPr indent="0" lvl="0" marL="0" rtl="0" algn="ctr">
              <a:spcBef>
                <a:spcPts val="0"/>
              </a:spcBef>
              <a:spcAft>
                <a:spcPts val="0"/>
              </a:spcAft>
              <a:buNone/>
            </a:pPr>
            <a:r>
              <a:t/>
            </a:r>
            <a:endParaRPr sz="1100">
              <a:solidFill>
                <a:srgbClr val="325C69"/>
              </a:solidFill>
              <a:latin typeface="DM Sans"/>
              <a:ea typeface="DM Sans"/>
              <a:cs typeface="DM Sans"/>
              <a:sym typeface="DM Sans"/>
            </a:endParaRPr>
          </a:p>
        </p:txBody>
      </p:sp>
      <p:sp>
        <p:nvSpPr>
          <p:cNvPr id="5359" name="Google Shape;5359;p197"/>
          <p:cNvSpPr/>
          <p:nvPr/>
        </p:nvSpPr>
        <p:spPr>
          <a:xfrm>
            <a:off x="5588375" y="3580066"/>
            <a:ext cx="2072100" cy="1116000"/>
          </a:xfrm>
          <a:prstGeom prst="roundRect">
            <a:avLst>
              <a:gd fmla="val 16667" name="adj"/>
            </a:avLst>
          </a:prstGeom>
          <a:solidFill>
            <a:srgbClr val="FFFFFF">
              <a:alpha val="94050"/>
            </a:srgbClr>
          </a:solid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325C69"/>
                </a:solidFill>
                <a:latin typeface="DM Sans"/>
                <a:ea typeface="DM Sans"/>
                <a:cs typeface="DM Sans"/>
                <a:sym typeface="DM Sans"/>
              </a:rPr>
              <a:t>Materialized views</a:t>
            </a:r>
            <a:br>
              <a:rPr lang="en">
                <a:solidFill>
                  <a:srgbClr val="325C69"/>
                </a:solidFill>
                <a:latin typeface="DM Sans"/>
                <a:ea typeface="DM Sans"/>
                <a:cs typeface="DM Sans"/>
                <a:sym typeface="DM Sans"/>
              </a:rPr>
            </a:br>
            <a:endParaRPr sz="300">
              <a:solidFill>
                <a:srgbClr val="325C69"/>
              </a:solidFill>
              <a:latin typeface="DM Sans"/>
              <a:ea typeface="DM Sans"/>
              <a:cs typeface="DM Sans"/>
              <a:sym typeface="DM Sans"/>
            </a:endParaRPr>
          </a:p>
          <a:p>
            <a:pPr indent="0" lvl="0" marL="0" rtl="0" algn="ctr">
              <a:spcBef>
                <a:spcPts val="0"/>
              </a:spcBef>
              <a:spcAft>
                <a:spcPts val="0"/>
              </a:spcAft>
              <a:buNone/>
            </a:pPr>
            <a:r>
              <a:rPr lang="en" sz="1100">
                <a:solidFill>
                  <a:srgbClr val="801C17"/>
                </a:solidFill>
                <a:latin typeface="Barlow"/>
                <a:ea typeface="Barlow"/>
                <a:cs typeface="Barlow"/>
                <a:sym typeface="Barlow"/>
              </a:rPr>
              <a:t>Full refresh required</a:t>
            </a:r>
            <a:endParaRPr sz="1100">
              <a:solidFill>
                <a:srgbClr val="801C17"/>
              </a:solidFill>
              <a:latin typeface="Barlow"/>
              <a:ea typeface="Barlow"/>
              <a:cs typeface="Barlow"/>
              <a:sym typeface="Barlow"/>
            </a:endParaRPr>
          </a:p>
          <a:p>
            <a:pPr indent="0" lvl="0" marL="0" rtl="0" algn="ctr">
              <a:spcBef>
                <a:spcPts val="0"/>
              </a:spcBef>
              <a:spcAft>
                <a:spcPts val="0"/>
              </a:spcAft>
              <a:buNone/>
            </a:pPr>
            <a:r>
              <a:t/>
            </a:r>
            <a:endParaRPr sz="1100">
              <a:solidFill>
                <a:srgbClr val="325C69"/>
              </a:solidFill>
              <a:latin typeface="DM Sans"/>
              <a:ea typeface="DM Sans"/>
              <a:cs typeface="DM Sans"/>
              <a:sym typeface="DM Sans"/>
            </a:endParaRPr>
          </a:p>
          <a:p>
            <a:pPr indent="0" lvl="0" marL="0" rtl="0" algn="ctr">
              <a:spcBef>
                <a:spcPts val="0"/>
              </a:spcBef>
              <a:spcAft>
                <a:spcPts val="0"/>
              </a:spcAft>
              <a:buNone/>
            </a:pPr>
            <a:r>
              <a:t/>
            </a:r>
            <a:endParaRPr sz="1100">
              <a:solidFill>
                <a:srgbClr val="325C69"/>
              </a:solidFill>
              <a:latin typeface="DM Sans"/>
              <a:ea typeface="DM Sans"/>
              <a:cs typeface="DM Sans"/>
              <a:sym typeface="DM Sans"/>
            </a:endParaRPr>
          </a:p>
          <a:p>
            <a:pPr indent="0" lvl="0" marL="0" rtl="0" algn="ctr">
              <a:spcBef>
                <a:spcPts val="0"/>
              </a:spcBef>
              <a:spcAft>
                <a:spcPts val="0"/>
              </a:spcAft>
              <a:buNone/>
            </a:pPr>
            <a:r>
              <a:t/>
            </a:r>
            <a:endParaRPr sz="1100">
              <a:solidFill>
                <a:srgbClr val="325C69"/>
              </a:solidFill>
              <a:latin typeface="DM Sans"/>
              <a:ea typeface="DM Sans"/>
              <a:cs typeface="DM Sans"/>
              <a:sym typeface="DM Sans"/>
            </a:endParaRPr>
          </a:p>
        </p:txBody>
      </p:sp>
      <p:sp>
        <p:nvSpPr>
          <p:cNvPr id="5360" name="Google Shape;5360;p197"/>
          <p:cNvSpPr/>
          <p:nvPr/>
        </p:nvSpPr>
        <p:spPr>
          <a:xfrm>
            <a:off x="8125725" y="3580066"/>
            <a:ext cx="2072100" cy="1116000"/>
          </a:xfrm>
          <a:prstGeom prst="roundRect">
            <a:avLst>
              <a:gd fmla="val 16667" name="adj"/>
            </a:avLst>
          </a:prstGeom>
          <a:solidFill>
            <a:srgbClr val="FFFFFF">
              <a:alpha val="94050"/>
            </a:srgbClr>
          </a:solid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325C69"/>
                </a:solidFill>
                <a:latin typeface="DM Sans"/>
                <a:ea typeface="DM Sans"/>
                <a:cs typeface="DM Sans"/>
                <a:sym typeface="DM Sans"/>
              </a:rPr>
              <a:t>Delta tables</a:t>
            </a:r>
            <a:br>
              <a:rPr lang="en">
                <a:solidFill>
                  <a:srgbClr val="325C69"/>
                </a:solidFill>
                <a:latin typeface="DM Sans"/>
                <a:ea typeface="DM Sans"/>
                <a:cs typeface="DM Sans"/>
                <a:sym typeface="DM Sans"/>
              </a:rPr>
            </a:br>
            <a:endParaRPr sz="300">
              <a:solidFill>
                <a:srgbClr val="325C69"/>
              </a:solidFill>
              <a:latin typeface="DM Sans"/>
              <a:ea typeface="DM Sans"/>
              <a:cs typeface="DM Sans"/>
              <a:sym typeface="DM Sans"/>
            </a:endParaRPr>
          </a:p>
          <a:p>
            <a:pPr indent="0" lvl="0" marL="0" rtl="0" algn="ctr">
              <a:spcBef>
                <a:spcPts val="0"/>
              </a:spcBef>
              <a:spcAft>
                <a:spcPts val="0"/>
              </a:spcAft>
              <a:buClr>
                <a:schemeClr val="dk1"/>
              </a:buClr>
              <a:buSzPts val="1100"/>
              <a:buFont typeface="Arial"/>
              <a:buNone/>
            </a:pPr>
            <a:r>
              <a:rPr lang="en" sz="1100">
                <a:solidFill>
                  <a:srgbClr val="801C17"/>
                </a:solidFill>
                <a:latin typeface="Barlow"/>
                <a:ea typeface="Barlow"/>
                <a:cs typeface="Barlow"/>
                <a:sym typeface="Barlow"/>
              </a:rPr>
              <a:t>mergeSchema = true</a:t>
            </a:r>
            <a:br>
              <a:rPr lang="en" sz="1100">
                <a:solidFill>
                  <a:srgbClr val="801C17"/>
                </a:solidFill>
                <a:latin typeface="Barlow"/>
                <a:ea typeface="Barlow"/>
                <a:cs typeface="Barlow"/>
                <a:sym typeface="Barlow"/>
              </a:rPr>
            </a:br>
            <a:endParaRPr sz="300">
              <a:solidFill>
                <a:srgbClr val="801C17"/>
              </a:solidFill>
              <a:latin typeface="Barlow"/>
              <a:ea typeface="Barlow"/>
              <a:cs typeface="Barlow"/>
              <a:sym typeface="Barlow"/>
            </a:endParaRPr>
          </a:p>
          <a:p>
            <a:pPr indent="0" lvl="0" marL="0" rtl="0" algn="ctr">
              <a:spcBef>
                <a:spcPts val="0"/>
              </a:spcBef>
              <a:spcAft>
                <a:spcPts val="0"/>
              </a:spcAft>
              <a:buClr>
                <a:schemeClr val="dk1"/>
              </a:buClr>
              <a:buSzPts val="1100"/>
              <a:buFont typeface="Arial"/>
              <a:buNone/>
            </a:pPr>
            <a:r>
              <a:rPr lang="en" sz="1000">
                <a:solidFill>
                  <a:srgbClr val="325C69"/>
                </a:solidFill>
                <a:latin typeface="DM Sans"/>
                <a:ea typeface="DM Sans"/>
                <a:cs typeface="DM Sans"/>
                <a:sym typeface="DM Sans"/>
              </a:rPr>
              <a:t>Column mapping</a:t>
            </a:r>
            <a:endParaRPr sz="1000">
              <a:solidFill>
                <a:srgbClr val="325C69"/>
              </a:solidFill>
              <a:latin typeface="DM Sans"/>
              <a:ea typeface="DM Sans"/>
              <a:cs typeface="DM Sans"/>
              <a:sym typeface="DM Sans"/>
            </a:endParaRPr>
          </a:p>
          <a:p>
            <a:pPr indent="0" lvl="0" marL="0" rtl="0" algn="ctr">
              <a:spcBef>
                <a:spcPts val="0"/>
              </a:spcBef>
              <a:spcAft>
                <a:spcPts val="0"/>
              </a:spcAft>
              <a:buNone/>
            </a:pPr>
            <a:r>
              <a:rPr lang="en" sz="1000">
                <a:solidFill>
                  <a:srgbClr val="325C69"/>
                </a:solidFill>
                <a:latin typeface="DM Sans"/>
                <a:ea typeface="DM Sans"/>
                <a:cs typeface="DM Sans"/>
                <a:sym typeface="DM Sans"/>
              </a:rPr>
              <a:t>Type widening</a:t>
            </a:r>
            <a:endParaRPr sz="1000">
              <a:solidFill>
                <a:srgbClr val="325C69"/>
              </a:solidFill>
              <a:latin typeface="DM Sans"/>
              <a:ea typeface="DM Sans"/>
              <a:cs typeface="DM Sans"/>
              <a:sym typeface="DM Sans"/>
            </a:endParaRPr>
          </a:p>
          <a:p>
            <a:pPr indent="0" lvl="0" marL="0" rtl="0" algn="ctr">
              <a:spcBef>
                <a:spcPts val="0"/>
              </a:spcBef>
              <a:spcAft>
                <a:spcPts val="0"/>
              </a:spcAft>
              <a:buClr>
                <a:schemeClr val="dk1"/>
              </a:buClr>
              <a:buSzPts val="1100"/>
              <a:buFont typeface="Arial"/>
              <a:buNone/>
            </a:pPr>
            <a:r>
              <a:t/>
            </a:r>
            <a:endParaRPr sz="1100">
              <a:solidFill>
                <a:srgbClr val="325C69"/>
              </a:solidFill>
              <a:latin typeface="DM Sans"/>
              <a:ea typeface="DM Sans"/>
              <a:cs typeface="DM Sans"/>
              <a:sym typeface="DM Sans"/>
            </a:endParaRPr>
          </a:p>
        </p:txBody>
      </p:sp>
      <p:sp>
        <p:nvSpPr>
          <p:cNvPr id="5361" name="Google Shape;5361;p197"/>
          <p:cNvSpPr/>
          <p:nvPr/>
        </p:nvSpPr>
        <p:spPr>
          <a:xfrm>
            <a:off x="5588375" y="5547156"/>
            <a:ext cx="2072100" cy="1116000"/>
          </a:xfrm>
          <a:prstGeom prst="roundRect">
            <a:avLst>
              <a:gd fmla="val 16667" name="adj"/>
            </a:avLst>
          </a:prstGeom>
          <a:solidFill>
            <a:srgbClr val="F9F7F4"/>
          </a:solidFill>
          <a:ln cap="flat" cmpd="sng" w="19050">
            <a:solidFill>
              <a:schemeClr val="lt2"/>
            </a:solidFill>
            <a:prstDash val="solid"/>
            <a:round/>
            <a:headEnd len="sm" w="sm" type="none"/>
            <a:tailEnd len="sm" w="sm" type="none"/>
          </a:ln>
          <a:effectLst>
            <a:outerShdw blurRad="57150" rotWithShape="0" algn="bl" dir="2700000" dist="19050">
              <a:schemeClr val="dk2">
                <a:alpha val="30000"/>
              </a:scheme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325C69"/>
                </a:solidFill>
                <a:latin typeface="DM Sans"/>
                <a:ea typeface="DM Sans"/>
                <a:cs typeface="DM Sans"/>
                <a:sym typeface="DM Sans"/>
              </a:rPr>
              <a:t>V</a:t>
            </a:r>
            <a:r>
              <a:rPr b="1" lang="en">
                <a:solidFill>
                  <a:srgbClr val="325C69"/>
                </a:solidFill>
                <a:latin typeface="DM Sans"/>
                <a:ea typeface="DM Sans"/>
                <a:cs typeface="DM Sans"/>
                <a:sym typeface="DM Sans"/>
              </a:rPr>
              <a:t>iews</a:t>
            </a:r>
            <a:br>
              <a:rPr lang="en">
                <a:solidFill>
                  <a:srgbClr val="325C69"/>
                </a:solidFill>
                <a:latin typeface="DM Sans"/>
                <a:ea typeface="DM Sans"/>
                <a:cs typeface="DM Sans"/>
                <a:sym typeface="DM Sans"/>
              </a:rPr>
            </a:br>
            <a:endParaRPr sz="600">
              <a:solidFill>
                <a:srgbClr val="325C69"/>
              </a:solidFill>
              <a:latin typeface="DM Sans"/>
              <a:ea typeface="DM Sans"/>
              <a:cs typeface="DM Sans"/>
              <a:sym typeface="DM Sans"/>
            </a:endParaRPr>
          </a:p>
          <a:p>
            <a:pPr indent="0" lvl="0" marL="0" rtl="0" algn="ctr">
              <a:spcBef>
                <a:spcPts val="0"/>
              </a:spcBef>
              <a:spcAft>
                <a:spcPts val="0"/>
              </a:spcAft>
              <a:buNone/>
            </a:pPr>
            <a:r>
              <a:rPr lang="en" sz="900">
                <a:solidFill>
                  <a:srgbClr val="801C17"/>
                </a:solidFill>
                <a:latin typeface="Barlow"/>
                <a:ea typeface="Barlow"/>
                <a:cs typeface="Barlow"/>
                <a:sym typeface="Barlow"/>
              </a:rPr>
              <a:t>WITH [TYPE] SCHEMA EVOLUTION</a:t>
            </a:r>
            <a:endParaRPr sz="900">
              <a:solidFill>
                <a:srgbClr val="801C17"/>
              </a:solidFill>
              <a:latin typeface="Barlow"/>
              <a:ea typeface="Barlow"/>
              <a:cs typeface="Barlow"/>
              <a:sym typeface="Barlow"/>
            </a:endParaRPr>
          </a:p>
          <a:p>
            <a:pPr indent="0" lvl="0" marL="0" rtl="0" algn="ctr">
              <a:spcBef>
                <a:spcPts val="0"/>
              </a:spcBef>
              <a:spcAft>
                <a:spcPts val="0"/>
              </a:spcAft>
              <a:buNone/>
            </a:pPr>
            <a:r>
              <a:t/>
            </a:r>
            <a:endParaRPr sz="1100">
              <a:solidFill>
                <a:srgbClr val="325C69"/>
              </a:solidFill>
              <a:latin typeface="DM Sans"/>
              <a:ea typeface="DM Sans"/>
              <a:cs typeface="DM Sans"/>
              <a:sym typeface="DM Sans"/>
            </a:endParaRPr>
          </a:p>
          <a:p>
            <a:pPr indent="0" lvl="0" marL="0" rtl="0" algn="ctr">
              <a:spcBef>
                <a:spcPts val="0"/>
              </a:spcBef>
              <a:spcAft>
                <a:spcPts val="0"/>
              </a:spcAft>
              <a:buNone/>
            </a:pPr>
            <a:r>
              <a:t/>
            </a:r>
            <a:endParaRPr sz="1100">
              <a:solidFill>
                <a:srgbClr val="325C69"/>
              </a:solidFill>
              <a:latin typeface="DM Sans"/>
              <a:ea typeface="DM Sans"/>
              <a:cs typeface="DM Sans"/>
              <a:sym typeface="DM Sans"/>
            </a:endParaRPr>
          </a:p>
          <a:p>
            <a:pPr indent="0" lvl="0" marL="0" rtl="0" algn="ctr">
              <a:spcBef>
                <a:spcPts val="0"/>
              </a:spcBef>
              <a:spcAft>
                <a:spcPts val="0"/>
              </a:spcAft>
              <a:buNone/>
            </a:pPr>
            <a:r>
              <a:t/>
            </a:r>
            <a:endParaRPr sz="1100">
              <a:solidFill>
                <a:srgbClr val="325C69"/>
              </a:solidFill>
              <a:latin typeface="DM Sans"/>
              <a:ea typeface="DM Sans"/>
              <a:cs typeface="DM Sans"/>
              <a:sym typeface="DM Sans"/>
            </a:endParaRPr>
          </a:p>
        </p:txBody>
      </p:sp>
      <p:sp>
        <p:nvSpPr>
          <p:cNvPr id="5362" name="Google Shape;5362;p197"/>
          <p:cNvSpPr/>
          <p:nvPr/>
        </p:nvSpPr>
        <p:spPr>
          <a:xfrm>
            <a:off x="1324450" y="2071516"/>
            <a:ext cx="2345100" cy="506100"/>
          </a:xfrm>
          <a:prstGeom prst="roundRect">
            <a:avLst>
              <a:gd fmla="val 16667" name="adj"/>
            </a:avLst>
          </a:prstGeom>
          <a:solidFill>
            <a:srgbClr val="EEEDE9"/>
          </a:solidFill>
          <a:ln cap="flat" cmpd="sng" w="9525">
            <a:solidFill>
              <a:srgbClr val="7F7F7F"/>
            </a:solidFill>
            <a:prstDash val="solid"/>
            <a:round/>
            <a:headEnd len="sm" w="sm" type="none"/>
            <a:tailEnd len="sm" w="sm" type="none"/>
          </a:ln>
          <a:effectLst>
            <a:outerShdw blurRad="57150" rotWithShape="0" algn="bl" dir="2700000" dist="28575">
              <a:schemeClr val="dk2">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595959"/>
                </a:solidFill>
                <a:latin typeface="DM Sans"/>
                <a:ea typeface="DM Sans"/>
                <a:cs typeface="DM Sans"/>
                <a:sym typeface="DM Sans"/>
              </a:rPr>
              <a:t>Kafka + schema registry</a:t>
            </a:r>
            <a:br>
              <a:rPr lang="en" sz="1200">
                <a:solidFill>
                  <a:srgbClr val="595959"/>
                </a:solidFill>
                <a:latin typeface="DM Sans"/>
                <a:ea typeface="DM Sans"/>
                <a:cs typeface="DM Sans"/>
                <a:sym typeface="DM Sans"/>
              </a:rPr>
            </a:br>
            <a:endParaRPr sz="100">
              <a:solidFill>
                <a:srgbClr val="595959"/>
              </a:solidFill>
              <a:latin typeface="DM Sans"/>
              <a:ea typeface="DM Sans"/>
              <a:cs typeface="DM Sans"/>
              <a:sym typeface="DM Sans"/>
            </a:endParaRPr>
          </a:p>
          <a:p>
            <a:pPr indent="0" lvl="0" marL="0" rtl="0" algn="ctr">
              <a:spcBef>
                <a:spcPts val="0"/>
              </a:spcBef>
              <a:spcAft>
                <a:spcPts val="0"/>
              </a:spcAft>
              <a:buNone/>
            </a:pPr>
            <a:r>
              <a:rPr lang="en" sz="1000">
                <a:solidFill>
                  <a:srgbClr val="595959"/>
                </a:solidFill>
                <a:latin typeface="DM Sans"/>
                <a:ea typeface="DM Sans"/>
                <a:cs typeface="DM Sans"/>
                <a:sym typeface="DM Sans"/>
              </a:rPr>
              <a:t>Avro / Protobuf schemas</a:t>
            </a:r>
            <a:endParaRPr sz="1000">
              <a:solidFill>
                <a:srgbClr val="595959"/>
              </a:solidFill>
              <a:latin typeface="DM Sans"/>
              <a:ea typeface="DM Sans"/>
              <a:cs typeface="DM Sans"/>
              <a:sym typeface="DM Sans"/>
            </a:endParaRPr>
          </a:p>
        </p:txBody>
      </p:sp>
      <p:cxnSp>
        <p:nvCxnSpPr>
          <p:cNvPr id="5363" name="Google Shape;5363;p197"/>
          <p:cNvCxnSpPr/>
          <p:nvPr/>
        </p:nvCxnSpPr>
        <p:spPr>
          <a:xfrm>
            <a:off x="3509075" y="1178241"/>
            <a:ext cx="465300" cy="600"/>
          </a:xfrm>
          <a:prstGeom prst="bentConnector3">
            <a:avLst>
              <a:gd fmla="val 50000" name="adj1"/>
            </a:avLst>
          </a:prstGeom>
          <a:noFill/>
          <a:ln cap="flat" cmpd="sng" w="19050">
            <a:solidFill>
              <a:schemeClr val="dk2"/>
            </a:solidFill>
            <a:prstDash val="solid"/>
            <a:round/>
            <a:headEnd len="med" w="med" type="none"/>
            <a:tailEnd len="med" w="med" type="triangle"/>
          </a:ln>
        </p:spPr>
      </p:cxnSp>
      <p:cxnSp>
        <p:nvCxnSpPr>
          <p:cNvPr id="5364" name="Google Shape;5364;p197"/>
          <p:cNvCxnSpPr>
            <a:stCxn id="5362" idx="3"/>
            <a:endCxn id="5356" idx="2"/>
          </p:cNvCxnSpPr>
          <p:nvPr/>
        </p:nvCxnSpPr>
        <p:spPr>
          <a:xfrm flipH="1" rot="10800000">
            <a:off x="3669550" y="1860465"/>
            <a:ext cx="1341000" cy="464100"/>
          </a:xfrm>
          <a:prstGeom prst="bentConnector2">
            <a:avLst/>
          </a:prstGeom>
          <a:noFill/>
          <a:ln cap="flat" cmpd="sng" w="19050">
            <a:solidFill>
              <a:schemeClr val="dk2"/>
            </a:solidFill>
            <a:prstDash val="solid"/>
            <a:round/>
            <a:headEnd len="med" w="med" type="none"/>
            <a:tailEnd len="med" w="med" type="triangle"/>
          </a:ln>
        </p:spPr>
      </p:cxnSp>
      <p:cxnSp>
        <p:nvCxnSpPr>
          <p:cNvPr id="5365" name="Google Shape;5365;p197"/>
          <p:cNvCxnSpPr>
            <a:stCxn id="5356" idx="3"/>
            <a:endCxn id="5357" idx="1"/>
          </p:cNvCxnSpPr>
          <p:nvPr/>
        </p:nvCxnSpPr>
        <p:spPr>
          <a:xfrm>
            <a:off x="6046475" y="1179141"/>
            <a:ext cx="465300" cy="600"/>
          </a:xfrm>
          <a:prstGeom prst="bentConnector3">
            <a:avLst>
              <a:gd fmla="val 49995" name="adj1"/>
            </a:avLst>
          </a:prstGeom>
          <a:noFill/>
          <a:ln cap="flat" cmpd="sng" w="19050">
            <a:solidFill>
              <a:schemeClr val="dk2"/>
            </a:solidFill>
            <a:prstDash val="solid"/>
            <a:round/>
            <a:headEnd len="med" w="med" type="none"/>
            <a:tailEnd len="med" w="med" type="triangle"/>
          </a:ln>
        </p:spPr>
      </p:cxnSp>
      <p:cxnSp>
        <p:nvCxnSpPr>
          <p:cNvPr id="5366" name="Google Shape;5366;p197"/>
          <p:cNvCxnSpPr>
            <a:stCxn id="5359" idx="2"/>
            <a:endCxn id="5361" idx="0"/>
          </p:cNvCxnSpPr>
          <p:nvPr/>
        </p:nvCxnSpPr>
        <p:spPr>
          <a:xfrm flipH="1" rot="-5400000">
            <a:off x="6199175" y="5121316"/>
            <a:ext cx="851100" cy="600"/>
          </a:xfrm>
          <a:prstGeom prst="bentConnector3">
            <a:avLst>
              <a:gd fmla="val 50011" name="adj1"/>
            </a:avLst>
          </a:prstGeom>
          <a:noFill/>
          <a:ln cap="flat" cmpd="sng" w="19050">
            <a:solidFill>
              <a:srgbClr val="7F7F7F"/>
            </a:solidFill>
            <a:prstDash val="lgDash"/>
            <a:round/>
            <a:headEnd len="med" w="med" type="none"/>
            <a:tailEnd len="med" w="med" type="triangle"/>
          </a:ln>
        </p:spPr>
      </p:cxnSp>
      <p:cxnSp>
        <p:nvCxnSpPr>
          <p:cNvPr id="5367" name="Google Shape;5367;p197"/>
          <p:cNvCxnSpPr>
            <a:stCxn id="5358" idx="2"/>
            <a:endCxn id="5361" idx="0"/>
          </p:cNvCxnSpPr>
          <p:nvPr/>
        </p:nvCxnSpPr>
        <p:spPr>
          <a:xfrm flipH="1" rot="-5400000">
            <a:off x="4930225" y="3852916"/>
            <a:ext cx="851100" cy="2537400"/>
          </a:xfrm>
          <a:prstGeom prst="bentConnector3">
            <a:avLst>
              <a:gd fmla="val 50011" name="adj1"/>
            </a:avLst>
          </a:prstGeom>
          <a:noFill/>
          <a:ln cap="flat" cmpd="sng" w="19050">
            <a:solidFill>
              <a:srgbClr val="7F7F7F"/>
            </a:solidFill>
            <a:prstDash val="lgDash"/>
            <a:round/>
            <a:headEnd len="med" w="med" type="none"/>
            <a:tailEnd len="med" w="med" type="triangle"/>
          </a:ln>
        </p:spPr>
      </p:cxnSp>
      <p:cxnSp>
        <p:nvCxnSpPr>
          <p:cNvPr id="5368" name="Google Shape;5368;p197"/>
          <p:cNvCxnSpPr>
            <a:stCxn id="5360" idx="2"/>
            <a:endCxn id="5361" idx="0"/>
          </p:cNvCxnSpPr>
          <p:nvPr/>
        </p:nvCxnSpPr>
        <p:spPr>
          <a:xfrm rot="5400000">
            <a:off x="7467525" y="3852916"/>
            <a:ext cx="851100" cy="2537400"/>
          </a:xfrm>
          <a:prstGeom prst="bentConnector3">
            <a:avLst>
              <a:gd fmla="val 50011" name="adj1"/>
            </a:avLst>
          </a:prstGeom>
          <a:noFill/>
          <a:ln cap="flat" cmpd="sng" w="19050">
            <a:solidFill>
              <a:srgbClr val="7F7F7F"/>
            </a:solidFill>
            <a:prstDash val="lgDash"/>
            <a:round/>
            <a:headEnd len="med" w="med" type="none"/>
            <a:tailEnd len="med" w="med" type="triangle"/>
          </a:ln>
        </p:spPr>
      </p:cxnSp>
      <p:cxnSp>
        <p:nvCxnSpPr>
          <p:cNvPr id="5369" name="Google Shape;5369;p197"/>
          <p:cNvCxnSpPr>
            <a:stCxn id="5357" idx="2"/>
            <a:endCxn id="5358" idx="0"/>
          </p:cNvCxnSpPr>
          <p:nvPr/>
        </p:nvCxnSpPr>
        <p:spPr>
          <a:xfrm flipH="1">
            <a:off x="4086975" y="1860440"/>
            <a:ext cx="3597300" cy="1719600"/>
          </a:xfrm>
          <a:prstGeom prst="straightConnector1">
            <a:avLst/>
          </a:prstGeom>
          <a:noFill/>
          <a:ln cap="flat" cmpd="sng" w="19050">
            <a:solidFill>
              <a:schemeClr val="dk2"/>
            </a:solidFill>
            <a:prstDash val="solid"/>
            <a:round/>
            <a:headEnd len="med" w="med" type="none"/>
            <a:tailEnd len="med" w="med" type="triangle"/>
          </a:ln>
        </p:spPr>
      </p:cxnSp>
      <p:cxnSp>
        <p:nvCxnSpPr>
          <p:cNvPr id="5370" name="Google Shape;5370;p197"/>
          <p:cNvCxnSpPr>
            <a:stCxn id="5357" idx="2"/>
            <a:endCxn id="5359" idx="0"/>
          </p:cNvCxnSpPr>
          <p:nvPr/>
        </p:nvCxnSpPr>
        <p:spPr>
          <a:xfrm flipH="1">
            <a:off x="6624375" y="1860440"/>
            <a:ext cx="1059900" cy="1719600"/>
          </a:xfrm>
          <a:prstGeom prst="straightConnector1">
            <a:avLst/>
          </a:prstGeom>
          <a:noFill/>
          <a:ln cap="flat" cmpd="sng" w="19050">
            <a:solidFill>
              <a:schemeClr val="dk2"/>
            </a:solidFill>
            <a:prstDash val="solid"/>
            <a:round/>
            <a:headEnd len="med" w="med" type="none"/>
            <a:tailEnd len="med" w="med" type="triangle"/>
          </a:ln>
        </p:spPr>
      </p:cxnSp>
      <p:cxnSp>
        <p:nvCxnSpPr>
          <p:cNvPr id="5371" name="Google Shape;5371;p197"/>
          <p:cNvCxnSpPr>
            <a:stCxn id="5357" idx="2"/>
            <a:endCxn id="5360" idx="0"/>
          </p:cNvCxnSpPr>
          <p:nvPr/>
        </p:nvCxnSpPr>
        <p:spPr>
          <a:xfrm>
            <a:off x="7684275" y="1860440"/>
            <a:ext cx="1477500" cy="1719600"/>
          </a:xfrm>
          <a:prstGeom prst="straightConnector1">
            <a:avLst/>
          </a:prstGeom>
          <a:noFill/>
          <a:ln cap="flat" cmpd="sng" w="19050">
            <a:solidFill>
              <a:schemeClr val="dk2"/>
            </a:solidFill>
            <a:prstDash val="solid"/>
            <a:round/>
            <a:headEnd len="med" w="med" type="none"/>
            <a:tailEnd len="med" w="med" type="triangle"/>
          </a:ln>
        </p:spPr>
      </p:cxnSp>
      <p:sp>
        <p:nvSpPr>
          <p:cNvPr id="5372" name="Google Shape;5372;p197"/>
          <p:cNvSpPr/>
          <p:nvPr/>
        </p:nvSpPr>
        <p:spPr>
          <a:xfrm>
            <a:off x="6248525" y="3181203"/>
            <a:ext cx="1070700" cy="194100"/>
          </a:xfrm>
          <a:prstGeom prst="rect">
            <a:avLst/>
          </a:prstGeom>
          <a:solidFill>
            <a:srgbClr val="F9F7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3" name="Google Shape;5373;p197"/>
          <p:cNvSpPr txBox="1"/>
          <p:nvPr/>
        </p:nvSpPr>
        <p:spPr>
          <a:xfrm>
            <a:off x="5930225" y="3046191"/>
            <a:ext cx="1389000" cy="46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 sz="1500">
                <a:solidFill>
                  <a:srgbClr val="325C69"/>
                </a:solidFill>
                <a:latin typeface="DM Sans"/>
                <a:ea typeface="DM Sans"/>
                <a:cs typeface="DM Sans"/>
                <a:sym typeface="DM Sans"/>
              </a:rPr>
              <a:t>Datasets</a:t>
            </a:r>
            <a:endParaRPr sz="2400">
              <a:solidFill>
                <a:schemeClr val="dk2"/>
              </a:solidFill>
            </a:endParaRPr>
          </a:p>
        </p:txBody>
      </p:sp>
      <p:pic>
        <p:nvPicPr>
          <p:cNvPr id="5374" name="Google Shape;5374;p197"/>
          <p:cNvPicPr preferRelativeResize="0"/>
          <p:nvPr/>
        </p:nvPicPr>
        <p:blipFill rotWithShape="1">
          <a:blip r:embed="rId3">
            <a:alphaModFix/>
          </a:blip>
          <a:srcRect b="0" l="0" r="0" t="0"/>
          <a:stretch/>
        </p:blipFill>
        <p:spPr>
          <a:xfrm>
            <a:off x="4087075" y="584792"/>
            <a:ext cx="399500" cy="399500"/>
          </a:xfrm>
          <a:prstGeom prst="rect">
            <a:avLst/>
          </a:prstGeom>
          <a:noFill/>
          <a:ln>
            <a:noFill/>
          </a:ln>
        </p:spPr>
      </p:pic>
      <p:pic>
        <p:nvPicPr>
          <p:cNvPr id="5375" name="Google Shape;5375;p197"/>
          <p:cNvPicPr preferRelativeResize="0"/>
          <p:nvPr/>
        </p:nvPicPr>
        <p:blipFill rotWithShape="1">
          <a:blip r:embed="rId4">
            <a:alphaModFix/>
          </a:blip>
          <a:srcRect b="0" l="0" r="0" t="0"/>
          <a:stretch/>
        </p:blipFill>
        <p:spPr>
          <a:xfrm>
            <a:off x="1524035" y="560746"/>
            <a:ext cx="453925" cy="419550"/>
          </a:xfrm>
          <a:prstGeom prst="rect">
            <a:avLst/>
          </a:prstGeom>
          <a:noFill/>
          <a:ln>
            <a:noFill/>
          </a:ln>
        </p:spPr>
      </p:pic>
      <p:pic>
        <p:nvPicPr>
          <p:cNvPr id="5376" name="Google Shape;5376;p197"/>
          <p:cNvPicPr preferRelativeResize="0"/>
          <p:nvPr/>
        </p:nvPicPr>
        <p:blipFill rotWithShape="1">
          <a:blip r:embed="rId5">
            <a:alphaModFix/>
          </a:blip>
          <a:srcRect b="0" l="0" r="0" t="0"/>
          <a:stretch/>
        </p:blipFill>
        <p:spPr>
          <a:xfrm>
            <a:off x="6585963" y="557591"/>
            <a:ext cx="453926" cy="45390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