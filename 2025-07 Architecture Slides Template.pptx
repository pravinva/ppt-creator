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9" r:id="rId3"/>
    <p:sldMasterId id="214748369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6858000" cx="12188950"/>
  <p:notesSz cx="6858000" cy="9144000"/>
  <p:embeddedFontLst>
    <p:embeddedFont>
      <p:font typeface="DM Sans Medium"/>
      <p:regular r:id="rId35"/>
      <p:bold r:id="rId36"/>
      <p:italic r:id="rId37"/>
      <p:boldItalic r:id="rId38"/>
    </p:embeddedFont>
    <p:embeddedFont>
      <p:font typeface="DM Sans SemiBold"/>
      <p:regular r:id="rId39"/>
      <p:bold r:id="rId40"/>
      <p:italic r:id="rId41"/>
      <p:boldItalic r:id="rId42"/>
    </p:embeddedFont>
    <p:embeddedFont>
      <p:font typeface="DM Sans Light"/>
      <p:regular r:id="rId43"/>
      <p:bold r:id="rId44"/>
      <p:italic r:id="rId45"/>
      <p:boldItalic r:id="rId46"/>
    </p:embeddedFont>
    <p:embeddedFont>
      <p:font typeface="DM Sans"/>
      <p:regular r:id="rId47"/>
      <p:bold r:id="rId48"/>
      <p:italic r:id="rId49"/>
      <p:boldItalic r:id="rId50"/>
    </p:embeddedFont>
    <p:embeddedFont>
      <p:font typeface="Barlow"/>
      <p:regular r:id="rId51"/>
      <p:bold r:id="rId52"/>
      <p:italic r:id="rId53"/>
      <p:boldItalic r:id="rId54"/>
    </p:embeddedFont>
    <p:embeddedFont>
      <p:font typeface="DM Mono"/>
      <p:regular r:id="rId55"/>
      <p: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DMSansSemiBold-bold.fntdata"/><Relationship Id="rId42" Type="http://schemas.openxmlformats.org/officeDocument/2006/relationships/font" Target="fonts/DMSansSemiBold-boldItalic.fntdata"/><Relationship Id="rId41" Type="http://schemas.openxmlformats.org/officeDocument/2006/relationships/font" Target="fonts/DMSansSemiBold-italic.fntdata"/><Relationship Id="rId44" Type="http://schemas.openxmlformats.org/officeDocument/2006/relationships/font" Target="fonts/DMSansLight-bold.fntdata"/><Relationship Id="rId43" Type="http://schemas.openxmlformats.org/officeDocument/2006/relationships/font" Target="fonts/DMSansLight-regular.fntdata"/><Relationship Id="rId46" Type="http://schemas.openxmlformats.org/officeDocument/2006/relationships/font" Target="fonts/DMSansLight-boldItalic.fntdata"/><Relationship Id="rId45" Type="http://schemas.openxmlformats.org/officeDocument/2006/relationships/font" Target="fonts/DMSansLight-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font" Target="fonts/DMSans-bold.fntdata"/><Relationship Id="rId47" Type="http://schemas.openxmlformats.org/officeDocument/2006/relationships/font" Target="fonts/DMSans-regular.fntdata"/><Relationship Id="rId49" Type="http://schemas.openxmlformats.org/officeDocument/2006/relationships/font" Target="fonts/DM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font" Target="fonts/DMSansMedium-regular.fntdata"/><Relationship Id="rId34" Type="http://schemas.openxmlformats.org/officeDocument/2006/relationships/slide" Target="slides/slide29.xml"/><Relationship Id="rId37" Type="http://schemas.openxmlformats.org/officeDocument/2006/relationships/font" Target="fonts/DMSansMedium-italic.fntdata"/><Relationship Id="rId36" Type="http://schemas.openxmlformats.org/officeDocument/2006/relationships/font" Target="fonts/DMSansMedium-bold.fntdata"/><Relationship Id="rId39" Type="http://schemas.openxmlformats.org/officeDocument/2006/relationships/font" Target="fonts/DMSansSemiBold-regular.fntdata"/><Relationship Id="rId38" Type="http://schemas.openxmlformats.org/officeDocument/2006/relationships/font" Target="fonts/DMSansMedium-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Barlow-regular.fntdata"/><Relationship Id="rId50" Type="http://schemas.openxmlformats.org/officeDocument/2006/relationships/font" Target="fonts/DMSans-boldItalic.fntdata"/><Relationship Id="rId53" Type="http://schemas.openxmlformats.org/officeDocument/2006/relationships/font" Target="fonts/Barlow-italic.fntdata"/><Relationship Id="rId52" Type="http://schemas.openxmlformats.org/officeDocument/2006/relationships/font" Target="fonts/Barlow-bold.fntdata"/><Relationship Id="rId11" Type="http://schemas.openxmlformats.org/officeDocument/2006/relationships/slide" Target="slides/slide6.xml"/><Relationship Id="rId55" Type="http://schemas.openxmlformats.org/officeDocument/2006/relationships/font" Target="fonts/DMMono-regular.fntdata"/><Relationship Id="rId10" Type="http://schemas.openxmlformats.org/officeDocument/2006/relationships/slide" Target="slides/slide5.xml"/><Relationship Id="rId54" Type="http://schemas.openxmlformats.org/officeDocument/2006/relationships/font" Target="fonts/Barlow-boldItalic.fntdata"/><Relationship Id="rId13" Type="http://schemas.openxmlformats.org/officeDocument/2006/relationships/slide" Target="slides/slide8.xml"/><Relationship Id="rId12" Type="http://schemas.openxmlformats.org/officeDocument/2006/relationships/slide" Target="slides/slide7.xml"/><Relationship Id="rId56" Type="http://schemas.openxmlformats.org/officeDocument/2006/relationships/font" Target="fonts/DMMono-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21ecaade5e_3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221ecaade5e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221ecaade5e_3_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221ecaade5e_3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6f0fa9eb8b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6f0fa9eb8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None/>
            </a:pPr>
            <a:r>
              <a:rPr lang="en">
                <a:solidFill>
                  <a:schemeClr val="dk1"/>
                </a:solidFill>
                <a:latin typeface="DM Sans"/>
                <a:ea typeface="DM Sans"/>
                <a:cs typeface="DM Sans"/>
                <a:sym typeface="DM Sans"/>
              </a:rPr>
              <a:t>tag:overview,</a:t>
            </a:r>
            <a:r>
              <a:rPr b="1" lang="en">
                <a:solidFill>
                  <a:schemeClr val="dk1"/>
                </a:solidFill>
                <a:latin typeface="DM Sans"/>
                <a:ea typeface="DM Sans"/>
                <a:cs typeface="DM Sans"/>
                <a:sym typeface="DM Sans"/>
              </a:rPr>
              <a:t>L100-200</a:t>
            </a:r>
            <a:endParaRPr b="1">
              <a:solidFill>
                <a:schemeClr val="dk1"/>
              </a:solidFill>
              <a:latin typeface="DM Sans"/>
              <a:ea typeface="DM Sans"/>
              <a:cs typeface="DM Sans"/>
              <a:sym typeface="DM Sans"/>
            </a:endParaRPr>
          </a:p>
          <a:p>
            <a:pPr indent="0" lvl="0" marL="0" rtl="0" algn="l">
              <a:spcBef>
                <a:spcPts val="300"/>
              </a:spcBef>
              <a:spcAft>
                <a:spcPts val="0"/>
              </a:spcAft>
              <a:buNone/>
            </a:pPr>
            <a:r>
              <a:t/>
            </a:r>
            <a:endParaRPr>
              <a:solidFill>
                <a:schemeClr val="dk1"/>
              </a:solidFill>
              <a:latin typeface="DM Sans"/>
              <a:ea typeface="DM Sans"/>
              <a:cs typeface="DM Sans"/>
              <a:sym typeface="DM Sans"/>
            </a:endParaRPr>
          </a:p>
          <a:p>
            <a:pPr indent="0" lvl="0" marL="0" rtl="0" algn="l">
              <a:spcBef>
                <a:spcPts val="300"/>
              </a:spcBef>
              <a:spcAft>
                <a:spcPts val="0"/>
              </a:spcAft>
              <a:buNone/>
            </a:pPr>
            <a:r>
              <a:rPr lang="en">
                <a:solidFill>
                  <a:schemeClr val="dk1"/>
                </a:solidFill>
                <a:latin typeface="DM Sans"/>
                <a:ea typeface="DM Sans"/>
                <a:cs typeface="DM Sans"/>
                <a:sym typeface="DM Sans"/>
              </a:rPr>
              <a:t>This is a simple framework for a modern data platform </a:t>
            </a:r>
            <a:endParaRPr>
              <a:solidFill>
                <a:schemeClr val="dk1"/>
              </a:solidFill>
              <a:latin typeface="DM Sans"/>
              <a:ea typeface="DM Sans"/>
              <a:cs typeface="DM Sans"/>
              <a:sym typeface="DM Sans"/>
            </a:endParaRPr>
          </a:p>
          <a:p>
            <a:pPr indent="0" lvl="0" marL="0" rtl="0" algn="l">
              <a:spcBef>
                <a:spcPts val="300"/>
              </a:spcBef>
              <a:spcAft>
                <a:spcPts val="0"/>
              </a:spcAft>
              <a:buNone/>
            </a:pPr>
            <a:r>
              <a:rPr lang="en">
                <a:solidFill>
                  <a:schemeClr val="dk1"/>
                </a:solidFill>
                <a:latin typeface="DM Sans"/>
                <a:ea typeface="DM Sans"/>
                <a:cs typeface="DM Sans"/>
                <a:sym typeface="DM Sans"/>
              </a:rPr>
              <a:t>It shows on top the 5 main persona using the platform:</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Data engineer</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Char char="-"/>
            </a:pPr>
            <a:r>
              <a:rPr lang="en">
                <a:solidFill>
                  <a:schemeClr val="dk1"/>
                </a:solidFill>
                <a:latin typeface="DM Sans"/>
                <a:ea typeface="DM Sans"/>
                <a:cs typeface="DM Sans"/>
                <a:sym typeface="DM Sans"/>
              </a:rPr>
              <a:t>ML engineer</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Char char="-"/>
            </a:pPr>
            <a:r>
              <a:rPr lang="en">
                <a:solidFill>
                  <a:schemeClr val="dk1"/>
                </a:solidFill>
                <a:latin typeface="DM Sans"/>
                <a:ea typeface="DM Sans"/>
                <a:cs typeface="DM Sans"/>
                <a:sym typeface="DM Sans"/>
              </a:rPr>
              <a:t>Data scientist</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Char char="-"/>
            </a:pPr>
            <a:r>
              <a:rPr lang="en">
                <a:solidFill>
                  <a:schemeClr val="dk1"/>
                </a:solidFill>
                <a:latin typeface="DM Sans"/>
                <a:ea typeface="DM Sans"/>
                <a:cs typeface="DM Sans"/>
                <a:sym typeface="DM Sans"/>
              </a:rPr>
              <a:t>Business analyst</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Char char="-"/>
            </a:pPr>
            <a:r>
              <a:rPr lang="en">
                <a:solidFill>
                  <a:schemeClr val="dk1"/>
                </a:solidFill>
                <a:latin typeface="DM Sans"/>
                <a:ea typeface="DM Sans"/>
                <a:cs typeface="DM Sans"/>
                <a:sym typeface="DM Sans"/>
              </a:rPr>
              <a:t>Business partner</a:t>
            </a:r>
            <a:endParaRPr>
              <a:solidFill>
                <a:schemeClr val="dk1"/>
              </a:solidFill>
              <a:latin typeface="DM Sans"/>
              <a:ea typeface="DM Sans"/>
              <a:cs typeface="DM Sans"/>
              <a:sym typeface="DM Sans"/>
            </a:endParaRPr>
          </a:p>
          <a:p>
            <a:pPr indent="0" lvl="0" marL="0" rtl="0" algn="l">
              <a:spcBef>
                <a:spcPts val="300"/>
              </a:spcBef>
              <a:spcAft>
                <a:spcPts val="0"/>
              </a:spcAft>
              <a:buNone/>
            </a:pPr>
            <a:r>
              <a:t/>
            </a:r>
            <a:endParaRPr>
              <a:solidFill>
                <a:schemeClr val="dk1"/>
              </a:solidFill>
              <a:latin typeface="DM Sans"/>
              <a:ea typeface="DM Sans"/>
              <a:cs typeface="DM Sans"/>
              <a:sym typeface="DM Sans"/>
            </a:endParaRPr>
          </a:p>
          <a:p>
            <a:pPr indent="0" lvl="0" marL="0" rtl="0" algn="l">
              <a:spcBef>
                <a:spcPts val="300"/>
              </a:spcBef>
              <a:spcAft>
                <a:spcPts val="0"/>
              </a:spcAft>
              <a:buNone/>
            </a:pPr>
            <a:r>
              <a:rPr lang="en">
                <a:solidFill>
                  <a:schemeClr val="dk1"/>
                </a:solidFill>
                <a:latin typeface="DM Sans"/>
                <a:ea typeface="DM Sans"/>
                <a:cs typeface="DM Sans"/>
                <a:sym typeface="DM Sans"/>
              </a:rPr>
              <a:t>And it comes with 4 layers:</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“Storage” layer: All data files are stored in the Cloud Object Storage</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“Data Governance” layer contains capabilities around access control, metadata management, lineage tracking, …</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“Engine” layers, actually comprises of 3 sub layers:</a:t>
            </a:r>
            <a:endParaRPr>
              <a:solidFill>
                <a:schemeClr val="dk1"/>
              </a:solidFill>
              <a:latin typeface="DM Sans"/>
              <a:ea typeface="DM Sans"/>
              <a:cs typeface="DM Sans"/>
              <a:sym typeface="DM Sans"/>
            </a:endParaRPr>
          </a:p>
          <a:p>
            <a:pPr indent="-298450" lvl="1" marL="9144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bottom layer is the AI engine layer. In this layer AI and Gen AI models will be provided that support all other functions in the platform</a:t>
            </a:r>
            <a:endParaRPr>
              <a:solidFill>
                <a:schemeClr val="dk1"/>
              </a:solidFill>
              <a:latin typeface="DM Sans"/>
              <a:ea typeface="DM Sans"/>
              <a:cs typeface="DM Sans"/>
              <a:sym typeface="DM Sans"/>
            </a:endParaRPr>
          </a:p>
          <a:p>
            <a:pPr indent="-298450" lvl="1" marL="9144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value generation layer. It consist of the domains for the 3 main workload types:</a:t>
            </a:r>
            <a:endParaRPr>
              <a:solidFill>
                <a:schemeClr val="dk1"/>
              </a:solidFill>
              <a:latin typeface="DM Sans"/>
              <a:ea typeface="DM Sans"/>
              <a:cs typeface="DM Sans"/>
              <a:sym typeface="DM Sans"/>
            </a:endParaRPr>
          </a:p>
          <a:p>
            <a:pPr indent="-298450" lvl="2" marL="13716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Data ingest and transformations for all tasks to get data into the platform</a:t>
            </a:r>
            <a:endParaRPr>
              <a:solidFill>
                <a:schemeClr val="dk1"/>
              </a:solidFill>
              <a:latin typeface="DM Sans"/>
              <a:ea typeface="DM Sans"/>
              <a:cs typeface="DM Sans"/>
              <a:sym typeface="DM Sans"/>
            </a:endParaRPr>
          </a:p>
          <a:p>
            <a:pPr indent="-298450" lvl="2" marL="13716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“Advanced Analytics, ML &amp; AI” engine for ML, Ai and Gen AI use cases</a:t>
            </a:r>
            <a:endParaRPr>
              <a:solidFill>
                <a:schemeClr val="dk1"/>
              </a:solidFill>
              <a:latin typeface="DM Sans"/>
              <a:ea typeface="DM Sans"/>
              <a:cs typeface="DM Sans"/>
              <a:sym typeface="DM Sans"/>
            </a:endParaRPr>
          </a:p>
          <a:p>
            <a:pPr indent="-298450" lvl="2" marL="13716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“Data Warehouse” engine for data warehouse and BI use cases</a:t>
            </a:r>
            <a:endParaRPr>
              <a:solidFill>
                <a:schemeClr val="dk1"/>
              </a:solidFill>
              <a:latin typeface="DM Sans"/>
              <a:ea typeface="DM Sans"/>
              <a:cs typeface="DM Sans"/>
              <a:sym typeface="DM Sans"/>
            </a:endParaRPr>
          </a:p>
          <a:p>
            <a:pPr indent="-298450" lvl="1" marL="9144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The orchestration layer that provides all capabilities around workflow management</a:t>
            </a:r>
            <a:endParaRPr>
              <a:solidFill>
                <a:schemeClr val="dk1"/>
              </a:solidFill>
              <a:latin typeface="DM Sans"/>
              <a:ea typeface="DM Sans"/>
              <a:cs typeface="DM Sans"/>
              <a:sym typeface="DM Sans"/>
            </a:endParaRPr>
          </a:p>
          <a:p>
            <a:pPr indent="-298450" lvl="0" marL="457200" rtl="0" algn="l">
              <a:spcBef>
                <a:spcPts val="300"/>
              </a:spcBef>
              <a:spcAft>
                <a:spcPts val="300"/>
              </a:spcAft>
              <a:buClr>
                <a:schemeClr val="dk1"/>
              </a:buClr>
              <a:buSzPts val="1100"/>
              <a:buFont typeface="DM Sans"/>
              <a:buChar char="●"/>
            </a:pPr>
            <a:r>
              <a:rPr lang="en">
                <a:solidFill>
                  <a:schemeClr val="dk1"/>
                </a:solidFill>
                <a:latin typeface="DM Sans"/>
                <a:ea typeface="DM Sans"/>
                <a:cs typeface="DM Sans"/>
                <a:sym typeface="DM Sans"/>
              </a:rPr>
              <a:t>The “Consumption” layer containing the front-ends and tools for all workloads</a:t>
            </a:r>
            <a:endParaRPr>
              <a:solidFill>
                <a:schemeClr val="dk1"/>
              </a:solidFill>
              <a:latin typeface="DM Sans"/>
              <a:ea typeface="DM Sans"/>
              <a:cs typeface="DM Sans"/>
              <a:sym typeface="DM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6f0fa9eb8b_0_2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6f0fa9eb8b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a:t>
            </a:r>
            <a:r>
              <a:rPr b="1" lang="en">
                <a:solidFill>
                  <a:schemeClr val="dk1"/>
                </a:solidFill>
                <a:latin typeface="DM Sans"/>
                <a:ea typeface="DM Sans"/>
                <a:cs typeface="DM Sans"/>
                <a:sym typeface="DM Sans"/>
              </a:rPr>
              <a:t>L100-200</a:t>
            </a:r>
            <a:endParaRPr b="1">
              <a:solidFill>
                <a:schemeClr val="dk1"/>
              </a:solidFill>
              <a:latin typeface="DM Sans"/>
              <a:ea typeface="DM Sans"/>
              <a:cs typeface="DM Sans"/>
              <a:sym typeface="DM Sans"/>
            </a:endParaRPr>
          </a:p>
          <a:p>
            <a:pPr indent="0" lvl="0" marL="0" rtl="0" algn="l">
              <a:spcBef>
                <a:spcPts val="30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298450" lvl="0" marL="457200" rtl="0" algn="l">
              <a:spcBef>
                <a:spcPts val="300"/>
              </a:spcBef>
              <a:spcAft>
                <a:spcPts val="0"/>
              </a:spcAft>
              <a:buClr>
                <a:schemeClr val="dk1"/>
              </a:buClr>
              <a:buSzPts val="1100"/>
              <a:buFont typeface="DM Sans"/>
              <a:buChar char="●"/>
            </a:pPr>
            <a:r>
              <a:rPr lang="en">
                <a:solidFill>
                  <a:schemeClr val="dk1"/>
                </a:solidFill>
                <a:latin typeface="DM Sans"/>
                <a:ea typeface="DM Sans"/>
                <a:cs typeface="DM Sans"/>
                <a:sym typeface="DM Sans"/>
              </a:rPr>
              <a:t>In this view we map the capabilities of the Data Intelligence Platform onto this framework to visualize the scope of the overall platform</a:t>
            </a:r>
            <a:endParaRPr>
              <a:solidFill>
                <a:schemeClr val="dk1"/>
              </a:solidFill>
              <a:latin typeface="DM Sans"/>
              <a:ea typeface="DM Sans"/>
              <a:cs typeface="DM Sans"/>
              <a:sym typeface="DM Sans"/>
            </a:endParaRPr>
          </a:p>
          <a:p>
            <a:pPr indent="0" lvl="0" marL="0" rtl="0" algn="l">
              <a:spcBef>
                <a:spcPts val="300"/>
              </a:spcBef>
              <a:spcAft>
                <a:spcPts val="300"/>
              </a:spcAft>
              <a:buNone/>
            </a:pPr>
            <a:r>
              <a:t/>
            </a:r>
            <a:endParaRPr>
              <a:solidFill>
                <a:schemeClr val="dk1"/>
              </a:solidFill>
              <a:latin typeface="DM Sans"/>
              <a:ea typeface="DM Sans"/>
              <a:cs typeface="DM Sans"/>
              <a:sym typeface="DM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6f0fa9eb8b_0_144: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36f0fa9eb8b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n">
                <a:solidFill>
                  <a:schemeClr val="dk1"/>
                </a:solidFill>
                <a:latin typeface="DM Sans"/>
                <a:ea typeface="DM Sans"/>
                <a:cs typeface="DM Sans"/>
                <a:sym typeface="DM Sans"/>
              </a:rPr>
              <a:t>tag:overview,</a:t>
            </a:r>
            <a:r>
              <a:rPr b="1" lang="en">
                <a:solidFill>
                  <a:schemeClr val="dk1"/>
                </a:solidFill>
                <a:latin typeface="DM Sans"/>
                <a:ea typeface="DM Sans"/>
                <a:cs typeface="DM Sans"/>
                <a:sym typeface="DM Sans"/>
              </a:rPr>
              <a:t>L100-200</a:t>
            </a:r>
            <a:endParaRPr b="1">
              <a:solidFill>
                <a:schemeClr val="dk1"/>
              </a:solidFill>
              <a:latin typeface="DM Sans"/>
              <a:ea typeface="DM Sans"/>
              <a:cs typeface="DM Sans"/>
              <a:sym typeface="DM Sans"/>
            </a:endParaRPr>
          </a:p>
          <a:p>
            <a:pPr indent="0" lvl="0" marL="0" rtl="0" algn="l">
              <a:spcBef>
                <a:spcPts val="300"/>
              </a:spcBef>
              <a:spcAft>
                <a:spcPts val="0"/>
              </a:spcAft>
              <a:buNone/>
            </a:pPr>
            <a:r>
              <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This is a more detailed view of the Databricks AI architecture taking the whole Data Intelligence Platform into account. </a:t>
            </a:r>
            <a:endParaRPr/>
          </a:p>
          <a:p>
            <a:pPr indent="0" lvl="0" marL="0" rtl="0" algn="l">
              <a:spcBef>
                <a:spcPts val="0"/>
              </a:spcBef>
              <a:spcAft>
                <a:spcPts val="0"/>
              </a:spcAft>
              <a:buNone/>
            </a:pPr>
            <a:r>
              <a:rPr lang="en"/>
              <a:t>The center is still the 3-step process, the high level “Model” step is qualified a bit more as “Develop and evaluate AI”</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Data Intelligence Platform is an open platform. As such it does have access to 3rd party AI tools and services (both commercial and community driven)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Commercial AI models: OpenAI, Claude, …</a:t>
            </a:r>
            <a:endParaRPr/>
          </a:p>
          <a:p>
            <a:pPr indent="0" lvl="0" marL="0" rtl="0" algn="l">
              <a:spcBef>
                <a:spcPts val="0"/>
              </a:spcBef>
              <a:spcAft>
                <a:spcPts val="0"/>
              </a:spcAft>
              <a:buNone/>
            </a:pPr>
            <a:r>
              <a:rPr lang="en"/>
              <a:t>Community AI models: E.g. from HuggingFace</a:t>
            </a:r>
            <a:endParaRPr/>
          </a:p>
          <a:p>
            <a:pPr indent="0" lvl="0" marL="0" rtl="0" algn="l">
              <a:spcBef>
                <a:spcPts val="0"/>
              </a:spcBef>
              <a:spcAft>
                <a:spcPts val="0"/>
              </a:spcAft>
              <a:buNone/>
            </a:pPr>
            <a:r>
              <a:rPr lang="en"/>
              <a:t>Community tools: E.g. LangChain, LlamaIndex,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6f0fa9eb8b_0_163: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36f0fa9eb8b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L200</a:t>
            </a:r>
            <a:endParaRPr b="1"/>
          </a:p>
          <a:p>
            <a:pPr indent="0" lvl="0" marL="0" rtl="0" algn="ctr">
              <a:lnSpc>
                <a:spcPct val="90000"/>
              </a:lnSpc>
              <a:spcBef>
                <a:spcPts val="0"/>
              </a:spcBef>
              <a:spcAft>
                <a:spcPts val="0"/>
              </a:spcAft>
              <a:buNone/>
            </a:pPr>
            <a:r>
              <a:rPr lang="en" sz="1200">
                <a:solidFill>
                  <a:schemeClr val="accent1"/>
                </a:solidFill>
                <a:latin typeface="DM Sans Medium"/>
                <a:ea typeface="DM Sans Medium"/>
                <a:cs typeface="DM Sans Medium"/>
                <a:sym typeface="DM Sans Medium"/>
              </a:rPr>
              <a:t>Drift data</a:t>
            </a:r>
            <a:endParaRPr/>
          </a:p>
          <a:p>
            <a:pPr indent="0" lvl="0" marL="0" rtl="0" algn="l">
              <a:spcBef>
                <a:spcPts val="0"/>
              </a:spcBef>
              <a:spcAft>
                <a:spcPts val="0"/>
              </a:spcAft>
              <a:buNone/>
            </a:pPr>
            <a:r>
              <a:rPr lang="en"/>
              <a:t>Mosaic AI is fully integrated into the Lakehouse platform. </a:t>
            </a:r>
            <a:endParaRPr/>
          </a:p>
          <a:p>
            <a:pPr indent="0" lvl="0" marL="0" rtl="0" algn="l">
              <a:spcBef>
                <a:spcPts val="0"/>
              </a:spcBef>
              <a:spcAft>
                <a:spcPts val="0"/>
              </a:spcAft>
              <a:buNone/>
            </a:pPr>
            <a:r>
              <a:rPr lang="en"/>
              <a:t>For example, for creating features the same Lakehouse capabilities will used as to create ETL pipelines in data engineering. Since AI features are also tables, they are treated exactly like all other tables and exposed and governed by Unity Catalog.</a:t>
            </a:r>
            <a:endParaRPr/>
          </a:p>
          <a:p>
            <a:pPr indent="0" lvl="0" marL="0" rtl="0" algn="l">
              <a:spcBef>
                <a:spcPts val="0"/>
              </a:spcBef>
              <a:spcAft>
                <a:spcPts val="0"/>
              </a:spcAft>
              <a:buNone/>
            </a:pPr>
            <a:r>
              <a:rPr lang="en"/>
              <a:t>The grey features in this diagram are common Lakehouse tools used for all workloads like ETL, feature engineering, monitoring orchestrating pipelines,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green boxes show capabilities that have specifically created and integrated in the Lakehouse for ML, AI and Gen AI tasks.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Examples for capabilities enhanced or built specifically for Gen AI:</a:t>
            </a:r>
            <a:endParaRPr/>
          </a:p>
          <a:p>
            <a:pPr indent="-298450" lvl="0" marL="457200" rtl="0" algn="l">
              <a:spcBef>
                <a:spcPts val="0"/>
              </a:spcBef>
              <a:spcAft>
                <a:spcPts val="0"/>
              </a:spcAft>
              <a:buSzPts val="1100"/>
              <a:buChar char="-"/>
            </a:pPr>
            <a:r>
              <a:rPr lang="en"/>
              <a:t>AutoML: AutoML for Embeddings</a:t>
            </a:r>
            <a:endParaRPr/>
          </a:p>
          <a:p>
            <a:pPr indent="-298450" lvl="0" marL="457200" rtl="0" algn="l">
              <a:spcBef>
                <a:spcPts val="0"/>
              </a:spcBef>
              <a:spcAft>
                <a:spcPts val="0"/>
              </a:spcAft>
              <a:buSzPts val="1100"/>
              <a:buChar char="-"/>
            </a:pPr>
            <a:r>
              <a:rPr lang="en"/>
              <a:t>Mosaic: Fine-tuning with Mosaic</a:t>
            </a:r>
            <a:endParaRPr/>
          </a:p>
          <a:p>
            <a:pPr indent="-298450" lvl="0" marL="457200" rtl="0" algn="l">
              <a:spcBef>
                <a:spcPts val="0"/>
              </a:spcBef>
              <a:spcAft>
                <a:spcPts val="0"/>
              </a:spcAft>
              <a:buSzPts val="1100"/>
              <a:buChar char="-"/>
            </a:pPr>
            <a:r>
              <a:rPr lang="en"/>
              <a:t>Model Serving: With GPU optimized for LLMs. Also manages access to AI services like OpenAI, Hugging Face and to the internal Model registry (unified API)</a:t>
            </a:r>
            <a:endParaRPr/>
          </a:p>
          <a:p>
            <a:pPr indent="-298450" lvl="0" marL="457200" rtl="0" algn="l">
              <a:spcBef>
                <a:spcPts val="0"/>
              </a:spcBef>
              <a:spcAft>
                <a:spcPts val="0"/>
              </a:spcAft>
              <a:buSzPts val="1100"/>
              <a:buChar char="-"/>
            </a:pPr>
            <a:r>
              <a:rPr lang="en"/>
              <a:t>AI functions: SQL functions to work with AI from SQL queries</a:t>
            </a:r>
            <a:endParaRPr/>
          </a:p>
          <a:p>
            <a:pPr indent="-298450" lvl="0" marL="457200" rtl="0" algn="l">
              <a:spcBef>
                <a:spcPts val="0"/>
              </a:spcBef>
              <a:spcAft>
                <a:spcPts val="0"/>
              </a:spcAft>
              <a:buSzPts val="1100"/>
              <a:buChar char="-"/>
            </a:pPr>
            <a:r>
              <a:rPr lang="en"/>
              <a:t>Functions: For features that need calculation in real time (online tables)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27.06.2024: Replace “AI Playground” by “Agent Framework”; Added “AI Gateway”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221ecaade5e_3_12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221ecaade5e_3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221ecaade5e_3_117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221ecaade5e_3_1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6f0fa9eb8b_0_49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36f0fa9eb8b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rgbClr val="1B3139"/>
                </a:solidFill>
              </a:rPr>
              <a:t>The reference architecture is structured along the dimensions “Source”, “Ingest”, “Transform”, “Query and Process”, “Serve”, “Analyse”, “Storage” and “Integration” </a:t>
            </a:r>
            <a:endParaRPr>
              <a:solidFill>
                <a:srgbClr val="1B3139"/>
              </a:solidFill>
            </a:endParaRPr>
          </a:p>
          <a:p>
            <a:pPr indent="0" lvl="0" marL="0" rtl="0" algn="l">
              <a:spcBef>
                <a:spcPts val="400"/>
              </a:spcBef>
              <a:spcAft>
                <a:spcPts val="0"/>
              </a:spcAft>
              <a:buClr>
                <a:schemeClr val="dk1"/>
              </a:buClr>
              <a:buSzPts val="1100"/>
              <a:buFont typeface="Arial"/>
              <a:buNone/>
            </a:pPr>
            <a:r>
              <a:rPr lang="en">
                <a:solidFill>
                  <a:srgbClr val="1B3139"/>
                </a:solidFill>
              </a:rPr>
              <a:t>It maps capabilities into domains like “Batch &amp; Streaming”, “Processing, ETL, Real-time Analysis”, “Data Warehousing”, “Data Science &amp; Gen AI”, …</a:t>
            </a:r>
            <a:endParaRPr>
              <a:solidFill>
                <a:srgbClr val="1B3139"/>
              </a:solidFill>
            </a:endParaRPr>
          </a:p>
          <a:p>
            <a:pPr indent="0" lvl="0" marL="0" rtl="0" algn="l">
              <a:spcBef>
                <a:spcPts val="400"/>
              </a:spcBef>
              <a:spcAft>
                <a:spcPts val="0"/>
              </a:spcAft>
              <a:buClr>
                <a:schemeClr val="dk1"/>
              </a:buClr>
              <a:buSzPts val="1100"/>
              <a:buFont typeface="Arial"/>
              <a:buNone/>
            </a:pPr>
            <a:r>
              <a:rPr lang="en">
                <a:solidFill>
                  <a:srgbClr val="1B3139"/>
                </a:solidFill>
              </a:rPr>
              <a:t> </a:t>
            </a:r>
            <a:endParaRPr>
              <a:solidFill>
                <a:srgbClr val="1B3139"/>
              </a:solidFill>
            </a:endParaRPr>
          </a:p>
          <a:p>
            <a:pPr indent="0" lvl="0" marL="0" rtl="0" algn="l">
              <a:spcBef>
                <a:spcPts val="400"/>
              </a:spcBef>
              <a:spcAft>
                <a:spcPts val="0"/>
              </a:spcAft>
              <a:buNone/>
            </a:pPr>
            <a:r>
              <a:rPr b="1" lang="en" sz="1300">
                <a:solidFill>
                  <a:srgbClr val="1B3139"/>
                </a:solidFill>
              </a:rPr>
              <a:t>(1) Capabilities outside of the Data Intelligence Platform:</a:t>
            </a:r>
            <a:endParaRPr b="1" sz="1300">
              <a:solidFill>
                <a:srgbClr val="1B3139"/>
              </a:solidFill>
            </a:endParaRPr>
          </a:p>
          <a:p>
            <a:pPr indent="0" lvl="0" marL="0" rtl="0" algn="l">
              <a:spcBef>
                <a:spcPts val="400"/>
              </a:spcBef>
              <a:spcAft>
                <a:spcPts val="0"/>
              </a:spcAft>
              <a:buNone/>
            </a:pPr>
            <a:r>
              <a:t/>
            </a:r>
            <a:endParaRPr b="1" sz="1300">
              <a:solidFill>
                <a:srgbClr val="1B3139"/>
              </a:solidFill>
            </a:endParaRPr>
          </a:p>
          <a:p>
            <a:pPr indent="0" lvl="0" marL="0" rtl="0" algn="l">
              <a:spcBef>
                <a:spcPts val="400"/>
              </a:spcBef>
              <a:spcAft>
                <a:spcPts val="0"/>
              </a:spcAft>
              <a:buNone/>
            </a:pPr>
            <a:r>
              <a:rPr b="1" lang="en">
                <a:solidFill>
                  <a:srgbClr val="1B3139"/>
                </a:solidFill>
              </a:rPr>
              <a:t>Sources:</a:t>
            </a:r>
            <a:r>
              <a:rPr lang="en">
                <a:solidFill>
                  <a:srgbClr val="1B3139"/>
                </a:solidFill>
              </a:rPr>
              <a:t>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Source systems that will be integrated via ETL pipelines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We distinguish between semi-structured and unstructured data (Sensors and IoT, Media, Files/Logs), and structured data (RDBMSs, Business Apps).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Additionally, some customer load data from other cloud providers.</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No-ETL approach for data integration (federation)</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Lakehouse Federation allows to access selected databases directly (without ETL and with query push down). Synapse and SQL Server are supported on Azure, but there are many more systems supported by Lakehouse Federation, e.g. Google BigQuery, Amazon Redshift, Postgres, My SQL, …</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Storage:</a:t>
            </a:r>
            <a:r>
              <a:rPr lang="en">
                <a:solidFill>
                  <a:srgbClr val="1B3139"/>
                </a:solidFill>
              </a:rPr>
              <a:t>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Data will be stored in the cloud storage, i.e. ADLS on Azure</a:t>
            </a:r>
            <a:endParaRPr b="1">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Ingest:</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Streaming events from systems like “IoT Hub” and “Event Hub” can be directly read from Databricks via Structured Streaming.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For batch events “Azure Data Factory” and “Fabric Data Factory” can integrate with Databricks by executing notebooks, Python code or Java jar files as steps of the defined workflow. It is recommended to use Databricks workflows for all steps in the Databricks platform for better monitoring and integrated root cause analysis</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Partner ingest tools like Fivetran help to extract data from enterprise source systems and ingest them into the Delta Lake</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Serve:</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The Databricks Intelligence Platform does not provide capabilities for generic OLTP and key-value databases. If such a capability is needed, transformed data can be pushed as the last step of an ETL pipeline into systems like SQL DB or Cosmos DB</a:t>
            </a:r>
            <a:endParaRPr b="1">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Analysis:</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Different business applications leverage the Data Intelligence Platform: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AI Apps and Gen AI Apps using e.g. Model Serving and Vector Search</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BI use cases with standard tools like Power BI (but also using Databricks own dashboarding solution Lakeview)</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Business Applications that need OLTP DBs or key-value stores, populated by ETL pipelines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3rd party data consumers using Delta Sharing directly or Marketplace or Clean rooms</a:t>
            </a:r>
            <a:endParaRPr>
              <a:solidFill>
                <a:srgbClr val="1B3139"/>
              </a:solidFill>
            </a:endParaRPr>
          </a:p>
          <a:p>
            <a:pPr indent="0" lvl="0" marL="0" rtl="0" algn="l">
              <a:spcBef>
                <a:spcPts val="400"/>
              </a:spcBef>
              <a:spcAft>
                <a:spcPts val="0"/>
              </a:spcAft>
              <a:buNone/>
            </a:pPr>
            <a:r>
              <a:t/>
            </a:r>
            <a:endParaRPr>
              <a:solidFill>
                <a:srgbClr val="1B3139"/>
              </a:solidFill>
            </a:endParaRPr>
          </a:p>
          <a:p>
            <a:pPr indent="0" lvl="0" marL="0" rtl="0" algn="l">
              <a:spcBef>
                <a:spcPts val="400"/>
              </a:spcBef>
              <a:spcAft>
                <a:spcPts val="0"/>
              </a:spcAft>
              <a:buNone/>
            </a:pPr>
            <a:r>
              <a:rPr b="1" lang="en" sz="1300">
                <a:solidFill>
                  <a:srgbClr val="1B3139"/>
                </a:solidFill>
              </a:rPr>
              <a:t>(2) The Data Intelligence Platform </a:t>
            </a:r>
            <a:br>
              <a:rPr b="1" lang="en" sz="1300">
                <a:solidFill>
                  <a:srgbClr val="1B3139"/>
                </a:solidFill>
              </a:rPr>
            </a:br>
            <a:endParaRPr b="1" sz="1300">
              <a:solidFill>
                <a:srgbClr val="1B3139"/>
              </a:solidFill>
            </a:endParaRPr>
          </a:p>
          <a:p>
            <a:pPr indent="0" lvl="0" marL="0" rtl="0" algn="l">
              <a:spcBef>
                <a:spcPts val="400"/>
              </a:spcBef>
              <a:spcAft>
                <a:spcPts val="0"/>
              </a:spcAft>
              <a:buNone/>
            </a:pPr>
            <a:r>
              <a:rPr lang="en">
                <a:solidFill>
                  <a:srgbClr val="1B3139"/>
                </a:solidFill>
              </a:rPr>
              <a:t>The Data Intelligence Platform covers all dimensions from Ingest to Serve and offers dashboarding for Analysis:</a:t>
            </a:r>
            <a:br>
              <a:rPr lang="en">
                <a:solidFill>
                  <a:srgbClr val="1B3139"/>
                </a:solidFill>
              </a:rPr>
            </a:br>
            <a:endParaRPr>
              <a:solidFill>
                <a:srgbClr val="1B3139"/>
              </a:solidFill>
            </a:endParaRPr>
          </a:p>
          <a:p>
            <a:pPr indent="0" lvl="0" marL="0" rtl="0" algn="l">
              <a:spcBef>
                <a:spcPts val="400"/>
              </a:spcBef>
              <a:spcAft>
                <a:spcPts val="0"/>
              </a:spcAft>
              <a:buNone/>
            </a:pPr>
            <a:r>
              <a:rPr b="1" lang="en">
                <a:solidFill>
                  <a:srgbClr val="1B3139"/>
                </a:solidFill>
              </a:rPr>
              <a:t>Storage:</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Delta Lake is located on top of ADLS. ETL pipelines will use the so called “medallion architecture” to store data in a curated way as Delta files/tables.</a:t>
            </a:r>
            <a:endParaRPr b="1">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Batch &amp; Streaming </a:t>
            </a:r>
            <a:endParaRPr b="1">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Ingest</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Databricks Auto Loader allows to incrementally read files from object storage locations and works well together with Lakeflow Declarative Pipelines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The acquisition of Arcion added Data Replication capabilities which will be integrated into the Data Intelligence Platform in 2024</a:t>
            </a:r>
            <a:endParaRPr b="1">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Processing, ETL, Real-time Analysis</a:t>
            </a:r>
            <a:endParaRPr b="1">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Transform</a:t>
            </a:r>
            <a:r>
              <a:rPr lang="en">
                <a:solidFill>
                  <a:srgbClr val="1B3139"/>
                </a:solidFill>
              </a:rPr>
              <a:t>: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Due to its simplicity, a great choice for ETL is LDP with its declarative approach to building pipelines.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LDP integrates nicely with Auto Loader and comes with expectations to check data quality during ETL pipeline execution</a:t>
            </a:r>
            <a:endParaRPr>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Query and Process: </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All workloads are covered by the Databricks Intelligence Platform and use the same Spark engine (and its API compatible native counterpart Photon).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They consistently use the same SQL language for all workloads in SQl Warehouses and via notebooks in workspaces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Workspaces additionally support Python, R and Scala</a:t>
            </a:r>
            <a:endParaRPr>
              <a:solidFill>
                <a:srgbClr val="1B3139"/>
              </a:solidFill>
            </a:endParaRPr>
          </a:p>
          <a:p>
            <a:pPr indent="0" lvl="0" marL="0" rtl="0" algn="l">
              <a:spcBef>
                <a:spcPts val="400"/>
              </a:spcBef>
              <a:spcAft>
                <a:spcPts val="0"/>
              </a:spcAft>
              <a:buNone/>
            </a:pPr>
            <a:r>
              <a:rPr lang="en">
                <a:solidFill>
                  <a:srgbClr val="1B3139"/>
                </a:solidFill>
              </a:rPr>
              <a:t>Data pipelines will be monitored via Lakehouse Monitoring</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Data Warehousing</a:t>
            </a:r>
            <a:endParaRPr b="1">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Serve</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The Databricks Intelligence Platform provides “Databricks SQL” and its serverless version “Serverless SQL” as full Data Warehouse offerings for DWH/BI use cases.</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Data Science &amp; Gen AI</a:t>
            </a:r>
            <a:endParaRPr b="1">
              <a:solidFill>
                <a:srgbClr val="1B3139"/>
              </a:solidFill>
            </a:endParaRPr>
          </a:p>
          <a:p>
            <a:pPr indent="0" lvl="0" marL="0" rtl="0" algn="l">
              <a:spcBef>
                <a:spcPts val="400"/>
              </a:spcBef>
              <a:spcAft>
                <a:spcPts val="0"/>
              </a:spcAft>
              <a:buNone/>
            </a:pPr>
            <a:r>
              <a:rPr lang="en">
                <a:solidFill>
                  <a:srgbClr val="1B3139"/>
                </a:solidFill>
              </a:rPr>
              <a:t>Mosaic AI supports end-to-end Machine Learning from data preparation to modeling and model serving for both traditional ML and Gen AI.</a:t>
            </a:r>
            <a:endParaRPr>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Transform</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Feature engineering is supported with feature management in UC and “Feature Serving” (not shown in the diagram)</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Modeling can be done with the most recent ML and AI Python libraries.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Mosaic AI also provides a low code AutoML capability.</a:t>
            </a:r>
            <a:endParaRPr>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Query and Process</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The overall data science life cycle uses the common Lakehouse capabilities like Spark/Photon and Unity Catalog, and is supported by MLflow </a:t>
            </a:r>
            <a:endParaRPr b="1">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Serve</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“Model Serving” is a scalable enterprise grade model serving capability hosted in the Databricks Control Plane and supports CPU, GPU and LLM optimized serving. It also provides a unified API to access 3rd party LLMs.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“Feature Serving” (not shown) is also part of the Data Science serving capabilities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For RAG (Retrieval Augmented Generation) use cases, the platform offers “Vector Search”</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MLOps (MLflow) is an open source MLOps platform integrated into the Data Intelligence Platform</a:t>
            </a:r>
            <a:endParaRPr>
              <a:solidFill>
                <a:srgbClr val="1B3139"/>
              </a:solidFill>
            </a:endParaRPr>
          </a:p>
          <a:p>
            <a:pPr indent="0" lvl="0" marL="0" rtl="0" algn="l">
              <a:spcBef>
                <a:spcPts val="400"/>
              </a:spcBef>
              <a:spcAft>
                <a:spcPts val="0"/>
              </a:spcAft>
              <a:buNone/>
            </a:pPr>
            <a:r>
              <a:rPr lang="en">
                <a:solidFill>
                  <a:srgbClr val="1B3139"/>
                </a:solidFill>
              </a:rPr>
              <a:t>As with data, ML assets will be monitored via Lakehouse Monitoring</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Intelligence Engine:</a:t>
            </a:r>
            <a:endParaRPr>
              <a:solidFill>
                <a:srgbClr val="1B3139"/>
              </a:solidFill>
            </a:endParaRPr>
          </a:p>
          <a:p>
            <a:pPr indent="0" lvl="0" marL="0" rtl="0" algn="l">
              <a:spcBef>
                <a:spcPts val="400"/>
              </a:spcBef>
              <a:spcAft>
                <a:spcPts val="0"/>
              </a:spcAft>
              <a:buNone/>
            </a:pPr>
            <a:r>
              <a:rPr lang="en">
                <a:solidFill>
                  <a:srgbClr val="1B3139"/>
                </a:solidFill>
              </a:rPr>
              <a:t>A core component of the Databricks Data Intelligence Platform is the DatabricksIQ</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DatabricksIQ uses generative AI to understand the semantics of your data. This is leveraged for example in the Databricks Assistant (context aware help) and Data Rooms (use of natural language for queries and dashboards)</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Data and AI Governance:</a:t>
            </a:r>
            <a:r>
              <a:rPr lang="en">
                <a:solidFill>
                  <a:srgbClr val="1B3139"/>
                </a:solidFill>
              </a:rPr>
              <a:t>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Unity Catalog is the central data governance solution of Databricks providing important capabilities like metadata storage, data discovery, lineage tracking and fine grained access control.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Lakehouse Monitoring is the central monitoring capability across the platform. It allows to monitor, tables, features and models (via their inference tables)</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Lakehouse Observability is the capability to access Lakehiouse lineage, logs and metrics via system tables.</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Orchestration</a:t>
            </a:r>
            <a:r>
              <a:rPr lang="en">
                <a:solidFill>
                  <a:srgbClr val="1B3139"/>
                </a:solidFill>
              </a:rPr>
              <a:t>: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Databricks Workflows is a flexible workflow management solution running millions of orchestrated pipelines in production of Databricks’ customers. Furthermore, CI/CD support and the MLOps Stacks allow to orchestrate the supporting processes.</a:t>
            </a:r>
            <a:endParaRPr>
              <a:solidFill>
                <a:srgbClr val="1B3139"/>
              </a:solidFill>
            </a:endParaRPr>
          </a:p>
          <a:p>
            <a:pPr indent="0" lvl="0" marL="0" rtl="0" algn="l">
              <a:spcBef>
                <a:spcPts val="400"/>
              </a:spcBef>
              <a:spcAft>
                <a:spcPts val="0"/>
              </a:spcAft>
              <a:buNone/>
            </a:pPr>
            <a:r>
              <a:t/>
            </a:r>
            <a:endParaRPr>
              <a:solidFill>
                <a:srgbClr val="1B3139"/>
              </a:solidFill>
            </a:endParaRPr>
          </a:p>
          <a:p>
            <a:pPr indent="0" lvl="0" marL="0" rtl="0" algn="l">
              <a:spcBef>
                <a:spcPts val="400"/>
              </a:spcBef>
              <a:spcAft>
                <a:spcPts val="0"/>
              </a:spcAft>
              <a:buNone/>
            </a:pPr>
            <a:r>
              <a:rPr b="1" lang="en">
                <a:solidFill>
                  <a:srgbClr val="1B3139"/>
                </a:solidFill>
              </a:rPr>
              <a:t>Collaboration:</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Delta Sharing, the technology agnostic sharing solution provides enterprise grade, secure access to life data for partners</a:t>
            </a:r>
            <a:endParaRPr>
              <a:solidFill>
                <a:srgbClr val="1B3139"/>
              </a:solidFill>
            </a:endParaRPr>
          </a:p>
          <a:p>
            <a:pPr indent="-298450" lvl="0" marL="457200" rtl="0" algn="l">
              <a:spcBef>
                <a:spcPts val="400"/>
              </a:spcBef>
              <a:spcAft>
                <a:spcPts val="400"/>
              </a:spcAft>
              <a:buClr>
                <a:srgbClr val="1B3139"/>
              </a:buClr>
              <a:buSzPts val="1100"/>
              <a:buChar char="●"/>
            </a:pPr>
            <a:r>
              <a:rPr lang="en">
                <a:solidFill>
                  <a:srgbClr val="1B3139"/>
                </a:solidFill>
              </a:rPr>
              <a:t>Delta Sharing is also the technical foundation of the Databricks Marketplace and Clean Rooms </a:t>
            </a:r>
            <a:endParaRPr>
              <a:solidFill>
                <a:srgbClr val="1B3139"/>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36f0fa9eb8b_0_155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802" name="Google Shape;802;g36f0fa9eb8b_0_1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rgbClr val="1B3139"/>
                </a:solidFill>
              </a:rPr>
              <a:t>The reference architecture is structured along the dimensions “Source”, “Ingest”, “Transform”, “Query and Process”, “Serve”, “Analyse”, “Storage” and “Integration” </a:t>
            </a:r>
            <a:endParaRPr>
              <a:solidFill>
                <a:srgbClr val="1B3139"/>
              </a:solidFill>
            </a:endParaRPr>
          </a:p>
          <a:p>
            <a:pPr indent="0" lvl="0" marL="0" rtl="0" algn="l">
              <a:spcBef>
                <a:spcPts val="400"/>
              </a:spcBef>
              <a:spcAft>
                <a:spcPts val="0"/>
              </a:spcAft>
              <a:buClr>
                <a:schemeClr val="dk1"/>
              </a:buClr>
              <a:buSzPts val="1100"/>
              <a:buFont typeface="Arial"/>
              <a:buNone/>
            </a:pPr>
            <a:r>
              <a:rPr lang="en">
                <a:solidFill>
                  <a:srgbClr val="1B3139"/>
                </a:solidFill>
              </a:rPr>
              <a:t>It maps capabilities into domains like “Batch &amp; Streaming”, “Processing, ETL, Real-time Analysis”, “Data Warehousing”, “Data Science &amp; Gen AI”, …</a:t>
            </a:r>
            <a:endParaRPr>
              <a:solidFill>
                <a:srgbClr val="1B3139"/>
              </a:solidFill>
            </a:endParaRPr>
          </a:p>
          <a:p>
            <a:pPr indent="0" lvl="0" marL="0" rtl="0" algn="l">
              <a:spcBef>
                <a:spcPts val="400"/>
              </a:spcBef>
              <a:spcAft>
                <a:spcPts val="0"/>
              </a:spcAft>
              <a:buClr>
                <a:schemeClr val="dk1"/>
              </a:buClr>
              <a:buSzPts val="1100"/>
              <a:buFont typeface="Arial"/>
              <a:buNone/>
            </a:pPr>
            <a:r>
              <a:rPr lang="en">
                <a:solidFill>
                  <a:srgbClr val="1B3139"/>
                </a:solidFill>
              </a:rPr>
              <a:t> </a:t>
            </a:r>
            <a:endParaRPr>
              <a:solidFill>
                <a:srgbClr val="1B3139"/>
              </a:solidFill>
            </a:endParaRPr>
          </a:p>
          <a:p>
            <a:pPr indent="0" lvl="0" marL="0" rtl="0" algn="l">
              <a:spcBef>
                <a:spcPts val="400"/>
              </a:spcBef>
              <a:spcAft>
                <a:spcPts val="0"/>
              </a:spcAft>
              <a:buNone/>
            </a:pPr>
            <a:r>
              <a:rPr b="1" lang="en" sz="1300">
                <a:solidFill>
                  <a:srgbClr val="1B3139"/>
                </a:solidFill>
              </a:rPr>
              <a:t>(1) Capabilities outside of the Data Intelligence Platform:</a:t>
            </a:r>
            <a:endParaRPr b="1" sz="1300">
              <a:solidFill>
                <a:srgbClr val="1B3139"/>
              </a:solidFill>
            </a:endParaRPr>
          </a:p>
          <a:p>
            <a:pPr indent="0" lvl="0" marL="0" rtl="0" algn="l">
              <a:spcBef>
                <a:spcPts val="400"/>
              </a:spcBef>
              <a:spcAft>
                <a:spcPts val="0"/>
              </a:spcAft>
              <a:buNone/>
            </a:pPr>
            <a:r>
              <a:t/>
            </a:r>
            <a:endParaRPr b="1" sz="1300">
              <a:solidFill>
                <a:srgbClr val="1B3139"/>
              </a:solidFill>
            </a:endParaRPr>
          </a:p>
          <a:p>
            <a:pPr indent="0" lvl="0" marL="0" rtl="0" algn="l">
              <a:spcBef>
                <a:spcPts val="400"/>
              </a:spcBef>
              <a:spcAft>
                <a:spcPts val="0"/>
              </a:spcAft>
              <a:buNone/>
            </a:pPr>
            <a:r>
              <a:rPr b="1" lang="en">
                <a:solidFill>
                  <a:srgbClr val="1B3139"/>
                </a:solidFill>
              </a:rPr>
              <a:t>Sources:</a:t>
            </a:r>
            <a:r>
              <a:rPr lang="en">
                <a:solidFill>
                  <a:srgbClr val="1B3139"/>
                </a:solidFill>
              </a:rPr>
              <a:t>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Source systems that will be integrated via ETL pipelines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We distinguish between semi-structured and unstructured data (Sensors and IoT, Media, Files/Logs), and structured data (RDBMSs, Business Apps).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Additionally, some customer load data from other cloud providers.</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No-ETL approach for data integration (federation)</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Lakehouse Federation allows to access selected databases directly (without ETL and with query push down). Synapse and SQL Server are supported on Azure, but there are many more systems supported by Lakehouse Federation, e.g. Google BigQuery, Amazon Redshift, Postgres, My SQL, …</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Storage:</a:t>
            </a:r>
            <a:r>
              <a:rPr lang="en">
                <a:solidFill>
                  <a:srgbClr val="1B3139"/>
                </a:solidFill>
              </a:rPr>
              <a:t>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Data will be stored in the cloud storage, i.e. ADLS on Azure</a:t>
            </a:r>
            <a:endParaRPr b="1">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Ingest:</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Streaming events from systems like “IoT Hub” and “Event Hub” can be directly read from Databricks via Structured Streaming.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For batch events “Azure Data Factory” and “Fabric Data Factory” can integrate with Databricks by executing notebooks, Python code or Java jar files as steps of the defined workflow. It is recommended to use Databricks workflows for all steps in the Databricks platform for better monitoring and integrated root cause analysis</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Partner ingest tools like Fivetran help to extract data from enterprise source systems and ingest them into the Delta Lake</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Serve:</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The Databricks Intelligence Platform does not provide capabilities for generic OLTP and key-value databases. If such a capability is needed, transformed data can be pushed as the last step of an ETL pipeline into systems like SQL DB or Cosmos DB</a:t>
            </a:r>
            <a:endParaRPr b="1">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Analysis:</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Different business applications leverage the Data Intelligence Platform: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AI Apps and Gen AI Apps using e.g. Model Serving and Vector Search</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BI use cases with standard tools like Power BI (but also using Databricks own dashboarding solution Lakeview)</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Business Applications that need OLTP DBs or key-value stores, populated by ETL pipelines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3rd party data consumers using Delta Sharing directly or Marketplace or Clean rooms</a:t>
            </a:r>
            <a:endParaRPr>
              <a:solidFill>
                <a:srgbClr val="1B3139"/>
              </a:solidFill>
            </a:endParaRPr>
          </a:p>
          <a:p>
            <a:pPr indent="0" lvl="0" marL="0" rtl="0" algn="l">
              <a:spcBef>
                <a:spcPts val="400"/>
              </a:spcBef>
              <a:spcAft>
                <a:spcPts val="0"/>
              </a:spcAft>
              <a:buNone/>
            </a:pPr>
            <a:r>
              <a:t/>
            </a:r>
            <a:endParaRPr>
              <a:solidFill>
                <a:srgbClr val="1B3139"/>
              </a:solidFill>
            </a:endParaRPr>
          </a:p>
          <a:p>
            <a:pPr indent="0" lvl="0" marL="0" rtl="0" algn="l">
              <a:spcBef>
                <a:spcPts val="400"/>
              </a:spcBef>
              <a:spcAft>
                <a:spcPts val="0"/>
              </a:spcAft>
              <a:buNone/>
            </a:pPr>
            <a:r>
              <a:rPr b="1" lang="en" sz="1300">
                <a:solidFill>
                  <a:srgbClr val="1B3139"/>
                </a:solidFill>
              </a:rPr>
              <a:t>(2) The Data Intelligence Platform </a:t>
            </a:r>
            <a:br>
              <a:rPr b="1" lang="en" sz="1300">
                <a:solidFill>
                  <a:srgbClr val="1B3139"/>
                </a:solidFill>
              </a:rPr>
            </a:br>
            <a:endParaRPr b="1" sz="1300">
              <a:solidFill>
                <a:srgbClr val="1B3139"/>
              </a:solidFill>
            </a:endParaRPr>
          </a:p>
          <a:p>
            <a:pPr indent="0" lvl="0" marL="0" rtl="0" algn="l">
              <a:spcBef>
                <a:spcPts val="400"/>
              </a:spcBef>
              <a:spcAft>
                <a:spcPts val="0"/>
              </a:spcAft>
              <a:buNone/>
            </a:pPr>
            <a:r>
              <a:rPr lang="en">
                <a:solidFill>
                  <a:srgbClr val="1B3139"/>
                </a:solidFill>
              </a:rPr>
              <a:t>The Data Intelligence Platform covers all dimensions from Ingest to Serve and offers dashboarding for Analysis:</a:t>
            </a:r>
            <a:br>
              <a:rPr lang="en">
                <a:solidFill>
                  <a:srgbClr val="1B3139"/>
                </a:solidFill>
              </a:rPr>
            </a:br>
            <a:endParaRPr>
              <a:solidFill>
                <a:srgbClr val="1B3139"/>
              </a:solidFill>
            </a:endParaRPr>
          </a:p>
          <a:p>
            <a:pPr indent="0" lvl="0" marL="0" rtl="0" algn="l">
              <a:spcBef>
                <a:spcPts val="400"/>
              </a:spcBef>
              <a:spcAft>
                <a:spcPts val="0"/>
              </a:spcAft>
              <a:buNone/>
            </a:pPr>
            <a:r>
              <a:rPr b="1" lang="en">
                <a:solidFill>
                  <a:srgbClr val="1B3139"/>
                </a:solidFill>
              </a:rPr>
              <a:t>Storage:</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Delta Lake is located on top of ADLS. ETL pipelines will use the so called “medallion architecture” to store data in a curated way as Delta files/tables.</a:t>
            </a:r>
            <a:endParaRPr b="1">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Batch &amp; Streaming </a:t>
            </a:r>
            <a:endParaRPr b="1">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Ingest</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Databricks Auto Loader allows to incrementally read files from object storage locations and works well together with Lakeflow Declarative Pipelines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The acquisition of Arcion added Data Replication capabilities which will be integrated into the Data Intelligence Platform in 2024</a:t>
            </a:r>
            <a:endParaRPr b="1">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Processing, ETL, Real-time Analysis</a:t>
            </a:r>
            <a:endParaRPr b="1">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Transform</a:t>
            </a:r>
            <a:r>
              <a:rPr lang="en">
                <a:solidFill>
                  <a:srgbClr val="1B3139"/>
                </a:solidFill>
              </a:rPr>
              <a:t>: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Due to its simplicity, a great choice for ETL is LDP with its declarative approach to building pipelines.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LDP integrates nicely with Auto Loader and comes with expectations to check data quality during ETL pipeline execution</a:t>
            </a:r>
            <a:endParaRPr>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Query and Process: </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All workloads are covered by the Databricks Intelligence Platform and use the same Spark engine (and its API compatible native counterpart Photon).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They consistently use the same SQL language for all workloads in SQl Warehouses and via notebooks in workspaces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Workspaces additionally support Python, R and Scala</a:t>
            </a:r>
            <a:endParaRPr>
              <a:solidFill>
                <a:srgbClr val="1B3139"/>
              </a:solidFill>
            </a:endParaRPr>
          </a:p>
          <a:p>
            <a:pPr indent="0" lvl="0" marL="0" rtl="0" algn="l">
              <a:spcBef>
                <a:spcPts val="400"/>
              </a:spcBef>
              <a:spcAft>
                <a:spcPts val="0"/>
              </a:spcAft>
              <a:buNone/>
            </a:pPr>
            <a:r>
              <a:rPr lang="en">
                <a:solidFill>
                  <a:srgbClr val="1B3139"/>
                </a:solidFill>
              </a:rPr>
              <a:t>Data pipelines will be monitored via Lakehouse Monitoring</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Data Warehousing</a:t>
            </a:r>
            <a:endParaRPr b="1">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Serve</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The Databricks Intelligence Platform provides “Databricks SQL” and its serverless version “Serverless SQL” as full Data Warehouse offerings for DWH/BI use cases.</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Data Science &amp; Gen AI</a:t>
            </a:r>
            <a:endParaRPr b="1">
              <a:solidFill>
                <a:srgbClr val="1B3139"/>
              </a:solidFill>
            </a:endParaRPr>
          </a:p>
          <a:p>
            <a:pPr indent="0" lvl="0" marL="0" rtl="0" algn="l">
              <a:spcBef>
                <a:spcPts val="400"/>
              </a:spcBef>
              <a:spcAft>
                <a:spcPts val="0"/>
              </a:spcAft>
              <a:buNone/>
            </a:pPr>
            <a:r>
              <a:rPr lang="en">
                <a:solidFill>
                  <a:srgbClr val="1B3139"/>
                </a:solidFill>
              </a:rPr>
              <a:t>Mosaic AI supports end-to-end Machine Learning from data preparation to modeling and model serving for both traditional ML and Gen AI.</a:t>
            </a:r>
            <a:endParaRPr>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Transform</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Feature engineering is supported with feature management in UC and “Feature Serving” (not shown in the diagram)</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Modeling can be done with the most recent ML and AI Python libraries.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Mosaic AI also provides a low code AutoML capability.</a:t>
            </a:r>
            <a:endParaRPr>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Query and Process</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The overall data science life cycle uses the common Lakehouse capabilities like Spark/Photon and Unity Catalog, and is supported by MLflow </a:t>
            </a:r>
            <a:endParaRPr b="1">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Serve</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“Model Serving” is a scalable enterprise grade model serving capability hosted in the Databricks Control Plane and supports CPU, GPU and LLM optimized serving. It also provides a unified API to access 3rd party LLMs.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“Feature Serving” (not shown) is also part of the Data Science serving capabilities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For RAG (Retrieval Augmented Generation) use cases, the platform offers “Vector Search”</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MLOps (MLflow) is an open source MLOps platform integrated into the Data Intelligence Platform</a:t>
            </a:r>
            <a:endParaRPr>
              <a:solidFill>
                <a:srgbClr val="1B3139"/>
              </a:solidFill>
            </a:endParaRPr>
          </a:p>
          <a:p>
            <a:pPr indent="0" lvl="0" marL="0" rtl="0" algn="l">
              <a:spcBef>
                <a:spcPts val="400"/>
              </a:spcBef>
              <a:spcAft>
                <a:spcPts val="0"/>
              </a:spcAft>
              <a:buNone/>
            </a:pPr>
            <a:r>
              <a:rPr lang="en">
                <a:solidFill>
                  <a:srgbClr val="1B3139"/>
                </a:solidFill>
              </a:rPr>
              <a:t>As with data, ML assets will be monitored via Lakehouse Monitoring</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Intelligence Engine:</a:t>
            </a:r>
            <a:endParaRPr>
              <a:solidFill>
                <a:srgbClr val="1B3139"/>
              </a:solidFill>
            </a:endParaRPr>
          </a:p>
          <a:p>
            <a:pPr indent="0" lvl="0" marL="0" rtl="0" algn="l">
              <a:spcBef>
                <a:spcPts val="400"/>
              </a:spcBef>
              <a:spcAft>
                <a:spcPts val="0"/>
              </a:spcAft>
              <a:buNone/>
            </a:pPr>
            <a:r>
              <a:rPr lang="en">
                <a:solidFill>
                  <a:srgbClr val="1B3139"/>
                </a:solidFill>
              </a:rPr>
              <a:t>A core component of the Databricks Data Intelligence Platform is the DatabricksIQ</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DatabricksIQ uses generative AI to understand the semantics of your data. This is leveraged for example in the Databricks Assistant (context aware help) and Data Rooms (use of natural language for queries and dashboards)</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Data and AI Governance:</a:t>
            </a:r>
            <a:r>
              <a:rPr lang="en">
                <a:solidFill>
                  <a:srgbClr val="1B3139"/>
                </a:solidFill>
              </a:rPr>
              <a:t>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Unity Catalog is the central data governance solution of Databricks providing important capabilities like metadata storage, data discovery, lineage tracking and fine grained access control.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Lakehouse Monitoring is the central monitoring capability across the platform. It allows to monitor, tables, features and models (via their inference tables)</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Lakehouse Observability is the capability to access Lakehiouse lineage, logs and metrics via system tables.</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Orchestration</a:t>
            </a:r>
            <a:r>
              <a:rPr lang="en">
                <a:solidFill>
                  <a:srgbClr val="1B3139"/>
                </a:solidFill>
              </a:rPr>
              <a:t>: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Databricks Workflows is a flexible workflow management solution running millions of orchestrated pipelines in production of Databricks’ customers. Furthermore, CI/CD support and the MLOps Stacks allow to orchestrate the supporting processes.</a:t>
            </a:r>
            <a:endParaRPr>
              <a:solidFill>
                <a:srgbClr val="1B3139"/>
              </a:solidFill>
            </a:endParaRPr>
          </a:p>
          <a:p>
            <a:pPr indent="0" lvl="0" marL="0" rtl="0" algn="l">
              <a:spcBef>
                <a:spcPts val="400"/>
              </a:spcBef>
              <a:spcAft>
                <a:spcPts val="0"/>
              </a:spcAft>
              <a:buNone/>
            </a:pPr>
            <a:r>
              <a:t/>
            </a:r>
            <a:endParaRPr>
              <a:solidFill>
                <a:srgbClr val="1B3139"/>
              </a:solidFill>
            </a:endParaRPr>
          </a:p>
          <a:p>
            <a:pPr indent="0" lvl="0" marL="0" rtl="0" algn="l">
              <a:spcBef>
                <a:spcPts val="400"/>
              </a:spcBef>
              <a:spcAft>
                <a:spcPts val="0"/>
              </a:spcAft>
              <a:buNone/>
            </a:pPr>
            <a:r>
              <a:rPr b="1" lang="en">
                <a:solidFill>
                  <a:srgbClr val="1B3139"/>
                </a:solidFill>
              </a:rPr>
              <a:t>Collaboration:</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Delta Sharing, the technology agnostic sharing solution provides enterprise grade, secure access to life data for partners</a:t>
            </a:r>
            <a:endParaRPr>
              <a:solidFill>
                <a:srgbClr val="1B3139"/>
              </a:solidFill>
            </a:endParaRPr>
          </a:p>
          <a:p>
            <a:pPr indent="-298450" lvl="0" marL="457200" rtl="0" algn="l">
              <a:spcBef>
                <a:spcPts val="400"/>
              </a:spcBef>
              <a:spcAft>
                <a:spcPts val="400"/>
              </a:spcAft>
              <a:buClr>
                <a:srgbClr val="1B3139"/>
              </a:buClr>
              <a:buSzPts val="1100"/>
              <a:buChar char="●"/>
            </a:pPr>
            <a:r>
              <a:rPr lang="en">
                <a:solidFill>
                  <a:srgbClr val="1B3139"/>
                </a:solidFill>
              </a:rPr>
              <a:t>Delta Sharing is also the technical foundation of the Databricks Marketplace and Clean Rooms </a:t>
            </a:r>
            <a:endParaRPr>
              <a:solidFill>
                <a:srgbClr val="1B3139"/>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6f0fa9eb8b_0_68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000" name="Google Shape;1000;g36f0fa9eb8b_0_6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rgbClr val="1B3139"/>
                </a:solidFill>
              </a:rPr>
              <a:t>The reference architecture is structured along the dimensions “Source”, “Ingest”, “Transform”, “Query and Process”, “Serve”, “Analyse”, “Storage” and “Integration” </a:t>
            </a:r>
            <a:endParaRPr>
              <a:solidFill>
                <a:srgbClr val="1B3139"/>
              </a:solidFill>
            </a:endParaRPr>
          </a:p>
          <a:p>
            <a:pPr indent="0" lvl="0" marL="0" rtl="0" algn="l">
              <a:spcBef>
                <a:spcPts val="400"/>
              </a:spcBef>
              <a:spcAft>
                <a:spcPts val="0"/>
              </a:spcAft>
              <a:buClr>
                <a:schemeClr val="dk1"/>
              </a:buClr>
              <a:buSzPts val="1100"/>
              <a:buFont typeface="Arial"/>
              <a:buNone/>
            </a:pPr>
            <a:r>
              <a:rPr lang="en">
                <a:solidFill>
                  <a:srgbClr val="1B3139"/>
                </a:solidFill>
              </a:rPr>
              <a:t>It maps capabilities into domains like “Batch &amp; Streaming”, “Processing, ETL, Real-time Analysis”, “Data Warehousing”, “Data Science &amp; Gen AI”, …</a:t>
            </a:r>
            <a:endParaRPr>
              <a:solidFill>
                <a:srgbClr val="1B3139"/>
              </a:solidFill>
            </a:endParaRPr>
          </a:p>
          <a:p>
            <a:pPr indent="0" lvl="0" marL="0" rtl="0" algn="l">
              <a:spcBef>
                <a:spcPts val="400"/>
              </a:spcBef>
              <a:spcAft>
                <a:spcPts val="0"/>
              </a:spcAft>
              <a:buClr>
                <a:schemeClr val="dk1"/>
              </a:buClr>
              <a:buSzPts val="1100"/>
              <a:buFont typeface="Arial"/>
              <a:buNone/>
            </a:pPr>
            <a:r>
              <a:rPr lang="en">
                <a:solidFill>
                  <a:srgbClr val="1B3139"/>
                </a:solidFill>
              </a:rPr>
              <a:t> </a:t>
            </a:r>
            <a:endParaRPr>
              <a:solidFill>
                <a:srgbClr val="1B3139"/>
              </a:solidFill>
            </a:endParaRPr>
          </a:p>
          <a:p>
            <a:pPr indent="0" lvl="0" marL="0" rtl="0" algn="l">
              <a:spcBef>
                <a:spcPts val="400"/>
              </a:spcBef>
              <a:spcAft>
                <a:spcPts val="0"/>
              </a:spcAft>
              <a:buNone/>
            </a:pPr>
            <a:r>
              <a:rPr b="1" lang="en" sz="1300">
                <a:solidFill>
                  <a:srgbClr val="1B3139"/>
                </a:solidFill>
              </a:rPr>
              <a:t>(1) Capabilities outside of the Data Intelligence Platform:</a:t>
            </a:r>
            <a:endParaRPr b="1" sz="1300">
              <a:solidFill>
                <a:srgbClr val="1B3139"/>
              </a:solidFill>
            </a:endParaRPr>
          </a:p>
          <a:p>
            <a:pPr indent="0" lvl="0" marL="0" rtl="0" algn="l">
              <a:spcBef>
                <a:spcPts val="400"/>
              </a:spcBef>
              <a:spcAft>
                <a:spcPts val="0"/>
              </a:spcAft>
              <a:buNone/>
            </a:pPr>
            <a:r>
              <a:t/>
            </a:r>
            <a:endParaRPr b="1" sz="1300">
              <a:solidFill>
                <a:srgbClr val="1B3139"/>
              </a:solidFill>
            </a:endParaRPr>
          </a:p>
          <a:p>
            <a:pPr indent="0" lvl="0" marL="0" rtl="0" algn="l">
              <a:spcBef>
                <a:spcPts val="400"/>
              </a:spcBef>
              <a:spcAft>
                <a:spcPts val="0"/>
              </a:spcAft>
              <a:buNone/>
            </a:pPr>
            <a:r>
              <a:rPr b="1" lang="en">
                <a:solidFill>
                  <a:srgbClr val="1B3139"/>
                </a:solidFill>
              </a:rPr>
              <a:t>Sources:</a:t>
            </a:r>
            <a:r>
              <a:rPr lang="en">
                <a:solidFill>
                  <a:srgbClr val="1B3139"/>
                </a:solidFill>
              </a:rPr>
              <a:t>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Source systems that will be integrated via ETL pipelines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We distinguish between semi-structured and unstructured data (Sensors and IoT, Media, Files/Logs), and structured data (RDBMSs, Business Apps).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Additionally, some customer load data from other cloud providers.</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No-ETL approach for data integration (federation)</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Lakehouse Federation allows to access selected databases directly (without ETL and with query push down). Synapse and SQL Server are supported on Azure, but there are many more systems supported by Lakehouse Federation, e.g. Google BigQuery, Amazon Redshift, Postgres, My SQL, …</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Storage:</a:t>
            </a:r>
            <a:r>
              <a:rPr lang="en">
                <a:solidFill>
                  <a:srgbClr val="1B3139"/>
                </a:solidFill>
              </a:rPr>
              <a:t>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Data will be stored in the cloud storage, i.e. ADLS on Azure</a:t>
            </a:r>
            <a:endParaRPr b="1">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Ingest:</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Streaming events from systems like “IoT Hub” and “Event Hub” can be directly read from Databricks via Structured Streaming.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For batch events “Azure Data Factory” and “Fabric Data Factory” can integrate with Databricks by executing notebooks, Python code or Java jar files as steps of the defined workflow. It is recommended to use Lakeflow Jobs for all steps in the Databricks platform for better monitoring and integrated root cause analysis</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Partner ingest tools like Fivetran help to extract data from enterprise source systems and ingest them into the Delta Lake</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Serve:</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The Databricks Intelligence Platform does not provide capabilities for generic OLTP and key-value databases. If such a capability is needed, transformed data can be pushed as the last step of an ETL pipeline into systems like SQL DB or Cosmos DB</a:t>
            </a:r>
            <a:endParaRPr b="1">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Analysis:</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Different business applications leverage the Data Intelligence Platform: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AI Apps and Gen AI Apps using e.g. Model Serving and Vector Search</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BI use cases with standard tools like Power BI (but also using Databricks own dashboarding solution Lakeview)</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Business Applications that need OLTP DBs or key-value stores, populated by ETL pipelines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3rd party data consumers using Delta Sharing directly or Marketplace or Clean rooms</a:t>
            </a:r>
            <a:endParaRPr>
              <a:solidFill>
                <a:srgbClr val="1B3139"/>
              </a:solidFill>
            </a:endParaRPr>
          </a:p>
          <a:p>
            <a:pPr indent="0" lvl="0" marL="0" rtl="0" algn="l">
              <a:spcBef>
                <a:spcPts val="400"/>
              </a:spcBef>
              <a:spcAft>
                <a:spcPts val="0"/>
              </a:spcAft>
              <a:buNone/>
            </a:pPr>
            <a:r>
              <a:t/>
            </a:r>
            <a:endParaRPr>
              <a:solidFill>
                <a:srgbClr val="1B3139"/>
              </a:solidFill>
            </a:endParaRPr>
          </a:p>
          <a:p>
            <a:pPr indent="0" lvl="0" marL="0" rtl="0" algn="l">
              <a:spcBef>
                <a:spcPts val="400"/>
              </a:spcBef>
              <a:spcAft>
                <a:spcPts val="0"/>
              </a:spcAft>
              <a:buNone/>
            </a:pPr>
            <a:r>
              <a:rPr b="1" lang="en" sz="1300">
                <a:solidFill>
                  <a:srgbClr val="1B3139"/>
                </a:solidFill>
              </a:rPr>
              <a:t>(2) The Data Intelligence Platform </a:t>
            </a:r>
            <a:br>
              <a:rPr b="1" lang="en" sz="1300">
                <a:solidFill>
                  <a:srgbClr val="1B3139"/>
                </a:solidFill>
              </a:rPr>
            </a:br>
            <a:endParaRPr b="1" sz="1300">
              <a:solidFill>
                <a:srgbClr val="1B3139"/>
              </a:solidFill>
            </a:endParaRPr>
          </a:p>
          <a:p>
            <a:pPr indent="0" lvl="0" marL="0" rtl="0" algn="l">
              <a:spcBef>
                <a:spcPts val="400"/>
              </a:spcBef>
              <a:spcAft>
                <a:spcPts val="0"/>
              </a:spcAft>
              <a:buNone/>
            </a:pPr>
            <a:r>
              <a:rPr lang="en">
                <a:solidFill>
                  <a:srgbClr val="1B3139"/>
                </a:solidFill>
              </a:rPr>
              <a:t>The Data Intelligence Platform covers all dimensions from Ingest to Serve and offers dashboarding for Analysis:</a:t>
            </a:r>
            <a:br>
              <a:rPr lang="en">
                <a:solidFill>
                  <a:srgbClr val="1B3139"/>
                </a:solidFill>
              </a:rPr>
            </a:br>
            <a:endParaRPr>
              <a:solidFill>
                <a:srgbClr val="1B3139"/>
              </a:solidFill>
            </a:endParaRPr>
          </a:p>
          <a:p>
            <a:pPr indent="0" lvl="0" marL="0" rtl="0" algn="l">
              <a:spcBef>
                <a:spcPts val="400"/>
              </a:spcBef>
              <a:spcAft>
                <a:spcPts val="0"/>
              </a:spcAft>
              <a:buNone/>
            </a:pPr>
            <a:r>
              <a:rPr b="1" lang="en">
                <a:solidFill>
                  <a:srgbClr val="1B3139"/>
                </a:solidFill>
              </a:rPr>
              <a:t>Storage:</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Delta Lake is located on top of ADLS. ETL pipelines will use the so called “medallion architecture” to store data in a curated way as Delta files/tables.</a:t>
            </a:r>
            <a:endParaRPr b="1">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Batch &amp; Streaming </a:t>
            </a:r>
            <a:endParaRPr b="1">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Ingest</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Databricks Auto Loader allows to incrementally read files from object storage locations and works well together with Lakeflow Declarative Pipelines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The acquisition of Arcion added Data Replication capabilities which will be integrated into the Data Intelligence Platform in 2024</a:t>
            </a:r>
            <a:endParaRPr b="1">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Processing, ETL, Real-time Analysis</a:t>
            </a:r>
            <a:endParaRPr b="1">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Transform</a:t>
            </a:r>
            <a:r>
              <a:rPr lang="en">
                <a:solidFill>
                  <a:srgbClr val="1B3139"/>
                </a:solidFill>
              </a:rPr>
              <a:t>: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Due to its simplicity, a great choice for ETL is LDP with its declarative approach to building pipelines.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LDP integrates nicely with Auto Loader and comes with expectations to check data quality during ETL pipeline execution</a:t>
            </a:r>
            <a:endParaRPr>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Query and Process: </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All workloads are covered by the Databricks Intelligence Platform and use the same Spark engine (and its API compatible native counterpart Photon).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They consistently use the same SQL language for all workloads in SQl Warehouses and via notebooks in workspaces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Workspaces additionally support Python, R and Scala</a:t>
            </a:r>
            <a:endParaRPr>
              <a:solidFill>
                <a:srgbClr val="1B3139"/>
              </a:solidFill>
            </a:endParaRPr>
          </a:p>
          <a:p>
            <a:pPr indent="0" lvl="0" marL="0" rtl="0" algn="l">
              <a:spcBef>
                <a:spcPts val="400"/>
              </a:spcBef>
              <a:spcAft>
                <a:spcPts val="0"/>
              </a:spcAft>
              <a:buNone/>
            </a:pPr>
            <a:r>
              <a:rPr lang="en">
                <a:solidFill>
                  <a:srgbClr val="1B3139"/>
                </a:solidFill>
              </a:rPr>
              <a:t>Data pipelines will be monitored via Lakehouse Monitoring</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Data Warehousing</a:t>
            </a:r>
            <a:endParaRPr b="1">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Serve</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The Databricks Intelligence Platform provides “Databricks SQL” and its serverless version “Serverless SQL” as full Data Warehouse offerings for DWH/BI use cases.</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Data Science &amp; Gen AI</a:t>
            </a:r>
            <a:endParaRPr b="1">
              <a:solidFill>
                <a:srgbClr val="1B3139"/>
              </a:solidFill>
            </a:endParaRPr>
          </a:p>
          <a:p>
            <a:pPr indent="0" lvl="0" marL="0" rtl="0" algn="l">
              <a:spcBef>
                <a:spcPts val="400"/>
              </a:spcBef>
              <a:spcAft>
                <a:spcPts val="0"/>
              </a:spcAft>
              <a:buNone/>
            </a:pPr>
            <a:r>
              <a:rPr lang="en">
                <a:solidFill>
                  <a:srgbClr val="1B3139"/>
                </a:solidFill>
              </a:rPr>
              <a:t>Mosaic AI supports end-to-end Machine Learning from data preparation to modeling and model serving for both traditional ML and Gen AI.</a:t>
            </a:r>
            <a:endParaRPr>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Transform</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Feature engineering is supported with feature management in UC and “Feature Serving” (not shown in the diagram)</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Modeling can be done with the most recent ML and AI Python libraries.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Mosaic AI also provides a low code AutoML capability.</a:t>
            </a:r>
            <a:endParaRPr>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Query and Process</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The overall data science life cycle uses the common Lakehouse capabilities like Spark/Photon and Unity Catalog, and is supported by MLflow </a:t>
            </a:r>
            <a:endParaRPr b="1">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Serve</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“Model Serving” is a scalable enterprise grade model serving capability hosted in the Databricks Control Plane and supports CPU, GPU and LLM optimized serving. It also provides a unified API to access 3rd party LLMs.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“Feature Serving” (not shown) is also part of the Data Science serving capabilities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For RAG (Retrieval Augmented Generation) use cases, the platform offers “Vector Search”</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MLOps (MLflow) is an open source MLOps platform integrated into the Data Intelligence Platform</a:t>
            </a:r>
            <a:endParaRPr>
              <a:solidFill>
                <a:srgbClr val="1B3139"/>
              </a:solidFill>
            </a:endParaRPr>
          </a:p>
          <a:p>
            <a:pPr indent="0" lvl="0" marL="0" rtl="0" algn="l">
              <a:spcBef>
                <a:spcPts val="400"/>
              </a:spcBef>
              <a:spcAft>
                <a:spcPts val="0"/>
              </a:spcAft>
              <a:buNone/>
            </a:pPr>
            <a:r>
              <a:rPr lang="en">
                <a:solidFill>
                  <a:srgbClr val="1B3139"/>
                </a:solidFill>
              </a:rPr>
              <a:t>As with data, ML assets will be monitored via Lakehouse Monitoring</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Intelligence Engine:</a:t>
            </a:r>
            <a:endParaRPr>
              <a:solidFill>
                <a:srgbClr val="1B3139"/>
              </a:solidFill>
            </a:endParaRPr>
          </a:p>
          <a:p>
            <a:pPr indent="0" lvl="0" marL="0" rtl="0" algn="l">
              <a:spcBef>
                <a:spcPts val="400"/>
              </a:spcBef>
              <a:spcAft>
                <a:spcPts val="0"/>
              </a:spcAft>
              <a:buNone/>
            </a:pPr>
            <a:r>
              <a:rPr lang="en">
                <a:solidFill>
                  <a:srgbClr val="1B3139"/>
                </a:solidFill>
              </a:rPr>
              <a:t>A core component of the Databricks Data Intelligence Platform is the DatabricksIQ</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DatabricksIQ uses generative AI to understand the semantics of your data. This is leveraged for example in the Databricks Assistant (context aware help) and Data Rooms (use of natural language for queries and dashboards)</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Data and AI Governance:</a:t>
            </a:r>
            <a:r>
              <a:rPr lang="en">
                <a:solidFill>
                  <a:srgbClr val="1B3139"/>
                </a:solidFill>
              </a:rPr>
              <a:t>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Unity Catalog is the central data governance solution of Databricks providing important capabilities like metadata storage, data discovery, lineage tracking and fine grained access control.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Lakehouse Monitoring is the central monitoring capability across the platform. It allows to monitor, tables, features and models (via their inference tables)</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Lakehouse Observability is the capability to access Lakehiouse lineage, logs and metrics via system tables.</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Orchestration</a:t>
            </a:r>
            <a:r>
              <a:rPr lang="en">
                <a:solidFill>
                  <a:srgbClr val="1B3139"/>
                </a:solidFill>
              </a:rPr>
              <a:t>: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Lakeflow Jobs is a flexible workflow management solution running millions of orchestrated pipelines in production of Databricks’ customers. Furthermore, CI/CD support and the MLOps Stacks allow to orchestrate the supporting processes.</a:t>
            </a:r>
            <a:endParaRPr>
              <a:solidFill>
                <a:srgbClr val="1B3139"/>
              </a:solidFill>
            </a:endParaRPr>
          </a:p>
          <a:p>
            <a:pPr indent="0" lvl="0" marL="0" rtl="0" algn="l">
              <a:spcBef>
                <a:spcPts val="400"/>
              </a:spcBef>
              <a:spcAft>
                <a:spcPts val="0"/>
              </a:spcAft>
              <a:buNone/>
            </a:pPr>
            <a:r>
              <a:t/>
            </a:r>
            <a:endParaRPr>
              <a:solidFill>
                <a:srgbClr val="1B3139"/>
              </a:solidFill>
            </a:endParaRPr>
          </a:p>
          <a:p>
            <a:pPr indent="0" lvl="0" marL="0" rtl="0" algn="l">
              <a:spcBef>
                <a:spcPts val="400"/>
              </a:spcBef>
              <a:spcAft>
                <a:spcPts val="0"/>
              </a:spcAft>
              <a:buNone/>
            </a:pPr>
            <a:r>
              <a:rPr b="1" lang="en">
                <a:solidFill>
                  <a:srgbClr val="1B3139"/>
                </a:solidFill>
              </a:rPr>
              <a:t>Collaboration:</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Delta Sharing, the technology agnostic sharing solution provides enterprise grade, secure access to life data for partners</a:t>
            </a:r>
            <a:endParaRPr>
              <a:solidFill>
                <a:srgbClr val="1B3139"/>
              </a:solidFill>
            </a:endParaRPr>
          </a:p>
          <a:p>
            <a:pPr indent="-298450" lvl="0" marL="457200" rtl="0" algn="l">
              <a:spcBef>
                <a:spcPts val="400"/>
              </a:spcBef>
              <a:spcAft>
                <a:spcPts val="400"/>
              </a:spcAft>
              <a:buClr>
                <a:srgbClr val="1B3139"/>
              </a:buClr>
              <a:buSzPts val="1100"/>
              <a:buChar char="●"/>
            </a:pPr>
            <a:r>
              <a:rPr lang="en">
                <a:solidFill>
                  <a:srgbClr val="1B3139"/>
                </a:solidFill>
              </a:rPr>
              <a:t>Delta Sharing is also the technical foundation of the Databricks Marketplace and Clean Rooms </a:t>
            </a:r>
            <a:endParaRPr>
              <a:solidFill>
                <a:srgbClr val="1B3139"/>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6f0fa9eb8b_0_89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206" name="Google Shape;1206;g36f0fa9eb8b_0_8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rgbClr val="1B3139"/>
                </a:solidFill>
              </a:rPr>
              <a:t>The reference architecture is structured along the dimensions “Source”, “Ingest”, “Transform”, “Query and Process”, “Serve”, “Analyse”, “Storage” and “Integration” </a:t>
            </a:r>
            <a:endParaRPr>
              <a:solidFill>
                <a:srgbClr val="1B3139"/>
              </a:solidFill>
            </a:endParaRPr>
          </a:p>
          <a:p>
            <a:pPr indent="0" lvl="0" marL="0" rtl="0" algn="l">
              <a:spcBef>
                <a:spcPts val="400"/>
              </a:spcBef>
              <a:spcAft>
                <a:spcPts val="0"/>
              </a:spcAft>
              <a:buClr>
                <a:schemeClr val="dk1"/>
              </a:buClr>
              <a:buSzPts val="1100"/>
              <a:buFont typeface="Arial"/>
              <a:buNone/>
            </a:pPr>
            <a:r>
              <a:rPr lang="en">
                <a:solidFill>
                  <a:srgbClr val="1B3139"/>
                </a:solidFill>
              </a:rPr>
              <a:t>It maps capabilities into domains like “Batch &amp; Streaming”, “Processing, ETL, Real-time Analysis”, “Data Warehousing”, “Data Science &amp; Gen AI”, …</a:t>
            </a:r>
            <a:endParaRPr>
              <a:solidFill>
                <a:srgbClr val="1B3139"/>
              </a:solidFill>
            </a:endParaRPr>
          </a:p>
          <a:p>
            <a:pPr indent="0" lvl="0" marL="0" rtl="0" algn="l">
              <a:spcBef>
                <a:spcPts val="400"/>
              </a:spcBef>
              <a:spcAft>
                <a:spcPts val="0"/>
              </a:spcAft>
              <a:buClr>
                <a:schemeClr val="dk1"/>
              </a:buClr>
              <a:buSzPts val="1100"/>
              <a:buFont typeface="Arial"/>
              <a:buNone/>
            </a:pPr>
            <a:r>
              <a:rPr lang="en">
                <a:solidFill>
                  <a:srgbClr val="1B3139"/>
                </a:solidFill>
              </a:rPr>
              <a:t> </a:t>
            </a:r>
            <a:endParaRPr>
              <a:solidFill>
                <a:srgbClr val="1B3139"/>
              </a:solidFill>
            </a:endParaRPr>
          </a:p>
          <a:p>
            <a:pPr indent="0" lvl="0" marL="0" rtl="0" algn="l">
              <a:spcBef>
                <a:spcPts val="400"/>
              </a:spcBef>
              <a:spcAft>
                <a:spcPts val="0"/>
              </a:spcAft>
              <a:buNone/>
            </a:pPr>
            <a:r>
              <a:rPr b="1" lang="en" sz="1300">
                <a:solidFill>
                  <a:srgbClr val="1B3139"/>
                </a:solidFill>
              </a:rPr>
              <a:t>(1) Capabilities outside of the Data Intelligence Platform:</a:t>
            </a:r>
            <a:endParaRPr b="1" sz="1300">
              <a:solidFill>
                <a:srgbClr val="1B3139"/>
              </a:solidFill>
            </a:endParaRPr>
          </a:p>
          <a:p>
            <a:pPr indent="0" lvl="0" marL="0" rtl="0" algn="l">
              <a:spcBef>
                <a:spcPts val="400"/>
              </a:spcBef>
              <a:spcAft>
                <a:spcPts val="0"/>
              </a:spcAft>
              <a:buNone/>
            </a:pPr>
            <a:r>
              <a:t/>
            </a:r>
            <a:endParaRPr b="1" sz="1300">
              <a:solidFill>
                <a:srgbClr val="1B3139"/>
              </a:solidFill>
            </a:endParaRPr>
          </a:p>
          <a:p>
            <a:pPr indent="0" lvl="0" marL="0" rtl="0" algn="l">
              <a:spcBef>
                <a:spcPts val="400"/>
              </a:spcBef>
              <a:spcAft>
                <a:spcPts val="0"/>
              </a:spcAft>
              <a:buNone/>
            </a:pPr>
            <a:r>
              <a:rPr b="1" lang="en">
                <a:solidFill>
                  <a:srgbClr val="1B3139"/>
                </a:solidFill>
              </a:rPr>
              <a:t>Sources:</a:t>
            </a:r>
            <a:r>
              <a:rPr lang="en">
                <a:solidFill>
                  <a:srgbClr val="1B3139"/>
                </a:solidFill>
              </a:rPr>
              <a:t>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Source systems that will be integrated via ETL pipelines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We distinguish between semi-structured and unstructured data (Sensors and IoT, Media, Files/Logs), and structured data (RDBMSs, Business Apps).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Additionally, some customer load data from other cloud providers.</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No-ETL approach for data integration (federation)</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Lakehouse Federation allows to access selected databases directly (without ETL and with query push down). Synapse and SQL Server are supported on Azure, but there are many more systems supported by Lakehouse Federation, e.g. Google BigQuery, Amazon Redshift, Postgres, My SQL, …</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Storage:</a:t>
            </a:r>
            <a:r>
              <a:rPr lang="en">
                <a:solidFill>
                  <a:srgbClr val="1B3139"/>
                </a:solidFill>
              </a:rPr>
              <a:t>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Data will be stored in the cloud storage, i.e. ADLS on Azure</a:t>
            </a:r>
            <a:endParaRPr b="1">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Ingest:</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Streaming events from systems like “IoT Hub” and “Event Hub” can be directly read from Databricks via Structured Streaming.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For batch events “Azure Data Factory” and “Fabric Data Factory” can integrate with Databricks by executing notebooks, Python code or Java jar files as steps of the defined workflow. It is recommended to use Databricks workflows for all steps in the Databricks platform for better monitoring and integrated root cause analysis</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Partner ingest tools like Fivetran help to extract data from enterprise source systems and ingest them into the Delta Lake</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Serve:</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The Databricks Intelligence Platform does not provide capabilities for generic OLTP and key-value databases. If such a capability is needed, transformed data can be pushed as the last step of an ETL pipeline into systems like SQL DB or Cosmos DB</a:t>
            </a:r>
            <a:endParaRPr b="1">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Analysis:</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Different business applications leverage the Data Intelligence Platform: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AI Apps and Gen AI Apps using e.g. Model Serving and Vector Search</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BI use cases with standard tools like Power BI (but also using Databricks own dashboarding solution Lakeview)</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Business Applications that need OLTP DBs or key-value stores, populated by ETL pipelines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3rd party data consumers using Delta Sharing directly or Marketplace or Clean rooms</a:t>
            </a:r>
            <a:endParaRPr>
              <a:solidFill>
                <a:srgbClr val="1B3139"/>
              </a:solidFill>
            </a:endParaRPr>
          </a:p>
          <a:p>
            <a:pPr indent="0" lvl="0" marL="0" rtl="0" algn="l">
              <a:spcBef>
                <a:spcPts val="400"/>
              </a:spcBef>
              <a:spcAft>
                <a:spcPts val="0"/>
              </a:spcAft>
              <a:buNone/>
            </a:pPr>
            <a:r>
              <a:t/>
            </a:r>
            <a:endParaRPr>
              <a:solidFill>
                <a:srgbClr val="1B3139"/>
              </a:solidFill>
            </a:endParaRPr>
          </a:p>
          <a:p>
            <a:pPr indent="0" lvl="0" marL="0" rtl="0" algn="l">
              <a:spcBef>
                <a:spcPts val="400"/>
              </a:spcBef>
              <a:spcAft>
                <a:spcPts val="0"/>
              </a:spcAft>
              <a:buNone/>
            </a:pPr>
            <a:r>
              <a:rPr b="1" lang="en" sz="1300">
                <a:solidFill>
                  <a:srgbClr val="1B3139"/>
                </a:solidFill>
              </a:rPr>
              <a:t>(2) The Data Intelligence Platform </a:t>
            </a:r>
            <a:br>
              <a:rPr b="1" lang="en" sz="1300">
                <a:solidFill>
                  <a:srgbClr val="1B3139"/>
                </a:solidFill>
              </a:rPr>
            </a:br>
            <a:endParaRPr b="1" sz="1300">
              <a:solidFill>
                <a:srgbClr val="1B3139"/>
              </a:solidFill>
            </a:endParaRPr>
          </a:p>
          <a:p>
            <a:pPr indent="0" lvl="0" marL="0" rtl="0" algn="l">
              <a:spcBef>
                <a:spcPts val="400"/>
              </a:spcBef>
              <a:spcAft>
                <a:spcPts val="0"/>
              </a:spcAft>
              <a:buNone/>
            </a:pPr>
            <a:r>
              <a:rPr lang="en">
                <a:solidFill>
                  <a:srgbClr val="1B3139"/>
                </a:solidFill>
              </a:rPr>
              <a:t>The Data Intelligence Platform covers all dimensions from Ingest to Serve and offers dashboarding for Analysis:</a:t>
            </a:r>
            <a:br>
              <a:rPr lang="en">
                <a:solidFill>
                  <a:srgbClr val="1B3139"/>
                </a:solidFill>
              </a:rPr>
            </a:br>
            <a:endParaRPr>
              <a:solidFill>
                <a:srgbClr val="1B3139"/>
              </a:solidFill>
            </a:endParaRPr>
          </a:p>
          <a:p>
            <a:pPr indent="0" lvl="0" marL="0" rtl="0" algn="l">
              <a:spcBef>
                <a:spcPts val="400"/>
              </a:spcBef>
              <a:spcAft>
                <a:spcPts val="0"/>
              </a:spcAft>
              <a:buNone/>
            </a:pPr>
            <a:r>
              <a:rPr b="1" lang="en">
                <a:solidFill>
                  <a:srgbClr val="1B3139"/>
                </a:solidFill>
              </a:rPr>
              <a:t>Storage:</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Delta Lake is located on top of ADLS. ETL pipelines will use the so called “medallion architecture” to store data in a curated way as Delta files/tables.</a:t>
            </a:r>
            <a:endParaRPr b="1">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Batch &amp; Streaming </a:t>
            </a:r>
            <a:endParaRPr b="1">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Ingest</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Databricks Auto Loader allows to incrementally read files from object storage locations and works well together with Lakeflow Declarative Pipelines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The acquisition of Arcion added Data Replication capabilities which will be integrated into the Data Intelligence Platform in 2024</a:t>
            </a:r>
            <a:endParaRPr b="1">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Processing, ETL, Real-time Analysis</a:t>
            </a:r>
            <a:endParaRPr b="1">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Transform</a:t>
            </a:r>
            <a:r>
              <a:rPr lang="en">
                <a:solidFill>
                  <a:srgbClr val="1B3139"/>
                </a:solidFill>
              </a:rPr>
              <a:t>: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Due to its simplicity, a great choice for ETL is LDP with its declarative approach to building pipelines.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LDP integrates nicely with Auto Loader and comes with expectations to check data quality during ETL pipeline execution</a:t>
            </a:r>
            <a:endParaRPr>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Query and Process: </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All workloads are covered by the Databricks Intelligence Platform and use the same Spark engine (and its API compatible native counterpart Photon).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They consistently use the same SQL language for all workloads in SQl Warehouses and via notebooks in workspaces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Workspaces additionally support Python, R and Scala</a:t>
            </a:r>
            <a:endParaRPr>
              <a:solidFill>
                <a:srgbClr val="1B3139"/>
              </a:solidFill>
            </a:endParaRPr>
          </a:p>
          <a:p>
            <a:pPr indent="0" lvl="0" marL="0" rtl="0" algn="l">
              <a:spcBef>
                <a:spcPts val="400"/>
              </a:spcBef>
              <a:spcAft>
                <a:spcPts val="0"/>
              </a:spcAft>
              <a:buNone/>
            </a:pPr>
            <a:r>
              <a:rPr lang="en">
                <a:solidFill>
                  <a:srgbClr val="1B3139"/>
                </a:solidFill>
              </a:rPr>
              <a:t>Data pipelines will be monitored via Lakehouse Monitoring</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Data Warehousing</a:t>
            </a:r>
            <a:endParaRPr b="1">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Serve</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The Databricks Intelligence Platform provides “Databricks SQL” and its serverless version “Serverless SQL” as full Data Warehouse offerings for DWH/BI use cases.</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Data Science &amp; Gen AI</a:t>
            </a:r>
            <a:endParaRPr b="1">
              <a:solidFill>
                <a:srgbClr val="1B3139"/>
              </a:solidFill>
            </a:endParaRPr>
          </a:p>
          <a:p>
            <a:pPr indent="0" lvl="0" marL="0" rtl="0" algn="l">
              <a:spcBef>
                <a:spcPts val="400"/>
              </a:spcBef>
              <a:spcAft>
                <a:spcPts val="0"/>
              </a:spcAft>
              <a:buNone/>
            </a:pPr>
            <a:r>
              <a:rPr lang="en">
                <a:solidFill>
                  <a:srgbClr val="1B3139"/>
                </a:solidFill>
              </a:rPr>
              <a:t>Mosaic AI supports end-to-end Machine Learning from data preparation to modeling and model serving for both traditional ML and Gen AI.</a:t>
            </a:r>
            <a:endParaRPr>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Transform</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Feature engineering is supported with feature management in UC and “Feature Serving” (not shown in the diagram)</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Modeling can be done with the most recent ML and AI Python libraries.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Mosaic AI also provides a low code AutoML capability.</a:t>
            </a:r>
            <a:endParaRPr>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Query and Process</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The overall data science life cycle uses the common Lakehouse capabilities like Spark/Photon and Unity Catalog, and is supported by MLflow </a:t>
            </a:r>
            <a:endParaRPr b="1">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Serve</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“Model Serving” is a scalable enterprise grade model serving capability hosted in the Databricks Control Plane and supports CPU, GPU and LLM optimized serving. It also provides a unified API to access 3rd party LLMs.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“Feature Serving” (not shown) is also part of the Data Science serving capabilities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For RAG (Retrieval Augmented Generation) use cases, the platform offers “Vector Search”</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MLOps (MLflow) is an open source MLOps platform integrated into the Data Intelligence Platform</a:t>
            </a:r>
            <a:endParaRPr>
              <a:solidFill>
                <a:srgbClr val="1B3139"/>
              </a:solidFill>
            </a:endParaRPr>
          </a:p>
          <a:p>
            <a:pPr indent="0" lvl="0" marL="0" rtl="0" algn="l">
              <a:spcBef>
                <a:spcPts val="400"/>
              </a:spcBef>
              <a:spcAft>
                <a:spcPts val="0"/>
              </a:spcAft>
              <a:buNone/>
            </a:pPr>
            <a:r>
              <a:rPr lang="en">
                <a:solidFill>
                  <a:srgbClr val="1B3139"/>
                </a:solidFill>
              </a:rPr>
              <a:t>As with data, ML assets will be monitored via Lakehouse Monitoring</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Intelligence Engine:</a:t>
            </a:r>
            <a:endParaRPr>
              <a:solidFill>
                <a:srgbClr val="1B3139"/>
              </a:solidFill>
            </a:endParaRPr>
          </a:p>
          <a:p>
            <a:pPr indent="0" lvl="0" marL="0" rtl="0" algn="l">
              <a:spcBef>
                <a:spcPts val="400"/>
              </a:spcBef>
              <a:spcAft>
                <a:spcPts val="0"/>
              </a:spcAft>
              <a:buNone/>
            </a:pPr>
            <a:r>
              <a:rPr lang="en">
                <a:solidFill>
                  <a:srgbClr val="1B3139"/>
                </a:solidFill>
              </a:rPr>
              <a:t>A core component of the Databricks Data Intelligence Platform is the DatabricksIQ</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DatabricksIQ uses generative AI to understand the semantics of your data. This is leveraged for example in the Databricks Assistant (context aware help) and Data Rooms (use of natural language for queries and dashboards)</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Data and AI Governance:</a:t>
            </a:r>
            <a:r>
              <a:rPr lang="en">
                <a:solidFill>
                  <a:srgbClr val="1B3139"/>
                </a:solidFill>
              </a:rPr>
              <a:t>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Unity Catalog is the central data governance solution of Databricks providing important capabilities like metadata storage, data discovery, lineage tracking and fine grained access control.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Lakehouse Monitoring is the central monitoring capability across the platform. It allows to monitor, tables, features and models (via their inference tables)</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Lakehouse Observability is the capability to access Lakehiouse lineage, logs and metrics via system tables.</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Orchestration</a:t>
            </a:r>
            <a:r>
              <a:rPr lang="en">
                <a:solidFill>
                  <a:srgbClr val="1B3139"/>
                </a:solidFill>
              </a:rPr>
              <a:t>: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Lakeflow Jobs is a flexible workflow management solution running millions of orchestrated pipelines in production of Databricks’ customers. Furthermore, CI/CD support and the MLOps Stacks allow to orchestrate the supporting processes.</a:t>
            </a:r>
            <a:endParaRPr>
              <a:solidFill>
                <a:srgbClr val="1B3139"/>
              </a:solidFill>
            </a:endParaRPr>
          </a:p>
          <a:p>
            <a:pPr indent="0" lvl="0" marL="0" rtl="0" algn="l">
              <a:spcBef>
                <a:spcPts val="400"/>
              </a:spcBef>
              <a:spcAft>
                <a:spcPts val="0"/>
              </a:spcAft>
              <a:buNone/>
            </a:pPr>
            <a:r>
              <a:t/>
            </a:r>
            <a:endParaRPr>
              <a:solidFill>
                <a:srgbClr val="1B3139"/>
              </a:solidFill>
            </a:endParaRPr>
          </a:p>
          <a:p>
            <a:pPr indent="0" lvl="0" marL="0" rtl="0" algn="l">
              <a:spcBef>
                <a:spcPts val="400"/>
              </a:spcBef>
              <a:spcAft>
                <a:spcPts val="0"/>
              </a:spcAft>
              <a:buNone/>
            </a:pPr>
            <a:r>
              <a:rPr b="1" lang="en">
                <a:solidFill>
                  <a:srgbClr val="1B3139"/>
                </a:solidFill>
              </a:rPr>
              <a:t>Collaboration:</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Delta Sharing, the technology agnostic sharing solution provides enterprise grade, secure access to life data for partners</a:t>
            </a:r>
            <a:endParaRPr>
              <a:solidFill>
                <a:srgbClr val="1B3139"/>
              </a:solidFill>
            </a:endParaRPr>
          </a:p>
          <a:p>
            <a:pPr indent="-298450" lvl="0" marL="457200" rtl="0" algn="l">
              <a:spcBef>
                <a:spcPts val="400"/>
              </a:spcBef>
              <a:spcAft>
                <a:spcPts val="400"/>
              </a:spcAft>
              <a:buClr>
                <a:srgbClr val="1B3139"/>
              </a:buClr>
              <a:buSzPts val="1100"/>
              <a:buChar char="●"/>
            </a:pPr>
            <a:r>
              <a:rPr lang="en">
                <a:solidFill>
                  <a:srgbClr val="1B3139"/>
                </a:solidFill>
              </a:rPr>
              <a:t>Delta Sharing is also the technical foundation of the Databricks Marketplace and Clean Rooms </a:t>
            </a:r>
            <a:endParaRPr>
              <a:solidFill>
                <a:srgbClr val="1B3139"/>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2" name="Shape 1402"/>
        <p:cNvGrpSpPr/>
        <p:nvPr/>
      </p:nvGrpSpPr>
      <p:grpSpPr>
        <a:xfrm>
          <a:off x="0" y="0"/>
          <a:ext cx="0" cy="0"/>
          <a:chOff x="0" y="0"/>
          <a:chExt cx="0" cy="0"/>
        </a:xfrm>
      </p:grpSpPr>
      <p:sp>
        <p:nvSpPr>
          <p:cNvPr id="1403" name="Google Shape;1403;g36f0fa9eb8b_0_108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404" name="Google Shape;1404;g36f0fa9eb8b_0_10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rgbClr val="1B3139"/>
                </a:solidFill>
              </a:rPr>
              <a:t>The reference architecture is structured along the dimensions “Source”, “Ingest”, “Transform”, “Query and Process”, “Serve”, “Analyse”, “Storage” and “Integration” </a:t>
            </a:r>
            <a:endParaRPr>
              <a:solidFill>
                <a:srgbClr val="1B3139"/>
              </a:solidFill>
            </a:endParaRPr>
          </a:p>
          <a:p>
            <a:pPr indent="0" lvl="0" marL="0" rtl="0" algn="l">
              <a:spcBef>
                <a:spcPts val="400"/>
              </a:spcBef>
              <a:spcAft>
                <a:spcPts val="0"/>
              </a:spcAft>
              <a:buClr>
                <a:schemeClr val="dk1"/>
              </a:buClr>
              <a:buSzPts val="1100"/>
              <a:buFont typeface="Arial"/>
              <a:buNone/>
            </a:pPr>
            <a:r>
              <a:rPr lang="en">
                <a:solidFill>
                  <a:srgbClr val="1B3139"/>
                </a:solidFill>
              </a:rPr>
              <a:t>It maps capabilities into domains like “Batch &amp; Streaming”, “Processing, ETL, Real-time Analysis”, “Data Warehousing”, “Data Science &amp; Gen AI”, …</a:t>
            </a:r>
            <a:endParaRPr>
              <a:solidFill>
                <a:srgbClr val="1B3139"/>
              </a:solidFill>
            </a:endParaRPr>
          </a:p>
          <a:p>
            <a:pPr indent="0" lvl="0" marL="0" rtl="0" algn="l">
              <a:spcBef>
                <a:spcPts val="400"/>
              </a:spcBef>
              <a:spcAft>
                <a:spcPts val="0"/>
              </a:spcAft>
              <a:buClr>
                <a:schemeClr val="dk1"/>
              </a:buClr>
              <a:buSzPts val="1100"/>
              <a:buFont typeface="Arial"/>
              <a:buNone/>
            </a:pPr>
            <a:r>
              <a:rPr lang="en">
                <a:solidFill>
                  <a:srgbClr val="1B3139"/>
                </a:solidFill>
              </a:rPr>
              <a:t> </a:t>
            </a:r>
            <a:endParaRPr>
              <a:solidFill>
                <a:srgbClr val="1B3139"/>
              </a:solidFill>
            </a:endParaRPr>
          </a:p>
          <a:p>
            <a:pPr indent="0" lvl="0" marL="0" rtl="0" algn="l">
              <a:spcBef>
                <a:spcPts val="400"/>
              </a:spcBef>
              <a:spcAft>
                <a:spcPts val="0"/>
              </a:spcAft>
              <a:buNone/>
            </a:pPr>
            <a:r>
              <a:rPr b="1" lang="en" sz="1300">
                <a:solidFill>
                  <a:srgbClr val="1B3139"/>
                </a:solidFill>
              </a:rPr>
              <a:t>(1) Capabilities outside of the Data Intelligence Platform:</a:t>
            </a:r>
            <a:endParaRPr b="1" sz="1300">
              <a:solidFill>
                <a:srgbClr val="1B3139"/>
              </a:solidFill>
            </a:endParaRPr>
          </a:p>
          <a:p>
            <a:pPr indent="0" lvl="0" marL="0" rtl="0" algn="l">
              <a:spcBef>
                <a:spcPts val="400"/>
              </a:spcBef>
              <a:spcAft>
                <a:spcPts val="0"/>
              </a:spcAft>
              <a:buNone/>
            </a:pPr>
            <a:r>
              <a:t/>
            </a:r>
            <a:endParaRPr b="1" sz="1300">
              <a:solidFill>
                <a:srgbClr val="1B3139"/>
              </a:solidFill>
            </a:endParaRPr>
          </a:p>
          <a:p>
            <a:pPr indent="0" lvl="0" marL="0" rtl="0" algn="l">
              <a:spcBef>
                <a:spcPts val="400"/>
              </a:spcBef>
              <a:spcAft>
                <a:spcPts val="0"/>
              </a:spcAft>
              <a:buNone/>
            </a:pPr>
            <a:r>
              <a:rPr b="1" lang="en">
                <a:solidFill>
                  <a:srgbClr val="1B3139"/>
                </a:solidFill>
              </a:rPr>
              <a:t>Sources:</a:t>
            </a:r>
            <a:r>
              <a:rPr lang="en">
                <a:solidFill>
                  <a:srgbClr val="1B3139"/>
                </a:solidFill>
              </a:rPr>
              <a:t>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Source systems that will be integrated via ETL pipelines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We distinguish between semi-structured and unstructured data (Sensors and IoT, Media, Files/Logs), and structured data (RDBMSs, Business Apps).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Additionally, some customer load data from other cloud providers.</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No-ETL approach for data integration (federation)</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Lakehouse Federation allows to access selected databases directly (without ETL and with query push down). Synapse and SQL Server are supported on Azure, but there are many more systems supported by Lakehouse Federation, e.g. Google BigQuery, Amazon Redshift, Postgres, My SQL, …</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Storage:</a:t>
            </a:r>
            <a:r>
              <a:rPr lang="en">
                <a:solidFill>
                  <a:srgbClr val="1B3139"/>
                </a:solidFill>
              </a:rPr>
              <a:t>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Data will be stored in the cloud storage, i.e. ADLS on Azure</a:t>
            </a:r>
            <a:endParaRPr b="1">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Ingest:</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Streaming events from systems like “IoT Hub” and “Event Hub” can be directly read from Databricks via Structured Streaming.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For batch events “Azure Data Factory” and “Fabric Data Factory” can integrate with Databricks by executing notebooks, Python code or Java jar files as steps of the defined workflow. It is recommended to use Databricks workflows for all steps in the Databricks platform for better monitoring and integrated root cause analysis</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Partner ingest tools like Fivetran help to extract data from enterprise source systems and ingest them into the Delta Lake</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Serve:</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The Databricks Intelligence Platform does not provide capabilities for generic OLTP and key-value databases. If such a capability is needed, transformed data can be pushed as the last step of an ETL pipeline into systems like SQL DB or Cosmos DB</a:t>
            </a:r>
            <a:endParaRPr b="1">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Analysis:</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Different business applications leverage the Data Intelligence Platform: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AI Apps and Gen AI Apps using e.g. Model Serving and Vector Search</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BI use cases with standard tools like Power BI (but also using Databricks own dashboarding solution Lakeview)</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Business Applications that need OLTP DBs or key-value stores, populated by ETL pipelines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3rd party data consumers using Delta Sharing directly or Marketplace or Clean rooms</a:t>
            </a:r>
            <a:endParaRPr>
              <a:solidFill>
                <a:srgbClr val="1B3139"/>
              </a:solidFill>
            </a:endParaRPr>
          </a:p>
          <a:p>
            <a:pPr indent="0" lvl="0" marL="0" rtl="0" algn="l">
              <a:spcBef>
                <a:spcPts val="400"/>
              </a:spcBef>
              <a:spcAft>
                <a:spcPts val="0"/>
              </a:spcAft>
              <a:buNone/>
            </a:pPr>
            <a:r>
              <a:t/>
            </a:r>
            <a:endParaRPr>
              <a:solidFill>
                <a:srgbClr val="1B3139"/>
              </a:solidFill>
            </a:endParaRPr>
          </a:p>
          <a:p>
            <a:pPr indent="0" lvl="0" marL="0" rtl="0" algn="l">
              <a:spcBef>
                <a:spcPts val="400"/>
              </a:spcBef>
              <a:spcAft>
                <a:spcPts val="0"/>
              </a:spcAft>
              <a:buNone/>
            </a:pPr>
            <a:r>
              <a:rPr b="1" lang="en" sz="1300">
                <a:solidFill>
                  <a:srgbClr val="1B3139"/>
                </a:solidFill>
              </a:rPr>
              <a:t>(2) The Data Intelligence Platform </a:t>
            </a:r>
            <a:br>
              <a:rPr b="1" lang="en" sz="1300">
                <a:solidFill>
                  <a:srgbClr val="1B3139"/>
                </a:solidFill>
              </a:rPr>
            </a:br>
            <a:endParaRPr b="1" sz="1300">
              <a:solidFill>
                <a:srgbClr val="1B3139"/>
              </a:solidFill>
            </a:endParaRPr>
          </a:p>
          <a:p>
            <a:pPr indent="0" lvl="0" marL="0" rtl="0" algn="l">
              <a:spcBef>
                <a:spcPts val="400"/>
              </a:spcBef>
              <a:spcAft>
                <a:spcPts val="0"/>
              </a:spcAft>
              <a:buNone/>
            </a:pPr>
            <a:r>
              <a:rPr lang="en">
                <a:solidFill>
                  <a:srgbClr val="1B3139"/>
                </a:solidFill>
              </a:rPr>
              <a:t>The Data Intelligence Platform covers all dimensions from Ingest to Serve and offers dashboarding for Analysis:</a:t>
            </a:r>
            <a:br>
              <a:rPr lang="en">
                <a:solidFill>
                  <a:srgbClr val="1B3139"/>
                </a:solidFill>
              </a:rPr>
            </a:br>
            <a:endParaRPr>
              <a:solidFill>
                <a:srgbClr val="1B3139"/>
              </a:solidFill>
            </a:endParaRPr>
          </a:p>
          <a:p>
            <a:pPr indent="0" lvl="0" marL="0" rtl="0" algn="l">
              <a:spcBef>
                <a:spcPts val="400"/>
              </a:spcBef>
              <a:spcAft>
                <a:spcPts val="0"/>
              </a:spcAft>
              <a:buNone/>
            </a:pPr>
            <a:r>
              <a:rPr b="1" lang="en">
                <a:solidFill>
                  <a:srgbClr val="1B3139"/>
                </a:solidFill>
              </a:rPr>
              <a:t>Storage:</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Delta Lake is located on top of ADLS. ETL pipelines will use the so called “medallion architecture” to store data in a curated way as Delta files/tables.</a:t>
            </a:r>
            <a:endParaRPr b="1">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Batch &amp; Streaming </a:t>
            </a:r>
            <a:endParaRPr b="1">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Ingest</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Databricks Auto Loader allows to incrementally read files from object storage locations and works well together with Lakeflow Declarative Pipelines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The acquisition of Arcion added Data Replication capabilities which will be integrated into the Data Intelligence Platform in 2024</a:t>
            </a:r>
            <a:endParaRPr b="1">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Processing, ETL, Real-time Analysis</a:t>
            </a:r>
            <a:endParaRPr b="1">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Transform</a:t>
            </a:r>
            <a:r>
              <a:rPr lang="en">
                <a:solidFill>
                  <a:srgbClr val="1B3139"/>
                </a:solidFill>
              </a:rPr>
              <a:t>: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Due to its simplicity, a great choice for ETL is LDP with its declarative approach to building pipelines.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LDP integrates nicely with Auto Loader and comes with expectations to check data quality during ETL pipeline execution</a:t>
            </a:r>
            <a:endParaRPr>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Query and Process: </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All workloads are covered by the Databricks Intelligence Platform and use the same Spark engine (and its API compatible native counterpart Photon).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They consistently use the same SQL language for all workloads in SQl Warehouses and via notebooks in workspaces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Workspaces additionally support Python, R and Scala</a:t>
            </a:r>
            <a:endParaRPr>
              <a:solidFill>
                <a:srgbClr val="1B3139"/>
              </a:solidFill>
            </a:endParaRPr>
          </a:p>
          <a:p>
            <a:pPr indent="0" lvl="0" marL="0" rtl="0" algn="l">
              <a:spcBef>
                <a:spcPts val="400"/>
              </a:spcBef>
              <a:spcAft>
                <a:spcPts val="0"/>
              </a:spcAft>
              <a:buNone/>
            </a:pPr>
            <a:r>
              <a:rPr lang="en">
                <a:solidFill>
                  <a:srgbClr val="1B3139"/>
                </a:solidFill>
              </a:rPr>
              <a:t>Data pipelines will be monitored via Lakehouse Monitoring</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Data Warehousing</a:t>
            </a:r>
            <a:endParaRPr b="1">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Serve</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The Databricks Intelligence Platform provides “Databricks SQL” and its serverless version “Serverless SQL” as full Data Warehouse offerings for DWH/BI use cases.</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Data Science &amp; Gen AI</a:t>
            </a:r>
            <a:endParaRPr b="1">
              <a:solidFill>
                <a:srgbClr val="1B3139"/>
              </a:solidFill>
            </a:endParaRPr>
          </a:p>
          <a:p>
            <a:pPr indent="0" lvl="0" marL="0" rtl="0" algn="l">
              <a:spcBef>
                <a:spcPts val="400"/>
              </a:spcBef>
              <a:spcAft>
                <a:spcPts val="0"/>
              </a:spcAft>
              <a:buNone/>
            </a:pPr>
            <a:r>
              <a:rPr lang="en">
                <a:solidFill>
                  <a:srgbClr val="1B3139"/>
                </a:solidFill>
              </a:rPr>
              <a:t>Mosaic AI supports end-to-end Machine Learning from data preparation to modeling and model serving for both traditional ML and Gen AI.</a:t>
            </a:r>
            <a:endParaRPr>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Transform</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Feature engineering is supported with feature management in UC and “Feature Serving” (not shown in the diagram)</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Modeling can be done with the most recent ML and AI Python libraries.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Mosaic AI also provides a low code AutoML capability.</a:t>
            </a:r>
            <a:endParaRPr>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Query and Process</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The overall data science life cycle uses the common Lakehouse capabilities like Spark/Photon and Unity Catalog, and is supported by MLflow </a:t>
            </a:r>
            <a:endParaRPr b="1">
              <a:solidFill>
                <a:srgbClr val="1B3139"/>
              </a:solidFill>
            </a:endParaRPr>
          </a:p>
          <a:p>
            <a:pPr indent="-298450" lvl="0" marL="457200" rtl="0" algn="l">
              <a:spcBef>
                <a:spcPts val="400"/>
              </a:spcBef>
              <a:spcAft>
                <a:spcPts val="0"/>
              </a:spcAft>
              <a:buClr>
                <a:srgbClr val="1B3139"/>
              </a:buClr>
              <a:buSzPts val="1100"/>
              <a:buChar char="●"/>
            </a:pPr>
            <a:r>
              <a:rPr b="1" lang="en">
                <a:solidFill>
                  <a:srgbClr val="1B3139"/>
                </a:solidFill>
              </a:rPr>
              <a:t>Serve</a:t>
            </a:r>
            <a:endParaRPr b="1">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“Model Serving” is a scalable enterprise grade model serving capability hosted in the Databricks Control Plane and supports CPU, GPU and LLM optimized serving. It also provides a unified API to access 3rd party LLMs. </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“Feature Serving” (not shown) is also part of the Data Science serving capabilities</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For RAG (Retrieval Augmented Generation) use cases, the platform offers “Vector Search”</a:t>
            </a:r>
            <a:endParaRPr>
              <a:solidFill>
                <a:srgbClr val="1B3139"/>
              </a:solidFill>
            </a:endParaRPr>
          </a:p>
          <a:p>
            <a:pPr indent="-298450" lvl="1" marL="914400" rtl="0" algn="l">
              <a:spcBef>
                <a:spcPts val="400"/>
              </a:spcBef>
              <a:spcAft>
                <a:spcPts val="0"/>
              </a:spcAft>
              <a:buClr>
                <a:srgbClr val="1B3139"/>
              </a:buClr>
              <a:buSzPts val="1100"/>
              <a:buChar char="○"/>
            </a:pPr>
            <a:r>
              <a:rPr lang="en">
                <a:solidFill>
                  <a:srgbClr val="1B3139"/>
                </a:solidFill>
              </a:rPr>
              <a:t>MLOps (MLflow) is an open source MLOps platform integrated into the Data Intelligence Platform</a:t>
            </a:r>
            <a:endParaRPr>
              <a:solidFill>
                <a:srgbClr val="1B3139"/>
              </a:solidFill>
            </a:endParaRPr>
          </a:p>
          <a:p>
            <a:pPr indent="0" lvl="0" marL="0" rtl="0" algn="l">
              <a:spcBef>
                <a:spcPts val="400"/>
              </a:spcBef>
              <a:spcAft>
                <a:spcPts val="0"/>
              </a:spcAft>
              <a:buNone/>
            </a:pPr>
            <a:r>
              <a:rPr lang="en">
                <a:solidFill>
                  <a:srgbClr val="1B3139"/>
                </a:solidFill>
              </a:rPr>
              <a:t>As with data, ML assets will be monitored via Lakehouse Monitoring</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Intelligence Engine:</a:t>
            </a:r>
            <a:endParaRPr>
              <a:solidFill>
                <a:srgbClr val="1B3139"/>
              </a:solidFill>
            </a:endParaRPr>
          </a:p>
          <a:p>
            <a:pPr indent="0" lvl="0" marL="0" rtl="0" algn="l">
              <a:spcBef>
                <a:spcPts val="400"/>
              </a:spcBef>
              <a:spcAft>
                <a:spcPts val="0"/>
              </a:spcAft>
              <a:buNone/>
            </a:pPr>
            <a:r>
              <a:rPr lang="en">
                <a:solidFill>
                  <a:srgbClr val="1B3139"/>
                </a:solidFill>
              </a:rPr>
              <a:t>A core component of the Databricks Data Intelligence Platform is the DatabricksIQ</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DatabricksIQ uses generative AI to understand the semantics of your data. This is leveraged for example in the Databricks Assistant (context aware help) and Data Rooms (use of natural language for queries and dashboards)</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Data and AI Governance:</a:t>
            </a:r>
            <a:r>
              <a:rPr lang="en">
                <a:solidFill>
                  <a:srgbClr val="1B3139"/>
                </a:solidFill>
              </a:rPr>
              <a:t>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Unity Catalog is the central data governance solution of Databricks providing important capabilities like metadata storage, data discovery, lineage tracking and fine grained access control.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Lakehouse Monitoring is the central monitoring capability across the platform. It allows to monitor, tables, features and models (via their inference tables)</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Lakehouse Observability is the capability to access Lakehiouse lineage, logs and metrics via system tables.</a:t>
            </a:r>
            <a:endParaRPr>
              <a:solidFill>
                <a:srgbClr val="1B3139"/>
              </a:solidFill>
            </a:endParaRPr>
          </a:p>
          <a:p>
            <a:pPr indent="0" lvl="0" marL="0" rtl="0" algn="l">
              <a:spcBef>
                <a:spcPts val="400"/>
              </a:spcBef>
              <a:spcAft>
                <a:spcPts val="0"/>
              </a:spcAft>
              <a:buNone/>
            </a:pPr>
            <a:r>
              <a:t/>
            </a:r>
            <a:endParaRPr b="1">
              <a:solidFill>
                <a:srgbClr val="1B3139"/>
              </a:solidFill>
            </a:endParaRPr>
          </a:p>
          <a:p>
            <a:pPr indent="0" lvl="0" marL="0" rtl="0" algn="l">
              <a:spcBef>
                <a:spcPts val="400"/>
              </a:spcBef>
              <a:spcAft>
                <a:spcPts val="0"/>
              </a:spcAft>
              <a:buNone/>
            </a:pPr>
            <a:r>
              <a:rPr b="1" lang="en">
                <a:solidFill>
                  <a:srgbClr val="1B3139"/>
                </a:solidFill>
              </a:rPr>
              <a:t>Orchestration</a:t>
            </a:r>
            <a:r>
              <a:rPr lang="en">
                <a:solidFill>
                  <a:srgbClr val="1B3139"/>
                </a:solidFill>
              </a:rPr>
              <a:t>: </a:t>
            </a:r>
            <a:endParaRPr>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Lakeflow Jobs is a flexible workflow management solution running millions of orchestrated pipelines in production of Databricks’ customers. Furthermore, CI/CD support and the MLOps Stacks allow to orchestrate the supporting processes.</a:t>
            </a:r>
            <a:endParaRPr>
              <a:solidFill>
                <a:srgbClr val="1B3139"/>
              </a:solidFill>
            </a:endParaRPr>
          </a:p>
          <a:p>
            <a:pPr indent="0" lvl="0" marL="0" rtl="0" algn="l">
              <a:spcBef>
                <a:spcPts val="400"/>
              </a:spcBef>
              <a:spcAft>
                <a:spcPts val="0"/>
              </a:spcAft>
              <a:buNone/>
            </a:pPr>
            <a:r>
              <a:t/>
            </a:r>
            <a:endParaRPr>
              <a:solidFill>
                <a:srgbClr val="1B3139"/>
              </a:solidFill>
            </a:endParaRPr>
          </a:p>
          <a:p>
            <a:pPr indent="0" lvl="0" marL="0" rtl="0" algn="l">
              <a:spcBef>
                <a:spcPts val="400"/>
              </a:spcBef>
              <a:spcAft>
                <a:spcPts val="0"/>
              </a:spcAft>
              <a:buNone/>
            </a:pPr>
            <a:r>
              <a:rPr b="1" lang="en">
                <a:solidFill>
                  <a:srgbClr val="1B3139"/>
                </a:solidFill>
              </a:rPr>
              <a:t>Collaboration:</a:t>
            </a:r>
            <a:endParaRPr b="1">
              <a:solidFill>
                <a:srgbClr val="1B3139"/>
              </a:solidFill>
            </a:endParaRPr>
          </a:p>
          <a:p>
            <a:pPr indent="-298450" lvl="0" marL="457200" rtl="0" algn="l">
              <a:spcBef>
                <a:spcPts val="400"/>
              </a:spcBef>
              <a:spcAft>
                <a:spcPts val="0"/>
              </a:spcAft>
              <a:buClr>
                <a:srgbClr val="1B3139"/>
              </a:buClr>
              <a:buSzPts val="1100"/>
              <a:buChar char="●"/>
            </a:pPr>
            <a:r>
              <a:rPr lang="en">
                <a:solidFill>
                  <a:srgbClr val="1B3139"/>
                </a:solidFill>
              </a:rPr>
              <a:t>Delta Sharing, the technology agnostic sharing solution provides enterprise grade, secure access to life data for partners</a:t>
            </a:r>
            <a:endParaRPr>
              <a:solidFill>
                <a:srgbClr val="1B3139"/>
              </a:solidFill>
            </a:endParaRPr>
          </a:p>
          <a:p>
            <a:pPr indent="-298450" lvl="0" marL="457200" rtl="0" algn="l">
              <a:spcBef>
                <a:spcPts val="400"/>
              </a:spcBef>
              <a:spcAft>
                <a:spcPts val="400"/>
              </a:spcAft>
              <a:buClr>
                <a:srgbClr val="1B3139"/>
              </a:buClr>
              <a:buSzPts val="1100"/>
              <a:buChar char="●"/>
            </a:pPr>
            <a:r>
              <a:rPr lang="en">
                <a:solidFill>
                  <a:srgbClr val="1B3139"/>
                </a:solidFill>
              </a:rPr>
              <a:t>Delta Sharing is also the technical foundation of the Databricks Marketplace and Clean Rooms </a:t>
            </a:r>
            <a:endParaRPr>
              <a:solidFill>
                <a:srgbClr val="1B3139"/>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9" name="Shape 1599"/>
        <p:cNvGrpSpPr/>
        <p:nvPr/>
      </p:nvGrpSpPr>
      <p:grpSpPr>
        <a:xfrm>
          <a:off x="0" y="0"/>
          <a:ext cx="0" cy="0"/>
          <a:chOff x="0" y="0"/>
          <a:chExt cx="0" cy="0"/>
        </a:xfrm>
      </p:grpSpPr>
      <p:sp>
        <p:nvSpPr>
          <p:cNvPr id="1600" name="Google Shape;1600;g221ecaade5e_3_1184: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601" name="Google Shape;1601;g221ecaade5e_3_1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6" name="Shape 1606"/>
        <p:cNvGrpSpPr/>
        <p:nvPr/>
      </p:nvGrpSpPr>
      <p:grpSpPr>
        <a:xfrm>
          <a:off x="0" y="0"/>
          <a:ext cx="0" cy="0"/>
          <a:chOff x="0" y="0"/>
          <a:chExt cx="0" cy="0"/>
        </a:xfrm>
      </p:grpSpPr>
      <p:sp>
        <p:nvSpPr>
          <p:cNvPr id="1607" name="Google Shape;1607;g32ce2b45868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608" name="Google Shape;1608;g32ce2b458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2" name="Shape 1612"/>
        <p:cNvGrpSpPr/>
        <p:nvPr/>
      </p:nvGrpSpPr>
      <p:grpSpPr>
        <a:xfrm>
          <a:off x="0" y="0"/>
          <a:ext cx="0" cy="0"/>
          <a:chOff x="0" y="0"/>
          <a:chExt cx="0" cy="0"/>
        </a:xfrm>
      </p:grpSpPr>
      <p:sp>
        <p:nvSpPr>
          <p:cNvPr id="1613" name="Google Shape;1613;g32ce2b45868_0_13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614" name="Google Shape;1614;g32ce2b45868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8" name="Shape 1618"/>
        <p:cNvGrpSpPr/>
        <p:nvPr/>
      </p:nvGrpSpPr>
      <p:grpSpPr>
        <a:xfrm>
          <a:off x="0" y="0"/>
          <a:ext cx="0" cy="0"/>
          <a:chOff x="0" y="0"/>
          <a:chExt cx="0" cy="0"/>
        </a:xfrm>
      </p:grpSpPr>
      <p:sp>
        <p:nvSpPr>
          <p:cNvPr id="1619" name="Google Shape;1619;g32ce2b45868_0_12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620" name="Google Shape;1620;g32ce2b45868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1" name="Shape 1661"/>
        <p:cNvGrpSpPr/>
        <p:nvPr/>
      </p:nvGrpSpPr>
      <p:grpSpPr>
        <a:xfrm>
          <a:off x="0" y="0"/>
          <a:ext cx="0" cy="0"/>
          <a:chOff x="0" y="0"/>
          <a:chExt cx="0" cy="0"/>
        </a:xfrm>
      </p:grpSpPr>
      <p:sp>
        <p:nvSpPr>
          <p:cNvPr id="1662" name="Google Shape;1662;g3402ea10b9d_0_60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663" name="Google Shape;1663;g3402ea10b9d_0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7" name="Shape 1667"/>
        <p:cNvGrpSpPr/>
        <p:nvPr/>
      </p:nvGrpSpPr>
      <p:grpSpPr>
        <a:xfrm>
          <a:off x="0" y="0"/>
          <a:ext cx="0" cy="0"/>
          <a:chOff x="0" y="0"/>
          <a:chExt cx="0" cy="0"/>
        </a:xfrm>
      </p:grpSpPr>
      <p:sp>
        <p:nvSpPr>
          <p:cNvPr id="1668" name="Google Shape;1668;g32ce2b45868_0_17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669" name="Google Shape;1669;g32ce2b45868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5" name="Shape 1735"/>
        <p:cNvGrpSpPr/>
        <p:nvPr/>
      </p:nvGrpSpPr>
      <p:grpSpPr>
        <a:xfrm>
          <a:off x="0" y="0"/>
          <a:ext cx="0" cy="0"/>
          <a:chOff x="0" y="0"/>
          <a:chExt cx="0" cy="0"/>
        </a:xfrm>
      </p:grpSpPr>
      <p:sp>
        <p:nvSpPr>
          <p:cNvPr id="1736" name="Google Shape;1736;g32ce2b45868_0_12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737" name="Google Shape;1737;g32ce2b45868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1" name="Shape 1741"/>
        <p:cNvGrpSpPr/>
        <p:nvPr/>
      </p:nvGrpSpPr>
      <p:grpSpPr>
        <a:xfrm>
          <a:off x="0" y="0"/>
          <a:ext cx="0" cy="0"/>
          <a:chOff x="0" y="0"/>
          <a:chExt cx="0" cy="0"/>
        </a:xfrm>
      </p:grpSpPr>
      <p:sp>
        <p:nvSpPr>
          <p:cNvPr id="1742" name="Google Shape;1742;g241bec45d9b_0_344: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743" name="Google Shape;1743;g241bec45d9b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1" name="Shape 1751"/>
        <p:cNvGrpSpPr/>
        <p:nvPr/>
      </p:nvGrpSpPr>
      <p:grpSpPr>
        <a:xfrm>
          <a:off x="0" y="0"/>
          <a:ext cx="0" cy="0"/>
          <a:chOff x="0" y="0"/>
          <a:chExt cx="0" cy="0"/>
        </a:xfrm>
      </p:grpSpPr>
      <p:sp>
        <p:nvSpPr>
          <p:cNvPr id="1752" name="Google Shape;1752;g241bec45d9b_0_35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753" name="Google Shape;1753;g241bec45d9b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7" name="Shape 1757"/>
        <p:cNvGrpSpPr/>
        <p:nvPr/>
      </p:nvGrpSpPr>
      <p:grpSpPr>
        <a:xfrm>
          <a:off x="0" y="0"/>
          <a:ext cx="0" cy="0"/>
          <a:chOff x="0" y="0"/>
          <a:chExt cx="0" cy="0"/>
        </a:xfrm>
      </p:grpSpPr>
      <p:sp>
        <p:nvSpPr>
          <p:cNvPr id="1758" name="Google Shape;1758;g221ecaade5e_3_119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759" name="Google Shape;1759;g221ecaade5e_3_1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9" name="Shape 1789"/>
        <p:cNvGrpSpPr/>
        <p:nvPr/>
      </p:nvGrpSpPr>
      <p:grpSpPr>
        <a:xfrm>
          <a:off x="0" y="0"/>
          <a:ext cx="0" cy="0"/>
          <a:chOff x="0" y="0"/>
          <a:chExt cx="0" cy="0"/>
        </a:xfrm>
      </p:grpSpPr>
      <p:sp>
        <p:nvSpPr>
          <p:cNvPr id="1790" name="Google Shape;1790;g221ecaade5e_3_122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791" name="Google Shape;1791;g221ecaade5e_3_1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3" name="Shape 1843"/>
        <p:cNvGrpSpPr/>
        <p:nvPr/>
      </p:nvGrpSpPr>
      <p:grpSpPr>
        <a:xfrm>
          <a:off x="0" y="0"/>
          <a:ext cx="0" cy="0"/>
          <a:chOff x="0" y="0"/>
          <a:chExt cx="0" cy="0"/>
        </a:xfrm>
      </p:grpSpPr>
      <p:sp>
        <p:nvSpPr>
          <p:cNvPr id="1844" name="Google Shape;1844;g221ecaade5e_3_127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845" name="Google Shape;1845;g221ecaade5e_3_1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2" name="Shape 1852"/>
        <p:cNvGrpSpPr/>
        <p:nvPr/>
      </p:nvGrpSpPr>
      <p:grpSpPr>
        <a:xfrm>
          <a:off x="0" y="0"/>
          <a:ext cx="0" cy="0"/>
          <a:chOff x="0" y="0"/>
          <a:chExt cx="0" cy="0"/>
        </a:xfrm>
      </p:grpSpPr>
      <p:sp>
        <p:nvSpPr>
          <p:cNvPr id="1853" name="Google Shape;1853;g221ecaade5e_3_128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854" name="Google Shape;1854;g221ecaade5e_3_1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8" name="Shape 1988"/>
        <p:cNvGrpSpPr/>
        <p:nvPr/>
      </p:nvGrpSpPr>
      <p:grpSpPr>
        <a:xfrm>
          <a:off x="0" y="0"/>
          <a:ext cx="0" cy="0"/>
          <a:chOff x="0" y="0"/>
          <a:chExt cx="0" cy="0"/>
        </a:xfrm>
      </p:grpSpPr>
      <p:sp>
        <p:nvSpPr>
          <p:cNvPr id="1989" name="Google Shape;1989;g221ecaade5e_3_142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990" name="Google Shape;1990;g221ecaade5e_3_1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4" name="Shape 2014"/>
        <p:cNvGrpSpPr/>
        <p:nvPr/>
      </p:nvGrpSpPr>
      <p:grpSpPr>
        <a:xfrm>
          <a:off x="0" y="0"/>
          <a:ext cx="0" cy="0"/>
          <a:chOff x="0" y="0"/>
          <a:chExt cx="0" cy="0"/>
        </a:xfrm>
      </p:grpSpPr>
      <p:sp>
        <p:nvSpPr>
          <p:cNvPr id="2015" name="Google Shape;2015;g221ecaade5e_3_144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016" name="Google Shape;2016;g221ecaade5e_3_1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0" name="Shape 2020"/>
        <p:cNvGrpSpPr/>
        <p:nvPr/>
      </p:nvGrpSpPr>
      <p:grpSpPr>
        <a:xfrm>
          <a:off x="0" y="0"/>
          <a:ext cx="0" cy="0"/>
          <a:chOff x="0" y="0"/>
          <a:chExt cx="0" cy="0"/>
        </a:xfrm>
      </p:grpSpPr>
      <p:sp>
        <p:nvSpPr>
          <p:cNvPr id="2021" name="Google Shape;2021;g221ecaade5e_3_145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022" name="Google Shape;2022;g221ecaade5e_3_1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415507" y="992767"/>
            <a:ext cx="11358000" cy="2736900"/>
          </a:xfrm>
          <a:prstGeom prst="rect">
            <a:avLst/>
          </a:prstGeom>
        </p:spPr>
        <p:txBody>
          <a:bodyPr anchorCtr="0" anchor="b" bIns="121875" lIns="121875" spcFirstLastPara="1" rIns="121875" wrap="square" tIns="121875">
            <a:normAutofit/>
          </a:bodyPr>
          <a:lstStyle>
            <a:lvl1pPr lvl="0" rtl="0" algn="ctr">
              <a:spcBef>
                <a:spcPts val="0"/>
              </a:spcBef>
              <a:spcAft>
                <a:spcPts val="0"/>
              </a:spcAft>
              <a:buSzPts val="6900"/>
              <a:buNone/>
              <a:defRPr sz="6900"/>
            </a:lvl1pPr>
            <a:lvl2pPr lvl="1" rtl="0" algn="ctr">
              <a:spcBef>
                <a:spcPts val="0"/>
              </a:spcBef>
              <a:spcAft>
                <a:spcPts val="0"/>
              </a:spcAft>
              <a:buSzPts val="6900"/>
              <a:buNone/>
              <a:defRPr sz="6900"/>
            </a:lvl2pPr>
            <a:lvl3pPr lvl="2" rtl="0" algn="ctr">
              <a:spcBef>
                <a:spcPts val="0"/>
              </a:spcBef>
              <a:spcAft>
                <a:spcPts val="0"/>
              </a:spcAft>
              <a:buSzPts val="6900"/>
              <a:buNone/>
              <a:defRPr sz="6900"/>
            </a:lvl3pPr>
            <a:lvl4pPr lvl="3" rtl="0" algn="ctr">
              <a:spcBef>
                <a:spcPts val="0"/>
              </a:spcBef>
              <a:spcAft>
                <a:spcPts val="0"/>
              </a:spcAft>
              <a:buSzPts val="6900"/>
              <a:buNone/>
              <a:defRPr sz="6900"/>
            </a:lvl4pPr>
            <a:lvl5pPr lvl="4" rtl="0" algn="ctr">
              <a:spcBef>
                <a:spcPts val="0"/>
              </a:spcBef>
              <a:spcAft>
                <a:spcPts val="0"/>
              </a:spcAft>
              <a:buSzPts val="6900"/>
              <a:buNone/>
              <a:defRPr sz="6900"/>
            </a:lvl5pPr>
            <a:lvl6pPr lvl="5" rtl="0" algn="ctr">
              <a:spcBef>
                <a:spcPts val="0"/>
              </a:spcBef>
              <a:spcAft>
                <a:spcPts val="0"/>
              </a:spcAft>
              <a:buSzPts val="6900"/>
              <a:buNone/>
              <a:defRPr sz="6900"/>
            </a:lvl6pPr>
            <a:lvl7pPr lvl="6" rtl="0" algn="ctr">
              <a:spcBef>
                <a:spcPts val="0"/>
              </a:spcBef>
              <a:spcAft>
                <a:spcPts val="0"/>
              </a:spcAft>
              <a:buSzPts val="6900"/>
              <a:buNone/>
              <a:defRPr sz="6900"/>
            </a:lvl7pPr>
            <a:lvl8pPr lvl="7" rtl="0" algn="ctr">
              <a:spcBef>
                <a:spcPts val="0"/>
              </a:spcBef>
              <a:spcAft>
                <a:spcPts val="0"/>
              </a:spcAft>
              <a:buSzPts val="6900"/>
              <a:buNone/>
              <a:defRPr sz="6900"/>
            </a:lvl8pPr>
            <a:lvl9pPr lvl="8" rtl="0" algn="ctr">
              <a:spcBef>
                <a:spcPts val="0"/>
              </a:spcBef>
              <a:spcAft>
                <a:spcPts val="0"/>
              </a:spcAft>
              <a:buSzPts val="6900"/>
              <a:buNone/>
              <a:defRPr sz="6900"/>
            </a:lvl9pPr>
          </a:lstStyle>
          <a:p/>
        </p:txBody>
      </p:sp>
      <p:sp>
        <p:nvSpPr>
          <p:cNvPr id="11" name="Google Shape;11;p2"/>
          <p:cNvSpPr txBox="1"/>
          <p:nvPr>
            <p:ph idx="1" type="subTitle"/>
          </p:nvPr>
        </p:nvSpPr>
        <p:spPr>
          <a:xfrm>
            <a:off x="415496" y="3778833"/>
            <a:ext cx="11358000" cy="1056900"/>
          </a:xfrm>
          <a:prstGeom prst="rect">
            <a:avLst/>
          </a:prstGeom>
        </p:spPr>
        <p:txBody>
          <a:bodyPr anchorCtr="0" anchor="t" bIns="121875" lIns="121875" spcFirstLastPara="1" rIns="121875" wrap="square" tIns="121875">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12" name="Google Shape;12;p2"/>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415496" y="2867800"/>
            <a:ext cx="11358000" cy="1122300"/>
          </a:xfrm>
          <a:prstGeom prst="rect">
            <a:avLst/>
          </a:prstGeom>
        </p:spPr>
        <p:txBody>
          <a:bodyPr anchorCtr="0" anchor="ctr" bIns="121875" lIns="121875" spcFirstLastPara="1" rIns="121875" wrap="square" tIns="121875">
            <a:normAutofit/>
          </a:bodyPr>
          <a:lstStyle>
            <a:lvl1pPr lvl="0" rtl="0" algn="ctr">
              <a:spcBef>
                <a:spcPts val="0"/>
              </a:spcBef>
              <a:spcAft>
                <a:spcPts val="0"/>
              </a:spcAft>
              <a:buSzPts val="4800"/>
              <a:buNone/>
              <a:defRPr sz="48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p:txBody>
      </p:sp>
      <p:sp>
        <p:nvSpPr>
          <p:cNvPr id="15" name="Google Shape;15;p3"/>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415496" y="593367"/>
            <a:ext cx="11358000" cy="763500"/>
          </a:xfrm>
          <a:prstGeom prst="rect">
            <a:avLst/>
          </a:prstGeom>
        </p:spPr>
        <p:txBody>
          <a:bodyPr anchorCtr="0" anchor="t" bIns="121875" lIns="121875" spcFirstLastPara="1" rIns="121875" wrap="square" tIns="121875">
            <a:norm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18" name="Google Shape;18;p4"/>
          <p:cNvSpPr txBox="1"/>
          <p:nvPr>
            <p:ph idx="1" type="body"/>
          </p:nvPr>
        </p:nvSpPr>
        <p:spPr>
          <a:xfrm>
            <a:off x="415496" y="1536633"/>
            <a:ext cx="11358000" cy="4555200"/>
          </a:xfrm>
          <a:prstGeom prst="rect">
            <a:avLst/>
          </a:prstGeom>
        </p:spPr>
        <p:txBody>
          <a:bodyPr anchorCtr="0" anchor="t" bIns="121875" lIns="121875" spcFirstLastPara="1" rIns="121875" wrap="square" tIns="121875">
            <a:normAutofit/>
          </a:bodyPr>
          <a:lstStyle>
            <a:lvl1pPr indent="-381000" lvl="0" marL="457200" rtl="0">
              <a:spcBef>
                <a:spcPts val="0"/>
              </a:spcBef>
              <a:spcAft>
                <a:spcPts val="0"/>
              </a:spcAft>
              <a:buSzPts val="2400"/>
              <a:buChar char="●"/>
              <a:defRPr/>
            </a:lvl1pPr>
            <a:lvl2pPr indent="-349250" lvl="1" marL="914400" rtl="0">
              <a:spcBef>
                <a:spcPts val="0"/>
              </a:spcBef>
              <a:spcAft>
                <a:spcPts val="0"/>
              </a:spcAft>
              <a:buSzPts val="1900"/>
              <a:buChar char="○"/>
              <a:defRPr/>
            </a:lvl2pPr>
            <a:lvl3pPr indent="-349250" lvl="2" marL="1371600" rtl="0">
              <a:spcBef>
                <a:spcPts val="0"/>
              </a:spcBef>
              <a:spcAft>
                <a:spcPts val="0"/>
              </a:spcAft>
              <a:buSzPts val="1900"/>
              <a:buChar char="■"/>
              <a:defRPr/>
            </a:lvl3pPr>
            <a:lvl4pPr indent="-349250" lvl="3" marL="1828800" rtl="0">
              <a:spcBef>
                <a:spcPts val="0"/>
              </a:spcBef>
              <a:spcAft>
                <a:spcPts val="0"/>
              </a:spcAft>
              <a:buSzPts val="1900"/>
              <a:buChar char="●"/>
              <a:defRPr/>
            </a:lvl4pPr>
            <a:lvl5pPr indent="-349250" lvl="4" marL="2286000" rtl="0">
              <a:spcBef>
                <a:spcPts val="0"/>
              </a:spcBef>
              <a:spcAft>
                <a:spcPts val="0"/>
              </a:spcAft>
              <a:buSzPts val="1900"/>
              <a:buChar char="○"/>
              <a:defRPr/>
            </a:lvl5pPr>
            <a:lvl6pPr indent="-349250" lvl="5" marL="2743200" rtl="0">
              <a:spcBef>
                <a:spcPts val="0"/>
              </a:spcBef>
              <a:spcAft>
                <a:spcPts val="0"/>
              </a:spcAft>
              <a:buSzPts val="1900"/>
              <a:buChar char="■"/>
              <a:defRPr/>
            </a:lvl6pPr>
            <a:lvl7pPr indent="-349250" lvl="6" marL="3200400" rtl="0">
              <a:spcBef>
                <a:spcPts val="0"/>
              </a:spcBef>
              <a:spcAft>
                <a:spcPts val="0"/>
              </a:spcAft>
              <a:buSzPts val="1900"/>
              <a:buChar char="●"/>
              <a:defRPr/>
            </a:lvl7pPr>
            <a:lvl8pPr indent="-349250" lvl="7" marL="3657600" rtl="0">
              <a:spcBef>
                <a:spcPts val="0"/>
              </a:spcBef>
              <a:spcAft>
                <a:spcPts val="0"/>
              </a:spcAft>
              <a:buSzPts val="1900"/>
              <a:buChar char="○"/>
              <a:defRPr/>
            </a:lvl8pPr>
            <a:lvl9pPr indent="-349250" lvl="8" marL="4114800" rtl="0">
              <a:spcBef>
                <a:spcPts val="0"/>
              </a:spcBef>
              <a:spcAft>
                <a:spcPts val="0"/>
              </a:spcAft>
              <a:buSzPts val="1900"/>
              <a:buChar char="■"/>
              <a:defRPr/>
            </a:lvl9pPr>
          </a:lstStyle>
          <a:p/>
        </p:txBody>
      </p:sp>
      <p:sp>
        <p:nvSpPr>
          <p:cNvPr id="19" name="Google Shape;19;p4"/>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415496" y="593367"/>
            <a:ext cx="11358000" cy="763500"/>
          </a:xfrm>
          <a:prstGeom prst="rect">
            <a:avLst/>
          </a:prstGeom>
        </p:spPr>
        <p:txBody>
          <a:bodyPr anchorCtr="0" anchor="t" bIns="121875" lIns="121875" spcFirstLastPara="1" rIns="121875" wrap="square" tIns="121875">
            <a:norm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22" name="Google Shape;22;p5"/>
          <p:cNvSpPr txBox="1"/>
          <p:nvPr>
            <p:ph idx="1" type="body"/>
          </p:nvPr>
        </p:nvSpPr>
        <p:spPr>
          <a:xfrm>
            <a:off x="415496" y="1536633"/>
            <a:ext cx="5331900" cy="4555200"/>
          </a:xfrm>
          <a:prstGeom prst="rect">
            <a:avLst/>
          </a:prstGeom>
        </p:spPr>
        <p:txBody>
          <a:bodyPr anchorCtr="0" anchor="t" bIns="121875" lIns="121875" spcFirstLastPara="1" rIns="121875" wrap="square" tIns="121875">
            <a:normAutofit/>
          </a:bodyPr>
          <a:lstStyle>
            <a:lvl1pPr indent="-349250" lvl="0" marL="457200" rtl="0">
              <a:spcBef>
                <a:spcPts val="0"/>
              </a:spcBef>
              <a:spcAft>
                <a:spcPts val="0"/>
              </a:spcAft>
              <a:buSzPts val="1900"/>
              <a:buChar char="●"/>
              <a:defRPr sz="19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23" name="Google Shape;23;p5"/>
          <p:cNvSpPr txBox="1"/>
          <p:nvPr>
            <p:ph idx="2" type="body"/>
          </p:nvPr>
        </p:nvSpPr>
        <p:spPr>
          <a:xfrm>
            <a:off x="6441588" y="1536633"/>
            <a:ext cx="5331900" cy="4555200"/>
          </a:xfrm>
          <a:prstGeom prst="rect">
            <a:avLst/>
          </a:prstGeom>
        </p:spPr>
        <p:txBody>
          <a:bodyPr anchorCtr="0" anchor="t" bIns="121875" lIns="121875" spcFirstLastPara="1" rIns="121875" wrap="square" tIns="121875">
            <a:normAutofit/>
          </a:bodyPr>
          <a:lstStyle>
            <a:lvl1pPr indent="-349250" lvl="0" marL="457200" rtl="0">
              <a:spcBef>
                <a:spcPts val="0"/>
              </a:spcBef>
              <a:spcAft>
                <a:spcPts val="0"/>
              </a:spcAft>
              <a:buSzPts val="1900"/>
              <a:buChar char="●"/>
              <a:defRPr sz="19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24" name="Google Shape;24;p5"/>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415496" y="593367"/>
            <a:ext cx="11358000" cy="763500"/>
          </a:xfrm>
          <a:prstGeom prst="rect">
            <a:avLst/>
          </a:prstGeom>
        </p:spPr>
        <p:txBody>
          <a:bodyPr anchorCtr="0" anchor="t" bIns="121875" lIns="121875" spcFirstLastPara="1" rIns="121875" wrap="square" tIns="121875">
            <a:norm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27" name="Google Shape;27;p6"/>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415496" y="740800"/>
            <a:ext cx="3743100" cy="1007700"/>
          </a:xfrm>
          <a:prstGeom prst="rect">
            <a:avLst/>
          </a:prstGeom>
        </p:spPr>
        <p:txBody>
          <a:bodyPr anchorCtr="0" anchor="b" bIns="121875" lIns="121875" spcFirstLastPara="1" rIns="121875" wrap="square" tIns="121875">
            <a:normAutofit/>
          </a:bodyPr>
          <a:lstStyle>
            <a:lvl1pPr lvl="0" rtl="0">
              <a:spcBef>
                <a:spcPts val="0"/>
              </a:spcBef>
              <a:spcAft>
                <a:spcPts val="0"/>
              </a:spcAft>
              <a:buSzPts val="3200"/>
              <a:buNone/>
              <a:defRPr sz="32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30" name="Google Shape;30;p7"/>
          <p:cNvSpPr txBox="1"/>
          <p:nvPr>
            <p:ph idx="1" type="body"/>
          </p:nvPr>
        </p:nvSpPr>
        <p:spPr>
          <a:xfrm>
            <a:off x="415496" y="1852800"/>
            <a:ext cx="3743100" cy="4239300"/>
          </a:xfrm>
          <a:prstGeom prst="rect">
            <a:avLst/>
          </a:prstGeom>
        </p:spPr>
        <p:txBody>
          <a:bodyPr anchorCtr="0" anchor="t" bIns="121875" lIns="121875" spcFirstLastPara="1" rIns="121875" wrap="square" tIns="121875">
            <a:normAutofit/>
          </a:bodyPr>
          <a:lstStyle>
            <a:lvl1pPr indent="-330200" lvl="0" marL="457200" rtl="0">
              <a:spcBef>
                <a:spcPts val="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31" name="Google Shape;31;p7"/>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653503" y="600200"/>
            <a:ext cx="8488200" cy="5454300"/>
          </a:xfrm>
          <a:prstGeom prst="rect">
            <a:avLst/>
          </a:prstGeom>
        </p:spPr>
        <p:txBody>
          <a:bodyPr anchorCtr="0" anchor="ctr" bIns="121875" lIns="121875" spcFirstLastPara="1" rIns="121875" wrap="square" tIns="121875">
            <a:normAutofit/>
          </a:bodyPr>
          <a:lstStyle>
            <a:lvl1pPr lvl="0" rtl="0">
              <a:spcBef>
                <a:spcPts val="0"/>
              </a:spcBef>
              <a:spcAft>
                <a:spcPts val="0"/>
              </a:spcAft>
              <a:buSzPts val="6400"/>
              <a:buNone/>
              <a:defRPr sz="6400"/>
            </a:lvl1pPr>
            <a:lvl2pPr lvl="1" rtl="0">
              <a:spcBef>
                <a:spcPts val="0"/>
              </a:spcBef>
              <a:spcAft>
                <a:spcPts val="0"/>
              </a:spcAft>
              <a:buSzPts val="6400"/>
              <a:buNone/>
              <a:defRPr sz="6400"/>
            </a:lvl2pPr>
            <a:lvl3pPr lvl="2" rtl="0">
              <a:spcBef>
                <a:spcPts val="0"/>
              </a:spcBef>
              <a:spcAft>
                <a:spcPts val="0"/>
              </a:spcAft>
              <a:buSzPts val="6400"/>
              <a:buNone/>
              <a:defRPr sz="6400"/>
            </a:lvl3pPr>
            <a:lvl4pPr lvl="3" rtl="0">
              <a:spcBef>
                <a:spcPts val="0"/>
              </a:spcBef>
              <a:spcAft>
                <a:spcPts val="0"/>
              </a:spcAft>
              <a:buSzPts val="6400"/>
              <a:buNone/>
              <a:defRPr sz="6400"/>
            </a:lvl4pPr>
            <a:lvl5pPr lvl="4" rtl="0">
              <a:spcBef>
                <a:spcPts val="0"/>
              </a:spcBef>
              <a:spcAft>
                <a:spcPts val="0"/>
              </a:spcAft>
              <a:buSzPts val="6400"/>
              <a:buNone/>
              <a:defRPr sz="6400"/>
            </a:lvl5pPr>
            <a:lvl6pPr lvl="5" rtl="0">
              <a:spcBef>
                <a:spcPts val="0"/>
              </a:spcBef>
              <a:spcAft>
                <a:spcPts val="0"/>
              </a:spcAft>
              <a:buSzPts val="6400"/>
              <a:buNone/>
              <a:defRPr sz="6400"/>
            </a:lvl6pPr>
            <a:lvl7pPr lvl="6" rtl="0">
              <a:spcBef>
                <a:spcPts val="0"/>
              </a:spcBef>
              <a:spcAft>
                <a:spcPts val="0"/>
              </a:spcAft>
              <a:buSzPts val="6400"/>
              <a:buNone/>
              <a:defRPr sz="6400"/>
            </a:lvl7pPr>
            <a:lvl8pPr lvl="7" rtl="0">
              <a:spcBef>
                <a:spcPts val="0"/>
              </a:spcBef>
              <a:spcAft>
                <a:spcPts val="0"/>
              </a:spcAft>
              <a:buSzPts val="6400"/>
              <a:buNone/>
              <a:defRPr sz="6400"/>
            </a:lvl8pPr>
            <a:lvl9pPr lvl="8" rtl="0">
              <a:spcBef>
                <a:spcPts val="0"/>
              </a:spcBef>
              <a:spcAft>
                <a:spcPts val="0"/>
              </a:spcAft>
              <a:buSzPts val="6400"/>
              <a:buNone/>
              <a:defRPr sz="6400"/>
            </a:lvl9pPr>
          </a:lstStyle>
          <a:p/>
        </p:txBody>
      </p:sp>
      <p:sp>
        <p:nvSpPr>
          <p:cNvPr id="34" name="Google Shape;34;p8"/>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53911" y="1644233"/>
            <a:ext cx="5392200" cy="1976400"/>
          </a:xfrm>
          <a:prstGeom prst="rect">
            <a:avLst/>
          </a:prstGeom>
        </p:spPr>
        <p:txBody>
          <a:bodyPr anchorCtr="0" anchor="b" bIns="121875" lIns="121875" spcFirstLastPara="1" rIns="121875" wrap="square" tIns="121875">
            <a:normAutofit/>
          </a:bodyPr>
          <a:lstStyle>
            <a:lvl1pPr lvl="0" rtl="0" algn="ctr">
              <a:spcBef>
                <a:spcPts val="0"/>
              </a:spcBef>
              <a:spcAft>
                <a:spcPts val="0"/>
              </a:spcAft>
              <a:buSzPts val="5600"/>
              <a:buNone/>
              <a:defRPr sz="5600"/>
            </a:lvl1pPr>
            <a:lvl2pPr lvl="1" rtl="0" algn="ctr">
              <a:spcBef>
                <a:spcPts val="0"/>
              </a:spcBef>
              <a:spcAft>
                <a:spcPts val="0"/>
              </a:spcAft>
              <a:buSzPts val="5600"/>
              <a:buNone/>
              <a:defRPr sz="5600"/>
            </a:lvl2pPr>
            <a:lvl3pPr lvl="2" rtl="0" algn="ctr">
              <a:spcBef>
                <a:spcPts val="0"/>
              </a:spcBef>
              <a:spcAft>
                <a:spcPts val="0"/>
              </a:spcAft>
              <a:buSzPts val="5600"/>
              <a:buNone/>
              <a:defRPr sz="5600"/>
            </a:lvl3pPr>
            <a:lvl4pPr lvl="3" rtl="0" algn="ctr">
              <a:spcBef>
                <a:spcPts val="0"/>
              </a:spcBef>
              <a:spcAft>
                <a:spcPts val="0"/>
              </a:spcAft>
              <a:buSzPts val="5600"/>
              <a:buNone/>
              <a:defRPr sz="5600"/>
            </a:lvl4pPr>
            <a:lvl5pPr lvl="4" rtl="0" algn="ctr">
              <a:spcBef>
                <a:spcPts val="0"/>
              </a:spcBef>
              <a:spcAft>
                <a:spcPts val="0"/>
              </a:spcAft>
              <a:buSzPts val="5600"/>
              <a:buNone/>
              <a:defRPr sz="5600"/>
            </a:lvl5pPr>
            <a:lvl6pPr lvl="5" rtl="0" algn="ctr">
              <a:spcBef>
                <a:spcPts val="0"/>
              </a:spcBef>
              <a:spcAft>
                <a:spcPts val="0"/>
              </a:spcAft>
              <a:buSzPts val="5600"/>
              <a:buNone/>
              <a:defRPr sz="5600"/>
            </a:lvl6pPr>
            <a:lvl7pPr lvl="6" rtl="0" algn="ctr">
              <a:spcBef>
                <a:spcPts val="0"/>
              </a:spcBef>
              <a:spcAft>
                <a:spcPts val="0"/>
              </a:spcAft>
              <a:buSzPts val="5600"/>
              <a:buNone/>
              <a:defRPr sz="5600"/>
            </a:lvl7pPr>
            <a:lvl8pPr lvl="7" rtl="0" algn="ctr">
              <a:spcBef>
                <a:spcPts val="0"/>
              </a:spcBef>
              <a:spcAft>
                <a:spcPts val="0"/>
              </a:spcAft>
              <a:buSzPts val="5600"/>
              <a:buNone/>
              <a:defRPr sz="5600"/>
            </a:lvl8pPr>
            <a:lvl9pPr lvl="8" rtl="0" algn="ctr">
              <a:spcBef>
                <a:spcPts val="0"/>
              </a:spcBef>
              <a:spcAft>
                <a:spcPts val="0"/>
              </a:spcAft>
              <a:buSzPts val="5600"/>
              <a:buNone/>
              <a:defRPr sz="5600"/>
            </a:lvl9pPr>
          </a:lstStyle>
          <a:p/>
        </p:txBody>
      </p:sp>
      <p:sp>
        <p:nvSpPr>
          <p:cNvPr id="38" name="Google Shape;38;p9"/>
          <p:cNvSpPr txBox="1"/>
          <p:nvPr>
            <p:ph idx="1" type="subTitle"/>
          </p:nvPr>
        </p:nvSpPr>
        <p:spPr>
          <a:xfrm>
            <a:off x="353911" y="3737433"/>
            <a:ext cx="5392200" cy="1646700"/>
          </a:xfrm>
          <a:prstGeom prst="rect">
            <a:avLst/>
          </a:prstGeom>
        </p:spPr>
        <p:txBody>
          <a:bodyPr anchorCtr="0" anchor="t" bIns="121875" lIns="121875" spcFirstLastPara="1" rIns="121875" wrap="square" tIns="12187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9" name="Google Shape;39;p9"/>
          <p:cNvSpPr txBox="1"/>
          <p:nvPr>
            <p:ph idx="2" type="body"/>
          </p:nvPr>
        </p:nvSpPr>
        <p:spPr>
          <a:xfrm>
            <a:off x="6584352" y="965433"/>
            <a:ext cx="5114700" cy="4926900"/>
          </a:xfrm>
          <a:prstGeom prst="rect">
            <a:avLst/>
          </a:prstGeom>
        </p:spPr>
        <p:txBody>
          <a:bodyPr anchorCtr="0" anchor="ctr" bIns="121875" lIns="121875" spcFirstLastPara="1" rIns="121875" wrap="square" tIns="121875">
            <a:normAutofit/>
          </a:bodyPr>
          <a:lstStyle>
            <a:lvl1pPr indent="-381000" lvl="0" marL="457200" rtl="0">
              <a:spcBef>
                <a:spcPts val="0"/>
              </a:spcBef>
              <a:spcAft>
                <a:spcPts val="0"/>
              </a:spcAft>
              <a:buSzPts val="2400"/>
              <a:buChar char="●"/>
              <a:defRPr/>
            </a:lvl1pPr>
            <a:lvl2pPr indent="-349250" lvl="1" marL="914400" rtl="0">
              <a:spcBef>
                <a:spcPts val="0"/>
              </a:spcBef>
              <a:spcAft>
                <a:spcPts val="0"/>
              </a:spcAft>
              <a:buSzPts val="1900"/>
              <a:buChar char="○"/>
              <a:defRPr/>
            </a:lvl2pPr>
            <a:lvl3pPr indent="-349250" lvl="2" marL="1371600" rtl="0">
              <a:spcBef>
                <a:spcPts val="0"/>
              </a:spcBef>
              <a:spcAft>
                <a:spcPts val="0"/>
              </a:spcAft>
              <a:buSzPts val="1900"/>
              <a:buChar char="■"/>
              <a:defRPr/>
            </a:lvl3pPr>
            <a:lvl4pPr indent="-349250" lvl="3" marL="1828800" rtl="0">
              <a:spcBef>
                <a:spcPts val="0"/>
              </a:spcBef>
              <a:spcAft>
                <a:spcPts val="0"/>
              </a:spcAft>
              <a:buSzPts val="1900"/>
              <a:buChar char="●"/>
              <a:defRPr/>
            </a:lvl4pPr>
            <a:lvl5pPr indent="-349250" lvl="4" marL="2286000" rtl="0">
              <a:spcBef>
                <a:spcPts val="0"/>
              </a:spcBef>
              <a:spcAft>
                <a:spcPts val="0"/>
              </a:spcAft>
              <a:buSzPts val="1900"/>
              <a:buChar char="○"/>
              <a:defRPr/>
            </a:lvl5pPr>
            <a:lvl6pPr indent="-349250" lvl="5" marL="2743200" rtl="0">
              <a:spcBef>
                <a:spcPts val="0"/>
              </a:spcBef>
              <a:spcAft>
                <a:spcPts val="0"/>
              </a:spcAft>
              <a:buSzPts val="1900"/>
              <a:buChar char="■"/>
              <a:defRPr/>
            </a:lvl6pPr>
            <a:lvl7pPr indent="-349250" lvl="6" marL="3200400" rtl="0">
              <a:spcBef>
                <a:spcPts val="0"/>
              </a:spcBef>
              <a:spcAft>
                <a:spcPts val="0"/>
              </a:spcAft>
              <a:buSzPts val="1900"/>
              <a:buChar char="●"/>
              <a:defRPr/>
            </a:lvl7pPr>
            <a:lvl8pPr indent="-349250" lvl="7" marL="3657600" rtl="0">
              <a:spcBef>
                <a:spcPts val="0"/>
              </a:spcBef>
              <a:spcAft>
                <a:spcPts val="0"/>
              </a:spcAft>
              <a:buSzPts val="1900"/>
              <a:buChar char="○"/>
              <a:defRPr/>
            </a:lvl8pPr>
            <a:lvl9pPr indent="-349250" lvl="8" marL="4114800" rtl="0">
              <a:spcBef>
                <a:spcPts val="0"/>
              </a:spcBef>
              <a:spcAft>
                <a:spcPts val="0"/>
              </a:spcAft>
              <a:buSzPts val="1900"/>
              <a:buChar char="■"/>
              <a:defRPr/>
            </a:lvl9pPr>
          </a:lstStyle>
          <a:p/>
        </p:txBody>
      </p:sp>
      <p:sp>
        <p:nvSpPr>
          <p:cNvPr id="40" name="Google Shape;40;p9"/>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415496" y="5640767"/>
            <a:ext cx="7996500" cy="806700"/>
          </a:xfrm>
          <a:prstGeom prst="rect">
            <a:avLst/>
          </a:prstGeom>
        </p:spPr>
        <p:txBody>
          <a:bodyPr anchorCtr="0" anchor="ctr" bIns="121875" lIns="121875" spcFirstLastPara="1" rIns="121875" wrap="square" tIns="121875">
            <a:normAutofit/>
          </a:bodyPr>
          <a:lstStyle>
            <a:lvl1pPr indent="-228600" lvl="0" marL="457200" rtl="0">
              <a:lnSpc>
                <a:spcPct val="100000"/>
              </a:lnSpc>
              <a:spcBef>
                <a:spcPts val="0"/>
              </a:spcBef>
              <a:spcAft>
                <a:spcPts val="0"/>
              </a:spcAft>
              <a:buSzPts val="2400"/>
              <a:buNone/>
              <a:defRPr/>
            </a:lvl1pPr>
          </a:lstStyle>
          <a:p/>
        </p:txBody>
      </p:sp>
      <p:sp>
        <p:nvSpPr>
          <p:cNvPr id="43" name="Google Shape;43;p10"/>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415496" y="1474833"/>
            <a:ext cx="11358000" cy="2618100"/>
          </a:xfrm>
          <a:prstGeom prst="rect">
            <a:avLst/>
          </a:prstGeom>
        </p:spPr>
        <p:txBody>
          <a:bodyPr anchorCtr="0" anchor="b" bIns="121875" lIns="121875" spcFirstLastPara="1" rIns="121875" wrap="square" tIns="121875">
            <a:normAutofit/>
          </a:bodyPr>
          <a:lstStyle>
            <a:lvl1pPr lvl="0" rtl="0" algn="ctr">
              <a:spcBef>
                <a:spcPts val="0"/>
              </a:spcBef>
              <a:spcAft>
                <a:spcPts val="0"/>
              </a:spcAft>
              <a:buSzPts val="16000"/>
              <a:buNone/>
              <a:defRPr sz="16000"/>
            </a:lvl1pPr>
            <a:lvl2pPr lvl="1" rtl="0" algn="ctr">
              <a:spcBef>
                <a:spcPts val="0"/>
              </a:spcBef>
              <a:spcAft>
                <a:spcPts val="0"/>
              </a:spcAft>
              <a:buSzPts val="16000"/>
              <a:buNone/>
              <a:defRPr sz="16000"/>
            </a:lvl2pPr>
            <a:lvl3pPr lvl="2" rtl="0" algn="ctr">
              <a:spcBef>
                <a:spcPts val="0"/>
              </a:spcBef>
              <a:spcAft>
                <a:spcPts val="0"/>
              </a:spcAft>
              <a:buSzPts val="16000"/>
              <a:buNone/>
              <a:defRPr sz="16000"/>
            </a:lvl3pPr>
            <a:lvl4pPr lvl="3" rtl="0" algn="ctr">
              <a:spcBef>
                <a:spcPts val="0"/>
              </a:spcBef>
              <a:spcAft>
                <a:spcPts val="0"/>
              </a:spcAft>
              <a:buSzPts val="16000"/>
              <a:buNone/>
              <a:defRPr sz="16000"/>
            </a:lvl4pPr>
            <a:lvl5pPr lvl="4" rtl="0" algn="ctr">
              <a:spcBef>
                <a:spcPts val="0"/>
              </a:spcBef>
              <a:spcAft>
                <a:spcPts val="0"/>
              </a:spcAft>
              <a:buSzPts val="16000"/>
              <a:buNone/>
              <a:defRPr sz="16000"/>
            </a:lvl5pPr>
            <a:lvl6pPr lvl="5" rtl="0" algn="ctr">
              <a:spcBef>
                <a:spcPts val="0"/>
              </a:spcBef>
              <a:spcAft>
                <a:spcPts val="0"/>
              </a:spcAft>
              <a:buSzPts val="16000"/>
              <a:buNone/>
              <a:defRPr sz="16000"/>
            </a:lvl6pPr>
            <a:lvl7pPr lvl="6" rtl="0" algn="ctr">
              <a:spcBef>
                <a:spcPts val="0"/>
              </a:spcBef>
              <a:spcAft>
                <a:spcPts val="0"/>
              </a:spcAft>
              <a:buSzPts val="16000"/>
              <a:buNone/>
              <a:defRPr sz="16000"/>
            </a:lvl7pPr>
            <a:lvl8pPr lvl="7" rtl="0" algn="ctr">
              <a:spcBef>
                <a:spcPts val="0"/>
              </a:spcBef>
              <a:spcAft>
                <a:spcPts val="0"/>
              </a:spcAft>
              <a:buSzPts val="16000"/>
              <a:buNone/>
              <a:defRPr sz="16000"/>
            </a:lvl8pPr>
            <a:lvl9pPr lvl="8" rtl="0" algn="ctr">
              <a:spcBef>
                <a:spcPts val="0"/>
              </a:spcBef>
              <a:spcAft>
                <a:spcPts val="0"/>
              </a:spcAft>
              <a:buSzPts val="16000"/>
              <a:buNone/>
              <a:defRPr sz="16000"/>
            </a:lvl9pPr>
          </a:lstStyle>
          <a:p>
            <a:r>
              <a:t>xx%</a:t>
            </a:r>
          </a:p>
        </p:txBody>
      </p:sp>
      <p:sp>
        <p:nvSpPr>
          <p:cNvPr id="46" name="Google Shape;46;p11"/>
          <p:cNvSpPr txBox="1"/>
          <p:nvPr>
            <p:ph idx="1" type="body"/>
          </p:nvPr>
        </p:nvSpPr>
        <p:spPr>
          <a:xfrm>
            <a:off x="415496" y="4202967"/>
            <a:ext cx="11358000" cy="1734300"/>
          </a:xfrm>
          <a:prstGeom prst="rect">
            <a:avLst/>
          </a:prstGeom>
        </p:spPr>
        <p:txBody>
          <a:bodyPr anchorCtr="0" anchor="t" bIns="121875" lIns="121875" spcFirstLastPara="1" rIns="121875" wrap="square" tIns="121875">
            <a:normAutofit/>
          </a:bodyPr>
          <a:lstStyle>
            <a:lvl1pPr indent="-381000" lvl="0" marL="457200" rtl="0" algn="ctr">
              <a:spcBef>
                <a:spcPts val="0"/>
              </a:spcBef>
              <a:spcAft>
                <a:spcPts val="0"/>
              </a:spcAft>
              <a:buSzPts val="2400"/>
              <a:buChar char="●"/>
              <a:defRPr/>
            </a:lvl1pPr>
            <a:lvl2pPr indent="-349250" lvl="1" marL="914400" rtl="0" algn="ctr">
              <a:spcBef>
                <a:spcPts val="0"/>
              </a:spcBef>
              <a:spcAft>
                <a:spcPts val="0"/>
              </a:spcAft>
              <a:buSzPts val="1900"/>
              <a:buChar char="○"/>
              <a:defRPr/>
            </a:lvl2pPr>
            <a:lvl3pPr indent="-349250" lvl="2" marL="1371600" rtl="0" algn="ctr">
              <a:spcBef>
                <a:spcPts val="0"/>
              </a:spcBef>
              <a:spcAft>
                <a:spcPts val="0"/>
              </a:spcAft>
              <a:buSzPts val="1900"/>
              <a:buChar char="■"/>
              <a:defRPr/>
            </a:lvl3pPr>
            <a:lvl4pPr indent="-349250" lvl="3" marL="1828800" rtl="0" algn="ctr">
              <a:spcBef>
                <a:spcPts val="0"/>
              </a:spcBef>
              <a:spcAft>
                <a:spcPts val="0"/>
              </a:spcAft>
              <a:buSzPts val="1900"/>
              <a:buChar char="●"/>
              <a:defRPr/>
            </a:lvl4pPr>
            <a:lvl5pPr indent="-349250" lvl="4" marL="2286000" rtl="0" algn="ctr">
              <a:spcBef>
                <a:spcPts val="0"/>
              </a:spcBef>
              <a:spcAft>
                <a:spcPts val="0"/>
              </a:spcAft>
              <a:buSzPts val="1900"/>
              <a:buChar char="○"/>
              <a:defRPr/>
            </a:lvl5pPr>
            <a:lvl6pPr indent="-349250" lvl="5" marL="2743200" rtl="0" algn="ctr">
              <a:spcBef>
                <a:spcPts val="0"/>
              </a:spcBef>
              <a:spcAft>
                <a:spcPts val="0"/>
              </a:spcAft>
              <a:buSzPts val="1900"/>
              <a:buChar char="■"/>
              <a:defRPr/>
            </a:lvl6pPr>
            <a:lvl7pPr indent="-349250" lvl="6" marL="3200400" rtl="0" algn="ctr">
              <a:spcBef>
                <a:spcPts val="0"/>
              </a:spcBef>
              <a:spcAft>
                <a:spcPts val="0"/>
              </a:spcAft>
              <a:buSzPts val="1900"/>
              <a:buChar char="●"/>
              <a:defRPr/>
            </a:lvl7pPr>
            <a:lvl8pPr indent="-349250" lvl="7" marL="3657600" rtl="0" algn="ctr">
              <a:spcBef>
                <a:spcPts val="0"/>
              </a:spcBef>
              <a:spcAft>
                <a:spcPts val="0"/>
              </a:spcAft>
              <a:buSzPts val="1900"/>
              <a:buChar char="○"/>
              <a:defRPr/>
            </a:lvl8pPr>
            <a:lvl9pPr indent="-349250" lvl="8" marL="4114800" rtl="0" algn="ctr">
              <a:spcBef>
                <a:spcPts val="0"/>
              </a:spcBef>
              <a:spcAft>
                <a:spcPts val="0"/>
              </a:spcAft>
              <a:buSzPts val="1900"/>
              <a:buChar char="■"/>
              <a:defRPr/>
            </a:lvl9pPr>
          </a:lstStyle>
          <a:p/>
        </p:txBody>
      </p:sp>
      <p:sp>
        <p:nvSpPr>
          <p:cNvPr id="47" name="Google Shape;47;p11"/>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Title Slide A - Light"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761800" y="1186975"/>
            <a:ext cx="5332800" cy="2387700"/>
          </a:xfrm>
          <a:prstGeom prst="rect">
            <a:avLst/>
          </a:prstGeom>
          <a:noFill/>
          <a:ln>
            <a:noFill/>
          </a:ln>
        </p:spPr>
        <p:txBody>
          <a:bodyPr anchorCtr="0" anchor="b" bIns="0" lIns="0" spcFirstLastPara="1" rIns="0" wrap="square" tIns="0">
            <a:noAutofit/>
          </a:bodyPr>
          <a:lstStyle>
            <a:lvl1pPr lvl="0">
              <a:lnSpc>
                <a:spcPct val="90000"/>
              </a:lnSpc>
              <a:spcBef>
                <a:spcPts val="0"/>
              </a:spcBef>
              <a:spcAft>
                <a:spcPts val="0"/>
              </a:spcAft>
              <a:buClr>
                <a:schemeClr val="dk1"/>
              </a:buClr>
              <a:buSzPts val="5600"/>
              <a:buFont typeface="Arial"/>
              <a:buNone/>
              <a:defRPr sz="5600"/>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
        <p:nvSpPr>
          <p:cNvPr id="58" name="Google Shape;58;p14"/>
          <p:cNvSpPr txBox="1"/>
          <p:nvPr>
            <p:ph idx="1" type="subTitle"/>
          </p:nvPr>
        </p:nvSpPr>
        <p:spPr>
          <a:xfrm>
            <a:off x="761809" y="3835400"/>
            <a:ext cx="6170100" cy="1224300"/>
          </a:xfrm>
          <a:prstGeom prst="rect">
            <a:avLst/>
          </a:prstGeom>
          <a:noFill/>
          <a:ln>
            <a:noFill/>
          </a:ln>
        </p:spPr>
        <p:txBody>
          <a:bodyPr anchorCtr="0" anchor="t" bIns="0" lIns="0" spcFirstLastPara="1" rIns="0" wrap="square" tIns="0">
            <a:noAutofit/>
          </a:bodyPr>
          <a:lstStyle>
            <a:lvl1pPr lvl="0">
              <a:lnSpc>
                <a:spcPct val="90000"/>
              </a:lnSpc>
              <a:spcBef>
                <a:spcPts val="1100"/>
              </a:spcBef>
              <a:spcAft>
                <a:spcPts val="0"/>
              </a:spcAft>
              <a:buClr>
                <a:schemeClr val="dk1"/>
              </a:buClr>
              <a:buSzPts val="3200"/>
              <a:buNone/>
              <a:defRPr sz="32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900"/>
              <a:buNone/>
              <a:defRPr sz="19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59" name="Google Shape;59;p14"/>
          <p:cNvPicPr preferRelativeResize="0"/>
          <p:nvPr/>
        </p:nvPicPr>
        <p:blipFill rotWithShape="1">
          <a:blip r:embed="rId2">
            <a:alphaModFix/>
          </a:blip>
          <a:srcRect b="0" l="0" r="0" t="0"/>
          <a:stretch/>
        </p:blipFill>
        <p:spPr>
          <a:xfrm>
            <a:off x="761808" y="609599"/>
            <a:ext cx="2558260" cy="405452"/>
          </a:xfrm>
          <a:prstGeom prst="rect">
            <a:avLst/>
          </a:prstGeom>
          <a:noFill/>
          <a:ln>
            <a:noFill/>
          </a:ln>
        </p:spPr>
      </p:pic>
      <p:cxnSp>
        <p:nvCxnSpPr>
          <p:cNvPr id="60" name="Google Shape;60;p14"/>
          <p:cNvCxnSpPr/>
          <p:nvPr/>
        </p:nvCxnSpPr>
        <p:spPr>
          <a:xfrm>
            <a:off x="761809" y="5617267"/>
            <a:ext cx="560400" cy="0"/>
          </a:xfrm>
          <a:prstGeom prst="straightConnector1">
            <a:avLst/>
          </a:prstGeom>
          <a:noFill/>
          <a:ln cap="flat" cmpd="sng" w="38100">
            <a:solidFill>
              <a:srgbClr val="FF6952"/>
            </a:solidFill>
            <a:prstDash val="solid"/>
            <a:round/>
            <a:headEnd len="med" w="med" type="none"/>
            <a:tailEnd len="med" w="med" type="none"/>
          </a:ln>
        </p:spPr>
      </p:cxnSp>
      <p:sp>
        <p:nvSpPr>
          <p:cNvPr id="61" name="Google Shape;61;p14"/>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lvl1pPr lvl="0">
              <a:spcBef>
                <a:spcPts val="1100"/>
              </a:spcBef>
              <a:spcAft>
                <a:spcPts val="0"/>
              </a:spcAft>
              <a:buClr>
                <a:schemeClr val="dk2"/>
              </a:buClr>
              <a:buSzPts val="1600"/>
              <a:buNone/>
              <a:defRPr sz="1600">
                <a:solidFill>
                  <a:schemeClr val="dk2"/>
                </a:solidFill>
              </a:defRPr>
            </a:lvl1pPr>
            <a:lvl2pPr lvl="1">
              <a:spcBef>
                <a:spcPts val="500"/>
              </a:spcBef>
              <a:spcAft>
                <a:spcPts val="0"/>
              </a:spcAft>
              <a:buSzPts val="2000"/>
              <a:buNone/>
              <a:defRPr/>
            </a:lvl2pPr>
            <a:lvl3pPr lvl="2">
              <a:spcBef>
                <a:spcPts val="500"/>
              </a:spcBef>
              <a:spcAft>
                <a:spcPts val="0"/>
              </a:spcAft>
              <a:buSzPts val="1600"/>
              <a:buNone/>
              <a:defRPr/>
            </a:lvl3pPr>
            <a:lvl4pPr lvl="3">
              <a:spcBef>
                <a:spcPts val="500"/>
              </a:spcBef>
              <a:spcAft>
                <a:spcPts val="0"/>
              </a:spcAft>
              <a:buSzPts val="1600"/>
              <a:buNone/>
              <a:defRPr/>
            </a:lvl4pPr>
            <a:lvl5pPr lvl="4">
              <a:spcBef>
                <a:spcPts val="500"/>
              </a:spcBef>
              <a:spcAft>
                <a:spcPts val="0"/>
              </a:spcAft>
              <a:buSzPts val="1600"/>
              <a:buNone/>
              <a:defRPr/>
            </a:lvl5pPr>
            <a:lvl6pPr lvl="5">
              <a:spcBef>
                <a:spcPts val="500"/>
              </a:spcBef>
              <a:spcAft>
                <a:spcPts val="0"/>
              </a:spcAft>
              <a:buSzPts val="1600"/>
              <a:buNone/>
              <a:defRPr/>
            </a:lvl6pPr>
            <a:lvl7pPr lvl="6">
              <a:spcBef>
                <a:spcPts val="500"/>
              </a:spcBef>
              <a:spcAft>
                <a:spcPts val="0"/>
              </a:spcAft>
              <a:buSzPts val="1600"/>
              <a:buNone/>
              <a:defRPr/>
            </a:lvl7pPr>
            <a:lvl8pPr lvl="7">
              <a:spcBef>
                <a:spcPts val="500"/>
              </a:spcBef>
              <a:spcAft>
                <a:spcPts val="0"/>
              </a:spcAft>
              <a:buSzPts val="1600"/>
              <a:buNone/>
              <a:defRPr/>
            </a:lvl8pPr>
            <a:lvl9pPr lvl="8">
              <a:spcBef>
                <a:spcPts val="500"/>
              </a:spcBef>
              <a:spcAft>
                <a:spcPts val="0"/>
              </a:spcAft>
              <a:buSzPts val="1600"/>
              <a:buNone/>
              <a:defRPr/>
            </a:lvl9pPr>
          </a:lstStyle>
          <a:p/>
        </p:txBody>
      </p:sp>
      <p:sp>
        <p:nvSpPr>
          <p:cNvPr id="62" name="Google Shape;62;p14"/>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63" name="Google Shape;63;p14"/>
          <p:cNvPicPr preferRelativeResize="0"/>
          <p:nvPr/>
        </p:nvPicPr>
        <p:blipFill>
          <a:blip r:embed="rId3">
            <a:alphaModFix/>
          </a:blip>
          <a:stretch>
            <a:fillRect/>
          </a:stretch>
        </p:blipFill>
        <p:spPr>
          <a:xfrm>
            <a:off x="6537958" y="608125"/>
            <a:ext cx="5650993" cy="5641729"/>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Title Slide A - Dark">
  <p:cSld name="TITLE_1">
    <p:bg>
      <p:bgPr>
        <a:solidFill>
          <a:schemeClr val="dk1"/>
        </a:solidFill>
      </p:bgPr>
    </p:bg>
    <p:spTree>
      <p:nvGrpSpPr>
        <p:cNvPr id="64" name="Shape 64"/>
        <p:cNvGrpSpPr/>
        <p:nvPr/>
      </p:nvGrpSpPr>
      <p:grpSpPr>
        <a:xfrm>
          <a:off x="0" y="0"/>
          <a:ext cx="0" cy="0"/>
          <a:chOff x="0" y="0"/>
          <a:chExt cx="0" cy="0"/>
        </a:xfrm>
      </p:grpSpPr>
      <p:sp>
        <p:nvSpPr>
          <p:cNvPr id="65" name="Google Shape;65;p15"/>
          <p:cNvSpPr txBox="1"/>
          <p:nvPr>
            <p:ph type="ctrTitle"/>
          </p:nvPr>
        </p:nvSpPr>
        <p:spPr>
          <a:xfrm>
            <a:off x="761800" y="1186975"/>
            <a:ext cx="5332800" cy="2387700"/>
          </a:xfrm>
          <a:prstGeom prst="rect">
            <a:avLst/>
          </a:prstGeom>
          <a:noFill/>
          <a:ln>
            <a:noFill/>
          </a:ln>
        </p:spPr>
        <p:txBody>
          <a:bodyPr anchorCtr="0" anchor="b" bIns="0" lIns="0" spcFirstLastPara="1" rIns="0" wrap="square" tIns="0">
            <a:noAutofit/>
          </a:bodyPr>
          <a:lstStyle>
            <a:lvl1pPr lvl="0" rtl="0">
              <a:lnSpc>
                <a:spcPct val="90000"/>
              </a:lnSpc>
              <a:spcBef>
                <a:spcPts val="0"/>
              </a:spcBef>
              <a:spcAft>
                <a:spcPts val="0"/>
              </a:spcAft>
              <a:buClr>
                <a:schemeClr val="lt1"/>
              </a:buClr>
              <a:buSzPts val="5600"/>
              <a:buFont typeface="Arial"/>
              <a:buNone/>
              <a:defRPr sz="5600">
                <a:solidFill>
                  <a:schemeClr val="lt1"/>
                </a:solidFill>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66" name="Google Shape;66;p15"/>
          <p:cNvSpPr txBox="1"/>
          <p:nvPr>
            <p:ph idx="1" type="subTitle"/>
          </p:nvPr>
        </p:nvSpPr>
        <p:spPr>
          <a:xfrm>
            <a:off x="761809" y="3835400"/>
            <a:ext cx="6170100" cy="1224300"/>
          </a:xfrm>
          <a:prstGeom prst="rect">
            <a:avLst/>
          </a:prstGeom>
          <a:noFill/>
          <a:ln>
            <a:noFill/>
          </a:ln>
        </p:spPr>
        <p:txBody>
          <a:bodyPr anchorCtr="0" anchor="t" bIns="0" lIns="0" spcFirstLastPara="1" rIns="0" wrap="square" tIns="0">
            <a:noAutofit/>
          </a:bodyPr>
          <a:lstStyle>
            <a:lvl1pPr lvl="0" rtl="0">
              <a:lnSpc>
                <a:spcPct val="90000"/>
              </a:lnSpc>
              <a:spcBef>
                <a:spcPts val="1100"/>
              </a:spcBef>
              <a:spcAft>
                <a:spcPts val="0"/>
              </a:spcAft>
              <a:buClr>
                <a:schemeClr val="lt1"/>
              </a:buClr>
              <a:buSzPts val="3200"/>
              <a:buNone/>
              <a:defRPr sz="3200">
                <a:solidFill>
                  <a:schemeClr val="lt1"/>
                </a:solidFill>
              </a:defRPr>
            </a:lvl1pPr>
            <a:lvl2pPr lvl="1" rtl="0" algn="ctr">
              <a:lnSpc>
                <a:spcPct val="90000"/>
              </a:lnSpc>
              <a:spcBef>
                <a:spcPts val="500"/>
              </a:spcBef>
              <a:spcAft>
                <a:spcPts val="0"/>
              </a:spcAft>
              <a:buClr>
                <a:schemeClr val="dk1"/>
              </a:buClr>
              <a:buSzPts val="2000"/>
              <a:buNone/>
              <a:defRPr sz="2000"/>
            </a:lvl2pPr>
            <a:lvl3pPr lvl="2" rtl="0" algn="ctr">
              <a:lnSpc>
                <a:spcPct val="90000"/>
              </a:lnSpc>
              <a:spcBef>
                <a:spcPts val="500"/>
              </a:spcBef>
              <a:spcAft>
                <a:spcPts val="0"/>
              </a:spcAft>
              <a:buClr>
                <a:schemeClr val="dk1"/>
              </a:buClr>
              <a:buSzPts val="1900"/>
              <a:buNone/>
              <a:defRPr sz="1900"/>
            </a:lvl3pPr>
            <a:lvl4pPr lvl="3" rtl="0" algn="ctr">
              <a:lnSpc>
                <a:spcPct val="90000"/>
              </a:lnSpc>
              <a:spcBef>
                <a:spcPts val="500"/>
              </a:spcBef>
              <a:spcAft>
                <a:spcPts val="0"/>
              </a:spcAft>
              <a:buClr>
                <a:schemeClr val="dk1"/>
              </a:buClr>
              <a:buSzPts val="1600"/>
              <a:buNone/>
              <a:defRPr sz="1600"/>
            </a:lvl4pPr>
            <a:lvl5pPr lvl="4" rtl="0" algn="ctr">
              <a:lnSpc>
                <a:spcPct val="90000"/>
              </a:lnSpc>
              <a:spcBef>
                <a:spcPts val="500"/>
              </a:spcBef>
              <a:spcAft>
                <a:spcPts val="0"/>
              </a:spcAft>
              <a:buClr>
                <a:schemeClr val="dk1"/>
              </a:buClr>
              <a:buSzPts val="1600"/>
              <a:buNone/>
              <a:defRPr sz="1600"/>
            </a:lvl5pPr>
            <a:lvl6pPr lvl="5" rtl="0" algn="ctr">
              <a:lnSpc>
                <a:spcPct val="90000"/>
              </a:lnSpc>
              <a:spcBef>
                <a:spcPts val="500"/>
              </a:spcBef>
              <a:spcAft>
                <a:spcPts val="0"/>
              </a:spcAft>
              <a:buClr>
                <a:schemeClr val="dk1"/>
              </a:buClr>
              <a:buSzPts val="1600"/>
              <a:buNone/>
              <a:defRPr sz="1600"/>
            </a:lvl6pPr>
            <a:lvl7pPr lvl="6" rtl="0" algn="ctr">
              <a:lnSpc>
                <a:spcPct val="90000"/>
              </a:lnSpc>
              <a:spcBef>
                <a:spcPts val="500"/>
              </a:spcBef>
              <a:spcAft>
                <a:spcPts val="0"/>
              </a:spcAft>
              <a:buClr>
                <a:schemeClr val="dk1"/>
              </a:buClr>
              <a:buSzPts val="1600"/>
              <a:buNone/>
              <a:defRPr sz="1600"/>
            </a:lvl7pPr>
            <a:lvl8pPr lvl="7" rtl="0" algn="ctr">
              <a:lnSpc>
                <a:spcPct val="90000"/>
              </a:lnSpc>
              <a:spcBef>
                <a:spcPts val="500"/>
              </a:spcBef>
              <a:spcAft>
                <a:spcPts val="0"/>
              </a:spcAft>
              <a:buClr>
                <a:schemeClr val="dk1"/>
              </a:buClr>
              <a:buSzPts val="1600"/>
              <a:buNone/>
              <a:defRPr sz="1600"/>
            </a:lvl8pPr>
            <a:lvl9pPr lvl="8" rtl="0" algn="ctr">
              <a:lnSpc>
                <a:spcPct val="90000"/>
              </a:lnSpc>
              <a:spcBef>
                <a:spcPts val="500"/>
              </a:spcBef>
              <a:spcAft>
                <a:spcPts val="0"/>
              </a:spcAft>
              <a:buClr>
                <a:schemeClr val="dk1"/>
              </a:buClr>
              <a:buSzPts val="1600"/>
              <a:buNone/>
              <a:defRPr sz="1600"/>
            </a:lvl9pPr>
          </a:lstStyle>
          <a:p/>
        </p:txBody>
      </p:sp>
      <p:pic>
        <p:nvPicPr>
          <p:cNvPr id="67" name="Google Shape;67;p15"/>
          <p:cNvPicPr preferRelativeResize="0"/>
          <p:nvPr/>
        </p:nvPicPr>
        <p:blipFill>
          <a:blip r:embed="rId2">
            <a:alphaModFix/>
          </a:blip>
          <a:stretch>
            <a:fillRect/>
          </a:stretch>
        </p:blipFill>
        <p:spPr>
          <a:xfrm>
            <a:off x="761810" y="609606"/>
            <a:ext cx="2558261" cy="406974"/>
          </a:xfrm>
          <a:prstGeom prst="rect">
            <a:avLst/>
          </a:prstGeom>
          <a:noFill/>
          <a:ln>
            <a:noFill/>
          </a:ln>
        </p:spPr>
      </p:pic>
      <p:cxnSp>
        <p:nvCxnSpPr>
          <p:cNvPr id="68" name="Google Shape;68;p15"/>
          <p:cNvCxnSpPr/>
          <p:nvPr/>
        </p:nvCxnSpPr>
        <p:spPr>
          <a:xfrm>
            <a:off x="761809" y="5617267"/>
            <a:ext cx="560400" cy="0"/>
          </a:xfrm>
          <a:prstGeom prst="straightConnector1">
            <a:avLst/>
          </a:prstGeom>
          <a:noFill/>
          <a:ln cap="flat" cmpd="sng" w="38100">
            <a:solidFill>
              <a:srgbClr val="FF6952"/>
            </a:solidFill>
            <a:prstDash val="solid"/>
            <a:round/>
            <a:headEnd len="med" w="med" type="none"/>
            <a:tailEnd len="med" w="med" type="none"/>
          </a:ln>
        </p:spPr>
      </p:cxnSp>
      <p:sp>
        <p:nvSpPr>
          <p:cNvPr id="69" name="Google Shape;69;p15"/>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lvl1pPr lvl="0" rtl="0">
              <a:spcBef>
                <a:spcPts val="1100"/>
              </a:spcBef>
              <a:spcAft>
                <a:spcPts val="0"/>
              </a:spcAft>
              <a:buClr>
                <a:schemeClr val="lt2"/>
              </a:buClr>
              <a:buSzPts val="1600"/>
              <a:buNone/>
              <a:defRPr sz="1600">
                <a:solidFill>
                  <a:schemeClr val="lt2"/>
                </a:solidFill>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70" name="Google Shape;70;p15"/>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5"/>
          <p:cNvPicPr preferRelativeResize="0"/>
          <p:nvPr/>
        </p:nvPicPr>
        <p:blipFill>
          <a:blip r:embed="rId3">
            <a:alphaModFix/>
          </a:blip>
          <a:stretch>
            <a:fillRect/>
          </a:stretch>
        </p:blipFill>
        <p:spPr>
          <a:xfrm>
            <a:off x="6537959" y="608138"/>
            <a:ext cx="5650993" cy="564172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Slide B - Light">
  <p:cSld name="TITLE_2">
    <p:spTree>
      <p:nvGrpSpPr>
        <p:cNvPr id="72" name="Shape 72"/>
        <p:cNvGrpSpPr/>
        <p:nvPr/>
      </p:nvGrpSpPr>
      <p:grpSpPr>
        <a:xfrm>
          <a:off x="0" y="0"/>
          <a:ext cx="0" cy="0"/>
          <a:chOff x="0" y="0"/>
          <a:chExt cx="0" cy="0"/>
        </a:xfrm>
      </p:grpSpPr>
      <p:sp>
        <p:nvSpPr>
          <p:cNvPr id="73" name="Google Shape;73;p16"/>
          <p:cNvSpPr txBox="1"/>
          <p:nvPr>
            <p:ph type="ctrTitle"/>
          </p:nvPr>
        </p:nvSpPr>
        <p:spPr>
          <a:xfrm>
            <a:off x="761800" y="1186975"/>
            <a:ext cx="5332800" cy="2387700"/>
          </a:xfrm>
          <a:prstGeom prst="rect">
            <a:avLst/>
          </a:prstGeom>
          <a:noFill/>
          <a:ln>
            <a:noFill/>
          </a:ln>
        </p:spPr>
        <p:txBody>
          <a:bodyPr anchorCtr="0" anchor="b" bIns="0" lIns="0" spcFirstLastPara="1" rIns="0" wrap="square" tIns="0">
            <a:noAutofit/>
          </a:bodyPr>
          <a:lstStyle>
            <a:lvl1pPr lvl="0" rtl="0">
              <a:lnSpc>
                <a:spcPct val="90000"/>
              </a:lnSpc>
              <a:spcBef>
                <a:spcPts val="0"/>
              </a:spcBef>
              <a:spcAft>
                <a:spcPts val="0"/>
              </a:spcAft>
              <a:buClr>
                <a:schemeClr val="dk1"/>
              </a:buClr>
              <a:buSzPts val="5600"/>
              <a:buFont typeface="Arial"/>
              <a:buNone/>
              <a:defRPr sz="5600"/>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74" name="Google Shape;74;p16"/>
          <p:cNvSpPr txBox="1"/>
          <p:nvPr>
            <p:ph idx="1" type="subTitle"/>
          </p:nvPr>
        </p:nvSpPr>
        <p:spPr>
          <a:xfrm>
            <a:off x="761809" y="3835400"/>
            <a:ext cx="6170100" cy="1224300"/>
          </a:xfrm>
          <a:prstGeom prst="rect">
            <a:avLst/>
          </a:prstGeom>
          <a:noFill/>
          <a:ln>
            <a:noFill/>
          </a:ln>
        </p:spPr>
        <p:txBody>
          <a:bodyPr anchorCtr="0" anchor="t" bIns="0" lIns="0" spcFirstLastPara="1" rIns="0" wrap="square" tIns="0">
            <a:noAutofit/>
          </a:bodyPr>
          <a:lstStyle>
            <a:lvl1pPr lvl="0" rtl="0">
              <a:lnSpc>
                <a:spcPct val="90000"/>
              </a:lnSpc>
              <a:spcBef>
                <a:spcPts val="1100"/>
              </a:spcBef>
              <a:spcAft>
                <a:spcPts val="0"/>
              </a:spcAft>
              <a:buClr>
                <a:schemeClr val="dk1"/>
              </a:buClr>
              <a:buSzPts val="3200"/>
              <a:buNone/>
              <a:defRPr sz="3200"/>
            </a:lvl1pPr>
            <a:lvl2pPr lvl="1" rtl="0" algn="ctr">
              <a:lnSpc>
                <a:spcPct val="90000"/>
              </a:lnSpc>
              <a:spcBef>
                <a:spcPts val="500"/>
              </a:spcBef>
              <a:spcAft>
                <a:spcPts val="0"/>
              </a:spcAft>
              <a:buClr>
                <a:schemeClr val="dk1"/>
              </a:buClr>
              <a:buSzPts val="2000"/>
              <a:buNone/>
              <a:defRPr sz="2000"/>
            </a:lvl2pPr>
            <a:lvl3pPr lvl="2" rtl="0" algn="ctr">
              <a:lnSpc>
                <a:spcPct val="90000"/>
              </a:lnSpc>
              <a:spcBef>
                <a:spcPts val="500"/>
              </a:spcBef>
              <a:spcAft>
                <a:spcPts val="0"/>
              </a:spcAft>
              <a:buClr>
                <a:schemeClr val="dk1"/>
              </a:buClr>
              <a:buSzPts val="1900"/>
              <a:buNone/>
              <a:defRPr sz="1900"/>
            </a:lvl3pPr>
            <a:lvl4pPr lvl="3" rtl="0" algn="ctr">
              <a:lnSpc>
                <a:spcPct val="90000"/>
              </a:lnSpc>
              <a:spcBef>
                <a:spcPts val="500"/>
              </a:spcBef>
              <a:spcAft>
                <a:spcPts val="0"/>
              </a:spcAft>
              <a:buClr>
                <a:schemeClr val="dk1"/>
              </a:buClr>
              <a:buSzPts val="1600"/>
              <a:buNone/>
              <a:defRPr sz="1600"/>
            </a:lvl4pPr>
            <a:lvl5pPr lvl="4" rtl="0" algn="ctr">
              <a:lnSpc>
                <a:spcPct val="90000"/>
              </a:lnSpc>
              <a:spcBef>
                <a:spcPts val="500"/>
              </a:spcBef>
              <a:spcAft>
                <a:spcPts val="0"/>
              </a:spcAft>
              <a:buClr>
                <a:schemeClr val="dk1"/>
              </a:buClr>
              <a:buSzPts val="1600"/>
              <a:buNone/>
              <a:defRPr sz="1600"/>
            </a:lvl5pPr>
            <a:lvl6pPr lvl="5" rtl="0" algn="ctr">
              <a:lnSpc>
                <a:spcPct val="90000"/>
              </a:lnSpc>
              <a:spcBef>
                <a:spcPts val="500"/>
              </a:spcBef>
              <a:spcAft>
                <a:spcPts val="0"/>
              </a:spcAft>
              <a:buClr>
                <a:schemeClr val="dk1"/>
              </a:buClr>
              <a:buSzPts val="1600"/>
              <a:buNone/>
              <a:defRPr sz="1600"/>
            </a:lvl6pPr>
            <a:lvl7pPr lvl="6" rtl="0" algn="ctr">
              <a:lnSpc>
                <a:spcPct val="90000"/>
              </a:lnSpc>
              <a:spcBef>
                <a:spcPts val="500"/>
              </a:spcBef>
              <a:spcAft>
                <a:spcPts val="0"/>
              </a:spcAft>
              <a:buClr>
                <a:schemeClr val="dk1"/>
              </a:buClr>
              <a:buSzPts val="1600"/>
              <a:buNone/>
              <a:defRPr sz="1600"/>
            </a:lvl7pPr>
            <a:lvl8pPr lvl="7" rtl="0" algn="ctr">
              <a:lnSpc>
                <a:spcPct val="90000"/>
              </a:lnSpc>
              <a:spcBef>
                <a:spcPts val="500"/>
              </a:spcBef>
              <a:spcAft>
                <a:spcPts val="0"/>
              </a:spcAft>
              <a:buClr>
                <a:schemeClr val="dk1"/>
              </a:buClr>
              <a:buSzPts val="1600"/>
              <a:buNone/>
              <a:defRPr sz="1600"/>
            </a:lvl8pPr>
            <a:lvl9pPr lvl="8" rtl="0" algn="ctr">
              <a:lnSpc>
                <a:spcPct val="90000"/>
              </a:lnSpc>
              <a:spcBef>
                <a:spcPts val="500"/>
              </a:spcBef>
              <a:spcAft>
                <a:spcPts val="0"/>
              </a:spcAft>
              <a:buClr>
                <a:schemeClr val="dk1"/>
              </a:buClr>
              <a:buSzPts val="1600"/>
              <a:buNone/>
              <a:defRPr sz="1600"/>
            </a:lvl9pPr>
          </a:lstStyle>
          <a:p/>
        </p:txBody>
      </p:sp>
      <p:pic>
        <p:nvPicPr>
          <p:cNvPr id="75" name="Google Shape;75;p16"/>
          <p:cNvPicPr preferRelativeResize="0"/>
          <p:nvPr/>
        </p:nvPicPr>
        <p:blipFill rotWithShape="1">
          <a:blip r:embed="rId2">
            <a:alphaModFix/>
          </a:blip>
          <a:srcRect b="0" l="0" r="0" t="0"/>
          <a:stretch/>
        </p:blipFill>
        <p:spPr>
          <a:xfrm>
            <a:off x="761808" y="609599"/>
            <a:ext cx="2558260" cy="405452"/>
          </a:xfrm>
          <a:prstGeom prst="rect">
            <a:avLst/>
          </a:prstGeom>
          <a:noFill/>
          <a:ln>
            <a:noFill/>
          </a:ln>
        </p:spPr>
      </p:pic>
      <p:cxnSp>
        <p:nvCxnSpPr>
          <p:cNvPr id="76" name="Google Shape;76;p16"/>
          <p:cNvCxnSpPr/>
          <p:nvPr/>
        </p:nvCxnSpPr>
        <p:spPr>
          <a:xfrm>
            <a:off x="761809" y="5617267"/>
            <a:ext cx="560400" cy="0"/>
          </a:xfrm>
          <a:prstGeom prst="straightConnector1">
            <a:avLst/>
          </a:prstGeom>
          <a:noFill/>
          <a:ln cap="flat" cmpd="sng" w="38100">
            <a:solidFill>
              <a:srgbClr val="FF6952"/>
            </a:solidFill>
            <a:prstDash val="solid"/>
            <a:round/>
            <a:headEnd len="med" w="med" type="none"/>
            <a:tailEnd len="med" w="med" type="none"/>
          </a:ln>
        </p:spPr>
      </p:cxnSp>
      <p:sp>
        <p:nvSpPr>
          <p:cNvPr id="77" name="Google Shape;77;p16"/>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lvl1pPr lvl="0" rtl="0">
              <a:spcBef>
                <a:spcPts val="1100"/>
              </a:spcBef>
              <a:spcAft>
                <a:spcPts val="0"/>
              </a:spcAft>
              <a:buClr>
                <a:schemeClr val="dk2"/>
              </a:buClr>
              <a:buSzPts val="1600"/>
              <a:buNone/>
              <a:defRPr sz="1600">
                <a:solidFill>
                  <a:schemeClr val="dk2"/>
                </a:solidFill>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78" name="Google Shape;78;p16"/>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Title Slide B - Dark">
  <p:cSld name="TITLE_1_1">
    <p:bg>
      <p:bgPr>
        <a:solidFill>
          <a:schemeClr val="dk1"/>
        </a:solidFill>
      </p:bgPr>
    </p:bg>
    <p:spTree>
      <p:nvGrpSpPr>
        <p:cNvPr id="79" name="Shape 79"/>
        <p:cNvGrpSpPr/>
        <p:nvPr/>
      </p:nvGrpSpPr>
      <p:grpSpPr>
        <a:xfrm>
          <a:off x="0" y="0"/>
          <a:ext cx="0" cy="0"/>
          <a:chOff x="0" y="0"/>
          <a:chExt cx="0" cy="0"/>
        </a:xfrm>
      </p:grpSpPr>
      <p:sp>
        <p:nvSpPr>
          <p:cNvPr id="80" name="Google Shape;80;p17"/>
          <p:cNvSpPr txBox="1"/>
          <p:nvPr>
            <p:ph type="ctrTitle"/>
          </p:nvPr>
        </p:nvSpPr>
        <p:spPr>
          <a:xfrm>
            <a:off x="761800" y="1186975"/>
            <a:ext cx="5332800" cy="2387700"/>
          </a:xfrm>
          <a:prstGeom prst="rect">
            <a:avLst/>
          </a:prstGeom>
          <a:noFill/>
          <a:ln>
            <a:noFill/>
          </a:ln>
        </p:spPr>
        <p:txBody>
          <a:bodyPr anchorCtr="0" anchor="b" bIns="0" lIns="0" spcFirstLastPara="1" rIns="0" wrap="square" tIns="0">
            <a:noAutofit/>
          </a:bodyPr>
          <a:lstStyle>
            <a:lvl1pPr lvl="0" rtl="0">
              <a:lnSpc>
                <a:spcPct val="90000"/>
              </a:lnSpc>
              <a:spcBef>
                <a:spcPts val="0"/>
              </a:spcBef>
              <a:spcAft>
                <a:spcPts val="0"/>
              </a:spcAft>
              <a:buClr>
                <a:schemeClr val="lt1"/>
              </a:buClr>
              <a:buSzPts val="5600"/>
              <a:buFont typeface="Arial"/>
              <a:buNone/>
              <a:defRPr sz="5600">
                <a:solidFill>
                  <a:schemeClr val="lt1"/>
                </a:solidFill>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81" name="Google Shape;81;p17"/>
          <p:cNvSpPr txBox="1"/>
          <p:nvPr>
            <p:ph idx="1" type="subTitle"/>
          </p:nvPr>
        </p:nvSpPr>
        <p:spPr>
          <a:xfrm>
            <a:off x="761809" y="3835400"/>
            <a:ext cx="6170100" cy="1224300"/>
          </a:xfrm>
          <a:prstGeom prst="rect">
            <a:avLst/>
          </a:prstGeom>
          <a:noFill/>
          <a:ln>
            <a:noFill/>
          </a:ln>
        </p:spPr>
        <p:txBody>
          <a:bodyPr anchorCtr="0" anchor="t" bIns="0" lIns="0" spcFirstLastPara="1" rIns="0" wrap="square" tIns="0">
            <a:noAutofit/>
          </a:bodyPr>
          <a:lstStyle>
            <a:lvl1pPr lvl="0" rtl="0">
              <a:lnSpc>
                <a:spcPct val="90000"/>
              </a:lnSpc>
              <a:spcBef>
                <a:spcPts val="1100"/>
              </a:spcBef>
              <a:spcAft>
                <a:spcPts val="0"/>
              </a:spcAft>
              <a:buClr>
                <a:schemeClr val="lt1"/>
              </a:buClr>
              <a:buSzPts val="3200"/>
              <a:buNone/>
              <a:defRPr sz="3200">
                <a:solidFill>
                  <a:schemeClr val="lt1"/>
                </a:solidFill>
              </a:defRPr>
            </a:lvl1pPr>
            <a:lvl2pPr lvl="1" rtl="0" algn="ctr">
              <a:lnSpc>
                <a:spcPct val="90000"/>
              </a:lnSpc>
              <a:spcBef>
                <a:spcPts val="500"/>
              </a:spcBef>
              <a:spcAft>
                <a:spcPts val="0"/>
              </a:spcAft>
              <a:buClr>
                <a:schemeClr val="dk1"/>
              </a:buClr>
              <a:buSzPts val="2000"/>
              <a:buNone/>
              <a:defRPr sz="2000"/>
            </a:lvl2pPr>
            <a:lvl3pPr lvl="2" rtl="0" algn="ctr">
              <a:lnSpc>
                <a:spcPct val="90000"/>
              </a:lnSpc>
              <a:spcBef>
                <a:spcPts val="500"/>
              </a:spcBef>
              <a:spcAft>
                <a:spcPts val="0"/>
              </a:spcAft>
              <a:buClr>
                <a:schemeClr val="dk1"/>
              </a:buClr>
              <a:buSzPts val="1900"/>
              <a:buNone/>
              <a:defRPr sz="1900"/>
            </a:lvl3pPr>
            <a:lvl4pPr lvl="3" rtl="0" algn="ctr">
              <a:lnSpc>
                <a:spcPct val="90000"/>
              </a:lnSpc>
              <a:spcBef>
                <a:spcPts val="500"/>
              </a:spcBef>
              <a:spcAft>
                <a:spcPts val="0"/>
              </a:spcAft>
              <a:buClr>
                <a:schemeClr val="dk1"/>
              </a:buClr>
              <a:buSzPts val="1600"/>
              <a:buNone/>
              <a:defRPr sz="1600"/>
            </a:lvl4pPr>
            <a:lvl5pPr lvl="4" rtl="0" algn="ctr">
              <a:lnSpc>
                <a:spcPct val="90000"/>
              </a:lnSpc>
              <a:spcBef>
                <a:spcPts val="500"/>
              </a:spcBef>
              <a:spcAft>
                <a:spcPts val="0"/>
              </a:spcAft>
              <a:buClr>
                <a:schemeClr val="dk1"/>
              </a:buClr>
              <a:buSzPts val="1600"/>
              <a:buNone/>
              <a:defRPr sz="1600"/>
            </a:lvl5pPr>
            <a:lvl6pPr lvl="5" rtl="0" algn="ctr">
              <a:lnSpc>
                <a:spcPct val="90000"/>
              </a:lnSpc>
              <a:spcBef>
                <a:spcPts val="500"/>
              </a:spcBef>
              <a:spcAft>
                <a:spcPts val="0"/>
              </a:spcAft>
              <a:buClr>
                <a:schemeClr val="dk1"/>
              </a:buClr>
              <a:buSzPts val="1600"/>
              <a:buNone/>
              <a:defRPr sz="1600"/>
            </a:lvl6pPr>
            <a:lvl7pPr lvl="6" rtl="0" algn="ctr">
              <a:lnSpc>
                <a:spcPct val="90000"/>
              </a:lnSpc>
              <a:spcBef>
                <a:spcPts val="500"/>
              </a:spcBef>
              <a:spcAft>
                <a:spcPts val="0"/>
              </a:spcAft>
              <a:buClr>
                <a:schemeClr val="dk1"/>
              </a:buClr>
              <a:buSzPts val="1600"/>
              <a:buNone/>
              <a:defRPr sz="1600"/>
            </a:lvl7pPr>
            <a:lvl8pPr lvl="7" rtl="0" algn="ctr">
              <a:lnSpc>
                <a:spcPct val="90000"/>
              </a:lnSpc>
              <a:spcBef>
                <a:spcPts val="500"/>
              </a:spcBef>
              <a:spcAft>
                <a:spcPts val="0"/>
              </a:spcAft>
              <a:buClr>
                <a:schemeClr val="dk1"/>
              </a:buClr>
              <a:buSzPts val="1600"/>
              <a:buNone/>
              <a:defRPr sz="1600"/>
            </a:lvl8pPr>
            <a:lvl9pPr lvl="8" rtl="0" algn="ctr">
              <a:lnSpc>
                <a:spcPct val="90000"/>
              </a:lnSpc>
              <a:spcBef>
                <a:spcPts val="500"/>
              </a:spcBef>
              <a:spcAft>
                <a:spcPts val="0"/>
              </a:spcAft>
              <a:buClr>
                <a:schemeClr val="dk1"/>
              </a:buClr>
              <a:buSzPts val="1600"/>
              <a:buNone/>
              <a:defRPr sz="1600"/>
            </a:lvl9pPr>
          </a:lstStyle>
          <a:p/>
        </p:txBody>
      </p:sp>
      <p:pic>
        <p:nvPicPr>
          <p:cNvPr id="82" name="Google Shape;82;p17"/>
          <p:cNvPicPr preferRelativeResize="0"/>
          <p:nvPr/>
        </p:nvPicPr>
        <p:blipFill>
          <a:blip r:embed="rId2">
            <a:alphaModFix/>
          </a:blip>
          <a:stretch>
            <a:fillRect/>
          </a:stretch>
        </p:blipFill>
        <p:spPr>
          <a:xfrm>
            <a:off x="761810" y="609606"/>
            <a:ext cx="2558261" cy="406974"/>
          </a:xfrm>
          <a:prstGeom prst="rect">
            <a:avLst/>
          </a:prstGeom>
          <a:noFill/>
          <a:ln>
            <a:noFill/>
          </a:ln>
        </p:spPr>
      </p:pic>
      <p:cxnSp>
        <p:nvCxnSpPr>
          <p:cNvPr id="83" name="Google Shape;83;p17"/>
          <p:cNvCxnSpPr/>
          <p:nvPr/>
        </p:nvCxnSpPr>
        <p:spPr>
          <a:xfrm>
            <a:off x="761809" y="5617267"/>
            <a:ext cx="560400" cy="0"/>
          </a:xfrm>
          <a:prstGeom prst="straightConnector1">
            <a:avLst/>
          </a:prstGeom>
          <a:noFill/>
          <a:ln cap="flat" cmpd="sng" w="38100">
            <a:solidFill>
              <a:srgbClr val="FF6952"/>
            </a:solidFill>
            <a:prstDash val="solid"/>
            <a:round/>
            <a:headEnd len="med" w="med" type="none"/>
            <a:tailEnd len="med" w="med" type="none"/>
          </a:ln>
        </p:spPr>
      </p:cxnSp>
      <p:sp>
        <p:nvSpPr>
          <p:cNvPr id="84" name="Google Shape;84;p17"/>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lvl1pPr lvl="0" rtl="0">
              <a:spcBef>
                <a:spcPts val="1100"/>
              </a:spcBef>
              <a:spcAft>
                <a:spcPts val="0"/>
              </a:spcAft>
              <a:buClr>
                <a:schemeClr val="lt2"/>
              </a:buClr>
              <a:buSzPts val="1600"/>
              <a:buNone/>
              <a:defRPr sz="1600">
                <a:solidFill>
                  <a:schemeClr val="lt2"/>
                </a:solidFill>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85" name="Google Shape;85;p17"/>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ference Architecture layout">
  <p:cSld name="OBJECT_1_1_1">
    <p:bg>
      <p:bgPr>
        <a:solidFill>
          <a:srgbClr val="FFFFFF"/>
        </a:solidFill>
      </p:bgPr>
    </p:bg>
    <p:spTree>
      <p:nvGrpSpPr>
        <p:cNvPr id="86" name="Shape 86"/>
        <p:cNvGrpSpPr/>
        <p:nvPr/>
      </p:nvGrpSpPr>
      <p:grpSpPr>
        <a:xfrm>
          <a:off x="0" y="0"/>
          <a:ext cx="0" cy="0"/>
          <a:chOff x="0" y="0"/>
          <a:chExt cx="0" cy="0"/>
        </a:xfrm>
      </p:grpSpPr>
      <p:sp>
        <p:nvSpPr>
          <p:cNvPr id="87" name="Google Shape;87;p18"/>
          <p:cNvSpPr txBox="1"/>
          <p:nvPr>
            <p:ph type="title"/>
          </p:nvPr>
        </p:nvSpPr>
        <p:spPr>
          <a:xfrm>
            <a:off x="749245" y="230797"/>
            <a:ext cx="10659300" cy="583500"/>
          </a:xfrm>
          <a:prstGeom prst="rect">
            <a:avLst/>
          </a:prstGeom>
          <a:noFill/>
          <a:ln>
            <a:noFill/>
          </a:ln>
        </p:spPr>
        <p:txBody>
          <a:bodyPr anchorCtr="0" anchor="ctr" bIns="0" lIns="0" spcFirstLastPara="1" rIns="0" wrap="square" tIns="0">
            <a:noAutofit/>
          </a:bodyPr>
          <a:lstStyle>
            <a:lvl1pPr lvl="0" marR="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88" name="Google Shape;88;p18"/>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9" name="Google Shape;89;p18"/>
          <p:cNvSpPr/>
          <p:nvPr/>
        </p:nvSpPr>
        <p:spPr>
          <a:xfrm>
            <a:off x="10497579" y="968002"/>
            <a:ext cx="1044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Users</a:t>
            </a:r>
            <a:endParaRPr sz="1300">
              <a:solidFill>
                <a:srgbClr val="434343"/>
              </a:solidFill>
              <a:latin typeface="DM Sans SemiBold"/>
              <a:ea typeface="DM Sans SemiBold"/>
              <a:cs typeface="DM Sans SemiBold"/>
              <a:sym typeface="DM Sans SemiBold"/>
            </a:endParaRPr>
          </a:p>
        </p:txBody>
      </p:sp>
      <p:cxnSp>
        <p:nvCxnSpPr>
          <p:cNvPr id="90" name="Google Shape;90;p18"/>
          <p:cNvCxnSpPr/>
          <p:nvPr/>
        </p:nvCxnSpPr>
        <p:spPr>
          <a:xfrm>
            <a:off x="10391950" y="979075"/>
            <a:ext cx="0" cy="4573200"/>
          </a:xfrm>
          <a:prstGeom prst="straightConnector1">
            <a:avLst/>
          </a:prstGeom>
          <a:noFill/>
          <a:ln cap="flat" cmpd="sng" w="9525">
            <a:solidFill>
              <a:srgbClr val="1B5162"/>
            </a:solidFill>
            <a:prstDash val="dash"/>
            <a:round/>
            <a:headEnd len="med" w="med" type="none"/>
            <a:tailEnd len="med" w="med" type="none"/>
          </a:ln>
        </p:spPr>
      </p:cxnSp>
      <p:sp>
        <p:nvSpPr>
          <p:cNvPr id="91" name="Google Shape;91;p18"/>
          <p:cNvSpPr/>
          <p:nvPr/>
        </p:nvSpPr>
        <p:spPr>
          <a:xfrm>
            <a:off x="4664825" y="1368050"/>
            <a:ext cx="5601300" cy="2816700"/>
          </a:xfrm>
          <a:prstGeom prst="roundRect">
            <a:avLst>
              <a:gd fmla="val 4007" name="adj"/>
            </a:avLst>
          </a:prstGeom>
          <a:solidFill>
            <a:srgbClr val="1B516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92" name="Google Shape;92;p18"/>
          <p:cNvSpPr/>
          <p:nvPr/>
        </p:nvSpPr>
        <p:spPr>
          <a:xfrm>
            <a:off x="1921625" y="1368050"/>
            <a:ext cx="3586200" cy="2199600"/>
          </a:xfrm>
          <a:prstGeom prst="roundRect">
            <a:avLst>
              <a:gd fmla="val 4007" name="adj"/>
            </a:avLst>
          </a:prstGeom>
          <a:solidFill>
            <a:srgbClr val="1B516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93" name="Google Shape;93;p18"/>
          <p:cNvSpPr/>
          <p:nvPr/>
        </p:nvSpPr>
        <p:spPr>
          <a:xfrm>
            <a:off x="3183025" y="1368050"/>
            <a:ext cx="4943100" cy="4195200"/>
          </a:xfrm>
          <a:prstGeom prst="roundRect">
            <a:avLst>
              <a:gd fmla="val 2026" name="adj"/>
            </a:avLst>
          </a:prstGeom>
          <a:solidFill>
            <a:srgbClr val="1B516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618794"/>
              </a:solidFill>
              <a:latin typeface="DM Sans"/>
              <a:ea typeface="DM Sans"/>
              <a:cs typeface="DM Sans"/>
              <a:sym typeface="DM Sans"/>
            </a:endParaRPr>
          </a:p>
        </p:txBody>
      </p:sp>
      <p:sp>
        <p:nvSpPr>
          <p:cNvPr id="94" name="Google Shape;94;p18"/>
          <p:cNvSpPr/>
          <p:nvPr/>
        </p:nvSpPr>
        <p:spPr>
          <a:xfrm>
            <a:off x="3247450" y="2227650"/>
            <a:ext cx="5802600" cy="668400"/>
          </a:xfrm>
          <a:prstGeom prst="roundRect">
            <a:avLst>
              <a:gd fmla="val 10905" name="adj"/>
            </a:avLst>
          </a:prstGeom>
          <a:solidFill>
            <a:srgbClr val="FFFFFF"/>
          </a:solidFill>
          <a:ln>
            <a:noFill/>
          </a:ln>
        </p:spPr>
        <p:txBody>
          <a:bodyPr anchorCtr="0" anchor="t" bIns="0" lIns="0" spcFirstLastPara="1" rIns="0" wrap="square" tIns="0">
            <a:noAutofit/>
          </a:bodyPr>
          <a:lstStyle/>
          <a:p>
            <a:pPr indent="0" lvl="0" marL="0" marR="40661" rtl="0" algn="ctr">
              <a:lnSpc>
                <a:spcPct val="100000"/>
              </a:lnSpc>
              <a:spcBef>
                <a:spcPts val="0"/>
              </a:spcBef>
              <a:spcAft>
                <a:spcPts val="0"/>
              </a:spcAft>
              <a:buNone/>
            </a:pPr>
            <a:r>
              <a:rPr lang="en" sz="1100">
                <a:solidFill>
                  <a:srgbClr val="618794"/>
                </a:solidFill>
                <a:latin typeface="DM Sans Medium"/>
                <a:ea typeface="DM Sans Medium"/>
                <a:cs typeface="DM Sans Medium"/>
                <a:sym typeface="DM Sans Medium"/>
              </a:rPr>
              <a:t>Data Science and AI / ML - Mosaic AI</a:t>
            </a:r>
            <a:endParaRPr sz="1100">
              <a:solidFill>
                <a:srgbClr val="618794"/>
              </a:solidFill>
              <a:latin typeface="DM Sans Medium"/>
              <a:ea typeface="DM Sans Medium"/>
              <a:cs typeface="DM Sans Medium"/>
              <a:sym typeface="DM Sans Medium"/>
            </a:endParaRPr>
          </a:p>
          <a:p>
            <a:pPr indent="0" lvl="0" marL="457200" marR="0" rtl="0" algn="ctr">
              <a:lnSpc>
                <a:spcPct val="100000"/>
              </a:lnSpc>
              <a:spcBef>
                <a:spcPts val="0"/>
              </a:spcBef>
              <a:spcAft>
                <a:spcPts val="0"/>
              </a:spcAft>
              <a:buNone/>
            </a:pPr>
            <a:r>
              <a:t/>
            </a:r>
            <a:endParaRPr sz="1100">
              <a:solidFill>
                <a:srgbClr val="618794"/>
              </a:solidFill>
              <a:latin typeface="DM Sans Medium"/>
              <a:ea typeface="DM Sans Medium"/>
              <a:cs typeface="DM Sans Medium"/>
              <a:sym typeface="DM Sans Medium"/>
            </a:endParaRPr>
          </a:p>
        </p:txBody>
      </p:sp>
      <p:sp>
        <p:nvSpPr>
          <p:cNvPr id="95" name="Google Shape;95;p18"/>
          <p:cNvSpPr/>
          <p:nvPr/>
        </p:nvSpPr>
        <p:spPr>
          <a:xfrm>
            <a:off x="3247450" y="4807025"/>
            <a:ext cx="3380100" cy="699900"/>
          </a:xfrm>
          <a:prstGeom prst="roundRect">
            <a:avLst>
              <a:gd fmla="val 13083"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618794"/>
                </a:solidFill>
                <a:latin typeface="DM Sans Medium"/>
                <a:ea typeface="DM Sans Medium"/>
                <a:cs typeface="DM Sans Medium"/>
                <a:sym typeface="DM Sans Medium"/>
              </a:rPr>
              <a:t>Data Management</a:t>
            </a:r>
            <a:endParaRPr sz="1100">
              <a:solidFill>
                <a:srgbClr val="618794"/>
              </a:solidFill>
              <a:latin typeface="DM Sans Medium"/>
              <a:ea typeface="DM Sans Medium"/>
              <a:cs typeface="DM Sans Medium"/>
              <a:sym typeface="DM Sans Medium"/>
            </a:endParaRPr>
          </a:p>
        </p:txBody>
      </p:sp>
      <p:sp>
        <p:nvSpPr>
          <p:cNvPr id="96" name="Google Shape;96;p18"/>
          <p:cNvSpPr/>
          <p:nvPr/>
        </p:nvSpPr>
        <p:spPr>
          <a:xfrm>
            <a:off x="6679225" y="4806950"/>
            <a:ext cx="1388100" cy="699900"/>
          </a:xfrm>
          <a:prstGeom prst="roundRect">
            <a:avLst>
              <a:gd fmla="val 11862"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618794"/>
                </a:solidFill>
                <a:latin typeface="DM Sans Medium"/>
                <a:ea typeface="DM Sans Medium"/>
                <a:cs typeface="DM Sans Medium"/>
                <a:sym typeface="DM Sans Medium"/>
              </a:rPr>
              <a:t>Collaboration</a:t>
            </a:r>
            <a:endParaRPr sz="1100">
              <a:solidFill>
                <a:srgbClr val="618794"/>
              </a:solidFill>
              <a:latin typeface="DM Sans Medium"/>
              <a:ea typeface="DM Sans Medium"/>
              <a:cs typeface="DM Sans Medium"/>
              <a:sym typeface="DM Sans Medium"/>
            </a:endParaRPr>
          </a:p>
        </p:txBody>
      </p:sp>
      <p:sp>
        <p:nvSpPr>
          <p:cNvPr id="97" name="Google Shape;97;p18"/>
          <p:cNvSpPr/>
          <p:nvPr/>
        </p:nvSpPr>
        <p:spPr>
          <a:xfrm>
            <a:off x="4267154" y="6159917"/>
            <a:ext cx="1076700" cy="215400"/>
          </a:xfrm>
          <a:prstGeom prst="rect">
            <a:avLst/>
          </a:prstGeom>
          <a:solidFill>
            <a:srgbClr val="D9D9D9"/>
          </a:solidFill>
          <a:ln>
            <a:noFill/>
          </a:ln>
        </p:spPr>
        <p:txBody>
          <a:bodyPr anchorCtr="0" anchor="ctr" bIns="146275" lIns="182850" spcFirstLastPara="1" rIns="18285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Stor</a:t>
            </a:r>
            <a:r>
              <a:rPr lang="en" sz="1300">
                <a:solidFill>
                  <a:srgbClr val="434343"/>
                </a:solidFill>
                <a:latin typeface="DM Sans SemiBold"/>
                <a:ea typeface="DM Sans SemiBold"/>
                <a:cs typeface="DM Sans SemiBold"/>
                <a:sym typeface="DM Sans SemiBold"/>
              </a:rPr>
              <a:t>age</a:t>
            </a:r>
            <a:endParaRPr i="0" sz="1300" u="none" cap="none" strike="noStrike">
              <a:solidFill>
                <a:srgbClr val="434343"/>
              </a:solidFill>
              <a:latin typeface="DM Sans SemiBold"/>
              <a:ea typeface="DM Sans SemiBold"/>
              <a:cs typeface="DM Sans SemiBold"/>
              <a:sym typeface="DM Sans SemiBold"/>
            </a:endParaRPr>
          </a:p>
        </p:txBody>
      </p:sp>
      <p:sp>
        <p:nvSpPr>
          <p:cNvPr id="98" name="Google Shape;98;p18"/>
          <p:cNvSpPr/>
          <p:nvPr/>
        </p:nvSpPr>
        <p:spPr>
          <a:xfrm>
            <a:off x="3247450" y="2955537"/>
            <a:ext cx="3380100" cy="553800"/>
          </a:xfrm>
          <a:prstGeom prst="roundRect">
            <a:avLst>
              <a:gd fmla="val 14028"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618794"/>
                </a:solidFill>
                <a:latin typeface="DM Sans Medium"/>
                <a:ea typeface="DM Sans Medium"/>
                <a:cs typeface="DM Sans Medium"/>
                <a:sym typeface="DM Sans Medium"/>
              </a:rPr>
              <a:t>Data Engineering and Processing</a:t>
            </a:r>
            <a:endParaRPr sz="1100">
              <a:solidFill>
                <a:srgbClr val="618794"/>
              </a:solidFill>
              <a:latin typeface="DM Sans Medium"/>
              <a:ea typeface="DM Sans Medium"/>
              <a:cs typeface="DM Sans Medium"/>
              <a:sym typeface="DM Sans Medium"/>
            </a:endParaRPr>
          </a:p>
        </p:txBody>
      </p:sp>
      <p:sp>
        <p:nvSpPr>
          <p:cNvPr id="99" name="Google Shape;99;p18"/>
          <p:cNvSpPr/>
          <p:nvPr/>
        </p:nvSpPr>
        <p:spPr>
          <a:xfrm>
            <a:off x="3247450" y="4188200"/>
            <a:ext cx="4819800" cy="557700"/>
          </a:xfrm>
          <a:prstGeom prst="roundRect">
            <a:avLst>
              <a:gd fmla="val 12987"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Clr>
                <a:srgbClr val="000000"/>
              </a:buClr>
              <a:buSzPts val="900"/>
              <a:buFont typeface="Arial"/>
              <a:buNone/>
            </a:pPr>
            <a:r>
              <a:rPr lang="en" sz="1100">
                <a:solidFill>
                  <a:srgbClr val="618794"/>
                </a:solidFill>
                <a:latin typeface="DM Sans Medium"/>
                <a:ea typeface="DM Sans Medium"/>
                <a:cs typeface="DM Sans Medium"/>
                <a:sym typeface="DM Sans Medium"/>
              </a:rPr>
              <a:t>   Data and AI Governance - Unity Catalog</a:t>
            </a:r>
            <a:endParaRPr sz="1100">
              <a:solidFill>
                <a:srgbClr val="618794"/>
              </a:solidFill>
              <a:latin typeface="DM Sans Medium"/>
              <a:ea typeface="DM Sans Medium"/>
              <a:cs typeface="DM Sans Medium"/>
              <a:sym typeface="DM Sans Medium"/>
            </a:endParaRPr>
          </a:p>
        </p:txBody>
      </p:sp>
      <p:sp>
        <p:nvSpPr>
          <p:cNvPr id="100" name="Google Shape;100;p18"/>
          <p:cNvSpPr/>
          <p:nvPr/>
        </p:nvSpPr>
        <p:spPr>
          <a:xfrm>
            <a:off x="1989525" y="2227675"/>
            <a:ext cx="1187100" cy="1281600"/>
          </a:xfrm>
          <a:prstGeom prst="roundRect">
            <a:avLst>
              <a:gd fmla="val 7158" name="adj"/>
            </a:avLst>
          </a:prstGeom>
          <a:solidFill>
            <a:srgbClr val="FFFFFF"/>
          </a:solid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None/>
            </a:pPr>
            <a:r>
              <a:rPr lang="en" sz="1100">
                <a:solidFill>
                  <a:srgbClr val="618794"/>
                </a:solidFill>
                <a:latin typeface="DM Sans Medium"/>
                <a:ea typeface="DM Sans Medium"/>
                <a:cs typeface="DM Sans Medium"/>
                <a:sym typeface="DM Sans Medium"/>
              </a:rPr>
              <a:t>Batch and Streaming</a:t>
            </a:r>
            <a:endParaRPr sz="1100">
              <a:solidFill>
                <a:srgbClr val="618794"/>
              </a:solidFill>
              <a:latin typeface="DM Sans Medium"/>
              <a:ea typeface="DM Sans Medium"/>
              <a:cs typeface="DM Sans Medium"/>
              <a:sym typeface="DM Sans Medium"/>
            </a:endParaRPr>
          </a:p>
        </p:txBody>
      </p:sp>
      <p:sp>
        <p:nvSpPr>
          <p:cNvPr id="101" name="Google Shape;101;p18"/>
          <p:cNvSpPr/>
          <p:nvPr/>
        </p:nvSpPr>
        <p:spPr>
          <a:xfrm>
            <a:off x="6687250" y="2955537"/>
            <a:ext cx="2370900" cy="553800"/>
          </a:xfrm>
          <a:prstGeom prst="roundRect">
            <a:avLst>
              <a:gd fmla="val 15048"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618794"/>
                </a:solidFill>
                <a:latin typeface="DM Sans Medium"/>
                <a:ea typeface="DM Sans Medium"/>
                <a:cs typeface="DM Sans Medium"/>
                <a:sym typeface="DM Sans Medium"/>
              </a:rPr>
              <a:t>Data Warehousing</a:t>
            </a:r>
            <a:endParaRPr sz="1100">
              <a:solidFill>
                <a:srgbClr val="618794"/>
              </a:solidFill>
              <a:latin typeface="DM Sans Medium"/>
              <a:ea typeface="DM Sans Medium"/>
              <a:cs typeface="DM Sans Medium"/>
              <a:sym typeface="DM Sans Medium"/>
            </a:endParaRPr>
          </a:p>
        </p:txBody>
      </p:sp>
      <p:grpSp>
        <p:nvGrpSpPr>
          <p:cNvPr id="102" name="Google Shape;102;p18"/>
          <p:cNvGrpSpPr/>
          <p:nvPr/>
        </p:nvGrpSpPr>
        <p:grpSpPr>
          <a:xfrm rot="-5400000">
            <a:off x="8118194" y="4175940"/>
            <a:ext cx="198576" cy="208513"/>
            <a:chOff x="3295749" y="3922446"/>
            <a:chExt cx="198576" cy="208513"/>
          </a:xfrm>
        </p:grpSpPr>
        <p:sp>
          <p:nvSpPr>
            <p:cNvPr id="103" name="Google Shape;103;p18"/>
            <p:cNvSpPr/>
            <p:nvPr/>
          </p:nvSpPr>
          <p:spPr>
            <a:xfrm>
              <a:off x="3391125" y="3922446"/>
              <a:ext cx="103200" cy="114600"/>
            </a:xfrm>
            <a:prstGeom prst="rect">
              <a:avLst/>
            </a:prstGeom>
            <a:solidFill>
              <a:srgbClr val="1B516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04" name="Google Shape;104;p18"/>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105" name="Google Shape;105;p18"/>
          <p:cNvSpPr txBox="1"/>
          <p:nvPr/>
        </p:nvSpPr>
        <p:spPr>
          <a:xfrm>
            <a:off x="5216667" y="1442036"/>
            <a:ext cx="2432400" cy="215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a:solidFill>
                  <a:srgbClr val="FFFFFF"/>
                </a:solidFill>
                <a:latin typeface="DM Sans SemiBold"/>
                <a:ea typeface="DM Sans SemiBold"/>
                <a:cs typeface="DM Sans SemiBold"/>
                <a:sym typeface="DM Sans SemiBold"/>
              </a:rPr>
              <a:t>Data Intelligence Platform</a:t>
            </a:r>
            <a:endParaRPr>
              <a:solidFill>
                <a:srgbClr val="FFFFFF"/>
              </a:solidFill>
              <a:latin typeface="DM Sans SemiBold"/>
              <a:ea typeface="DM Sans SemiBold"/>
              <a:cs typeface="DM Sans SemiBold"/>
              <a:sym typeface="DM Sans SemiBold"/>
            </a:endParaRPr>
          </a:p>
        </p:txBody>
      </p:sp>
      <p:sp>
        <p:nvSpPr>
          <p:cNvPr id="106" name="Google Shape;106;p18"/>
          <p:cNvSpPr/>
          <p:nvPr/>
        </p:nvSpPr>
        <p:spPr>
          <a:xfrm>
            <a:off x="1921625" y="967225"/>
            <a:ext cx="12549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Ingest</a:t>
            </a:r>
            <a:endParaRPr i="0" sz="1300" u="none" cap="none" strike="noStrike">
              <a:solidFill>
                <a:srgbClr val="434343"/>
              </a:solidFill>
              <a:latin typeface="DM Sans SemiBold"/>
              <a:ea typeface="DM Sans SemiBold"/>
              <a:cs typeface="DM Sans SemiBold"/>
              <a:sym typeface="DM Sans SemiBold"/>
            </a:endParaRPr>
          </a:p>
        </p:txBody>
      </p:sp>
      <p:sp>
        <p:nvSpPr>
          <p:cNvPr id="107" name="Google Shape;107;p18"/>
          <p:cNvSpPr/>
          <p:nvPr/>
        </p:nvSpPr>
        <p:spPr>
          <a:xfrm>
            <a:off x="3247450" y="966700"/>
            <a:ext cx="13434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Transform</a:t>
            </a:r>
            <a:endParaRPr i="0" sz="1300" u="none" cap="none" strike="noStrike">
              <a:solidFill>
                <a:srgbClr val="434343"/>
              </a:solidFill>
              <a:latin typeface="DM Sans SemiBold"/>
              <a:ea typeface="DM Sans SemiBold"/>
              <a:cs typeface="DM Sans SemiBold"/>
              <a:sym typeface="DM Sans SemiBold"/>
            </a:endParaRPr>
          </a:p>
        </p:txBody>
      </p:sp>
      <p:sp>
        <p:nvSpPr>
          <p:cNvPr id="108" name="Google Shape;108;p18"/>
          <p:cNvSpPr/>
          <p:nvPr/>
        </p:nvSpPr>
        <p:spPr>
          <a:xfrm>
            <a:off x="9122275" y="968000"/>
            <a:ext cx="1152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Analyse</a:t>
            </a:r>
            <a:endParaRPr i="0" sz="1300" u="none" cap="none" strike="noStrike">
              <a:solidFill>
                <a:srgbClr val="434343"/>
              </a:solidFill>
              <a:latin typeface="DM Sans SemiBold"/>
              <a:ea typeface="DM Sans SemiBold"/>
              <a:cs typeface="DM Sans SemiBold"/>
              <a:sym typeface="DM Sans SemiBold"/>
            </a:endParaRPr>
          </a:p>
        </p:txBody>
      </p:sp>
      <p:sp>
        <p:nvSpPr>
          <p:cNvPr id="109" name="Google Shape;109;p18"/>
          <p:cNvSpPr/>
          <p:nvPr/>
        </p:nvSpPr>
        <p:spPr>
          <a:xfrm>
            <a:off x="766854" y="967794"/>
            <a:ext cx="10821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Sources</a:t>
            </a:r>
            <a:endParaRPr i="0" sz="1300" u="none" cap="none" strike="noStrike">
              <a:solidFill>
                <a:srgbClr val="434343"/>
              </a:solidFill>
              <a:latin typeface="DM Sans SemiBold"/>
              <a:ea typeface="DM Sans SemiBold"/>
              <a:cs typeface="DM Sans SemiBold"/>
              <a:sym typeface="DM Sans SemiBold"/>
            </a:endParaRPr>
          </a:p>
        </p:txBody>
      </p:sp>
      <p:sp>
        <p:nvSpPr>
          <p:cNvPr id="110" name="Google Shape;110;p18"/>
          <p:cNvSpPr/>
          <p:nvPr/>
        </p:nvSpPr>
        <p:spPr>
          <a:xfrm>
            <a:off x="8977121" y="4083498"/>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11" name="Google Shape;111;p18"/>
          <p:cNvSpPr/>
          <p:nvPr/>
        </p:nvSpPr>
        <p:spPr>
          <a:xfrm>
            <a:off x="8524112" y="4091357"/>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112" name="Google Shape;112;p18"/>
          <p:cNvPicPr preferRelativeResize="0"/>
          <p:nvPr/>
        </p:nvPicPr>
        <p:blipFill>
          <a:blip r:embed="rId2">
            <a:alphaModFix/>
          </a:blip>
          <a:stretch>
            <a:fillRect/>
          </a:stretch>
        </p:blipFill>
        <p:spPr>
          <a:xfrm>
            <a:off x="4998129" y="1403077"/>
            <a:ext cx="259650" cy="279625"/>
          </a:xfrm>
          <a:prstGeom prst="rect">
            <a:avLst/>
          </a:prstGeom>
          <a:noFill/>
          <a:ln>
            <a:noFill/>
          </a:ln>
        </p:spPr>
      </p:pic>
      <p:sp>
        <p:nvSpPr>
          <p:cNvPr id="113" name="Google Shape;113;p18"/>
          <p:cNvSpPr/>
          <p:nvPr/>
        </p:nvSpPr>
        <p:spPr>
          <a:xfrm>
            <a:off x="4104084" y="5456905"/>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14" name="Google Shape;114;p18"/>
          <p:cNvSpPr txBox="1"/>
          <p:nvPr/>
        </p:nvSpPr>
        <p:spPr>
          <a:xfrm>
            <a:off x="3604640" y="5368804"/>
            <a:ext cx="38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bronze</a:t>
            </a:r>
            <a:endParaRPr sz="800">
              <a:solidFill>
                <a:srgbClr val="1B5162"/>
              </a:solidFill>
              <a:latin typeface="DM Sans"/>
              <a:ea typeface="DM Sans"/>
              <a:cs typeface="DM Sans"/>
              <a:sym typeface="DM Sans"/>
            </a:endParaRPr>
          </a:p>
        </p:txBody>
      </p:sp>
      <p:sp>
        <p:nvSpPr>
          <p:cNvPr id="115" name="Google Shape;115;p18"/>
          <p:cNvSpPr txBox="1"/>
          <p:nvPr/>
        </p:nvSpPr>
        <p:spPr>
          <a:xfrm>
            <a:off x="4568673" y="5368804"/>
            <a:ext cx="29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silver</a:t>
            </a:r>
            <a:endParaRPr sz="800">
              <a:solidFill>
                <a:srgbClr val="1B5162"/>
              </a:solidFill>
              <a:latin typeface="DM Sans"/>
              <a:ea typeface="DM Sans"/>
              <a:cs typeface="DM Sans"/>
              <a:sym typeface="DM Sans"/>
            </a:endParaRPr>
          </a:p>
        </p:txBody>
      </p:sp>
      <p:sp>
        <p:nvSpPr>
          <p:cNvPr id="116" name="Google Shape;116;p18"/>
          <p:cNvSpPr txBox="1"/>
          <p:nvPr/>
        </p:nvSpPr>
        <p:spPr>
          <a:xfrm>
            <a:off x="5478569" y="5368804"/>
            <a:ext cx="2556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gold</a:t>
            </a:r>
            <a:endParaRPr sz="800">
              <a:solidFill>
                <a:srgbClr val="1B5162"/>
              </a:solidFill>
              <a:latin typeface="DM Sans"/>
              <a:ea typeface="DM Sans"/>
              <a:cs typeface="DM Sans"/>
              <a:sym typeface="DM Sans"/>
            </a:endParaRPr>
          </a:p>
        </p:txBody>
      </p:sp>
      <p:sp>
        <p:nvSpPr>
          <p:cNvPr id="117" name="Google Shape;117;p18"/>
          <p:cNvSpPr/>
          <p:nvPr/>
        </p:nvSpPr>
        <p:spPr>
          <a:xfrm>
            <a:off x="3985831" y="5387864"/>
            <a:ext cx="182100" cy="92525"/>
          </a:xfrm>
          <a:prstGeom prst="flowChartMagneticDisk">
            <a:avLst/>
          </a:prstGeom>
          <a:solidFill>
            <a:srgbClr val="BF897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118" name="Google Shape;118;p18"/>
          <p:cNvSpPr/>
          <p:nvPr/>
        </p:nvSpPr>
        <p:spPr>
          <a:xfrm>
            <a:off x="4875527" y="5387864"/>
            <a:ext cx="182100" cy="92525"/>
          </a:xfrm>
          <a:prstGeom prst="flowChartMagneticDisk">
            <a:avLst/>
          </a:prstGeom>
          <a:solidFill>
            <a:srgbClr val="C0C0C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119" name="Google Shape;119;p18"/>
          <p:cNvSpPr/>
          <p:nvPr/>
        </p:nvSpPr>
        <p:spPr>
          <a:xfrm>
            <a:off x="5752031" y="5387864"/>
            <a:ext cx="182100" cy="92525"/>
          </a:xfrm>
          <a:prstGeom prst="flowChartMagneticDisk">
            <a:avLst/>
          </a:prstGeom>
          <a:solidFill>
            <a:srgbClr val="D4AF37"/>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120" name="Google Shape;120;p18"/>
          <p:cNvSpPr/>
          <p:nvPr/>
        </p:nvSpPr>
        <p:spPr>
          <a:xfrm>
            <a:off x="3247450" y="3574037"/>
            <a:ext cx="3380100" cy="557700"/>
          </a:xfrm>
          <a:prstGeom prst="roundRect">
            <a:avLst>
              <a:gd fmla="val 14501"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None/>
            </a:pPr>
            <a:r>
              <a:rPr lang="en" sz="1100">
                <a:solidFill>
                  <a:srgbClr val="618794"/>
                </a:solidFill>
                <a:latin typeface="DM Sans Medium"/>
                <a:ea typeface="DM Sans Medium"/>
                <a:cs typeface="DM Sans Medium"/>
                <a:sym typeface="DM Sans Medium"/>
              </a:rPr>
              <a:t>Data Intelligence</a:t>
            </a:r>
            <a:endParaRPr sz="1100">
              <a:solidFill>
                <a:srgbClr val="618794"/>
              </a:solidFill>
              <a:latin typeface="DM Sans Medium"/>
              <a:ea typeface="DM Sans Medium"/>
              <a:cs typeface="DM Sans Medium"/>
              <a:sym typeface="DM Sans Medium"/>
            </a:endParaRPr>
          </a:p>
        </p:txBody>
      </p:sp>
      <p:sp>
        <p:nvSpPr>
          <p:cNvPr id="121" name="Google Shape;121;p18"/>
          <p:cNvSpPr/>
          <p:nvPr/>
        </p:nvSpPr>
        <p:spPr>
          <a:xfrm>
            <a:off x="6679225" y="968000"/>
            <a:ext cx="2370900" cy="2154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Serve</a:t>
            </a:r>
            <a:endParaRPr i="0" sz="1300" u="none" cap="none" strike="noStrike">
              <a:solidFill>
                <a:srgbClr val="434343"/>
              </a:solidFill>
              <a:latin typeface="DM Sans SemiBold"/>
              <a:ea typeface="DM Sans SemiBold"/>
              <a:cs typeface="DM Sans SemiBold"/>
              <a:sym typeface="DM Sans SemiBold"/>
            </a:endParaRPr>
          </a:p>
        </p:txBody>
      </p:sp>
      <p:sp>
        <p:nvSpPr>
          <p:cNvPr id="122" name="Google Shape;122;p18"/>
          <p:cNvSpPr/>
          <p:nvPr/>
        </p:nvSpPr>
        <p:spPr>
          <a:xfrm>
            <a:off x="4655880" y="967735"/>
            <a:ext cx="1938000" cy="2160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Query / Process</a:t>
            </a:r>
            <a:endParaRPr i="0" sz="1300" u="none" cap="none" strike="noStrike">
              <a:solidFill>
                <a:srgbClr val="434343"/>
              </a:solidFill>
              <a:latin typeface="DM Sans SemiBold"/>
              <a:ea typeface="DM Sans SemiBold"/>
              <a:cs typeface="DM Sans SemiBold"/>
              <a:sym typeface="DM Sans SemiBold"/>
            </a:endParaRPr>
          </a:p>
        </p:txBody>
      </p:sp>
      <p:sp>
        <p:nvSpPr>
          <p:cNvPr id="123" name="Google Shape;123;p18"/>
          <p:cNvSpPr/>
          <p:nvPr/>
        </p:nvSpPr>
        <p:spPr>
          <a:xfrm>
            <a:off x="9133775" y="2227875"/>
            <a:ext cx="1082100" cy="1281600"/>
          </a:xfrm>
          <a:prstGeom prst="roundRect">
            <a:avLst>
              <a:gd fmla="val 6450"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618794"/>
                </a:solidFill>
                <a:latin typeface="DM Sans Medium"/>
                <a:ea typeface="DM Sans Medium"/>
                <a:cs typeface="DM Sans Medium"/>
                <a:sym typeface="DM Sans Medium"/>
              </a:rPr>
              <a:t>AI/BI</a:t>
            </a:r>
            <a:endParaRPr sz="1100">
              <a:solidFill>
                <a:srgbClr val="618794"/>
              </a:solidFill>
              <a:latin typeface="DM Sans Medium"/>
              <a:ea typeface="DM Sans Medium"/>
              <a:cs typeface="DM Sans Medium"/>
              <a:sym typeface="DM Sans Medium"/>
            </a:endParaRPr>
          </a:p>
        </p:txBody>
      </p:sp>
      <p:sp>
        <p:nvSpPr>
          <p:cNvPr id="124" name="Google Shape;124;p18"/>
          <p:cNvSpPr/>
          <p:nvPr/>
        </p:nvSpPr>
        <p:spPr>
          <a:xfrm>
            <a:off x="9137674" y="3574037"/>
            <a:ext cx="1082100" cy="557700"/>
          </a:xfrm>
          <a:prstGeom prst="roundRect">
            <a:avLst>
              <a:gd fmla="val 10634"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618794"/>
                </a:solidFill>
                <a:latin typeface="DM Sans Medium"/>
                <a:ea typeface="DM Sans Medium"/>
                <a:cs typeface="DM Sans Medium"/>
                <a:sym typeface="DM Sans Medium"/>
              </a:rPr>
              <a:t>Applications</a:t>
            </a:r>
            <a:endParaRPr sz="1100">
              <a:solidFill>
                <a:srgbClr val="618794"/>
              </a:solidFill>
              <a:latin typeface="DM Sans Medium"/>
              <a:ea typeface="DM Sans Medium"/>
              <a:cs typeface="DM Sans Medium"/>
              <a:sym typeface="DM Sans Medium"/>
            </a:endParaRPr>
          </a:p>
        </p:txBody>
      </p:sp>
      <p:sp>
        <p:nvSpPr>
          <p:cNvPr id="125" name="Google Shape;125;p18"/>
          <p:cNvSpPr/>
          <p:nvPr/>
        </p:nvSpPr>
        <p:spPr>
          <a:xfrm>
            <a:off x="1989525" y="1721525"/>
            <a:ext cx="8226300" cy="4596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618794"/>
                </a:solidFill>
                <a:latin typeface="DM Sans Medium"/>
                <a:ea typeface="DM Sans Medium"/>
                <a:cs typeface="DM Sans Medium"/>
                <a:sym typeface="DM Sans Medium"/>
              </a:rPr>
              <a:t>Automation and Orchestration</a:t>
            </a:r>
            <a:endParaRPr sz="1100">
              <a:solidFill>
                <a:srgbClr val="618794"/>
              </a:solidFill>
              <a:latin typeface="DM Sans Medium"/>
              <a:ea typeface="DM Sans Medium"/>
              <a:cs typeface="DM Sans Medium"/>
              <a:sym typeface="DM Sans Medium"/>
            </a:endParaRPr>
          </a:p>
        </p:txBody>
      </p:sp>
      <p:sp>
        <p:nvSpPr>
          <p:cNvPr id="126" name="Google Shape;126;p18"/>
          <p:cNvSpPr/>
          <p:nvPr/>
        </p:nvSpPr>
        <p:spPr>
          <a:xfrm>
            <a:off x="6687325" y="3574025"/>
            <a:ext cx="2370900" cy="5577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1100">
                <a:solidFill>
                  <a:srgbClr val="618794"/>
                </a:solidFill>
                <a:latin typeface="DM Sans Medium"/>
                <a:ea typeface="DM Sans Medium"/>
                <a:cs typeface="DM Sans Medium"/>
                <a:sym typeface="DM Sans Medium"/>
              </a:rPr>
              <a:t>Operational DB</a:t>
            </a:r>
            <a:endParaRPr sz="1100">
              <a:solidFill>
                <a:srgbClr val="618794"/>
              </a:solidFill>
              <a:latin typeface="DM Sans Medium"/>
              <a:ea typeface="DM Sans Medium"/>
              <a:cs typeface="DM Sans Medium"/>
              <a:sym typeface="DM Sans Medium"/>
            </a:endParaRPr>
          </a:p>
        </p:txBody>
      </p:sp>
      <p:grpSp>
        <p:nvGrpSpPr>
          <p:cNvPr id="127" name="Google Shape;127;p18"/>
          <p:cNvGrpSpPr/>
          <p:nvPr/>
        </p:nvGrpSpPr>
        <p:grpSpPr>
          <a:xfrm>
            <a:off x="2986792" y="3550528"/>
            <a:ext cx="198576" cy="211709"/>
            <a:chOff x="3295749" y="3919250"/>
            <a:chExt cx="198576" cy="211709"/>
          </a:xfrm>
        </p:grpSpPr>
        <p:sp>
          <p:nvSpPr>
            <p:cNvPr id="128" name="Google Shape;128;p18"/>
            <p:cNvSpPr/>
            <p:nvPr/>
          </p:nvSpPr>
          <p:spPr>
            <a:xfrm>
              <a:off x="3391125" y="3919250"/>
              <a:ext cx="103200" cy="114600"/>
            </a:xfrm>
            <a:prstGeom prst="rect">
              <a:avLst/>
            </a:prstGeom>
            <a:solidFill>
              <a:srgbClr val="1B516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29" name="Google Shape;129;p18"/>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ference Architecture layout (2)">
  <p:cSld name="CUSTOM">
    <p:bg>
      <p:bgPr>
        <a:solidFill>
          <a:srgbClr val="FFFFFF"/>
        </a:solidFill>
      </p:bgPr>
    </p:bg>
    <p:spTree>
      <p:nvGrpSpPr>
        <p:cNvPr id="130" name="Shape 130"/>
        <p:cNvGrpSpPr/>
        <p:nvPr/>
      </p:nvGrpSpPr>
      <p:grpSpPr>
        <a:xfrm>
          <a:off x="0" y="0"/>
          <a:ext cx="0" cy="0"/>
          <a:chOff x="0" y="0"/>
          <a:chExt cx="0" cy="0"/>
        </a:xfrm>
      </p:grpSpPr>
      <p:sp>
        <p:nvSpPr>
          <p:cNvPr id="131" name="Google Shape;131;p19"/>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2" name="Google Shape;132;p19"/>
          <p:cNvSpPr/>
          <p:nvPr/>
        </p:nvSpPr>
        <p:spPr>
          <a:xfrm>
            <a:off x="1921625" y="967225"/>
            <a:ext cx="12549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Ingest</a:t>
            </a:r>
            <a:endParaRPr i="0" sz="1300" u="none" cap="none" strike="noStrike">
              <a:solidFill>
                <a:srgbClr val="434343"/>
              </a:solidFill>
              <a:latin typeface="DM Sans SemiBold"/>
              <a:ea typeface="DM Sans SemiBold"/>
              <a:cs typeface="DM Sans SemiBold"/>
              <a:sym typeface="DM Sans SemiBold"/>
            </a:endParaRPr>
          </a:p>
        </p:txBody>
      </p:sp>
      <p:sp>
        <p:nvSpPr>
          <p:cNvPr id="133" name="Google Shape;133;p19"/>
          <p:cNvSpPr/>
          <p:nvPr/>
        </p:nvSpPr>
        <p:spPr>
          <a:xfrm>
            <a:off x="3247450" y="966700"/>
            <a:ext cx="13434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Transform</a:t>
            </a:r>
            <a:endParaRPr i="0" sz="1300" u="none" cap="none" strike="noStrike">
              <a:solidFill>
                <a:srgbClr val="434343"/>
              </a:solidFill>
              <a:latin typeface="DM Sans SemiBold"/>
              <a:ea typeface="DM Sans SemiBold"/>
              <a:cs typeface="DM Sans SemiBold"/>
              <a:sym typeface="DM Sans SemiBold"/>
            </a:endParaRPr>
          </a:p>
        </p:txBody>
      </p:sp>
      <p:sp>
        <p:nvSpPr>
          <p:cNvPr id="134" name="Google Shape;134;p19"/>
          <p:cNvSpPr/>
          <p:nvPr/>
        </p:nvSpPr>
        <p:spPr>
          <a:xfrm>
            <a:off x="9122275" y="968000"/>
            <a:ext cx="1152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Analyse</a:t>
            </a:r>
            <a:endParaRPr i="0" sz="1300" u="none" cap="none" strike="noStrike">
              <a:solidFill>
                <a:srgbClr val="434343"/>
              </a:solidFill>
              <a:latin typeface="DM Sans SemiBold"/>
              <a:ea typeface="DM Sans SemiBold"/>
              <a:cs typeface="DM Sans SemiBold"/>
              <a:sym typeface="DM Sans SemiBold"/>
            </a:endParaRPr>
          </a:p>
        </p:txBody>
      </p:sp>
      <p:sp>
        <p:nvSpPr>
          <p:cNvPr id="135" name="Google Shape;135;p19"/>
          <p:cNvSpPr/>
          <p:nvPr/>
        </p:nvSpPr>
        <p:spPr>
          <a:xfrm>
            <a:off x="766854" y="967794"/>
            <a:ext cx="10821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Sources</a:t>
            </a:r>
            <a:endParaRPr i="0" sz="1300" u="none" cap="none" strike="noStrike">
              <a:solidFill>
                <a:srgbClr val="434343"/>
              </a:solidFill>
              <a:latin typeface="DM Sans SemiBold"/>
              <a:ea typeface="DM Sans SemiBold"/>
              <a:cs typeface="DM Sans SemiBold"/>
              <a:sym typeface="DM Sans SemiBold"/>
            </a:endParaRPr>
          </a:p>
        </p:txBody>
      </p:sp>
      <p:sp>
        <p:nvSpPr>
          <p:cNvPr id="136" name="Google Shape;136;p19"/>
          <p:cNvSpPr/>
          <p:nvPr/>
        </p:nvSpPr>
        <p:spPr>
          <a:xfrm>
            <a:off x="6679225" y="968000"/>
            <a:ext cx="2370900" cy="2154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Serve</a:t>
            </a:r>
            <a:endParaRPr i="0" sz="1300" u="none" cap="none" strike="noStrike">
              <a:solidFill>
                <a:srgbClr val="434343"/>
              </a:solidFill>
              <a:latin typeface="DM Sans SemiBold"/>
              <a:ea typeface="DM Sans SemiBold"/>
              <a:cs typeface="DM Sans SemiBold"/>
              <a:sym typeface="DM Sans SemiBold"/>
            </a:endParaRPr>
          </a:p>
        </p:txBody>
      </p:sp>
      <p:sp>
        <p:nvSpPr>
          <p:cNvPr id="137" name="Google Shape;137;p19"/>
          <p:cNvSpPr/>
          <p:nvPr/>
        </p:nvSpPr>
        <p:spPr>
          <a:xfrm>
            <a:off x="4655880" y="967735"/>
            <a:ext cx="1938000" cy="2160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Query / Process</a:t>
            </a:r>
            <a:endParaRPr i="0" sz="1300" u="none" cap="none" strike="noStrike">
              <a:solidFill>
                <a:srgbClr val="434343"/>
              </a:solidFill>
              <a:latin typeface="DM Sans SemiBold"/>
              <a:ea typeface="DM Sans SemiBold"/>
              <a:cs typeface="DM Sans SemiBold"/>
              <a:sym typeface="DM Sans SemiBold"/>
            </a:endParaRPr>
          </a:p>
        </p:txBody>
      </p:sp>
      <p:sp>
        <p:nvSpPr>
          <p:cNvPr id="138" name="Google Shape;138;p19"/>
          <p:cNvSpPr/>
          <p:nvPr/>
        </p:nvSpPr>
        <p:spPr>
          <a:xfrm>
            <a:off x="10497579" y="968002"/>
            <a:ext cx="1044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Users</a:t>
            </a:r>
            <a:endParaRPr sz="1300">
              <a:solidFill>
                <a:srgbClr val="434343"/>
              </a:solidFill>
              <a:latin typeface="DM Sans SemiBold"/>
              <a:ea typeface="DM Sans SemiBold"/>
              <a:cs typeface="DM Sans SemiBold"/>
              <a:sym typeface="DM Sans SemiBold"/>
            </a:endParaRPr>
          </a:p>
        </p:txBody>
      </p:sp>
      <p:sp>
        <p:nvSpPr>
          <p:cNvPr id="139" name="Google Shape;139;p19"/>
          <p:cNvSpPr txBox="1"/>
          <p:nvPr>
            <p:ph type="title"/>
          </p:nvPr>
        </p:nvSpPr>
        <p:spPr>
          <a:xfrm>
            <a:off x="749245" y="230797"/>
            <a:ext cx="10659300" cy="583500"/>
          </a:xfrm>
          <a:prstGeom prst="rect">
            <a:avLst/>
          </a:prstGeom>
          <a:noFill/>
          <a:ln>
            <a:noFill/>
          </a:ln>
        </p:spPr>
        <p:txBody>
          <a:bodyPr anchorCtr="0" anchor="ctr" bIns="0" lIns="0" spcFirstLastPara="1" rIns="0" wrap="square" tIns="0">
            <a:noAutofit/>
          </a:bodyPr>
          <a:lstStyle>
            <a:lvl1pPr lvl="0" marR="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cxnSp>
        <p:nvCxnSpPr>
          <p:cNvPr id="140" name="Google Shape;140;p19"/>
          <p:cNvCxnSpPr/>
          <p:nvPr/>
        </p:nvCxnSpPr>
        <p:spPr>
          <a:xfrm>
            <a:off x="10391950" y="979075"/>
            <a:ext cx="0" cy="4573200"/>
          </a:xfrm>
          <a:prstGeom prst="straightConnector1">
            <a:avLst/>
          </a:prstGeom>
          <a:noFill/>
          <a:ln cap="flat" cmpd="sng" w="9525">
            <a:solidFill>
              <a:srgbClr val="1B5162"/>
            </a:solidFill>
            <a:prstDash val="dash"/>
            <a:round/>
            <a:headEnd len="med" w="med" type="none"/>
            <a:tailEnd len="med" w="med" type="none"/>
          </a:ln>
        </p:spPr>
      </p:cxnSp>
      <p:sp>
        <p:nvSpPr>
          <p:cNvPr id="141" name="Google Shape;141;p19"/>
          <p:cNvSpPr/>
          <p:nvPr/>
        </p:nvSpPr>
        <p:spPr>
          <a:xfrm>
            <a:off x="4664825" y="1368050"/>
            <a:ext cx="5601300" cy="2816700"/>
          </a:xfrm>
          <a:prstGeom prst="roundRect">
            <a:avLst>
              <a:gd fmla="val 4007" name="adj"/>
            </a:avLst>
          </a:prstGeom>
          <a:solidFill>
            <a:srgbClr val="1B516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142" name="Google Shape;142;p19"/>
          <p:cNvSpPr/>
          <p:nvPr/>
        </p:nvSpPr>
        <p:spPr>
          <a:xfrm>
            <a:off x="1921625" y="1368050"/>
            <a:ext cx="3586200" cy="2199600"/>
          </a:xfrm>
          <a:prstGeom prst="roundRect">
            <a:avLst>
              <a:gd fmla="val 4007" name="adj"/>
            </a:avLst>
          </a:prstGeom>
          <a:solidFill>
            <a:srgbClr val="1B516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143" name="Google Shape;143;p19"/>
          <p:cNvSpPr/>
          <p:nvPr/>
        </p:nvSpPr>
        <p:spPr>
          <a:xfrm>
            <a:off x="3183025" y="1368050"/>
            <a:ext cx="4943100" cy="4434600"/>
          </a:xfrm>
          <a:prstGeom prst="roundRect">
            <a:avLst>
              <a:gd fmla="val 2026" name="adj"/>
            </a:avLst>
          </a:prstGeom>
          <a:solidFill>
            <a:srgbClr val="1B516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618794"/>
              </a:solidFill>
              <a:latin typeface="DM Sans"/>
              <a:ea typeface="DM Sans"/>
              <a:cs typeface="DM Sans"/>
              <a:sym typeface="DM Sans"/>
            </a:endParaRPr>
          </a:p>
        </p:txBody>
      </p:sp>
      <p:sp>
        <p:nvSpPr>
          <p:cNvPr id="144" name="Google Shape;144;p19"/>
          <p:cNvSpPr/>
          <p:nvPr/>
        </p:nvSpPr>
        <p:spPr>
          <a:xfrm>
            <a:off x="3247450" y="1984913"/>
            <a:ext cx="5802600" cy="668400"/>
          </a:xfrm>
          <a:prstGeom prst="roundRect">
            <a:avLst>
              <a:gd fmla="val 10905" name="adj"/>
            </a:avLst>
          </a:prstGeom>
          <a:solidFill>
            <a:srgbClr val="FFFFFF"/>
          </a:solidFill>
          <a:ln>
            <a:noFill/>
          </a:ln>
        </p:spPr>
        <p:txBody>
          <a:bodyPr anchorCtr="0" anchor="t" bIns="0" lIns="0" spcFirstLastPara="1" rIns="0" wrap="square" tIns="0">
            <a:noAutofit/>
          </a:bodyPr>
          <a:lstStyle/>
          <a:p>
            <a:pPr indent="0" lvl="0" marL="0" marR="40661" rtl="0" algn="ctr">
              <a:lnSpc>
                <a:spcPct val="100000"/>
              </a:lnSpc>
              <a:spcBef>
                <a:spcPts val="0"/>
              </a:spcBef>
              <a:spcAft>
                <a:spcPts val="0"/>
              </a:spcAft>
              <a:buNone/>
            </a:pPr>
            <a:r>
              <a:rPr lang="en" sz="1100">
                <a:solidFill>
                  <a:srgbClr val="618794"/>
                </a:solidFill>
                <a:latin typeface="DM Sans Medium"/>
                <a:ea typeface="DM Sans Medium"/>
                <a:cs typeface="DM Sans Medium"/>
                <a:sym typeface="DM Sans Medium"/>
              </a:rPr>
              <a:t>Data Science and AI / ML - Mosaic AI</a:t>
            </a:r>
            <a:endParaRPr sz="1100">
              <a:solidFill>
                <a:srgbClr val="618794"/>
              </a:solidFill>
              <a:latin typeface="DM Sans Medium"/>
              <a:ea typeface="DM Sans Medium"/>
              <a:cs typeface="DM Sans Medium"/>
              <a:sym typeface="DM Sans Medium"/>
            </a:endParaRPr>
          </a:p>
          <a:p>
            <a:pPr indent="0" lvl="0" marL="457200" marR="0" rtl="0" algn="ctr">
              <a:lnSpc>
                <a:spcPct val="100000"/>
              </a:lnSpc>
              <a:spcBef>
                <a:spcPts val="0"/>
              </a:spcBef>
              <a:spcAft>
                <a:spcPts val="0"/>
              </a:spcAft>
              <a:buNone/>
            </a:pPr>
            <a:r>
              <a:t/>
            </a:r>
            <a:endParaRPr sz="1100">
              <a:solidFill>
                <a:srgbClr val="618794"/>
              </a:solidFill>
              <a:latin typeface="DM Sans Medium"/>
              <a:ea typeface="DM Sans Medium"/>
              <a:cs typeface="DM Sans Medium"/>
              <a:sym typeface="DM Sans Medium"/>
            </a:endParaRPr>
          </a:p>
        </p:txBody>
      </p:sp>
      <p:sp>
        <p:nvSpPr>
          <p:cNvPr id="145" name="Google Shape;145;p19"/>
          <p:cNvSpPr/>
          <p:nvPr/>
        </p:nvSpPr>
        <p:spPr>
          <a:xfrm>
            <a:off x="3247450" y="4906215"/>
            <a:ext cx="3380100" cy="840900"/>
          </a:xfrm>
          <a:prstGeom prst="roundRect">
            <a:avLst>
              <a:gd fmla="val 13083"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618794"/>
                </a:solidFill>
                <a:latin typeface="DM Sans Medium"/>
                <a:ea typeface="DM Sans Medium"/>
                <a:cs typeface="DM Sans Medium"/>
                <a:sym typeface="DM Sans Medium"/>
              </a:rPr>
              <a:t>Data Management</a:t>
            </a:r>
            <a:endParaRPr sz="1100">
              <a:solidFill>
                <a:srgbClr val="618794"/>
              </a:solidFill>
              <a:latin typeface="DM Sans Medium"/>
              <a:ea typeface="DM Sans Medium"/>
              <a:cs typeface="DM Sans Medium"/>
              <a:sym typeface="DM Sans Medium"/>
            </a:endParaRPr>
          </a:p>
        </p:txBody>
      </p:sp>
      <p:sp>
        <p:nvSpPr>
          <p:cNvPr id="146" name="Google Shape;146;p19"/>
          <p:cNvSpPr/>
          <p:nvPr/>
        </p:nvSpPr>
        <p:spPr>
          <a:xfrm>
            <a:off x="6679225" y="4906125"/>
            <a:ext cx="1388100" cy="840900"/>
          </a:xfrm>
          <a:prstGeom prst="roundRect">
            <a:avLst>
              <a:gd fmla="val 11862"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618794"/>
                </a:solidFill>
                <a:latin typeface="DM Sans Medium"/>
                <a:ea typeface="DM Sans Medium"/>
                <a:cs typeface="DM Sans Medium"/>
                <a:sym typeface="DM Sans Medium"/>
              </a:rPr>
              <a:t>Collaboration</a:t>
            </a:r>
            <a:endParaRPr sz="1100">
              <a:solidFill>
                <a:srgbClr val="618794"/>
              </a:solidFill>
              <a:latin typeface="DM Sans Medium"/>
              <a:ea typeface="DM Sans Medium"/>
              <a:cs typeface="DM Sans Medium"/>
              <a:sym typeface="DM Sans Medium"/>
            </a:endParaRPr>
          </a:p>
        </p:txBody>
      </p:sp>
      <p:sp>
        <p:nvSpPr>
          <p:cNvPr id="147" name="Google Shape;147;p19"/>
          <p:cNvSpPr/>
          <p:nvPr/>
        </p:nvSpPr>
        <p:spPr>
          <a:xfrm>
            <a:off x="3247450" y="2700825"/>
            <a:ext cx="3380100" cy="1431900"/>
          </a:xfrm>
          <a:prstGeom prst="roundRect">
            <a:avLst>
              <a:gd fmla="val 6056"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618794"/>
                </a:solidFill>
                <a:latin typeface="DM Sans Medium"/>
                <a:ea typeface="DM Sans Medium"/>
                <a:cs typeface="DM Sans Medium"/>
                <a:sym typeface="DM Sans Medium"/>
              </a:rPr>
              <a:t>Data Engineering and Processing</a:t>
            </a:r>
            <a:endParaRPr sz="1100">
              <a:solidFill>
                <a:srgbClr val="618794"/>
              </a:solidFill>
              <a:latin typeface="DM Sans Medium"/>
              <a:ea typeface="DM Sans Medium"/>
              <a:cs typeface="DM Sans Medium"/>
              <a:sym typeface="DM Sans Medium"/>
            </a:endParaRPr>
          </a:p>
        </p:txBody>
      </p:sp>
      <p:sp>
        <p:nvSpPr>
          <p:cNvPr id="148" name="Google Shape;148;p19"/>
          <p:cNvSpPr/>
          <p:nvPr/>
        </p:nvSpPr>
        <p:spPr>
          <a:xfrm>
            <a:off x="3247450" y="4191200"/>
            <a:ext cx="4819800" cy="649800"/>
          </a:xfrm>
          <a:prstGeom prst="roundRect">
            <a:avLst>
              <a:gd fmla="val 12987"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Clr>
                <a:srgbClr val="000000"/>
              </a:buClr>
              <a:buSzPts val="900"/>
              <a:buFont typeface="Arial"/>
              <a:buNone/>
            </a:pPr>
            <a:r>
              <a:rPr lang="en" sz="1100">
                <a:solidFill>
                  <a:srgbClr val="618794"/>
                </a:solidFill>
                <a:latin typeface="DM Sans Medium"/>
                <a:ea typeface="DM Sans Medium"/>
                <a:cs typeface="DM Sans Medium"/>
                <a:sym typeface="DM Sans Medium"/>
              </a:rPr>
              <a:t>   Data and AI Governance - Unity Catalog</a:t>
            </a:r>
            <a:endParaRPr sz="1100">
              <a:solidFill>
                <a:srgbClr val="618794"/>
              </a:solidFill>
              <a:latin typeface="DM Sans Medium"/>
              <a:ea typeface="DM Sans Medium"/>
              <a:cs typeface="DM Sans Medium"/>
              <a:sym typeface="DM Sans Medium"/>
            </a:endParaRPr>
          </a:p>
        </p:txBody>
      </p:sp>
      <p:sp>
        <p:nvSpPr>
          <p:cNvPr id="149" name="Google Shape;149;p19"/>
          <p:cNvSpPr/>
          <p:nvPr/>
        </p:nvSpPr>
        <p:spPr>
          <a:xfrm>
            <a:off x="1989525" y="1983938"/>
            <a:ext cx="1187100" cy="1525200"/>
          </a:xfrm>
          <a:prstGeom prst="roundRect">
            <a:avLst>
              <a:gd fmla="val 7158" name="adj"/>
            </a:avLst>
          </a:prstGeom>
          <a:solidFill>
            <a:srgbClr val="FFFFFF"/>
          </a:solid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None/>
            </a:pPr>
            <a:r>
              <a:rPr lang="en" sz="1100">
                <a:solidFill>
                  <a:srgbClr val="618794"/>
                </a:solidFill>
                <a:latin typeface="DM Sans Medium"/>
                <a:ea typeface="DM Sans Medium"/>
                <a:cs typeface="DM Sans Medium"/>
                <a:sym typeface="DM Sans Medium"/>
              </a:rPr>
              <a:t>Batch and Streaming</a:t>
            </a:r>
            <a:endParaRPr sz="1100">
              <a:solidFill>
                <a:srgbClr val="618794"/>
              </a:solidFill>
              <a:latin typeface="DM Sans Medium"/>
              <a:ea typeface="DM Sans Medium"/>
              <a:cs typeface="DM Sans Medium"/>
              <a:sym typeface="DM Sans Medium"/>
            </a:endParaRPr>
          </a:p>
        </p:txBody>
      </p:sp>
      <p:sp>
        <p:nvSpPr>
          <p:cNvPr id="150" name="Google Shape;150;p19"/>
          <p:cNvSpPr/>
          <p:nvPr/>
        </p:nvSpPr>
        <p:spPr>
          <a:xfrm>
            <a:off x="6687250" y="2700825"/>
            <a:ext cx="2370900" cy="680700"/>
          </a:xfrm>
          <a:prstGeom prst="roundRect">
            <a:avLst>
              <a:gd fmla="val 15048"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rgbClr val="618794"/>
                </a:solidFill>
                <a:latin typeface="DM Sans Medium"/>
                <a:ea typeface="DM Sans Medium"/>
                <a:cs typeface="DM Sans Medium"/>
                <a:sym typeface="DM Sans Medium"/>
              </a:rPr>
              <a:t>Data Warehousing</a:t>
            </a:r>
            <a:endParaRPr sz="1100">
              <a:solidFill>
                <a:srgbClr val="618794"/>
              </a:solidFill>
              <a:latin typeface="DM Sans Medium"/>
              <a:ea typeface="DM Sans Medium"/>
              <a:cs typeface="DM Sans Medium"/>
              <a:sym typeface="DM Sans Medium"/>
            </a:endParaRPr>
          </a:p>
        </p:txBody>
      </p:sp>
      <p:grpSp>
        <p:nvGrpSpPr>
          <p:cNvPr id="151" name="Google Shape;151;p19"/>
          <p:cNvGrpSpPr/>
          <p:nvPr/>
        </p:nvGrpSpPr>
        <p:grpSpPr>
          <a:xfrm rot="-5400000">
            <a:off x="8118194" y="4175940"/>
            <a:ext cx="198576" cy="208513"/>
            <a:chOff x="3295749" y="3922446"/>
            <a:chExt cx="198576" cy="208513"/>
          </a:xfrm>
        </p:grpSpPr>
        <p:sp>
          <p:nvSpPr>
            <p:cNvPr id="152" name="Google Shape;152;p19"/>
            <p:cNvSpPr/>
            <p:nvPr/>
          </p:nvSpPr>
          <p:spPr>
            <a:xfrm>
              <a:off x="3391125" y="3922446"/>
              <a:ext cx="103200" cy="114600"/>
            </a:xfrm>
            <a:prstGeom prst="rect">
              <a:avLst/>
            </a:prstGeom>
            <a:solidFill>
              <a:srgbClr val="1B516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53" name="Google Shape;153;p19"/>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154" name="Google Shape;154;p19"/>
          <p:cNvSpPr txBox="1"/>
          <p:nvPr/>
        </p:nvSpPr>
        <p:spPr>
          <a:xfrm>
            <a:off x="5216667" y="1442036"/>
            <a:ext cx="2432400" cy="215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a:solidFill>
                  <a:srgbClr val="FFFFFF"/>
                </a:solidFill>
                <a:latin typeface="DM Sans SemiBold"/>
                <a:ea typeface="DM Sans SemiBold"/>
                <a:cs typeface="DM Sans SemiBold"/>
                <a:sym typeface="DM Sans SemiBold"/>
              </a:rPr>
              <a:t>Data Intelligence Platform</a:t>
            </a:r>
            <a:endParaRPr>
              <a:solidFill>
                <a:srgbClr val="FFFFFF"/>
              </a:solidFill>
              <a:latin typeface="DM Sans SemiBold"/>
              <a:ea typeface="DM Sans SemiBold"/>
              <a:cs typeface="DM Sans SemiBold"/>
              <a:sym typeface="DM Sans SemiBold"/>
            </a:endParaRPr>
          </a:p>
        </p:txBody>
      </p:sp>
      <p:sp>
        <p:nvSpPr>
          <p:cNvPr id="155" name="Google Shape;155;p19"/>
          <p:cNvSpPr/>
          <p:nvPr/>
        </p:nvSpPr>
        <p:spPr>
          <a:xfrm>
            <a:off x="8977121" y="4083498"/>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56" name="Google Shape;156;p19"/>
          <p:cNvSpPr/>
          <p:nvPr/>
        </p:nvSpPr>
        <p:spPr>
          <a:xfrm>
            <a:off x="8524112" y="4091357"/>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157" name="Google Shape;157;p19"/>
          <p:cNvPicPr preferRelativeResize="0"/>
          <p:nvPr/>
        </p:nvPicPr>
        <p:blipFill>
          <a:blip r:embed="rId2">
            <a:alphaModFix/>
          </a:blip>
          <a:stretch>
            <a:fillRect/>
          </a:stretch>
        </p:blipFill>
        <p:spPr>
          <a:xfrm>
            <a:off x="4998129" y="1403077"/>
            <a:ext cx="259650" cy="279625"/>
          </a:xfrm>
          <a:prstGeom prst="rect">
            <a:avLst/>
          </a:prstGeom>
          <a:noFill/>
          <a:ln>
            <a:noFill/>
          </a:ln>
        </p:spPr>
      </p:pic>
      <p:sp>
        <p:nvSpPr>
          <p:cNvPr id="158" name="Google Shape;158;p19"/>
          <p:cNvSpPr txBox="1"/>
          <p:nvPr/>
        </p:nvSpPr>
        <p:spPr>
          <a:xfrm>
            <a:off x="3604640" y="5608752"/>
            <a:ext cx="38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bronze</a:t>
            </a:r>
            <a:endParaRPr sz="800">
              <a:solidFill>
                <a:srgbClr val="1B5162"/>
              </a:solidFill>
              <a:latin typeface="DM Sans"/>
              <a:ea typeface="DM Sans"/>
              <a:cs typeface="DM Sans"/>
              <a:sym typeface="DM Sans"/>
            </a:endParaRPr>
          </a:p>
        </p:txBody>
      </p:sp>
      <p:sp>
        <p:nvSpPr>
          <p:cNvPr id="159" name="Google Shape;159;p19"/>
          <p:cNvSpPr txBox="1"/>
          <p:nvPr/>
        </p:nvSpPr>
        <p:spPr>
          <a:xfrm>
            <a:off x="4568673" y="5608752"/>
            <a:ext cx="29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silver</a:t>
            </a:r>
            <a:endParaRPr sz="800">
              <a:solidFill>
                <a:srgbClr val="1B5162"/>
              </a:solidFill>
              <a:latin typeface="DM Sans"/>
              <a:ea typeface="DM Sans"/>
              <a:cs typeface="DM Sans"/>
              <a:sym typeface="DM Sans"/>
            </a:endParaRPr>
          </a:p>
        </p:txBody>
      </p:sp>
      <p:sp>
        <p:nvSpPr>
          <p:cNvPr id="160" name="Google Shape;160;p19"/>
          <p:cNvSpPr txBox="1"/>
          <p:nvPr/>
        </p:nvSpPr>
        <p:spPr>
          <a:xfrm>
            <a:off x="5478569" y="5608752"/>
            <a:ext cx="2556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gold</a:t>
            </a:r>
            <a:endParaRPr sz="800">
              <a:solidFill>
                <a:srgbClr val="1B5162"/>
              </a:solidFill>
              <a:latin typeface="DM Sans"/>
              <a:ea typeface="DM Sans"/>
              <a:cs typeface="DM Sans"/>
              <a:sym typeface="DM Sans"/>
            </a:endParaRPr>
          </a:p>
        </p:txBody>
      </p:sp>
      <p:sp>
        <p:nvSpPr>
          <p:cNvPr id="161" name="Google Shape;161;p19"/>
          <p:cNvSpPr/>
          <p:nvPr/>
        </p:nvSpPr>
        <p:spPr>
          <a:xfrm>
            <a:off x="3985831" y="5627812"/>
            <a:ext cx="182100" cy="92525"/>
          </a:xfrm>
          <a:prstGeom prst="flowChartMagneticDisk">
            <a:avLst/>
          </a:prstGeom>
          <a:solidFill>
            <a:srgbClr val="BF897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162" name="Google Shape;162;p19"/>
          <p:cNvSpPr/>
          <p:nvPr/>
        </p:nvSpPr>
        <p:spPr>
          <a:xfrm>
            <a:off x="4875527" y="5627812"/>
            <a:ext cx="182100" cy="92525"/>
          </a:xfrm>
          <a:prstGeom prst="flowChartMagneticDisk">
            <a:avLst/>
          </a:prstGeom>
          <a:solidFill>
            <a:srgbClr val="C0C0C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163" name="Google Shape;163;p19"/>
          <p:cNvSpPr/>
          <p:nvPr/>
        </p:nvSpPr>
        <p:spPr>
          <a:xfrm>
            <a:off x="5752031" y="5627812"/>
            <a:ext cx="182100" cy="92525"/>
          </a:xfrm>
          <a:prstGeom prst="flowChartMagneticDisk">
            <a:avLst/>
          </a:prstGeom>
          <a:solidFill>
            <a:srgbClr val="D4AF37"/>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164" name="Google Shape;164;p19"/>
          <p:cNvSpPr/>
          <p:nvPr/>
        </p:nvSpPr>
        <p:spPr>
          <a:xfrm>
            <a:off x="9133775" y="1984925"/>
            <a:ext cx="1082100" cy="1060200"/>
          </a:xfrm>
          <a:prstGeom prst="roundRect">
            <a:avLst>
              <a:gd fmla="val 6450"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618794"/>
                </a:solidFill>
                <a:latin typeface="DM Sans Medium"/>
                <a:ea typeface="DM Sans Medium"/>
                <a:cs typeface="DM Sans Medium"/>
                <a:sym typeface="DM Sans Medium"/>
              </a:rPr>
              <a:t>AI/BI</a:t>
            </a:r>
            <a:endParaRPr sz="1100">
              <a:solidFill>
                <a:srgbClr val="618794"/>
              </a:solidFill>
              <a:latin typeface="DM Sans Medium"/>
              <a:ea typeface="DM Sans Medium"/>
              <a:cs typeface="DM Sans Medium"/>
              <a:sym typeface="DM Sans Medium"/>
            </a:endParaRPr>
          </a:p>
        </p:txBody>
      </p:sp>
      <p:sp>
        <p:nvSpPr>
          <p:cNvPr id="165" name="Google Shape;165;p19"/>
          <p:cNvSpPr/>
          <p:nvPr/>
        </p:nvSpPr>
        <p:spPr>
          <a:xfrm>
            <a:off x="9137675" y="3109375"/>
            <a:ext cx="1082100" cy="1023300"/>
          </a:xfrm>
          <a:prstGeom prst="roundRect">
            <a:avLst>
              <a:gd fmla="val 10634"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618794"/>
                </a:solidFill>
                <a:latin typeface="DM Sans Medium"/>
                <a:ea typeface="DM Sans Medium"/>
                <a:cs typeface="DM Sans Medium"/>
                <a:sym typeface="DM Sans Medium"/>
              </a:rPr>
              <a:t>Applications</a:t>
            </a:r>
            <a:endParaRPr sz="1100">
              <a:solidFill>
                <a:srgbClr val="618794"/>
              </a:solidFill>
              <a:latin typeface="DM Sans Medium"/>
              <a:ea typeface="DM Sans Medium"/>
              <a:cs typeface="DM Sans Medium"/>
              <a:sym typeface="DM Sans Medium"/>
            </a:endParaRPr>
          </a:p>
        </p:txBody>
      </p:sp>
      <p:sp>
        <p:nvSpPr>
          <p:cNvPr id="166" name="Google Shape;166;p19"/>
          <p:cNvSpPr/>
          <p:nvPr/>
        </p:nvSpPr>
        <p:spPr>
          <a:xfrm>
            <a:off x="1989525" y="1721525"/>
            <a:ext cx="8226300" cy="215400"/>
          </a:xfrm>
          <a:prstGeom prst="roundRect">
            <a:avLst>
              <a:gd fmla="val 28180"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rgbClr val="618794"/>
                </a:solidFill>
                <a:latin typeface="DM Sans Medium"/>
                <a:ea typeface="DM Sans Medium"/>
                <a:cs typeface="DM Sans Medium"/>
                <a:sym typeface="DM Sans Medium"/>
              </a:rPr>
              <a:t>Automation and Orchestration</a:t>
            </a:r>
            <a:endParaRPr sz="1100">
              <a:solidFill>
                <a:srgbClr val="618794"/>
              </a:solidFill>
              <a:latin typeface="DM Sans Medium"/>
              <a:ea typeface="DM Sans Medium"/>
              <a:cs typeface="DM Sans Medium"/>
              <a:sym typeface="DM Sans Medium"/>
            </a:endParaRPr>
          </a:p>
        </p:txBody>
      </p:sp>
      <p:sp>
        <p:nvSpPr>
          <p:cNvPr id="167" name="Google Shape;167;p19"/>
          <p:cNvSpPr/>
          <p:nvPr/>
        </p:nvSpPr>
        <p:spPr>
          <a:xfrm>
            <a:off x="6687325" y="3430900"/>
            <a:ext cx="2370900" cy="7017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1100">
                <a:solidFill>
                  <a:srgbClr val="618794"/>
                </a:solidFill>
                <a:latin typeface="DM Sans Medium"/>
                <a:ea typeface="DM Sans Medium"/>
                <a:cs typeface="DM Sans Medium"/>
                <a:sym typeface="DM Sans Medium"/>
              </a:rPr>
              <a:t>Operational DB</a:t>
            </a:r>
            <a:endParaRPr sz="1100">
              <a:solidFill>
                <a:srgbClr val="618794"/>
              </a:solidFill>
              <a:latin typeface="DM Sans Medium"/>
              <a:ea typeface="DM Sans Medium"/>
              <a:cs typeface="DM Sans Medium"/>
              <a:sym typeface="DM Sans Medium"/>
            </a:endParaRPr>
          </a:p>
        </p:txBody>
      </p:sp>
      <p:grpSp>
        <p:nvGrpSpPr>
          <p:cNvPr id="168" name="Google Shape;168;p19"/>
          <p:cNvGrpSpPr/>
          <p:nvPr/>
        </p:nvGrpSpPr>
        <p:grpSpPr>
          <a:xfrm>
            <a:off x="2986792" y="3550528"/>
            <a:ext cx="198576" cy="211709"/>
            <a:chOff x="3295749" y="3919250"/>
            <a:chExt cx="198576" cy="211709"/>
          </a:xfrm>
        </p:grpSpPr>
        <p:sp>
          <p:nvSpPr>
            <p:cNvPr id="169" name="Google Shape;169;p19"/>
            <p:cNvSpPr/>
            <p:nvPr/>
          </p:nvSpPr>
          <p:spPr>
            <a:xfrm>
              <a:off x="3391125" y="3919250"/>
              <a:ext cx="103200" cy="114600"/>
            </a:xfrm>
            <a:prstGeom prst="rect">
              <a:avLst/>
            </a:prstGeom>
            <a:solidFill>
              <a:srgbClr val="1B516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70" name="Google Shape;170;p19"/>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ontent A - Basic">
  <p:cSld name="OBJECT_1">
    <p:bg>
      <p:bgPr>
        <a:solidFill>
          <a:schemeClr val="lt1"/>
        </a:solidFill>
      </p:bgPr>
    </p:bg>
    <p:spTree>
      <p:nvGrpSpPr>
        <p:cNvPr id="171" name="Shape 171"/>
        <p:cNvGrpSpPr/>
        <p:nvPr/>
      </p:nvGrpSpPr>
      <p:grpSpPr>
        <a:xfrm>
          <a:off x="0" y="0"/>
          <a:ext cx="0" cy="0"/>
          <a:chOff x="0" y="0"/>
          <a:chExt cx="0" cy="0"/>
        </a:xfrm>
      </p:grpSpPr>
      <p:sp>
        <p:nvSpPr>
          <p:cNvPr id="172" name="Google Shape;172;p20"/>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sz="400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173" name="Google Shape;173;p20"/>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sz="2400">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174" name="Google Shape;174;p20"/>
          <p:cNvSpPr txBox="1"/>
          <p:nvPr>
            <p:ph idx="2" type="body"/>
          </p:nvPr>
        </p:nvSpPr>
        <p:spPr>
          <a:xfrm>
            <a:off x="761809" y="1988833"/>
            <a:ext cx="10659300" cy="4149900"/>
          </a:xfrm>
          <a:prstGeom prst="rect">
            <a:avLst/>
          </a:prstGeom>
          <a:noFill/>
          <a:ln>
            <a:noFill/>
          </a:ln>
        </p:spPr>
        <p:txBody>
          <a:bodyPr anchorCtr="0" anchor="t" bIns="0" lIns="0" spcFirstLastPara="1" rIns="0" wrap="square" tIns="0">
            <a:noAutofit/>
          </a:bodyPr>
          <a:lstStyle>
            <a:lvl1pPr indent="-381000" lvl="0" marL="457200" marR="0" rtl="0" algn="l">
              <a:lnSpc>
                <a:spcPct val="115000"/>
              </a:lnSpc>
              <a:spcBef>
                <a:spcPts val="1100"/>
              </a:spcBef>
              <a:spcAft>
                <a:spcPts val="0"/>
              </a:spcAft>
              <a:buClr>
                <a:schemeClr val="accent1"/>
              </a:buClr>
              <a:buSzPts val="2400"/>
              <a:buFont typeface="DM Sans"/>
              <a:buChar char="•"/>
              <a:defRPr i="0" sz="2400" u="none" cap="none" strike="noStrike">
                <a:solidFill>
                  <a:schemeClr val="dk1"/>
                </a:solidFill>
                <a:latin typeface="DM Sans"/>
                <a:ea typeface="DM Sans"/>
                <a:cs typeface="DM Sans"/>
                <a:sym typeface="DM Sans"/>
              </a:defRPr>
            </a:lvl1pPr>
            <a:lvl2pPr indent="-355600" lvl="1" marL="914400" marR="0" rtl="0" algn="l">
              <a:lnSpc>
                <a:spcPct val="115000"/>
              </a:lnSpc>
              <a:spcBef>
                <a:spcPts val="500"/>
              </a:spcBef>
              <a:spcAft>
                <a:spcPts val="0"/>
              </a:spcAft>
              <a:buClr>
                <a:schemeClr val="accent4"/>
              </a:buClr>
              <a:buSzPts val="2000"/>
              <a:buFont typeface="DM Sans"/>
              <a:buChar char="•"/>
              <a:defRPr i="0" sz="20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9pPr>
          </a:lstStyle>
          <a:p/>
        </p:txBody>
      </p:sp>
      <p:sp>
        <p:nvSpPr>
          <p:cNvPr id="175" name="Google Shape;175;p20"/>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Content A - Basic White 1">
  <p:cSld name="OBJECT_1_1">
    <p:bg>
      <p:bgPr>
        <a:solidFill>
          <a:srgbClr val="FFFFFF"/>
        </a:solidFill>
      </p:bgPr>
    </p:bg>
    <p:spTree>
      <p:nvGrpSpPr>
        <p:cNvPr id="176" name="Shape 176"/>
        <p:cNvGrpSpPr/>
        <p:nvPr/>
      </p:nvGrpSpPr>
      <p:grpSpPr>
        <a:xfrm>
          <a:off x="0" y="0"/>
          <a:ext cx="0" cy="0"/>
          <a:chOff x="0" y="0"/>
          <a:chExt cx="0" cy="0"/>
        </a:xfrm>
      </p:grpSpPr>
      <p:sp>
        <p:nvSpPr>
          <p:cNvPr id="177" name="Google Shape;177;p21"/>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178" name="Google Shape;178;p21"/>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179" name="Google Shape;179;p21"/>
          <p:cNvSpPr txBox="1"/>
          <p:nvPr>
            <p:ph idx="2" type="body"/>
          </p:nvPr>
        </p:nvSpPr>
        <p:spPr>
          <a:xfrm>
            <a:off x="761809" y="1988833"/>
            <a:ext cx="10659300" cy="4149900"/>
          </a:xfrm>
          <a:prstGeom prst="rect">
            <a:avLst/>
          </a:prstGeom>
          <a:noFill/>
          <a:ln>
            <a:noFill/>
          </a:ln>
        </p:spPr>
        <p:txBody>
          <a:bodyPr anchorCtr="0" anchor="t" bIns="0" lIns="0" spcFirstLastPara="1" rIns="0" wrap="square" tIns="0">
            <a:noAutofit/>
          </a:bodyPr>
          <a:lstStyle>
            <a:lvl1pPr indent="-381000" lvl="0" marL="457200" marR="0" rtl="0" algn="l">
              <a:lnSpc>
                <a:spcPct val="115000"/>
              </a:lnSpc>
              <a:spcBef>
                <a:spcPts val="1100"/>
              </a:spcBef>
              <a:spcAft>
                <a:spcPts val="0"/>
              </a:spcAft>
              <a:buClr>
                <a:schemeClr val="accent1"/>
              </a:buClr>
              <a:buSzPts val="2400"/>
              <a:buFont typeface="DM Sans"/>
              <a:buChar char="•"/>
              <a:defRPr i="0" u="none" cap="none" strike="noStrike">
                <a:solidFill>
                  <a:schemeClr val="dk1"/>
                </a:solidFill>
                <a:latin typeface="DM Sans"/>
                <a:ea typeface="DM Sans"/>
                <a:cs typeface="DM Sans"/>
                <a:sym typeface="DM Sans"/>
              </a:defRPr>
            </a:lvl1pPr>
            <a:lvl2pPr indent="-355600" lvl="1" marL="914400" marR="0" rtl="0" algn="l">
              <a:lnSpc>
                <a:spcPct val="115000"/>
              </a:lnSpc>
              <a:spcBef>
                <a:spcPts val="500"/>
              </a:spcBef>
              <a:spcAft>
                <a:spcPts val="0"/>
              </a:spcAft>
              <a:buClr>
                <a:schemeClr val="accent4"/>
              </a:buClr>
              <a:buSzPts val="2000"/>
              <a:buFont typeface="DM Sans"/>
              <a:buChar char="•"/>
              <a:defRPr i="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9pPr>
          </a:lstStyle>
          <a:p/>
        </p:txBody>
      </p:sp>
      <p:sp>
        <p:nvSpPr>
          <p:cNvPr id="180" name="Google Shape;180;p21"/>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Content B - 2 Column">
  <p:cSld name="OBJECT_2_1_1_1_2_1">
    <p:spTree>
      <p:nvGrpSpPr>
        <p:cNvPr id="181" name="Shape 181"/>
        <p:cNvGrpSpPr/>
        <p:nvPr/>
      </p:nvGrpSpPr>
      <p:grpSpPr>
        <a:xfrm>
          <a:off x="0" y="0"/>
          <a:ext cx="0" cy="0"/>
          <a:chOff x="0" y="0"/>
          <a:chExt cx="0" cy="0"/>
        </a:xfrm>
      </p:grpSpPr>
      <p:sp>
        <p:nvSpPr>
          <p:cNvPr id="182" name="Google Shape;182;p22"/>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183" name="Google Shape;183;p22"/>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cxnSp>
        <p:nvCxnSpPr>
          <p:cNvPr id="184" name="Google Shape;184;p22"/>
          <p:cNvCxnSpPr/>
          <p:nvPr/>
        </p:nvCxnSpPr>
        <p:spPr>
          <a:xfrm>
            <a:off x="6098558" y="1892033"/>
            <a:ext cx="0" cy="4425900"/>
          </a:xfrm>
          <a:prstGeom prst="straightConnector1">
            <a:avLst/>
          </a:prstGeom>
          <a:noFill/>
          <a:ln cap="flat" cmpd="sng" w="9525">
            <a:solidFill>
              <a:srgbClr val="EF6450"/>
            </a:solidFill>
            <a:prstDash val="solid"/>
            <a:miter lim="800000"/>
            <a:headEnd len="med" w="med" type="oval"/>
            <a:tailEnd len="med" w="med" type="oval"/>
          </a:ln>
        </p:spPr>
      </p:cxnSp>
      <p:sp>
        <p:nvSpPr>
          <p:cNvPr id="185" name="Google Shape;185;p22"/>
          <p:cNvSpPr txBox="1"/>
          <p:nvPr>
            <p:ph idx="2" type="body"/>
          </p:nvPr>
        </p:nvSpPr>
        <p:spPr>
          <a:xfrm>
            <a:off x="761809" y="2691865"/>
            <a:ext cx="4518900" cy="33672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86" name="Google Shape;186;p22"/>
          <p:cNvSpPr txBox="1"/>
          <p:nvPr>
            <p:ph idx="3" type="body"/>
          </p:nvPr>
        </p:nvSpPr>
        <p:spPr>
          <a:xfrm>
            <a:off x="6916469" y="2691865"/>
            <a:ext cx="4518900" cy="33672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87" name="Google Shape;187;p22"/>
          <p:cNvSpPr txBox="1"/>
          <p:nvPr>
            <p:ph idx="4" type="subTitle"/>
          </p:nvPr>
        </p:nvSpPr>
        <p:spPr>
          <a:xfrm>
            <a:off x="795814" y="1970333"/>
            <a:ext cx="4484400" cy="643200"/>
          </a:xfrm>
          <a:prstGeom prst="rect">
            <a:avLst/>
          </a:prstGeom>
        </p:spPr>
        <p:txBody>
          <a:bodyPr anchorCtr="0" anchor="t" bIns="0" lIns="0" spcFirstLastPara="1" rIns="0" wrap="square" tIns="0">
            <a:noAutofit/>
          </a:bodyPr>
          <a:lstStyle>
            <a:lvl1pPr lvl="0" rtl="0">
              <a:spcBef>
                <a:spcPts val="1100"/>
              </a:spcBef>
              <a:spcAft>
                <a:spcPts val="0"/>
              </a:spcAft>
              <a:buClr>
                <a:schemeClr val="dk1"/>
              </a:buClr>
              <a:buSzPts val="2000"/>
              <a:buNone/>
              <a:defRPr b="1" sz="2000"/>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188" name="Google Shape;188;p22"/>
          <p:cNvSpPr txBox="1"/>
          <p:nvPr>
            <p:ph idx="5" type="subTitle"/>
          </p:nvPr>
        </p:nvSpPr>
        <p:spPr>
          <a:xfrm>
            <a:off x="6933565" y="1970333"/>
            <a:ext cx="4485000" cy="643200"/>
          </a:xfrm>
          <a:prstGeom prst="rect">
            <a:avLst/>
          </a:prstGeom>
        </p:spPr>
        <p:txBody>
          <a:bodyPr anchorCtr="0" anchor="t" bIns="0" lIns="0" spcFirstLastPara="1" rIns="0" wrap="square" tIns="0">
            <a:noAutofit/>
          </a:bodyPr>
          <a:lstStyle>
            <a:lvl1pPr lvl="0" rtl="0">
              <a:spcBef>
                <a:spcPts val="1100"/>
              </a:spcBef>
              <a:spcAft>
                <a:spcPts val="0"/>
              </a:spcAft>
              <a:buClr>
                <a:schemeClr val="dk1"/>
              </a:buClr>
              <a:buSzPts val="2000"/>
              <a:buNone/>
              <a:defRPr b="1" sz="2000"/>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189" name="Google Shape;189;p22"/>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Content B - 2 Column w/ Icon Spot">
  <p:cSld name="OBJECT_2_1_1_2_1_1">
    <p:spTree>
      <p:nvGrpSpPr>
        <p:cNvPr id="190" name="Shape 190"/>
        <p:cNvGrpSpPr/>
        <p:nvPr/>
      </p:nvGrpSpPr>
      <p:grpSpPr>
        <a:xfrm>
          <a:off x="0" y="0"/>
          <a:ext cx="0" cy="0"/>
          <a:chOff x="0" y="0"/>
          <a:chExt cx="0" cy="0"/>
        </a:xfrm>
      </p:grpSpPr>
      <p:sp>
        <p:nvSpPr>
          <p:cNvPr id="191" name="Google Shape;191;p23"/>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192" name="Google Shape;192;p23"/>
          <p:cNvSpPr txBox="1"/>
          <p:nvPr>
            <p:ph idx="1" type="body"/>
          </p:nvPr>
        </p:nvSpPr>
        <p:spPr>
          <a:xfrm>
            <a:off x="761809" y="3986900"/>
            <a:ext cx="4518900" cy="2261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93" name="Google Shape;193;p23"/>
          <p:cNvSpPr txBox="1"/>
          <p:nvPr>
            <p:ph idx="2"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194" name="Google Shape;194;p23"/>
          <p:cNvSpPr txBox="1"/>
          <p:nvPr>
            <p:ph idx="3" type="body"/>
          </p:nvPr>
        </p:nvSpPr>
        <p:spPr>
          <a:xfrm>
            <a:off x="6931932" y="3986900"/>
            <a:ext cx="4495200" cy="2261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95" name="Google Shape;195;p23"/>
          <p:cNvSpPr txBox="1"/>
          <p:nvPr>
            <p:ph idx="4" type="subTitle"/>
          </p:nvPr>
        </p:nvSpPr>
        <p:spPr>
          <a:xfrm>
            <a:off x="795814" y="3126633"/>
            <a:ext cx="44844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100"/>
              <a:buNone/>
              <a:defRPr b="1" sz="21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1600"/>
              <a:buNone/>
              <a:defRPr/>
            </a:lvl3pPr>
            <a:lvl4pPr lvl="3" rtl="0">
              <a:lnSpc>
                <a:spcPct val="115000"/>
              </a:lnSpc>
              <a:spcBef>
                <a:spcPts val="500"/>
              </a:spcBef>
              <a:spcAft>
                <a:spcPts val="0"/>
              </a:spcAft>
              <a:buSzPts val="1600"/>
              <a:buNone/>
              <a:defRPr/>
            </a:lvl4pPr>
            <a:lvl5pPr lvl="4" rtl="0">
              <a:lnSpc>
                <a:spcPct val="115000"/>
              </a:lnSpc>
              <a:spcBef>
                <a:spcPts val="500"/>
              </a:spcBef>
              <a:spcAft>
                <a:spcPts val="0"/>
              </a:spcAft>
              <a:buSzPts val="1600"/>
              <a:buNone/>
              <a:defRPr/>
            </a:lvl5pPr>
            <a:lvl6pPr lvl="5" rtl="0">
              <a:lnSpc>
                <a:spcPct val="115000"/>
              </a:lnSpc>
              <a:spcBef>
                <a:spcPts val="500"/>
              </a:spcBef>
              <a:spcAft>
                <a:spcPts val="0"/>
              </a:spcAft>
              <a:buSzPts val="1600"/>
              <a:buNone/>
              <a:defRPr/>
            </a:lvl6pPr>
            <a:lvl7pPr lvl="6" rtl="0">
              <a:lnSpc>
                <a:spcPct val="115000"/>
              </a:lnSpc>
              <a:spcBef>
                <a:spcPts val="500"/>
              </a:spcBef>
              <a:spcAft>
                <a:spcPts val="0"/>
              </a:spcAft>
              <a:buSzPts val="1600"/>
              <a:buNone/>
              <a:defRPr/>
            </a:lvl7pPr>
            <a:lvl8pPr lvl="7" rtl="0">
              <a:lnSpc>
                <a:spcPct val="115000"/>
              </a:lnSpc>
              <a:spcBef>
                <a:spcPts val="500"/>
              </a:spcBef>
              <a:spcAft>
                <a:spcPts val="0"/>
              </a:spcAft>
              <a:buSzPts val="1600"/>
              <a:buNone/>
              <a:defRPr/>
            </a:lvl8pPr>
            <a:lvl9pPr lvl="8" rtl="0">
              <a:lnSpc>
                <a:spcPct val="115000"/>
              </a:lnSpc>
              <a:spcBef>
                <a:spcPts val="500"/>
              </a:spcBef>
              <a:spcAft>
                <a:spcPts val="0"/>
              </a:spcAft>
              <a:buSzPts val="1600"/>
              <a:buNone/>
              <a:defRPr/>
            </a:lvl9pPr>
          </a:lstStyle>
          <a:p/>
        </p:txBody>
      </p:sp>
      <p:sp>
        <p:nvSpPr>
          <p:cNvPr id="196" name="Google Shape;196;p23"/>
          <p:cNvSpPr txBox="1"/>
          <p:nvPr>
            <p:ph idx="5" type="subTitle"/>
          </p:nvPr>
        </p:nvSpPr>
        <p:spPr>
          <a:xfrm>
            <a:off x="6948938" y="3126633"/>
            <a:ext cx="44613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1600"/>
              <a:buNone/>
              <a:defRPr/>
            </a:lvl3pPr>
            <a:lvl4pPr lvl="3" rtl="0">
              <a:lnSpc>
                <a:spcPct val="115000"/>
              </a:lnSpc>
              <a:spcBef>
                <a:spcPts val="500"/>
              </a:spcBef>
              <a:spcAft>
                <a:spcPts val="0"/>
              </a:spcAft>
              <a:buSzPts val="1600"/>
              <a:buNone/>
              <a:defRPr/>
            </a:lvl4pPr>
            <a:lvl5pPr lvl="4" rtl="0">
              <a:lnSpc>
                <a:spcPct val="115000"/>
              </a:lnSpc>
              <a:spcBef>
                <a:spcPts val="500"/>
              </a:spcBef>
              <a:spcAft>
                <a:spcPts val="0"/>
              </a:spcAft>
              <a:buSzPts val="1600"/>
              <a:buNone/>
              <a:defRPr/>
            </a:lvl5pPr>
            <a:lvl6pPr lvl="5" rtl="0">
              <a:lnSpc>
                <a:spcPct val="115000"/>
              </a:lnSpc>
              <a:spcBef>
                <a:spcPts val="500"/>
              </a:spcBef>
              <a:spcAft>
                <a:spcPts val="0"/>
              </a:spcAft>
              <a:buSzPts val="1600"/>
              <a:buNone/>
              <a:defRPr/>
            </a:lvl6pPr>
            <a:lvl7pPr lvl="6" rtl="0">
              <a:lnSpc>
                <a:spcPct val="115000"/>
              </a:lnSpc>
              <a:spcBef>
                <a:spcPts val="500"/>
              </a:spcBef>
              <a:spcAft>
                <a:spcPts val="0"/>
              </a:spcAft>
              <a:buSzPts val="1600"/>
              <a:buNone/>
              <a:defRPr/>
            </a:lvl7pPr>
            <a:lvl8pPr lvl="7" rtl="0">
              <a:lnSpc>
                <a:spcPct val="115000"/>
              </a:lnSpc>
              <a:spcBef>
                <a:spcPts val="500"/>
              </a:spcBef>
              <a:spcAft>
                <a:spcPts val="0"/>
              </a:spcAft>
              <a:buSzPts val="1600"/>
              <a:buNone/>
              <a:defRPr/>
            </a:lvl8pPr>
            <a:lvl9pPr lvl="8" rtl="0">
              <a:lnSpc>
                <a:spcPct val="115000"/>
              </a:lnSpc>
              <a:spcBef>
                <a:spcPts val="500"/>
              </a:spcBef>
              <a:spcAft>
                <a:spcPts val="0"/>
              </a:spcAft>
              <a:buSzPts val="1600"/>
              <a:buNone/>
              <a:defRPr/>
            </a:lvl9pPr>
          </a:lstStyle>
          <a:p/>
        </p:txBody>
      </p:sp>
      <p:cxnSp>
        <p:nvCxnSpPr>
          <p:cNvPr id="197" name="Google Shape;197;p23"/>
          <p:cNvCxnSpPr/>
          <p:nvPr/>
        </p:nvCxnSpPr>
        <p:spPr>
          <a:xfrm>
            <a:off x="6098592" y="1892033"/>
            <a:ext cx="0" cy="4425900"/>
          </a:xfrm>
          <a:prstGeom prst="straightConnector1">
            <a:avLst/>
          </a:prstGeom>
          <a:noFill/>
          <a:ln cap="flat" cmpd="sng" w="9525">
            <a:solidFill>
              <a:srgbClr val="EF6450"/>
            </a:solidFill>
            <a:prstDash val="solid"/>
            <a:miter lim="800000"/>
            <a:headEnd len="med" w="med" type="oval"/>
            <a:tailEnd len="med" w="med" type="oval"/>
          </a:ln>
        </p:spPr>
      </p:cxnSp>
      <p:sp>
        <p:nvSpPr>
          <p:cNvPr id="198" name="Google Shape;198;p23"/>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ontent C - 3 Column">
  <p:cSld name="OBJECT_2_1_1_1_2">
    <p:spTree>
      <p:nvGrpSpPr>
        <p:cNvPr id="199" name="Shape 199"/>
        <p:cNvGrpSpPr/>
        <p:nvPr/>
      </p:nvGrpSpPr>
      <p:grpSpPr>
        <a:xfrm>
          <a:off x="0" y="0"/>
          <a:ext cx="0" cy="0"/>
          <a:chOff x="0" y="0"/>
          <a:chExt cx="0" cy="0"/>
        </a:xfrm>
      </p:grpSpPr>
      <p:sp>
        <p:nvSpPr>
          <p:cNvPr id="200" name="Google Shape;200;p24"/>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201" name="Google Shape;201;p24"/>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cxnSp>
        <p:nvCxnSpPr>
          <p:cNvPr id="202" name="Google Shape;202;p24"/>
          <p:cNvCxnSpPr/>
          <p:nvPr/>
        </p:nvCxnSpPr>
        <p:spPr>
          <a:xfrm>
            <a:off x="7933896" y="1892033"/>
            <a:ext cx="0" cy="4425900"/>
          </a:xfrm>
          <a:prstGeom prst="straightConnector1">
            <a:avLst/>
          </a:prstGeom>
          <a:noFill/>
          <a:ln cap="flat" cmpd="sng" w="9525">
            <a:solidFill>
              <a:srgbClr val="EF6450"/>
            </a:solidFill>
            <a:prstDash val="solid"/>
            <a:miter lim="800000"/>
            <a:headEnd len="med" w="med" type="oval"/>
            <a:tailEnd len="med" w="med" type="oval"/>
          </a:ln>
        </p:spPr>
      </p:cxnSp>
      <p:cxnSp>
        <p:nvCxnSpPr>
          <p:cNvPr id="203" name="Google Shape;203;p24"/>
          <p:cNvCxnSpPr/>
          <p:nvPr/>
        </p:nvCxnSpPr>
        <p:spPr>
          <a:xfrm>
            <a:off x="4236558" y="1892033"/>
            <a:ext cx="0" cy="4425900"/>
          </a:xfrm>
          <a:prstGeom prst="straightConnector1">
            <a:avLst/>
          </a:prstGeom>
          <a:noFill/>
          <a:ln cap="flat" cmpd="sng" w="9525">
            <a:solidFill>
              <a:srgbClr val="EF6450"/>
            </a:solidFill>
            <a:prstDash val="solid"/>
            <a:miter lim="800000"/>
            <a:headEnd len="med" w="med" type="oval"/>
            <a:tailEnd len="med" w="med" type="oval"/>
          </a:ln>
        </p:spPr>
      </p:cxnSp>
      <p:sp>
        <p:nvSpPr>
          <p:cNvPr id="204" name="Google Shape;204;p24"/>
          <p:cNvSpPr txBox="1"/>
          <p:nvPr>
            <p:ph idx="2" type="body"/>
          </p:nvPr>
        </p:nvSpPr>
        <p:spPr>
          <a:xfrm>
            <a:off x="761809" y="2825567"/>
            <a:ext cx="3224100" cy="3233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205" name="Google Shape;205;p24"/>
          <p:cNvSpPr txBox="1"/>
          <p:nvPr>
            <p:ph idx="3" type="body"/>
          </p:nvPr>
        </p:nvSpPr>
        <p:spPr>
          <a:xfrm>
            <a:off x="4482478" y="2825567"/>
            <a:ext cx="3224100" cy="3233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206" name="Google Shape;206;p24"/>
          <p:cNvSpPr txBox="1"/>
          <p:nvPr>
            <p:ph idx="4" type="body"/>
          </p:nvPr>
        </p:nvSpPr>
        <p:spPr>
          <a:xfrm>
            <a:off x="8167756" y="2825567"/>
            <a:ext cx="3224100" cy="3233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207" name="Google Shape;207;p24"/>
          <p:cNvSpPr txBox="1"/>
          <p:nvPr>
            <p:ph idx="5" type="subTitle"/>
          </p:nvPr>
        </p:nvSpPr>
        <p:spPr>
          <a:xfrm>
            <a:off x="786070" y="1970336"/>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sp>
        <p:nvSpPr>
          <p:cNvPr id="208" name="Google Shape;208;p24"/>
          <p:cNvSpPr txBox="1"/>
          <p:nvPr>
            <p:ph idx="6" type="subTitle"/>
          </p:nvPr>
        </p:nvSpPr>
        <p:spPr>
          <a:xfrm>
            <a:off x="4494675" y="1970336"/>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sp>
        <p:nvSpPr>
          <p:cNvPr id="209" name="Google Shape;209;p24"/>
          <p:cNvSpPr txBox="1"/>
          <p:nvPr>
            <p:ph idx="7" type="subTitle"/>
          </p:nvPr>
        </p:nvSpPr>
        <p:spPr>
          <a:xfrm>
            <a:off x="8179953" y="1970336"/>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sp>
        <p:nvSpPr>
          <p:cNvPr id="210" name="Google Shape;210;p24"/>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ontent C - 3 Column w/ Icon Spot">
  <p:cSld name="OBJECT_2_1_1_2_1">
    <p:spTree>
      <p:nvGrpSpPr>
        <p:cNvPr id="211" name="Shape 211"/>
        <p:cNvGrpSpPr/>
        <p:nvPr/>
      </p:nvGrpSpPr>
      <p:grpSpPr>
        <a:xfrm>
          <a:off x="0" y="0"/>
          <a:ext cx="0" cy="0"/>
          <a:chOff x="0" y="0"/>
          <a:chExt cx="0" cy="0"/>
        </a:xfrm>
      </p:grpSpPr>
      <p:sp>
        <p:nvSpPr>
          <p:cNvPr id="212" name="Google Shape;212;p25"/>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213" name="Google Shape;213;p25"/>
          <p:cNvSpPr txBox="1"/>
          <p:nvPr>
            <p:ph idx="1" type="body"/>
          </p:nvPr>
        </p:nvSpPr>
        <p:spPr>
          <a:xfrm>
            <a:off x="761809" y="3986900"/>
            <a:ext cx="3224100" cy="2261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214" name="Google Shape;214;p25"/>
          <p:cNvSpPr txBox="1"/>
          <p:nvPr>
            <p:ph idx="2"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215" name="Google Shape;215;p25"/>
          <p:cNvSpPr txBox="1"/>
          <p:nvPr>
            <p:ph idx="3" type="body"/>
          </p:nvPr>
        </p:nvSpPr>
        <p:spPr>
          <a:xfrm>
            <a:off x="4482478" y="3986900"/>
            <a:ext cx="3224100" cy="2261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216" name="Google Shape;216;p25"/>
          <p:cNvSpPr txBox="1"/>
          <p:nvPr>
            <p:ph idx="4" type="subTitle"/>
          </p:nvPr>
        </p:nvSpPr>
        <p:spPr>
          <a:xfrm>
            <a:off x="786070" y="3126633"/>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sp>
        <p:nvSpPr>
          <p:cNvPr id="217" name="Google Shape;217;p25"/>
          <p:cNvSpPr txBox="1"/>
          <p:nvPr>
            <p:ph idx="5" type="subTitle"/>
          </p:nvPr>
        </p:nvSpPr>
        <p:spPr>
          <a:xfrm>
            <a:off x="4494675" y="3126633"/>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sp>
        <p:nvSpPr>
          <p:cNvPr id="218" name="Google Shape;218;p25"/>
          <p:cNvSpPr txBox="1"/>
          <p:nvPr>
            <p:ph idx="6" type="body"/>
          </p:nvPr>
        </p:nvSpPr>
        <p:spPr>
          <a:xfrm>
            <a:off x="8167756" y="3986900"/>
            <a:ext cx="3224100" cy="2261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219" name="Google Shape;219;p25"/>
          <p:cNvSpPr txBox="1"/>
          <p:nvPr>
            <p:ph idx="7" type="subTitle"/>
          </p:nvPr>
        </p:nvSpPr>
        <p:spPr>
          <a:xfrm>
            <a:off x="8179953" y="3126636"/>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cxnSp>
        <p:nvCxnSpPr>
          <p:cNvPr id="220" name="Google Shape;220;p25"/>
          <p:cNvCxnSpPr/>
          <p:nvPr/>
        </p:nvCxnSpPr>
        <p:spPr>
          <a:xfrm>
            <a:off x="7933896" y="1892033"/>
            <a:ext cx="0" cy="4425900"/>
          </a:xfrm>
          <a:prstGeom prst="straightConnector1">
            <a:avLst/>
          </a:prstGeom>
          <a:noFill/>
          <a:ln cap="flat" cmpd="sng" w="9525">
            <a:solidFill>
              <a:srgbClr val="EF6450"/>
            </a:solidFill>
            <a:prstDash val="solid"/>
            <a:miter lim="800000"/>
            <a:headEnd len="med" w="med" type="oval"/>
            <a:tailEnd len="med" w="med" type="oval"/>
          </a:ln>
        </p:spPr>
      </p:cxnSp>
      <p:cxnSp>
        <p:nvCxnSpPr>
          <p:cNvPr id="221" name="Google Shape;221;p25"/>
          <p:cNvCxnSpPr/>
          <p:nvPr/>
        </p:nvCxnSpPr>
        <p:spPr>
          <a:xfrm>
            <a:off x="4236558" y="1892033"/>
            <a:ext cx="0" cy="4425900"/>
          </a:xfrm>
          <a:prstGeom prst="straightConnector1">
            <a:avLst/>
          </a:prstGeom>
          <a:noFill/>
          <a:ln cap="flat" cmpd="sng" w="9525">
            <a:solidFill>
              <a:srgbClr val="EF6450"/>
            </a:solidFill>
            <a:prstDash val="solid"/>
            <a:miter lim="800000"/>
            <a:headEnd len="med" w="med" type="oval"/>
            <a:tailEnd len="med" w="med" type="oval"/>
          </a:ln>
        </p:spPr>
      </p:cxnSp>
      <p:sp>
        <p:nvSpPr>
          <p:cNvPr id="222" name="Google Shape;222;p25"/>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Content C - 3 Column Cards">
  <p:cSld name="OBJECT_2_1_1_1_1_1">
    <p:spTree>
      <p:nvGrpSpPr>
        <p:cNvPr id="223" name="Shape 223"/>
        <p:cNvGrpSpPr/>
        <p:nvPr/>
      </p:nvGrpSpPr>
      <p:grpSpPr>
        <a:xfrm>
          <a:off x="0" y="0"/>
          <a:ext cx="0" cy="0"/>
          <a:chOff x="0" y="0"/>
          <a:chExt cx="0" cy="0"/>
        </a:xfrm>
      </p:grpSpPr>
      <p:sp>
        <p:nvSpPr>
          <p:cNvPr id="224" name="Google Shape;224;p26"/>
          <p:cNvSpPr/>
          <p:nvPr/>
        </p:nvSpPr>
        <p:spPr>
          <a:xfrm>
            <a:off x="7980003" y="1825633"/>
            <a:ext cx="3599400" cy="44229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25" name="Google Shape;225;p26"/>
          <p:cNvSpPr/>
          <p:nvPr/>
        </p:nvSpPr>
        <p:spPr>
          <a:xfrm>
            <a:off x="4294659" y="1825633"/>
            <a:ext cx="3599400" cy="44229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26" name="Google Shape;226;p26"/>
          <p:cNvSpPr/>
          <p:nvPr/>
        </p:nvSpPr>
        <p:spPr>
          <a:xfrm>
            <a:off x="609447" y="1825633"/>
            <a:ext cx="3599400" cy="44229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27" name="Google Shape;227;p26"/>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228" name="Google Shape;228;p26"/>
          <p:cNvSpPr txBox="1"/>
          <p:nvPr>
            <p:ph idx="1" type="body"/>
          </p:nvPr>
        </p:nvSpPr>
        <p:spPr>
          <a:xfrm>
            <a:off x="761809" y="2825567"/>
            <a:ext cx="3224100" cy="3233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229" name="Google Shape;229;p26"/>
          <p:cNvSpPr txBox="1"/>
          <p:nvPr>
            <p:ph idx="2"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230" name="Google Shape;230;p26"/>
          <p:cNvSpPr txBox="1"/>
          <p:nvPr>
            <p:ph idx="3" type="body"/>
          </p:nvPr>
        </p:nvSpPr>
        <p:spPr>
          <a:xfrm>
            <a:off x="4482478" y="2825567"/>
            <a:ext cx="3224100" cy="3233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231" name="Google Shape;231;p26"/>
          <p:cNvSpPr txBox="1"/>
          <p:nvPr>
            <p:ph idx="4" type="body"/>
          </p:nvPr>
        </p:nvSpPr>
        <p:spPr>
          <a:xfrm>
            <a:off x="8167756" y="2825567"/>
            <a:ext cx="3224100" cy="3233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232" name="Google Shape;232;p26"/>
          <p:cNvSpPr txBox="1"/>
          <p:nvPr>
            <p:ph idx="5" type="subTitle"/>
          </p:nvPr>
        </p:nvSpPr>
        <p:spPr>
          <a:xfrm>
            <a:off x="786070" y="1970336"/>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sp>
        <p:nvSpPr>
          <p:cNvPr id="233" name="Google Shape;233;p26"/>
          <p:cNvSpPr txBox="1"/>
          <p:nvPr>
            <p:ph idx="6" type="subTitle"/>
          </p:nvPr>
        </p:nvSpPr>
        <p:spPr>
          <a:xfrm>
            <a:off x="4494675" y="1970336"/>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sp>
        <p:nvSpPr>
          <p:cNvPr id="234" name="Google Shape;234;p26"/>
          <p:cNvSpPr txBox="1"/>
          <p:nvPr>
            <p:ph idx="7" type="subTitle"/>
          </p:nvPr>
        </p:nvSpPr>
        <p:spPr>
          <a:xfrm>
            <a:off x="8179953" y="1970336"/>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sp>
        <p:nvSpPr>
          <p:cNvPr id="235" name="Google Shape;235;p26"/>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Content D - Card Right">
  <p:cSld name="OBJECT_2">
    <p:spTree>
      <p:nvGrpSpPr>
        <p:cNvPr id="236" name="Shape 236"/>
        <p:cNvGrpSpPr/>
        <p:nvPr/>
      </p:nvGrpSpPr>
      <p:grpSpPr>
        <a:xfrm>
          <a:off x="0" y="0"/>
          <a:ext cx="0" cy="0"/>
          <a:chOff x="0" y="0"/>
          <a:chExt cx="0" cy="0"/>
        </a:xfrm>
      </p:grpSpPr>
      <p:sp>
        <p:nvSpPr>
          <p:cNvPr id="237" name="Google Shape;237;p27"/>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238" name="Google Shape;238;p27"/>
          <p:cNvSpPr/>
          <p:nvPr/>
        </p:nvSpPr>
        <p:spPr>
          <a:xfrm>
            <a:off x="6024226" y="1825633"/>
            <a:ext cx="5555100" cy="44229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39" name="Google Shape;239;p27"/>
          <p:cNvSpPr txBox="1"/>
          <p:nvPr>
            <p:ph idx="1" type="body"/>
          </p:nvPr>
        </p:nvSpPr>
        <p:spPr>
          <a:xfrm>
            <a:off x="761809" y="1988833"/>
            <a:ext cx="4354800" cy="41499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240" name="Google Shape;240;p27"/>
          <p:cNvSpPr txBox="1"/>
          <p:nvPr>
            <p:ph idx="2" type="body"/>
          </p:nvPr>
        </p:nvSpPr>
        <p:spPr>
          <a:xfrm>
            <a:off x="6164724" y="1988833"/>
            <a:ext cx="5244000" cy="41499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241" name="Google Shape;241;p27"/>
          <p:cNvSpPr txBox="1"/>
          <p:nvPr>
            <p:ph idx="3"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400"/>
              <a:buNone/>
              <a:defRPr sz="2400"/>
            </a:lvl2pPr>
            <a:lvl3pPr lvl="2" rtl="0">
              <a:spcBef>
                <a:spcPts val="500"/>
              </a:spcBef>
              <a:spcAft>
                <a:spcPts val="0"/>
              </a:spcAft>
              <a:buSzPts val="2400"/>
              <a:buNone/>
              <a:defRPr sz="2400"/>
            </a:lvl3pPr>
            <a:lvl4pPr lvl="3" rtl="0">
              <a:spcBef>
                <a:spcPts val="500"/>
              </a:spcBef>
              <a:spcAft>
                <a:spcPts val="0"/>
              </a:spcAft>
              <a:buSzPts val="2400"/>
              <a:buNone/>
              <a:defRPr sz="2400"/>
            </a:lvl4pPr>
            <a:lvl5pPr lvl="4" rtl="0">
              <a:spcBef>
                <a:spcPts val="500"/>
              </a:spcBef>
              <a:spcAft>
                <a:spcPts val="0"/>
              </a:spcAft>
              <a:buSzPts val="2400"/>
              <a:buNone/>
              <a:defRPr sz="2400"/>
            </a:lvl5pPr>
            <a:lvl6pPr lvl="5" rtl="0">
              <a:spcBef>
                <a:spcPts val="500"/>
              </a:spcBef>
              <a:spcAft>
                <a:spcPts val="0"/>
              </a:spcAft>
              <a:buSzPts val="2400"/>
              <a:buNone/>
              <a:defRPr sz="2400"/>
            </a:lvl6pPr>
            <a:lvl7pPr lvl="6" rtl="0">
              <a:spcBef>
                <a:spcPts val="500"/>
              </a:spcBef>
              <a:spcAft>
                <a:spcPts val="0"/>
              </a:spcAft>
              <a:buSzPts val="2400"/>
              <a:buNone/>
              <a:defRPr sz="2400"/>
            </a:lvl7pPr>
            <a:lvl8pPr lvl="7" rtl="0">
              <a:spcBef>
                <a:spcPts val="500"/>
              </a:spcBef>
              <a:spcAft>
                <a:spcPts val="0"/>
              </a:spcAft>
              <a:buSzPts val="2400"/>
              <a:buNone/>
              <a:defRPr sz="2400"/>
            </a:lvl8pPr>
            <a:lvl9pPr lvl="8" rtl="0">
              <a:spcBef>
                <a:spcPts val="500"/>
              </a:spcBef>
              <a:spcAft>
                <a:spcPts val="0"/>
              </a:spcAft>
              <a:buSzPts val="2400"/>
              <a:buNone/>
              <a:defRPr sz="2400"/>
            </a:lvl9pPr>
          </a:lstStyle>
          <a:p/>
        </p:txBody>
      </p:sp>
      <p:sp>
        <p:nvSpPr>
          <p:cNvPr id="242" name="Google Shape;242;p27"/>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Content D - Card Left">
  <p:cSld name="OBJECT_2_2">
    <p:spTree>
      <p:nvGrpSpPr>
        <p:cNvPr id="243" name="Shape 243"/>
        <p:cNvGrpSpPr/>
        <p:nvPr/>
      </p:nvGrpSpPr>
      <p:grpSpPr>
        <a:xfrm>
          <a:off x="0" y="0"/>
          <a:ext cx="0" cy="0"/>
          <a:chOff x="0" y="0"/>
          <a:chExt cx="0" cy="0"/>
        </a:xfrm>
      </p:grpSpPr>
      <p:sp>
        <p:nvSpPr>
          <p:cNvPr id="244" name="Google Shape;244;p28"/>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245" name="Google Shape;245;p28"/>
          <p:cNvSpPr/>
          <p:nvPr/>
        </p:nvSpPr>
        <p:spPr>
          <a:xfrm>
            <a:off x="609447" y="1825633"/>
            <a:ext cx="5555100" cy="44229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46" name="Google Shape;246;p28"/>
          <p:cNvSpPr txBox="1"/>
          <p:nvPr>
            <p:ph idx="1" type="body"/>
          </p:nvPr>
        </p:nvSpPr>
        <p:spPr>
          <a:xfrm>
            <a:off x="7072430" y="1988833"/>
            <a:ext cx="4354800" cy="41499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247" name="Google Shape;247;p28"/>
          <p:cNvSpPr txBox="1"/>
          <p:nvPr>
            <p:ph idx="2" type="body"/>
          </p:nvPr>
        </p:nvSpPr>
        <p:spPr>
          <a:xfrm>
            <a:off x="759194" y="1988833"/>
            <a:ext cx="5244000" cy="41499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248" name="Google Shape;248;p28"/>
          <p:cNvSpPr txBox="1"/>
          <p:nvPr>
            <p:ph idx="3"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249" name="Google Shape;249;p28"/>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Content D - Card Large">
  <p:cSld name="OBJECT_2_1">
    <p:spTree>
      <p:nvGrpSpPr>
        <p:cNvPr id="250" name="Shape 250"/>
        <p:cNvGrpSpPr/>
        <p:nvPr/>
      </p:nvGrpSpPr>
      <p:grpSpPr>
        <a:xfrm>
          <a:off x="0" y="0"/>
          <a:ext cx="0" cy="0"/>
          <a:chOff x="0" y="0"/>
          <a:chExt cx="0" cy="0"/>
        </a:xfrm>
      </p:grpSpPr>
      <p:sp>
        <p:nvSpPr>
          <p:cNvPr id="251" name="Google Shape;251;p29"/>
          <p:cNvSpPr/>
          <p:nvPr/>
        </p:nvSpPr>
        <p:spPr>
          <a:xfrm>
            <a:off x="609447" y="1825633"/>
            <a:ext cx="10969800" cy="44229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52" name="Google Shape;252;p29"/>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253" name="Google Shape;253;p29"/>
          <p:cNvSpPr txBox="1"/>
          <p:nvPr>
            <p:ph idx="1" type="body"/>
          </p:nvPr>
        </p:nvSpPr>
        <p:spPr>
          <a:xfrm>
            <a:off x="761809" y="1988833"/>
            <a:ext cx="10659300" cy="41499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9pPr>
          </a:lstStyle>
          <a:p/>
        </p:txBody>
      </p:sp>
      <p:sp>
        <p:nvSpPr>
          <p:cNvPr id="254" name="Google Shape;254;p29"/>
          <p:cNvSpPr txBox="1"/>
          <p:nvPr>
            <p:ph idx="2"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255" name="Google Shape;255;p29"/>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Content D - Card Quad">
  <p:cSld name="OBJECT_2_1_1">
    <p:spTree>
      <p:nvGrpSpPr>
        <p:cNvPr id="256" name="Shape 256"/>
        <p:cNvGrpSpPr/>
        <p:nvPr/>
      </p:nvGrpSpPr>
      <p:grpSpPr>
        <a:xfrm>
          <a:off x="0" y="0"/>
          <a:ext cx="0" cy="0"/>
          <a:chOff x="0" y="0"/>
          <a:chExt cx="0" cy="0"/>
        </a:xfrm>
      </p:grpSpPr>
      <p:sp>
        <p:nvSpPr>
          <p:cNvPr id="257" name="Google Shape;257;p30"/>
          <p:cNvSpPr/>
          <p:nvPr/>
        </p:nvSpPr>
        <p:spPr>
          <a:xfrm>
            <a:off x="6161558" y="4147599"/>
            <a:ext cx="5414700" cy="21057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58" name="Google Shape;258;p30"/>
          <p:cNvSpPr/>
          <p:nvPr/>
        </p:nvSpPr>
        <p:spPr>
          <a:xfrm>
            <a:off x="609447" y="4147599"/>
            <a:ext cx="5414700" cy="21057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59" name="Google Shape;259;p30"/>
          <p:cNvSpPr/>
          <p:nvPr/>
        </p:nvSpPr>
        <p:spPr>
          <a:xfrm>
            <a:off x="6161558" y="1825633"/>
            <a:ext cx="5414700" cy="21057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60" name="Google Shape;260;p30"/>
          <p:cNvSpPr/>
          <p:nvPr/>
        </p:nvSpPr>
        <p:spPr>
          <a:xfrm>
            <a:off x="609447" y="1825633"/>
            <a:ext cx="5414700" cy="21057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61" name="Google Shape;261;p30"/>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262" name="Google Shape;262;p30"/>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263" name="Google Shape;263;p30"/>
          <p:cNvSpPr txBox="1"/>
          <p:nvPr>
            <p:ph idx="2" type="subTitle"/>
          </p:nvPr>
        </p:nvSpPr>
        <p:spPr>
          <a:xfrm>
            <a:off x="764709" y="1988833"/>
            <a:ext cx="5110800" cy="1785300"/>
          </a:xfrm>
          <a:prstGeom prst="rect">
            <a:avLst/>
          </a:prstGeom>
        </p:spPr>
        <p:txBody>
          <a:bodyPr anchorCtr="0" anchor="t" bIns="0" lIns="0" spcFirstLastPara="1" rIns="0" wrap="square" tIns="0">
            <a:noAutofit/>
          </a:bodyPr>
          <a:lstStyle>
            <a:lvl1pPr lvl="0">
              <a:lnSpc>
                <a:spcPct val="115000"/>
              </a:lnSpc>
              <a:spcBef>
                <a:spcPts val="1100"/>
              </a:spcBef>
              <a:spcAft>
                <a:spcPts val="0"/>
              </a:spcAft>
              <a:buClr>
                <a:schemeClr val="dk1"/>
              </a:buClr>
              <a:buSzPts val="1600"/>
              <a:buNone/>
              <a:defRPr sz="1600"/>
            </a:lvl1pPr>
            <a:lvl2pPr lvl="1">
              <a:lnSpc>
                <a:spcPct val="115000"/>
              </a:lnSpc>
              <a:spcBef>
                <a:spcPts val="500"/>
              </a:spcBef>
              <a:spcAft>
                <a:spcPts val="0"/>
              </a:spcAft>
              <a:buClr>
                <a:schemeClr val="dk1"/>
              </a:buClr>
              <a:buSzPts val="1600"/>
              <a:buNone/>
              <a:defRPr sz="1600"/>
            </a:lvl2pPr>
            <a:lvl3pPr lvl="2">
              <a:lnSpc>
                <a:spcPct val="115000"/>
              </a:lnSpc>
              <a:spcBef>
                <a:spcPts val="500"/>
              </a:spcBef>
              <a:spcAft>
                <a:spcPts val="0"/>
              </a:spcAft>
              <a:buSzPts val="1600"/>
              <a:buNone/>
              <a:defRPr/>
            </a:lvl3pPr>
            <a:lvl4pPr lvl="3">
              <a:lnSpc>
                <a:spcPct val="115000"/>
              </a:lnSpc>
              <a:spcBef>
                <a:spcPts val="500"/>
              </a:spcBef>
              <a:spcAft>
                <a:spcPts val="0"/>
              </a:spcAft>
              <a:buSzPts val="1600"/>
              <a:buNone/>
              <a:defRPr/>
            </a:lvl4pPr>
            <a:lvl5pPr lvl="4">
              <a:lnSpc>
                <a:spcPct val="115000"/>
              </a:lnSpc>
              <a:spcBef>
                <a:spcPts val="500"/>
              </a:spcBef>
              <a:spcAft>
                <a:spcPts val="0"/>
              </a:spcAft>
              <a:buSzPts val="1600"/>
              <a:buNone/>
              <a:defRPr/>
            </a:lvl5pPr>
            <a:lvl6pPr lvl="5">
              <a:lnSpc>
                <a:spcPct val="115000"/>
              </a:lnSpc>
              <a:spcBef>
                <a:spcPts val="500"/>
              </a:spcBef>
              <a:spcAft>
                <a:spcPts val="0"/>
              </a:spcAft>
              <a:buSzPts val="1600"/>
              <a:buNone/>
              <a:defRPr/>
            </a:lvl6pPr>
            <a:lvl7pPr lvl="6">
              <a:lnSpc>
                <a:spcPct val="115000"/>
              </a:lnSpc>
              <a:spcBef>
                <a:spcPts val="500"/>
              </a:spcBef>
              <a:spcAft>
                <a:spcPts val="0"/>
              </a:spcAft>
              <a:buSzPts val="1600"/>
              <a:buNone/>
              <a:defRPr/>
            </a:lvl7pPr>
            <a:lvl8pPr lvl="7">
              <a:lnSpc>
                <a:spcPct val="115000"/>
              </a:lnSpc>
              <a:spcBef>
                <a:spcPts val="500"/>
              </a:spcBef>
              <a:spcAft>
                <a:spcPts val="0"/>
              </a:spcAft>
              <a:buSzPts val="1600"/>
              <a:buNone/>
              <a:defRPr/>
            </a:lvl8pPr>
            <a:lvl9pPr lvl="8">
              <a:lnSpc>
                <a:spcPct val="115000"/>
              </a:lnSpc>
              <a:spcBef>
                <a:spcPts val="500"/>
              </a:spcBef>
              <a:spcAft>
                <a:spcPts val="0"/>
              </a:spcAft>
              <a:buSzPts val="1600"/>
              <a:buNone/>
              <a:defRPr/>
            </a:lvl9pPr>
          </a:lstStyle>
          <a:p/>
        </p:txBody>
      </p:sp>
      <p:sp>
        <p:nvSpPr>
          <p:cNvPr id="264" name="Google Shape;264;p30"/>
          <p:cNvSpPr txBox="1"/>
          <p:nvPr>
            <p:ph idx="3" type="subTitle"/>
          </p:nvPr>
        </p:nvSpPr>
        <p:spPr>
          <a:xfrm>
            <a:off x="6313520" y="1988833"/>
            <a:ext cx="5110800" cy="17853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1600"/>
              <a:buNone/>
              <a:defRPr sz="1600"/>
            </a:lvl1pPr>
            <a:lvl2pPr lvl="1" rtl="0">
              <a:lnSpc>
                <a:spcPct val="115000"/>
              </a:lnSpc>
              <a:spcBef>
                <a:spcPts val="500"/>
              </a:spcBef>
              <a:spcAft>
                <a:spcPts val="0"/>
              </a:spcAft>
              <a:buClr>
                <a:schemeClr val="dk1"/>
              </a:buClr>
              <a:buSzPts val="1600"/>
              <a:buNone/>
              <a:defRPr sz="1600"/>
            </a:lvl2pPr>
            <a:lvl3pPr lvl="2" rtl="0">
              <a:lnSpc>
                <a:spcPct val="115000"/>
              </a:lnSpc>
              <a:spcBef>
                <a:spcPts val="500"/>
              </a:spcBef>
              <a:spcAft>
                <a:spcPts val="0"/>
              </a:spcAft>
              <a:buSzPts val="1600"/>
              <a:buNone/>
              <a:defRPr/>
            </a:lvl3pPr>
            <a:lvl4pPr lvl="3" rtl="0">
              <a:lnSpc>
                <a:spcPct val="115000"/>
              </a:lnSpc>
              <a:spcBef>
                <a:spcPts val="500"/>
              </a:spcBef>
              <a:spcAft>
                <a:spcPts val="0"/>
              </a:spcAft>
              <a:buSzPts val="1600"/>
              <a:buNone/>
              <a:defRPr/>
            </a:lvl4pPr>
            <a:lvl5pPr lvl="4" rtl="0">
              <a:lnSpc>
                <a:spcPct val="115000"/>
              </a:lnSpc>
              <a:spcBef>
                <a:spcPts val="500"/>
              </a:spcBef>
              <a:spcAft>
                <a:spcPts val="0"/>
              </a:spcAft>
              <a:buSzPts val="1600"/>
              <a:buNone/>
              <a:defRPr/>
            </a:lvl5pPr>
            <a:lvl6pPr lvl="5" rtl="0">
              <a:lnSpc>
                <a:spcPct val="115000"/>
              </a:lnSpc>
              <a:spcBef>
                <a:spcPts val="500"/>
              </a:spcBef>
              <a:spcAft>
                <a:spcPts val="0"/>
              </a:spcAft>
              <a:buSzPts val="1600"/>
              <a:buNone/>
              <a:defRPr/>
            </a:lvl6pPr>
            <a:lvl7pPr lvl="6" rtl="0">
              <a:lnSpc>
                <a:spcPct val="115000"/>
              </a:lnSpc>
              <a:spcBef>
                <a:spcPts val="500"/>
              </a:spcBef>
              <a:spcAft>
                <a:spcPts val="0"/>
              </a:spcAft>
              <a:buSzPts val="1600"/>
              <a:buNone/>
              <a:defRPr/>
            </a:lvl7pPr>
            <a:lvl8pPr lvl="7" rtl="0">
              <a:lnSpc>
                <a:spcPct val="115000"/>
              </a:lnSpc>
              <a:spcBef>
                <a:spcPts val="500"/>
              </a:spcBef>
              <a:spcAft>
                <a:spcPts val="0"/>
              </a:spcAft>
              <a:buSzPts val="1600"/>
              <a:buNone/>
              <a:defRPr/>
            </a:lvl8pPr>
            <a:lvl9pPr lvl="8" rtl="0">
              <a:lnSpc>
                <a:spcPct val="115000"/>
              </a:lnSpc>
              <a:spcBef>
                <a:spcPts val="500"/>
              </a:spcBef>
              <a:spcAft>
                <a:spcPts val="0"/>
              </a:spcAft>
              <a:buSzPts val="1600"/>
              <a:buNone/>
              <a:defRPr/>
            </a:lvl9pPr>
          </a:lstStyle>
          <a:p/>
        </p:txBody>
      </p:sp>
      <p:sp>
        <p:nvSpPr>
          <p:cNvPr id="265" name="Google Shape;265;p30"/>
          <p:cNvSpPr txBox="1"/>
          <p:nvPr>
            <p:ph idx="4" type="subTitle"/>
          </p:nvPr>
        </p:nvSpPr>
        <p:spPr>
          <a:xfrm>
            <a:off x="764709" y="4302068"/>
            <a:ext cx="5110800" cy="17853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1600"/>
              <a:buNone/>
              <a:defRPr sz="1600"/>
            </a:lvl1pPr>
            <a:lvl2pPr lvl="1" rtl="0">
              <a:lnSpc>
                <a:spcPct val="115000"/>
              </a:lnSpc>
              <a:spcBef>
                <a:spcPts val="500"/>
              </a:spcBef>
              <a:spcAft>
                <a:spcPts val="0"/>
              </a:spcAft>
              <a:buClr>
                <a:schemeClr val="dk1"/>
              </a:buClr>
              <a:buSzPts val="1600"/>
              <a:buNone/>
              <a:defRPr sz="1600"/>
            </a:lvl2pPr>
            <a:lvl3pPr lvl="2" rtl="0">
              <a:lnSpc>
                <a:spcPct val="115000"/>
              </a:lnSpc>
              <a:spcBef>
                <a:spcPts val="500"/>
              </a:spcBef>
              <a:spcAft>
                <a:spcPts val="0"/>
              </a:spcAft>
              <a:buSzPts val="1600"/>
              <a:buNone/>
              <a:defRPr/>
            </a:lvl3pPr>
            <a:lvl4pPr lvl="3" rtl="0">
              <a:lnSpc>
                <a:spcPct val="115000"/>
              </a:lnSpc>
              <a:spcBef>
                <a:spcPts val="500"/>
              </a:spcBef>
              <a:spcAft>
                <a:spcPts val="0"/>
              </a:spcAft>
              <a:buSzPts val="1600"/>
              <a:buNone/>
              <a:defRPr/>
            </a:lvl4pPr>
            <a:lvl5pPr lvl="4" rtl="0">
              <a:lnSpc>
                <a:spcPct val="115000"/>
              </a:lnSpc>
              <a:spcBef>
                <a:spcPts val="500"/>
              </a:spcBef>
              <a:spcAft>
                <a:spcPts val="0"/>
              </a:spcAft>
              <a:buSzPts val="1600"/>
              <a:buNone/>
              <a:defRPr/>
            </a:lvl5pPr>
            <a:lvl6pPr lvl="5" rtl="0">
              <a:lnSpc>
                <a:spcPct val="115000"/>
              </a:lnSpc>
              <a:spcBef>
                <a:spcPts val="500"/>
              </a:spcBef>
              <a:spcAft>
                <a:spcPts val="0"/>
              </a:spcAft>
              <a:buSzPts val="1600"/>
              <a:buNone/>
              <a:defRPr/>
            </a:lvl6pPr>
            <a:lvl7pPr lvl="6" rtl="0">
              <a:lnSpc>
                <a:spcPct val="115000"/>
              </a:lnSpc>
              <a:spcBef>
                <a:spcPts val="500"/>
              </a:spcBef>
              <a:spcAft>
                <a:spcPts val="0"/>
              </a:spcAft>
              <a:buSzPts val="1600"/>
              <a:buNone/>
              <a:defRPr/>
            </a:lvl7pPr>
            <a:lvl8pPr lvl="7" rtl="0">
              <a:lnSpc>
                <a:spcPct val="115000"/>
              </a:lnSpc>
              <a:spcBef>
                <a:spcPts val="500"/>
              </a:spcBef>
              <a:spcAft>
                <a:spcPts val="0"/>
              </a:spcAft>
              <a:buSzPts val="1600"/>
              <a:buNone/>
              <a:defRPr/>
            </a:lvl8pPr>
            <a:lvl9pPr lvl="8" rtl="0">
              <a:lnSpc>
                <a:spcPct val="115000"/>
              </a:lnSpc>
              <a:spcBef>
                <a:spcPts val="500"/>
              </a:spcBef>
              <a:spcAft>
                <a:spcPts val="0"/>
              </a:spcAft>
              <a:buSzPts val="1600"/>
              <a:buNone/>
              <a:defRPr/>
            </a:lvl9pPr>
          </a:lstStyle>
          <a:p/>
        </p:txBody>
      </p:sp>
      <p:sp>
        <p:nvSpPr>
          <p:cNvPr id="266" name="Google Shape;266;p30"/>
          <p:cNvSpPr txBox="1"/>
          <p:nvPr>
            <p:ph idx="5" type="subTitle"/>
          </p:nvPr>
        </p:nvSpPr>
        <p:spPr>
          <a:xfrm>
            <a:off x="6313520" y="4302068"/>
            <a:ext cx="5110800" cy="17853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1600"/>
              <a:buNone/>
              <a:defRPr sz="1600"/>
            </a:lvl1pPr>
            <a:lvl2pPr lvl="1" rtl="0">
              <a:lnSpc>
                <a:spcPct val="115000"/>
              </a:lnSpc>
              <a:spcBef>
                <a:spcPts val="500"/>
              </a:spcBef>
              <a:spcAft>
                <a:spcPts val="0"/>
              </a:spcAft>
              <a:buClr>
                <a:schemeClr val="dk1"/>
              </a:buClr>
              <a:buSzPts val="1600"/>
              <a:buNone/>
              <a:defRPr sz="1600"/>
            </a:lvl2pPr>
            <a:lvl3pPr lvl="2" rtl="0">
              <a:lnSpc>
                <a:spcPct val="115000"/>
              </a:lnSpc>
              <a:spcBef>
                <a:spcPts val="500"/>
              </a:spcBef>
              <a:spcAft>
                <a:spcPts val="0"/>
              </a:spcAft>
              <a:buSzPts val="1600"/>
              <a:buNone/>
              <a:defRPr/>
            </a:lvl3pPr>
            <a:lvl4pPr lvl="3" rtl="0">
              <a:lnSpc>
                <a:spcPct val="115000"/>
              </a:lnSpc>
              <a:spcBef>
                <a:spcPts val="500"/>
              </a:spcBef>
              <a:spcAft>
                <a:spcPts val="0"/>
              </a:spcAft>
              <a:buSzPts val="1600"/>
              <a:buNone/>
              <a:defRPr/>
            </a:lvl4pPr>
            <a:lvl5pPr lvl="4" rtl="0">
              <a:lnSpc>
                <a:spcPct val="115000"/>
              </a:lnSpc>
              <a:spcBef>
                <a:spcPts val="500"/>
              </a:spcBef>
              <a:spcAft>
                <a:spcPts val="0"/>
              </a:spcAft>
              <a:buSzPts val="1600"/>
              <a:buNone/>
              <a:defRPr/>
            </a:lvl5pPr>
            <a:lvl6pPr lvl="5" rtl="0">
              <a:lnSpc>
                <a:spcPct val="115000"/>
              </a:lnSpc>
              <a:spcBef>
                <a:spcPts val="500"/>
              </a:spcBef>
              <a:spcAft>
                <a:spcPts val="0"/>
              </a:spcAft>
              <a:buSzPts val="1600"/>
              <a:buNone/>
              <a:defRPr/>
            </a:lvl6pPr>
            <a:lvl7pPr lvl="6" rtl="0">
              <a:lnSpc>
                <a:spcPct val="115000"/>
              </a:lnSpc>
              <a:spcBef>
                <a:spcPts val="500"/>
              </a:spcBef>
              <a:spcAft>
                <a:spcPts val="0"/>
              </a:spcAft>
              <a:buSzPts val="1600"/>
              <a:buNone/>
              <a:defRPr/>
            </a:lvl7pPr>
            <a:lvl8pPr lvl="7" rtl="0">
              <a:lnSpc>
                <a:spcPct val="115000"/>
              </a:lnSpc>
              <a:spcBef>
                <a:spcPts val="500"/>
              </a:spcBef>
              <a:spcAft>
                <a:spcPts val="0"/>
              </a:spcAft>
              <a:buSzPts val="1600"/>
              <a:buNone/>
              <a:defRPr/>
            </a:lvl8pPr>
            <a:lvl9pPr lvl="8" rtl="0">
              <a:lnSpc>
                <a:spcPct val="115000"/>
              </a:lnSpc>
              <a:spcBef>
                <a:spcPts val="500"/>
              </a:spcBef>
              <a:spcAft>
                <a:spcPts val="0"/>
              </a:spcAft>
              <a:buSzPts val="1600"/>
              <a:buNone/>
              <a:defRPr/>
            </a:lvl9pPr>
          </a:lstStyle>
          <a:p/>
        </p:txBody>
      </p:sp>
      <p:sp>
        <p:nvSpPr>
          <p:cNvPr id="267" name="Google Shape;267;p30"/>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 - Power Statement 1">
  <p:cSld name="OBJECT_2_1_1_2_1_1_1">
    <p:spTree>
      <p:nvGrpSpPr>
        <p:cNvPr id="268" name="Shape 268"/>
        <p:cNvGrpSpPr/>
        <p:nvPr/>
      </p:nvGrpSpPr>
      <p:grpSpPr>
        <a:xfrm>
          <a:off x="0" y="0"/>
          <a:ext cx="0" cy="0"/>
          <a:chOff x="0" y="0"/>
          <a:chExt cx="0" cy="0"/>
        </a:xfrm>
      </p:grpSpPr>
      <p:sp>
        <p:nvSpPr>
          <p:cNvPr id="269" name="Google Shape;269;p31"/>
          <p:cNvSpPr txBox="1"/>
          <p:nvPr>
            <p:ph type="title"/>
          </p:nvPr>
        </p:nvSpPr>
        <p:spPr>
          <a:xfrm>
            <a:off x="1675975" y="535625"/>
            <a:ext cx="8837100" cy="5712900"/>
          </a:xfrm>
          <a:prstGeom prst="rect">
            <a:avLst/>
          </a:prstGeom>
          <a:noFill/>
          <a:ln>
            <a:noFill/>
          </a:ln>
        </p:spPr>
        <p:txBody>
          <a:bodyPr anchorCtr="0" anchor="ctr" bIns="0" lIns="0" spcFirstLastPara="1" rIns="0" wrap="square" tIns="0">
            <a:noAutofit/>
          </a:bodyPr>
          <a:lstStyle>
            <a:lvl1pPr lvl="0" marR="0" rtl="0" algn="ctr">
              <a:lnSpc>
                <a:spcPct val="100000"/>
              </a:lnSpc>
              <a:spcBef>
                <a:spcPts val="0"/>
              </a:spcBef>
              <a:spcAft>
                <a:spcPts val="0"/>
              </a:spcAft>
              <a:buClr>
                <a:schemeClr val="accent1"/>
              </a:buClr>
              <a:buSzPts val="4800"/>
              <a:buFont typeface="DM Sans Medium"/>
              <a:buNone/>
              <a:defRPr i="0" sz="4800" u="none" cap="none" strike="noStrike">
                <a:solidFill>
                  <a:schemeClr val="accent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270" name="Google Shape;270;p31"/>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 - Blank">
  <p:cSld name="OBJECT_2_1_1_2_1_1_1_3">
    <p:spTree>
      <p:nvGrpSpPr>
        <p:cNvPr id="271" name="Shape 271"/>
        <p:cNvGrpSpPr/>
        <p:nvPr/>
      </p:nvGrpSpPr>
      <p:grpSpPr>
        <a:xfrm>
          <a:off x="0" y="0"/>
          <a:ext cx="0" cy="0"/>
          <a:chOff x="0" y="0"/>
          <a:chExt cx="0" cy="0"/>
        </a:xfrm>
      </p:grpSpPr>
      <p:sp>
        <p:nvSpPr>
          <p:cNvPr id="272" name="Google Shape;272;p32"/>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73" name="Google Shape;273;p32"/>
          <p:cNvSpPr/>
          <p:nvPr/>
        </p:nvSpPr>
        <p:spPr>
          <a:xfrm>
            <a:off x="-25" y="0"/>
            <a:ext cx="12189000" cy="6858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 - Power Statement 2">
  <p:cSld name="OBJECT_2_1_1_2_1_1_1_1">
    <p:bg>
      <p:bgPr>
        <a:solidFill>
          <a:schemeClr val="dk1"/>
        </a:solidFill>
      </p:bgPr>
    </p:bg>
    <p:spTree>
      <p:nvGrpSpPr>
        <p:cNvPr id="274" name="Shape 274"/>
        <p:cNvGrpSpPr/>
        <p:nvPr/>
      </p:nvGrpSpPr>
      <p:grpSpPr>
        <a:xfrm>
          <a:off x="0" y="0"/>
          <a:ext cx="0" cy="0"/>
          <a:chOff x="0" y="0"/>
          <a:chExt cx="0" cy="0"/>
        </a:xfrm>
      </p:grpSpPr>
      <p:sp>
        <p:nvSpPr>
          <p:cNvPr id="275" name="Google Shape;275;p33"/>
          <p:cNvSpPr txBox="1"/>
          <p:nvPr>
            <p:ph type="title"/>
          </p:nvPr>
        </p:nvSpPr>
        <p:spPr>
          <a:xfrm>
            <a:off x="1675975" y="535625"/>
            <a:ext cx="8837100" cy="5712900"/>
          </a:xfrm>
          <a:prstGeom prst="rect">
            <a:avLst/>
          </a:prstGeom>
          <a:noFill/>
          <a:ln>
            <a:noFill/>
          </a:ln>
        </p:spPr>
        <p:txBody>
          <a:bodyPr anchorCtr="0" anchor="ctr" bIns="0" lIns="0" spcFirstLastPara="1" rIns="0" wrap="square" tIns="0">
            <a:noAutofit/>
          </a:bodyPr>
          <a:lstStyle>
            <a:lvl1pPr lvl="0" marR="0" rtl="0" algn="ctr">
              <a:lnSpc>
                <a:spcPct val="100000"/>
              </a:lnSpc>
              <a:spcBef>
                <a:spcPts val="0"/>
              </a:spcBef>
              <a:spcAft>
                <a:spcPts val="0"/>
              </a:spcAft>
              <a:buClr>
                <a:schemeClr val="lt1"/>
              </a:buClr>
              <a:buSzPts val="4800"/>
              <a:buFont typeface="DM Sans Medium"/>
              <a:buNone/>
              <a:defRPr i="0" sz="4800" u="none" cap="none" strike="noStrike">
                <a:solidFill>
                  <a:schemeClr val="lt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276" name="Google Shape;276;p33"/>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 - Power Statement 3">
  <p:cSld name="OBJECT_2_1_1_2_1_1_1_1_1">
    <p:bg>
      <p:bgPr>
        <a:solidFill>
          <a:schemeClr val="accent4"/>
        </a:solidFill>
      </p:bgPr>
    </p:bg>
    <p:spTree>
      <p:nvGrpSpPr>
        <p:cNvPr id="277" name="Shape 277"/>
        <p:cNvGrpSpPr/>
        <p:nvPr/>
      </p:nvGrpSpPr>
      <p:grpSpPr>
        <a:xfrm>
          <a:off x="0" y="0"/>
          <a:ext cx="0" cy="0"/>
          <a:chOff x="0" y="0"/>
          <a:chExt cx="0" cy="0"/>
        </a:xfrm>
      </p:grpSpPr>
      <p:sp>
        <p:nvSpPr>
          <p:cNvPr id="278" name="Google Shape;278;p34"/>
          <p:cNvSpPr txBox="1"/>
          <p:nvPr>
            <p:ph type="title"/>
          </p:nvPr>
        </p:nvSpPr>
        <p:spPr>
          <a:xfrm>
            <a:off x="1675975" y="535625"/>
            <a:ext cx="8837100" cy="5712900"/>
          </a:xfrm>
          <a:prstGeom prst="rect">
            <a:avLst/>
          </a:prstGeom>
          <a:noFill/>
          <a:ln>
            <a:noFill/>
          </a:ln>
        </p:spPr>
        <p:txBody>
          <a:bodyPr anchorCtr="0" anchor="ctr" bIns="0" lIns="0" spcFirstLastPara="1" rIns="0" wrap="square" tIns="0">
            <a:noAutofit/>
          </a:bodyPr>
          <a:lstStyle>
            <a:lvl1pPr lvl="0" marR="0" rtl="0" algn="ctr">
              <a:lnSpc>
                <a:spcPct val="100000"/>
              </a:lnSpc>
              <a:spcBef>
                <a:spcPts val="0"/>
              </a:spcBef>
              <a:spcAft>
                <a:spcPts val="0"/>
              </a:spcAft>
              <a:buSzPts val="4800"/>
              <a:buFont typeface="DM Sans Medium"/>
              <a:buNone/>
              <a:defRPr i="0" sz="4800" u="none" cap="none" strike="noStrike">
                <a:latin typeface="DM Sans Medium"/>
                <a:ea typeface="DM Sans Medium"/>
                <a:cs typeface="DM Sans Medium"/>
                <a:sym typeface="DM Sans Medium"/>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279" name="Google Shape;279;p34"/>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 - Power Statement 4">
  <p:cSld name="OBJECT_2_1_1_2_1_1_1_1_1_1">
    <p:bg>
      <p:bgPr>
        <a:solidFill>
          <a:schemeClr val="dk2"/>
        </a:solidFill>
      </p:bgPr>
    </p:bg>
    <p:spTree>
      <p:nvGrpSpPr>
        <p:cNvPr id="280" name="Shape 280"/>
        <p:cNvGrpSpPr/>
        <p:nvPr/>
      </p:nvGrpSpPr>
      <p:grpSpPr>
        <a:xfrm>
          <a:off x="0" y="0"/>
          <a:ext cx="0" cy="0"/>
          <a:chOff x="0" y="0"/>
          <a:chExt cx="0" cy="0"/>
        </a:xfrm>
      </p:grpSpPr>
      <p:sp>
        <p:nvSpPr>
          <p:cNvPr id="281" name="Google Shape;281;p35"/>
          <p:cNvSpPr txBox="1"/>
          <p:nvPr>
            <p:ph type="title"/>
          </p:nvPr>
        </p:nvSpPr>
        <p:spPr>
          <a:xfrm>
            <a:off x="1675975" y="535625"/>
            <a:ext cx="8837100" cy="5712900"/>
          </a:xfrm>
          <a:prstGeom prst="rect">
            <a:avLst/>
          </a:prstGeom>
          <a:noFill/>
          <a:ln>
            <a:noFill/>
          </a:ln>
        </p:spPr>
        <p:txBody>
          <a:bodyPr anchorCtr="0" anchor="ctr" bIns="0" lIns="0" spcFirstLastPara="1" rIns="0" wrap="square" tIns="0">
            <a:noAutofit/>
          </a:bodyPr>
          <a:lstStyle>
            <a:lvl1pPr lvl="0" marR="0" rtl="0" algn="ctr">
              <a:lnSpc>
                <a:spcPct val="100000"/>
              </a:lnSpc>
              <a:spcBef>
                <a:spcPts val="0"/>
              </a:spcBef>
              <a:spcAft>
                <a:spcPts val="0"/>
              </a:spcAft>
              <a:buClr>
                <a:schemeClr val="lt1"/>
              </a:buClr>
              <a:buSzPts val="4800"/>
              <a:buFont typeface="DM Sans Medium"/>
              <a:buNone/>
              <a:defRPr i="0" sz="4800" u="none" cap="none" strike="noStrike">
                <a:solidFill>
                  <a:schemeClr val="lt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282" name="Google Shape;282;p35"/>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83" name="Google Shape;283;p35"/>
          <p:cNvPicPr preferRelativeResize="0"/>
          <p:nvPr/>
        </p:nvPicPr>
        <p:blipFill>
          <a:blip r:embed="rId2">
            <a:alphaModFix/>
          </a:blip>
          <a:stretch>
            <a:fillRect/>
          </a:stretch>
        </p:blipFill>
        <p:spPr>
          <a:xfrm>
            <a:off x="10666487" y="6474098"/>
            <a:ext cx="188420" cy="18842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F - Artistic Divider 1">
  <p:cSld name="OBJECT_2_1_1_2_1_1_1_1_1_1_1">
    <p:bg>
      <p:bgPr>
        <a:solidFill>
          <a:schemeClr val="lt1"/>
        </a:solidFill>
      </p:bgPr>
    </p:bg>
    <p:spTree>
      <p:nvGrpSpPr>
        <p:cNvPr id="284" name="Shape 284"/>
        <p:cNvGrpSpPr/>
        <p:nvPr/>
      </p:nvGrpSpPr>
      <p:grpSpPr>
        <a:xfrm>
          <a:off x="0" y="0"/>
          <a:ext cx="0" cy="0"/>
          <a:chOff x="0" y="0"/>
          <a:chExt cx="0" cy="0"/>
        </a:xfrm>
      </p:grpSpPr>
      <p:sp>
        <p:nvSpPr>
          <p:cNvPr id="285" name="Google Shape;285;p36"/>
          <p:cNvSpPr txBox="1"/>
          <p:nvPr>
            <p:ph type="title"/>
          </p:nvPr>
        </p:nvSpPr>
        <p:spPr>
          <a:xfrm>
            <a:off x="749246" y="535633"/>
            <a:ext cx="8878200" cy="5712900"/>
          </a:xfrm>
          <a:prstGeom prst="rect">
            <a:avLst/>
          </a:prstGeom>
          <a:noFill/>
          <a:ln>
            <a:noFill/>
          </a:ln>
        </p:spPr>
        <p:txBody>
          <a:bodyPr anchorCtr="0" anchor="ctr" bIns="0" lIns="0" spcFirstLastPara="1" rIns="0" wrap="square" tIns="0">
            <a:noAutofit/>
          </a:bodyPr>
          <a:lstStyle>
            <a:lvl1pPr lvl="0" marR="0" rtl="0">
              <a:lnSpc>
                <a:spcPct val="100000"/>
              </a:lnSpc>
              <a:spcBef>
                <a:spcPts val="0"/>
              </a:spcBef>
              <a:spcAft>
                <a:spcPts val="0"/>
              </a:spcAft>
              <a:buSzPts val="6400"/>
              <a:buFont typeface="DM Sans Medium"/>
              <a:buNone/>
              <a:defRPr i="0" sz="6400" u="none" cap="none" strike="noStrike">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286" name="Google Shape;286;p36"/>
          <p:cNvSpPr/>
          <p:nvPr/>
        </p:nvSpPr>
        <p:spPr>
          <a:xfrm>
            <a:off x="11225458" y="0"/>
            <a:ext cx="975300" cy="9756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87" name="Google Shape;287;p36"/>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88" name="Google Shape;288;p36"/>
          <p:cNvSpPr/>
          <p:nvPr/>
        </p:nvSpPr>
        <p:spPr>
          <a:xfrm>
            <a:off x="10205213" y="0"/>
            <a:ext cx="1989000" cy="1989600"/>
          </a:xfrm>
          <a:prstGeom prst="ellipse">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89" name="Google Shape;289;p36"/>
          <p:cNvSpPr/>
          <p:nvPr/>
        </p:nvSpPr>
        <p:spPr>
          <a:xfrm rot="10800000">
            <a:off x="10205315" y="4258800"/>
            <a:ext cx="1989000" cy="1989600"/>
          </a:xfrm>
          <a:prstGeom prst="rtTriangle">
            <a:avLst/>
          </a:pr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90" name="Google Shape;290;p36"/>
          <p:cNvSpPr/>
          <p:nvPr/>
        </p:nvSpPr>
        <p:spPr>
          <a:xfrm>
            <a:off x="11225458" y="3283200"/>
            <a:ext cx="975300" cy="975600"/>
          </a:xfrm>
          <a:prstGeom prst="rect">
            <a:avLst/>
          </a:prstGeom>
          <a:solidFill>
            <a:srgbClr val="FF362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91" name="Google Shape;291;p36"/>
          <p:cNvSpPr/>
          <p:nvPr/>
        </p:nvSpPr>
        <p:spPr>
          <a:xfrm rot="-5400000">
            <a:off x="11216810" y="3283117"/>
            <a:ext cx="977700" cy="977400"/>
          </a:xfrm>
          <a:prstGeom prst="rtTriangle">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92" name="Google Shape;292;p36"/>
          <p:cNvSpPr/>
          <p:nvPr/>
        </p:nvSpPr>
        <p:spPr>
          <a:xfrm>
            <a:off x="8239838" y="975600"/>
            <a:ext cx="481200" cy="4812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93" name="Google Shape;293;p36"/>
          <p:cNvSpPr/>
          <p:nvPr/>
        </p:nvSpPr>
        <p:spPr>
          <a:xfrm>
            <a:off x="8868881" y="5767200"/>
            <a:ext cx="481200" cy="481200"/>
          </a:xfrm>
          <a:prstGeom prst="ellipse">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94" name="Google Shape;294;p36"/>
          <p:cNvSpPr/>
          <p:nvPr/>
        </p:nvSpPr>
        <p:spPr>
          <a:xfrm>
            <a:off x="9968739" y="3046667"/>
            <a:ext cx="236400" cy="236400"/>
          </a:xfrm>
          <a:prstGeom prst="rtTriangle">
            <a:avLst/>
          </a:pr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F - Artistic Divider 2">
  <p:cSld name="OBJECT_2_1_1_2_1_1_1_1_1_1_1_1">
    <p:bg>
      <p:bgPr>
        <a:solidFill>
          <a:schemeClr val="lt1"/>
        </a:solidFill>
      </p:bgPr>
    </p:bg>
    <p:spTree>
      <p:nvGrpSpPr>
        <p:cNvPr id="295" name="Shape 295"/>
        <p:cNvGrpSpPr/>
        <p:nvPr/>
      </p:nvGrpSpPr>
      <p:grpSpPr>
        <a:xfrm>
          <a:off x="0" y="0"/>
          <a:ext cx="0" cy="0"/>
          <a:chOff x="0" y="0"/>
          <a:chExt cx="0" cy="0"/>
        </a:xfrm>
      </p:grpSpPr>
      <p:sp>
        <p:nvSpPr>
          <p:cNvPr id="296" name="Google Shape;296;p37"/>
          <p:cNvSpPr/>
          <p:nvPr/>
        </p:nvSpPr>
        <p:spPr>
          <a:xfrm rot="10800000">
            <a:off x="10359958" y="1989767"/>
            <a:ext cx="865500" cy="865500"/>
          </a:xfrm>
          <a:prstGeom prst="arc">
            <a:avLst>
              <a:gd fmla="val 16200000" name="adj1"/>
              <a:gd fmla="val 0" name="adj2"/>
            </a:avLst>
          </a:prstGeom>
          <a:noFill/>
          <a:ln cap="flat" cmpd="sng" w="9525">
            <a:solidFill>
              <a:schemeClr val="lt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97" name="Google Shape;297;p37"/>
          <p:cNvSpPr/>
          <p:nvPr/>
        </p:nvSpPr>
        <p:spPr>
          <a:xfrm rot="10800000">
            <a:off x="10508758" y="1989600"/>
            <a:ext cx="716700" cy="716700"/>
          </a:xfrm>
          <a:prstGeom prst="arc">
            <a:avLst>
              <a:gd fmla="val 16200000" name="adj1"/>
              <a:gd fmla="val 0" name="adj2"/>
            </a:avLst>
          </a:prstGeom>
          <a:noFill/>
          <a:ln cap="flat" cmpd="sng" w="9525">
            <a:solidFill>
              <a:schemeClr val="lt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sp>
        <p:nvSpPr>
          <p:cNvPr id="298" name="Google Shape;298;p37"/>
          <p:cNvSpPr/>
          <p:nvPr/>
        </p:nvSpPr>
        <p:spPr>
          <a:xfrm rot="10800000">
            <a:off x="10653025" y="1989633"/>
            <a:ext cx="571800" cy="572100"/>
          </a:xfrm>
          <a:prstGeom prst="arc">
            <a:avLst>
              <a:gd fmla="val 16200000" name="adj1"/>
              <a:gd fmla="val 0" name="adj2"/>
            </a:avLst>
          </a:prstGeom>
          <a:noFill/>
          <a:ln cap="flat" cmpd="sng" w="9525">
            <a:solidFill>
              <a:schemeClr val="lt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cxnSp>
        <p:nvCxnSpPr>
          <p:cNvPr id="299" name="Google Shape;299;p37"/>
          <p:cNvCxnSpPr>
            <a:stCxn id="298" idx="2"/>
          </p:cNvCxnSpPr>
          <p:nvPr/>
        </p:nvCxnSpPr>
        <p:spPr>
          <a:xfrm rot="10800000">
            <a:off x="10653025" y="1981383"/>
            <a:ext cx="0" cy="294300"/>
          </a:xfrm>
          <a:prstGeom prst="straightConnector1">
            <a:avLst/>
          </a:prstGeom>
          <a:noFill/>
          <a:ln cap="flat" cmpd="sng" w="9525">
            <a:solidFill>
              <a:schemeClr val="lt2"/>
            </a:solidFill>
            <a:prstDash val="solid"/>
            <a:round/>
            <a:headEnd len="med" w="med" type="none"/>
            <a:tailEnd len="med" w="med" type="none"/>
          </a:ln>
        </p:spPr>
      </p:cxnSp>
      <p:cxnSp>
        <p:nvCxnSpPr>
          <p:cNvPr id="300" name="Google Shape;300;p37"/>
          <p:cNvCxnSpPr>
            <a:stCxn id="296" idx="2"/>
          </p:cNvCxnSpPr>
          <p:nvPr/>
        </p:nvCxnSpPr>
        <p:spPr>
          <a:xfrm rot="10800000">
            <a:off x="10359958" y="1983617"/>
            <a:ext cx="0" cy="438900"/>
          </a:xfrm>
          <a:prstGeom prst="straightConnector1">
            <a:avLst/>
          </a:prstGeom>
          <a:noFill/>
          <a:ln cap="flat" cmpd="sng" w="9525">
            <a:solidFill>
              <a:schemeClr val="lt2"/>
            </a:solidFill>
            <a:prstDash val="solid"/>
            <a:round/>
            <a:headEnd len="med" w="med" type="none"/>
            <a:tailEnd len="med" w="med" type="none"/>
          </a:ln>
        </p:spPr>
      </p:cxnSp>
      <p:cxnSp>
        <p:nvCxnSpPr>
          <p:cNvPr id="301" name="Google Shape;301;p37"/>
          <p:cNvCxnSpPr>
            <a:stCxn id="297" idx="2"/>
          </p:cNvCxnSpPr>
          <p:nvPr/>
        </p:nvCxnSpPr>
        <p:spPr>
          <a:xfrm rot="10800000">
            <a:off x="10508758" y="1983450"/>
            <a:ext cx="0" cy="364500"/>
          </a:xfrm>
          <a:prstGeom prst="straightConnector1">
            <a:avLst/>
          </a:prstGeom>
          <a:noFill/>
          <a:ln cap="flat" cmpd="sng" w="9525">
            <a:solidFill>
              <a:schemeClr val="lt2"/>
            </a:solidFill>
            <a:prstDash val="solid"/>
            <a:round/>
            <a:headEnd len="med" w="med" type="none"/>
            <a:tailEnd len="med" w="med" type="none"/>
          </a:ln>
        </p:spPr>
      </p:cxnSp>
      <p:cxnSp>
        <p:nvCxnSpPr>
          <p:cNvPr id="302" name="Google Shape;302;p37"/>
          <p:cNvCxnSpPr>
            <a:stCxn id="298" idx="0"/>
          </p:cNvCxnSpPr>
          <p:nvPr/>
        </p:nvCxnSpPr>
        <p:spPr>
          <a:xfrm>
            <a:off x="10938925" y="2561733"/>
            <a:ext cx="325800" cy="0"/>
          </a:xfrm>
          <a:prstGeom prst="straightConnector1">
            <a:avLst/>
          </a:prstGeom>
          <a:noFill/>
          <a:ln cap="flat" cmpd="sng" w="9525">
            <a:solidFill>
              <a:schemeClr val="lt2"/>
            </a:solidFill>
            <a:prstDash val="solid"/>
            <a:round/>
            <a:headEnd len="med" w="med" type="none"/>
            <a:tailEnd len="med" w="med" type="none"/>
          </a:ln>
        </p:spPr>
      </p:cxnSp>
      <p:cxnSp>
        <p:nvCxnSpPr>
          <p:cNvPr id="303" name="Google Shape;303;p37"/>
          <p:cNvCxnSpPr>
            <a:stCxn id="297" idx="0"/>
          </p:cNvCxnSpPr>
          <p:nvPr/>
        </p:nvCxnSpPr>
        <p:spPr>
          <a:xfrm>
            <a:off x="10867108" y="2706300"/>
            <a:ext cx="475500" cy="0"/>
          </a:xfrm>
          <a:prstGeom prst="straightConnector1">
            <a:avLst/>
          </a:prstGeom>
          <a:noFill/>
          <a:ln cap="flat" cmpd="sng" w="9525">
            <a:solidFill>
              <a:schemeClr val="lt2"/>
            </a:solidFill>
            <a:prstDash val="solid"/>
            <a:round/>
            <a:headEnd len="med" w="med" type="none"/>
            <a:tailEnd len="med" w="med" type="none"/>
          </a:ln>
        </p:spPr>
      </p:cxnSp>
      <p:cxnSp>
        <p:nvCxnSpPr>
          <p:cNvPr id="304" name="Google Shape;304;p37"/>
          <p:cNvCxnSpPr>
            <a:stCxn id="296" idx="0"/>
          </p:cNvCxnSpPr>
          <p:nvPr/>
        </p:nvCxnSpPr>
        <p:spPr>
          <a:xfrm>
            <a:off x="10792708" y="2855267"/>
            <a:ext cx="456600" cy="0"/>
          </a:xfrm>
          <a:prstGeom prst="straightConnector1">
            <a:avLst/>
          </a:prstGeom>
          <a:noFill/>
          <a:ln cap="flat" cmpd="sng" w="9525">
            <a:solidFill>
              <a:schemeClr val="lt2"/>
            </a:solidFill>
            <a:prstDash val="solid"/>
            <a:round/>
            <a:headEnd len="med" w="med" type="none"/>
            <a:tailEnd len="med" w="med" type="none"/>
          </a:ln>
        </p:spPr>
      </p:cxnSp>
      <p:sp>
        <p:nvSpPr>
          <p:cNvPr id="305" name="Google Shape;305;p37"/>
          <p:cNvSpPr txBox="1"/>
          <p:nvPr>
            <p:ph type="title"/>
          </p:nvPr>
        </p:nvSpPr>
        <p:spPr>
          <a:xfrm>
            <a:off x="749246" y="535633"/>
            <a:ext cx="8878200" cy="5712900"/>
          </a:xfrm>
          <a:prstGeom prst="rect">
            <a:avLst/>
          </a:prstGeom>
          <a:noFill/>
          <a:ln>
            <a:noFill/>
          </a:ln>
        </p:spPr>
        <p:txBody>
          <a:bodyPr anchorCtr="0" anchor="ctr" bIns="0" lIns="0" spcFirstLastPara="1" rIns="0" wrap="square" tIns="0">
            <a:noAutofit/>
          </a:bodyPr>
          <a:lstStyle>
            <a:lvl1pPr lvl="0" marR="0" rtl="0">
              <a:lnSpc>
                <a:spcPct val="100000"/>
              </a:lnSpc>
              <a:spcBef>
                <a:spcPts val="0"/>
              </a:spcBef>
              <a:spcAft>
                <a:spcPts val="0"/>
              </a:spcAft>
              <a:buSzPts val="6400"/>
              <a:buFont typeface="DM Sans Medium"/>
              <a:buNone/>
              <a:defRPr i="0" sz="6400" u="none" cap="none" strike="noStrike">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306" name="Google Shape;306;p37"/>
          <p:cNvSpPr/>
          <p:nvPr/>
        </p:nvSpPr>
        <p:spPr>
          <a:xfrm>
            <a:off x="10250102" y="0"/>
            <a:ext cx="975300" cy="9756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07" name="Google Shape;307;p37"/>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08" name="Google Shape;308;p37"/>
          <p:cNvSpPr/>
          <p:nvPr/>
        </p:nvSpPr>
        <p:spPr>
          <a:xfrm>
            <a:off x="10205213" y="4258800"/>
            <a:ext cx="1989000" cy="1989600"/>
          </a:xfrm>
          <a:prstGeom prst="ellipse">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09" name="Google Shape;309;p37"/>
          <p:cNvSpPr/>
          <p:nvPr/>
        </p:nvSpPr>
        <p:spPr>
          <a:xfrm rot="-5400000">
            <a:off x="10204913" y="300"/>
            <a:ext cx="1989600" cy="1989000"/>
          </a:xfrm>
          <a:prstGeom prst="rtTriangle">
            <a:avLst/>
          </a:pr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10" name="Google Shape;310;p37"/>
          <p:cNvSpPr/>
          <p:nvPr/>
        </p:nvSpPr>
        <p:spPr>
          <a:xfrm>
            <a:off x="11225458" y="1989733"/>
            <a:ext cx="975300" cy="9756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11" name="Google Shape;311;p37"/>
          <p:cNvSpPr/>
          <p:nvPr/>
        </p:nvSpPr>
        <p:spPr>
          <a:xfrm rot="-5400000">
            <a:off x="11216810" y="1989650"/>
            <a:ext cx="977700" cy="977400"/>
          </a:xfrm>
          <a:prstGeom prst="rtTriangle">
            <a:avLst/>
          </a:prstGeom>
          <a:solidFill>
            <a:srgbClr val="FF362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12" name="Google Shape;312;p37"/>
          <p:cNvSpPr/>
          <p:nvPr/>
        </p:nvSpPr>
        <p:spPr>
          <a:xfrm>
            <a:off x="9724133" y="5767200"/>
            <a:ext cx="481200" cy="481200"/>
          </a:xfrm>
          <a:prstGeom prst="rect">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13" name="Google Shape;313;p37"/>
          <p:cNvSpPr/>
          <p:nvPr/>
        </p:nvSpPr>
        <p:spPr>
          <a:xfrm>
            <a:off x="8868881" y="494400"/>
            <a:ext cx="481200" cy="481200"/>
          </a:xfrm>
          <a:prstGeom prst="ellipse">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14" name="Google Shape;314;p37"/>
          <p:cNvSpPr/>
          <p:nvPr/>
        </p:nvSpPr>
        <p:spPr>
          <a:xfrm>
            <a:off x="10199848" y="4258800"/>
            <a:ext cx="1989000" cy="1989600"/>
          </a:xfrm>
          <a:prstGeom prst="arc">
            <a:avLst>
              <a:gd fmla="val 16200000" name="adj1"/>
              <a:gd fmla="val 0" name="adj2"/>
            </a:avLst>
          </a:pr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F - Artistic Divider 3">
  <p:cSld name="OBJECT_2_1_1_2_1_1_1_1_1_1_1_1_1">
    <p:bg>
      <p:bgPr>
        <a:solidFill>
          <a:schemeClr val="lt1"/>
        </a:solidFill>
      </p:bgPr>
    </p:bg>
    <p:spTree>
      <p:nvGrpSpPr>
        <p:cNvPr id="315" name="Shape 315"/>
        <p:cNvGrpSpPr/>
        <p:nvPr/>
      </p:nvGrpSpPr>
      <p:grpSpPr>
        <a:xfrm>
          <a:off x="0" y="0"/>
          <a:ext cx="0" cy="0"/>
          <a:chOff x="0" y="0"/>
          <a:chExt cx="0" cy="0"/>
        </a:xfrm>
      </p:grpSpPr>
      <p:sp>
        <p:nvSpPr>
          <p:cNvPr id="316" name="Google Shape;316;p38"/>
          <p:cNvSpPr txBox="1"/>
          <p:nvPr>
            <p:ph type="title"/>
          </p:nvPr>
        </p:nvSpPr>
        <p:spPr>
          <a:xfrm>
            <a:off x="749246" y="535633"/>
            <a:ext cx="8878200" cy="5712900"/>
          </a:xfrm>
          <a:prstGeom prst="rect">
            <a:avLst/>
          </a:prstGeom>
          <a:noFill/>
          <a:ln>
            <a:noFill/>
          </a:ln>
        </p:spPr>
        <p:txBody>
          <a:bodyPr anchorCtr="0" anchor="ctr" bIns="0" lIns="0" spcFirstLastPara="1" rIns="0" wrap="square" tIns="0">
            <a:noAutofit/>
          </a:bodyPr>
          <a:lstStyle>
            <a:lvl1pPr lvl="0" marR="0" rtl="0">
              <a:lnSpc>
                <a:spcPct val="100000"/>
              </a:lnSpc>
              <a:spcBef>
                <a:spcPts val="0"/>
              </a:spcBef>
              <a:spcAft>
                <a:spcPts val="0"/>
              </a:spcAft>
              <a:buSzPts val="6400"/>
              <a:buFont typeface="DM Sans Medium"/>
              <a:buNone/>
              <a:defRPr i="0" sz="6400" u="none" cap="none" strike="noStrike">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317" name="Google Shape;317;p38"/>
          <p:cNvSpPr/>
          <p:nvPr/>
        </p:nvSpPr>
        <p:spPr>
          <a:xfrm>
            <a:off x="10220276" y="1989600"/>
            <a:ext cx="975300" cy="975600"/>
          </a:xfrm>
          <a:prstGeom prst="rect">
            <a:avLst/>
          </a:pr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18" name="Google Shape;318;p38"/>
          <p:cNvSpPr/>
          <p:nvPr/>
        </p:nvSpPr>
        <p:spPr>
          <a:xfrm>
            <a:off x="11213594" y="2965200"/>
            <a:ext cx="980700" cy="1989600"/>
          </a:xfrm>
          <a:prstGeom prst="rect">
            <a:avLst/>
          </a:prstGeom>
          <a:solidFill>
            <a:srgbClr val="FF362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19" name="Google Shape;319;p38"/>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20" name="Google Shape;320;p38"/>
          <p:cNvSpPr/>
          <p:nvPr/>
        </p:nvSpPr>
        <p:spPr>
          <a:xfrm rot="10800000">
            <a:off x="10202633" y="2965200"/>
            <a:ext cx="1989000" cy="1989600"/>
          </a:xfrm>
          <a:prstGeom prst="ellipse">
            <a:avLst/>
          </a:pr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21" name="Google Shape;321;p38"/>
          <p:cNvSpPr/>
          <p:nvPr/>
        </p:nvSpPr>
        <p:spPr>
          <a:xfrm rot="-5400000">
            <a:off x="10204913" y="300"/>
            <a:ext cx="1989600" cy="1989000"/>
          </a:xfrm>
          <a:prstGeom prst="rtTriangle">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22" name="Google Shape;322;p38"/>
          <p:cNvSpPr/>
          <p:nvPr/>
        </p:nvSpPr>
        <p:spPr>
          <a:xfrm rot="-5400000">
            <a:off x="8287565" y="33"/>
            <a:ext cx="480300" cy="480300"/>
          </a:xfrm>
          <a:prstGeom prst="rtTriangle">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lang="en" sz="1900"/>
              <a:t>   </a:t>
            </a:r>
            <a:endParaRPr sz="1900"/>
          </a:p>
        </p:txBody>
      </p:sp>
      <p:sp>
        <p:nvSpPr>
          <p:cNvPr id="323" name="Google Shape;323;p38"/>
          <p:cNvSpPr/>
          <p:nvPr/>
        </p:nvSpPr>
        <p:spPr>
          <a:xfrm>
            <a:off x="11707870" y="5767200"/>
            <a:ext cx="481200" cy="481200"/>
          </a:xfrm>
          <a:prstGeom prst="rect">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24" name="Google Shape;324;p38"/>
          <p:cNvSpPr/>
          <p:nvPr/>
        </p:nvSpPr>
        <p:spPr>
          <a:xfrm>
            <a:off x="9724133" y="535633"/>
            <a:ext cx="481200" cy="481200"/>
          </a:xfrm>
          <a:prstGeom prst="ellipse">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25" name="Google Shape;325;p38"/>
          <p:cNvSpPr/>
          <p:nvPr/>
        </p:nvSpPr>
        <p:spPr>
          <a:xfrm rot="10800000">
            <a:off x="10202633" y="2965200"/>
            <a:ext cx="1989000" cy="1989600"/>
          </a:xfrm>
          <a:prstGeom prst="arc">
            <a:avLst>
              <a:gd fmla="val 16200000" name="adj1"/>
              <a:gd fmla="val 0" name="adj2"/>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26" name="Google Shape;326;p38"/>
          <p:cNvSpPr/>
          <p:nvPr/>
        </p:nvSpPr>
        <p:spPr>
          <a:xfrm rot="-5400000">
            <a:off x="10202230" y="2965500"/>
            <a:ext cx="1989600" cy="1989000"/>
          </a:xfrm>
          <a:prstGeom prst="arc">
            <a:avLst>
              <a:gd fmla="val 16200000" name="adj1"/>
              <a:gd fmla="val 0" name="adj2"/>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cxnSp>
        <p:nvCxnSpPr>
          <p:cNvPr id="327" name="Google Shape;327;p38"/>
          <p:cNvCxnSpPr/>
          <p:nvPr/>
        </p:nvCxnSpPr>
        <p:spPr>
          <a:xfrm>
            <a:off x="11372088" y="1986300"/>
            <a:ext cx="0" cy="975600"/>
          </a:xfrm>
          <a:prstGeom prst="straightConnector1">
            <a:avLst/>
          </a:prstGeom>
          <a:noFill/>
          <a:ln cap="flat" cmpd="sng" w="9525">
            <a:solidFill>
              <a:schemeClr val="lt2"/>
            </a:solidFill>
            <a:prstDash val="solid"/>
            <a:round/>
            <a:headEnd len="med" w="med" type="none"/>
            <a:tailEnd len="med" w="med" type="none"/>
          </a:ln>
        </p:spPr>
      </p:cxnSp>
      <p:cxnSp>
        <p:nvCxnSpPr>
          <p:cNvPr id="328" name="Google Shape;328;p38"/>
          <p:cNvCxnSpPr/>
          <p:nvPr/>
        </p:nvCxnSpPr>
        <p:spPr>
          <a:xfrm>
            <a:off x="11537980" y="1986300"/>
            <a:ext cx="0" cy="975600"/>
          </a:xfrm>
          <a:prstGeom prst="straightConnector1">
            <a:avLst/>
          </a:prstGeom>
          <a:noFill/>
          <a:ln cap="flat" cmpd="sng" w="9525">
            <a:solidFill>
              <a:schemeClr val="lt2"/>
            </a:solidFill>
            <a:prstDash val="solid"/>
            <a:round/>
            <a:headEnd len="med" w="med" type="none"/>
            <a:tailEnd len="med" w="med" type="none"/>
          </a:ln>
        </p:spPr>
      </p:cxnSp>
      <p:cxnSp>
        <p:nvCxnSpPr>
          <p:cNvPr id="329" name="Google Shape;329;p38"/>
          <p:cNvCxnSpPr/>
          <p:nvPr/>
        </p:nvCxnSpPr>
        <p:spPr>
          <a:xfrm>
            <a:off x="11703871" y="1986300"/>
            <a:ext cx="0" cy="975600"/>
          </a:xfrm>
          <a:prstGeom prst="straightConnector1">
            <a:avLst/>
          </a:prstGeom>
          <a:noFill/>
          <a:ln cap="flat" cmpd="sng" w="9525">
            <a:solidFill>
              <a:schemeClr val="lt2"/>
            </a:solidFill>
            <a:prstDash val="solid"/>
            <a:round/>
            <a:headEnd len="med" w="med" type="none"/>
            <a:tailEnd len="med" w="med" type="none"/>
          </a:ln>
        </p:spPr>
      </p:cxnSp>
      <p:cxnSp>
        <p:nvCxnSpPr>
          <p:cNvPr id="330" name="Google Shape;330;p38"/>
          <p:cNvCxnSpPr/>
          <p:nvPr/>
        </p:nvCxnSpPr>
        <p:spPr>
          <a:xfrm>
            <a:off x="11869763" y="1986300"/>
            <a:ext cx="0" cy="975600"/>
          </a:xfrm>
          <a:prstGeom prst="straightConnector1">
            <a:avLst/>
          </a:prstGeom>
          <a:noFill/>
          <a:ln cap="flat" cmpd="sng" w="9525">
            <a:solidFill>
              <a:schemeClr val="lt2"/>
            </a:solidFill>
            <a:prstDash val="solid"/>
            <a:round/>
            <a:headEnd len="med" w="med" type="none"/>
            <a:tailEnd len="med" w="med" type="none"/>
          </a:ln>
        </p:spPr>
      </p:cxnSp>
      <p:cxnSp>
        <p:nvCxnSpPr>
          <p:cNvPr id="331" name="Google Shape;331;p38"/>
          <p:cNvCxnSpPr/>
          <p:nvPr/>
        </p:nvCxnSpPr>
        <p:spPr>
          <a:xfrm>
            <a:off x="12035655" y="1986300"/>
            <a:ext cx="0" cy="975600"/>
          </a:xfrm>
          <a:prstGeom prst="straightConnector1">
            <a:avLst/>
          </a:prstGeom>
          <a:noFill/>
          <a:ln cap="flat" cmpd="sng" w="9525">
            <a:solidFill>
              <a:schemeClr val="lt2"/>
            </a:solidFill>
            <a:prstDash val="solid"/>
            <a:round/>
            <a:headEnd len="med" w="med" type="none"/>
            <a:tailEnd len="med" w="med" type="none"/>
          </a:ln>
        </p:spPr>
      </p:cxn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F - Artistic Divider Dark 1">
  <p:cSld name="OBJECT_2_1_1_2_1_1_1_1_1_1_1_2">
    <p:bg>
      <p:bgPr>
        <a:solidFill>
          <a:schemeClr val="dk1"/>
        </a:solidFill>
      </p:bgPr>
    </p:bg>
    <p:spTree>
      <p:nvGrpSpPr>
        <p:cNvPr id="332" name="Shape 332"/>
        <p:cNvGrpSpPr/>
        <p:nvPr/>
      </p:nvGrpSpPr>
      <p:grpSpPr>
        <a:xfrm>
          <a:off x="0" y="0"/>
          <a:ext cx="0" cy="0"/>
          <a:chOff x="0" y="0"/>
          <a:chExt cx="0" cy="0"/>
        </a:xfrm>
      </p:grpSpPr>
      <p:sp>
        <p:nvSpPr>
          <p:cNvPr id="333" name="Google Shape;333;p39"/>
          <p:cNvSpPr txBox="1"/>
          <p:nvPr>
            <p:ph type="title"/>
          </p:nvPr>
        </p:nvSpPr>
        <p:spPr>
          <a:xfrm>
            <a:off x="749246" y="535633"/>
            <a:ext cx="8878200" cy="5712900"/>
          </a:xfrm>
          <a:prstGeom prst="rect">
            <a:avLst/>
          </a:prstGeom>
          <a:noFill/>
          <a:ln>
            <a:noFill/>
          </a:ln>
        </p:spPr>
        <p:txBody>
          <a:bodyPr anchorCtr="0" anchor="ctr" bIns="0" lIns="0" spcFirstLastPara="1" rIns="0" wrap="square" tIns="0">
            <a:noAutofit/>
          </a:bodyPr>
          <a:lstStyle>
            <a:lvl1pPr lvl="0" marR="0" rtl="0">
              <a:lnSpc>
                <a:spcPct val="100000"/>
              </a:lnSpc>
              <a:spcBef>
                <a:spcPts val="0"/>
              </a:spcBef>
              <a:spcAft>
                <a:spcPts val="0"/>
              </a:spcAft>
              <a:buClr>
                <a:schemeClr val="lt2"/>
              </a:buClr>
              <a:buSzPts val="6400"/>
              <a:buFont typeface="DM Sans Medium"/>
              <a:buNone/>
              <a:defRPr i="0" sz="6400" u="none" cap="none" strike="noStrike">
                <a:solidFill>
                  <a:schemeClr val="lt2"/>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334" name="Google Shape;334;p39"/>
          <p:cNvSpPr/>
          <p:nvPr/>
        </p:nvSpPr>
        <p:spPr>
          <a:xfrm>
            <a:off x="11225458" y="0"/>
            <a:ext cx="975300" cy="975600"/>
          </a:xfrm>
          <a:prstGeom prst="rect">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35" name="Google Shape;335;p39"/>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36" name="Google Shape;336;p39"/>
          <p:cNvSpPr/>
          <p:nvPr/>
        </p:nvSpPr>
        <p:spPr>
          <a:xfrm>
            <a:off x="10205213" y="0"/>
            <a:ext cx="1989000" cy="1989600"/>
          </a:xfrm>
          <a:prstGeom prst="ellipse">
            <a:avLst/>
          </a:prstGeom>
          <a:solidFill>
            <a:srgbClr val="FF5F46"/>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37" name="Google Shape;337;p39"/>
          <p:cNvSpPr/>
          <p:nvPr/>
        </p:nvSpPr>
        <p:spPr>
          <a:xfrm rot="10800000">
            <a:off x="10205315" y="4258800"/>
            <a:ext cx="1989000" cy="1989600"/>
          </a:xfrm>
          <a:prstGeom prst="rtTriangle">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38" name="Google Shape;338;p39"/>
          <p:cNvSpPr/>
          <p:nvPr/>
        </p:nvSpPr>
        <p:spPr>
          <a:xfrm>
            <a:off x="11225458" y="3283200"/>
            <a:ext cx="975300" cy="975600"/>
          </a:xfrm>
          <a:prstGeom prst="rect">
            <a:avLst/>
          </a:prstGeom>
          <a:solidFill>
            <a:srgbClr val="FF362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39" name="Google Shape;339;p39"/>
          <p:cNvSpPr/>
          <p:nvPr/>
        </p:nvSpPr>
        <p:spPr>
          <a:xfrm rot="-5400000">
            <a:off x="11216810" y="3283117"/>
            <a:ext cx="977700" cy="977400"/>
          </a:xfrm>
          <a:prstGeom prst="rtTriangle">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solidFill>
                <a:schemeClr val="lt2"/>
              </a:solidFill>
            </a:endParaRPr>
          </a:p>
        </p:txBody>
      </p:sp>
      <p:sp>
        <p:nvSpPr>
          <p:cNvPr id="340" name="Google Shape;340;p39"/>
          <p:cNvSpPr/>
          <p:nvPr/>
        </p:nvSpPr>
        <p:spPr>
          <a:xfrm>
            <a:off x="8239838" y="975600"/>
            <a:ext cx="481200" cy="481200"/>
          </a:xfrm>
          <a:prstGeom prst="rect">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41" name="Google Shape;341;p39"/>
          <p:cNvSpPr/>
          <p:nvPr/>
        </p:nvSpPr>
        <p:spPr>
          <a:xfrm>
            <a:off x="8868881" y="5767200"/>
            <a:ext cx="481200" cy="481200"/>
          </a:xfrm>
          <a:prstGeom prst="ellipse">
            <a:avLst/>
          </a:prstGeom>
          <a:solidFill>
            <a:srgbClr val="FF5F46"/>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42" name="Google Shape;342;p39"/>
          <p:cNvSpPr/>
          <p:nvPr/>
        </p:nvSpPr>
        <p:spPr>
          <a:xfrm>
            <a:off x="9968739" y="3046667"/>
            <a:ext cx="236400" cy="236400"/>
          </a:xfrm>
          <a:prstGeom prst="rtTriangle">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F - Artistic Divider Dark 2">
  <p:cSld name="OBJECT_2_1_1_2_1_1_1_1_1_1_1_1_2">
    <p:bg>
      <p:bgPr>
        <a:solidFill>
          <a:schemeClr val="dk1"/>
        </a:solidFill>
      </p:bgPr>
    </p:bg>
    <p:spTree>
      <p:nvGrpSpPr>
        <p:cNvPr id="343" name="Shape 343"/>
        <p:cNvGrpSpPr/>
        <p:nvPr/>
      </p:nvGrpSpPr>
      <p:grpSpPr>
        <a:xfrm>
          <a:off x="0" y="0"/>
          <a:ext cx="0" cy="0"/>
          <a:chOff x="0" y="0"/>
          <a:chExt cx="0" cy="0"/>
        </a:xfrm>
      </p:grpSpPr>
      <p:sp>
        <p:nvSpPr>
          <p:cNvPr id="344" name="Google Shape;344;p40"/>
          <p:cNvSpPr/>
          <p:nvPr/>
        </p:nvSpPr>
        <p:spPr>
          <a:xfrm rot="10800000">
            <a:off x="10359958" y="1989767"/>
            <a:ext cx="865500" cy="865500"/>
          </a:xfrm>
          <a:prstGeom prst="arc">
            <a:avLst>
              <a:gd fmla="val 16200000" name="adj1"/>
              <a:gd fmla="val 0" name="adj2"/>
            </a:avLst>
          </a:prstGeom>
          <a:no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sp>
        <p:nvSpPr>
          <p:cNvPr id="345" name="Google Shape;345;p40"/>
          <p:cNvSpPr/>
          <p:nvPr/>
        </p:nvSpPr>
        <p:spPr>
          <a:xfrm rot="10800000">
            <a:off x="10508758" y="1989600"/>
            <a:ext cx="716700" cy="716700"/>
          </a:xfrm>
          <a:prstGeom prst="arc">
            <a:avLst>
              <a:gd fmla="val 16200000" name="adj1"/>
              <a:gd fmla="val 0" name="adj2"/>
            </a:avLst>
          </a:prstGeom>
          <a:no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sp>
        <p:nvSpPr>
          <p:cNvPr id="346" name="Google Shape;346;p40"/>
          <p:cNvSpPr/>
          <p:nvPr/>
        </p:nvSpPr>
        <p:spPr>
          <a:xfrm rot="10800000">
            <a:off x="10653025" y="1989633"/>
            <a:ext cx="571800" cy="572100"/>
          </a:xfrm>
          <a:prstGeom prst="arc">
            <a:avLst>
              <a:gd fmla="val 16200000" name="adj1"/>
              <a:gd fmla="val 0" name="adj2"/>
            </a:avLst>
          </a:prstGeom>
          <a:no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cxnSp>
        <p:nvCxnSpPr>
          <p:cNvPr id="347" name="Google Shape;347;p40"/>
          <p:cNvCxnSpPr>
            <a:stCxn id="346" idx="2"/>
          </p:cNvCxnSpPr>
          <p:nvPr/>
        </p:nvCxnSpPr>
        <p:spPr>
          <a:xfrm rot="10800000">
            <a:off x="10653025" y="1981383"/>
            <a:ext cx="0" cy="294300"/>
          </a:xfrm>
          <a:prstGeom prst="straightConnector1">
            <a:avLst/>
          </a:prstGeom>
          <a:noFill/>
          <a:ln cap="flat" cmpd="sng" w="9525">
            <a:solidFill>
              <a:schemeClr val="dk2"/>
            </a:solidFill>
            <a:prstDash val="solid"/>
            <a:round/>
            <a:headEnd len="med" w="med" type="none"/>
            <a:tailEnd len="med" w="med" type="none"/>
          </a:ln>
        </p:spPr>
      </p:cxnSp>
      <p:cxnSp>
        <p:nvCxnSpPr>
          <p:cNvPr id="348" name="Google Shape;348;p40"/>
          <p:cNvCxnSpPr>
            <a:stCxn id="344" idx="2"/>
          </p:cNvCxnSpPr>
          <p:nvPr/>
        </p:nvCxnSpPr>
        <p:spPr>
          <a:xfrm rot="10800000">
            <a:off x="10359958" y="1983617"/>
            <a:ext cx="0" cy="438900"/>
          </a:xfrm>
          <a:prstGeom prst="straightConnector1">
            <a:avLst/>
          </a:prstGeom>
          <a:noFill/>
          <a:ln cap="flat" cmpd="sng" w="9525">
            <a:solidFill>
              <a:schemeClr val="dk2"/>
            </a:solidFill>
            <a:prstDash val="solid"/>
            <a:round/>
            <a:headEnd len="med" w="med" type="none"/>
            <a:tailEnd len="med" w="med" type="none"/>
          </a:ln>
        </p:spPr>
      </p:cxnSp>
      <p:cxnSp>
        <p:nvCxnSpPr>
          <p:cNvPr id="349" name="Google Shape;349;p40"/>
          <p:cNvCxnSpPr>
            <a:stCxn id="345" idx="2"/>
          </p:cNvCxnSpPr>
          <p:nvPr/>
        </p:nvCxnSpPr>
        <p:spPr>
          <a:xfrm rot="10800000">
            <a:off x="10508758" y="1983450"/>
            <a:ext cx="0" cy="364500"/>
          </a:xfrm>
          <a:prstGeom prst="straightConnector1">
            <a:avLst/>
          </a:prstGeom>
          <a:noFill/>
          <a:ln cap="flat" cmpd="sng" w="9525">
            <a:solidFill>
              <a:schemeClr val="dk2"/>
            </a:solidFill>
            <a:prstDash val="solid"/>
            <a:round/>
            <a:headEnd len="med" w="med" type="none"/>
            <a:tailEnd len="med" w="med" type="none"/>
          </a:ln>
        </p:spPr>
      </p:cxnSp>
      <p:cxnSp>
        <p:nvCxnSpPr>
          <p:cNvPr id="350" name="Google Shape;350;p40"/>
          <p:cNvCxnSpPr>
            <a:stCxn id="346" idx="0"/>
          </p:cNvCxnSpPr>
          <p:nvPr/>
        </p:nvCxnSpPr>
        <p:spPr>
          <a:xfrm>
            <a:off x="10938925" y="2561733"/>
            <a:ext cx="325800" cy="0"/>
          </a:xfrm>
          <a:prstGeom prst="straightConnector1">
            <a:avLst/>
          </a:prstGeom>
          <a:noFill/>
          <a:ln cap="flat" cmpd="sng" w="9525">
            <a:solidFill>
              <a:schemeClr val="dk2"/>
            </a:solidFill>
            <a:prstDash val="solid"/>
            <a:round/>
            <a:headEnd len="med" w="med" type="none"/>
            <a:tailEnd len="med" w="med" type="none"/>
          </a:ln>
        </p:spPr>
      </p:cxnSp>
      <p:cxnSp>
        <p:nvCxnSpPr>
          <p:cNvPr id="351" name="Google Shape;351;p40"/>
          <p:cNvCxnSpPr>
            <a:stCxn id="345" idx="0"/>
          </p:cNvCxnSpPr>
          <p:nvPr/>
        </p:nvCxnSpPr>
        <p:spPr>
          <a:xfrm>
            <a:off x="10867108" y="2706300"/>
            <a:ext cx="475500" cy="0"/>
          </a:xfrm>
          <a:prstGeom prst="straightConnector1">
            <a:avLst/>
          </a:prstGeom>
          <a:noFill/>
          <a:ln cap="flat" cmpd="sng" w="9525">
            <a:solidFill>
              <a:schemeClr val="dk2"/>
            </a:solidFill>
            <a:prstDash val="solid"/>
            <a:round/>
            <a:headEnd len="med" w="med" type="none"/>
            <a:tailEnd len="med" w="med" type="none"/>
          </a:ln>
        </p:spPr>
      </p:cxnSp>
      <p:cxnSp>
        <p:nvCxnSpPr>
          <p:cNvPr id="352" name="Google Shape;352;p40"/>
          <p:cNvCxnSpPr>
            <a:stCxn id="344" idx="0"/>
          </p:cNvCxnSpPr>
          <p:nvPr/>
        </p:nvCxnSpPr>
        <p:spPr>
          <a:xfrm>
            <a:off x="10792708" y="2855267"/>
            <a:ext cx="456600" cy="0"/>
          </a:xfrm>
          <a:prstGeom prst="straightConnector1">
            <a:avLst/>
          </a:prstGeom>
          <a:noFill/>
          <a:ln cap="flat" cmpd="sng" w="9525">
            <a:solidFill>
              <a:schemeClr val="dk2"/>
            </a:solidFill>
            <a:prstDash val="solid"/>
            <a:round/>
            <a:headEnd len="med" w="med" type="none"/>
            <a:tailEnd len="med" w="med" type="none"/>
          </a:ln>
        </p:spPr>
      </p:cxnSp>
      <p:sp>
        <p:nvSpPr>
          <p:cNvPr id="353" name="Google Shape;353;p40"/>
          <p:cNvSpPr txBox="1"/>
          <p:nvPr>
            <p:ph type="title"/>
          </p:nvPr>
        </p:nvSpPr>
        <p:spPr>
          <a:xfrm>
            <a:off x="749246" y="535633"/>
            <a:ext cx="8878200" cy="5712900"/>
          </a:xfrm>
          <a:prstGeom prst="rect">
            <a:avLst/>
          </a:prstGeom>
          <a:noFill/>
          <a:ln>
            <a:noFill/>
          </a:ln>
        </p:spPr>
        <p:txBody>
          <a:bodyPr anchorCtr="0" anchor="ctr" bIns="0" lIns="0" spcFirstLastPara="1" rIns="0" wrap="square" tIns="0">
            <a:noAutofit/>
          </a:bodyPr>
          <a:lstStyle>
            <a:lvl1pPr lvl="0" marR="0" rtl="0">
              <a:lnSpc>
                <a:spcPct val="100000"/>
              </a:lnSpc>
              <a:spcBef>
                <a:spcPts val="0"/>
              </a:spcBef>
              <a:spcAft>
                <a:spcPts val="0"/>
              </a:spcAft>
              <a:buClr>
                <a:schemeClr val="lt1"/>
              </a:buClr>
              <a:buSzPts val="6400"/>
              <a:buFont typeface="DM Sans Medium"/>
              <a:buNone/>
              <a:defRPr i="0" sz="6400" u="none" cap="none" strike="noStrike">
                <a:solidFill>
                  <a:schemeClr val="lt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354" name="Google Shape;354;p40"/>
          <p:cNvSpPr/>
          <p:nvPr/>
        </p:nvSpPr>
        <p:spPr>
          <a:xfrm>
            <a:off x="10250102" y="0"/>
            <a:ext cx="975300" cy="975600"/>
          </a:xfrm>
          <a:prstGeom prst="rect">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55" name="Google Shape;355;p40"/>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56" name="Google Shape;356;p40"/>
          <p:cNvSpPr/>
          <p:nvPr/>
        </p:nvSpPr>
        <p:spPr>
          <a:xfrm>
            <a:off x="10205213" y="4258800"/>
            <a:ext cx="1989000" cy="1989600"/>
          </a:xfrm>
          <a:prstGeom prst="ellipse">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57" name="Google Shape;357;p40"/>
          <p:cNvSpPr/>
          <p:nvPr/>
        </p:nvSpPr>
        <p:spPr>
          <a:xfrm rot="-5400000">
            <a:off x="10204913" y="300"/>
            <a:ext cx="1989600" cy="1989000"/>
          </a:xfrm>
          <a:prstGeom prst="rtTriangle">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58" name="Google Shape;358;p40"/>
          <p:cNvSpPr/>
          <p:nvPr/>
        </p:nvSpPr>
        <p:spPr>
          <a:xfrm>
            <a:off x="11225458" y="1989733"/>
            <a:ext cx="975300" cy="975600"/>
          </a:xfrm>
          <a:prstGeom prst="rect">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59" name="Google Shape;359;p40"/>
          <p:cNvSpPr/>
          <p:nvPr/>
        </p:nvSpPr>
        <p:spPr>
          <a:xfrm rot="-5400000">
            <a:off x="11216810" y="1989650"/>
            <a:ext cx="977700" cy="977400"/>
          </a:xfrm>
          <a:prstGeom prst="rtTriangle">
            <a:avLst/>
          </a:prstGeom>
          <a:solidFill>
            <a:srgbClr val="FF362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60" name="Google Shape;360;p40"/>
          <p:cNvSpPr/>
          <p:nvPr/>
        </p:nvSpPr>
        <p:spPr>
          <a:xfrm>
            <a:off x="9724133" y="5767200"/>
            <a:ext cx="481200" cy="481200"/>
          </a:xfrm>
          <a:prstGeom prst="rect">
            <a:avLst/>
          </a:prstGeom>
          <a:solidFill>
            <a:srgbClr val="FF5F46"/>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61" name="Google Shape;361;p40"/>
          <p:cNvSpPr/>
          <p:nvPr/>
        </p:nvSpPr>
        <p:spPr>
          <a:xfrm>
            <a:off x="8868881" y="494400"/>
            <a:ext cx="481200" cy="481200"/>
          </a:xfrm>
          <a:prstGeom prst="ellipse">
            <a:avLst/>
          </a:prstGeom>
          <a:solidFill>
            <a:srgbClr val="FF5F46"/>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62" name="Google Shape;362;p40"/>
          <p:cNvSpPr/>
          <p:nvPr/>
        </p:nvSpPr>
        <p:spPr>
          <a:xfrm>
            <a:off x="10199848" y="4258800"/>
            <a:ext cx="1989000" cy="1989600"/>
          </a:xfrm>
          <a:prstGeom prst="arc">
            <a:avLst>
              <a:gd fmla="val 16200000" name="adj1"/>
              <a:gd fmla="val 0" name="adj2"/>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F - Artistic Divider Dark 3">
  <p:cSld name="OBJECT_2_1_1_2_1_1_1_1_1_1_1_1_1_1">
    <p:bg>
      <p:bgPr>
        <a:solidFill>
          <a:schemeClr val="dk1"/>
        </a:solidFill>
      </p:bgPr>
    </p:bg>
    <p:spTree>
      <p:nvGrpSpPr>
        <p:cNvPr id="363" name="Shape 363"/>
        <p:cNvGrpSpPr/>
        <p:nvPr/>
      </p:nvGrpSpPr>
      <p:grpSpPr>
        <a:xfrm>
          <a:off x="0" y="0"/>
          <a:ext cx="0" cy="0"/>
          <a:chOff x="0" y="0"/>
          <a:chExt cx="0" cy="0"/>
        </a:xfrm>
      </p:grpSpPr>
      <p:sp>
        <p:nvSpPr>
          <p:cNvPr id="364" name="Google Shape;364;p41"/>
          <p:cNvSpPr txBox="1"/>
          <p:nvPr>
            <p:ph type="title"/>
          </p:nvPr>
        </p:nvSpPr>
        <p:spPr>
          <a:xfrm>
            <a:off x="749246" y="535633"/>
            <a:ext cx="8878200" cy="5712900"/>
          </a:xfrm>
          <a:prstGeom prst="rect">
            <a:avLst/>
          </a:prstGeom>
          <a:noFill/>
          <a:ln>
            <a:noFill/>
          </a:ln>
        </p:spPr>
        <p:txBody>
          <a:bodyPr anchorCtr="0" anchor="ctr" bIns="0" lIns="0" spcFirstLastPara="1" rIns="0" wrap="square" tIns="0">
            <a:noAutofit/>
          </a:bodyPr>
          <a:lstStyle>
            <a:lvl1pPr lvl="0" marR="0" rtl="0">
              <a:lnSpc>
                <a:spcPct val="100000"/>
              </a:lnSpc>
              <a:spcBef>
                <a:spcPts val="0"/>
              </a:spcBef>
              <a:spcAft>
                <a:spcPts val="0"/>
              </a:spcAft>
              <a:buClr>
                <a:schemeClr val="lt1"/>
              </a:buClr>
              <a:buSzPts val="6400"/>
              <a:buFont typeface="DM Sans Medium"/>
              <a:buNone/>
              <a:defRPr i="0" sz="6400" u="none" cap="none" strike="noStrike">
                <a:solidFill>
                  <a:schemeClr val="lt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365" name="Google Shape;365;p41"/>
          <p:cNvSpPr/>
          <p:nvPr/>
        </p:nvSpPr>
        <p:spPr>
          <a:xfrm>
            <a:off x="10220276" y="1989600"/>
            <a:ext cx="975300" cy="975600"/>
          </a:xfrm>
          <a:prstGeom prst="rect">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66" name="Google Shape;366;p41"/>
          <p:cNvSpPr/>
          <p:nvPr/>
        </p:nvSpPr>
        <p:spPr>
          <a:xfrm>
            <a:off x="11213594" y="2965200"/>
            <a:ext cx="980700" cy="1989600"/>
          </a:xfrm>
          <a:prstGeom prst="rect">
            <a:avLst/>
          </a:prstGeom>
          <a:solidFill>
            <a:srgbClr val="FF362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67" name="Google Shape;367;p41"/>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68" name="Google Shape;368;p41"/>
          <p:cNvSpPr/>
          <p:nvPr/>
        </p:nvSpPr>
        <p:spPr>
          <a:xfrm rot="10800000">
            <a:off x="10202633" y="2965200"/>
            <a:ext cx="1989000" cy="1989600"/>
          </a:xfrm>
          <a:prstGeom prst="ellipse">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69" name="Google Shape;369;p41"/>
          <p:cNvSpPr/>
          <p:nvPr/>
        </p:nvSpPr>
        <p:spPr>
          <a:xfrm rot="-5400000">
            <a:off x="10204913" y="300"/>
            <a:ext cx="1989600" cy="1989000"/>
          </a:xfrm>
          <a:prstGeom prst="rtTriangle">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70" name="Google Shape;370;p41"/>
          <p:cNvSpPr/>
          <p:nvPr/>
        </p:nvSpPr>
        <p:spPr>
          <a:xfrm rot="-5400000">
            <a:off x="8287565" y="33"/>
            <a:ext cx="480300" cy="480300"/>
          </a:xfrm>
          <a:prstGeom prst="rtTriangle">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lang="en" sz="1900"/>
              <a:t>   </a:t>
            </a:r>
            <a:endParaRPr sz="1900"/>
          </a:p>
        </p:txBody>
      </p:sp>
      <p:sp>
        <p:nvSpPr>
          <p:cNvPr id="371" name="Google Shape;371;p41"/>
          <p:cNvSpPr/>
          <p:nvPr/>
        </p:nvSpPr>
        <p:spPr>
          <a:xfrm>
            <a:off x="11707870" y="5767200"/>
            <a:ext cx="481200" cy="481200"/>
          </a:xfrm>
          <a:prstGeom prst="rect">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72" name="Google Shape;372;p41"/>
          <p:cNvSpPr/>
          <p:nvPr/>
        </p:nvSpPr>
        <p:spPr>
          <a:xfrm>
            <a:off x="9724133" y="535633"/>
            <a:ext cx="481200" cy="481200"/>
          </a:xfrm>
          <a:prstGeom prst="ellipse">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73" name="Google Shape;373;p41"/>
          <p:cNvSpPr/>
          <p:nvPr/>
        </p:nvSpPr>
        <p:spPr>
          <a:xfrm rot="10800000">
            <a:off x="10202633" y="2965200"/>
            <a:ext cx="1989000" cy="1989600"/>
          </a:xfrm>
          <a:prstGeom prst="arc">
            <a:avLst>
              <a:gd fmla="val 16200000" name="adj1"/>
              <a:gd fmla="val 0" name="adj2"/>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74" name="Google Shape;374;p41"/>
          <p:cNvSpPr/>
          <p:nvPr/>
        </p:nvSpPr>
        <p:spPr>
          <a:xfrm rot="-5400000">
            <a:off x="10202230" y="2965500"/>
            <a:ext cx="1989600" cy="1989000"/>
          </a:xfrm>
          <a:prstGeom prst="arc">
            <a:avLst>
              <a:gd fmla="val 16200000" name="adj1"/>
              <a:gd fmla="val 0" name="adj2"/>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cxnSp>
        <p:nvCxnSpPr>
          <p:cNvPr id="375" name="Google Shape;375;p41"/>
          <p:cNvCxnSpPr/>
          <p:nvPr/>
        </p:nvCxnSpPr>
        <p:spPr>
          <a:xfrm>
            <a:off x="11372088" y="1986300"/>
            <a:ext cx="0" cy="975600"/>
          </a:xfrm>
          <a:prstGeom prst="straightConnector1">
            <a:avLst/>
          </a:prstGeom>
          <a:noFill/>
          <a:ln cap="flat" cmpd="sng" w="9525">
            <a:solidFill>
              <a:schemeClr val="dk2"/>
            </a:solidFill>
            <a:prstDash val="solid"/>
            <a:round/>
            <a:headEnd len="med" w="med" type="none"/>
            <a:tailEnd len="med" w="med" type="none"/>
          </a:ln>
        </p:spPr>
      </p:cxnSp>
      <p:cxnSp>
        <p:nvCxnSpPr>
          <p:cNvPr id="376" name="Google Shape;376;p41"/>
          <p:cNvCxnSpPr/>
          <p:nvPr/>
        </p:nvCxnSpPr>
        <p:spPr>
          <a:xfrm>
            <a:off x="11537980" y="1986300"/>
            <a:ext cx="0" cy="975600"/>
          </a:xfrm>
          <a:prstGeom prst="straightConnector1">
            <a:avLst/>
          </a:prstGeom>
          <a:noFill/>
          <a:ln cap="flat" cmpd="sng" w="9525">
            <a:solidFill>
              <a:schemeClr val="dk2"/>
            </a:solidFill>
            <a:prstDash val="solid"/>
            <a:round/>
            <a:headEnd len="med" w="med" type="none"/>
            <a:tailEnd len="med" w="med" type="none"/>
          </a:ln>
        </p:spPr>
      </p:cxnSp>
      <p:cxnSp>
        <p:nvCxnSpPr>
          <p:cNvPr id="377" name="Google Shape;377;p41"/>
          <p:cNvCxnSpPr/>
          <p:nvPr/>
        </p:nvCxnSpPr>
        <p:spPr>
          <a:xfrm>
            <a:off x="11703871" y="1986300"/>
            <a:ext cx="0" cy="975600"/>
          </a:xfrm>
          <a:prstGeom prst="straightConnector1">
            <a:avLst/>
          </a:prstGeom>
          <a:noFill/>
          <a:ln cap="flat" cmpd="sng" w="9525">
            <a:solidFill>
              <a:schemeClr val="dk2"/>
            </a:solidFill>
            <a:prstDash val="solid"/>
            <a:round/>
            <a:headEnd len="med" w="med" type="none"/>
            <a:tailEnd len="med" w="med" type="none"/>
          </a:ln>
        </p:spPr>
      </p:cxnSp>
      <p:cxnSp>
        <p:nvCxnSpPr>
          <p:cNvPr id="378" name="Google Shape;378;p41"/>
          <p:cNvCxnSpPr/>
          <p:nvPr/>
        </p:nvCxnSpPr>
        <p:spPr>
          <a:xfrm>
            <a:off x="11869763" y="1986300"/>
            <a:ext cx="0" cy="975600"/>
          </a:xfrm>
          <a:prstGeom prst="straightConnector1">
            <a:avLst/>
          </a:prstGeom>
          <a:noFill/>
          <a:ln cap="flat" cmpd="sng" w="9525">
            <a:solidFill>
              <a:schemeClr val="dk2"/>
            </a:solidFill>
            <a:prstDash val="solid"/>
            <a:round/>
            <a:headEnd len="med" w="med" type="none"/>
            <a:tailEnd len="med" w="med" type="none"/>
          </a:ln>
        </p:spPr>
      </p:cxnSp>
      <p:cxnSp>
        <p:nvCxnSpPr>
          <p:cNvPr id="379" name="Google Shape;379;p41"/>
          <p:cNvCxnSpPr/>
          <p:nvPr/>
        </p:nvCxnSpPr>
        <p:spPr>
          <a:xfrm>
            <a:off x="12035655" y="1986300"/>
            <a:ext cx="0" cy="975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 - Closing Light">
  <p:cSld name="OBJECT_2_1_1_2_1_1_1_2">
    <p:spTree>
      <p:nvGrpSpPr>
        <p:cNvPr id="380" name="Shape 380"/>
        <p:cNvGrpSpPr/>
        <p:nvPr/>
      </p:nvGrpSpPr>
      <p:grpSpPr>
        <a:xfrm>
          <a:off x="0" y="0"/>
          <a:ext cx="0" cy="0"/>
          <a:chOff x="0" y="0"/>
          <a:chExt cx="0" cy="0"/>
        </a:xfrm>
      </p:grpSpPr>
      <p:pic>
        <p:nvPicPr>
          <p:cNvPr id="381" name="Google Shape;381;p42"/>
          <p:cNvPicPr preferRelativeResize="0"/>
          <p:nvPr/>
        </p:nvPicPr>
        <p:blipFill rotWithShape="1">
          <a:blip r:embed="rId2">
            <a:alphaModFix/>
          </a:blip>
          <a:srcRect b="0" l="0" r="0" t="0"/>
          <a:stretch/>
        </p:blipFill>
        <p:spPr>
          <a:xfrm>
            <a:off x="3021211" y="2819733"/>
            <a:ext cx="6146561" cy="974266"/>
          </a:xfrm>
          <a:prstGeom prst="rect">
            <a:avLst/>
          </a:prstGeom>
          <a:noFill/>
          <a:ln>
            <a:noFill/>
          </a:ln>
        </p:spPr>
      </p:pic>
      <p:sp>
        <p:nvSpPr>
          <p:cNvPr id="382" name="Google Shape;382;p42"/>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 - Closing Dark">
  <p:cSld name="OBJECT_2_1_1_2_1_1_1_1_2">
    <p:bg>
      <p:bgPr>
        <a:solidFill>
          <a:schemeClr val="dk1"/>
        </a:solidFill>
      </p:bgPr>
    </p:bg>
    <p:spTree>
      <p:nvGrpSpPr>
        <p:cNvPr id="383" name="Shape 383"/>
        <p:cNvGrpSpPr/>
        <p:nvPr/>
      </p:nvGrpSpPr>
      <p:grpSpPr>
        <a:xfrm>
          <a:off x="0" y="0"/>
          <a:ext cx="0" cy="0"/>
          <a:chOff x="0" y="0"/>
          <a:chExt cx="0" cy="0"/>
        </a:xfrm>
      </p:grpSpPr>
      <p:pic>
        <p:nvPicPr>
          <p:cNvPr id="384" name="Google Shape;384;p43"/>
          <p:cNvPicPr preferRelativeResize="0"/>
          <p:nvPr/>
        </p:nvPicPr>
        <p:blipFill>
          <a:blip r:embed="rId2">
            <a:alphaModFix/>
          </a:blip>
          <a:stretch>
            <a:fillRect/>
          </a:stretch>
        </p:blipFill>
        <p:spPr>
          <a:xfrm>
            <a:off x="3021195" y="2819748"/>
            <a:ext cx="6146563" cy="977790"/>
          </a:xfrm>
          <a:prstGeom prst="rect">
            <a:avLst/>
          </a:prstGeom>
          <a:noFill/>
          <a:ln>
            <a:noFill/>
          </a:ln>
        </p:spPr>
      </p:pic>
      <p:sp>
        <p:nvSpPr>
          <p:cNvPr id="385" name="Google Shape;385;p43"/>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0.xml"/><Relationship Id="rId22" Type="http://schemas.openxmlformats.org/officeDocument/2006/relationships/slideLayout" Target="../slideLayouts/slideLayout32.xml"/><Relationship Id="rId21" Type="http://schemas.openxmlformats.org/officeDocument/2006/relationships/slideLayout" Target="../slideLayouts/slideLayout31.xml"/><Relationship Id="rId24" Type="http://schemas.openxmlformats.org/officeDocument/2006/relationships/slideLayout" Target="../slideLayouts/slideLayout34.xml"/><Relationship Id="rId23" Type="http://schemas.openxmlformats.org/officeDocument/2006/relationships/slideLayout" Target="../slideLayouts/slideLayout33.xml"/><Relationship Id="rId1" Type="http://schemas.openxmlformats.org/officeDocument/2006/relationships/image" Target="../media/image4.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26" Type="http://schemas.openxmlformats.org/officeDocument/2006/relationships/slideLayout" Target="../slideLayouts/slideLayout36.xml"/><Relationship Id="rId25" Type="http://schemas.openxmlformats.org/officeDocument/2006/relationships/slideLayout" Target="../slideLayouts/slideLayout35.xml"/><Relationship Id="rId28" Type="http://schemas.openxmlformats.org/officeDocument/2006/relationships/slideLayout" Target="../slideLayouts/slideLayout38.xml"/><Relationship Id="rId27" Type="http://schemas.openxmlformats.org/officeDocument/2006/relationships/slideLayout" Target="../slideLayouts/slideLayout37.xml"/><Relationship Id="rId5" Type="http://schemas.openxmlformats.org/officeDocument/2006/relationships/slideLayout" Target="../slideLayouts/slideLayout15.xml"/><Relationship Id="rId6" Type="http://schemas.openxmlformats.org/officeDocument/2006/relationships/slideLayout" Target="../slideLayouts/slideLayout16.xml"/><Relationship Id="rId29" Type="http://schemas.openxmlformats.org/officeDocument/2006/relationships/slideLayout" Target="../slideLayouts/slideLayout39.xml"/><Relationship Id="rId7" Type="http://schemas.openxmlformats.org/officeDocument/2006/relationships/slideLayout" Target="../slideLayouts/slideLayout17.xml"/><Relationship Id="rId8" Type="http://schemas.openxmlformats.org/officeDocument/2006/relationships/slideLayout" Target="../slideLayouts/slideLayout18.xml"/><Relationship Id="rId31" Type="http://schemas.openxmlformats.org/officeDocument/2006/relationships/slideLayout" Target="../slideLayouts/slideLayout41.xml"/><Relationship Id="rId30" Type="http://schemas.openxmlformats.org/officeDocument/2006/relationships/slideLayout" Target="../slideLayouts/slideLayout40.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32" Type="http://schemas.openxmlformats.org/officeDocument/2006/relationships/theme" Target="../theme/theme3.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9" Type="http://schemas.openxmlformats.org/officeDocument/2006/relationships/slideLayout" Target="../slideLayouts/slideLayout29.xml"/><Relationship Id="rId18"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496" y="593367"/>
            <a:ext cx="11358000" cy="763500"/>
          </a:xfrm>
          <a:prstGeom prst="rect">
            <a:avLst/>
          </a:prstGeom>
          <a:noFill/>
          <a:ln>
            <a:noFill/>
          </a:ln>
        </p:spPr>
        <p:txBody>
          <a:bodyPr anchorCtr="0" anchor="t" bIns="121875" lIns="121875" spcFirstLastPara="1" rIns="121875" wrap="square" tIns="121875">
            <a:normAutofit/>
          </a:bodyPr>
          <a:lstStyle>
            <a:lvl1pPr lvl="0" rtl="0">
              <a:spcBef>
                <a:spcPts val="0"/>
              </a:spcBef>
              <a:spcAft>
                <a:spcPts val="0"/>
              </a:spcAft>
              <a:buClr>
                <a:schemeClr val="dk1"/>
              </a:buClr>
              <a:buSzPts val="3700"/>
              <a:buNone/>
              <a:defRPr sz="3700">
                <a:solidFill>
                  <a:schemeClr val="dk1"/>
                </a:solidFill>
              </a:defRPr>
            </a:lvl1pPr>
            <a:lvl2pPr lvl="1" rtl="0">
              <a:spcBef>
                <a:spcPts val="0"/>
              </a:spcBef>
              <a:spcAft>
                <a:spcPts val="0"/>
              </a:spcAft>
              <a:buClr>
                <a:schemeClr val="dk1"/>
              </a:buClr>
              <a:buSzPts val="3700"/>
              <a:buNone/>
              <a:defRPr sz="3700">
                <a:solidFill>
                  <a:schemeClr val="dk1"/>
                </a:solidFill>
              </a:defRPr>
            </a:lvl2pPr>
            <a:lvl3pPr lvl="2" rtl="0">
              <a:spcBef>
                <a:spcPts val="0"/>
              </a:spcBef>
              <a:spcAft>
                <a:spcPts val="0"/>
              </a:spcAft>
              <a:buClr>
                <a:schemeClr val="dk1"/>
              </a:buClr>
              <a:buSzPts val="3700"/>
              <a:buNone/>
              <a:defRPr sz="3700">
                <a:solidFill>
                  <a:schemeClr val="dk1"/>
                </a:solidFill>
              </a:defRPr>
            </a:lvl3pPr>
            <a:lvl4pPr lvl="3" rtl="0">
              <a:spcBef>
                <a:spcPts val="0"/>
              </a:spcBef>
              <a:spcAft>
                <a:spcPts val="0"/>
              </a:spcAft>
              <a:buClr>
                <a:schemeClr val="dk1"/>
              </a:buClr>
              <a:buSzPts val="3700"/>
              <a:buNone/>
              <a:defRPr sz="3700">
                <a:solidFill>
                  <a:schemeClr val="dk1"/>
                </a:solidFill>
              </a:defRPr>
            </a:lvl4pPr>
            <a:lvl5pPr lvl="4" rtl="0">
              <a:spcBef>
                <a:spcPts val="0"/>
              </a:spcBef>
              <a:spcAft>
                <a:spcPts val="0"/>
              </a:spcAft>
              <a:buClr>
                <a:schemeClr val="dk1"/>
              </a:buClr>
              <a:buSzPts val="3700"/>
              <a:buNone/>
              <a:defRPr sz="3700">
                <a:solidFill>
                  <a:schemeClr val="dk1"/>
                </a:solidFill>
              </a:defRPr>
            </a:lvl5pPr>
            <a:lvl6pPr lvl="5" rtl="0">
              <a:spcBef>
                <a:spcPts val="0"/>
              </a:spcBef>
              <a:spcAft>
                <a:spcPts val="0"/>
              </a:spcAft>
              <a:buClr>
                <a:schemeClr val="dk1"/>
              </a:buClr>
              <a:buSzPts val="3700"/>
              <a:buNone/>
              <a:defRPr sz="3700">
                <a:solidFill>
                  <a:schemeClr val="dk1"/>
                </a:solidFill>
              </a:defRPr>
            </a:lvl6pPr>
            <a:lvl7pPr lvl="6" rtl="0">
              <a:spcBef>
                <a:spcPts val="0"/>
              </a:spcBef>
              <a:spcAft>
                <a:spcPts val="0"/>
              </a:spcAft>
              <a:buClr>
                <a:schemeClr val="dk1"/>
              </a:buClr>
              <a:buSzPts val="3700"/>
              <a:buNone/>
              <a:defRPr sz="3700">
                <a:solidFill>
                  <a:schemeClr val="dk1"/>
                </a:solidFill>
              </a:defRPr>
            </a:lvl7pPr>
            <a:lvl8pPr lvl="7" rtl="0">
              <a:spcBef>
                <a:spcPts val="0"/>
              </a:spcBef>
              <a:spcAft>
                <a:spcPts val="0"/>
              </a:spcAft>
              <a:buClr>
                <a:schemeClr val="dk1"/>
              </a:buClr>
              <a:buSzPts val="3700"/>
              <a:buNone/>
              <a:defRPr sz="3700">
                <a:solidFill>
                  <a:schemeClr val="dk1"/>
                </a:solidFill>
              </a:defRPr>
            </a:lvl8pPr>
            <a:lvl9pPr lvl="8" rtl="0">
              <a:spcBef>
                <a:spcPts val="0"/>
              </a:spcBef>
              <a:spcAft>
                <a:spcPts val="0"/>
              </a:spcAft>
              <a:buClr>
                <a:schemeClr val="dk1"/>
              </a:buClr>
              <a:buSzPts val="3700"/>
              <a:buNone/>
              <a:defRPr sz="3700">
                <a:solidFill>
                  <a:schemeClr val="dk1"/>
                </a:solidFill>
              </a:defRPr>
            </a:lvl9pPr>
          </a:lstStyle>
          <a:p/>
        </p:txBody>
      </p:sp>
      <p:sp>
        <p:nvSpPr>
          <p:cNvPr id="7" name="Google Shape;7;p1"/>
          <p:cNvSpPr txBox="1"/>
          <p:nvPr>
            <p:ph idx="1" type="body"/>
          </p:nvPr>
        </p:nvSpPr>
        <p:spPr>
          <a:xfrm>
            <a:off x="415496" y="1536633"/>
            <a:ext cx="11358000" cy="4555200"/>
          </a:xfrm>
          <a:prstGeom prst="rect">
            <a:avLst/>
          </a:prstGeom>
          <a:noFill/>
          <a:ln>
            <a:noFill/>
          </a:ln>
        </p:spPr>
        <p:txBody>
          <a:bodyPr anchorCtr="0" anchor="t" bIns="121875" lIns="121875" spcFirstLastPara="1" rIns="121875" wrap="square" tIns="121875">
            <a:normAutofit/>
          </a:bodyPr>
          <a:lstStyle>
            <a:lvl1pPr indent="-381000" lvl="0" marL="457200" rtl="0">
              <a:lnSpc>
                <a:spcPct val="115000"/>
              </a:lnSpc>
              <a:spcBef>
                <a:spcPts val="0"/>
              </a:spcBef>
              <a:spcAft>
                <a:spcPts val="0"/>
              </a:spcAft>
              <a:buClr>
                <a:schemeClr val="dk2"/>
              </a:buClr>
              <a:buSzPts val="2400"/>
              <a:buChar char="●"/>
              <a:defRPr sz="2400">
                <a:solidFill>
                  <a:schemeClr val="dk2"/>
                </a:solidFill>
              </a:defRPr>
            </a:lvl1pPr>
            <a:lvl2pPr indent="-349250" lvl="1" marL="914400" rtl="0">
              <a:lnSpc>
                <a:spcPct val="115000"/>
              </a:lnSpc>
              <a:spcBef>
                <a:spcPts val="0"/>
              </a:spcBef>
              <a:spcAft>
                <a:spcPts val="0"/>
              </a:spcAft>
              <a:buClr>
                <a:schemeClr val="dk2"/>
              </a:buClr>
              <a:buSzPts val="1900"/>
              <a:buChar char="○"/>
              <a:defRPr sz="1900">
                <a:solidFill>
                  <a:schemeClr val="dk2"/>
                </a:solidFill>
              </a:defRPr>
            </a:lvl2pPr>
            <a:lvl3pPr indent="-349250" lvl="2" marL="1371600" rtl="0">
              <a:lnSpc>
                <a:spcPct val="115000"/>
              </a:lnSpc>
              <a:spcBef>
                <a:spcPts val="0"/>
              </a:spcBef>
              <a:spcAft>
                <a:spcPts val="0"/>
              </a:spcAft>
              <a:buClr>
                <a:schemeClr val="dk2"/>
              </a:buClr>
              <a:buSzPts val="1900"/>
              <a:buChar char="■"/>
              <a:defRPr sz="1900">
                <a:solidFill>
                  <a:schemeClr val="dk2"/>
                </a:solidFill>
              </a:defRPr>
            </a:lvl3pPr>
            <a:lvl4pPr indent="-349250" lvl="3" marL="1828800" rtl="0">
              <a:lnSpc>
                <a:spcPct val="115000"/>
              </a:lnSpc>
              <a:spcBef>
                <a:spcPts val="0"/>
              </a:spcBef>
              <a:spcAft>
                <a:spcPts val="0"/>
              </a:spcAft>
              <a:buClr>
                <a:schemeClr val="dk2"/>
              </a:buClr>
              <a:buSzPts val="1900"/>
              <a:buChar char="●"/>
              <a:defRPr sz="1900">
                <a:solidFill>
                  <a:schemeClr val="dk2"/>
                </a:solidFill>
              </a:defRPr>
            </a:lvl4pPr>
            <a:lvl5pPr indent="-349250" lvl="4" marL="2286000" rtl="0">
              <a:lnSpc>
                <a:spcPct val="115000"/>
              </a:lnSpc>
              <a:spcBef>
                <a:spcPts val="0"/>
              </a:spcBef>
              <a:spcAft>
                <a:spcPts val="0"/>
              </a:spcAft>
              <a:buClr>
                <a:schemeClr val="dk2"/>
              </a:buClr>
              <a:buSzPts val="1900"/>
              <a:buChar char="○"/>
              <a:defRPr sz="1900">
                <a:solidFill>
                  <a:schemeClr val="dk2"/>
                </a:solidFill>
              </a:defRPr>
            </a:lvl5pPr>
            <a:lvl6pPr indent="-349250" lvl="5" marL="2743200" rtl="0">
              <a:lnSpc>
                <a:spcPct val="115000"/>
              </a:lnSpc>
              <a:spcBef>
                <a:spcPts val="0"/>
              </a:spcBef>
              <a:spcAft>
                <a:spcPts val="0"/>
              </a:spcAft>
              <a:buClr>
                <a:schemeClr val="dk2"/>
              </a:buClr>
              <a:buSzPts val="1900"/>
              <a:buChar char="■"/>
              <a:defRPr sz="1900">
                <a:solidFill>
                  <a:schemeClr val="dk2"/>
                </a:solidFill>
              </a:defRPr>
            </a:lvl6pPr>
            <a:lvl7pPr indent="-349250" lvl="6" marL="3200400" rtl="0">
              <a:lnSpc>
                <a:spcPct val="115000"/>
              </a:lnSpc>
              <a:spcBef>
                <a:spcPts val="0"/>
              </a:spcBef>
              <a:spcAft>
                <a:spcPts val="0"/>
              </a:spcAft>
              <a:buClr>
                <a:schemeClr val="dk2"/>
              </a:buClr>
              <a:buSzPts val="1900"/>
              <a:buChar char="●"/>
              <a:defRPr sz="1900">
                <a:solidFill>
                  <a:schemeClr val="dk2"/>
                </a:solidFill>
              </a:defRPr>
            </a:lvl7pPr>
            <a:lvl8pPr indent="-349250" lvl="7" marL="3657600" rtl="0">
              <a:lnSpc>
                <a:spcPct val="115000"/>
              </a:lnSpc>
              <a:spcBef>
                <a:spcPts val="0"/>
              </a:spcBef>
              <a:spcAft>
                <a:spcPts val="0"/>
              </a:spcAft>
              <a:buClr>
                <a:schemeClr val="dk2"/>
              </a:buClr>
              <a:buSzPts val="1900"/>
              <a:buChar char="○"/>
              <a:defRPr sz="1900">
                <a:solidFill>
                  <a:schemeClr val="dk2"/>
                </a:solidFill>
              </a:defRPr>
            </a:lvl8pPr>
            <a:lvl9pPr indent="-349250" lvl="8" marL="4114800" rtl="0">
              <a:lnSpc>
                <a:spcPct val="115000"/>
              </a:lnSpc>
              <a:spcBef>
                <a:spcPts val="0"/>
              </a:spcBef>
              <a:spcAft>
                <a:spcPts val="0"/>
              </a:spcAft>
              <a:buClr>
                <a:schemeClr val="dk2"/>
              </a:buClr>
              <a:buSzPts val="1900"/>
              <a:buChar char="■"/>
              <a:defRPr sz="1900">
                <a:solidFill>
                  <a:schemeClr val="dk2"/>
                </a:solidFill>
              </a:defRPr>
            </a:lvl9pPr>
          </a:lstStyle>
          <a:p/>
        </p:txBody>
      </p:sp>
      <p:sp>
        <p:nvSpPr>
          <p:cNvPr id="8" name="Google Shape;8;p1"/>
          <p:cNvSpPr txBox="1"/>
          <p:nvPr>
            <p:ph idx="12" type="sldNum"/>
          </p:nvPr>
        </p:nvSpPr>
        <p:spPr>
          <a:xfrm>
            <a:off x="11293784" y="6217622"/>
            <a:ext cx="731400" cy="524700"/>
          </a:xfrm>
          <a:prstGeom prst="rect">
            <a:avLst/>
          </a:prstGeom>
          <a:noFill/>
          <a:ln>
            <a:noFill/>
          </a:ln>
        </p:spPr>
        <p:txBody>
          <a:bodyPr anchorCtr="0" anchor="ctr" bIns="121875" lIns="121875" spcFirstLastPara="1" rIns="121875" wrap="square" tIns="121875">
            <a:normAutofit/>
          </a:bodyPr>
          <a:lstStyle>
            <a:lvl1pPr lvl="0" rtl="0" algn="r">
              <a:buNone/>
              <a:defRPr sz="1300">
                <a:solidFill>
                  <a:schemeClr val="dk2"/>
                </a:solidFill>
              </a:defRPr>
            </a:lvl1pPr>
            <a:lvl2pPr lvl="1" rtl="0" algn="r">
              <a:buNone/>
              <a:defRPr sz="1300">
                <a:solidFill>
                  <a:schemeClr val="dk2"/>
                </a:solidFill>
              </a:defRPr>
            </a:lvl2pPr>
            <a:lvl3pPr lvl="2" rtl="0" algn="r">
              <a:buNone/>
              <a:defRPr sz="1300">
                <a:solidFill>
                  <a:schemeClr val="dk2"/>
                </a:solidFill>
              </a:defRPr>
            </a:lvl3pPr>
            <a:lvl4pPr lvl="3" rtl="0" algn="r">
              <a:buNone/>
              <a:defRPr sz="1300">
                <a:solidFill>
                  <a:schemeClr val="dk2"/>
                </a:solidFill>
              </a:defRPr>
            </a:lvl4pPr>
            <a:lvl5pPr lvl="4" rtl="0" algn="r">
              <a:buNone/>
              <a:defRPr sz="1300">
                <a:solidFill>
                  <a:schemeClr val="dk2"/>
                </a:solidFill>
              </a:defRPr>
            </a:lvl5pPr>
            <a:lvl6pPr lvl="5" rtl="0" algn="r">
              <a:buNone/>
              <a:defRPr sz="1300">
                <a:solidFill>
                  <a:schemeClr val="dk2"/>
                </a:solidFill>
              </a:defRPr>
            </a:lvl6pPr>
            <a:lvl7pPr lvl="6" rtl="0" algn="r">
              <a:buNone/>
              <a:defRPr sz="1300">
                <a:solidFill>
                  <a:schemeClr val="dk2"/>
                </a:solidFill>
              </a:defRPr>
            </a:lvl7pPr>
            <a:lvl8pPr lvl="7" rtl="0" algn="r">
              <a:buNone/>
              <a:defRPr sz="1300">
                <a:solidFill>
                  <a:schemeClr val="dk2"/>
                </a:solidFill>
              </a:defRPr>
            </a:lvl8pPr>
            <a:lvl9pPr lvl="8" rtl="0" algn="r">
              <a:buNone/>
              <a:defRPr sz="13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sz="400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52" name="Google Shape;52;p13"/>
          <p:cNvSpPr txBox="1"/>
          <p:nvPr>
            <p:ph idx="1" type="body"/>
          </p:nvPr>
        </p:nvSpPr>
        <p:spPr>
          <a:xfrm>
            <a:off x="761809" y="1825633"/>
            <a:ext cx="10589400" cy="4351200"/>
          </a:xfrm>
          <a:prstGeom prst="rect">
            <a:avLst/>
          </a:prstGeom>
          <a:noFill/>
          <a:ln>
            <a:noFill/>
          </a:ln>
        </p:spPr>
        <p:txBody>
          <a:bodyPr anchorCtr="0" anchor="t" bIns="0" lIns="0" spcFirstLastPara="1" rIns="0" wrap="square" tIns="0">
            <a:noAutofit/>
          </a:bodyPr>
          <a:lstStyle>
            <a:lvl1pPr indent="-381000" lvl="0" marL="457200" marR="0" rtl="0" algn="l">
              <a:lnSpc>
                <a:spcPct val="90000"/>
              </a:lnSpc>
              <a:spcBef>
                <a:spcPts val="1100"/>
              </a:spcBef>
              <a:spcAft>
                <a:spcPts val="0"/>
              </a:spcAft>
              <a:buClr>
                <a:schemeClr val="accent1"/>
              </a:buClr>
              <a:buSzPts val="2400"/>
              <a:buFont typeface="DM Sans"/>
              <a:buChar char="•"/>
              <a:defRPr i="0" sz="2400" u="none" cap="none" strike="noStrike">
                <a:solidFill>
                  <a:schemeClr val="dk1"/>
                </a:solidFill>
                <a:latin typeface="DM Sans"/>
                <a:ea typeface="DM Sans"/>
                <a:cs typeface="DM Sans"/>
                <a:sym typeface="DM Sans"/>
              </a:defRPr>
            </a:lvl1pPr>
            <a:lvl2pPr indent="-355600" lvl="1" marL="914400" marR="0" rtl="0" algn="l">
              <a:lnSpc>
                <a:spcPct val="90000"/>
              </a:lnSpc>
              <a:spcBef>
                <a:spcPts val="500"/>
              </a:spcBef>
              <a:spcAft>
                <a:spcPts val="0"/>
              </a:spcAft>
              <a:buClr>
                <a:schemeClr val="accent4"/>
              </a:buClr>
              <a:buSzPts val="2000"/>
              <a:buFont typeface="DM Sans"/>
              <a:buChar char="•"/>
              <a:defRPr i="0" sz="2000" u="none" cap="none" strike="noStrike">
                <a:solidFill>
                  <a:schemeClr val="dk1"/>
                </a:solidFill>
                <a:latin typeface="DM Sans"/>
                <a:ea typeface="DM Sans"/>
                <a:cs typeface="DM Sans"/>
                <a:sym typeface="DM Sans"/>
              </a:defRPr>
            </a:lvl2pPr>
            <a:lvl3pPr indent="-330200" lvl="2" marL="1371600" marR="0" rtl="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3pPr>
            <a:lvl4pPr indent="-330200" lvl="3" marL="1828800" marR="0" rtl="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4pPr>
            <a:lvl5pPr indent="-330200" lvl="4" marL="2286000" marR="0" rtl="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5pPr>
            <a:lvl6pPr indent="-330200" lvl="5" marL="2743200" marR="0" rtl="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6pPr>
            <a:lvl7pPr indent="-330200" lvl="6" marL="3200400" marR="0" rtl="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7pPr>
            <a:lvl8pPr indent="-330200" lvl="7" marL="3657600" marR="0" rtl="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8pPr>
            <a:lvl9pPr indent="-330200" lvl="8" marL="4114800" marR="0" rtl="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9pPr>
          </a:lstStyle>
          <a:p/>
        </p:txBody>
      </p:sp>
      <p:sp>
        <p:nvSpPr>
          <p:cNvPr id="53" name="Google Shape;53;p13"/>
          <p:cNvSpPr txBox="1"/>
          <p:nvPr/>
        </p:nvSpPr>
        <p:spPr>
          <a:xfrm>
            <a:off x="646561" y="6361500"/>
            <a:ext cx="5377800" cy="415500"/>
          </a:xfrm>
          <a:prstGeom prst="rect">
            <a:avLst/>
          </a:prstGeom>
          <a:noFill/>
          <a:ln>
            <a:noFill/>
          </a:ln>
        </p:spPr>
        <p:txBody>
          <a:bodyPr anchorCtr="0" anchor="t" bIns="121875" lIns="121875" spcFirstLastPara="1" rIns="121875" wrap="square" tIns="121875">
            <a:spAutoFit/>
          </a:bodyPr>
          <a:lstStyle/>
          <a:p>
            <a:pPr indent="0" lvl="0" marL="0" rtl="0" algn="l">
              <a:spcBef>
                <a:spcPts val="0"/>
              </a:spcBef>
              <a:spcAft>
                <a:spcPts val="0"/>
              </a:spcAft>
              <a:buNone/>
            </a:pPr>
            <a:r>
              <a:rPr lang="en" sz="1100">
                <a:solidFill>
                  <a:schemeClr val="accent5"/>
                </a:solidFill>
                <a:latin typeface="DM Sans"/>
                <a:ea typeface="DM Sans"/>
                <a:cs typeface="DM Sans"/>
                <a:sym typeface="DM Sans"/>
              </a:rPr>
              <a:t>©2025 Databricks Inc. — All rights reserved</a:t>
            </a:r>
            <a:endParaRPr sz="1100">
              <a:solidFill>
                <a:schemeClr val="accent5"/>
              </a:solidFill>
              <a:latin typeface="DM Sans"/>
              <a:ea typeface="DM Sans"/>
              <a:cs typeface="DM Sans"/>
              <a:sym typeface="DM Sans"/>
            </a:endParaRPr>
          </a:p>
        </p:txBody>
      </p:sp>
      <p:pic>
        <p:nvPicPr>
          <p:cNvPr id="54" name="Google Shape;54;p13"/>
          <p:cNvPicPr preferRelativeResize="0"/>
          <p:nvPr/>
        </p:nvPicPr>
        <p:blipFill>
          <a:blip r:embed="rId1">
            <a:alphaModFix/>
          </a:blip>
          <a:stretch>
            <a:fillRect/>
          </a:stretch>
        </p:blipFill>
        <p:spPr>
          <a:xfrm>
            <a:off x="10665331" y="6473302"/>
            <a:ext cx="186720" cy="186720"/>
          </a:xfrm>
          <a:prstGeom prst="rect">
            <a:avLst/>
          </a:prstGeom>
          <a:noFill/>
          <a:ln>
            <a:noFill/>
          </a:ln>
        </p:spPr>
      </p:pic>
      <p:sp>
        <p:nvSpPr>
          <p:cNvPr id="55" name="Google Shape;55;p13"/>
          <p:cNvSpPr txBox="1"/>
          <p:nvPr>
            <p:ph idx="12" type="sldNum"/>
          </p:nvPr>
        </p:nvSpPr>
        <p:spPr>
          <a:xfrm>
            <a:off x="11097669" y="6473300"/>
            <a:ext cx="324300" cy="186600"/>
          </a:xfrm>
          <a:prstGeom prst="rect">
            <a:avLst/>
          </a:prstGeom>
          <a:noFill/>
          <a:ln>
            <a:noFill/>
          </a:ln>
        </p:spPr>
        <p:txBody>
          <a:bodyPr anchorCtr="0" anchor="t" bIns="0" lIns="0" spcFirstLastPara="1" rIns="0" wrap="square" tIns="0">
            <a:noAutofit/>
          </a:bodyPr>
          <a:lstStyle>
            <a:lvl1pPr lvl="0" rtl="0" algn="r">
              <a:buNone/>
              <a:defRPr sz="1100">
                <a:solidFill>
                  <a:schemeClr val="accent5"/>
                </a:solidFill>
                <a:latin typeface="DM Sans"/>
                <a:ea typeface="DM Sans"/>
                <a:cs typeface="DM Sans"/>
                <a:sym typeface="DM Sans"/>
              </a:defRPr>
            </a:lvl1pPr>
            <a:lvl2pPr lvl="1" rtl="0" algn="r">
              <a:buNone/>
              <a:defRPr sz="1100">
                <a:solidFill>
                  <a:schemeClr val="accent5"/>
                </a:solidFill>
                <a:latin typeface="DM Sans"/>
                <a:ea typeface="DM Sans"/>
                <a:cs typeface="DM Sans"/>
                <a:sym typeface="DM Sans"/>
              </a:defRPr>
            </a:lvl2pPr>
            <a:lvl3pPr lvl="2" rtl="0" algn="r">
              <a:buNone/>
              <a:defRPr sz="1100">
                <a:solidFill>
                  <a:schemeClr val="accent5"/>
                </a:solidFill>
                <a:latin typeface="DM Sans"/>
                <a:ea typeface="DM Sans"/>
                <a:cs typeface="DM Sans"/>
                <a:sym typeface="DM Sans"/>
              </a:defRPr>
            </a:lvl3pPr>
            <a:lvl4pPr lvl="3" rtl="0" algn="r">
              <a:buNone/>
              <a:defRPr sz="1100">
                <a:solidFill>
                  <a:schemeClr val="accent5"/>
                </a:solidFill>
                <a:latin typeface="DM Sans"/>
                <a:ea typeface="DM Sans"/>
                <a:cs typeface="DM Sans"/>
                <a:sym typeface="DM Sans"/>
              </a:defRPr>
            </a:lvl4pPr>
            <a:lvl5pPr lvl="4" rtl="0" algn="r">
              <a:buNone/>
              <a:defRPr sz="1100">
                <a:solidFill>
                  <a:schemeClr val="accent5"/>
                </a:solidFill>
                <a:latin typeface="DM Sans"/>
                <a:ea typeface="DM Sans"/>
                <a:cs typeface="DM Sans"/>
                <a:sym typeface="DM Sans"/>
              </a:defRPr>
            </a:lvl5pPr>
            <a:lvl6pPr lvl="5" rtl="0" algn="r">
              <a:buNone/>
              <a:defRPr sz="1100">
                <a:solidFill>
                  <a:schemeClr val="accent5"/>
                </a:solidFill>
                <a:latin typeface="DM Sans"/>
                <a:ea typeface="DM Sans"/>
                <a:cs typeface="DM Sans"/>
                <a:sym typeface="DM Sans"/>
              </a:defRPr>
            </a:lvl6pPr>
            <a:lvl7pPr lvl="6" rtl="0" algn="r">
              <a:buNone/>
              <a:defRPr sz="1100">
                <a:solidFill>
                  <a:schemeClr val="accent5"/>
                </a:solidFill>
                <a:latin typeface="DM Sans"/>
                <a:ea typeface="DM Sans"/>
                <a:cs typeface="DM Sans"/>
                <a:sym typeface="DM Sans"/>
              </a:defRPr>
            </a:lvl7pPr>
            <a:lvl8pPr lvl="7" rtl="0" algn="r">
              <a:buNone/>
              <a:defRPr sz="1100">
                <a:solidFill>
                  <a:schemeClr val="accent5"/>
                </a:solidFill>
                <a:latin typeface="DM Sans"/>
                <a:ea typeface="DM Sans"/>
                <a:cs typeface="DM Sans"/>
                <a:sym typeface="DM Sans"/>
              </a:defRPr>
            </a:lvl8pPr>
            <a:lvl9pPr lvl="8" rtl="0" algn="r">
              <a:buNone/>
              <a:defRPr sz="1100">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 id="2147483683" r:id="rId26"/>
    <p:sldLayoutId id="2147483684" r:id="rId27"/>
    <p:sldLayoutId id="2147483685" r:id="rId28"/>
    <p:sldLayoutId id="2147483686" r:id="rId29"/>
    <p:sldLayoutId id="2147483687" r:id="rId30"/>
    <p:sldLayoutId id="2147483688" r:id="rId3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84">
          <p15:clr>
            <a:srgbClr val="EA4335"/>
          </p15:clr>
        </p15:guide>
        <p15:guide id="2" pos="480">
          <p15:clr>
            <a:srgbClr val="EA4335"/>
          </p15:clr>
        </p15:guide>
        <p15:guide id="3" pos="960">
          <p15:clr>
            <a:srgbClr val="EA4335"/>
          </p15:clr>
        </p15:guide>
        <p15:guide id="4" pos="1056">
          <p15:clr>
            <a:srgbClr val="EA4335"/>
          </p15:clr>
        </p15:guide>
        <p15:guide id="5" pos="1518">
          <p15:clr>
            <a:srgbClr val="EA4335"/>
          </p15:clr>
        </p15:guide>
        <p15:guide id="6" pos="1614">
          <p15:clr>
            <a:srgbClr val="EA4335"/>
          </p15:clr>
        </p15:guide>
        <p15:guide id="7" pos="2091">
          <p15:clr>
            <a:srgbClr val="EA4335"/>
          </p15:clr>
        </p15:guide>
        <p15:guide id="8" pos="2185">
          <p15:clr>
            <a:srgbClr val="EA4335"/>
          </p15:clr>
        </p15:guide>
        <p15:guide id="9" pos="2651">
          <p15:clr>
            <a:srgbClr val="EA4335"/>
          </p15:clr>
        </p15:guide>
        <p15:guide id="10" pos="2755">
          <p15:clr>
            <a:srgbClr val="EA4335"/>
          </p15:clr>
        </p15:guide>
        <p15:guide id="11" pos="3223">
          <p15:clr>
            <a:srgbClr val="EA4335"/>
          </p15:clr>
        </p15:guide>
        <p15:guide id="12" pos="3326">
          <p15:clr>
            <a:srgbClr val="EA4335"/>
          </p15:clr>
        </p15:guide>
        <p15:guide id="13" pos="3795">
          <p15:clr>
            <a:srgbClr val="EA4335"/>
          </p15:clr>
        </p15:guide>
        <p15:guide id="14" pos="3883">
          <p15:clr>
            <a:srgbClr val="EA4335"/>
          </p15:clr>
        </p15:guide>
        <p15:guide id="15" pos="4367">
          <p15:clr>
            <a:srgbClr val="EA4335"/>
          </p15:clr>
        </p15:guide>
        <p15:guide id="16" pos="4455">
          <p15:clr>
            <a:srgbClr val="EA4335"/>
          </p15:clr>
        </p15:guide>
        <p15:guide id="17" pos="4923">
          <p15:clr>
            <a:srgbClr val="EA4335"/>
          </p15:clr>
        </p15:guide>
        <p15:guide id="18" pos="5027">
          <p15:clr>
            <a:srgbClr val="EA4335"/>
          </p15:clr>
        </p15:guide>
        <p15:guide id="19" pos="5493">
          <p15:clr>
            <a:srgbClr val="EA4335"/>
          </p15:clr>
        </p15:guide>
        <p15:guide id="20" pos="5587">
          <p15:clr>
            <a:srgbClr val="EA4335"/>
          </p15:clr>
        </p15:guide>
        <p15:guide id="21" pos="6064">
          <p15:clr>
            <a:srgbClr val="EA4335"/>
          </p15:clr>
        </p15:guide>
        <p15:guide id="22" pos="6161">
          <p15:clr>
            <a:srgbClr val="EA4335"/>
          </p15:clr>
        </p15:guide>
        <p15:guide id="23" pos="6622">
          <p15:clr>
            <a:srgbClr val="EA4335"/>
          </p15:clr>
        </p15:guide>
        <p15:guide id="24" pos="6718">
          <p15:clr>
            <a:srgbClr val="EA4335"/>
          </p15:clr>
        </p15:guide>
        <p15:guide id="25" pos="7198">
          <p15:clr>
            <a:srgbClr val="EA4335"/>
          </p15:clr>
        </p15:guide>
        <p15:guide id="26" pos="7294">
          <p15:clr>
            <a:srgbClr val="EA4335"/>
          </p15:clr>
        </p15:guide>
        <p15:guide id="27" orient="horz" pos="3936">
          <p15:clr>
            <a:srgbClr val="EA4335"/>
          </p15:clr>
        </p15:guide>
        <p15:guide id="28" orient="horz" pos="384">
          <p15:clr>
            <a:srgbClr val="EA4335"/>
          </p15:clr>
        </p15:guide>
        <p15:guide id="29" pos="3839">
          <p15:clr>
            <a:srgbClr val="EA4335"/>
          </p15:clr>
        </p15:guide>
        <p15:guide id="30" orient="horz" pos="216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5.png"/><Relationship Id="rId9" Type="http://schemas.openxmlformats.org/officeDocument/2006/relationships/image" Target="../media/image18.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19.png"/><Relationship Id="rId8" Type="http://schemas.openxmlformats.org/officeDocument/2006/relationships/image" Target="../media/image14.png"/><Relationship Id="rId11" Type="http://schemas.openxmlformats.org/officeDocument/2006/relationships/image" Target="../media/image10.png"/><Relationship Id="rId10" Type="http://schemas.openxmlformats.org/officeDocument/2006/relationships/image" Target="../media/image21.png"/><Relationship Id="rId13" Type="http://schemas.openxmlformats.org/officeDocument/2006/relationships/image" Target="../media/image11.png"/><Relationship Id="rId12" Type="http://schemas.openxmlformats.org/officeDocument/2006/relationships/image" Target="../media/image30.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34.png"/><Relationship Id="rId5" Type="http://schemas.openxmlformats.org/officeDocument/2006/relationships/image" Target="../media/image2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0" Type="http://schemas.openxmlformats.org/officeDocument/2006/relationships/image" Target="../media/image54.png"/><Relationship Id="rId22" Type="http://schemas.openxmlformats.org/officeDocument/2006/relationships/image" Target="../media/image39.png"/><Relationship Id="rId21" Type="http://schemas.openxmlformats.org/officeDocument/2006/relationships/image" Target="../media/image51.png"/><Relationship Id="rId23" Type="http://schemas.openxmlformats.org/officeDocument/2006/relationships/image" Target="../media/image40.png"/><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58.png"/><Relationship Id="rId9" Type="http://schemas.openxmlformats.org/officeDocument/2006/relationships/image" Target="../media/image33.png"/><Relationship Id="rId5" Type="http://schemas.openxmlformats.org/officeDocument/2006/relationships/image" Target="../media/image25.png"/><Relationship Id="rId6" Type="http://schemas.openxmlformats.org/officeDocument/2006/relationships/image" Target="../media/image13.png"/><Relationship Id="rId7" Type="http://schemas.openxmlformats.org/officeDocument/2006/relationships/image" Target="../media/image20.png"/><Relationship Id="rId8" Type="http://schemas.openxmlformats.org/officeDocument/2006/relationships/image" Target="../media/image29.png"/><Relationship Id="rId11" Type="http://schemas.openxmlformats.org/officeDocument/2006/relationships/image" Target="../media/image34.png"/><Relationship Id="rId10" Type="http://schemas.openxmlformats.org/officeDocument/2006/relationships/image" Target="../media/image23.png"/><Relationship Id="rId13" Type="http://schemas.openxmlformats.org/officeDocument/2006/relationships/image" Target="../media/image56.png"/><Relationship Id="rId12" Type="http://schemas.openxmlformats.org/officeDocument/2006/relationships/image" Target="../media/image12.png"/><Relationship Id="rId15" Type="http://schemas.openxmlformats.org/officeDocument/2006/relationships/image" Target="../media/image36.png"/><Relationship Id="rId14" Type="http://schemas.openxmlformats.org/officeDocument/2006/relationships/image" Target="../media/image28.png"/><Relationship Id="rId17" Type="http://schemas.openxmlformats.org/officeDocument/2006/relationships/image" Target="../media/image38.png"/><Relationship Id="rId16" Type="http://schemas.openxmlformats.org/officeDocument/2006/relationships/image" Target="../media/image42.png"/><Relationship Id="rId19" Type="http://schemas.openxmlformats.org/officeDocument/2006/relationships/image" Target="../media/image21.png"/><Relationship Id="rId18" Type="http://schemas.openxmlformats.org/officeDocument/2006/relationships/image" Target="../media/image37.png"/></Relationships>
</file>

<file path=ppt/slides/_rels/slide10.xml.rels><?xml version="1.0" encoding="UTF-8" standalone="yes"?><Relationships xmlns="http://schemas.openxmlformats.org/package/2006/relationships"><Relationship Id="rId20" Type="http://schemas.openxmlformats.org/officeDocument/2006/relationships/image" Target="../media/image38.png"/><Relationship Id="rId22" Type="http://schemas.openxmlformats.org/officeDocument/2006/relationships/image" Target="../media/image54.png"/><Relationship Id="rId21" Type="http://schemas.openxmlformats.org/officeDocument/2006/relationships/image" Target="../media/image37.png"/><Relationship Id="rId24" Type="http://schemas.openxmlformats.org/officeDocument/2006/relationships/image" Target="../media/image39.png"/><Relationship Id="rId23" Type="http://schemas.openxmlformats.org/officeDocument/2006/relationships/image" Target="../media/image51.png"/><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58.png"/><Relationship Id="rId9" Type="http://schemas.openxmlformats.org/officeDocument/2006/relationships/image" Target="../media/image20.png"/><Relationship Id="rId25" Type="http://schemas.openxmlformats.org/officeDocument/2006/relationships/image" Target="../media/image40.png"/><Relationship Id="rId5" Type="http://schemas.openxmlformats.org/officeDocument/2006/relationships/image" Target="../media/image21.png"/><Relationship Id="rId6" Type="http://schemas.openxmlformats.org/officeDocument/2006/relationships/image" Target="../media/image25.png"/><Relationship Id="rId7" Type="http://schemas.openxmlformats.org/officeDocument/2006/relationships/image" Target="../media/image18.png"/><Relationship Id="rId8" Type="http://schemas.openxmlformats.org/officeDocument/2006/relationships/image" Target="../media/image13.png"/><Relationship Id="rId11" Type="http://schemas.openxmlformats.org/officeDocument/2006/relationships/image" Target="../media/image33.png"/><Relationship Id="rId10" Type="http://schemas.openxmlformats.org/officeDocument/2006/relationships/image" Target="../media/image29.png"/><Relationship Id="rId13" Type="http://schemas.openxmlformats.org/officeDocument/2006/relationships/image" Target="../media/image34.png"/><Relationship Id="rId12" Type="http://schemas.openxmlformats.org/officeDocument/2006/relationships/image" Target="../media/image23.png"/><Relationship Id="rId15" Type="http://schemas.openxmlformats.org/officeDocument/2006/relationships/image" Target="../media/image56.png"/><Relationship Id="rId14" Type="http://schemas.openxmlformats.org/officeDocument/2006/relationships/image" Target="../media/image12.png"/><Relationship Id="rId17" Type="http://schemas.openxmlformats.org/officeDocument/2006/relationships/image" Target="../media/image36.png"/><Relationship Id="rId16" Type="http://schemas.openxmlformats.org/officeDocument/2006/relationships/image" Target="../media/image28.png"/><Relationship Id="rId19" Type="http://schemas.openxmlformats.org/officeDocument/2006/relationships/image" Target="../media/image42.png"/><Relationship Id="rId18" Type="http://schemas.openxmlformats.org/officeDocument/2006/relationships/image" Target="../media/image83.png"/></Relationships>
</file>

<file path=ppt/slides/_rels/slide11.xml.rels><?xml version="1.0" encoding="UTF-8" standalone="yes"?><Relationships xmlns="http://schemas.openxmlformats.org/package/2006/relationships"><Relationship Id="rId20" Type="http://schemas.openxmlformats.org/officeDocument/2006/relationships/image" Target="../media/image12.png"/><Relationship Id="rId22" Type="http://schemas.openxmlformats.org/officeDocument/2006/relationships/image" Target="../media/image66.png"/><Relationship Id="rId21" Type="http://schemas.openxmlformats.org/officeDocument/2006/relationships/image" Target="../media/image62.png"/><Relationship Id="rId24" Type="http://schemas.openxmlformats.org/officeDocument/2006/relationships/image" Target="../media/image106.png"/><Relationship Id="rId23" Type="http://schemas.openxmlformats.org/officeDocument/2006/relationships/image" Target="../media/image68.png"/><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9.png"/><Relationship Id="rId26" Type="http://schemas.openxmlformats.org/officeDocument/2006/relationships/image" Target="../media/image85.png"/><Relationship Id="rId25" Type="http://schemas.openxmlformats.org/officeDocument/2006/relationships/image" Target="../media/image60.png"/><Relationship Id="rId28" Type="http://schemas.openxmlformats.org/officeDocument/2006/relationships/image" Target="../media/image112.png"/><Relationship Id="rId27" Type="http://schemas.openxmlformats.org/officeDocument/2006/relationships/image" Target="../media/image77.png"/><Relationship Id="rId5" Type="http://schemas.openxmlformats.org/officeDocument/2006/relationships/image" Target="../media/image18.png"/><Relationship Id="rId6" Type="http://schemas.openxmlformats.org/officeDocument/2006/relationships/image" Target="../media/image13.png"/><Relationship Id="rId29" Type="http://schemas.openxmlformats.org/officeDocument/2006/relationships/image" Target="../media/image38.png"/><Relationship Id="rId7" Type="http://schemas.openxmlformats.org/officeDocument/2006/relationships/image" Target="../media/image20.png"/><Relationship Id="rId8" Type="http://schemas.openxmlformats.org/officeDocument/2006/relationships/image" Target="../media/image33.png"/><Relationship Id="rId31" Type="http://schemas.openxmlformats.org/officeDocument/2006/relationships/image" Target="../media/image100.png"/><Relationship Id="rId30" Type="http://schemas.openxmlformats.org/officeDocument/2006/relationships/image" Target="../media/image73.png"/><Relationship Id="rId11" Type="http://schemas.openxmlformats.org/officeDocument/2006/relationships/image" Target="../media/image34.png"/><Relationship Id="rId10" Type="http://schemas.openxmlformats.org/officeDocument/2006/relationships/image" Target="../media/image23.png"/><Relationship Id="rId13" Type="http://schemas.openxmlformats.org/officeDocument/2006/relationships/image" Target="../media/image83.png"/><Relationship Id="rId12" Type="http://schemas.openxmlformats.org/officeDocument/2006/relationships/image" Target="../media/image36.png"/><Relationship Id="rId15" Type="http://schemas.openxmlformats.org/officeDocument/2006/relationships/image" Target="../media/image40.png"/><Relationship Id="rId14" Type="http://schemas.openxmlformats.org/officeDocument/2006/relationships/image" Target="../media/image39.png"/><Relationship Id="rId17" Type="http://schemas.openxmlformats.org/officeDocument/2006/relationships/image" Target="../media/image94.png"/><Relationship Id="rId16" Type="http://schemas.openxmlformats.org/officeDocument/2006/relationships/image" Target="../media/image59.png"/><Relationship Id="rId19" Type="http://schemas.openxmlformats.org/officeDocument/2006/relationships/image" Target="../media/image61.png"/><Relationship Id="rId18" Type="http://schemas.openxmlformats.org/officeDocument/2006/relationships/image" Target="../media/image101.png"/></Relationships>
</file>

<file path=ppt/slides/_rels/slide12.xml.rels><?xml version="1.0" encoding="UTF-8" standalone="yes"?><Relationships xmlns="http://schemas.openxmlformats.org/package/2006/relationships"><Relationship Id="rId20" Type="http://schemas.openxmlformats.org/officeDocument/2006/relationships/image" Target="../media/image114.png"/><Relationship Id="rId22" Type="http://schemas.openxmlformats.org/officeDocument/2006/relationships/image" Target="../media/image84.png"/><Relationship Id="rId21" Type="http://schemas.openxmlformats.org/officeDocument/2006/relationships/image" Target="../media/image19.png"/><Relationship Id="rId24" Type="http://schemas.openxmlformats.org/officeDocument/2006/relationships/image" Target="../media/image117.png"/><Relationship Id="rId23" Type="http://schemas.openxmlformats.org/officeDocument/2006/relationships/image" Target="../media/image91.png"/><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9.png"/><Relationship Id="rId26" Type="http://schemas.openxmlformats.org/officeDocument/2006/relationships/image" Target="../media/image131.png"/><Relationship Id="rId25" Type="http://schemas.openxmlformats.org/officeDocument/2006/relationships/image" Target="../media/image110.png"/><Relationship Id="rId28" Type="http://schemas.openxmlformats.org/officeDocument/2006/relationships/image" Target="../media/image98.png"/><Relationship Id="rId27" Type="http://schemas.openxmlformats.org/officeDocument/2006/relationships/image" Target="../media/image99.png"/><Relationship Id="rId5" Type="http://schemas.openxmlformats.org/officeDocument/2006/relationships/image" Target="../media/image18.png"/><Relationship Id="rId6" Type="http://schemas.openxmlformats.org/officeDocument/2006/relationships/image" Target="../media/image13.png"/><Relationship Id="rId29" Type="http://schemas.openxmlformats.org/officeDocument/2006/relationships/image" Target="../media/image138.png"/><Relationship Id="rId7" Type="http://schemas.openxmlformats.org/officeDocument/2006/relationships/image" Target="../media/image20.png"/><Relationship Id="rId8" Type="http://schemas.openxmlformats.org/officeDocument/2006/relationships/image" Target="../media/image33.png"/><Relationship Id="rId11" Type="http://schemas.openxmlformats.org/officeDocument/2006/relationships/image" Target="../media/image34.png"/><Relationship Id="rId10" Type="http://schemas.openxmlformats.org/officeDocument/2006/relationships/image" Target="../media/image23.png"/><Relationship Id="rId13" Type="http://schemas.openxmlformats.org/officeDocument/2006/relationships/image" Target="../media/image36.png"/><Relationship Id="rId12" Type="http://schemas.openxmlformats.org/officeDocument/2006/relationships/image" Target="../media/image28.png"/><Relationship Id="rId15" Type="http://schemas.openxmlformats.org/officeDocument/2006/relationships/image" Target="../media/image39.png"/><Relationship Id="rId14" Type="http://schemas.openxmlformats.org/officeDocument/2006/relationships/image" Target="../media/image83.png"/><Relationship Id="rId17" Type="http://schemas.openxmlformats.org/officeDocument/2006/relationships/image" Target="../media/image90.png"/><Relationship Id="rId16" Type="http://schemas.openxmlformats.org/officeDocument/2006/relationships/image" Target="../media/image40.png"/><Relationship Id="rId19" Type="http://schemas.openxmlformats.org/officeDocument/2006/relationships/image" Target="../media/image136.png"/><Relationship Id="rId18" Type="http://schemas.openxmlformats.org/officeDocument/2006/relationships/image" Target="../media/image81.png"/></Relationships>
</file>

<file path=ppt/slides/_rels/slide13.xml.rels><?xml version="1.0" encoding="UTF-8" standalone="yes"?><Relationships xmlns="http://schemas.openxmlformats.org/package/2006/relationships"><Relationship Id="rId20" Type="http://schemas.openxmlformats.org/officeDocument/2006/relationships/image" Target="../media/image111.png"/><Relationship Id="rId22" Type="http://schemas.openxmlformats.org/officeDocument/2006/relationships/image" Target="../media/image123.png"/><Relationship Id="rId21" Type="http://schemas.openxmlformats.org/officeDocument/2006/relationships/image" Target="../media/image147.png"/><Relationship Id="rId24" Type="http://schemas.openxmlformats.org/officeDocument/2006/relationships/image" Target="../media/image137.png"/><Relationship Id="rId23" Type="http://schemas.openxmlformats.org/officeDocument/2006/relationships/image" Target="../media/image141.png"/><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9.png"/><Relationship Id="rId26" Type="http://schemas.openxmlformats.org/officeDocument/2006/relationships/image" Target="../media/image122.png"/><Relationship Id="rId25" Type="http://schemas.openxmlformats.org/officeDocument/2006/relationships/image" Target="../media/image127.png"/><Relationship Id="rId28" Type="http://schemas.openxmlformats.org/officeDocument/2006/relationships/image" Target="../media/image38.png"/><Relationship Id="rId27" Type="http://schemas.openxmlformats.org/officeDocument/2006/relationships/image" Target="../media/image119.png"/><Relationship Id="rId5" Type="http://schemas.openxmlformats.org/officeDocument/2006/relationships/image" Target="../media/image18.png"/><Relationship Id="rId6" Type="http://schemas.openxmlformats.org/officeDocument/2006/relationships/image" Target="../media/image13.png"/><Relationship Id="rId29" Type="http://schemas.openxmlformats.org/officeDocument/2006/relationships/image" Target="../media/image185.png"/><Relationship Id="rId7" Type="http://schemas.openxmlformats.org/officeDocument/2006/relationships/image" Target="../media/image20.png"/><Relationship Id="rId8" Type="http://schemas.openxmlformats.org/officeDocument/2006/relationships/image" Target="../media/image33.png"/><Relationship Id="rId11" Type="http://schemas.openxmlformats.org/officeDocument/2006/relationships/image" Target="../media/image34.png"/><Relationship Id="rId10" Type="http://schemas.openxmlformats.org/officeDocument/2006/relationships/image" Target="../media/image23.png"/><Relationship Id="rId13" Type="http://schemas.openxmlformats.org/officeDocument/2006/relationships/image" Target="../media/image28.png"/><Relationship Id="rId12" Type="http://schemas.openxmlformats.org/officeDocument/2006/relationships/image" Target="../media/image56.png"/><Relationship Id="rId15" Type="http://schemas.openxmlformats.org/officeDocument/2006/relationships/image" Target="../media/image83.png"/><Relationship Id="rId14" Type="http://schemas.openxmlformats.org/officeDocument/2006/relationships/image" Target="../media/image36.png"/><Relationship Id="rId17" Type="http://schemas.openxmlformats.org/officeDocument/2006/relationships/image" Target="../media/image40.png"/><Relationship Id="rId16" Type="http://schemas.openxmlformats.org/officeDocument/2006/relationships/image" Target="../media/image39.png"/><Relationship Id="rId19" Type="http://schemas.openxmlformats.org/officeDocument/2006/relationships/image" Target="../media/image135.png"/><Relationship Id="rId18" Type="http://schemas.openxmlformats.org/officeDocument/2006/relationships/image" Target="../media/image1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 Id="rId3" Type="http://schemas.openxmlformats.org/officeDocument/2006/relationships/hyperlink" Target="http://go/system-arch" TargetMode="External"/><Relationship Id="rId4" Type="http://schemas.openxmlformats.org/officeDocument/2006/relationships/hyperlink" Target="http://go/arch-center"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image" Target="../media/image21.png"/><Relationship Id="rId4" Type="http://schemas.openxmlformats.org/officeDocument/2006/relationships/image" Target="../media/image18.png"/><Relationship Id="rId5" Type="http://schemas.openxmlformats.org/officeDocument/2006/relationships/image" Target="../media/image8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34.png"/><Relationship Id="rId4" Type="http://schemas.openxmlformats.org/officeDocument/2006/relationships/image" Target="../media/image12.png"/><Relationship Id="rId9" Type="http://schemas.openxmlformats.org/officeDocument/2006/relationships/image" Target="../media/image25.png"/><Relationship Id="rId5" Type="http://schemas.openxmlformats.org/officeDocument/2006/relationships/image" Target="../media/image22.png"/><Relationship Id="rId6" Type="http://schemas.openxmlformats.org/officeDocument/2006/relationships/image" Target="../media/image29.png"/><Relationship Id="rId7" Type="http://schemas.openxmlformats.org/officeDocument/2006/relationships/image" Target="../media/image56.png"/><Relationship Id="rId8" Type="http://schemas.openxmlformats.org/officeDocument/2006/relationships/image" Target="../media/image28.png"/><Relationship Id="rId11" Type="http://schemas.openxmlformats.org/officeDocument/2006/relationships/image" Target="../media/image144.png"/><Relationship Id="rId10" Type="http://schemas.openxmlformats.org/officeDocument/2006/relationships/image" Target="../media/image36.png"/><Relationship Id="rId13" Type="http://schemas.openxmlformats.org/officeDocument/2006/relationships/image" Target="../media/image33.png"/><Relationship Id="rId12" Type="http://schemas.openxmlformats.org/officeDocument/2006/relationships/image" Target="../media/image20.png"/><Relationship Id="rId14"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 Id="rId3" Type="http://schemas.openxmlformats.org/officeDocument/2006/relationships/image" Target="../media/image174.png"/><Relationship Id="rId4" Type="http://schemas.openxmlformats.org/officeDocument/2006/relationships/image" Target="../media/image148.png"/><Relationship Id="rId5" Type="http://schemas.openxmlformats.org/officeDocument/2006/relationships/hyperlink" Target="https://brandfolder.com/integrations/chrome-extension"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0" Type="http://schemas.openxmlformats.org/officeDocument/2006/relationships/image" Target="../media/image160.png"/><Relationship Id="rId1" Type="http://schemas.openxmlformats.org/officeDocument/2006/relationships/slideLayout" Target="../slideLayouts/slideLayout18.xml"/><Relationship Id="rId2" Type="http://schemas.openxmlformats.org/officeDocument/2006/relationships/notesSlide" Target="../notesSlides/notesSlide23.xml"/><Relationship Id="rId3" Type="http://schemas.openxmlformats.org/officeDocument/2006/relationships/image" Target="../media/image157.png"/><Relationship Id="rId4" Type="http://schemas.openxmlformats.org/officeDocument/2006/relationships/image" Target="../media/image139.png"/><Relationship Id="rId9" Type="http://schemas.openxmlformats.org/officeDocument/2006/relationships/image" Target="../media/image149.png"/><Relationship Id="rId5" Type="http://schemas.openxmlformats.org/officeDocument/2006/relationships/image" Target="../media/image143.png"/><Relationship Id="rId6" Type="http://schemas.openxmlformats.org/officeDocument/2006/relationships/image" Target="../media/image146.png"/><Relationship Id="rId7" Type="http://schemas.openxmlformats.org/officeDocument/2006/relationships/image" Target="../media/image142.png"/><Relationship Id="rId8" Type="http://schemas.openxmlformats.org/officeDocument/2006/relationships/image" Target="../media/image156.png"/><Relationship Id="rId11" Type="http://schemas.openxmlformats.org/officeDocument/2006/relationships/image" Target="../media/image155.png"/><Relationship Id="rId10" Type="http://schemas.openxmlformats.org/officeDocument/2006/relationships/image" Target="../media/image140.png"/><Relationship Id="rId13" Type="http://schemas.openxmlformats.org/officeDocument/2006/relationships/image" Target="../media/image151.png"/><Relationship Id="rId12" Type="http://schemas.openxmlformats.org/officeDocument/2006/relationships/image" Target="../media/image7.png"/><Relationship Id="rId15" Type="http://schemas.openxmlformats.org/officeDocument/2006/relationships/image" Target="../media/image154.png"/><Relationship Id="rId14" Type="http://schemas.openxmlformats.org/officeDocument/2006/relationships/image" Target="../media/image152.png"/><Relationship Id="rId17" Type="http://schemas.openxmlformats.org/officeDocument/2006/relationships/image" Target="../media/image150.png"/><Relationship Id="rId16" Type="http://schemas.openxmlformats.org/officeDocument/2006/relationships/image" Target="../media/image162.png"/><Relationship Id="rId19" Type="http://schemas.openxmlformats.org/officeDocument/2006/relationships/image" Target="../media/image158.png"/><Relationship Id="rId18" Type="http://schemas.openxmlformats.org/officeDocument/2006/relationships/image" Target="../media/image153.png"/></Relationships>
</file>

<file path=ppt/slides/_rels/slide24.xml.rels><?xml version="1.0" encoding="UTF-8" standalone="yes"?><Relationships xmlns="http://schemas.openxmlformats.org/package/2006/relationships"><Relationship Id="rId20" Type="http://schemas.openxmlformats.org/officeDocument/2006/relationships/hyperlink" Target="https://drive.google.com/drive/folders/1Bq0B4L07xS8BIC654tExuxg2CDa-j6bF" TargetMode="External"/><Relationship Id="rId22" Type="http://schemas.openxmlformats.org/officeDocument/2006/relationships/hyperlink" Target="https://drive.google.com/drive/folders/18LXoTa0ZKEN0zbxEPRwrvnT4Jz_H14Q9" TargetMode="External"/><Relationship Id="rId21" Type="http://schemas.openxmlformats.org/officeDocument/2006/relationships/hyperlink" Target="https://drive.google.com/drive/folders/1N8mkvJqrReFIjp8eT0TJzDVTJvK5eJDZ" TargetMode="External"/><Relationship Id="rId24" Type="http://schemas.openxmlformats.org/officeDocument/2006/relationships/image" Target="../media/image168.png"/><Relationship Id="rId23" Type="http://schemas.openxmlformats.org/officeDocument/2006/relationships/hyperlink" Target="https://drive.google.com/drive/folders/1xqcdqV3Q0bkOWZKbI-4AVqrU8gUS9Luy" TargetMode="External"/><Relationship Id="rId1" Type="http://schemas.openxmlformats.org/officeDocument/2006/relationships/slideLayout" Target="../slideLayouts/slideLayout19.xml"/><Relationship Id="rId2" Type="http://schemas.openxmlformats.org/officeDocument/2006/relationships/notesSlide" Target="../notesSlides/notesSlide24.xml"/><Relationship Id="rId3" Type="http://schemas.openxmlformats.org/officeDocument/2006/relationships/image" Target="../media/image161.png"/><Relationship Id="rId4" Type="http://schemas.openxmlformats.org/officeDocument/2006/relationships/image" Target="../media/image166.png"/><Relationship Id="rId9" Type="http://schemas.openxmlformats.org/officeDocument/2006/relationships/image" Target="../media/image191.png"/><Relationship Id="rId26" Type="http://schemas.openxmlformats.org/officeDocument/2006/relationships/image" Target="../media/image184.png"/><Relationship Id="rId25" Type="http://schemas.openxmlformats.org/officeDocument/2006/relationships/image" Target="../media/image173.png"/><Relationship Id="rId28" Type="http://schemas.openxmlformats.org/officeDocument/2006/relationships/image" Target="../media/image181.png"/><Relationship Id="rId27" Type="http://schemas.openxmlformats.org/officeDocument/2006/relationships/image" Target="../media/image177.png"/><Relationship Id="rId5" Type="http://schemas.openxmlformats.org/officeDocument/2006/relationships/image" Target="../media/image171.png"/><Relationship Id="rId6" Type="http://schemas.openxmlformats.org/officeDocument/2006/relationships/image" Target="../media/image169.png"/><Relationship Id="rId7" Type="http://schemas.openxmlformats.org/officeDocument/2006/relationships/image" Target="../media/image165.png"/><Relationship Id="rId8" Type="http://schemas.openxmlformats.org/officeDocument/2006/relationships/image" Target="../media/image170.png"/><Relationship Id="rId11" Type="http://schemas.openxmlformats.org/officeDocument/2006/relationships/image" Target="../media/image163.png"/><Relationship Id="rId10" Type="http://schemas.openxmlformats.org/officeDocument/2006/relationships/image" Target="../media/image167.png"/><Relationship Id="rId13" Type="http://schemas.openxmlformats.org/officeDocument/2006/relationships/image" Target="../media/image182.png"/><Relationship Id="rId12" Type="http://schemas.openxmlformats.org/officeDocument/2006/relationships/image" Target="../media/image178.png"/><Relationship Id="rId15" Type="http://schemas.openxmlformats.org/officeDocument/2006/relationships/image" Target="../media/image164.png"/><Relationship Id="rId14" Type="http://schemas.openxmlformats.org/officeDocument/2006/relationships/image" Target="../media/image175.png"/><Relationship Id="rId17" Type="http://schemas.openxmlformats.org/officeDocument/2006/relationships/hyperlink" Target="https://drive.google.com/drive/folders/1lSG0RmIcqwVwwW3balIvCFF-N4XJxDuG" TargetMode="External"/><Relationship Id="rId16" Type="http://schemas.openxmlformats.org/officeDocument/2006/relationships/image" Target="../media/image209.png"/><Relationship Id="rId19" Type="http://schemas.openxmlformats.org/officeDocument/2006/relationships/hyperlink" Target="https://drive.google.com/drive/folders/1vZhh1Ik-zRd9v03mIPYHNindAVhJJ-Dj" TargetMode="External"/><Relationship Id="rId18" Type="http://schemas.openxmlformats.org/officeDocument/2006/relationships/hyperlink" Target="https://drive.google.com/drive/folders/1tWtoJD39cDATgyXDaLaOmaWfXn4oR9yK"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5.xml"/><Relationship Id="rId3" Type="http://schemas.openxmlformats.org/officeDocument/2006/relationships/image" Target="../media/image180.png"/></Relationships>
</file>

<file path=ppt/slides/_rels/slide26.xml.rels><?xml version="1.0" encoding="UTF-8" standalone="yes"?><Relationships xmlns="http://schemas.openxmlformats.org/package/2006/relationships"><Relationship Id="rId40" Type="http://schemas.openxmlformats.org/officeDocument/2006/relationships/image" Target="../media/image85.png"/><Relationship Id="rId20" Type="http://schemas.openxmlformats.org/officeDocument/2006/relationships/image" Target="../media/image119.png"/><Relationship Id="rId42" Type="http://schemas.openxmlformats.org/officeDocument/2006/relationships/image" Target="../media/image94.png"/><Relationship Id="rId41" Type="http://schemas.openxmlformats.org/officeDocument/2006/relationships/image" Target="../media/image101.png"/><Relationship Id="rId22" Type="http://schemas.openxmlformats.org/officeDocument/2006/relationships/image" Target="../media/image123.png"/><Relationship Id="rId44" Type="http://schemas.openxmlformats.org/officeDocument/2006/relationships/image" Target="../media/image233.png"/><Relationship Id="rId21" Type="http://schemas.openxmlformats.org/officeDocument/2006/relationships/image" Target="../media/image141.png"/><Relationship Id="rId43" Type="http://schemas.openxmlformats.org/officeDocument/2006/relationships/image" Target="../media/image112.png"/><Relationship Id="rId24" Type="http://schemas.openxmlformats.org/officeDocument/2006/relationships/image" Target="../media/image127.png"/><Relationship Id="rId46" Type="http://schemas.openxmlformats.org/officeDocument/2006/relationships/image" Target="../media/image237.png"/><Relationship Id="rId23" Type="http://schemas.openxmlformats.org/officeDocument/2006/relationships/image" Target="../media/image137.png"/><Relationship Id="rId45" Type="http://schemas.openxmlformats.org/officeDocument/2006/relationships/image" Target="../media/image247.png"/><Relationship Id="rId1" Type="http://schemas.openxmlformats.org/officeDocument/2006/relationships/slideLayout" Target="../slideLayouts/slideLayout19.xml"/><Relationship Id="rId2" Type="http://schemas.openxmlformats.org/officeDocument/2006/relationships/notesSlide" Target="../notesSlides/notesSlide26.xml"/><Relationship Id="rId3" Type="http://schemas.openxmlformats.org/officeDocument/2006/relationships/image" Target="../media/image179.png"/><Relationship Id="rId4" Type="http://schemas.openxmlformats.org/officeDocument/2006/relationships/image" Target="../media/image186.png"/><Relationship Id="rId9" Type="http://schemas.openxmlformats.org/officeDocument/2006/relationships/image" Target="../media/image84.png"/><Relationship Id="rId26" Type="http://schemas.openxmlformats.org/officeDocument/2006/relationships/image" Target="../media/image194.png"/><Relationship Id="rId48" Type="http://schemas.openxmlformats.org/officeDocument/2006/relationships/image" Target="../media/image59.png"/><Relationship Id="rId25" Type="http://schemas.openxmlformats.org/officeDocument/2006/relationships/image" Target="../media/image199.png"/><Relationship Id="rId47" Type="http://schemas.openxmlformats.org/officeDocument/2006/relationships/image" Target="../media/image222.png"/><Relationship Id="rId28" Type="http://schemas.openxmlformats.org/officeDocument/2006/relationships/image" Target="../media/image210.png"/><Relationship Id="rId27" Type="http://schemas.openxmlformats.org/officeDocument/2006/relationships/image" Target="../media/image214.png"/><Relationship Id="rId5" Type="http://schemas.openxmlformats.org/officeDocument/2006/relationships/image" Target="../media/image195.png"/><Relationship Id="rId6" Type="http://schemas.openxmlformats.org/officeDocument/2006/relationships/image" Target="../media/image136.png"/><Relationship Id="rId29" Type="http://schemas.openxmlformats.org/officeDocument/2006/relationships/image" Target="../media/image217.png"/><Relationship Id="rId7" Type="http://schemas.openxmlformats.org/officeDocument/2006/relationships/image" Target="../media/image81.png"/><Relationship Id="rId8" Type="http://schemas.openxmlformats.org/officeDocument/2006/relationships/image" Target="../media/image90.png"/><Relationship Id="rId31" Type="http://schemas.openxmlformats.org/officeDocument/2006/relationships/image" Target="../media/image221.png"/><Relationship Id="rId30" Type="http://schemas.openxmlformats.org/officeDocument/2006/relationships/image" Target="../media/image202.png"/><Relationship Id="rId11" Type="http://schemas.openxmlformats.org/officeDocument/2006/relationships/image" Target="../media/image99.png"/><Relationship Id="rId33" Type="http://schemas.openxmlformats.org/officeDocument/2006/relationships/image" Target="../media/image216.png"/><Relationship Id="rId10" Type="http://schemas.openxmlformats.org/officeDocument/2006/relationships/image" Target="../media/image91.png"/><Relationship Id="rId32" Type="http://schemas.openxmlformats.org/officeDocument/2006/relationships/image" Target="../media/image213.png"/><Relationship Id="rId13" Type="http://schemas.openxmlformats.org/officeDocument/2006/relationships/image" Target="../media/image117.png"/><Relationship Id="rId35" Type="http://schemas.openxmlformats.org/officeDocument/2006/relationships/image" Target="../media/image205.png"/><Relationship Id="rId12" Type="http://schemas.openxmlformats.org/officeDocument/2006/relationships/image" Target="../media/image188.png"/><Relationship Id="rId34" Type="http://schemas.openxmlformats.org/officeDocument/2006/relationships/image" Target="../media/image203.png"/><Relationship Id="rId15" Type="http://schemas.openxmlformats.org/officeDocument/2006/relationships/image" Target="../media/image114.png"/><Relationship Id="rId37" Type="http://schemas.openxmlformats.org/officeDocument/2006/relationships/image" Target="../media/image234.png"/><Relationship Id="rId14" Type="http://schemas.openxmlformats.org/officeDocument/2006/relationships/image" Target="../media/image98.png"/><Relationship Id="rId36" Type="http://schemas.openxmlformats.org/officeDocument/2006/relationships/image" Target="../media/image211.png"/><Relationship Id="rId17" Type="http://schemas.openxmlformats.org/officeDocument/2006/relationships/image" Target="../media/image111.png"/><Relationship Id="rId39" Type="http://schemas.openxmlformats.org/officeDocument/2006/relationships/image" Target="../media/image60.png"/><Relationship Id="rId16" Type="http://schemas.openxmlformats.org/officeDocument/2006/relationships/image" Target="../media/image19.png"/><Relationship Id="rId38" Type="http://schemas.openxmlformats.org/officeDocument/2006/relationships/image" Target="../media/image106.png"/><Relationship Id="rId19" Type="http://schemas.openxmlformats.org/officeDocument/2006/relationships/image" Target="../media/image121.png"/><Relationship Id="rId18" Type="http://schemas.openxmlformats.org/officeDocument/2006/relationships/image" Target="../media/image147.png"/></Relationships>
</file>

<file path=ppt/slides/_rels/slide27.xml.rels><?xml version="1.0" encoding="UTF-8" standalone="yes"?><Relationships xmlns="http://schemas.openxmlformats.org/package/2006/relationships"><Relationship Id="rId20" Type="http://schemas.openxmlformats.org/officeDocument/2006/relationships/image" Target="../media/image241.png"/><Relationship Id="rId1" Type="http://schemas.openxmlformats.org/officeDocument/2006/relationships/slideLayout" Target="../slideLayouts/slideLayout18.xml"/><Relationship Id="rId2" Type="http://schemas.openxmlformats.org/officeDocument/2006/relationships/notesSlide" Target="../notesSlides/notesSlide27.xml"/><Relationship Id="rId3" Type="http://schemas.openxmlformats.org/officeDocument/2006/relationships/image" Target="../media/image179.png"/><Relationship Id="rId4" Type="http://schemas.openxmlformats.org/officeDocument/2006/relationships/image" Target="../media/image224.png"/><Relationship Id="rId9" Type="http://schemas.openxmlformats.org/officeDocument/2006/relationships/image" Target="../media/image230.png"/><Relationship Id="rId5" Type="http://schemas.openxmlformats.org/officeDocument/2006/relationships/image" Target="../media/image229.png"/><Relationship Id="rId6" Type="http://schemas.openxmlformats.org/officeDocument/2006/relationships/image" Target="../media/image225.png"/><Relationship Id="rId7" Type="http://schemas.openxmlformats.org/officeDocument/2006/relationships/image" Target="../media/image218.png"/><Relationship Id="rId8" Type="http://schemas.openxmlformats.org/officeDocument/2006/relationships/image" Target="../media/image223.png"/><Relationship Id="rId11" Type="http://schemas.openxmlformats.org/officeDocument/2006/relationships/image" Target="../media/image245.png"/><Relationship Id="rId10" Type="http://schemas.openxmlformats.org/officeDocument/2006/relationships/image" Target="../media/image219.png"/><Relationship Id="rId13" Type="http://schemas.openxmlformats.org/officeDocument/2006/relationships/image" Target="../media/image195.png"/><Relationship Id="rId12" Type="http://schemas.openxmlformats.org/officeDocument/2006/relationships/image" Target="../media/image186.png"/><Relationship Id="rId15" Type="http://schemas.openxmlformats.org/officeDocument/2006/relationships/image" Target="../media/image228.png"/><Relationship Id="rId14" Type="http://schemas.openxmlformats.org/officeDocument/2006/relationships/image" Target="../media/image235.png"/><Relationship Id="rId17" Type="http://schemas.openxmlformats.org/officeDocument/2006/relationships/image" Target="../media/image238.png"/><Relationship Id="rId16" Type="http://schemas.openxmlformats.org/officeDocument/2006/relationships/image" Target="../media/image246.png"/><Relationship Id="rId19" Type="http://schemas.openxmlformats.org/officeDocument/2006/relationships/image" Target="../media/image232.png"/><Relationship Id="rId18" Type="http://schemas.openxmlformats.org/officeDocument/2006/relationships/image" Target="../media/image23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9.xml"/><Relationship Id="rId3" Type="http://schemas.openxmlformats.org/officeDocument/2006/relationships/image" Target="../media/image244.png"/><Relationship Id="rId4" Type="http://schemas.openxmlformats.org/officeDocument/2006/relationships/image" Target="../media/image240.png"/><Relationship Id="rId5" Type="http://schemas.openxmlformats.org/officeDocument/2006/relationships/image" Target="../media/image243.png"/><Relationship Id="rId6" Type="http://schemas.openxmlformats.org/officeDocument/2006/relationships/image" Target="../media/image24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4"/>
          <p:cNvSpPr txBox="1"/>
          <p:nvPr>
            <p:ph type="ctrTitle"/>
          </p:nvPr>
        </p:nvSpPr>
        <p:spPr>
          <a:xfrm>
            <a:off x="761800" y="1186975"/>
            <a:ext cx="5332800" cy="238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Architecture Slides Template</a:t>
            </a:r>
            <a:endParaRPr/>
          </a:p>
        </p:txBody>
      </p:sp>
      <p:sp>
        <p:nvSpPr>
          <p:cNvPr id="391" name="Google Shape;391;p44"/>
          <p:cNvSpPr txBox="1"/>
          <p:nvPr>
            <p:ph idx="1" type="subTitle"/>
          </p:nvPr>
        </p:nvSpPr>
        <p:spPr>
          <a:xfrm>
            <a:off x="761809" y="3835400"/>
            <a:ext cx="6170100" cy="1224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starting point for great architecture presentations</a:t>
            </a:r>
            <a:endParaRPr/>
          </a:p>
        </p:txBody>
      </p:sp>
      <p:sp>
        <p:nvSpPr>
          <p:cNvPr id="392" name="Google Shape;392;p44"/>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393" name="Google Shape;393;p44"/>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b="1" lang="en"/>
              <a:t>Bernhard Walter</a:t>
            </a:r>
            <a:br>
              <a:rPr lang="en"/>
            </a:br>
            <a:r>
              <a:rPr lang="en"/>
              <a:t>Last updated 2025-02-04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5"/>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399" name="Google Shape;399;p45"/>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Lakehouse Architecture</a:t>
            </a:r>
            <a:br>
              <a:rPr lang="en"/>
            </a:br>
            <a:r>
              <a:rPr lang="en"/>
              <a:t>Positioning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alpha val="54750"/>
          </a:srgbClr>
        </a:solidFill>
      </p:bgPr>
    </p:bg>
    <p:spTree>
      <p:nvGrpSpPr>
        <p:cNvPr id="403" name="Shape 403"/>
        <p:cNvGrpSpPr/>
        <p:nvPr/>
      </p:nvGrpSpPr>
      <p:grpSpPr>
        <a:xfrm>
          <a:off x="0" y="0"/>
          <a:ext cx="0" cy="0"/>
          <a:chOff x="0" y="0"/>
          <a:chExt cx="0" cy="0"/>
        </a:xfrm>
      </p:grpSpPr>
      <p:sp>
        <p:nvSpPr>
          <p:cNvPr id="404" name="Google Shape;404;p46"/>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Modern Data Platform</a:t>
            </a:r>
            <a:r>
              <a:rPr lang="en" sz="3600"/>
              <a:t> - Framework</a:t>
            </a:r>
            <a:endParaRPr sz="3600"/>
          </a:p>
        </p:txBody>
      </p:sp>
      <p:sp>
        <p:nvSpPr>
          <p:cNvPr id="405" name="Google Shape;405;p46"/>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06" name="Google Shape;406;p46"/>
          <p:cNvSpPr/>
          <p:nvPr/>
        </p:nvSpPr>
        <p:spPr>
          <a:xfrm>
            <a:off x="1092875" y="5471195"/>
            <a:ext cx="9973800" cy="911700"/>
          </a:xfrm>
          <a:prstGeom prst="roundRect">
            <a:avLst>
              <a:gd fmla="val 10399" name="adj"/>
            </a:avLst>
          </a:prstGeom>
          <a:solidFill>
            <a:srgbClr val="FFFFFF"/>
          </a:solidFill>
          <a:ln cap="flat" cmpd="sng" w="952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Cloud Storage</a:t>
            </a:r>
            <a:endParaRPr>
              <a:solidFill>
                <a:schemeClr val="accent1"/>
              </a:solidFill>
              <a:latin typeface="DM Sans Medium"/>
              <a:ea typeface="DM Sans Medium"/>
              <a:cs typeface="DM Sans Medium"/>
              <a:sym typeface="DM Sans Medium"/>
            </a:endParaRPr>
          </a:p>
        </p:txBody>
      </p:sp>
      <p:sp>
        <p:nvSpPr>
          <p:cNvPr id="407" name="Google Shape;407;p46"/>
          <p:cNvSpPr/>
          <p:nvPr/>
        </p:nvSpPr>
        <p:spPr>
          <a:xfrm>
            <a:off x="1092875" y="4866238"/>
            <a:ext cx="9973800" cy="525600"/>
          </a:xfrm>
          <a:prstGeom prst="roundRect">
            <a:avLst>
              <a:gd fmla="val 14875" name="adj"/>
            </a:avLst>
          </a:prstGeom>
          <a:solidFill>
            <a:srgbClr val="FFFFFF"/>
          </a:solidFill>
          <a:ln cap="flat" cmpd="sng" w="952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Data &amp; AI </a:t>
            </a:r>
            <a:r>
              <a:rPr lang="en">
                <a:solidFill>
                  <a:schemeClr val="accent1"/>
                </a:solidFill>
                <a:latin typeface="DM Sans Medium"/>
                <a:ea typeface="DM Sans Medium"/>
                <a:cs typeface="DM Sans Medium"/>
                <a:sym typeface="DM Sans Medium"/>
              </a:rPr>
              <a:t>Governance</a:t>
            </a:r>
            <a:endParaRPr>
              <a:solidFill>
                <a:schemeClr val="accent1"/>
              </a:solidFill>
              <a:latin typeface="DM Sans Medium"/>
              <a:ea typeface="DM Sans Medium"/>
              <a:cs typeface="DM Sans Medium"/>
              <a:sym typeface="DM Sans Medium"/>
            </a:endParaRPr>
          </a:p>
        </p:txBody>
      </p:sp>
      <p:sp>
        <p:nvSpPr>
          <p:cNvPr id="408" name="Google Shape;408;p46"/>
          <p:cNvSpPr/>
          <p:nvPr/>
        </p:nvSpPr>
        <p:spPr>
          <a:xfrm>
            <a:off x="1086225" y="2124699"/>
            <a:ext cx="8487300" cy="465000"/>
          </a:xfrm>
          <a:prstGeom prst="roundRect">
            <a:avLst>
              <a:gd fmla="val 15419" name="adj"/>
            </a:avLst>
          </a:prstGeom>
          <a:solidFill>
            <a:srgbClr val="FFFFFF"/>
          </a:solidFill>
          <a:ln cap="flat" cmpd="sng" w="952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a:solidFill>
                  <a:schemeClr val="accent1"/>
                </a:solidFill>
                <a:latin typeface="DM Sans Medium"/>
                <a:ea typeface="DM Sans Medium"/>
                <a:cs typeface="DM Sans Medium"/>
                <a:sym typeface="DM Sans Medium"/>
              </a:rPr>
              <a:t>Orchestration</a:t>
            </a:r>
            <a:endParaRPr>
              <a:solidFill>
                <a:schemeClr val="accent1"/>
              </a:solidFill>
              <a:latin typeface="DM Sans Medium"/>
              <a:ea typeface="DM Sans Medium"/>
              <a:cs typeface="DM Sans Medium"/>
              <a:sym typeface="DM Sans Medium"/>
            </a:endParaRPr>
          </a:p>
        </p:txBody>
      </p:sp>
      <p:sp>
        <p:nvSpPr>
          <p:cNvPr id="409" name="Google Shape;409;p46"/>
          <p:cNvSpPr/>
          <p:nvPr/>
        </p:nvSpPr>
        <p:spPr>
          <a:xfrm>
            <a:off x="9654050" y="1585825"/>
            <a:ext cx="1412700" cy="2614500"/>
          </a:xfrm>
          <a:prstGeom prst="roundRect">
            <a:avLst>
              <a:gd fmla="val 6980"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Collaboration</a:t>
            </a:r>
            <a:endParaRPr>
              <a:solidFill>
                <a:schemeClr val="accent1"/>
              </a:solidFill>
              <a:latin typeface="DM Sans Medium"/>
              <a:ea typeface="DM Sans Medium"/>
              <a:cs typeface="DM Sans Medium"/>
              <a:sym typeface="DM Sans Medium"/>
            </a:endParaRPr>
          </a:p>
        </p:txBody>
      </p:sp>
      <p:sp>
        <p:nvSpPr>
          <p:cNvPr id="410" name="Google Shape;410;p46"/>
          <p:cNvSpPr/>
          <p:nvPr/>
        </p:nvSpPr>
        <p:spPr>
          <a:xfrm>
            <a:off x="1092875" y="4267499"/>
            <a:ext cx="9973800" cy="525600"/>
          </a:xfrm>
          <a:prstGeom prst="roundRect">
            <a:avLst>
              <a:gd fmla="val 14875" name="adj"/>
            </a:avLst>
          </a:prstGeom>
          <a:solidFill>
            <a:srgbClr val="FFFFFF"/>
          </a:solidFill>
          <a:ln cap="flat" cmpd="sng" w="952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accent1"/>
                </a:solidFill>
                <a:latin typeface="DM Sans Medium"/>
                <a:ea typeface="DM Sans Medium"/>
                <a:cs typeface="DM Sans Medium"/>
                <a:sym typeface="DM Sans Medium"/>
              </a:rPr>
              <a:t>AI Engine</a:t>
            </a:r>
            <a:endParaRPr>
              <a:solidFill>
                <a:schemeClr val="accent1"/>
              </a:solidFill>
              <a:latin typeface="DM Sans Medium"/>
              <a:ea typeface="DM Sans Medium"/>
              <a:cs typeface="DM Sans Medium"/>
              <a:sym typeface="DM Sans Medium"/>
            </a:endParaRPr>
          </a:p>
        </p:txBody>
      </p:sp>
      <p:sp>
        <p:nvSpPr>
          <p:cNvPr id="411" name="Google Shape;411;p46"/>
          <p:cNvSpPr txBox="1"/>
          <p:nvPr/>
        </p:nvSpPr>
        <p:spPr>
          <a:xfrm>
            <a:off x="9498924" y="991150"/>
            <a:ext cx="1598700" cy="3624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None/>
            </a:pPr>
            <a:r>
              <a:rPr lang="en">
                <a:solidFill>
                  <a:schemeClr val="accent1"/>
                </a:solidFill>
                <a:latin typeface="DM Sans SemiBold"/>
                <a:ea typeface="DM Sans SemiBold"/>
                <a:cs typeface="DM Sans SemiBold"/>
                <a:sym typeface="DM Sans SemiBold"/>
              </a:rPr>
              <a:t>Business Partner</a:t>
            </a:r>
            <a:endParaRPr>
              <a:solidFill>
                <a:schemeClr val="accent1"/>
              </a:solidFill>
              <a:latin typeface="DM Sans SemiBold"/>
              <a:ea typeface="DM Sans SemiBold"/>
              <a:cs typeface="DM Sans SemiBold"/>
              <a:sym typeface="DM Sans SemiBold"/>
            </a:endParaRPr>
          </a:p>
        </p:txBody>
      </p:sp>
      <p:sp>
        <p:nvSpPr>
          <p:cNvPr id="412" name="Google Shape;412;p46"/>
          <p:cNvSpPr txBox="1"/>
          <p:nvPr/>
        </p:nvSpPr>
        <p:spPr>
          <a:xfrm>
            <a:off x="5854525" y="991150"/>
            <a:ext cx="1732800" cy="36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SemiBold"/>
                <a:ea typeface="DM Sans SemiBold"/>
                <a:cs typeface="DM Sans SemiBold"/>
                <a:sym typeface="DM Sans SemiBold"/>
              </a:rPr>
              <a:t>Business Analyst</a:t>
            </a:r>
            <a:endParaRPr>
              <a:solidFill>
                <a:schemeClr val="accent1"/>
              </a:solidFill>
              <a:latin typeface="DM Sans SemiBold"/>
              <a:ea typeface="DM Sans SemiBold"/>
              <a:cs typeface="DM Sans SemiBold"/>
              <a:sym typeface="DM Sans SemiBold"/>
            </a:endParaRPr>
          </a:p>
        </p:txBody>
      </p:sp>
      <p:sp>
        <p:nvSpPr>
          <p:cNvPr id="413" name="Google Shape;413;p46"/>
          <p:cNvSpPr txBox="1"/>
          <p:nvPr/>
        </p:nvSpPr>
        <p:spPr>
          <a:xfrm>
            <a:off x="977200" y="994575"/>
            <a:ext cx="1412700" cy="36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SemiBold"/>
                <a:ea typeface="DM Sans SemiBold"/>
                <a:cs typeface="DM Sans SemiBold"/>
                <a:sym typeface="DM Sans SemiBold"/>
              </a:rPr>
              <a:t>Data Engineer  </a:t>
            </a:r>
            <a:endParaRPr>
              <a:solidFill>
                <a:schemeClr val="accent1"/>
              </a:solidFill>
              <a:latin typeface="DM Sans SemiBold"/>
              <a:ea typeface="DM Sans SemiBold"/>
              <a:cs typeface="DM Sans SemiBold"/>
              <a:sym typeface="DM Sans SemiBold"/>
            </a:endParaRPr>
          </a:p>
        </p:txBody>
      </p:sp>
      <p:sp>
        <p:nvSpPr>
          <p:cNvPr id="414" name="Google Shape;414;p46"/>
          <p:cNvSpPr/>
          <p:nvPr/>
        </p:nvSpPr>
        <p:spPr>
          <a:xfrm>
            <a:off x="1476060" y="1407173"/>
            <a:ext cx="414900" cy="72900"/>
          </a:xfrm>
          <a:prstGeom prst="downArrow">
            <a:avLst>
              <a:gd fmla="val 50000" name="adj1"/>
              <a:gd fmla="val 100000" name="adj2"/>
            </a:avLst>
          </a:prstGeom>
          <a:solidFill>
            <a:schemeClr val="lt2"/>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46"/>
          <p:cNvSpPr/>
          <p:nvPr/>
        </p:nvSpPr>
        <p:spPr>
          <a:xfrm>
            <a:off x="6426413" y="1407173"/>
            <a:ext cx="526200" cy="72900"/>
          </a:xfrm>
          <a:prstGeom prst="downArrow">
            <a:avLst>
              <a:gd fmla="val 50000" name="adj1"/>
              <a:gd fmla="val 100000" name="adj2"/>
            </a:avLst>
          </a:prstGeom>
          <a:solidFill>
            <a:schemeClr val="lt2"/>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46"/>
          <p:cNvSpPr txBox="1"/>
          <p:nvPr/>
        </p:nvSpPr>
        <p:spPr>
          <a:xfrm>
            <a:off x="3668226" y="998000"/>
            <a:ext cx="1558200" cy="36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SemiBold"/>
                <a:ea typeface="DM Sans SemiBold"/>
                <a:cs typeface="DM Sans SemiBold"/>
                <a:sym typeface="DM Sans SemiBold"/>
              </a:rPr>
              <a:t>Data Scientist</a:t>
            </a:r>
            <a:endParaRPr>
              <a:solidFill>
                <a:schemeClr val="accent1"/>
              </a:solidFill>
              <a:latin typeface="DM Sans SemiBold"/>
              <a:ea typeface="DM Sans SemiBold"/>
              <a:cs typeface="DM Sans SemiBold"/>
              <a:sym typeface="DM Sans SemiBold"/>
            </a:endParaRPr>
          </a:p>
        </p:txBody>
      </p:sp>
      <p:sp>
        <p:nvSpPr>
          <p:cNvPr id="417" name="Google Shape;417;p46"/>
          <p:cNvSpPr/>
          <p:nvPr/>
        </p:nvSpPr>
        <p:spPr>
          <a:xfrm>
            <a:off x="4239876" y="1407173"/>
            <a:ext cx="414900" cy="72900"/>
          </a:xfrm>
          <a:prstGeom prst="downArrow">
            <a:avLst>
              <a:gd fmla="val 50000" name="adj1"/>
              <a:gd fmla="val 100000" name="adj2"/>
            </a:avLst>
          </a:prstGeom>
          <a:solidFill>
            <a:schemeClr val="lt2"/>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46"/>
          <p:cNvSpPr/>
          <p:nvPr/>
        </p:nvSpPr>
        <p:spPr>
          <a:xfrm>
            <a:off x="2828968" y="1407173"/>
            <a:ext cx="414900" cy="72900"/>
          </a:xfrm>
          <a:prstGeom prst="downArrow">
            <a:avLst>
              <a:gd fmla="val 50000" name="adj1"/>
              <a:gd fmla="val 100000" name="adj2"/>
            </a:avLst>
          </a:prstGeom>
          <a:solidFill>
            <a:schemeClr val="lt2"/>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46"/>
          <p:cNvSpPr txBox="1"/>
          <p:nvPr/>
        </p:nvSpPr>
        <p:spPr>
          <a:xfrm>
            <a:off x="2429513" y="994574"/>
            <a:ext cx="1275300" cy="36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SemiBold"/>
                <a:ea typeface="DM Sans SemiBold"/>
                <a:cs typeface="DM Sans SemiBold"/>
                <a:sym typeface="DM Sans SemiBold"/>
              </a:rPr>
              <a:t>ML Engineer  </a:t>
            </a:r>
            <a:endParaRPr>
              <a:solidFill>
                <a:schemeClr val="accent1"/>
              </a:solidFill>
              <a:latin typeface="DM Sans SemiBold"/>
              <a:ea typeface="DM Sans SemiBold"/>
              <a:cs typeface="DM Sans SemiBold"/>
              <a:sym typeface="DM Sans SemiBold"/>
            </a:endParaRPr>
          </a:p>
        </p:txBody>
      </p:sp>
      <p:sp>
        <p:nvSpPr>
          <p:cNvPr id="420" name="Google Shape;420;p46"/>
          <p:cNvSpPr/>
          <p:nvPr/>
        </p:nvSpPr>
        <p:spPr>
          <a:xfrm>
            <a:off x="1086225" y="1585825"/>
            <a:ext cx="3981600" cy="4650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0" lIns="91425" spcFirstLastPara="1" rIns="0" wrap="square" tIns="0">
            <a:noAutofit/>
          </a:bodyPr>
          <a:lstStyle/>
          <a:p>
            <a:pPr indent="0" lvl="0" marL="0" marR="0" rtl="0" algn="ctr">
              <a:lnSpc>
                <a:spcPct val="90000"/>
              </a:lnSpc>
              <a:spcBef>
                <a:spcPts val="0"/>
              </a:spcBef>
              <a:spcAft>
                <a:spcPts val="0"/>
              </a:spcAft>
              <a:buNone/>
            </a:pPr>
            <a:r>
              <a:rPr lang="en">
                <a:solidFill>
                  <a:schemeClr val="accent1"/>
                </a:solidFill>
                <a:latin typeface="DM Sans Medium"/>
                <a:ea typeface="DM Sans Medium"/>
                <a:cs typeface="DM Sans Medium"/>
                <a:sym typeface="DM Sans Medium"/>
              </a:rPr>
              <a:t>ETL &amp; DS tools</a:t>
            </a:r>
            <a:endParaRPr>
              <a:solidFill>
                <a:schemeClr val="accent1"/>
              </a:solidFill>
              <a:latin typeface="DM Sans Medium"/>
              <a:ea typeface="DM Sans Medium"/>
              <a:cs typeface="DM Sans Medium"/>
              <a:sym typeface="DM Sans Medium"/>
            </a:endParaRPr>
          </a:p>
        </p:txBody>
      </p:sp>
      <p:sp>
        <p:nvSpPr>
          <p:cNvPr id="421" name="Google Shape;421;p46"/>
          <p:cNvSpPr/>
          <p:nvPr/>
        </p:nvSpPr>
        <p:spPr>
          <a:xfrm>
            <a:off x="5136650" y="1585800"/>
            <a:ext cx="2971800" cy="4650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0" lIns="45700" spcFirstLastPara="1" rIns="0" wrap="square" tIns="0">
            <a:noAutofit/>
          </a:bodyPr>
          <a:lstStyle/>
          <a:p>
            <a:pPr indent="0" lvl="0" marL="0" marR="0" rtl="0" algn="ctr">
              <a:spcBef>
                <a:spcPts val="0"/>
              </a:spcBef>
              <a:spcAft>
                <a:spcPts val="0"/>
              </a:spcAft>
              <a:buNone/>
            </a:pPr>
            <a:r>
              <a:rPr lang="en">
                <a:solidFill>
                  <a:schemeClr val="accent1"/>
                </a:solidFill>
                <a:latin typeface="DM Sans Medium"/>
                <a:ea typeface="DM Sans Medium"/>
                <a:cs typeface="DM Sans Medium"/>
                <a:sym typeface="DM Sans Medium"/>
              </a:rPr>
              <a:t>BI Tools</a:t>
            </a:r>
            <a:endParaRPr>
              <a:solidFill>
                <a:schemeClr val="accent1"/>
              </a:solidFill>
              <a:latin typeface="DM Sans Medium"/>
              <a:ea typeface="DM Sans Medium"/>
              <a:cs typeface="DM Sans Medium"/>
              <a:sym typeface="DM Sans Medium"/>
            </a:endParaRPr>
          </a:p>
        </p:txBody>
      </p:sp>
      <p:sp>
        <p:nvSpPr>
          <p:cNvPr id="422" name="Google Shape;422;p46"/>
          <p:cNvSpPr/>
          <p:nvPr/>
        </p:nvSpPr>
        <p:spPr>
          <a:xfrm>
            <a:off x="8170725" y="1585800"/>
            <a:ext cx="1412700" cy="4650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0" lIns="45700" spcFirstLastPara="1" rIns="0" wrap="square" tIns="0">
            <a:noAutofit/>
          </a:bodyPr>
          <a:lstStyle/>
          <a:p>
            <a:pPr indent="0" lvl="0" marL="0" marR="0" rtl="0" algn="ctr">
              <a:lnSpc>
                <a:spcPct val="90000"/>
              </a:lnSpc>
              <a:spcBef>
                <a:spcPts val="0"/>
              </a:spcBef>
              <a:spcAft>
                <a:spcPts val="0"/>
              </a:spcAft>
              <a:buNone/>
            </a:pPr>
            <a:r>
              <a:rPr lang="en">
                <a:solidFill>
                  <a:schemeClr val="accent1"/>
                </a:solidFill>
                <a:latin typeface="DM Sans Medium"/>
                <a:ea typeface="DM Sans Medium"/>
                <a:cs typeface="DM Sans Medium"/>
                <a:sym typeface="DM Sans Medium"/>
              </a:rPr>
              <a:t>Data and AI Apps</a:t>
            </a:r>
            <a:endParaRPr>
              <a:solidFill>
                <a:srgbClr val="B7B7B7"/>
              </a:solidFill>
              <a:latin typeface="DM Sans Medium"/>
              <a:ea typeface="DM Sans Medium"/>
              <a:cs typeface="DM Sans Medium"/>
              <a:sym typeface="DM Sans Medium"/>
            </a:endParaRPr>
          </a:p>
        </p:txBody>
      </p:sp>
      <p:sp>
        <p:nvSpPr>
          <p:cNvPr id="423" name="Google Shape;423;p46"/>
          <p:cNvSpPr txBox="1"/>
          <p:nvPr/>
        </p:nvSpPr>
        <p:spPr>
          <a:xfrm>
            <a:off x="8018771" y="991150"/>
            <a:ext cx="1558200" cy="36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DM Sans SemiBold"/>
                <a:ea typeface="DM Sans SemiBold"/>
                <a:cs typeface="DM Sans SemiBold"/>
                <a:sym typeface="DM Sans SemiBold"/>
              </a:rPr>
              <a:t>App Developer</a:t>
            </a:r>
            <a:endParaRPr>
              <a:solidFill>
                <a:schemeClr val="accent1"/>
              </a:solidFill>
              <a:latin typeface="DM Sans SemiBold"/>
              <a:ea typeface="DM Sans SemiBold"/>
              <a:cs typeface="DM Sans SemiBold"/>
              <a:sym typeface="DM Sans SemiBold"/>
            </a:endParaRPr>
          </a:p>
        </p:txBody>
      </p:sp>
      <p:sp>
        <p:nvSpPr>
          <p:cNvPr id="424" name="Google Shape;424;p46"/>
          <p:cNvSpPr/>
          <p:nvPr/>
        </p:nvSpPr>
        <p:spPr>
          <a:xfrm>
            <a:off x="8526705" y="1407173"/>
            <a:ext cx="526200" cy="72900"/>
          </a:xfrm>
          <a:prstGeom prst="downArrow">
            <a:avLst>
              <a:gd fmla="val 50000" name="adj1"/>
              <a:gd fmla="val 100000" name="adj2"/>
            </a:avLst>
          </a:prstGeom>
          <a:solidFill>
            <a:schemeClr val="lt2"/>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425" name="Google Shape;425;p46"/>
          <p:cNvSpPr/>
          <p:nvPr/>
        </p:nvSpPr>
        <p:spPr>
          <a:xfrm rot="10800000">
            <a:off x="10035200" y="1406775"/>
            <a:ext cx="526200" cy="72900"/>
          </a:xfrm>
          <a:prstGeom prst="triangle">
            <a:avLst>
              <a:gd fmla="val 50000" name="adj"/>
            </a:avLst>
          </a:prstGeom>
          <a:solidFill>
            <a:schemeClr val="lt2"/>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426" name="Google Shape;426;p46"/>
          <p:cNvSpPr/>
          <p:nvPr/>
        </p:nvSpPr>
        <p:spPr>
          <a:xfrm>
            <a:off x="3364813" y="2658125"/>
            <a:ext cx="2203500" cy="1542000"/>
          </a:xfrm>
          <a:prstGeom prst="roundRect">
            <a:avLst>
              <a:gd fmla="val 7491"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36575">
            <a:noAutofit/>
          </a:bodyPr>
          <a:lstStyle/>
          <a:p>
            <a:pPr indent="0" lvl="0" marL="0" rtl="0" algn="ctr">
              <a:lnSpc>
                <a:spcPct val="90000"/>
              </a:lnSpc>
              <a:spcBef>
                <a:spcPts val="0"/>
              </a:spcBef>
              <a:spcAft>
                <a:spcPts val="0"/>
              </a:spcAft>
              <a:buNone/>
            </a:pPr>
            <a:r>
              <a:rPr lang="en">
                <a:solidFill>
                  <a:schemeClr val="accent1"/>
                </a:solidFill>
                <a:latin typeface="DM Sans Medium"/>
                <a:ea typeface="DM Sans Medium"/>
                <a:cs typeface="DM Sans Medium"/>
                <a:sym typeface="DM Sans Medium"/>
              </a:rPr>
              <a:t>Advanced Analytics, </a:t>
            </a:r>
            <a:br>
              <a:rPr lang="en">
                <a:solidFill>
                  <a:schemeClr val="accent1"/>
                </a:solidFill>
                <a:latin typeface="DM Sans Medium"/>
                <a:ea typeface="DM Sans Medium"/>
                <a:cs typeface="DM Sans Medium"/>
                <a:sym typeface="DM Sans Medium"/>
              </a:rPr>
            </a:br>
            <a:r>
              <a:rPr lang="en">
                <a:solidFill>
                  <a:schemeClr val="accent1"/>
                </a:solidFill>
                <a:latin typeface="DM Sans Medium"/>
                <a:ea typeface="DM Sans Medium"/>
                <a:cs typeface="DM Sans Medium"/>
                <a:sym typeface="DM Sans Medium"/>
              </a:rPr>
              <a:t>ML &amp; AI</a:t>
            </a:r>
            <a:endParaRPr>
              <a:solidFill>
                <a:schemeClr val="accent1"/>
              </a:solidFill>
              <a:latin typeface="DM Sans Medium"/>
              <a:ea typeface="DM Sans Medium"/>
              <a:cs typeface="DM Sans Medium"/>
              <a:sym typeface="DM Sans Medium"/>
            </a:endParaRPr>
          </a:p>
        </p:txBody>
      </p:sp>
      <p:sp>
        <p:nvSpPr>
          <p:cNvPr id="427" name="Google Shape;427;p46"/>
          <p:cNvSpPr/>
          <p:nvPr/>
        </p:nvSpPr>
        <p:spPr>
          <a:xfrm>
            <a:off x="5643402" y="2658125"/>
            <a:ext cx="2203500" cy="1542000"/>
          </a:xfrm>
          <a:prstGeom prst="roundRect">
            <a:avLst>
              <a:gd fmla="val 6980"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36575">
            <a:noAutofit/>
          </a:bodyPr>
          <a:lstStyle/>
          <a:p>
            <a:pPr indent="0" lvl="0" marL="0" rtl="0" algn="ctr">
              <a:lnSpc>
                <a:spcPct val="90000"/>
              </a:lnSpc>
              <a:spcBef>
                <a:spcPts val="0"/>
              </a:spcBef>
              <a:spcAft>
                <a:spcPts val="0"/>
              </a:spcAft>
              <a:buNone/>
            </a:pPr>
            <a:r>
              <a:rPr lang="en">
                <a:solidFill>
                  <a:schemeClr val="accent1"/>
                </a:solidFill>
                <a:latin typeface="DM Sans Medium"/>
                <a:ea typeface="DM Sans Medium"/>
                <a:cs typeface="DM Sans Medium"/>
                <a:sym typeface="DM Sans Medium"/>
              </a:rPr>
              <a:t>Data Warehouse</a:t>
            </a:r>
            <a:endParaRPr>
              <a:solidFill>
                <a:schemeClr val="accent1"/>
              </a:solidFill>
              <a:latin typeface="DM Sans Medium"/>
              <a:ea typeface="DM Sans Medium"/>
              <a:cs typeface="DM Sans Medium"/>
              <a:sym typeface="DM Sans Medium"/>
            </a:endParaRPr>
          </a:p>
        </p:txBody>
      </p:sp>
      <p:sp>
        <p:nvSpPr>
          <p:cNvPr id="428" name="Google Shape;428;p46"/>
          <p:cNvSpPr/>
          <p:nvPr/>
        </p:nvSpPr>
        <p:spPr>
          <a:xfrm>
            <a:off x="1086225" y="2658125"/>
            <a:ext cx="2203500" cy="1547700"/>
          </a:xfrm>
          <a:prstGeom prst="roundRect">
            <a:avLst>
              <a:gd fmla="val 7335"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36575">
            <a:noAutofit/>
          </a:bodyPr>
          <a:lstStyle/>
          <a:p>
            <a:pPr indent="0" lvl="0" marL="0" rtl="0" algn="ctr">
              <a:lnSpc>
                <a:spcPct val="90000"/>
              </a:lnSpc>
              <a:spcBef>
                <a:spcPts val="0"/>
              </a:spcBef>
              <a:spcAft>
                <a:spcPts val="0"/>
              </a:spcAft>
              <a:buNone/>
            </a:pPr>
            <a:r>
              <a:rPr lang="en">
                <a:solidFill>
                  <a:schemeClr val="accent1"/>
                </a:solidFill>
                <a:latin typeface="DM Sans Medium"/>
                <a:ea typeface="DM Sans Medium"/>
                <a:cs typeface="DM Sans Medium"/>
                <a:sym typeface="DM Sans Medium"/>
              </a:rPr>
              <a:t>Ingest &amp; Transform</a:t>
            </a:r>
            <a:endParaRPr>
              <a:solidFill>
                <a:schemeClr val="accent1"/>
              </a:solidFill>
              <a:latin typeface="DM Sans Medium"/>
              <a:ea typeface="DM Sans Medium"/>
              <a:cs typeface="DM Sans Medium"/>
              <a:sym typeface="DM Sans Medium"/>
            </a:endParaRPr>
          </a:p>
        </p:txBody>
      </p:sp>
      <p:sp>
        <p:nvSpPr>
          <p:cNvPr id="429" name="Google Shape;429;p46"/>
          <p:cNvSpPr/>
          <p:nvPr/>
        </p:nvSpPr>
        <p:spPr>
          <a:xfrm>
            <a:off x="7927625" y="2657600"/>
            <a:ext cx="1645800" cy="1542000"/>
          </a:xfrm>
          <a:prstGeom prst="roundRect">
            <a:avLst>
              <a:gd fmla="val 6980"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36575">
            <a:noAutofit/>
          </a:bodyPr>
          <a:lstStyle/>
          <a:p>
            <a:pPr indent="0" lvl="0" marL="0" rtl="0" algn="ctr">
              <a:lnSpc>
                <a:spcPct val="90000"/>
              </a:lnSpc>
              <a:spcBef>
                <a:spcPts val="0"/>
              </a:spcBef>
              <a:spcAft>
                <a:spcPts val="0"/>
              </a:spcAft>
              <a:buNone/>
            </a:pPr>
            <a:r>
              <a:rPr lang="en">
                <a:solidFill>
                  <a:schemeClr val="accent1"/>
                </a:solidFill>
                <a:latin typeface="DM Sans Medium"/>
                <a:ea typeface="DM Sans Medium"/>
                <a:cs typeface="DM Sans Medium"/>
                <a:sym typeface="DM Sans Medium"/>
              </a:rPr>
              <a:t>Operational Database</a:t>
            </a:r>
            <a:endParaRPr>
              <a:solidFill>
                <a:schemeClr val="accent1"/>
              </a:solidFill>
              <a:latin typeface="DM Sans Medium"/>
              <a:ea typeface="DM Sans Medium"/>
              <a:cs typeface="DM Sans Medium"/>
              <a:sym typeface="DM Sans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alpha val="54750"/>
          </a:srgbClr>
        </a:solidFill>
      </p:bgPr>
    </p:bg>
    <p:spTree>
      <p:nvGrpSpPr>
        <p:cNvPr id="433" name="Shape 433"/>
        <p:cNvGrpSpPr/>
        <p:nvPr/>
      </p:nvGrpSpPr>
      <p:grpSpPr>
        <a:xfrm>
          <a:off x="0" y="0"/>
          <a:ext cx="0" cy="0"/>
          <a:chOff x="0" y="0"/>
          <a:chExt cx="0" cy="0"/>
        </a:xfrm>
      </p:grpSpPr>
      <p:sp>
        <p:nvSpPr>
          <p:cNvPr id="434" name="Google Shape;434;p47"/>
          <p:cNvSpPr/>
          <p:nvPr/>
        </p:nvSpPr>
        <p:spPr>
          <a:xfrm>
            <a:off x="3364813" y="2658125"/>
            <a:ext cx="2203500" cy="1542000"/>
          </a:xfrm>
          <a:prstGeom prst="roundRect">
            <a:avLst>
              <a:gd fmla="val 7491" name="adj"/>
            </a:avLst>
          </a:prstGeom>
          <a:solidFill>
            <a:srgbClr val="FFFFFF"/>
          </a:solidFill>
          <a:ln cap="flat" cmpd="sng" w="9525">
            <a:solidFill>
              <a:schemeClr val="accent5"/>
            </a:solidFill>
            <a:prstDash val="solid"/>
            <a:round/>
            <a:headEnd len="sm" w="sm" type="none"/>
            <a:tailEnd len="sm" w="sm" type="none"/>
          </a:ln>
        </p:spPr>
        <p:txBody>
          <a:bodyPr anchorCtr="0" anchor="t" bIns="91425" lIns="0" spcFirstLastPara="1" rIns="0" wrap="square" tIns="36575">
            <a:noAutofit/>
          </a:bodyPr>
          <a:lstStyle/>
          <a:p>
            <a:pPr indent="0" lvl="0" marL="0" rtl="0" algn="ctr">
              <a:lnSpc>
                <a:spcPct val="90000"/>
              </a:lnSpc>
              <a:spcBef>
                <a:spcPts val="0"/>
              </a:spcBef>
              <a:spcAft>
                <a:spcPts val="0"/>
              </a:spcAft>
              <a:buNone/>
            </a:pPr>
            <a:r>
              <a:rPr lang="en">
                <a:solidFill>
                  <a:srgbClr val="B7B7B7"/>
                </a:solidFill>
                <a:latin typeface="DM Sans Medium"/>
                <a:ea typeface="DM Sans Medium"/>
                <a:cs typeface="DM Sans Medium"/>
                <a:sym typeface="DM Sans Medium"/>
              </a:rPr>
              <a:t>Advanced Analytics, </a:t>
            </a:r>
            <a:br>
              <a:rPr lang="en">
                <a:solidFill>
                  <a:srgbClr val="B7B7B7"/>
                </a:solidFill>
                <a:latin typeface="DM Sans Medium"/>
                <a:ea typeface="DM Sans Medium"/>
                <a:cs typeface="DM Sans Medium"/>
                <a:sym typeface="DM Sans Medium"/>
              </a:rPr>
            </a:br>
            <a:r>
              <a:rPr lang="en">
                <a:solidFill>
                  <a:srgbClr val="B7B7B7"/>
                </a:solidFill>
                <a:latin typeface="DM Sans Medium"/>
                <a:ea typeface="DM Sans Medium"/>
                <a:cs typeface="DM Sans Medium"/>
                <a:sym typeface="DM Sans Medium"/>
              </a:rPr>
              <a:t>ML &amp; AI</a:t>
            </a:r>
            <a:endParaRPr>
              <a:solidFill>
                <a:srgbClr val="B7B7B7"/>
              </a:solidFill>
              <a:latin typeface="DM Sans Medium"/>
              <a:ea typeface="DM Sans Medium"/>
              <a:cs typeface="DM Sans Medium"/>
              <a:sym typeface="DM Sans Medium"/>
            </a:endParaRPr>
          </a:p>
        </p:txBody>
      </p:sp>
      <p:sp>
        <p:nvSpPr>
          <p:cNvPr id="435" name="Google Shape;435;p47"/>
          <p:cNvSpPr/>
          <p:nvPr/>
        </p:nvSpPr>
        <p:spPr>
          <a:xfrm>
            <a:off x="5643402" y="2658125"/>
            <a:ext cx="2203500" cy="1542000"/>
          </a:xfrm>
          <a:prstGeom prst="roundRect">
            <a:avLst>
              <a:gd fmla="val 6980" name="adj"/>
            </a:avLst>
          </a:prstGeom>
          <a:solidFill>
            <a:srgbClr val="FFFFFF"/>
          </a:solidFill>
          <a:ln cap="flat" cmpd="sng" w="9525">
            <a:solidFill>
              <a:schemeClr val="accent5"/>
            </a:solidFill>
            <a:prstDash val="solid"/>
            <a:round/>
            <a:headEnd len="sm" w="sm" type="none"/>
            <a:tailEnd len="sm" w="sm" type="none"/>
          </a:ln>
        </p:spPr>
        <p:txBody>
          <a:bodyPr anchorCtr="0" anchor="t" bIns="91425" lIns="0" spcFirstLastPara="1" rIns="0" wrap="square" tIns="36575">
            <a:noAutofit/>
          </a:bodyPr>
          <a:lstStyle/>
          <a:p>
            <a:pPr indent="0" lvl="0" marL="0" rtl="0" algn="ctr">
              <a:lnSpc>
                <a:spcPct val="90000"/>
              </a:lnSpc>
              <a:spcBef>
                <a:spcPts val="0"/>
              </a:spcBef>
              <a:spcAft>
                <a:spcPts val="0"/>
              </a:spcAft>
              <a:buNone/>
            </a:pPr>
            <a:r>
              <a:rPr lang="en">
                <a:solidFill>
                  <a:srgbClr val="B7B7B7"/>
                </a:solidFill>
                <a:latin typeface="DM Sans Medium"/>
                <a:ea typeface="DM Sans Medium"/>
                <a:cs typeface="DM Sans Medium"/>
                <a:sym typeface="DM Sans Medium"/>
              </a:rPr>
              <a:t>Data Warehouse</a:t>
            </a:r>
            <a:endParaRPr>
              <a:solidFill>
                <a:srgbClr val="B7B7B7"/>
              </a:solidFill>
              <a:latin typeface="DM Sans Medium"/>
              <a:ea typeface="DM Sans Medium"/>
              <a:cs typeface="DM Sans Medium"/>
              <a:sym typeface="DM Sans Medium"/>
            </a:endParaRPr>
          </a:p>
        </p:txBody>
      </p:sp>
      <p:sp>
        <p:nvSpPr>
          <p:cNvPr id="436" name="Google Shape;436;p47"/>
          <p:cNvSpPr/>
          <p:nvPr/>
        </p:nvSpPr>
        <p:spPr>
          <a:xfrm>
            <a:off x="1086225" y="2658125"/>
            <a:ext cx="2203500" cy="1547700"/>
          </a:xfrm>
          <a:prstGeom prst="roundRect">
            <a:avLst>
              <a:gd fmla="val 7335" name="adj"/>
            </a:avLst>
          </a:prstGeom>
          <a:solidFill>
            <a:srgbClr val="FFFFFF"/>
          </a:solidFill>
          <a:ln cap="flat" cmpd="sng" w="9525">
            <a:solidFill>
              <a:schemeClr val="accent5"/>
            </a:solidFill>
            <a:prstDash val="solid"/>
            <a:round/>
            <a:headEnd len="sm" w="sm" type="none"/>
            <a:tailEnd len="sm" w="sm" type="none"/>
          </a:ln>
        </p:spPr>
        <p:txBody>
          <a:bodyPr anchorCtr="0" anchor="t" bIns="91425" lIns="0" spcFirstLastPara="1" rIns="0" wrap="square" tIns="36575">
            <a:noAutofit/>
          </a:bodyPr>
          <a:lstStyle/>
          <a:p>
            <a:pPr indent="0" lvl="0" marL="0" rtl="0" algn="ctr">
              <a:lnSpc>
                <a:spcPct val="90000"/>
              </a:lnSpc>
              <a:spcBef>
                <a:spcPts val="0"/>
              </a:spcBef>
              <a:spcAft>
                <a:spcPts val="0"/>
              </a:spcAft>
              <a:buNone/>
            </a:pPr>
            <a:r>
              <a:rPr lang="en">
                <a:solidFill>
                  <a:srgbClr val="B7B7B7"/>
                </a:solidFill>
                <a:latin typeface="DM Sans Medium"/>
                <a:ea typeface="DM Sans Medium"/>
                <a:cs typeface="DM Sans Medium"/>
                <a:sym typeface="DM Sans Medium"/>
              </a:rPr>
              <a:t>Ingest &amp; Transform</a:t>
            </a:r>
            <a:endParaRPr>
              <a:solidFill>
                <a:srgbClr val="B7B7B7"/>
              </a:solidFill>
              <a:latin typeface="DM Sans Medium"/>
              <a:ea typeface="DM Sans Medium"/>
              <a:cs typeface="DM Sans Medium"/>
              <a:sym typeface="DM Sans Medium"/>
            </a:endParaRPr>
          </a:p>
        </p:txBody>
      </p:sp>
      <p:grpSp>
        <p:nvGrpSpPr>
          <p:cNvPr id="437" name="Google Shape;437;p47"/>
          <p:cNvGrpSpPr/>
          <p:nvPr/>
        </p:nvGrpSpPr>
        <p:grpSpPr>
          <a:xfrm>
            <a:off x="1166116" y="3140950"/>
            <a:ext cx="6622202" cy="966000"/>
            <a:chOff x="1217775" y="3064750"/>
            <a:chExt cx="8260200" cy="966000"/>
          </a:xfrm>
        </p:grpSpPr>
        <p:sp>
          <p:nvSpPr>
            <p:cNvPr id="438" name="Google Shape;438;p47"/>
            <p:cNvSpPr/>
            <p:nvPr/>
          </p:nvSpPr>
          <p:spPr>
            <a:xfrm>
              <a:off x="1217775" y="3064750"/>
              <a:ext cx="8260200" cy="966000"/>
            </a:xfrm>
            <a:prstGeom prst="roundRect">
              <a:avLst>
                <a:gd fmla="val 8144" name="adj"/>
              </a:avLst>
            </a:prstGeom>
            <a:solidFill>
              <a:srgbClr val="D8E2E6"/>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sz="1800">
                <a:solidFill>
                  <a:schemeClr val="accent1"/>
                </a:solidFill>
                <a:latin typeface="DM Sans Medium"/>
                <a:ea typeface="DM Sans Medium"/>
                <a:cs typeface="DM Sans Medium"/>
                <a:sym typeface="DM Sans Medium"/>
              </a:endParaRPr>
            </a:p>
          </p:txBody>
        </p:sp>
        <p:pic>
          <p:nvPicPr>
            <p:cNvPr id="439" name="Google Shape;439;p47"/>
            <p:cNvPicPr preferRelativeResize="0"/>
            <p:nvPr/>
          </p:nvPicPr>
          <p:blipFill>
            <a:blip r:embed="rId3">
              <a:alphaModFix/>
            </a:blip>
            <a:stretch>
              <a:fillRect/>
            </a:stretch>
          </p:blipFill>
          <p:spPr>
            <a:xfrm>
              <a:off x="6255286" y="3604605"/>
              <a:ext cx="355310" cy="292396"/>
            </a:xfrm>
            <a:prstGeom prst="rect">
              <a:avLst/>
            </a:prstGeom>
            <a:noFill/>
            <a:ln>
              <a:noFill/>
            </a:ln>
          </p:spPr>
        </p:pic>
        <p:sp>
          <p:nvSpPr>
            <p:cNvPr id="440" name="Google Shape;440;p47"/>
            <p:cNvSpPr txBox="1"/>
            <p:nvPr/>
          </p:nvSpPr>
          <p:spPr>
            <a:xfrm>
              <a:off x="6512781" y="3598383"/>
              <a:ext cx="897300" cy="29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300"/>
                </a:spcAft>
                <a:buNone/>
              </a:pPr>
              <a:r>
                <a:rPr lang="en" sz="1200">
                  <a:solidFill>
                    <a:schemeClr val="accent1"/>
                  </a:solidFill>
                  <a:latin typeface="DM Sans Medium"/>
                  <a:ea typeface="DM Sans Medium"/>
                  <a:cs typeface="DM Sans Medium"/>
                  <a:sym typeface="DM Sans Medium"/>
                </a:rPr>
                <a:t>Photon</a:t>
              </a:r>
              <a:endParaRPr sz="1200">
                <a:solidFill>
                  <a:schemeClr val="accent1"/>
                </a:solidFill>
                <a:latin typeface="DM Sans Medium"/>
                <a:ea typeface="DM Sans Medium"/>
                <a:cs typeface="DM Sans Medium"/>
                <a:sym typeface="DM Sans Medium"/>
              </a:endParaRPr>
            </a:p>
          </p:txBody>
        </p:sp>
        <p:pic>
          <p:nvPicPr>
            <p:cNvPr id="441" name="Google Shape;441;p47"/>
            <p:cNvPicPr preferRelativeResize="0"/>
            <p:nvPr/>
          </p:nvPicPr>
          <p:blipFill>
            <a:blip r:embed="rId4">
              <a:alphaModFix/>
            </a:blip>
            <a:stretch>
              <a:fillRect/>
            </a:stretch>
          </p:blipFill>
          <p:spPr>
            <a:xfrm>
              <a:off x="6416748" y="3267400"/>
              <a:ext cx="662289" cy="273373"/>
            </a:xfrm>
            <a:prstGeom prst="rect">
              <a:avLst/>
            </a:prstGeom>
            <a:noFill/>
            <a:ln>
              <a:noFill/>
            </a:ln>
          </p:spPr>
        </p:pic>
      </p:grpSp>
      <p:sp>
        <p:nvSpPr>
          <p:cNvPr id="442" name="Google Shape;442;p47"/>
          <p:cNvSpPr/>
          <p:nvPr/>
        </p:nvSpPr>
        <p:spPr>
          <a:xfrm>
            <a:off x="7927625" y="2657600"/>
            <a:ext cx="1645800" cy="1542000"/>
          </a:xfrm>
          <a:prstGeom prst="roundRect">
            <a:avLst>
              <a:gd fmla="val 6980" name="adj"/>
            </a:avLst>
          </a:prstGeom>
          <a:solidFill>
            <a:srgbClr val="FFFFFF"/>
          </a:solidFill>
          <a:ln cap="flat" cmpd="sng" w="9525">
            <a:solidFill>
              <a:schemeClr val="accent5"/>
            </a:solidFill>
            <a:prstDash val="solid"/>
            <a:round/>
            <a:headEnd len="sm" w="sm" type="none"/>
            <a:tailEnd len="sm" w="sm" type="none"/>
          </a:ln>
        </p:spPr>
        <p:txBody>
          <a:bodyPr anchorCtr="0" anchor="t" bIns="91425" lIns="0" spcFirstLastPara="1" rIns="0" wrap="square" tIns="36575">
            <a:noAutofit/>
          </a:bodyPr>
          <a:lstStyle/>
          <a:p>
            <a:pPr indent="0" lvl="0" marL="0" rtl="0" algn="ctr">
              <a:lnSpc>
                <a:spcPct val="90000"/>
              </a:lnSpc>
              <a:spcBef>
                <a:spcPts val="0"/>
              </a:spcBef>
              <a:spcAft>
                <a:spcPts val="0"/>
              </a:spcAft>
              <a:buNone/>
            </a:pPr>
            <a:r>
              <a:rPr lang="en">
                <a:solidFill>
                  <a:srgbClr val="B7B7B7"/>
                </a:solidFill>
                <a:latin typeface="DM Sans Medium"/>
                <a:ea typeface="DM Sans Medium"/>
                <a:cs typeface="DM Sans Medium"/>
                <a:sym typeface="DM Sans Medium"/>
              </a:rPr>
              <a:t>Operational Database</a:t>
            </a:r>
            <a:endParaRPr>
              <a:solidFill>
                <a:srgbClr val="B7B7B7"/>
              </a:solidFill>
              <a:latin typeface="DM Sans Medium"/>
              <a:ea typeface="DM Sans Medium"/>
              <a:cs typeface="DM Sans Medium"/>
              <a:sym typeface="DM Sans Medium"/>
            </a:endParaRPr>
          </a:p>
        </p:txBody>
      </p:sp>
      <p:sp>
        <p:nvSpPr>
          <p:cNvPr id="443" name="Google Shape;443;p47"/>
          <p:cNvSpPr txBox="1"/>
          <p:nvPr/>
        </p:nvSpPr>
        <p:spPr>
          <a:xfrm>
            <a:off x="9498924" y="991150"/>
            <a:ext cx="1598700" cy="3624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None/>
            </a:pPr>
            <a:r>
              <a:rPr lang="en">
                <a:solidFill>
                  <a:srgbClr val="618794"/>
                </a:solidFill>
                <a:latin typeface="DM Sans SemiBold"/>
                <a:ea typeface="DM Sans SemiBold"/>
                <a:cs typeface="DM Sans SemiBold"/>
                <a:sym typeface="DM Sans SemiBold"/>
              </a:rPr>
              <a:t>Business Partner</a:t>
            </a:r>
            <a:endParaRPr>
              <a:solidFill>
                <a:srgbClr val="618794"/>
              </a:solidFill>
              <a:latin typeface="DM Sans SemiBold"/>
              <a:ea typeface="DM Sans SemiBold"/>
              <a:cs typeface="DM Sans SemiBold"/>
              <a:sym typeface="DM Sans SemiBold"/>
            </a:endParaRPr>
          </a:p>
        </p:txBody>
      </p:sp>
      <p:sp>
        <p:nvSpPr>
          <p:cNvPr id="444" name="Google Shape;444;p47"/>
          <p:cNvSpPr txBox="1"/>
          <p:nvPr/>
        </p:nvSpPr>
        <p:spPr>
          <a:xfrm>
            <a:off x="5854525" y="991150"/>
            <a:ext cx="1732800" cy="36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618794"/>
                </a:solidFill>
                <a:latin typeface="DM Sans SemiBold"/>
                <a:ea typeface="DM Sans SemiBold"/>
                <a:cs typeface="DM Sans SemiBold"/>
                <a:sym typeface="DM Sans SemiBold"/>
              </a:rPr>
              <a:t>Business Analyst</a:t>
            </a:r>
            <a:endParaRPr>
              <a:solidFill>
                <a:srgbClr val="618794"/>
              </a:solidFill>
              <a:latin typeface="DM Sans SemiBold"/>
              <a:ea typeface="DM Sans SemiBold"/>
              <a:cs typeface="DM Sans SemiBold"/>
              <a:sym typeface="DM Sans SemiBold"/>
            </a:endParaRPr>
          </a:p>
        </p:txBody>
      </p:sp>
      <p:sp>
        <p:nvSpPr>
          <p:cNvPr id="445" name="Google Shape;445;p47"/>
          <p:cNvSpPr txBox="1"/>
          <p:nvPr/>
        </p:nvSpPr>
        <p:spPr>
          <a:xfrm>
            <a:off x="977200" y="994575"/>
            <a:ext cx="1412700" cy="36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618794"/>
                </a:solidFill>
                <a:latin typeface="DM Sans SemiBold"/>
                <a:ea typeface="DM Sans SemiBold"/>
                <a:cs typeface="DM Sans SemiBold"/>
                <a:sym typeface="DM Sans SemiBold"/>
              </a:rPr>
              <a:t>Data Engineer  </a:t>
            </a:r>
            <a:endParaRPr>
              <a:solidFill>
                <a:srgbClr val="618794"/>
              </a:solidFill>
              <a:latin typeface="DM Sans SemiBold"/>
              <a:ea typeface="DM Sans SemiBold"/>
              <a:cs typeface="DM Sans SemiBold"/>
              <a:sym typeface="DM Sans SemiBold"/>
            </a:endParaRPr>
          </a:p>
        </p:txBody>
      </p:sp>
      <p:sp>
        <p:nvSpPr>
          <p:cNvPr id="446" name="Google Shape;446;p47"/>
          <p:cNvSpPr/>
          <p:nvPr/>
        </p:nvSpPr>
        <p:spPr>
          <a:xfrm>
            <a:off x="1476060" y="1407173"/>
            <a:ext cx="414900" cy="72900"/>
          </a:xfrm>
          <a:prstGeom prst="downArrow">
            <a:avLst>
              <a:gd fmla="val 50000" name="adj1"/>
              <a:gd fmla="val 100000" name="adj2"/>
            </a:avLst>
          </a:prstGeom>
          <a:solidFill>
            <a:schemeClr val="lt2"/>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47"/>
          <p:cNvSpPr/>
          <p:nvPr/>
        </p:nvSpPr>
        <p:spPr>
          <a:xfrm>
            <a:off x="6426413" y="1407173"/>
            <a:ext cx="526200" cy="72900"/>
          </a:xfrm>
          <a:prstGeom prst="downArrow">
            <a:avLst>
              <a:gd fmla="val 50000" name="adj1"/>
              <a:gd fmla="val 100000" name="adj2"/>
            </a:avLst>
          </a:prstGeom>
          <a:solidFill>
            <a:schemeClr val="lt2"/>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47"/>
          <p:cNvSpPr txBox="1"/>
          <p:nvPr/>
        </p:nvSpPr>
        <p:spPr>
          <a:xfrm>
            <a:off x="3668226" y="998000"/>
            <a:ext cx="1558200" cy="36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618794"/>
                </a:solidFill>
                <a:latin typeface="DM Sans SemiBold"/>
                <a:ea typeface="DM Sans SemiBold"/>
                <a:cs typeface="DM Sans SemiBold"/>
                <a:sym typeface="DM Sans SemiBold"/>
              </a:rPr>
              <a:t>Data Scientist</a:t>
            </a:r>
            <a:endParaRPr>
              <a:solidFill>
                <a:srgbClr val="618794"/>
              </a:solidFill>
              <a:latin typeface="DM Sans SemiBold"/>
              <a:ea typeface="DM Sans SemiBold"/>
              <a:cs typeface="DM Sans SemiBold"/>
              <a:sym typeface="DM Sans SemiBold"/>
            </a:endParaRPr>
          </a:p>
        </p:txBody>
      </p:sp>
      <p:sp>
        <p:nvSpPr>
          <p:cNvPr id="449" name="Google Shape;449;p47"/>
          <p:cNvSpPr/>
          <p:nvPr/>
        </p:nvSpPr>
        <p:spPr>
          <a:xfrm>
            <a:off x="4239876" y="1407173"/>
            <a:ext cx="414900" cy="72900"/>
          </a:xfrm>
          <a:prstGeom prst="downArrow">
            <a:avLst>
              <a:gd fmla="val 50000" name="adj1"/>
              <a:gd fmla="val 100000" name="adj2"/>
            </a:avLst>
          </a:prstGeom>
          <a:solidFill>
            <a:schemeClr val="lt2"/>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47"/>
          <p:cNvSpPr/>
          <p:nvPr/>
        </p:nvSpPr>
        <p:spPr>
          <a:xfrm>
            <a:off x="2828968" y="1407173"/>
            <a:ext cx="414900" cy="72900"/>
          </a:xfrm>
          <a:prstGeom prst="downArrow">
            <a:avLst>
              <a:gd fmla="val 50000" name="adj1"/>
              <a:gd fmla="val 100000" name="adj2"/>
            </a:avLst>
          </a:prstGeom>
          <a:solidFill>
            <a:schemeClr val="lt2"/>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47"/>
          <p:cNvSpPr txBox="1"/>
          <p:nvPr/>
        </p:nvSpPr>
        <p:spPr>
          <a:xfrm>
            <a:off x="2429513" y="994574"/>
            <a:ext cx="1275300" cy="36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618794"/>
                </a:solidFill>
                <a:latin typeface="DM Sans SemiBold"/>
                <a:ea typeface="DM Sans SemiBold"/>
                <a:cs typeface="DM Sans SemiBold"/>
                <a:sym typeface="DM Sans SemiBold"/>
              </a:rPr>
              <a:t>ML Engineer  </a:t>
            </a:r>
            <a:endParaRPr>
              <a:solidFill>
                <a:srgbClr val="618794"/>
              </a:solidFill>
              <a:latin typeface="DM Sans SemiBold"/>
              <a:ea typeface="DM Sans SemiBold"/>
              <a:cs typeface="DM Sans SemiBold"/>
              <a:sym typeface="DM Sans SemiBold"/>
            </a:endParaRPr>
          </a:p>
        </p:txBody>
      </p:sp>
      <p:sp>
        <p:nvSpPr>
          <p:cNvPr id="452" name="Google Shape;452;p47"/>
          <p:cNvSpPr/>
          <p:nvPr/>
        </p:nvSpPr>
        <p:spPr>
          <a:xfrm>
            <a:off x="1086225" y="1585825"/>
            <a:ext cx="3981600" cy="4650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0" lIns="91425" spcFirstLastPara="1" rIns="0" wrap="square" tIns="0">
            <a:noAutofit/>
          </a:bodyPr>
          <a:lstStyle/>
          <a:p>
            <a:pPr indent="0" lvl="0" marL="0" marR="0" rtl="0" algn="l">
              <a:lnSpc>
                <a:spcPct val="90000"/>
              </a:lnSpc>
              <a:spcBef>
                <a:spcPts val="0"/>
              </a:spcBef>
              <a:spcAft>
                <a:spcPts val="0"/>
              </a:spcAft>
              <a:buNone/>
            </a:pPr>
            <a:r>
              <a:rPr lang="en">
                <a:solidFill>
                  <a:srgbClr val="B7B7B7"/>
                </a:solidFill>
                <a:latin typeface="DM Sans Medium"/>
                <a:ea typeface="DM Sans Medium"/>
                <a:cs typeface="DM Sans Medium"/>
                <a:sym typeface="DM Sans Medium"/>
              </a:rPr>
              <a:t>Dev tools</a:t>
            </a:r>
            <a:endParaRPr>
              <a:solidFill>
                <a:srgbClr val="B7B7B7"/>
              </a:solidFill>
              <a:latin typeface="DM Sans Medium"/>
              <a:ea typeface="DM Sans Medium"/>
              <a:cs typeface="DM Sans Medium"/>
              <a:sym typeface="DM Sans Medium"/>
            </a:endParaRPr>
          </a:p>
        </p:txBody>
      </p:sp>
      <p:sp>
        <p:nvSpPr>
          <p:cNvPr id="453" name="Google Shape;453;p47"/>
          <p:cNvSpPr/>
          <p:nvPr/>
        </p:nvSpPr>
        <p:spPr>
          <a:xfrm>
            <a:off x="5136650" y="1585800"/>
            <a:ext cx="2971800" cy="4650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0" lIns="45700" spcFirstLastPara="1" rIns="0" wrap="square" tIns="0">
            <a:noAutofit/>
          </a:bodyPr>
          <a:lstStyle/>
          <a:p>
            <a:pPr indent="0" lvl="0" marL="0" marR="0" rtl="0" algn="l">
              <a:lnSpc>
                <a:spcPct val="90000"/>
              </a:lnSpc>
              <a:spcBef>
                <a:spcPts val="0"/>
              </a:spcBef>
              <a:spcAft>
                <a:spcPts val="0"/>
              </a:spcAft>
              <a:buNone/>
            </a:pPr>
            <a:r>
              <a:rPr lang="en">
                <a:solidFill>
                  <a:srgbClr val="B7B7B7"/>
                </a:solidFill>
                <a:latin typeface="DM Sans Medium"/>
                <a:ea typeface="DM Sans Medium"/>
                <a:cs typeface="DM Sans Medium"/>
                <a:sym typeface="DM Sans Medium"/>
              </a:rPr>
              <a:t>BI</a:t>
            </a:r>
            <a:endParaRPr>
              <a:solidFill>
                <a:srgbClr val="B7B7B7"/>
              </a:solidFill>
              <a:latin typeface="DM Sans Medium"/>
              <a:ea typeface="DM Sans Medium"/>
              <a:cs typeface="DM Sans Medium"/>
              <a:sym typeface="DM Sans Medium"/>
            </a:endParaRPr>
          </a:p>
        </p:txBody>
      </p:sp>
      <p:sp>
        <p:nvSpPr>
          <p:cNvPr id="454" name="Google Shape;454;p47"/>
          <p:cNvSpPr/>
          <p:nvPr/>
        </p:nvSpPr>
        <p:spPr>
          <a:xfrm>
            <a:off x="8170725" y="1585800"/>
            <a:ext cx="1412700" cy="4650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0" lIns="45700" spcFirstLastPara="1" rIns="0" wrap="square" tIns="0">
            <a:noAutofit/>
          </a:bodyPr>
          <a:lstStyle/>
          <a:p>
            <a:pPr indent="0" lvl="0" marL="0" marR="0" rtl="0" algn="l">
              <a:lnSpc>
                <a:spcPct val="90000"/>
              </a:lnSpc>
              <a:spcBef>
                <a:spcPts val="0"/>
              </a:spcBef>
              <a:spcAft>
                <a:spcPts val="0"/>
              </a:spcAft>
              <a:buNone/>
            </a:pPr>
            <a:r>
              <a:rPr lang="en">
                <a:solidFill>
                  <a:srgbClr val="B7B7B7"/>
                </a:solidFill>
                <a:latin typeface="DM Sans Medium"/>
                <a:ea typeface="DM Sans Medium"/>
                <a:cs typeface="DM Sans Medium"/>
                <a:sym typeface="DM Sans Medium"/>
              </a:rPr>
              <a:t>Apps</a:t>
            </a:r>
            <a:endParaRPr>
              <a:solidFill>
                <a:srgbClr val="B7B7B7"/>
              </a:solidFill>
              <a:latin typeface="DM Sans Medium"/>
              <a:ea typeface="DM Sans Medium"/>
              <a:cs typeface="DM Sans Medium"/>
              <a:sym typeface="DM Sans Medium"/>
            </a:endParaRPr>
          </a:p>
        </p:txBody>
      </p:sp>
      <p:sp>
        <p:nvSpPr>
          <p:cNvPr id="455" name="Google Shape;455;p47"/>
          <p:cNvSpPr txBox="1"/>
          <p:nvPr/>
        </p:nvSpPr>
        <p:spPr>
          <a:xfrm>
            <a:off x="8018771" y="991150"/>
            <a:ext cx="1558200" cy="36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618794"/>
                </a:solidFill>
                <a:latin typeface="DM Sans SemiBold"/>
                <a:ea typeface="DM Sans SemiBold"/>
                <a:cs typeface="DM Sans SemiBold"/>
                <a:sym typeface="DM Sans SemiBold"/>
              </a:rPr>
              <a:t>App Developer</a:t>
            </a:r>
            <a:endParaRPr>
              <a:solidFill>
                <a:srgbClr val="618794"/>
              </a:solidFill>
              <a:latin typeface="DM Sans SemiBold"/>
              <a:ea typeface="DM Sans SemiBold"/>
              <a:cs typeface="DM Sans SemiBold"/>
              <a:sym typeface="DM Sans SemiBold"/>
            </a:endParaRPr>
          </a:p>
        </p:txBody>
      </p:sp>
      <p:sp>
        <p:nvSpPr>
          <p:cNvPr id="456" name="Google Shape;456;p47"/>
          <p:cNvSpPr/>
          <p:nvPr/>
        </p:nvSpPr>
        <p:spPr>
          <a:xfrm>
            <a:off x="8526705" y="1407173"/>
            <a:ext cx="526200" cy="72900"/>
          </a:xfrm>
          <a:prstGeom prst="downArrow">
            <a:avLst>
              <a:gd fmla="val 50000" name="adj1"/>
              <a:gd fmla="val 100000" name="adj2"/>
            </a:avLst>
          </a:prstGeom>
          <a:solidFill>
            <a:schemeClr val="lt2"/>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457" name="Google Shape;457;p47"/>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Databricks “Data Intelligence Platform”</a:t>
            </a:r>
            <a:endParaRPr sz="3600"/>
          </a:p>
        </p:txBody>
      </p:sp>
      <p:sp>
        <p:nvSpPr>
          <p:cNvPr id="458" name="Google Shape;458;p47"/>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59" name="Google Shape;459;p47"/>
          <p:cNvSpPr/>
          <p:nvPr/>
        </p:nvSpPr>
        <p:spPr>
          <a:xfrm>
            <a:off x="1092875" y="5471195"/>
            <a:ext cx="9973800" cy="911700"/>
          </a:xfrm>
          <a:prstGeom prst="roundRect">
            <a:avLst>
              <a:gd fmla="val 10399"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B7B7B7"/>
                </a:solidFill>
                <a:latin typeface="DM Sans Medium"/>
                <a:ea typeface="DM Sans Medium"/>
                <a:cs typeface="DM Sans Medium"/>
                <a:sym typeface="DM Sans Medium"/>
              </a:rPr>
              <a:t>Cloud Storage</a:t>
            </a:r>
            <a:endParaRPr>
              <a:solidFill>
                <a:srgbClr val="B7B7B7"/>
              </a:solidFill>
              <a:latin typeface="DM Sans Medium"/>
              <a:ea typeface="DM Sans Medium"/>
              <a:cs typeface="DM Sans Medium"/>
              <a:sym typeface="DM Sans Medium"/>
            </a:endParaRPr>
          </a:p>
        </p:txBody>
      </p:sp>
      <p:sp>
        <p:nvSpPr>
          <p:cNvPr id="460" name="Google Shape;460;p47"/>
          <p:cNvSpPr/>
          <p:nvPr/>
        </p:nvSpPr>
        <p:spPr>
          <a:xfrm>
            <a:off x="1092875" y="4866238"/>
            <a:ext cx="9973800" cy="525600"/>
          </a:xfrm>
          <a:prstGeom prst="roundRect">
            <a:avLst>
              <a:gd fmla="val 14875"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91425" spcFirstLastPara="1" rIns="0" wrap="square" tIns="91425">
            <a:noAutofit/>
          </a:bodyPr>
          <a:lstStyle/>
          <a:p>
            <a:pPr indent="0" lvl="0" marL="0" rtl="0" algn="l">
              <a:spcBef>
                <a:spcPts val="0"/>
              </a:spcBef>
              <a:spcAft>
                <a:spcPts val="0"/>
              </a:spcAft>
              <a:buNone/>
            </a:pPr>
            <a:r>
              <a:rPr lang="en">
                <a:solidFill>
                  <a:srgbClr val="B7B7B7"/>
                </a:solidFill>
                <a:latin typeface="DM Sans Medium"/>
                <a:ea typeface="DM Sans Medium"/>
                <a:cs typeface="DM Sans Medium"/>
                <a:sym typeface="DM Sans Medium"/>
              </a:rPr>
              <a:t>Data &amp; AI </a:t>
            </a:r>
            <a:r>
              <a:rPr lang="en">
                <a:solidFill>
                  <a:srgbClr val="B7B7B7"/>
                </a:solidFill>
                <a:latin typeface="DM Sans Medium"/>
                <a:ea typeface="DM Sans Medium"/>
                <a:cs typeface="DM Sans Medium"/>
                <a:sym typeface="DM Sans Medium"/>
              </a:rPr>
              <a:t>Governance</a:t>
            </a:r>
            <a:endParaRPr>
              <a:solidFill>
                <a:srgbClr val="B7B7B7"/>
              </a:solidFill>
              <a:latin typeface="DM Sans Medium"/>
              <a:ea typeface="DM Sans Medium"/>
              <a:cs typeface="DM Sans Medium"/>
              <a:sym typeface="DM Sans Medium"/>
            </a:endParaRPr>
          </a:p>
        </p:txBody>
      </p:sp>
      <p:sp>
        <p:nvSpPr>
          <p:cNvPr id="461" name="Google Shape;461;p47"/>
          <p:cNvSpPr/>
          <p:nvPr/>
        </p:nvSpPr>
        <p:spPr>
          <a:xfrm>
            <a:off x="1086225" y="2124699"/>
            <a:ext cx="8487300" cy="465000"/>
          </a:xfrm>
          <a:prstGeom prst="roundRect">
            <a:avLst>
              <a:gd fmla="val 15419" name="adj"/>
            </a:avLst>
          </a:prstGeom>
          <a:solidFill>
            <a:srgbClr val="FFFFFF"/>
          </a:solidFill>
          <a:ln cap="flat" cmpd="sng" w="9525">
            <a:solidFill>
              <a:schemeClr val="accent5"/>
            </a:solidFill>
            <a:prstDash val="solid"/>
            <a:round/>
            <a:headEnd len="sm" w="sm" type="none"/>
            <a:tailEnd len="sm" w="sm" type="none"/>
          </a:ln>
        </p:spPr>
        <p:txBody>
          <a:bodyPr anchorCtr="0" anchor="ctr" bIns="0" lIns="91425" spcFirstLastPara="1" rIns="0" wrap="square" tIns="0">
            <a:noAutofit/>
          </a:bodyPr>
          <a:lstStyle/>
          <a:p>
            <a:pPr indent="0" lvl="0" marL="0" rtl="0" algn="l">
              <a:lnSpc>
                <a:spcPct val="90000"/>
              </a:lnSpc>
              <a:spcBef>
                <a:spcPts val="0"/>
              </a:spcBef>
              <a:spcAft>
                <a:spcPts val="0"/>
              </a:spcAft>
              <a:buNone/>
            </a:pPr>
            <a:r>
              <a:rPr lang="en">
                <a:solidFill>
                  <a:srgbClr val="B7B7B7"/>
                </a:solidFill>
                <a:latin typeface="DM Sans Medium"/>
                <a:ea typeface="DM Sans Medium"/>
                <a:cs typeface="DM Sans Medium"/>
                <a:sym typeface="DM Sans Medium"/>
              </a:rPr>
              <a:t>Automation</a:t>
            </a:r>
            <a:endParaRPr>
              <a:solidFill>
                <a:srgbClr val="B7B7B7"/>
              </a:solidFill>
              <a:latin typeface="DM Sans Medium"/>
              <a:ea typeface="DM Sans Medium"/>
              <a:cs typeface="DM Sans Medium"/>
              <a:sym typeface="DM Sans Medium"/>
            </a:endParaRPr>
          </a:p>
        </p:txBody>
      </p:sp>
      <p:sp>
        <p:nvSpPr>
          <p:cNvPr id="462" name="Google Shape;462;p47"/>
          <p:cNvSpPr/>
          <p:nvPr/>
        </p:nvSpPr>
        <p:spPr>
          <a:xfrm>
            <a:off x="9654050" y="1585825"/>
            <a:ext cx="1412700" cy="2614500"/>
          </a:xfrm>
          <a:prstGeom prst="roundRect">
            <a:avLst>
              <a:gd fmla="val 6980" name="adj"/>
            </a:avLst>
          </a:prstGeom>
          <a:solidFill>
            <a:srgbClr val="FFFFFF"/>
          </a:solidFill>
          <a:ln cap="flat" cmpd="sng" w="9525">
            <a:solidFill>
              <a:schemeClr val="accent5"/>
            </a:solidFill>
            <a:prstDash val="solid"/>
            <a:round/>
            <a:headEnd len="sm" w="sm" type="none"/>
            <a:tailEnd len="sm" w="sm" type="none"/>
          </a:ln>
        </p:spPr>
        <p:txBody>
          <a:bodyPr anchorCtr="0" anchor="t" bIns="91425" lIns="0" spcFirstLastPara="1" rIns="0" wrap="square" tIns="91425">
            <a:noAutofit/>
          </a:bodyPr>
          <a:lstStyle/>
          <a:p>
            <a:pPr indent="0" lvl="0" marL="0" rtl="0" algn="ctr">
              <a:spcBef>
                <a:spcPts val="0"/>
              </a:spcBef>
              <a:spcAft>
                <a:spcPts val="0"/>
              </a:spcAft>
              <a:buNone/>
            </a:pPr>
            <a:r>
              <a:rPr lang="en">
                <a:solidFill>
                  <a:srgbClr val="B7B7B7"/>
                </a:solidFill>
                <a:latin typeface="DM Sans Medium"/>
                <a:ea typeface="DM Sans Medium"/>
                <a:cs typeface="DM Sans Medium"/>
                <a:sym typeface="DM Sans Medium"/>
              </a:rPr>
              <a:t>Collaboration</a:t>
            </a:r>
            <a:endParaRPr>
              <a:solidFill>
                <a:srgbClr val="B7B7B7"/>
              </a:solidFill>
              <a:latin typeface="DM Sans Medium"/>
              <a:ea typeface="DM Sans Medium"/>
              <a:cs typeface="DM Sans Medium"/>
              <a:sym typeface="DM Sans Medium"/>
            </a:endParaRPr>
          </a:p>
        </p:txBody>
      </p:sp>
      <p:sp>
        <p:nvSpPr>
          <p:cNvPr id="463" name="Google Shape;463;p47"/>
          <p:cNvSpPr/>
          <p:nvPr/>
        </p:nvSpPr>
        <p:spPr>
          <a:xfrm>
            <a:off x="1092875" y="4267499"/>
            <a:ext cx="9973800" cy="525600"/>
          </a:xfrm>
          <a:prstGeom prst="roundRect">
            <a:avLst>
              <a:gd fmla="val 14875"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91425" spcFirstLastPara="1" rIns="0" wrap="square" tIns="91425">
            <a:noAutofit/>
          </a:bodyPr>
          <a:lstStyle/>
          <a:p>
            <a:pPr indent="0" lvl="0" marL="0" rtl="0" algn="l">
              <a:spcBef>
                <a:spcPts val="0"/>
              </a:spcBef>
              <a:spcAft>
                <a:spcPts val="0"/>
              </a:spcAft>
              <a:buNone/>
            </a:pPr>
            <a:r>
              <a:rPr lang="en">
                <a:solidFill>
                  <a:srgbClr val="B7B7B7"/>
                </a:solidFill>
                <a:latin typeface="DM Sans Medium"/>
                <a:ea typeface="DM Sans Medium"/>
                <a:cs typeface="DM Sans Medium"/>
                <a:sym typeface="DM Sans Medium"/>
              </a:rPr>
              <a:t>AI Engine</a:t>
            </a:r>
            <a:endParaRPr>
              <a:solidFill>
                <a:srgbClr val="B7B7B7"/>
              </a:solidFill>
              <a:latin typeface="DM Sans Medium"/>
              <a:ea typeface="DM Sans Medium"/>
              <a:cs typeface="DM Sans Medium"/>
              <a:sym typeface="DM Sans Medium"/>
            </a:endParaRPr>
          </a:p>
        </p:txBody>
      </p:sp>
      <p:grpSp>
        <p:nvGrpSpPr>
          <p:cNvPr id="464" name="Google Shape;464;p47"/>
          <p:cNvGrpSpPr/>
          <p:nvPr/>
        </p:nvGrpSpPr>
        <p:grpSpPr>
          <a:xfrm>
            <a:off x="2270155" y="1638700"/>
            <a:ext cx="2625720" cy="362400"/>
            <a:chOff x="2638348" y="1638700"/>
            <a:chExt cx="2625720" cy="362400"/>
          </a:xfrm>
        </p:grpSpPr>
        <p:sp>
          <p:nvSpPr>
            <p:cNvPr id="465" name="Google Shape;465;p47"/>
            <p:cNvSpPr/>
            <p:nvPr/>
          </p:nvSpPr>
          <p:spPr>
            <a:xfrm>
              <a:off x="4476568" y="1638700"/>
              <a:ext cx="787500" cy="362400"/>
            </a:xfrm>
            <a:prstGeom prst="roundRect">
              <a:avLst>
                <a:gd fmla="val 16667" name="adj"/>
              </a:avLst>
            </a:prstGeom>
            <a:no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t/>
              </a:r>
              <a:endParaRPr sz="1000">
                <a:solidFill>
                  <a:schemeClr val="accent1"/>
                </a:solidFill>
                <a:latin typeface="DM Sans Medium"/>
                <a:ea typeface="DM Sans Medium"/>
                <a:cs typeface="DM Sans Medium"/>
                <a:sym typeface="DM Sans Medium"/>
              </a:endParaRPr>
            </a:p>
          </p:txBody>
        </p:sp>
        <p:sp>
          <p:nvSpPr>
            <p:cNvPr id="466" name="Google Shape;466;p47"/>
            <p:cNvSpPr/>
            <p:nvPr/>
          </p:nvSpPr>
          <p:spPr>
            <a:xfrm>
              <a:off x="2638348" y="1638700"/>
              <a:ext cx="787500" cy="362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IDE support</a:t>
              </a:r>
              <a:endParaRPr sz="1100">
                <a:solidFill>
                  <a:schemeClr val="accent1"/>
                </a:solidFill>
                <a:latin typeface="DM Sans Medium"/>
                <a:ea typeface="DM Sans Medium"/>
                <a:cs typeface="DM Sans Medium"/>
                <a:sym typeface="DM Sans Medium"/>
              </a:endParaRPr>
            </a:p>
          </p:txBody>
        </p:sp>
        <p:sp>
          <p:nvSpPr>
            <p:cNvPr id="467" name="Google Shape;467;p47"/>
            <p:cNvSpPr/>
            <p:nvPr/>
          </p:nvSpPr>
          <p:spPr>
            <a:xfrm>
              <a:off x="3564185" y="1638700"/>
              <a:ext cx="787500" cy="362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Notebooks</a:t>
              </a:r>
              <a:endParaRPr sz="1100">
                <a:solidFill>
                  <a:schemeClr val="accent1"/>
                </a:solidFill>
                <a:latin typeface="DM Sans Medium"/>
                <a:ea typeface="DM Sans Medium"/>
                <a:cs typeface="DM Sans Medium"/>
                <a:sym typeface="DM Sans Medium"/>
              </a:endParaRPr>
            </a:p>
          </p:txBody>
        </p:sp>
        <p:pic>
          <p:nvPicPr>
            <p:cNvPr id="468" name="Google Shape;468;p47"/>
            <p:cNvPicPr preferRelativeResize="0"/>
            <p:nvPr/>
          </p:nvPicPr>
          <p:blipFill rotWithShape="1">
            <a:blip r:embed="rId5">
              <a:alphaModFix/>
            </a:blip>
            <a:srcRect b="0" l="0" r="0" t="0"/>
            <a:stretch/>
          </p:blipFill>
          <p:spPr>
            <a:xfrm>
              <a:off x="4561592" y="1706302"/>
              <a:ext cx="622499" cy="227205"/>
            </a:xfrm>
            <a:prstGeom prst="rect">
              <a:avLst/>
            </a:prstGeom>
            <a:noFill/>
            <a:ln>
              <a:noFill/>
            </a:ln>
          </p:spPr>
        </p:pic>
      </p:grpSp>
      <p:grpSp>
        <p:nvGrpSpPr>
          <p:cNvPr id="469" name="Google Shape;469;p47"/>
          <p:cNvGrpSpPr/>
          <p:nvPr/>
        </p:nvGrpSpPr>
        <p:grpSpPr>
          <a:xfrm>
            <a:off x="5989288" y="3223075"/>
            <a:ext cx="1727339" cy="360925"/>
            <a:chOff x="6047213" y="3146875"/>
            <a:chExt cx="1727339" cy="360925"/>
          </a:xfrm>
        </p:grpSpPr>
        <p:sp>
          <p:nvSpPr>
            <p:cNvPr id="470" name="Google Shape;470;p47"/>
            <p:cNvSpPr/>
            <p:nvPr/>
          </p:nvSpPr>
          <p:spPr>
            <a:xfrm>
              <a:off x="6969952" y="3146875"/>
              <a:ext cx="804600" cy="3609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Databricks SQL</a:t>
              </a:r>
              <a:endParaRPr sz="1100">
                <a:solidFill>
                  <a:schemeClr val="accent1"/>
                </a:solidFill>
                <a:latin typeface="DM Sans Medium"/>
                <a:ea typeface="DM Sans Medium"/>
                <a:cs typeface="DM Sans Medium"/>
                <a:sym typeface="DM Sans Medium"/>
              </a:endParaRPr>
            </a:p>
          </p:txBody>
        </p:sp>
        <p:sp>
          <p:nvSpPr>
            <p:cNvPr id="471" name="Google Shape;471;p47"/>
            <p:cNvSpPr/>
            <p:nvPr/>
          </p:nvSpPr>
          <p:spPr>
            <a:xfrm>
              <a:off x="6047213" y="3146900"/>
              <a:ext cx="822900" cy="3609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AI Functions</a:t>
              </a:r>
              <a:endParaRPr sz="1100">
                <a:solidFill>
                  <a:schemeClr val="accent1"/>
                </a:solidFill>
                <a:latin typeface="DM Sans Medium"/>
                <a:ea typeface="DM Sans Medium"/>
                <a:cs typeface="DM Sans Medium"/>
                <a:sym typeface="DM Sans Medium"/>
              </a:endParaRPr>
            </a:p>
          </p:txBody>
        </p:sp>
      </p:grpSp>
      <p:grpSp>
        <p:nvGrpSpPr>
          <p:cNvPr id="472" name="Google Shape;472;p47"/>
          <p:cNvGrpSpPr/>
          <p:nvPr/>
        </p:nvGrpSpPr>
        <p:grpSpPr>
          <a:xfrm>
            <a:off x="4305700" y="4318700"/>
            <a:ext cx="4580100" cy="429000"/>
            <a:chOff x="4305700" y="4318700"/>
            <a:chExt cx="4580100" cy="429000"/>
          </a:xfrm>
        </p:grpSpPr>
        <p:sp>
          <p:nvSpPr>
            <p:cNvPr id="473" name="Google Shape;473;p47"/>
            <p:cNvSpPr/>
            <p:nvPr/>
          </p:nvSpPr>
          <p:spPr>
            <a:xfrm>
              <a:off x="4305700" y="4318700"/>
              <a:ext cx="4580100" cy="429000"/>
            </a:xfrm>
            <a:prstGeom prst="roundRect">
              <a:avLst>
                <a:gd fmla="val 16667" name="adj"/>
              </a:avLst>
            </a:prstGeom>
            <a:no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t/>
              </a:r>
              <a:endParaRPr sz="1100">
                <a:solidFill>
                  <a:schemeClr val="accent1"/>
                </a:solidFill>
                <a:latin typeface="DM Sans Medium"/>
                <a:ea typeface="DM Sans Medium"/>
                <a:cs typeface="DM Sans Medium"/>
                <a:sym typeface="DM Sans Medium"/>
              </a:endParaRPr>
            </a:p>
          </p:txBody>
        </p:sp>
        <p:sp>
          <p:nvSpPr>
            <p:cNvPr id="474" name="Google Shape;474;p47"/>
            <p:cNvSpPr txBox="1"/>
            <p:nvPr/>
          </p:nvSpPr>
          <p:spPr>
            <a:xfrm>
              <a:off x="4336776" y="4375150"/>
              <a:ext cx="997500" cy="3201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1100">
                  <a:solidFill>
                    <a:schemeClr val="accent1"/>
                  </a:solidFill>
                  <a:latin typeface="DM Sans Medium"/>
                  <a:ea typeface="DM Sans Medium"/>
                  <a:cs typeface="DM Sans Medium"/>
                  <a:sym typeface="DM Sans Medium"/>
                </a:rPr>
                <a:t>Data Intelligence</a:t>
              </a:r>
              <a:endParaRPr sz="1100">
                <a:solidFill>
                  <a:schemeClr val="accent1"/>
                </a:solidFill>
                <a:latin typeface="DM Sans Medium"/>
                <a:ea typeface="DM Sans Medium"/>
                <a:cs typeface="DM Sans Medium"/>
                <a:sym typeface="DM Sans Medium"/>
              </a:endParaRPr>
            </a:p>
          </p:txBody>
        </p:sp>
        <p:sp>
          <p:nvSpPr>
            <p:cNvPr id="475" name="Google Shape;475;p47"/>
            <p:cNvSpPr txBox="1"/>
            <p:nvPr/>
          </p:nvSpPr>
          <p:spPr>
            <a:xfrm>
              <a:off x="5518380" y="4377925"/>
              <a:ext cx="777900" cy="321600"/>
            </a:xfrm>
            <a:prstGeom prst="rect">
              <a:avLst/>
            </a:prstGeom>
            <a:noFill/>
            <a:ln>
              <a:noFill/>
            </a:ln>
          </p:spPr>
          <p:txBody>
            <a:bodyPr anchorCtr="0" anchor="t" bIns="0" lIns="0" spcFirstLastPara="1" rIns="0" wrap="square" tIns="0">
              <a:noAutofit/>
            </a:bodyPr>
            <a:lstStyle/>
            <a:p>
              <a:pPr indent="0" lvl="0" marL="0" rtl="0" algn="ctr">
                <a:lnSpc>
                  <a:spcPct val="95000"/>
                </a:lnSpc>
                <a:spcBef>
                  <a:spcPts val="0"/>
                </a:spcBef>
                <a:spcAft>
                  <a:spcPts val="0"/>
                </a:spcAft>
                <a:buNone/>
              </a:pPr>
              <a:r>
                <a:rPr i="1" lang="en" sz="1000">
                  <a:solidFill>
                    <a:schemeClr val="accent5"/>
                  </a:solidFill>
                  <a:latin typeface="DM Sans"/>
                  <a:ea typeface="DM Sans"/>
                  <a:cs typeface="DM Sans"/>
                  <a:sym typeface="DM Sans"/>
                </a:rPr>
                <a:t>Search &amp; Discover</a:t>
              </a:r>
              <a:endParaRPr i="1" sz="1000">
                <a:solidFill>
                  <a:schemeClr val="accent5"/>
                </a:solidFill>
                <a:latin typeface="DM Sans"/>
                <a:ea typeface="DM Sans"/>
                <a:cs typeface="DM Sans"/>
                <a:sym typeface="DM Sans"/>
              </a:endParaRPr>
            </a:p>
          </p:txBody>
        </p:sp>
        <p:sp>
          <p:nvSpPr>
            <p:cNvPr id="476" name="Google Shape;476;p47"/>
            <p:cNvSpPr txBox="1"/>
            <p:nvPr/>
          </p:nvSpPr>
          <p:spPr>
            <a:xfrm>
              <a:off x="6741213" y="4458335"/>
              <a:ext cx="712800" cy="160800"/>
            </a:xfrm>
            <a:prstGeom prst="rect">
              <a:avLst/>
            </a:prstGeom>
            <a:noFill/>
            <a:ln>
              <a:noFill/>
            </a:ln>
          </p:spPr>
          <p:txBody>
            <a:bodyPr anchorCtr="0" anchor="t" bIns="0" lIns="0" spcFirstLastPara="1" rIns="0" wrap="square" tIns="0">
              <a:noAutofit/>
            </a:bodyPr>
            <a:lstStyle/>
            <a:p>
              <a:pPr indent="0" lvl="0" marL="0" rtl="0" algn="ctr">
                <a:lnSpc>
                  <a:spcPct val="95000"/>
                </a:lnSpc>
                <a:spcBef>
                  <a:spcPts val="0"/>
                </a:spcBef>
                <a:spcAft>
                  <a:spcPts val="0"/>
                </a:spcAft>
                <a:buNone/>
              </a:pPr>
              <a:r>
                <a:rPr i="1" lang="en" sz="1000">
                  <a:solidFill>
                    <a:schemeClr val="accent5"/>
                  </a:solidFill>
                  <a:latin typeface="DM Sans"/>
                  <a:ea typeface="DM Sans"/>
                  <a:cs typeface="DM Sans"/>
                  <a:sym typeface="DM Sans"/>
                </a:rPr>
                <a:t>Assistant</a:t>
              </a:r>
              <a:endParaRPr i="1" sz="1000">
                <a:solidFill>
                  <a:schemeClr val="accent5"/>
                </a:solidFill>
                <a:latin typeface="DM Sans"/>
                <a:ea typeface="DM Sans"/>
                <a:cs typeface="DM Sans"/>
                <a:sym typeface="DM Sans"/>
              </a:endParaRPr>
            </a:p>
          </p:txBody>
        </p:sp>
        <p:sp>
          <p:nvSpPr>
            <p:cNvPr id="477" name="Google Shape;477;p47"/>
            <p:cNvSpPr txBox="1"/>
            <p:nvPr/>
          </p:nvSpPr>
          <p:spPr>
            <a:xfrm>
              <a:off x="7956774" y="4377925"/>
              <a:ext cx="845400" cy="321600"/>
            </a:xfrm>
            <a:prstGeom prst="rect">
              <a:avLst/>
            </a:prstGeom>
            <a:noFill/>
            <a:ln>
              <a:noFill/>
            </a:ln>
          </p:spPr>
          <p:txBody>
            <a:bodyPr anchorCtr="0" anchor="t" bIns="0" lIns="0" spcFirstLastPara="1" rIns="0" wrap="square" tIns="0">
              <a:noAutofit/>
            </a:bodyPr>
            <a:lstStyle/>
            <a:p>
              <a:pPr indent="0" lvl="0" marL="0" rtl="0" algn="ctr">
                <a:lnSpc>
                  <a:spcPct val="95000"/>
                </a:lnSpc>
                <a:spcBef>
                  <a:spcPts val="0"/>
                </a:spcBef>
                <a:spcAft>
                  <a:spcPts val="0"/>
                </a:spcAft>
                <a:buNone/>
              </a:pPr>
              <a:r>
                <a:rPr i="1" lang="en" sz="1000">
                  <a:solidFill>
                    <a:schemeClr val="accent5"/>
                  </a:solidFill>
                  <a:latin typeface="DM Sans"/>
                  <a:ea typeface="DM Sans"/>
                  <a:cs typeface="DM Sans"/>
                  <a:sym typeface="DM Sans"/>
                </a:rPr>
                <a:t>Performance Optimizations</a:t>
              </a:r>
              <a:endParaRPr i="1" sz="1000">
                <a:solidFill>
                  <a:schemeClr val="accent5"/>
                </a:solidFill>
                <a:latin typeface="DM Sans"/>
                <a:ea typeface="DM Sans"/>
                <a:cs typeface="DM Sans"/>
                <a:sym typeface="DM Sans"/>
              </a:endParaRPr>
            </a:p>
          </p:txBody>
        </p:sp>
      </p:grpSp>
      <p:grpSp>
        <p:nvGrpSpPr>
          <p:cNvPr id="478" name="Google Shape;478;p47"/>
          <p:cNvGrpSpPr/>
          <p:nvPr/>
        </p:nvGrpSpPr>
        <p:grpSpPr>
          <a:xfrm>
            <a:off x="3424785" y="3223088"/>
            <a:ext cx="1708372" cy="788134"/>
            <a:chOff x="4396078" y="3146888"/>
            <a:chExt cx="1708372" cy="788134"/>
          </a:xfrm>
        </p:grpSpPr>
        <p:sp>
          <p:nvSpPr>
            <p:cNvPr id="479" name="Google Shape;479;p47"/>
            <p:cNvSpPr/>
            <p:nvPr/>
          </p:nvSpPr>
          <p:spPr>
            <a:xfrm>
              <a:off x="4396078" y="3146888"/>
              <a:ext cx="804600" cy="3609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ML</a:t>
              </a:r>
              <a:endParaRPr sz="1100">
                <a:solidFill>
                  <a:schemeClr val="accent1"/>
                </a:solidFill>
                <a:latin typeface="DM Sans Medium"/>
                <a:ea typeface="DM Sans Medium"/>
                <a:cs typeface="DM Sans Medium"/>
                <a:sym typeface="DM Sans Medium"/>
              </a:endParaRPr>
            </a:p>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Modeling</a:t>
              </a:r>
              <a:endParaRPr sz="1100">
                <a:solidFill>
                  <a:schemeClr val="accent1"/>
                </a:solidFill>
                <a:latin typeface="DM Sans Medium"/>
                <a:ea typeface="DM Sans Medium"/>
                <a:cs typeface="DM Sans Medium"/>
                <a:sym typeface="DM Sans Medium"/>
              </a:endParaRPr>
            </a:p>
          </p:txBody>
        </p:sp>
        <p:sp>
          <p:nvSpPr>
            <p:cNvPr id="480" name="Google Shape;480;p47"/>
            <p:cNvSpPr/>
            <p:nvPr/>
          </p:nvSpPr>
          <p:spPr>
            <a:xfrm>
              <a:off x="5299850" y="3146888"/>
              <a:ext cx="804600" cy="3609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Gen AI</a:t>
              </a:r>
              <a:endParaRPr sz="1100">
                <a:solidFill>
                  <a:schemeClr val="accent1"/>
                </a:solidFill>
                <a:latin typeface="DM Sans Medium"/>
                <a:ea typeface="DM Sans Medium"/>
                <a:cs typeface="DM Sans Medium"/>
                <a:sym typeface="DM Sans Medium"/>
              </a:endParaRPr>
            </a:p>
          </p:txBody>
        </p:sp>
        <p:sp>
          <p:nvSpPr>
            <p:cNvPr id="481" name="Google Shape;481;p47"/>
            <p:cNvSpPr/>
            <p:nvPr/>
          </p:nvSpPr>
          <p:spPr>
            <a:xfrm>
              <a:off x="4396078" y="3574112"/>
              <a:ext cx="804600" cy="3609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Real time Analytics</a:t>
              </a:r>
              <a:endParaRPr sz="1100">
                <a:solidFill>
                  <a:schemeClr val="accent1"/>
                </a:solidFill>
                <a:latin typeface="DM Sans Medium"/>
                <a:ea typeface="DM Sans Medium"/>
                <a:cs typeface="DM Sans Medium"/>
                <a:sym typeface="DM Sans Medium"/>
              </a:endParaRPr>
            </a:p>
          </p:txBody>
        </p:sp>
        <p:sp>
          <p:nvSpPr>
            <p:cNvPr id="482" name="Google Shape;482;p47"/>
            <p:cNvSpPr/>
            <p:nvPr/>
          </p:nvSpPr>
          <p:spPr>
            <a:xfrm>
              <a:off x="5299850" y="3574122"/>
              <a:ext cx="804600" cy="3609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Model </a:t>
              </a:r>
              <a:br>
                <a:rPr lang="en" sz="1100">
                  <a:solidFill>
                    <a:schemeClr val="accent1"/>
                  </a:solidFill>
                  <a:latin typeface="DM Sans Medium"/>
                  <a:ea typeface="DM Sans Medium"/>
                  <a:cs typeface="DM Sans Medium"/>
                  <a:sym typeface="DM Sans Medium"/>
                </a:rPr>
              </a:br>
              <a:r>
                <a:rPr lang="en" sz="1100">
                  <a:solidFill>
                    <a:schemeClr val="accent1"/>
                  </a:solidFill>
                  <a:latin typeface="DM Sans Medium"/>
                  <a:ea typeface="DM Sans Medium"/>
                  <a:cs typeface="DM Sans Medium"/>
                  <a:sym typeface="DM Sans Medium"/>
                </a:rPr>
                <a:t>Serving</a:t>
              </a:r>
              <a:endParaRPr sz="1100">
                <a:solidFill>
                  <a:schemeClr val="accent1"/>
                </a:solidFill>
                <a:latin typeface="DM Sans Medium"/>
                <a:ea typeface="DM Sans Medium"/>
                <a:cs typeface="DM Sans Medium"/>
                <a:sym typeface="DM Sans Medium"/>
              </a:endParaRPr>
            </a:p>
          </p:txBody>
        </p:sp>
      </p:grpSp>
      <p:sp>
        <p:nvSpPr>
          <p:cNvPr id="483" name="Google Shape;483;p47"/>
          <p:cNvSpPr/>
          <p:nvPr/>
        </p:nvSpPr>
        <p:spPr>
          <a:xfrm rot="10800000">
            <a:off x="10035200" y="1406775"/>
            <a:ext cx="526200" cy="72900"/>
          </a:xfrm>
          <a:prstGeom prst="triangle">
            <a:avLst>
              <a:gd fmla="val 50000" name="adj"/>
            </a:avLst>
          </a:prstGeom>
          <a:solidFill>
            <a:schemeClr val="lt2"/>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grpSp>
        <p:nvGrpSpPr>
          <p:cNvPr id="484" name="Google Shape;484;p47"/>
          <p:cNvGrpSpPr/>
          <p:nvPr/>
        </p:nvGrpSpPr>
        <p:grpSpPr>
          <a:xfrm>
            <a:off x="2548169" y="5512483"/>
            <a:ext cx="1920306" cy="844222"/>
            <a:chOff x="2548169" y="5512483"/>
            <a:chExt cx="1920306" cy="844222"/>
          </a:xfrm>
        </p:grpSpPr>
        <p:pic>
          <p:nvPicPr>
            <p:cNvPr id="485" name="Google Shape;485;p47"/>
            <p:cNvPicPr preferRelativeResize="0"/>
            <p:nvPr/>
          </p:nvPicPr>
          <p:blipFill>
            <a:blip r:embed="rId6">
              <a:alphaModFix/>
            </a:blip>
            <a:stretch>
              <a:fillRect/>
            </a:stretch>
          </p:blipFill>
          <p:spPr>
            <a:xfrm>
              <a:off x="2548169" y="6100349"/>
              <a:ext cx="232282" cy="192628"/>
            </a:xfrm>
            <a:prstGeom prst="rect">
              <a:avLst/>
            </a:prstGeom>
            <a:noFill/>
            <a:ln>
              <a:noFill/>
            </a:ln>
          </p:spPr>
        </p:pic>
        <p:sp>
          <p:nvSpPr>
            <p:cNvPr id="486" name="Google Shape;486;p47"/>
            <p:cNvSpPr txBox="1"/>
            <p:nvPr/>
          </p:nvSpPr>
          <p:spPr>
            <a:xfrm>
              <a:off x="2754788" y="5512483"/>
              <a:ext cx="925800" cy="3201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1100">
                  <a:solidFill>
                    <a:schemeClr val="accent1"/>
                  </a:solidFill>
                  <a:latin typeface="DM Sans"/>
                  <a:ea typeface="DM Sans"/>
                  <a:cs typeface="DM Sans"/>
                  <a:sym typeface="DM Sans"/>
                </a:rPr>
                <a:t>Amazon S3</a:t>
              </a:r>
              <a:endParaRPr sz="1100">
                <a:solidFill>
                  <a:schemeClr val="accent1"/>
                </a:solidFill>
                <a:latin typeface="DM Sans"/>
                <a:ea typeface="DM Sans"/>
                <a:cs typeface="DM Sans"/>
                <a:sym typeface="DM Sans"/>
              </a:endParaRPr>
            </a:p>
          </p:txBody>
        </p:sp>
        <p:sp>
          <p:nvSpPr>
            <p:cNvPr id="487" name="Google Shape;487;p47"/>
            <p:cNvSpPr txBox="1"/>
            <p:nvPr/>
          </p:nvSpPr>
          <p:spPr>
            <a:xfrm>
              <a:off x="2754815" y="5774525"/>
              <a:ext cx="1179000" cy="3201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1100">
                  <a:solidFill>
                    <a:schemeClr val="accent1"/>
                  </a:solidFill>
                  <a:latin typeface="DM Sans"/>
                  <a:ea typeface="DM Sans"/>
                  <a:cs typeface="DM Sans"/>
                  <a:sym typeface="DM Sans"/>
                </a:rPr>
                <a:t>Microsoft </a:t>
              </a:r>
              <a:r>
                <a:rPr lang="en" sz="1100">
                  <a:solidFill>
                    <a:schemeClr val="accent1"/>
                  </a:solidFill>
                  <a:latin typeface="DM Sans"/>
                  <a:ea typeface="DM Sans"/>
                  <a:cs typeface="DM Sans"/>
                  <a:sym typeface="DM Sans"/>
                </a:rPr>
                <a:t>ADLS</a:t>
              </a:r>
              <a:endParaRPr sz="1100">
                <a:solidFill>
                  <a:schemeClr val="accent1"/>
                </a:solidFill>
                <a:latin typeface="DM Sans"/>
                <a:ea typeface="DM Sans"/>
                <a:cs typeface="DM Sans"/>
                <a:sym typeface="DM Sans"/>
              </a:endParaRPr>
            </a:p>
          </p:txBody>
        </p:sp>
        <p:sp>
          <p:nvSpPr>
            <p:cNvPr id="488" name="Google Shape;488;p47"/>
            <p:cNvSpPr txBox="1"/>
            <p:nvPr/>
          </p:nvSpPr>
          <p:spPr>
            <a:xfrm>
              <a:off x="2754788" y="6036605"/>
              <a:ext cx="1617000" cy="3201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1100">
                  <a:solidFill>
                    <a:schemeClr val="accent1"/>
                  </a:solidFill>
                  <a:latin typeface="DM Sans"/>
                  <a:ea typeface="DM Sans"/>
                  <a:cs typeface="DM Sans"/>
                  <a:sym typeface="DM Sans"/>
                </a:rPr>
                <a:t>Google Cloud Storage</a:t>
              </a:r>
              <a:endParaRPr sz="1100">
                <a:solidFill>
                  <a:schemeClr val="accent1"/>
                </a:solidFill>
                <a:latin typeface="DM Sans"/>
                <a:ea typeface="DM Sans"/>
                <a:cs typeface="DM Sans"/>
                <a:sym typeface="DM Sans"/>
              </a:endParaRPr>
            </a:p>
          </p:txBody>
        </p:sp>
        <p:pic>
          <p:nvPicPr>
            <p:cNvPr id="489" name="Google Shape;489;p47"/>
            <p:cNvPicPr preferRelativeResize="0"/>
            <p:nvPr/>
          </p:nvPicPr>
          <p:blipFill rotWithShape="1">
            <a:blip r:embed="rId7">
              <a:alphaModFix/>
            </a:blip>
            <a:srcRect b="0" l="0" r="0" t="0"/>
            <a:stretch/>
          </p:blipFill>
          <p:spPr>
            <a:xfrm>
              <a:off x="2572546" y="5581263"/>
              <a:ext cx="182526" cy="182526"/>
            </a:xfrm>
            <a:prstGeom prst="rect">
              <a:avLst/>
            </a:prstGeom>
            <a:noFill/>
            <a:ln>
              <a:noFill/>
            </a:ln>
          </p:spPr>
        </p:pic>
        <p:pic>
          <p:nvPicPr>
            <p:cNvPr id="490" name="Google Shape;490;p47"/>
            <p:cNvPicPr preferRelativeResize="0"/>
            <p:nvPr/>
          </p:nvPicPr>
          <p:blipFill>
            <a:blip r:embed="rId8">
              <a:alphaModFix/>
            </a:blip>
            <a:stretch>
              <a:fillRect/>
            </a:stretch>
          </p:blipFill>
          <p:spPr>
            <a:xfrm>
              <a:off x="2561581" y="5830643"/>
              <a:ext cx="207099" cy="203414"/>
            </a:xfrm>
            <a:prstGeom prst="rect">
              <a:avLst/>
            </a:prstGeom>
            <a:noFill/>
            <a:ln>
              <a:noFill/>
            </a:ln>
          </p:spPr>
        </p:pic>
        <p:sp>
          <p:nvSpPr>
            <p:cNvPr id="491" name="Google Shape;491;p47"/>
            <p:cNvSpPr/>
            <p:nvPr/>
          </p:nvSpPr>
          <p:spPr>
            <a:xfrm rot="5400000">
              <a:off x="4036175" y="5881225"/>
              <a:ext cx="791700" cy="72900"/>
            </a:xfrm>
            <a:prstGeom prst="triangle">
              <a:avLst>
                <a:gd fmla="val 50000" name="adj"/>
              </a:avLst>
            </a:prstGeom>
            <a:solidFill>
              <a:srgbClr val="CCD8DD"/>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grpSp>
      <p:grpSp>
        <p:nvGrpSpPr>
          <p:cNvPr id="492" name="Google Shape;492;p47"/>
          <p:cNvGrpSpPr/>
          <p:nvPr/>
        </p:nvGrpSpPr>
        <p:grpSpPr>
          <a:xfrm>
            <a:off x="4516555" y="5549179"/>
            <a:ext cx="1017600" cy="522024"/>
            <a:chOff x="4516555" y="5701579"/>
            <a:chExt cx="1017600" cy="522024"/>
          </a:xfrm>
        </p:grpSpPr>
        <p:pic>
          <p:nvPicPr>
            <p:cNvPr id="493" name="Google Shape;493;p47"/>
            <p:cNvPicPr preferRelativeResize="0"/>
            <p:nvPr/>
          </p:nvPicPr>
          <p:blipFill>
            <a:blip r:embed="rId9">
              <a:alphaModFix/>
            </a:blip>
            <a:stretch>
              <a:fillRect/>
            </a:stretch>
          </p:blipFill>
          <p:spPr>
            <a:xfrm>
              <a:off x="4850062" y="5701579"/>
              <a:ext cx="333150" cy="317441"/>
            </a:xfrm>
            <a:prstGeom prst="rect">
              <a:avLst/>
            </a:prstGeom>
            <a:noFill/>
            <a:ln>
              <a:noFill/>
            </a:ln>
          </p:spPr>
        </p:pic>
        <p:sp>
          <p:nvSpPr>
            <p:cNvPr id="494" name="Google Shape;494;p47"/>
            <p:cNvSpPr txBox="1"/>
            <p:nvPr/>
          </p:nvSpPr>
          <p:spPr>
            <a:xfrm>
              <a:off x="4516555" y="5926303"/>
              <a:ext cx="1017600" cy="29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300"/>
                </a:spcAft>
                <a:buNone/>
              </a:pPr>
              <a:r>
                <a:rPr lang="en" sz="1100">
                  <a:solidFill>
                    <a:schemeClr val="accent1"/>
                  </a:solidFill>
                  <a:latin typeface="DM Sans Medium"/>
                  <a:ea typeface="DM Sans Medium"/>
                  <a:cs typeface="DM Sans Medium"/>
                  <a:sym typeface="DM Sans Medium"/>
                </a:rPr>
                <a:t>Delta Lake</a:t>
              </a:r>
              <a:endParaRPr sz="1100">
                <a:solidFill>
                  <a:schemeClr val="accent1"/>
                </a:solidFill>
                <a:latin typeface="DM Sans Medium"/>
                <a:ea typeface="DM Sans Medium"/>
                <a:cs typeface="DM Sans Medium"/>
                <a:sym typeface="DM Sans Medium"/>
              </a:endParaRPr>
            </a:p>
          </p:txBody>
        </p:sp>
      </p:grpSp>
      <p:grpSp>
        <p:nvGrpSpPr>
          <p:cNvPr id="495" name="Google Shape;495;p47"/>
          <p:cNvGrpSpPr/>
          <p:nvPr/>
        </p:nvGrpSpPr>
        <p:grpSpPr>
          <a:xfrm>
            <a:off x="10020400" y="5687425"/>
            <a:ext cx="999000" cy="471900"/>
            <a:chOff x="10020400" y="5687425"/>
            <a:chExt cx="999000" cy="471900"/>
          </a:xfrm>
        </p:grpSpPr>
        <p:sp>
          <p:nvSpPr>
            <p:cNvPr id="496" name="Google Shape;496;p47"/>
            <p:cNvSpPr/>
            <p:nvPr/>
          </p:nvSpPr>
          <p:spPr>
            <a:xfrm>
              <a:off x="10067721" y="5709745"/>
              <a:ext cx="902100" cy="429000"/>
            </a:xfrm>
            <a:prstGeom prst="roundRect">
              <a:avLst>
                <a:gd fmla="val 8183"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000">
                  <a:solidFill>
                    <a:schemeClr val="accent5"/>
                  </a:solidFill>
                  <a:latin typeface="DM Sans"/>
                  <a:ea typeface="DM Sans"/>
                  <a:cs typeface="DM Sans"/>
                  <a:sym typeface="DM Sans"/>
                </a:rPr>
                <a:t>No proprietary data formats</a:t>
              </a:r>
              <a:endParaRPr sz="1000">
                <a:solidFill>
                  <a:schemeClr val="accent5"/>
                </a:solidFill>
                <a:latin typeface="DM Sans"/>
                <a:ea typeface="DM Sans"/>
                <a:cs typeface="DM Sans"/>
                <a:sym typeface="DM Sans"/>
              </a:endParaRPr>
            </a:p>
          </p:txBody>
        </p:sp>
        <p:cxnSp>
          <p:nvCxnSpPr>
            <p:cNvPr id="497" name="Google Shape;497;p47"/>
            <p:cNvCxnSpPr/>
            <p:nvPr/>
          </p:nvCxnSpPr>
          <p:spPr>
            <a:xfrm>
              <a:off x="10020400" y="5687425"/>
              <a:ext cx="999000" cy="471900"/>
            </a:xfrm>
            <a:prstGeom prst="straightConnector1">
              <a:avLst/>
            </a:prstGeom>
            <a:noFill/>
            <a:ln cap="flat" cmpd="sng" w="19050">
              <a:solidFill>
                <a:schemeClr val="dk2"/>
              </a:solidFill>
              <a:prstDash val="solid"/>
              <a:round/>
              <a:headEnd len="med" w="med" type="none"/>
              <a:tailEnd len="med" w="med" type="none"/>
            </a:ln>
          </p:spPr>
        </p:cxnSp>
      </p:grpSp>
      <p:grpSp>
        <p:nvGrpSpPr>
          <p:cNvPr id="498" name="Google Shape;498;p47"/>
          <p:cNvGrpSpPr/>
          <p:nvPr/>
        </p:nvGrpSpPr>
        <p:grpSpPr>
          <a:xfrm>
            <a:off x="1244872" y="3223100"/>
            <a:ext cx="1949883" cy="805104"/>
            <a:chOff x="1263150" y="3146900"/>
            <a:chExt cx="1949883" cy="805104"/>
          </a:xfrm>
        </p:grpSpPr>
        <p:sp>
          <p:nvSpPr>
            <p:cNvPr id="499" name="Google Shape;499;p47"/>
            <p:cNvSpPr/>
            <p:nvPr/>
          </p:nvSpPr>
          <p:spPr>
            <a:xfrm>
              <a:off x="1263150" y="3148525"/>
              <a:ext cx="804600" cy="3609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Batch &amp; Streaming</a:t>
              </a:r>
              <a:endParaRPr sz="1100">
                <a:solidFill>
                  <a:schemeClr val="accent1"/>
                </a:solidFill>
                <a:latin typeface="DM Sans Medium"/>
                <a:ea typeface="DM Sans Medium"/>
                <a:cs typeface="DM Sans Medium"/>
                <a:sym typeface="DM Sans Medium"/>
              </a:endParaRPr>
            </a:p>
          </p:txBody>
        </p:sp>
        <p:sp>
          <p:nvSpPr>
            <p:cNvPr id="500" name="Google Shape;500;p47"/>
            <p:cNvSpPr/>
            <p:nvPr/>
          </p:nvSpPr>
          <p:spPr>
            <a:xfrm>
              <a:off x="2184333" y="3591100"/>
              <a:ext cx="1028700" cy="3609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000">
                  <a:solidFill>
                    <a:schemeClr val="accent1"/>
                  </a:solidFill>
                  <a:latin typeface="DM Sans Medium"/>
                  <a:ea typeface="DM Sans Medium"/>
                  <a:cs typeface="DM Sans Medium"/>
                  <a:sym typeface="DM Sans Medium"/>
                </a:rPr>
                <a:t>Lakeflow Decla- rative Pipelines</a:t>
              </a:r>
              <a:endParaRPr sz="1000">
                <a:solidFill>
                  <a:schemeClr val="accent1"/>
                </a:solidFill>
                <a:latin typeface="DM Sans Medium"/>
                <a:ea typeface="DM Sans Medium"/>
                <a:cs typeface="DM Sans Medium"/>
                <a:sym typeface="DM Sans Medium"/>
              </a:endParaRPr>
            </a:p>
          </p:txBody>
        </p:sp>
        <p:sp>
          <p:nvSpPr>
            <p:cNvPr id="501" name="Google Shape;501;p47"/>
            <p:cNvSpPr/>
            <p:nvPr/>
          </p:nvSpPr>
          <p:spPr>
            <a:xfrm>
              <a:off x="2184332" y="3146900"/>
              <a:ext cx="1028700" cy="3609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Data </a:t>
              </a:r>
              <a:br>
                <a:rPr lang="en" sz="1100">
                  <a:solidFill>
                    <a:schemeClr val="accent1"/>
                  </a:solidFill>
                  <a:latin typeface="DM Sans Medium"/>
                  <a:ea typeface="DM Sans Medium"/>
                  <a:cs typeface="DM Sans Medium"/>
                  <a:sym typeface="DM Sans Medium"/>
                </a:rPr>
              </a:br>
              <a:r>
                <a:rPr lang="en" sz="1100">
                  <a:solidFill>
                    <a:schemeClr val="accent1"/>
                  </a:solidFill>
                  <a:latin typeface="DM Sans Medium"/>
                  <a:ea typeface="DM Sans Medium"/>
                  <a:cs typeface="DM Sans Medium"/>
                  <a:sym typeface="DM Sans Medium"/>
                </a:rPr>
                <a:t>Quality</a:t>
              </a:r>
              <a:endParaRPr sz="1100">
                <a:solidFill>
                  <a:schemeClr val="accent1"/>
                </a:solidFill>
                <a:latin typeface="DM Sans Medium"/>
                <a:ea typeface="DM Sans Medium"/>
                <a:cs typeface="DM Sans Medium"/>
                <a:sym typeface="DM Sans Medium"/>
              </a:endParaRPr>
            </a:p>
          </p:txBody>
        </p:sp>
        <p:sp>
          <p:nvSpPr>
            <p:cNvPr id="502" name="Google Shape;502;p47"/>
            <p:cNvSpPr/>
            <p:nvPr/>
          </p:nvSpPr>
          <p:spPr>
            <a:xfrm>
              <a:off x="1270364" y="3591104"/>
              <a:ext cx="804600" cy="3609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Lakeflow Connect</a:t>
              </a:r>
              <a:endParaRPr sz="1100">
                <a:solidFill>
                  <a:schemeClr val="accent1"/>
                </a:solidFill>
                <a:latin typeface="DM Sans Medium"/>
                <a:ea typeface="DM Sans Medium"/>
                <a:cs typeface="DM Sans Medium"/>
                <a:sym typeface="DM Sans Medium"/>
              </a:endParaRPr>
            </a:p>
          </p:txBody>
        </p:sp>
      </p:grpSp>
      <p:sp>
        <p:nvSpPr>
          <p:cNvPr id="503" name="Google Shape;503;p47"/>
          <p:cNvSpPr/>
          <p:nvPr/>
        </p:nvSpPr>
        <p:spPr>
          <a:xfrm>
            <a:off x="8729054" y="1638700"/>
            <a:ext cx="803700" cy="362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Databricks Apps </a:t>
            </a:r>
            <a:endParaRPr sz="1100">
              <a:solidFill>
                <a:schemeClr val="accent1"/>
              </a:solidFill>
              <a:latin typeface="DM Sans Medium"/>
              <a:ea typeface="DM Sans Medium"/>
              <a:cs typeface="DM Sans Medium"/>
              <a:sym typeface="DM Sans Medium"/>
            </a:endParaRPr>
          </a:p>
        </p:txBody>
      </p:sp>
      <p:grpSp>
        <p:nvGrpSpPr>
          <p:cNvPr id="504" name="Google Shape;504;p47"/>
          <p:cNvGrpSpPr/>
          <p:nvPr/>
        </p:nvGrpSpPr>
        <p:grpSpPr>
          <a:xfrm>
            <a:off x="5467604" y="1638700"/>
            <a:ext cx="2565350" cy="362400"/>
            <a:chOff x="5467604" y="1638700"/>
            <a:chExt cx="2565350" cy="362400"/>
          </a:xfrm>
        </p:grpSpPr>
        <p:sp>
          <p:nvSpPr>
            <p:cNvPr id="505" name="Google Shape;505;p47"/>
            <p:cNvSpPr/>
            <p:nvPr/>
          </p:nvSpPr>
          <p:spPr>
            <a:xfrm>
              <a:off x="7200754" y="1638700"/>
              <a:ext cx="832200" cy="362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SQL Editor</a:t>
              </a:r>
              <a:endParaRPr sz="1100">
                <a:solidFill>
                  <a:schemeClr val="accent1"/>
                </a:solidFill>
                <a:latin typeface="DM Sans Medium"/>
                <a:ea typeface="DM Sans Medium"/>
                <a:cs typeface="DM Sans Medium"/>
                <a:sym typeface="DM Sans Medium"/>
              </a:endParaRPr>
            </a:p>
          </p:txBody>
        </p:sp>
        <p:sp>
          <p:nvSpPr>
            <p:cNvPr id="506" name="Google Shape;506;p47"/>
            <p:cNvSpPr/>
            <p:nvPr/>
          </p:nvSpPr>
          <p:spPr>
            <a:xfrm>
              <a:off x="5467604" y="1638700"/>
              <a:ext cx="803700" cy="362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AI/BI</a:t>
              </a:r>
              <a:br>
                <a:rPr lang="en" sz="1100">
                  <a:solidFill>
                    <a:schemeClr val="accent1"/>
                  </a:solidFill>
                  <a:latin typeface="DM Sans Medium"/>
                  <a:ea typeface="DM Sans Medium"/>
                  <a:cs typeface="DM Sans Medium"/>
                  <a:sym typeface="DM Sans Medium"/>
                </a:rPr>
              </a:br>
              <a:r>
                <a:rPr lang="en" sz="1100">
                  <a:solidFill>
                    <a:schemeClr val="accent1"/>
                  </a:solidFill>
                  <a:latin typeface="DM Sans Medium"/>
                  <a:ea typeface="DM Sans Medium"/>
                  <a:cs typeface="DM Sans Medium"/>
                  <a:sym typeface="DM Sans Medium"/>
                </a:rPr>
                <a:t>Genie </a:t>
              </a:r>
              <a:endParaRPr sz="1100">
                <a:solidFill>
                  <a:schemeClr val="accent1"/>
                </a:solidFill>
                <a:latin typeface="DM Sans Medium"/>
                <a:ea typeface="DM Sans Medium"/>
                <a:cs typeface="DM Sans Medium"/>
                <a:sym typeface="DM Sans Medium"/>
              </a:endParaRPr>
            </a:p>
          </p:txBody>
        </p:sp>
        <p:sp>
          <p:nvSpPr>
            <p:cNvPr id="507" name="Google Shape;507;p47"/>
            <p:cNvSpPr/>
            <p:nvPr/>
          </p:nvSpPr>
          <p:spPr>
            <a:xfrm>
              <a:off x="6334179" y="1638700"/>
              <a:ext cx="803700" cy="362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AI/BI Dashboard</a:t>
              </a:r>
              <a:endParaRPr sz="1100">
                <a:solidFill>
                  <a:schemeClr val="accent1"/>
                </a:solidFill>
                <a:latin typeface="DM Sans Medium"/>
                <a:ea typeface="DM Sans Medium"/>
                <a:cs typeface="DM Sans Medium"/>
                <a:sym typeface="DM Sans Medium"/>
              </a:endParaRPr>
            </a:p>
          </p:txBody>
        </p:sp>
      </p:grpSp>
      <p:grpSp>
        <p:nvGrpSpPr>
          <p:cNvPr id="508" name="Google Shape;508;p47"/>
          <p:cNvGrpSpPr/>
          <p:nvPr/>
        </p:nvGrpSpPr>
        <p:grpSpPr>
          <a:xfrm>
            <a:off x="4091285" y="2173263"/>
            <a:ext cx="2757447" cy="362413"/>
            <a:chOff x="4091285" y="2173263"/>
            <a:chExt cx="2757447" cy="362413"/>
          </a:xfrm>
        </p:grpSpPr>
        <p:sp>
          <p:nvSpPr>
            <p:cNvPr id="509" name="Google Shape;509;p47"/>
            <p:cNvSpPr/>
            <p:nvPr/>
          </p:nvSpPr>
          <p:spPr>
            <a:xfrm>
              <a:off x="4091285" y="2173263"/>
              <a:ext cx="804600" cy="362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Lakeflow</a:t>
              </a:r>
              <a:br>
                <a:rPr lang="en" sz="1100">
                  <a:solidFill>
                    <a:schemeClr val="accent1"/>
                  </a:solidFill>
                  <a:latin typeface="DM Sans Medium"/>
                  <a:ea typeface="DM Sans Medium"/>
                  <a:cs typeface="DM Sans Medium"/>
                  <a:sym typeface="DM Sans Medium"/>
                </a:rPr>
              </a:br>
              <a:r>
                <a:rPr lang="en" sz="1100">
                  <a:solidFill>
                    <a:schemeClr val="accent1"/>
                  </a:solidFill>
                  <a:latin typeface="DM Sans Medium"/>
                  <a:ea typeface="DM Sans Medium"/>
                  <a:cs typeface="DM Sans Medium"/>
                  <a:sym typeface="DM Sans Medium"/>
                </a:rPr>
                <a:t>Jobs</a:t>
              </a:r>
              <a:endParaRPr sz="1100">
                <a:solidFill>
                  <a:schemeClr val="accent1"/>
                </a:solidFill>
                <a:latin typeface="DM Sans Medium"/>
                <a:ea typeface="DM Sans Medium"/>
                <a:cs typeface="DM Sans Medium"/>
                <a:sym typeface="DM Sans Medium"/>
              </a:endParaRPr>
            </a:p>
          </p:txBody>
        </p:sp>
        <p:sp>
          <p:nvSpPr>
            <p:cNvPr id="510" name="Google Shape;510;p47"/>
            <p:cNvSpPr/>
            <p:nvPr/>
          </p:nvSpPr>
          <p:spPr>
            <a:xfrm>
              <a:off x="5067708" y="2173275"/>
              <a:ext cx="804600" cy="362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CI/CD</a:t>
              </a:r>
              <a:endParaRPr sz="1100">
                <a:solidFill>
                  <a:schemeClr val="accent1"/>
                </a:solidFill>
                <a:latin typeface="DM Sans Medium"/>
                <a:ea typeface="DM Sans Medium"/>
                <a:cs typeface="DM Sans Medium"/>
                <a:sym typeface="DM Sans Medium"/>
              </a:endParaRPr>
            </a:p>
          </p:txBody>
        </p:sp>
        <p:sp>
          <p:nvSpPr>
            <p:cNvPr id="511" name="Google Shape;511;p47"/>
            <p:cNvSpPr/>
            <p:nvPr/>
          </p:nvSpPr>
          <p:spPr>
            <a:xfrm>
              <a:off x="6044132" y="2173275"/>
              <a:ext cx="804600" cy="362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MLOps</a:t>
              </a:r>
              <a:endParaRPr sz="1100">
                <a:solidFill>
                  <a:schemeClr val="accent1"/>
                </a:solidFill>
                <a:latin typeface="DM Sans Medium"/>
                <a:ea typeface="DM Sans Medium"/>
                <a:cs typeface="DM Sans Medium"/>
                <a:sym typeface="DM Sans Medium"/>
              </a:endParaRPr>
            </a:p>
          </p:txBody>
        </p:sp>
      </p:grpSp>
      <p:grpSp>
        <p:nvGrpSpPr>
          <p:cNvPr id="512" name="Google Shape;512;p47"/>
          <p:cNvGrpSpPr/>
          <p:nvPr/>
        </p:nvGrpSpPr>
        <p:grpSpPr>
          <a:xfrm>
            <a:off x="9897511" y="2177672"/>
            <a:ext cx="925800" cy="1414208"/>
            <a:chOff x="9897511" y="2177672"/>
            <a:chExt cx="925800" cy="1414208"/>
          </a:xfrm>
        </p:grpSpPr>
        <p:sp>
          <p:nvSpPr>
            <p:cNvPr id="513" name="Google Shape;513;p47"/>
            <p:cNvSpPr/>
            <p:nvPr/>
          </p:nvSpPr>
          <p:spPr>
            <a:xfrm>
              <a:off x="9897511" y="2177672"/>
              <a:ext cx="925800" cy="369300"/>
            </a:xfrm>
            <a:prstGeom prst="roundRect">
              <a:avLst>
                <a:gd fmla="val 16667" name="adj"/>
              </a:avLst>
            </a:prstGeom>
            <a:no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        Delta </a:t>
              </a:r>
              <a:br>
                <a:rPr lang="en" sz="1100">
                  <a:solidFill>
                    <a:schemeClr val="accent1"/>
                  </a:solidFill>
                  <a:latin typeface="DM Sans Medium"/>
                  <a:ea typeface="DM Sans Medium"/>
                  <a:cs typeface="DM Sans Medium"/>
                  <a:sym typeface="DM Sans Medium"/>
                </a:rPr>
              </a:br>
              <a:r>
                <a:rPr lang="en" sz="1100">
                  <a:solidFill>
                    <a:schemeClr val="accent1"/>
                  </a:solidFill>
                  <a:latin typeface="DM Sans Medium"/>
                  <a:ea typeface="DM Sans Medium"/>
                  <a:cs typeface="DM Sans Medium"/>
                  <a:sym typeface="DM Sans Medium"/>
                </a:rPr>
                <a:t>          Sharing</a:t>
              </a:r>
              <a:endParaRPr sz="1100">
                <a:solidFill>
                  <a:schemeClr val="accent1"/>
                </a:solidFill>
                <a:latin typeface="DM Sans Medium"/>
                <a:ea typeface="DM Sans Medium"/>
                <a:cs typeface="DM Sans Medium"/>
                <a:sym typeface="DM Sans Medium"/>
              </a:endParaRPr>
            </a:p>
          </p:txBody>
        </p:sp>
        <p:sp>
          <p:nvSpPr>
            <p:cNvPr id="514" name="Google Shape;514;p47"/>
            <p:cNvSpPr/>
            <p:nvPr/>
          </p:nvSpPr>
          <p:spPr>
            <a:xfrm>
              <a:off x="9897511" y="2700129"/>
              <a:ext cx="925800" cy="3693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Marketplace</a:t>
              </a:r>
              <a:endParaRPr sz="1100">
                <a:solidFill>
                  <a:schemeClr val="accent1"/>
                </a:solidFill>
                <a:latin typeface="DM Sans Medium"/>
                <a:ea typeface="DM Sans Medium"/>
                <a:cs typeface="DM Sans Medium"/>
                <a:sym typeface="DM Sans Medium"/>
              </a:endParaRPr>
            </a:p>
          </p:txBody>
        </p:sp>
        <p:pic>
          <p:nvPicPr>
            <p:cNvPr id="515" name="Google Shape;515;p47"/>
            <p:cNvPicPr preferRelativeResize="0"/>
            <p:nvPr/>
          </p:nvPicPr>
          <p:blipFill>
            <a:blip r:embed="rId10">
              <a:alphaModFix/>
            </a:blip>
            <a:stretch>
              <a:fillRect/>
            </a:stretch>
          </p:blipFill>
          <p:spPr>
            <a:xfrm>
              <a:off x="9937617" y="2244145"/>
              <a:ext cx="282300" cy="236358"/>
            </a:xfrm>
            <a:prstGeom prst="rect">
              <a:avLst/>
            </a:prstGeom>
            <a:noFill/>
            <a:ln>
              <a:noFill/>
            </a:ln>
          </p:spPr>
        </p:pic>
        <p:sp>
          <p:nvSpPr>
            <p:cNvPr id="516" name="Google Shape;516;p47"/>
            <p:cNvSpPr/>
            <p:nvPr/>
          </p:nvSpPr>
          <p:spPr>
            <a:xfrm>
              <a:off x="9897511" y="3222579"/>
              <a:ext cx="925800" cy="3693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Clean </a:t>
              </a:r>
              <a:br>
                <a:rPr lang="en" sz="1100">
                  <a:solidFill>
                    <a:schemeClr val="accent1"/>
                  </a:solidFill>
                  <a:latin typeface="DM Sans Medium"/>
                  <a:ea typeface="DM Sans Medium"/>
                  <a:cs typeface="DM Sans Medium"/>
                  <a:sym typeface="DM Sans Medium"/>
                </a:rPr>
              </a:br>
              <a:r>
                <a:rPr lang="en" sz="1100">
                  <a:solidFill>
                    <a:schemeClr val="accent1"/>
                  </a:solidFill>
                  <a:latin typeface="DM Sans Medium"/>
                  <a:ea typeface="DM Sans Medium"/>
                  <a:cs typeface="DM Sans Medium"/>
                  <a:sym typeface="DM Sans Medium"/>
                </a:rPr>
                <a:t>Rooms</a:t>
              </a:r>
              <a:endParaRPr sz="1100">
                <a:solidFill>
                  <a:schemeClr val="accent1"/>
                </a:solidFill>
                <a:latin typeface="DM Sans Medium"/>
                <a:ea typeface="DM Sans Medium"/>
                <a:cs typeface="DM Sans Medium"/>
                <a:sym typeface="DM Sans Medium"/>
              </a:endParaRPr>
            </a:p>
          </p:txBody>
        </p:sp>
      </p:grpSp>
      <p:grpSp>
        <p:nvGrpSpPr>
          <p:cNvPr id="517" name="Google Shape;517;p47"/>
          <p:cNvGrpSpPr/>
          <p:nvPr/>
        </p:nvGrpSpPr>
        <p:grpSpPr>
          <a:xfrm>
            <a:off x="5550725" y="5518442"/>
            <a:ext cx="3643071" cy="515676"/>
            <a:chOff x="5550725" y="5723874"/>
            <a:chExt cx="3643071" cy="515676"/>
          </a:xfrm>
        </p:grpSpPr>
        <p:sp>
          <p:nvSpPr>
            <p:cNvPr id="518" name="Google Shape;518;p47"/>
            <p:cNvSpPr/>
            <p:nvPr/>
          </p:nvSpPr>
          <p:spPr>
            <a:xfrm>
              <a:off x="7178773" y="5724645"/>
              <a:ext cx="635100" cy="203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accent1"/>
                  </a:solidFill>
                  <a:latin typeface="DM Sans"/>
                  <a:ea typeface="DM Sans"/>
                  <a:cs typeface="DM Sans"/>
                  <a:sym typeface="DM Sans"/>
                </a:rPr>
                <a:t>images</a:t>
              </a:r>
              <a:endParaRPr sz="1100">
                <a:solidFill>
                  <a:schemeClr val="accent1"/>
                </a:solidFill>
                <a:latin typeface="DM Sans"/>
                <a:ea typeface="DM Sans"/>
                <a:cs typeface="DM Sans"/>
                <a:sym typeface="DM Sans"/>
              </a:endParaRPr>
            </a:p>
          </p:txBody>
        </p:sp>
        <p:sp>
          <p:nvSpPr>
            <p:cNvPr id="519" name="Google Shape;519;p47"/>
            <p:cNvSpPr/>
            <p:nvPr/>
          </p:nvSpPr>
          <p:spPr>
            <a:xfrm>
              <a:off x="6488811" y="5724645"/>
              <a:ext cx="635100" cy="203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accent1"/>
                  </a:solidFill>
                  <a:latin typeface="DM Sans"/>
                  <a:ea typeface="DM Sans"/>
                  <a:cs typeface="DM Sans"/>
                  <a:sym typeface="DM Sans"/>
                </a:rPr>
                <a:t>CSV</a:t>
              </a:r>
              <a:endParaRPr sz="1100">
                <a:solidFill>
                  <a:schemeClr val="accent1"/>
                </a:solidFill>
                <a:latin typeface="DM Sans"/>
                <a:ea typeface="DM Sans"/>
                <a:cs typeface="DM Sans"/>
                <a:sym typeface="DM Sans"/>
              </a:endParaRPr>
            </a:p>
          </p:txBody>
        </p:sp>
        <p:sp>
          <p:nvSpPr>
            <p:cNvPr id="520" name="Google Shape;520;p47"/>
            <p:cNvSpPr/>
            <p:nvPr/>
          </p:nvSpPr>
          <p:spPr>
            <a:xfrm>
              <a:off x="7868735" y="5723874"/>
              <a:ext cx="635100" cy="203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accent1"/>
                  </a:solidFill>
                  <a:latin typeface="DM Sans"/>
                  <a:ea typeface="DM Sans"/>
                  <a:cs typeface="DM Sans"/>
                  <a:sym typeface="DM Sans"/>
                </a:rPr>
                <a:t>arbitrary</a:t>
              </a:r>
              <a:endParaRPr sz="1100">
                <a:solidFill>
                  <a:schemeClr val="accent1"/>
                </a:solidFill>
                <a:latin typeface="DM Sans"/>
                <a:ea typeface="DM Sans"/>
                <a:cs typeface="DM Sans"/>
                <a:sym typeface="DM Sans"/>
              </a:endParaRPr>
            </a:p>
          </p:txBody>
        </p:sp>
        <p:sp>
          <p:nvSpPr>
            <p:cNvPr id="521" name="Google Shape;521;p47"/>
            <p:cNvSpPr/>
            <p:nvPr/>
          </p:nvSpPr>
          <p:spPr>
            <a:xfrm>
              <a:off x="8558696" y="5724628"/>
              <a:ext cx="635100" cy="203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accent1"/>
                  </a:solidFill>
                  <a:latin typeface="DM Sans"/>
                  <a:ea typeface="DM Sans"/>
                  <a:cs typeface="DM Sans"/>
                  <a:sym typeface="DM Sans"/>
                </a:rPr>
                <a:t>. . .</a:t>
              </a:r>
              <a:endParaRPr sz="1100">
                <a:solidFill>
                  <a:schemeClr val="accent1"/>
                </a:solidFill>
                <a:latin typeface="DM Sans"/>
                <a:ea typeface="DM Sans"/>
                <a:cs typeface="DM Sans"/>
                <a:sym typeface="DM Sans"/>
              </a:endParaRPr>
            </a:p>
          </p:txBody>
        </p:sp>
        <p:sp>
          <p:nvSpPr>
            <p:cNvPr id="522" name="Google Shape;522;p47"/>
            <p:cNvSpPr/>
            <p:nvPr/>
          </p:nvSpPr>
          <p:spPr>
            <a:xfrm>
              <a:off x="7515449" y="5967750"/>
              <a:ext cx="867000" cy="2718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228600" rtl="0" algn="ctr">
                <a:spcBef>
                  <a:spcPts val="0"/>
                </a:spcBef>
                <a:spcAft>
                  <a:spcPts val="0"/>
                </a:spcAft>
                <a:buNone/>
              </a:pPr>
              <a:r>
                <a:rPr lang="en" sz="1100">
                  <a:solidFill>
                    <a:schemeClr val="accent1"/>
                  </a:solidFill>
                  <a:latin typeface="DM Sans Medium"/>
                  <a:ea typeface="DM Sans Medium"/>
                  <a:cs typeface="DM Sans Medium"/>
                  <a:sym typeface="DM Sans Medium"/>
                </a:rPr>
                <a:t>Parquet</a:t>
              </a:r>
              <a:endParaRPr sz="1100">
                <a:solidFill>
                  <a:schemeClr val="accent1"/>
                </a:solidFill>
                <a:latin typeface="DM Sans Medium"/>
                <a:ea typeface="DM Sans Medium"/>
                <a:cs typeface="DM Sans Medium"/>
                <a:sym typeface="DM Sans Medium"/>
              </a:endParaRPr>
            </a:p>
          </p:txBody>
        </p:sp>
        <p:sp>
          <p:nvSpPr>
            <p:cNvPr id="523" name="Google Shape;523;p47"/>
            <p:cNvSpPr/>
            <p:nvPr/>
          </p:nvSpPr>
          <p:spPr>
            <a:xfrm>
              <a:off x="5798850" y="5965731"/>
              <a:ext cx="712800" cy="2718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45700" wrap="square" tIns="91425">
              <a:noAutofit/>
            </a:bodyPr>
            <a:lstStyle/>
            <a:p>
              <a:pPr indent="0" lvl="0" marL="0" marR="0" rtl="0" algn="l">
                <a:lnSpc>
                  <a:spcPct val="100000"/>
                </a:lnSpc>
                <a:spcBef>
                  <a:spcPts val="0"/>
                </a:spcBef>
                <a:spcAft>
                  <a:spcPts val="0"/>
                </a:spcAft>
                <a:buNone/>
              </a:pPr>
              <a:r>
                <a:rPr lang="en" sz="1100">
                  <a:solidFill>
                    <a:schemeClr val="accent1"/>
                  </a:solidFill>
                  <a:latin typeface="DM Sans Medium"/>
                  <a:ea typeface="DM Sans Medium"/>
                  <a:cs typeface="DM Sans Medium"/>
                  <a:sym typeface="DM Sans Medium"/>
                </a:rPr>
                <a:t>        Delta</a:t>
              </a:r>
              <a:endParaRPr sz="1100">
                <a:solidFill>
                  <a:schemeClr val="accent1"/>
                </a:solidFill>
                <a:latin typeface="DM Sans Medium"/>
                <a:ea typeface="DM Sans Medium"/>
                <a:cs typeface="DM Sans Medium"/>
                <a:sym typeface="DM Sans Medium"/>
              </a:endParaRPr>
            </a:p>
          </p:txBody>
        </p:sp>
        <p:sp>
          <p:nvSpPr>
            <p:cNvPr id="524" name="Google Shape;524;p47"/>
            <p:cNvSpPr/>
            <p:nvPr/>
          </p:nvSpPr>
          <p:spPr>
            <a:xfrm>
              <a:off x="5798850" y="5724645"/>
              <a:ext cx="635100" cy="2034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100">
                  <a:solidFill>
                    <a:schemeClr val="accent1"/>
                  </a:solidFill>
                  <a:latin typeface="DM Sans"/>
                  <a:ea typeface="DM Sans"/>
                  <a:cs typeface="DM Sans"/>
                  <a:sym typeface="DM Sans"/>
                </a:rPr>
                <a:t>JSON</a:t>
              </a:r>
              <a:endParaRPr sz="1100">
                <a:solidFill>
                  <a:schemeClr val="accent1"/>
                </a:solidFill>
                <a:latin typeface="DM Sans"/>
                <a:ea typeface="DM Sans"/>
                <a:cs typeface="DM Sans"/>
                <a:sym typeface="DM Sans"/>
              </a:endParaRPr>
            </a:p>
          </p:txBody>
        </p:sp>
        <p:sp>
          <p:nvSpPr>
            <p:cNvPr id="525" name="Google Shape;525;p47"/>
            <p:cNvSpPr/>
            <p:nvPr/>
          </p:nvSpPr>
          <p:spPr>
            <a:xfrm rot="-5400000">
              <a:off x="5343125" y="5952375"/>
              <a:ext cx="488100" cy="72900"/>
            </a:xfrm>
            <a:prstGeom prst="triangle">
              <a:avLst>
                <a:gd fmla="val 50000"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26" name="Google Shape;526;p47"/>
            <p:cNvPicPr preferRelativeResize="0"/>
            <p:nvPr/>
          </p:nvPicPr>
          <p:blipFill>
            <a:blip r:embed="rId9">
              <a:alphaModFix/>
            </a:blip>
            <a:stretch>
              <a:fillRect/>
            </a:stretch>
          </p:blipFill>
          <p:spPr>
            <a:xfrm>
              <a:off x="5839550" y="6008547"/>
              <a:ext cx="204300" cy="194646"/>
            </a:xfrm>
            <a:prstGeom prst="rect">
              <a:avLst/>
            </a:prstGeom>
            <a:noFill/>
            <a:ln>
              <a:noFill/>
            </a:ln>
          </p:spPr>
        </p:pic>
        <p:sp>
          <p:nvSpPr>
            <p:cNvPr id="527" name="Google Shape;527;p47"/>
            <p:cNvSpPr/>
            <p:nvPr/>
          </p:nvSpPr>
          <p:spPr>
            <a:xfrm>
              <a:off x="6580050" y="5965725"/>
              <a:ext cx="867000" cy="2718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45700" wrap="square" tIns="91425">
              <a:noAutofit/>
            </a:bodyPr>
            <a:lstStyle/>
            <a:p>
              <a:pPr indent="0" lvl="0" marL="0" marR="0" rtl="0" algn="l">
                <a:lnSpc>
                  <a:spcPct val="100000"/>
                </a:lnSpc>
                <a:spcBef>
                  <a:spcPts val="0"/>
                </a:spcBef>
                <a:spcAft>
                  <a:spcPts val="0"/>
                </a:spcAft>
                <a:buNone/>
              </a:pPr>
              <a:r>
                <a:rPr lang="en" sz="1100">
                  <a:solidFill>
                    <a:schemeClr val="accent1"/>
                  </a:solidFill>
                  <a:latin typeface="DM Sans Medium"/>
                  <a:ea typeface="DM Sans Medium"/>
                  <a:cs typeface="DM Sans Medium"/>
                  <a:sym typeface="DM Sans Medium"/>
                </a:rPr>
                <a:t>        Iceberg</a:t>
              </a:r>
              <a:endParaRPr sz="1100">
                <a:solidFill>
                  <a:schemeClr val="accent1"/>
                </a:solidFill>
                <a:latin typeface="DM Sans Medium"/>
                <a:ea typeface="DM Sans Medium"/>
                <a:cs typeface="DM Sans Medium"/>
                <a:sym typeface="DM Sans Medium"/>
              </a:endParaRPr>
            </a:p>
          </p:txBody>
        </p:sp>
        <p:pic>
          <p:nvPicPr>
            <p:cNvPr id="528" name="Google Shape;528;p47"/>
            <p:cNvPicPr preferRelativeResize="0"/>
            <p:nvPr/>
          </p:nvPicPr>
          <p:blipFill>
            <a:blip r:embed="rId11">
              <a:alphaModFix/>
            </a:blip>
            <a:stretch>
              <a:fillRect/>
            </a:stretch>
          </p:blipFill>
          <p:spPr>
            <a:xfrm>
              <a:off x="6622601" y="5999481"/>
              <a:ext cx="204300" cy="204300"/>
            </a:xfrm>
            <a:prstGeom prst="rect">
              <a:avLst/>
            </a:prstGeom>
            <a:noFill/>
            <a:ln>
              <a:noFill/>
            </a:ln>
          </p:spPr>
        </p:pic>
        <p:pic>
          <p:nvPicPr>
            <p:cNvPr id="529" name="Google Shape;529;p47"/>
            <p:cNvPicPr preferRelativeResize="0"/>
            <p:nvPr/>
          </p:nvPicPr>
          <p:blipFill>
            <a:blip r:embed="rId12">
              <a:alphaModFix/>
            </a:blip>
            <a:stretch>
              <a:fillRect/>
            </a:stretch>
          </p:blipFill>
          <p:spPr>
            <a:xfrm>
              <a:off x="7538323" y="6011625"/>
              <a:ext cx="237375" cy="186600"/>
            </a:xfrm>
            <a:prstGeom prst="rect">
              <a:avLst/>
            </a:prstGeom>
            <a:noFill/>
            <a:ln>
              <a:noFill/>
            </a:ln>
          </p:spPr>
        </p:pic>
      </p:grpSp>
      <p:grpSp>
        <p:nvGrpSpPr>
          <p:cNvPr id="530" name="Google Shape;530;p47"/>
          <p:cNvGrpSpPr/>
          <p:nvPr/>
        </p:nvGrpSpPr>
        <p:grpSpPr>
          <a:xfrm>
            <a:off x="4305700" y="4919425"/>
            <a:ext cx="6278100" cy="429000"/>
            <a:chOff x="4305700" y="4919425"/>
            <a:chExt cx="6278100" cy="429000"/>
          </a:xfrm>
        </p:grpSpPr>
        <p:sp>
          <p:nvSpPr>
            <p:cNvPr id="531" name="Google Shape;531;p47"/>
            <p:cNvSpPr/>
            <p:nvPr/>
          </p:nvSpPr>
          <p:spPr>
            <a:xfrm>
              <a:off x="4305700" y="4919425"/>
              <a:ext cx="6278100" cy="429000"/>
            </a:xfrm>
            <a:prstGeom prst="roundRect">
              <a:avLst>
                <a:gd fmla="val 16667" name="adj"/>
              </a:avLst>
            </a:prstGeom>
            <a:no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t/>
              </a:r>
              <a:endParaRPr sz="1100">
                <a:solidFill>
                  <a:schemeClr val="accent1"/>
                </a:solidFill>
                <a:latin typeface="DM Sans Medium"/>
                <a:ea typeface="DM Sans Medium"/>
                <a:cs typeface="DM Sans Medium"/>
                <a:sym typeface="DM Sans Medium"/>
              </a:endParaRPr>
            </a:p>
          </p:txBody>
        </p:sp>
        <p:sp>
          <p:nvSpPr>
            <p:cNvPr id="532" name="Google Shape;532;p47"/>
            <p:cNvSpPr txBox="1"/>
            <p:nvPr/>
          </p:nvSpPr>
          <p:spPr>
            <a:xfrm>
              <a:off x="4699175" y="4975900"/>
              <a:ext cx="635100" cy="320100"/>
            </a:xfrm>
            <a:prstGeom prst="rect">
              <a:avLst/>
            </a:prstGeom>
            <a:noFill/>
            <a:ln>
              <a:noFill/>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1100">
                  <a:solidFill>
                    <a:schemeClr val="accent1"/>
                  </a:solidFill>
                  <a:latin typeface="DM Sans Medium"/>
                  <a:ea typeface="DM Sans Medium"/>
                  <a:cs typeface="DM Sans Medium"/>
                  <a:sym typeface="DM Sans Medium"/>
                </a:rPr>
                <a:t>Unity Catalog</a:t>
              </a:r>
              <a:endParaRPr sz="1100">
                <a:solidFill>
                  <a:schemeClr val="accent1"/>
                </a:solidFill>
                <a:latin typeface="DM Sans Medium"/>
                <a:ea typeface="DM Sans Medium"/>
                <a:cs typeface="DM Sans Medium"/>
                <a:sym typeface="DM Sans Medium"/>
              </a:endParaRPr>
            </a:p>
          </p:txBody>
        </p:sp>
        <p:sp>
          <p:nvSpPr>
            <p:cNvPr id="533" name="Google Shape;533;p47"/>
            <p:cNvSpPr txBox="1"/>
            <p:nvPr/>
          </p:nvSpPr>
          <p:spPr>
            <a:xfrm>
              <a:off x="5530588" y="4978672"/>
              <a:ext cx="560100" cy="321600"/>
            </a:xfrm>
            <a:prstGeom prst="rect">
              <a:avLst/>
            </a:prstGeom>
            <a:noFill/>
            <a:ln>
              <a:noFill/>
            </a:ln>
          </p:spPr>
          <p:txBody>
            <a:bodyPr anchorCtr="0" anchor="t" bIns="0" lIns="0" spcFirstLastPara="1" rIns="0" wrap="square" tIns="0">
              <a:noAutofit/>
            </a:bodyPr>
            <a:lstStyle/>
            <a:p>
              <a:pPr indent="0" lvl="0" marL="0" rtl="0" algn="ctr">
                <a:lnSpc>
                  <a:spcPct val="95000"/>
                </a:lnSpc>
                <a:spcBef>
                  <a:spcPts val="0"/>
                </a:spcBef>
                <a:spcAft>
                  <a:spcPts val="0"/>
                </a:spcAft>
                <a:buNone/>
              </a:pPr>
              <a:r>
                <a:rPr i="1" lang="en" sz="1000">
                  <a:solidFill>
                    <a:schemeClr val="accent5"/>
                  </a:solidFill>
                  <a:latin typeface="DM Sans"/>
                  <a:ea typeface="DM Sans"/>
                  <a:cs typeface="DM Sans"/>
                  <a:sym typeface="DM Sans"/>
                </a:rPr>
                <a:t>Access Control</a:t>
              </a:r>
              <a:endParaRPr i="1" sz="1000">
                <a:solidFill>
                  <a:schemeClr val="accent5"/>
                </a:solidFill>
                <a:latin typeface="DM Sans"/>
                <a:ea typeface="DM Sans"/>
                <a:cs typeface="DM Sans"/>
                <a:sym typeface="DM Sans"/>
              </a:endParaRPr>
            </a:p>
          </p:txBody>
        </p:sp>
        <p:sp>
          <p:nvSpPr>
            <p:cNvPr id="534" name="Google Shape;534;p47"/>
            <p:cNvSpPr txBox="1"/>
            <p:nvPr/>
          </p:nvSpPr>
          <p:spPr>
            <a:xfrm>
              <a:off x="6115083" y="5059072"/>
              <a:ext cx="593400" cy="160800"/>
            </a:xfrm>
            <a:prstGeom prst="rect">
              <a:avLst/>
            </a:prstGeom>
            <a:noFill/>
            <a:ln>
              <a:noFill/>
            </a:ln>
          </p:spPr>
          <p:txBody>
            <a:bodyPr anchorCtr="0" anchor="t" bIns="0" lIns="0" spcFirstLastPara="1" rIns="0" wrap="square" tIns="0">
              <a:noAutofit/>
            </a:bodyPr>
            <a:lstStyle/>
            <a:p>
              <a:pPr indent="0" lvl="0" marL="0" rtl="0" algn="ctr">
                <a:lnSpc>
                  <a:spcPct val="95000"/>
                </a:lnSpc>
                <a:spcBef>
                  <a:spcPts val="0"/>
                </a:spcBef>
                <a:spcAft>
                  <a:spcPts val="0"/>
                </a:spcAft>
                <a:buNone/>
              </a:pPr>
              <a:r>
                <a:rPr i="1" lang="en" sz="1000">
                  <a:solidFill>
                    <a:schemeClr val="accent5"/>
                  </a:solidFill>
                  <a:latin typeface="DM Sans"/>
                  <a:ea typeface="DM Sans"/>
                  <a:cs typeface="DM Sans"/>
                  <a:sym typeface="DM Sans"/>
                </a:rPr>
                <a:t>Auditing</a:t>
              </a:r>
              <a:endParaRPr i="1" sz="1000">
                <a:solidFill>
                  <a:schemeClr val="accent5"/>
                </a:solidFill>
                <a:latin typeface="DM Sans"/>
                <a:ea typeface="DM Sans"/>
                <a:cs typeface="DM Sans"/>
                <a:sym typeface="DM Sans"/>
              </a:endParaRPr>
            </a:p>
          </p:txBody>
        </p:sp>
        <p:sp>
          <p:nvSpPr>
            <p:cNvPr id="535" name="Google Shape;535;p47"/>
            <p:cNvSpPr txBox="1"/>
            <p:nvPr/>
          </p:nvSpPr>
          <p:spPr>
            <a:xfrm>
              <a:off x="6732879" y="5059072"/>
              <a:ext cx="712800" cy="160800"/>
            </a:xfrm>
            <a:prstGeom prst="rect">
              <a:avLst/>
            </a:prstGeom>
            <a:noFill/>
            <a:ln>
              <a:noFill/>
            </a:ln>
          </p:spPr>
          <p:txBody>
            <a:bodyPr anchorCtr="0" anchor="t" bIns="0" lIns="0" spcFirstLastPara="1" rIns="0" wrap="square" tIns="0">
              <a:noAutofit/>
            </a:bodyPr>
            <a:lstStyle/>
            <a:p>
              <a:pPr indent="0" lvl="0" marL="0" rtl="0" algn="ctr">
                <a:lnSpc>
                  <a:spcPct val="95000"/>
                </a:lnSpc>
                <a:spcBef>
                  <a:spcPts val="0"/>
                </a:spcBef>
                <a:spcAft>
                  <a:spcPts val="0"/>
                </a:spcAft>
                <a:buNone/>
              </a:pPr>
              <a:r>
                <a:rPr i="1" lang="en" sz="1000">
                  <a:solidFill>
                    <a:schemeClr val="accent5"/>
                  </a:solidFill>
                  <a:latin typeface="DM Sans"/>
                  <a:ea typeface="DM Sans"/>
                  <a:cs typeface="DM Sans"/>
                  <a:sym typeface="DM Sans"/>
                </a:rPr>
                <a:t>Discovery</a:t>
              </a:r>
              <a:endParaRPr i="1" sz="1000">
                <a:solidFill>
                  <a:schemeClr val="accent5"/>
                </a:solidFill>
                <a:latin typeface="DM Sans"/>
                <a:ea typeface="DM Sans"/>
                <a:cs typeface="DM Sans"/>
                <a:sym typeface="DM Sans"/>
              </a:endParaRPr>
            </a:p>
          </p:txBody>
        </p:sp>
        <p:sp>
          <p:nvSpPr>
            <p:cNvPr id="536" name="Google Shape;536;p47"/>
            <p:cNvSpPr txBox="1"/>
            <p:nvPr/>
          </p:nvSpPr>
          <p:spPr>
            <a:xfrm>
              <a:off x="7470075" y="5059072"/>
              <a:ext cx="560100" cy="160800"/>
            </a:xfrm>
            <a:prstGeom prst="rect">
              <a:avLst/>
            </a:prstGeom>
            <a:noFill/>
            <a:ln>
              <a:noFill/>
            </a:ln>
          </p:spPr>
          <p:txBody>
            <a:bodyPr anchorCtr="0" anchor="t" bIns="0" lIns="0" spcFirstLastPara="1" rIns="0" wrap="square" tIns="0">
              <a:noAutofit/>
            </a:bodyPr>
            <a:lstStyle/>
            <a:p>
              <a:pPr indent="0" lvl="0" marL="0" rtl="0" algn="ctr">
                <a:lnSpc>
                  <a:spcPct val="95000"/>
                </a:lnSpc>
                <a:spcBef>
                  <a:spcPts val="0"/>
                </a:spcBef>
                <a:spcAft>
                  <a:spcPts val="0"/>
                </a:spcAft>
                <a:buNone/>
              </a:pPr>
              <a:r>
                <a:rPr i="1" lang="en" sz="1000">
                  <a:solidFill>
                    <a:schemeClr val="accent5"/>
                  </a:solidFill>
                  <a:latin typeface="DM Sans"/>
                  <a:ea typeface="DM Sans"/>
                  <a:cs typeface="DM Sans"/>
                  <a:sym typeface="DM Sans"/>
                </a:rPr>
                <a:t>Lineage</a:t>
              </a:r>
              <a:endParaRPr i="1" sz="1000">
                <a:solidFill>
                  <a:schemeClr val="accent5"/>
                </a:solidFill>
                <a:latin typeface="DM Sans"/>
                <a:ea typeface="DM Sans"/>
                <a:cs typeface="DM Sans"/>
                <a:sym typeface="DM Sans"/>
              </a:endParaRPr>
            </a:p>
          </p:txBody>
        </p:sp>
        <p:sp>
          <p:nvSpPr>
            <p:cNvPr id="537" name="Google Shape;537;p47"/>
            <p:cNvSpPr txBox="1"/>
            <p:nvPr/>
          </p:nvSpPr>
          <p:spPr>
            <a:xfrm>
              <a:off x="8054571" y="5059074"/>
              <a:ext cx="777900" cy="160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i="1" lang="en" sz="1000">
                  <a:solidFill>
                    <a:schemeClr val="accent5"/>
                  </a:solidFill>
                  <a:latin typeface="DM Sans"/>
                  <a:ea typeface="DM Sans"/>
                  <a:cs typeface="DM Sans"/>
                  <a:sym typeface="DM Sans"/>
                </a:rPr>
                <a:t>Federation</a:t>
              </a:r>
              <a:endParaRPr i="1" sz="1000">
                <a:solidFill>
                  <a:schemeClr val="accent5"/>
                </a:solidFill>
                <a:latin typeface="DM Sans"/>
                <a:ea typeface="DM Sans"/>
                <a:cs typeface="DM Sans"/>
                <a:sym typeface="DM Sans"/>
              </a:endParaRPr>
            </a:p>
          </p:txBody>
        </p:sp>
        <p:sp>
          <p:nvSpPr>
            <p:cNvPr id="538" name="Google Shape;538;p47"/>
            <p:cNvSpPr txBox="1"/>
            <p:nvPr/>
          </p:nvSpPr>
          <p:spPr>
            <a:xfrm>
              <a:off x="9659163" y="4970122"/>
              <a:ext cx="777900" cy="338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i="1" lang="en" sz="1000">
                  <a:solidFill>
                    <a:schemeClr val="accent5"/>
                  </a:solidFill>
                  <a:latin typeface="DM Sans"/>
                  <a:ea typeface="DM Sans"/>
                  <a:cs typeface="DM Sans"/>
                  <a:sym typeface="DM Sans"/>
                </a:rPr>
                <a:t>Quality Monitoring</a:t>
              </a:r>
              <a:endParaRPr i="1" sz="1000">
                <a:solidFill>
                  <a:schemeClr val="accent5"/>
                </a:solidFill>
                <a:latin typeface="DM Sans"/>
                <a:ea typeface="DM Sans"/>
                <a:cs typeface="DM Sans"/>
                <a:sym typeface="DM Sans"/>
              </a:endParaRPr>
            </a:p>
          </p:txBody>
        </p:sp>
        <p:pic>
          <p:nvPicPr>
            <p:cNvPr id="539" name="Google Shape;539;p47"/>
            <p:cNvPicPr preferRelativeResize="0"/>
            <p:nvPr/>
          </p:nvPicPr>
          <p:blipFill>
            <a:blip r:embed="rId13">
              <a:alphaModFix/>
            </a:blip>
            <a:stretch>
              <a:fillRect/>
            </a:stretch>
          </p:blipFill>
          <p:spPr>
            <a:xfrm>
              <a:off x="4462346" y="4991000"/>
              <a:ext cx="282300" cy="282300"/>
            </a:xfrm>
            <a:prstGeom prst="rect">
              <a:avLst/>
            </a:prstGeom>
            <a:noFill/>
            <a:ln>
              <a:noFill/>
            </a:ln>
          </p:spPr>
        </p:pic>
        <p:sp>
          <p:nvSpPr>
            <p:cNvPr id="540" name="Google Shape;540;p47"/>
            <p:cNvSpPr txBox="1"/>
            <p:nvPr/>
          </p:nvSpPr>
          <p:spPr>
            <a:xfrm>
              <a:off x="8856867" y="4970122"/>
              <a:ext cx="777900" cy="338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i="1" lang="en" sz="1000">
                  <a:solidFill>
                    <a:schemeClr val="accent5"/>
                  </a:solidFill>
                  <a:latin typeface="DM Sans"/>
                  <a:ea typeface="DM Sans"/>
                  <a:cs typeface="DM Sans"/>
                  <a:sym typeface="DM Sans"/>
                </a:rPr>
                <a:t>Business Semantics</a:t>
              </a:r>
              <a:endParaRPr i="1" sz="1000">
                <a:solidFill>
                  <a:schemeClr val="accent5"/>
                </a:solidFill>
                <a:latin typeface="DM Sans"/>
                <a:ea typeface="DM Sans"/>
                <a:cs typeface="DM Sans"/>
                <a:sym typeface="DM Sans"/>
              </a:endParaRPr>
            </a:p>
          </p:txBody>
        </p:sp>
      </p:grpSp>
      <p:grpSp>
        <p:nvGrpSpPr>
          <p:cNvPr id="541" name="Google Shape;541;p47"/>
          <p:cNvGrpSpPr/>
          <p:nvPr/>
        </p:nvGrpSpPr>
        <p:grpSpPr>
          <a:xfrm>
            <a:off x="4589560" y="3203428"/>
            <a:ext cx="4563265" cy="3113475"/>
            <a:chOff x="4589560" y="3223075"/>
            <a:chExt cx="4563265" cy="3113475"/>
          </a:xfrm>
        </p:grpSpPr>
        <p:sp>
          <p:nvSpPr>
            <p:cNvPr id="542" name="Google Shape;542;p47"/>
            <p:cNvSpPr/>
            <p:nvPr/>
          </p:nvSpPr>
          <p:spPr>
            <a:xfrm>
              <a:off x="8348225" y="3223075"/>
              <a:ext cx="804600" cy="3609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5000"/>
                </a:lnSpc>
                <a:spcBef>
                  <a:spcPts val="0"/>
                </a:spcBef>
                <a:spcAft>
                  <a:spcPts val="0"/>
                </a:spcAft>
                <a:buNone/>
              </a:pPr>
              <a:r>
                <a:rPr lang="en" sz="1100">
                  <a:solidFill>
                    <a:schemeClr val="accent1"/>
                  </a:solidFill>
                  <a:latin typeface="DM Sans Medium"/>
                  <a:ea typeface="DM Sans Medium"/>
                  <a:cs typeface="DM Sans Medium"/>
                  <a:sym typeface="DM Sans Medium"/>
                </a:rPr>
                <a:t>Lakebase</a:t>
              </a:r>
              <a:endParaRPr sz="1100">
                <a:solidFill>
                  <a:schemeClr val="accent1"/>
                </a:solidFill>
                <a:latin typeface="DM Sans Medium"/>
                <a:ea typeface="DM Sans Medium"/>
                <a:cs typeface="DM Sans Medium"/>
                <a:sym typeface="DM Sans Medium"/>
              </a:endParaRPr>
            </a:p>
          </p:txBody>
        </p:sp>
        <p:grpSp>
          <p:nvGrpSpPr>
            <p:cNvPr id="543" name="Google Shape;543;p47"/>
            <p:cNvGrpSpPr/>
            <p:nvPr/>
          </p:nvGrpSpPr>
          <p:grpSpPr>
            <a:xfrm>
              <a:off x="4589560" y="6096550"/>
              <a:ext cx="901390" cy="240000"/>
              <a:chOff x="4589560" y="6340596"/>
              <a:chExt cx="901390" cy="240000"/>
            </a:xfrm>
          </p:grpSpPr>
          <p:sp>
            <p:nvSpPr>
              <p:cNvPr id="544" name="Google Shape;544;p47"/>
              <p:cNvSpPr/>
              <p:nvPr/>
            </p:nvSpPr>
            <p:spPr>
              <a:xfrm>
                <a:off x="4591850" y="6340596"/>
                <a:ext cx="899100" cy="240000"/>
              </a:xfrm>
              <a:prstGeom prst="roundRect">
                <a:avLst>
                  <a:gd fmla="val 16667" name="adj"/>
                </a:avLst>
              </a:prstGeom>
              <a:solidFill>
                <a:srgbClr val="FFFFFF"/>
              </a:solidFill>
              <a:ln cap="flat" cmpd="sng" w="9525">
                <a:solidFill>
                  <a:schemeClr val="accent5"/>
                </a:solidFill>
                <a:prstDash val="solid"/>
                <a:round/>
                <a:headEnd len="sm" w="sm" type="none"/>
                <a:tailEnd len="sm" w="sm" type="none"/>
              </a:ln>
            </p:spPr>
            <p:txBody>
              <a:bodyPr anchorCtr="0" anchor="ctr" bIns="91425" lIns="0" spcFirstLastPara="1" rIns="0" wrap="square" tIns="91425">
                <a:noAutofit/>
              </a:bodyPr>
              <a:lstStyle/>
              <a:p>
                <a:pPr indent="0" lvl="0" marL="228600" rtl="0" algn="ctr">
                  <a:spcBef>
                    <a:spcPts val="0"/>
                  </a:spcBef>
                  <a:spcAft>
                    <a:spcPts val="0"/>
                  </a:spcAft>
                  <a:buNone/>
                </a:pPr>
                <a:r>
                  <a:rPr lang="en" sz="1100">
                    <a:solidFill>
                      <a:schemeClr val="accent1"/>
                    </a:solidFill>
                    <a:latin typeface="DM Sans Medium"/>
                    <a:ea typeface="DM Sans Medium"/>
                    <a:cs typeface="DM Sans Medium"/>
                    <a:sym typeface="DM Sans Medium"/>
                  </a:rPr>
                  <a:t>Database</a:t>
                </a:r>
                <a:endParaRPr sz="1100">
                  <a:solidFill>
                    <a:schemeClr val="accent1"/>
                  </a:solidFill>
                  <a:latin typeface="DM Sans Medium"/>
                  <a:ea typeface="DM Sans Medium"/>
                  <a:cs typeface="DM Sans Medium"/>
                  <a:sym typeface="DM Sans Medium"/>
                </a:endParaRPr>
              </a:p>
            </p:txBody>
          </p:sp>
          <p:pic>
            <p:nvPicPr>
              <p:cNvPr id="545" name="Google Shape;545;p47"/>
              <p:cNvPicPr preferRelativeResize="0"/>
              <p:nvPr/>
            </p:nvPicPr>
            <p:blipFill rotWithShape="1">
              <a:blip r:embed="rId14">
                <a:alphaModFix/>
              </a:blip>
              <a:srcRect b="27541" l="0" r="0" t="0"/>
              <a:stretch/>
            </p:blipFill>
            <p:spPr>
              <a:xfrm>
                <a:off x="4589560" y="6356875"/>
                <a:ext cx="266325" cy="207650"/>
              </a:xfrm>
              <a:prstGeom prst="rect">
                <a:avLst/>
              </a:prstGeom>
              <a:noFill/>
              <a:ln>
                <a:noFill/>
              </a:ln>
            </p:spPr>
          </p:pic>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48"/>
          <p:cNvSpPr/>
          <p:nvPr/>
        </p:nvSpPr>
        <p:spPr>
          <a:xfrm>
            <a:off x="1144225" y="5838124"/>
            <a:ext cx="8028900" cy="466200"/>
          </a:xfrm>
          <a:prstGeom prst="roundRect">
            <a:avLst>
              <a:gd fmla="val 22609"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Cloud Storage</a:t>
            </a:r>
            <a:endParaRPr sz="1500">
              <a:solidFill>
                <a:schemeClr val="accent1"/>
              </a:solidFill>
              <a:latin typeface="DM Sans Medium"/>
              <a:ea typeface="DM Sans Medium"/>
              <a:cs typeface="DM Sans Medium"/>
              <a:sym typeface="DM Sans Medium"/>
            </a:endParaRPr>
          </a:p>
        </p:txBody>
      </p:sp>
      <p:sp>
        <p:nvSpPr>
          <p:cNvPr id="551" name="Google Shape;551;p48"/>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Mosaic AI </a:t>
            </a:r>
            <a:endParaRPr/>
          </a:p>
        </p:txBody>
      </p:sp>
      <p:sp>
        <p:nvSpPr>
          <p:cNvPr id="552" name="Google Shape;552;p48"/>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553" name="Google Shape;553;p48"/>
          <p:cNvSpPr txBox="1"/>
          <p:nvPr/>
        </p:nvSpPr>
        <p:spPr>
          <a:xfrm>
            <a:off x="1144238" y="1713150"/>
            <a:ext cx="8028900" cy="336600"/>
          </a:xfrm>
          <a:prstGeom prst="rect">
            <a:avLst/>
          </a:prstGeom>
          <a:solidFill>
            <a:srgbClr val="EFEFE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lang="en" sz="1600">
                <a:solidFill>
                  <a:schemeClr val="accent1"/>
                </a:solidFill>
                <a:latin typeface="DM Sans Medium"/>
                <a:ea typeface="DM Sans Medium"/>
                <a:cs typeface="DM Sans Medium"/>
                <a:sym typeface="DM Sans Medium"/>
              </a:rPr>
              <a:t>Databricks AI</a:t>
            </a:r>
            <a:endParaRPr sz="1600">
              <a:solidFill>
                <a:schemeClr val="accent1"/>
              </a:solidFill>
              <a:latin typeface="DM Sans Medium"/>
              <a:ea typeface="DM Sans Medium"/>
              <a:cs typeface="DM Sans Medium"/>
              <a:sym typeface="DM Sans Medium"/>
            </a:endParaRPr>
          </a:p>
        </p:txBody>
      </p:sp>
      <p:sp>
        <p:nvSpPr>
          <p:cNvPr id="554" name="Google Shape;554;p48"/>
          <p:cNvSpPr txBox="1"/>
          <p:nvPr/>
        </p:nvSpPr>
        <p:spPr>
          <a:xfrm>
            <a:off x="9865800" y="1723050"/>
            <a:ext cx="1953000" cy="336600"/>
          </a:xfrm>
          <a:prstGeom prst="rect">
            <a:avLst/>
          </a:prstGeom>
          <a:solidFill>
            <a:srgbClr val="FFFFFF"/>
          </a:solidFill>
          <a:ln cap="flat" cmpd="sng" w="9525">
            <a:solidFill>
              <a:srgbClr val="CCCCC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b="1" lang="en" sz="1600">
                <a:solidFill>
                  <a:schemeClr val="accent1"/>
                </a:solidFill>
                <a:latin typeface="DM Sans"/>
                <a:ea typeface="DM Sans"/>
                <a:cs typeface="DM Sans"/>
                <a:sym typeface="DM Sans"/>
              </a:rPr>
              <a:t>External Services</a:t>
            </a:r>
            <a:endParaRPr b="1" i="0" sz="1600" u="none" cap="none" strike="noStrike">
              <a:solidFill>
                <a:schemeClr val="accent1"/>
              </a:solidFill>
              <a:latin typeface="DM Sans"/>
              <a:ea typeface="DM Sans"/>
              <a:cs typeface="DM Sans"/>
              <a:sym typeface="DM Sans"/>
            </a:endParaRPr>
          </a:p>
        </p:txBody>
      </p:sp>
      <p:sp>
        <p:nvSpPr>
          <p:cNvPr id="555" name="Google Shape;555;p48"/>
          <p:cNvSpPr/>
          <p:nvPr/>
        </p:nvSpPr>
        <p:spPr>
          <a:xfrm>
            <a:off x="1140375" y="2774075"/>
            <a:ext cx="2219100" cy="1398900"/>
          </a:xfrm>
          <a:prstGeom prst="roundRect">
            <a:avLst>
              <a:gd fmla="val 10473" name="adj"/>
            </a:avLst>
          </a:prstGeom>
          <a:solidFill>
            <a:srgbClr val="FFFFFF"/>
          </a:solidFill>
          <a:ln cap="flat" cmpd="sng" w="19050">
            <a:solidFill>
              <a:srgbClr val="B7B7B7"/>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15000"/>
              </a:lnSpc>
              <a:spcBef>
                <a:spcPts val="0"/>
              </a:spcBef>
              <a:spcAft>
                <a:spcPts val="0"/>
              </a:spcAft>
              <a:buNone/>
            </a:pPr>
            <a:r>
              <a:rPr lang="en" sz="1500" u="none" cap="none" strike="noStrike">
                <a:solidFill>
                  <a:schemeClr val="accent1"/>
                </a:solidFill>
                <a:latin typeface="DM Sans Medium"/>
                <a:ea typeface="DM Sans Medium"/>
                <a:cs typeface="DM Sans Medium"/>
                <a:sym typeface="DM Sans Medium"/>
              </a:rPr>
              <a:t>Prepare</a:t>
            </a:r>
            <a:r>
              <a:rPr lang="en" sz="1500">
                <a:solidFill>
                  <a:schemeClr val="accent1"/>
                </a:solidFill>
                <a:latin typeface="DM Sans Medium"/>
                <a:ea typeface="DM Sans Medium"/>
                <a:cs typeface="DM Sans Medium"/>
                <a:sym typeface="DM Sans Medium"/>
              </a:rPr>
              <a:t> </a:t>
            </a:r>
            <a:r>
              <a:rPr lang="en" sz="1500" u="none" cap="none" strike="noStrike">
                <a:solidFill>
                  <a:schemeClr val="accent1"/>
                </a:solidFill>
                <a:latin typeface="DM Sans Medium"/>
                <a:ea typeface="DM Sans Medium"/>
                <a:cs typeface="DM Sans Medium"/>
                <a:sym typeface="DM Sans Medium"/>
              </a:rPr>
              <a:t>Data</a:t>
            </a:r>
            <a:endParaRPr sz="1500">
              <a:solidFill>
                <a:schemeClr val="accent1"/>
              </a:solidFill>
              <a:latin typeface="DM Sans Medium"/>
              <a:ea typeface="DM Sans Medium"/>
              <a:cs typeface="DM Sans Medium"/>
              <a:sym typeface="DM Sans Medium"/>
            </a:endParaRPr>
          </a:p>
          <a:p>
            <a:pPr indent="-154940" lvl="0" marL="182880" rtl="0" algn="l">
              <a:spcBef>
                <a:spcPts val="2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Discover &amp; Transform Structured Data into Features</a:t>
            </a:r>
            <a:endParaRPr sz="1000">
              <a:solidFill>
                <a:schemeClr val="accent5"/>
              </a:solidFill>
              <a:latin typeface="DM Sans"/>
              <a:ea typeface="DM Sans"/>
              <a:cs typeface="DM Sans"/>
              <a:sym typeface="DM Sans"/>
            </a:endParaRPr>
          </a:p>
          <a:p>
            <a:pPr indent="-154940" lvl="0" marL="182880" rtl="0" algn="l">
              <a:spcBef>
                <a:spcPts val="200"/>
              </a:spcBef>
              <a:spcAft>
                <a:spcPts val="200"/>
              </a:spcAft>
              <a:buClr>
                <a:schemeClr val="accent5"/>
              </a:buClr>
              <a:buSzPts val="1000"/>
              <a:buFont typeface="DM Sans"/>
              <a:buChar char="●"/>
            </a:pPr>
            <a:r>
              <a:rPr lang="en" sz="1000">
                <a:solidFill>
                  <a:schemeClr val="accent5"/>
                </a:solidFill>
                <a:latin typeface="DM Sans"/>
                <a:ea typeface="DM Sans"/>
                <a:cs typeface="DM Sans"/>
                <a:sym typeface="DM Sans"/>
              </a:rPr>
              <a:t>Chunk &amp; Create Embeddings from Unstructured Data</a:t>
            </a:r>
            <a:endParaRPr sz="1500">
              <a:solidFill>
                <a:schemeClr val="accent1"/>
              </a:solidFill>
              <a:latin typeface="DM Sans Medium"/>
              <a:ea typeface="DM Sans Medium"/>
              <a:cs typeface="DM Sans Medium"/>
              <a:sym typeface="DM Sans Medium"/>
            </a:endParaRPr>
          </a:p>
        </p:txBody>
      </p:sp>
      <p:sp>
        <p:nvSpPr>
          <p:cNvPr id="556" name="Google Shape;556;p48"/>
          <p:cNvSpPr/>
          <p:nvPr/>
        </p:nvSpPr>
        <p:spPr>
          <a:xfrm>
            <a:off x="3448750" y="2778675"/>
            <a:ext cx="3437700" cy="1398900"/>
          </a:xfrm>
          <a:prstGeom prst="roundRect">
            <a:avLst>
              <a:gd fmla="val 11284" name="adj"/>
            </a:avLst>
          </a:prstGeom>
          <a:solidFill>
            <a:srgbClr val="FFFFFF"/>
          </a:solidFill>
          <a:ln cap="flat" cmpd="sng" w="19050">
            <a:solidFill>
              <a:srgbClr val="B7B7B7"/>
            </a:solidFill>
            <a:prstDash val="solid"/>
            <a:round/>
            <a:headEnd len="sm" w="sm" type="none"/>
            <a:tailEnd len="sm" w="sm" type="none"/>
          </a:ln>
        </p:spPr>
        <p:txBody>
          <a:bodyPr anchorCtr="0" anchor="t" bIns="0" lIns="0" spcFirstLastPara="1" rIns="0" wrap="square" tIns="0">
            <a:noAutofit/>
          </a:bodyPr>
          <a:lstStyle/>
          <a:p>
            <a:pPr indent="0" lvl="0" marL="0" rtl="0" algn="ctr">
              <a:lnSpc>
                <a:spcPct val="115000"/>
              </a:lnSpc>
              <a:spcBef>
                <a:spcPts val="0"/>
              </a:spcBef>
              <a:spcAft>
                <a:spcPts val="0"/>
              </a:spcAft>
              <a:buNone/>
            </a:pPr>
            <a:r>
              <a:rPr lang="en" sz="1500">
                <a:solidFill>
                  <a:schemeClr val="accent1"/>
                </a:solidFill>
                <a:latin typeface="DM Sans Medium"/>
                <a:ea typeface="DM Sans Medium"/>
                <a:cs typeface="DM Sans Medium"/>
                <a:sym typeface="DM Sans Medium"/>
              </a:rPr>
              <a:t>Develop &amp; Evaluate AI</a:t>
            </a:r>
            <a:endParaRPr sz="1500">
              <a:solidFill>
                <a:schemeClr val="accent1"/>
              </a:solidFill>
              <a:latin typeface="DM Sans Medium"/>
              <a:ea typeface="DM Sans Medium"/>
              <a:cs typeface="DM Sans Medium"/>
              <a:sym typeface="DM Sans Medium"/>
            </a:endParaRPr>
          </a:p>
          <a:p>
            <a:pPr indent="-154940" lvl="0" marL="182880" rtl="0" algn="l">
              <a:spcBef>
                <a:spcPts val="2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Train and Test Algorithms</a:t>
            </a:r>
            <a:endParaRPr sz="1000">
              <a:solidFill>
                <a:schemeClr val="accent5"/>
              </a:solidFill>
              <a:latin typeface="DM Sans"/>
              <a:ea typeface="DM Sans"/>
              <a:cs typeface="DM Sans"/>
              <a:sym typeface="DM Sans"/>
            </a:endParaRPr>
          </a:p>
          <a:p>
            <a:pPr indent="-154940" lvl="0" marL="182880" rtl="0" algn="l">
              <a:spcBef>
                <a:spcPts val="2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Fine-Tune &amp; Prompt Engineer Models </a:t>
            </a:r>
            <a:endParaRPr sz="1000">
              <a:solidFill>
                <a:schemeClr val="accent5"/>
              </a:solidFill>
              <a:latin typeface="DM Sans"/>
              <a:ea typeface="DM Sans"/>
              <a:cs typeface="DM Sans"/>
              <a:sym typeface="DM Sans"/>
            </a:endParaRPr>
          </a:p>
          <a:p>
            <a:pPr indent="-154940" lvl="0" marL="182880" rtl="0" algn="l">
              <a:spcBef>
                <a:spcPts val="2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Create GenAI agents &amp; tools</a:t>
            </a:r>
            <a:endParaRPr sz="1000">
              <a:solidFill>
                <a:schemeClr val="accent5"/>
              </a:solidFill>
              <a:latin typeface="DM Sans"/>
              <a:ea typeface="DM Sans"/>
              <a:cs typeface="DM Sans"/>
              <a:sym typeface="DM Sans"/>
            </a:endParaRPr>
          </a:p>
          <a:p>
            <a:pPr indent="-154940" lvl="0" marL="182880" rtl="0" algn="l">
              <a:spcBef>
                <a:spcPts val="2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Evaluate Experiments </a:t>
            </a:r>
            <a:endParaRPr sz="1000">
              <a:solidFill>
                <a:schemeClr val="accent5"/>
              </a:solidFill>
              <a:latin typeface="DM Sans"/>
              <a:ea typeface="DM Sans"/>
              <a:cs typeface="DM Sans"/>
              <a:sym typeface="DM Sans"/>
            </a:endParaRPr>
          </a:p>
          <a:p>
            <a:pPr indent="0" lvl="0" marL="0" rtl="0" algn="ctr">
              <a:spcBef>
                <a:spcPts val="200"/>
              </a:spcBef>
              <a:spcAft>
                <a:spcPts val="200"/>
              </a:spcAft>
              <a:buNone/>
            </a:pPr>
            <a:r>
              <a:rPr lang="en" sz="1500">
                <a:solidFill>
                  <a:schemeClr val="accent1"/>
                </a:solidFill>
                <a:latin typeface="DM Sans Medium"/>
                <a:ea typeface="DM Sans Medium"/>
                <a:cs typeface="DM Sans Medium"/>
                <a:sym typeface="DM Sans Medium"/>
              </a:rPr>
              <a:t> </a:t>
            </a:r>
            <a:endParaRPr sz="1500">
              <a:solidFill>
                <a:schemeClr val="accent1"/>
              </a:solidFill>
              <a:latin typeface="DM Sans Medium"/>
              <a:ea typeface="DM Sans Medium"/>
              <a:cs typeface="DM Sans Medium"/>
              <a:sym typeface="DM Sans Medium"/>
            </a:endParaRPr>
          </a:p>
        </p:txBody>
      </p:sp>
      <p:sp>
        <p:nvSpPr>
          <p:cNvPr id="557" name="Google Shape;557;p48"/>
          <p:cNvSpPr/>
          <p:nvPr/>
        </p:nvSpPr>
        <p:spPr>
          <a:xfrm>
            <a:off x="1140400" y="4865800"/>
            <a:ext cx="8028900" cy="899700"/>
          </a:xfrm>
          <a:prstGeom prst="roundRect">
            <a:avLst>
              <a:gd fmla="val 10352" name="adj"/>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149225" lvl="0" marL="3657600" rtl="0" algn="l">
              <a:spcBef>
                <a:spcPts val="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Manage security &amp; permissions</a:t>
            </a:r>
            <a:endParaRPr sz="1000">
              <a:solidFill>
                <a:schemeClr val="accent5"/>
              </a:solidFill>
              <a:latin typeface="DM Sans"/>
              <a:ea typeface="DM Sans"/>
              <a:cs typeface="DM Sans"/>
              <a:sym typeface="DM Sans"/>
            </a:endParaRPr>
          </a:p>
          <a:p>
            <a:pPr indent="-149225" lvl="0" marL="3657600" rtl="0" algn="l">
              <a:spcBef>
                <a:spcPts val="1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Manage models, features, and functions </a:t>
            </a:r>
            <a:endParaRPr sz="1000">
              <a:solidFill>
                <a:schemeClr val="accent5"/>
              </a:solidFill>
              <a:latin typeface="DM Sans"/>
              <a:ea typeface="DM Sans"/>
              <a:cs typeface="DM Sans"/>
              <a:sym typeface="DM Sans"/>
            </a:endParaRPr>
          </a:p>
          <a:p>
            <a:pPr indent="-149225" lvl="0" marL="3657600" rtl="0" algn="l">
              <a:spcBef>
                <a:spcPts val="1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Track model lineage</a:t>
            </a:r>
            <a:endParaRPr sz="1000">
              <a:solidFill>
                <a:schemeClr val="accent5"/>
              </a:solidFill>
              <a:latin typeface="DM Sans"/>
              <a:ea typeface="DM Sans"/>
              <a:cs typeface="DM Sans"/>
              <a:sym typeface="DM Sans"/>
            </a:endParaRPr>
          </a:p>
          <a:p>
            <a:pPr indent="-149225" lvl="0" marL="3657600" rtl="0" algn="l">
              <a:spcBef>
                <a:spcPts val="1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Data monitoring</a:t>
            </a:r>
            <a:endParaRPr sz="1000">
              <a:solidFill>
                <a:schemeClr val="accent5"/>
              </a:solidFill>
              <a:latin typeface="DM Sans"/>
              <a:ea typeface="DM Sans"/>
              <a:cs typeface="DM Sans"/>
              <a:sym typeface="DM Sans"/>
            </a:endParaRPr>
          </a:p>
          <a:p>
            <a:pPr indent="-149225" lvl="0" marL="3657600" rtl="0" algn="l">
              <a:spcBef>
                <a:spcPts val="100"/>
              </a:spcBef>
              <a:spcAft>
                <a:spcPts val="100"/>
              </a:spcAft>
              <a:buClr>
                <a:schemeClr val="accent5"/>
              </a:buClr>
              <a:buSzPts val="1000"/>
              <a:buFont typeface="DM Sans"/>
              <a:buChar char="●"/>
            </a:pPr>
            <a:r>
              <a:rPr lang="en" sz="1000">
                <a:solidFill>
                  <a:schemeClr val="accent5"/>
                </a:solidFill>
                <a:latin typeface="DM Sans"/>
                <a:ea typeface="DM Sans"/>
                <a:cs typeface="DM Sans"/>
                <a:sym typeface="DM Sans"/>
              </a:rPr>
              <a:t>AI monitoring </a:t>
            </a:r>
            <a:r>
              <a:rPr lang="en" sz="1000">
                <a:solidFill>
                  <a:schemeClr val="accent5"/>
                </a:solidFill>
                <a:latin typeface="DM Sans"/>
                <a:ea typeface="DM Sans"/>
                <a:cs typeface="DM Sans"/>
                <a:sym typeface="DM Sans"/>
              </a:rPr>
              <a:t>(metrics, model quality, drift of data and predictions)</a:t>
            </a:r>
            <a:endParaRPr sz="1000">
              <a:solidFill>
                <a:schemeClr val="accent5"/>
              </a:solidFill>
              <a:latin typeface="DM Sans"/>
              <a:ea typeface="DM Sans"/>
              <a:cs typeface="DM Sans"/>
              <a:sym typeface="DM Sans"/>
            </a:endParaRPr>
          </a:p>
        </p:txBody>
      </p:sp>
      <p:sp>
        <p:nvSpPr>
          <p:cNvPr id="558" name="Google Shape;558;p48"/>
          <p:cNvSpPr/>
          <p:nvPr/>
        </p:nvSpPr>
        <p:spPr>
          <a:xfrm>
            <a:off x="6960575" y="2768325"/>
            <a:ext cx="2219100" cy="1398900"/>
          </a:xfrm>
          <a:prstGeom prst="roundRect">
            <a:avLst>
              <a:gd fmla="val 9027" name="adj"/>
            </a:avLst>
          </a:prstGeom>
          <a:solidFill>
            <a:srgbClr val="FFFFFF"/>
          </a:solidFill>
          <a:ln cap="flat" cmpd="sng" w="19050">
            <a:solidFill>
              <a:srgbClr val="B7B7B7"/>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15000"/>
              </a:lnSpc>
              <a:spcBef>
                <a:spcPts val="0"/>
              </a:spcBef>
              <a:spcAft>
                <a:spcPts val="0"/>
              </a:spcAft>
              <a:buNone/>
            </a:pPr>
            <a:r>
              <a:rPr lang="en" sz="1500">
                <a:solidFill>
                  <a:schemeClr val="accent1"/>
                </a:solidFill>
                <a:latin typeface="DM Sans Medium"/>
                <a:ea typeface="DM Sans Medium"/>
                <a:cs typeface="DM Sans Medium"/>
                <a:sym typeface="DM Sans Medium"/>
              </a:rPr>
              <a:t>Serve</a:t>
            </a:r>
            <a:r>
              <a:rPr lang="en" sz="1500" u="none" cap="none" strike="noStrike">
                <a:solidFill>
                  <a:schemeClr val="accent1"/>
                </a:solidFill>
                <a:latin typeface="DM Sans Medium"/>
                <a:ea typeface="DM Sans Medium"/>
                <a:cs typeface="DM Sans Medium"/>
                <a:sym typeface="DM Sans Medium"/>
              </a:rPr>
              <a:t> Data &amp; AI</a:t>
            </a:r>
            <a:endParaRPr sz="1500" u="none" cap="none" strike="noStrike">
              <a:solidFill>
                <a:schemeClr val="accent1"/>
              </a:solidFill>
              <a:latin typeface="DM Sans Medium"/>
              <a:ea typeface="DM Sans Medium"/>
              <a:cs typeface="DM Sans Medium"/>
              <a:sym typeface="DM Sans Medium"/>
            </a:endParaRPr>
          </a:p>
          <a:p>
            <a:pPr indent="-154940" lvl="0" marL="182880" rtl="0" algn="l">
              <a:spcBef>
                <a:spcPts val="2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Low Latency Model Serving</a:t>
            </a:r>
            <a:endParaRPr sz="1000">
              <a:solidFill>
                <a:schemeClr val="accent5"/>
              </a:solidFill>
              <a:latin typeface="DM Sans"/>
              <a:ea typeface="DM Sans"/>
              <a:cs typeface="DM Sans"/>
              <a:sym typeface="DM Sans"/>
            </a:endParaRPr>
          </a:p>
          <a:p>
            <a:pPr indent="-154940" lvl="0" marL="182880" rtl="0" algn="l">
              <a:spcBef>
                <a:spcPts val="2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Log Model Requests/ Responses</a:t>
            </a:r>
            <a:endParaRPr sz="1000">
              <a:solidFill>
                <a:schemeClr val="accent5"/>
              </a:solidFill>
              <a:latin typeface="DM Sans"/>
              <a:ea typeface="DM Sans"/>
              <a:cs typeface="DM Sans"/>
              <a:sym typeface="DM Sans"/>
            </a:endParaRPr>
          </a:p>
          <a:p>
            <a:pPr indent="-154940" lvl="0" marL="182880" rtl="0" algn="l">
              <a:spcBef>
                <a:spcPts val="2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Low Latency Feature Serving</a:t>
            </a:r>
            <a:endParaRPr sz="1000">
              <a:solidFill>
                <a:schemeClr val="accent5"/>
              </a:solidFill>
              <a:latin typeface="DM Sans"/>
              <a:ea typeface="DM Sans"/>
              <a:cs typeface="DM Sans"/>
              <a:sym typeface="DM Sans"/>
            </a:endParaRPr>
          </a:p>
          <a:p>
            <a:pPr indent="-154940" lvl="0" marL="182880" rtl="0" algn="l">
              <a:spcBef>
                <a:spcPts val="200"/>
              </a:spcBef>
              <a:spcAft>
                <a:spcPts val="200"/>
              </a:spcAft>
              <a:buClr>
                <a:schemeClr val="accent5"/>
              </a:buClr>
              <a:buSzPts val="1000"/>
              <a:buFont typeface="DM Sans"/>
              <a:buChar char="●"/>
            </a:pPr>
            <a:r>
              <a:rPr lang="en" sz="1000">
                <a:solidFill>
                  <a:schemeClr val="accent5"/>
                </a:solidFill>
                <a:latin typeface="DM Sans"/>
                <a:ea typeface="DM Sans"/>
                <a:cs typeface="DM Sans"/>
                <a:sym typeface="DM Sans"/>
              </a:rPr>
              <a:t>Query Embeddings in Vector DB</a:t>
            </a:r>
            <a:endParaRPr sz="1000">
              <a:solidFill>
                <a:schemeClr val="accent5"/>
              </a:solidFill>
              <a:latin typeface="DM Sans"/>
              <a:ea typeface="DM Sans"/>
              <a:cs typeface="DM Sans"/>
              <a:sym typeface="DM Sans"/>
            </a:endParaRPr>
          </a:p>
        </p:txBody>
      </p:sp>
      <p:sp>
        <p:nvSpPr>
          <p:cNvPr id="559" name="Google Shape;559;p48"/>
          <p:cNvSpPr/>
          <p:nvPr/>
        </p:nvSpPr>
        <p:spPr>
          <a:xfrm>
            <a:off x="1140375" y="2230221"/>
            <a:ext cx="8039400" cy="466200"/>
          </a:xfrm>
          <a:prstGeom prst="roundRect">
            <a:avLst>
              <a:gd fmla="val 16667" name="adj"/>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149225" lvl="0" marL="3657600" marR="0" rtl="0" algn="l">
              <a:lnSpc>
                <a:spcPct val="100000"/>
              </a:lnSpc>
              <a:spcBef>
                <a:spcPts val="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Move Code, Data, and Models between development and production </a:t>
            </a:r>
            <a:endParaRPr sz="1000">
              <a:solidFill>
                <a:schemeClr val="accent5"/>
              </a:solidFill>
              <a:latin typeface="DM Sans"/>
              <a:ea typeface="DM Sans"/>
              <a:cs typeface="DM Sans"/>
              <a:sym typeface="DM Sans"/>
            </a:endParaRPr>
          </a:p>
          <a:p>
            <a:pPr indent="-149225" lvl="0" marL="3657600" marR="0" rtl="0" algn="l">
              <a:lnSpc>
                <a:spcPct val="100000"/>
              </a:lnSpc>
              <a:spcBef>
                <a:spcPts val="200"/>
              </a:spcBef>
              <a:spcAft>
                <a:spcPts val="200"/>
              </a:spcAft>
              <a:buClr>
                <a:schemeClr val="accent5"/>
              </a:buClr>
              <a:buSzPts val="1000"/>
              <a:buFont typeface="DM Sans"/>
              <a:buChar char="●"/>
            </a:pPr>
            <a:r>
              <a:rPr lang="en" sz="1000">
                <a:solidFill>
                  <a:schemeClr val="accent5"/>
                </a:solidFill>
                <a:latin typeface="DM Sans"/>
                <a:ea typeface="DM Sans"/>
                <a:cs typeface="DM Sans"/>
                <a:sym typeface="DM Sans"/>
              </a:rPr>
              <a:t>Manage Models, Features, Experiments</a:t>
            </a:r>
            <a:endParaRPr sz="1000">
              <a:solidFill>
                <a:schemeClr val="accent5"/>
              </a:solidFill>
              <a:latin typeface="DM Sans"/>
              <a:ea typeface="DM Sans"/>
              <a:cs typeface="DM Sans"/>
              <a:sym typeface="DM Sans"/>
            </a:endParaRPr>
          </a:p>
        </p:txBody>
      </p:sp>
      <p:sp>
        <p:nvSpPr>
          <p:cNvPr id="560" name="Google Shape;560;p48"/>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End to end AI capabilities …</a:t>
            </a:r>
            <a:endParaRPr/>
          </a:p>
        </p:txBody>
      </p:sp>
      <p:sp>
        <p:nvSpPr>
          <p:cNvPr id="561" name="Google Shape;561;p48"/>
          <p:cNvSpPr txBox="1"/>
          <p:nvPr/>
        </p:nvSpPr>
        <p:spPr>
          <a:xfrm>
            <a:off x="1317213" y="2258754"/>
            <a:ext cx="18822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accent1"/>
                </a:solidFill>
                <a:latin typeface="DM Sans Medium"/>
                <a:ea typeface="DM Sans Medium"/>
                <a:cs typeface="DM Sans Medium"/>
                <a:sym typeface="DM Sans Medium"/>
              </a:rPr>
              <a:t>MLOps + LLMOps</a:t>
            </a:r>
            <a:endParaRPr/>
          </a:p>
        </p:txBody>
      </p:sp>
      <p:sp>
        <p:nvSpPr>
          <p:cNvPr id="562" name="Google Shape;562;p48"/>
          <p:cNvSpPr txBox="1"/>
          <p:nvPr/>
        </p:nvSpPr>
        <p:spPr>
          <a:xfrm>
            <a:off x="1317213" y="5112700"/>
            <a:ext cx="21987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400"/>
              </a:spcAft>
              <a:buNone/>
            </a:pPr>
            <a:r>
              <a:rPr lang="en" sz="1500">
                <a:solidFill>
                  <a:schemeClr val="accent1"/>
                </a:solidFill>
                <a:latin typeface="DM Sans Medium"/>
                <a:ea typeface="DM Sans Medium"/>
                <a:cs typeface="DM Sans Medium"/>
                <a:sym typeface="DM Sans Medium"/>
              </a:rPr>
              <a:t>Data &amp; AI </a:t>
            </a:r>
            <a:r>
              <a:rPr lang="en" sz="1500">
                <a:solidFill>
                  <a:schemeClr val="accent1"/>
                </a:solidFill>
                <a:latin typeface="DM Sans Medium"/>
                <a:ea typeface="DM Sans Medium"/>
                <a:cs typeface="DM Sans Medium"/>
                <a:sym typeface="DM Sans Medium"/>
              </a:rPr>
              <a:t>Governance</a:t>
            </a:r>
            <a:endParaRPr/>
          </a:p>
        </p:txBody>
      </p:sp>
      <p:sp>
        <p:nvSpPr>
          <p:cNvPr id="563" name="Google Shape;563;p48"/>
          <p:cNvSpPr/>
          <p:nvPr/>
        </p:nvSpPr>
        <p:spPr>
          <a:xfrm>
            <a:off x="1140400" y="4259500"/>
            <a:ext cx="8028900" cy="534600"/>
          </a:xfrm>
          <a:prstGeom prst="roundRect">
            <a:avLst>
              <a:gd fmla="val 22609" name="adj"/>
            </a:avLst>
          </a:prstGeom>
          <a:solidFill>
            <a:srgbClr val="FFFFFF"/>
          </a:solidFill>
          <a:ln cap="flat" cmpd="sng" w="19050">
            <a:solidFill>
              <a:srgbClr val="B7B7B7"/>
            </a:solidFill>
            <a:prstDash val="solid"/>
            <a:round/>
            <a:headEnd len="sm" w="sm" type="none"/>
            <a:tailEnd len="sm" w="sm" type="none"/>
          </a:ln>
        </p:spPr>
        <p:txBody>
          <a:bodyPr anchorCtr="0" anchor="ctr" bIns="0" lIns="182875" spcFirstLastPara="1" rIns="91425" wrap="square" tIns="0">
            <a:noAutofit/>
          </a:bodyPr>
          <a:lstStyle/>
          <a:p>
            <a:pPr indent="-149225" lvl="0" marL="3457575" rtl="0" algn="l">
              <a:spcBef>
                <a:spcPts val="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AI driven discovery and search</a:t>
            </a:r>
            <a:endParaRPr sz="1000">
              <a:solidFill>
                <a:schemeClr val="accent5"/>
              </a:solidFill>
              <a:latin typeface="DM Sans"/>
              <a:ea typeface="DM Sans"/>
              <a:cs typeface="DM Sans"/>
              <a:sym typeface="DM Sans"/>
            </a:endParaRPr>
          </a:p>
          <a:p>
            <a:pPr indent="-149225" lvl="0" marL="3457575" rtl="0" algn="l">
              <a:spcBef>
                <a:spcPts val="1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AI Assistant</a:t>
            </a:r>
            <a:endParaRPr sz="1000">
              <a:solidFill>
                <a:schemeClr val="accent5"/>
              </a:solidFill>
              <a:latin typeface="DM Sans"/>
              <a:ea typeface="DM Sans"/>
              <a:cs typeface="DM Sans"/>
              <a:sym typeface="DM Sans"/>
            </a:endParaRPr>
          </a:p>
          <a:p>
            <a:pPr indent="-149225" lvl="0" marL="3457575" rtl="0" algn="l">
              <a:spcBef>
                <a:spcPts val="100"/>
              </a:spcBef>
              <a:spcAft>
                <a:spcPts val="100"/>
              </a:spcAft>
              <a:buClr>
                <a:schemeClr val="accent5"/>
              </a:buClr>
              <a:buSzPts val="1000"/>
              <a:buFont typeface="DM Sans"/>
              <a:buChar char="●"/>
            </a:pPr>
            <a:r>
              <a:rPr lang="en" sz="1000">
                <a:solidFill>
                  <a:schemeClr val="accent5"/>
                </a:solidFill>
                <a:latin typeface="DM Sans"/>
                <a:ea typeface="DM Sans"/>
                <a:cs typeface="DM Sans"/>
                <a:sym typeface="DM Sans"/>
              </a:rPr>
              <a:t>AI driven performance optimization and scaling</a:t>
            </a:r>
            <a:endParaRPr sz="1000">
              <a:solidFill>
                <a:schemeClr val="accent5"/>
              </a:solidFill>
              <a:latin typeface="DM Sans"/>
              <a:ea typeface="DM Sans"/>
              <a:cs typeface="DM Sans"/>
              <a:sym typeface="DM Sans"/>
            </a:endParaRPr>
          </a:p>
        </p:txBody>
      </p:sp>
      <p:sp>
        <p:nvSpPr>
          <p:cNvPr id="564" name="Google Shape;564;p48"/>
          <p:cNvSpPr txBox="1"/>
          <p:nvPr/>
        </p:nvSpPr>
        <p:spPr>
          <a:xfrm>
            <a:off x="1317213" y="4319726"/>
            <a:ext cx="1882200" cy="41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400"/>
              </a:spcAft>
              <a:buNone/>
            </a:pPr>
            <a:r>
              <a:rPr lang="en" sz="1500">
                <a:solidFill>
                  <a:schemeClr val="accent1"/>
                </a:solidFill>
                <a:latin typeface="DM Sans Medium"/>
                <a:ea typeface="DM Sans Medium"/>
                <a:cs typeface="DM Sans Medium"/>
                <a:sym typeface="DM Sans Medium"/>
              </a:rPr>
              <a:t>AI Engine</a:t>
            </a:r>
            <a:endParaRPr sz="1500">
              <a:solidFill>
                <a:schemeClr val="accent1"/>
              </a:solidFill>
              <a:latin typeface="DM Sans Medium"/>
              <a:ea typeface="DM Sans Medium"/>
              <a:cs typeface="DM Sans Medium"/>
              <a:sym typeface="DM Sans Medium"/>
            </a:endParaRPr>
          </a:p>
        </p:txBody>
      </p:sp>
      <p:sp>
        <p:nvSpPr>
          <p:cNvPr id="565" name="Google Shape;565;p48"/>
          <p:cNvSpPr/>
          <p:nvPr/>
        </p:nvSpPr>
        <p:spPr>
          <a:xfrm>
            <a:off x="9865800" y="2766250"/>
            <a:ext cx="1953000" cy="947100"/>
          </a:xfrm>
          <a:prstGeom prst="roundRect">
            <a:avLst>
              <a:gd fmla="val 12524" name="adj"/>
            </a:avLst>
          </a:prstGeom>
          <a:solidFill>
            <a:srgbClr val="FFFFFF"/>
          </a:solidFill>
          <a:ln cap="flat" cmpd="sng" w="9525">
            <a:solidFill>
              <a:srgbClr val="B7B7B7"/>
            </a:solidFill>
            <a:prstDash val="solid"/>
            <a:round/>
            <a:headEnd len="sm" w="sm" type="none"/>
            <a:tailEnd len="sm" w="sm" type="none"/>
          </a:ln>
        </p:spPr>
        <p:txBody>
          <a:bodyPr anchorCtr="0" anchor="t" bIns="91425" lIns="0" spcFirstLastPara="1" rIns="0" wrap="square" tIns="18275">
            <a:no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AI Models &amp; Tools</a:t>
            </a:r>
            <a:endParaRPr sz="1000">
              <a:solidFill>
                <a:schemeClr val="accent5"/>
              </a:solidFill>
              <a:latin typeface="DM Sans"/>
              <a:ea typeface="DM Sans"/>
              <a:cs typeface="DM Sans"/>
              <a:sym typeface="DM Sans"/>
            </a:endParaRPr>
          </a:p>
          <a:p>
            <a:pPr indent="-149225" lvl="0" marL="171450" rtl="0" algn="l">
              <a:spcBef>
                <a:spcPts val="4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Commercial AI models</a:t>
            </a:r>
            <a:endParaRPr sz="1000">
              <a:solidFill>
                <a:schemeClr val="accent5"/>
              </a:solidFill>
              <a:latin typeface="DM Sans"/>
              <a:ea typeface="DM Sans"/>
              <a:cs typeface="DM Sans"/>
              <a:sym typeface="DM Sans"/>
            </a:endParaRPr>
          </a:p>
          <a:p>
            <a:pPr indent="-149225" lvl="0" marL="171450" rtl="0" algn="l">
              <a:spcBef>
                <a:spcPts val="400"/>
              </a:spcBef>
              <a:spcAft>
                <a:spcPts val="0"/>
              </a:spcAft>
              <a:buClr>
                <a:schemeClr val="accent5"/>
              </a:buClr>
              <a:buSzPts val="1000"/>
              <a:buFont typeface="DM Sans"/>
              <a:buChar char="●"/>
            </a:pPr>
            <a:r>
              <a:rPr lang="en" sz="1000">
                <a:solidFill>
                  <a:schemeClr val="accent5"/>
                </a:solidFill>
                <a:latin typeface="DM Sans"/>
                <a:ea typeface="DM Sans"/>
                <a:cs typeface="DM Sans"/>
                <a:sym typeface="DM Sans"/>
              </a:rPr>
              <a:t>Community AI models </a:t>
            </a:r>
            <a:endParaRPr sz="1000">
              <a:solidFill>
                <a:schemeClr val="accent5"/>
              </a:solidFill>
              <a:latin typeface="DM Sans"/>
              <a:ea typeface="DM Sans"/>
              <a:cs typeface="DM Sans"/>
              <a:sym typeface="DM Sans"/>
            </a:endParaRPr>
          </a:p>
          <a:p>
            <a:pPr indent="-149225" lvl="0" marL="171450" rtl="0" algn="l">
              <a:spcBef>
                <a:spcPts val="400"/>
              </a:spcBef>
              <a:spcAft>
                <a:spcPts val="400"/>
              </a:spcAft>
              <a:buClr>
                <a:schemeClr val="accent5"/>
              </a:buClr>
              <a:buSzPts val="1000"/>
              <a:buFont typeface="DM Sans"/>
              <a:buChar char="●"/>
            </a:pPr>
            <a:r>
              <a:rPr lang="en" sz="1000">
                <a:solidFill>
                  <a:schemeClr val="accent5"/>
                </a:solidFill>
                <a:latin typeface="DM Sans"/>
                <a:ea typeface="DM Sans"/>
                <a:cs typeface="DM Sans"/>
                <a:sym typeface="DM Sans"/>
              </a:rPr>
              <a:t>Community tools</a:t>
            </a:r>
            <a:endParaRPr sz="1000">
              <a:solidFill>
                <a:schemeClr val="accent5"/>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49"/>
          <p:cNvSpPr/>
          <p:nvPr/>
        </p:nvSpPr>
        <p:spPr>
          <a:xfrm>
            <a:off x="9865800" y="2850275"/>
            <a:ext cx="1953000" cy="1409400"/>
          </a:xfrm>
          <a:prstGeom prst="roundRect">
            <a:avLst>
              <a:gd fmla="val 10121" name="adj"/>
            </a:avLst>
          </a:prstGeom>
          <a:solidFill>
            <a:srgbClr val="FFFFFF"/>
          </a:solidFill>
          <a:ln cap="flat" cmpd="sng" w="9525">
            <a:solidFill>
              <a:srgbClr val="B7B7B7"/>
            </a:solidFill>
            <a:prstDash val="dash"/>
            <a:round/>
            <a:headEnd len="sm" w="sm" type="none"/>
            <a:tailEnd len="sm" w="sm" type="none"/>
          </a:ln>
        </p:spPr>
        <p:txBody>
          <a:bodyPr anchorCtr="0" anchor="t" bIns="91425" lIns="0" spcFirstLastPara="1" rIns="0" wrap="square" tIns="18275">
            <a:noAutofit/>
          </a:bodyPr>
          <a:lstStyle/>
          <a:p>
            <a:pPr indent="0" lvl="0" marL="0" rtl="0" algn="ctr">
              <a:spcBef>
                <a:spcPts val="0"/>
              </a:spcBef>
              <a:spcAft>
                <a:spcPts val="400"/>
              </a:spcAft>
              <a:buNone/>
            </a:pPr>
            <a:r>
              <a:rPr lang="en" sz="1500">
                <a:solidFill>
                  <a:schemeClr val="accent1"/>
                </a:solidFill>
                <a:latin typeface="DM Sans Medium"/>
                <a:ea typeface="DM Sans Medium"/>
                <a:cs typeface="DM Sans Medium"/>
                <a:sym typeface="DM Sans Medium"/>
              </a:rPr>
              <a:t>AI Models &amp; Tools</a:t>
            </a:r>
            <a:endParaRPr i="1" sz="1000">
              <a:solidFill>
                <a:schemeClr val="accent5"/>
              </a:solidFill>
              <a:latin typeface="DM Sans"/>
              <a:ea typeface="DM Sans"/>
              <a:cs typeface="DM Sans"/>
              <a:sym typeface="DM Sans"/>
            </a:endParaRPr>
          </a:p>
        </p:txBody>
      </p:sp>
      <p:sp>
        <p:nvSpPr>
          <p:cNvPr id="571" name="Google Shape;571;p49"/>
          <p:cNvSpPr/>
          <p:nvPr/>
        </p:nvSpPr>
        <p:spPr>
          <a:xfrm>
            <a:off x="1144238" y="4897900"/>
            <a:ext cx="8028900" cy="845100"/>
          </a:xfrm>
          <a:prstGeom prst="roundRect">
            <a:avLst>
              <a:gd fmla="val 10352" name="adj"/>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400"/>
              </a:spcAft>
              <a:buNone/>
            </a:pPr>
            <a:r>
              <a:t/>
            </a:r>
            <a:endParaRPr i="1" sz="1000">
              <a:solidFill>
                <a:schemeClr val="accent5"/>
              </a:solidFill>
              <a:latin typeface="DM Sans"/>
              <a:ea typeface="DM Sans"/>
              <a:cs typeface="DM Sans"/>
              <a:sym typeface="DM Sans"/>
            </a:endParaRPr>
          </a:p>
        </p:txBody>
      </p:sp>
      <p:sp>
        <p:nvSpPr>
          <p:cNvPr id="572" name="Google Shape;572;p49"/>
          <p:cNvSpPr/>
          <p:nvPr/>
        </p:nvSpPr>
        <p:spPr>
          <a:xfrm>
            <a:off x="1144225" y="5837400"/>
            <a:ext cx="8028900" cy="466200"/>
          </a:xfrm>
          <a:prstGeom prst="roundRect">
            <a:avLst>
              <a:gd fmla="val 22609"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Cloud Storage</a:t>
            </a:r>
            <a:endParaRPr sz="1500">
              <a:solidFill>
                <a:schemeClr val="accent1"/>
              </a:solidFill>
              <a:latin typeface="DM Sans Medium"/>
              <a:ea typeface="DM Sans Medium"/>
              <a:cs typeface="DM Sans Medium"/>
              <a:sym typeface="DM Sans Medium"/>
            </a:endParaRPr>
          </a:p>
        </p:txBody>
      </p:sp>
      <p:sp>
        <p:nvSpPr>
          <p:cNvPr id="573" name="Google Shape;573;p49"/>
          <p:cNvSpPr/>
          <p:nvPr/>
        </p:nvSpPr>
        <p:spPr>
          <a:xfrm>
            <a:off x="1144225" y="2850725"/>
            <a:ext cx="2219100" cy="1398600"/>
          </a:xfrm>
          <a:prstGeom prst="roundRect">
            <a:avLst>
              <a:gd fmla="val 10473" name="adj"/>
            </a:avLst>
          </a:prstGeom>
          <a:solidFill>
            <a:srgbClr val="FFFFFF"/>
          </a:solidFill>
          <a:ln cap="flat" cmpd="sng" w="19050">
            <a:solidFill>
              <a:srgbClr val="B7B7B7"/>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400"/>
              </a:spcAft>
              <a:buNone/>
            </a:pPr>
            <a:r>
              <a:rPr i="0" lang="en" sz="1500" u="none" cap="none" strike="noStrike">
                <a:solidFill>
                  <a:schemeClr val="accent1"/>
                </a:solidFill>
                <a:latin typeface="DM Sans Medium"/>
                <a:ea typeface="DM Sans Medium"/>
                <a:cs typeface="DM Sans Medium"/>
                <a:sym typeface="DM Sans Medium"/>
              </a:rPr>
              <a:t>Prepare</a:t>
            </a:r>
            <a:r>
              <a:rPr lang="en" sz="1500">
                <a:solidFill>
                  <a:schemeClr val="accent1"/>
                </a:solidFill>
                <a:latin typeface="DM Sans Medium"/>
                <a:ea typeface="DM Sans Medium"/>
                <a:cs typeface="DM Sans Medium"/>
                <a:sym typeface="DM Sans Medium"/>
              </a:rPr>
              <a:t> </a:t>
            </a:r>
            <a:r>
              <a:rPr i="0" lang="en" sz="1500" u="none" cap="none" strike="noStrike">
                <a:solidFill>
                  <a:schemeClr val="accent1"/>
                </a:solidFill>
                <a:latin typeface="DM Sans Medium"/>
                <a:ea typeface="DM Sans Medium"/>
                <a:cs typeface="DM Sans Medium"/>
                <a:sym typeface="DM Sans Medium"/>
              </a:rPr>
              <a:t>Data</a:t>
            </a:r>
            <a:endParaRPr sz="1500">
              <a:solidFill>
                <a:schemeClr val="accent1"/>
              </a:solidFill>
              <a:latin typeface="DM Sans Medium"/>
              <a:ea typeface="DM Sans Medium"/>
              <a:cs typeface="DM Sans Medium"/>
              <a:sym typeface="DM Sans Medium"/>
            </a:endParaRPr>
          </a:p>
        </p:txBody>
      </p:sp>
      <p:sp>
        <p:nvSpPr>
          <p:cNvPr id="574" name="Google Shape;574;p49"/>
          <p:cNvSpPr/>
          <p:nvPr/>
        </p:nvSpPr>
        <p:spPr>
          <a:xfrm>
            <a:off x="3452525" y="2855675"/>
            <a:ext cx="3437700" cy="1398600"/>
          </a:xfrm>
          <a:prstGeom prst="roundRect">
            <a:avLst>
              <a:gd fmla="val 11168" name="adj"/>
            </a:avLst>
          </a:prstGeom>
          <a:solidFill>
            <a:srgbClr val="FFFFFF"/>
          </a:solidFill>
          <a:ln cap="flat" cmpd="sng" w="19050">
            <a:solidFill>
              <a:srgbClr val="B7B7B7"/>
            </a:solidFill>
            <a:prstDash val="solid"/>
            <a:round/>
            <a:headEnd len="sm" w="sm" type="none"/>
            <a:tailEnd len="sm" w="sm" type="none"/>
          </a:ln>
        </p:spPr>
        <p:txBody>
          <a:bodyPr anchorCtr="0" anchor="t" bIns="0" lIns="0" spcFirstLastPara="1" rIns="0" wrap="square" tIns="0">
            <a:noAutofit/>
          </a:bodyPr>
          <a:lstStyle/>
          <a:p>
            <a:pPr indent="0" lvl="0" marL="0" rtl="0" algn="ctr">
              <a:spcBef>
                <a:spcPts val="0"/>
              </a:spcBef>
              <a:spcAft>
                <a:spcPts val="400"/>
              </a:spcAft>
              <a:buNone/>
            </a:pPr>
            <a:r>
              <a:rPr lang="en" sz="1500">
                <a:solidFill>
                  <a:schemeClr val="accent1"/>
                </a:solidFill>
                <a:latin typeface="DM Sans Medium"/>
                <a:ea typeface="DM Sans Medium"/>
                <a:cs typeface="DM Sans Medium"/>
                <a:sym typeface="DM Sans Medium"/>
              </a:rPr>
              <a:t>Develop &amp; Evaluate AI</a:t>
            </a:r>
            <a:endParaRPr sz="1500">
              <a:solidFill>
                <a:schemeClr val="accent1"/>
              </a:solidFill>
              <a:latin typeface="DM Sans Medium"/>
              <a:ea typeface="DM Sans Medium"/>
              <a:cs typeface="DM Sans Medium"/>
              <a:sym typeface="DM Sans Medium"/>
            </a:endParaRPr>
          </a:p>
        </p:txBody>
      </p:sp>
      <p:sp>
        <p:nvSpPr>
          <p:cNvPr id="575" name="Google Shape;575;p49"/>
          <p:cNvSpPr/>
          <p:nvPr/>
        </p:nvSpPr>
        <p:spPr>
          <a:xfrm>
            <a:off x="6964396" y="2844525"/>
            <a:ext cx="2219100" cy="1409400"/>
          </a:xfrm>
          <a:prstGeom prst="roundRect">
            <a:avLst>
              <a:gd fmla="val 9643" name="adj"/>
            </a:avLst>
          </a:prstGeom>
          <a:solidFill>
            <a:srgbClr val="FFFFFF"/>
          </a:solidFill>
          <a:ln cap="flat" cmpd="sng" w="19050">
            <a:solidFill>
              <a:srgbClr val="B7B7B7"/>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400"/>
              </a:spcAft>
              <a:buNone/>
            </a:pPr>
            <a:r>
              <a:rPr lang="en" sz="1500">
                <a:solidFill>
                  <a:schemeClr val="accent1"/>
                </a:solidFill>
                <a:latin typeface="DM Sans Medium"/>
                <a:ea typeface="DM Sans Medium"/>
                <a:cs typeface="DM Sans Medium"/>
                <a:sym typeface="DM Sans Medium"/>
              </a:rPr>
              <a:t>S</a:t>
            </a:r>
            <a:r>
              <a:rPr i="0" lang="en" sz="1500" u="none" cap="none" strike="noStrike">
                <a:solidFill>
                  <a:schemeClr val="accent1"/>
                </a:solidFill>
                <a:latin typeface="DM Sans Medium"/>
                <a:ea typeface="DM Sans Medium"/>
                <a:cs typeface="DM Sans Medium"/>
                <a:sym typeface="DM Sans Medium"/>
              </a:rPr>
              <a:t>erve </a:t>
            </a:r>
            <a:r>
              <a:rPr lang="en" sz="1500">
                <a:solidFill>
                  <a:schemeClr val="accent1"/>
                </a:solidFill>
                <a:latin typeface="DM Sans Medium"/>
                <a:ea typeface="DM Sans Medium"/>
                <a:cs typeface="DM Sans Medium"/>
                <a:sym typeface="DM Sans Medium"/>
              </a:rPr>
              <a:t>Apps</a:t>
            </a:r>
            <a:endParaRPr sz="1500">
              <a:solidFill>
                <a:schemeClr val="accent1"/>
              </a:solidFill>
              <a:latin typeface="DM Sans Medium"/>
              <a:ea typeface="DM Sans Medium"/>
              <a:cs typeface="DM Sans Medium"/>
              <a:sym typeface="DM Sans Medium"/>
            </a:endParaRPr>
          </a:p>
        </p:txBody>
      </p:sp>
      <p:sp>
        <p:nvSpPr>
          <p:cNvPr id="576" name="Google Shape;576;p49"/>
          <p:cNvSpPr/>
          <p:nvPr/>
        </p:nvSpPr>
        <p:spPr>
          <a:xfrm>
            <a:off x="1144238" y="4335711"/>
            <a:ext cx="8028900" cy="470400"/>
          </a:xfrm>
          <a:prstGeom prst="roundRect">
            <a:avLst>
              <a:gd fmla="val 19749" name="adj"/>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400"/>
              </a:spcAft>
              <a:buNone/>
            </a:pPr>
            <a:r>
              <a:t/>
            </a:r>
            <a:endParaRPr sz="1500">
              <a:solidFill>
                <a:schemeClr val="accent1"/>
              </a:solidFill>
              <a:latin typeface="DM Sans Medium"/>
              <a:ea typeface="DM Sans Medium"/>
              <a:cs typeface="DM Sans Medium"/>
              <a:sym typeface="DM Sans Medium"/>
            </a:endParaRPr>
          </a:p>
        </p:txBody>
      </p:sp>
      <p:sp>
        <p:nvSpPr>
          <p:cNvPr id="577" name="Google Shape;577;p49"/>
          <p:cNvSpPr/>
          <p:nvPr/>
        </p:nvSpPr>
        <p:spPr>
          <a:xfrm>
            <a:off x="1144213" y="2280050"/>
            <a:ext cx="8039400" cy="470400"/>
          </a:xfrm>
          <a:prstGeom prst="roundRect">
            <a:avLst>
              <a:gd fmla="val 16667" name="adj"/>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400"/>
              </a:spcAft>
              <a:buNone/>
            </a:pPr>
            <a:r>
              <a:t/>
            </a:r>
            <a:endParaRPr i="1" sz="1000">
              <a:solidFill>
                <a:schemeClr val="accent5"/>
              </a:solidFill>
              <a:latin typeface="DM Sans"/>
              <a:ea typeface="DM Sans"/>
              <a:cs typeface="DM Sans"/>
              <a:sym typeface="DM Sans"/>
            </a:endParaRPr>
          </a:p>
        </p:txBody>
      </p:sp>
      <p:sp>
        <p:nvSpPr>
          <p:cNvPr id="578" name="Google Shape;578;p49"/>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Mosaic AI</a:t>
            </a:r>
            <a:endParaRPr/>
          </a:p>
        </p:txBody>
      </p:sp>
      <p:sp>
        <p:nvSpPr>
          <p:cNvPr id="579" name="Google Shape;579;p49"/>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580" name="Google Shape;580;p49"/>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 fully integrated into the Data Intelligence Platform</a:t>
            </a:r>
            <a:endParaRPr/>
          </a:p>
        </p:txBody>
      </p:sp>
      <p:sp>
        <p:nvSpPr>
          <p:cNvPr id="581" name="Google Shape;581;p49"/>
          <p:cNvSpPr/>
          <p:nvPr/>
        </p:nvSpPr>
        <p:spPr>
          <a:xfrm>
            <a:off x="5945988" y="3088000"/>
            <a:ext cx="105000" cy="8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t/>
            </a:r>
            <a:endParaRPr/>
          </a:p>
        </p:txBody>
      </p:sp>
      <p:sp>
        <p:nvSpPr>
          <p:cNvPr id="582" name="Google Shape;582;p49"/>
          <p:cNvSpPr txBox="1"/>
          <p:nvPr/>
        </p:nvSpPr>
        <p:spPr>
          <a:xfrm>
            <a:off x="2308456" y="3525556"/>
            <a:ext cx="984900" cy="2286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100">
                <a:solidFill>
                  <a:schemeClr val="accent1"/>
                </a:solidFill>
                <a:latin typeface="DM Sans Medium"/>
                <a:ea typeface="DM Sans Medium"/>
                <a:cs typeface="DM Sans Medium"/>
                <a:sym typeface="DM Sans Medium"/>
              </a:rPr>
              <a:t>Lakeflow Jobs</a:t>
            </a:r>
            <a:endParaRPr i="0" sz="1100" u="none" cap="none" strike="noStrike">
              <a:solidFill>
                <a:schemeClr val="accent1"/>
              </a:solidFill>
              <a:latin typeface="DM Sans Medium"/>
              <a:ea typeface="DM Sans Medium"/>
              <a:cs typeface="DM Sans Medium"/>
              <a:sym typeface="DM Sans Medium"/>
            </a:endParaRPr>
          </a:p>
        </p:txBody>
      </p:sp>
      <p:sp>
        <p:nvSpPr>
          <p:cNvPr id="583" name="Google Shape;583;p49"/>
          <p:cNvSpPr txBox="1"/>
          <p:nvPr/>
        </p:nvSpPr>
        <p:spPr>
          <a:xfrm>
            <a:off x="1249081" y="3525556"/>
            <a:ext cx="984900" cy="2286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100">
                <a:solidFill>
                  <a:schemeClr val="accent1"/>
                </a:solidFill>
                <a:latin typeface="DM Sans Medium"/>
                <a:ea typeface="DM Sans Medium"/>
                <a:cs typeface="DM Sans Medium"/>
                <a:sym typeface="DM Sans Medium"/>
              </a:rPr>
              <a:t>Lakeflow DP</a:t>
            </a:r>
            <a:endParaRPr i="0" sz="1100" u="none" cap="none" strike="noStrike">
              <a:solidFill>
                <a:schemeClr val="accent1"/>
              </a:solidFill>
              <a:latin typeface="DM Sans Medium"/>
              <a:ea typeface="DM Sans Medium"/>
              <a:cs typeface="DM Sans Medium"/>
              <a:sym typeface="DM Sans Medium"/>
            </a:endParaRPr>
          </a:p>
        </p:txBody>
      </p:sp>
      <p:sp>
        <p:nvSpPr>
          <p:cNvPr id="584" name="Google Shape;584;p49"/>
          <p:cNvSpPr txBox="1"/>
          <p:nvPr/>
        </p:nvSpPr>
        <p:spPr>
          <a:xfrm>
            <a:off x="3528075" y="3200425"/>
            <a:ext cx="984900" cy="2286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100">
                <a:solidFill>
                  <a:schemeClr val="accent1"/>
                </a:solidFill>
                <a:latin typeface="DM Sans Medium"/>
                <a:ea typeface="DM Sans Medium"/>
                <a:cs typeface="DM Sans Medium"/>
                <a:sym typeface="DM Sans Medium"/>
              </a:rPr>
              <a:t>Notebooks</a:t>
            </a:r>
            <a:endParaRPr sz="1100">
              <a:solidFill>
                <a:schemeClr val="accent1"/>
              </a:solidFill>
              <a:latin typeface="DM Sans Medium"/>
              <a:ea typeface="DM Sans Medium"/>
              <a:cs typeface="DM Sans Medium"/>
              <a:sym typeface="DM Sans Medium"/>
            </a:endParaRPr>
          </a:p>
        </p:txBody>
      </p:sp>
      <p:sp>
        <p:nvSpPr>
          <p:cNvPr id="585" name="Google Shape;585;p49"/>
          <p:cNvSpPr txBox="1"/>
          <p:nvPr/>
        </p:nvSpPr>
        <p:spPr>
          <a:xfrm>
            <a:off x="2308450" y="4964768"/>
            <a:ext cx="984900" cy="3201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1"/>
                </a:solidFill>
                <a:latin typeface="DM Sans Medium"/>
                <a:ea typeface="DM Sans Medium"/>
                <a:cs typeface="DM Sans Medium"/>
                <a:sym typeface="DM Sans Medium"/>
              </a:rPr>
              <a:t>Lakehouse Monitoring</a:t>
            </a:r>
            <a:endParaRPr sz="1100">
              <a:solidFill>
                <a:schemeClr val="accent1"/>
              </a:solidFill>
              <a:latin typeface="DM Sans Medium"/>
              <a:ea typeface="DM Sans Medium"/>
              <a:cs typeface="DM Sans Medium"/>
              <a:sym typeface="DM Sans Medium"/>
            </a:endParaRPr>
          </a:p>
        </p:txBody>
      </p:sp>
      <p:sp>
        <p:nvSpPr>
          <p:cNvPr id="586" name="Google Shape;586;p49"/>
          <p:cNvSpPr txBox="1"/>
          <p:nvPr/>
        </p:nvSpPr>
        <p:spPr>
          <a:xfrm>
            <a:off x="1249081" y="3200425"/>
            <a:ext cx="984900" cy="2286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100">
                <a:solidFill>
                  <a:schemeClr val="accent1"/>
                </a:solidFill>
                <a:latin typeface="DM Sans Medium"/>
                <a:ea typeface="DM Sans Medium"/>
                <a:cs typeface="DM Sans Medium"/>
                <a:sym typeface="DM Sans Medium"/>
              </a:rPr>
              <a:t>Notebooks</a:t>
            </a:r>
            <a:endParaRPr i="0" sz="1100" u="none" cap="none" strike="noStrike">
              <a:solidFill>
                <a:schemeClr val="accent1"/>
              </a:solidFill>
              <a:latin typeface="DM Sans Medium"/>
              <a:ea typeface="DM Sans Medium"/>
              <a:cs typeface="DM Sans Medium"/>
              <a:sym typeface="DM Sans Medium"/>
            </a:endParaRPr>
          </a:p>
        </p:txBody>
      </p:sp>
      <p:sp>
        <p:nvSpPr>
          <p:cNvPr id="587" name="Google Shape;587;p49"/>
          <p:cNvSpPr txBox="1"/>
          <p:nvPr/>
        </p:nvSpPr>
        <p:spPr>
          <a:xfrm>
            <a:off x="1144223" y="1713150"/>
            <a:ext cx="3368700" cy="336600"/>
          </a:xfrm>
          <a:prstGeom prst="rect">
            <a:avLst/>
          </a:prstGeom>
          <a:solidFill>
            <a:srgbClr val="EFEFE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lang="en" sz="1600">
                <a:solidFill>
                  <a:schemeClr val="accent1"/>
                </a:solidFill>
                <a:latin typeface="DM Sans Medium"/>
                <a:ea typeface="DM Sans Medium"/>
                <a:cs typeface="DM Sans Medium"/>
                <a:sym typeface="DM Sans Medium"/>
              </a:rPr>
              <a:t>Lakehouse common capabilities</a:t>
            </a:r>
            <a:endParaRPr sz="1600">
              <a:solidFill>
                <a:schemeClr val="accent1"/>
              </a:solidFill>
              <a:latin typeface="DM Sans Medium"/>
              <a:ea typeface="DM Sans Medium"/>
              <a:cs typeface="DM Sans Medium"/>
              <a:sym typeface="DM Sans Medium"/>
            </a:endParaRPr>
          </a:p>
        </p:txBody>
      </p:sp>
      <p:sp>
        <p:nvSpPr>
          <p:cNvPr id="588" name="Google Shape;588;p49"/>
          <p:cNvSpPr txBox="1"/>
          <p:nvPr/>
        </p:nvSpPr>
        <p:spPr>
          <a:xfrm>
            <a:off x="1249081" y="4964768"/>
            <a:ext cx="984900" cy="3201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1"/>
                </a:solidFill>
                <a:latin typeface="DM Sans Medium"/>
                <a:ea typeface="DM Sans Medium"/>
                <a:cs typeface="DM Sans Medium"/>
                <a:sym typeface="DM Sans Medium"/>
              </a:rPr>
              <a:t>Unity Catalog</a:t>
            </a:r>
            <a:endParaRPr i="0" sz="1100" u="none" cap="none" strike="noStrike">
              <a:solidFill>
                <a:schemeClr val="accent1"/>
              </a:solidFill>
              <a:latin typeface="DM Sans Medium"/>
              <a:ea typeface="DM Sans Medium"/>
              <a:cs typeface="DM Sans Medium"/>
              <a:sym typeface="DM Sans Medium"/>
            </a:endParaRPr>
          </a:p>
        </p:txBody>
      </p:sp>
      <p:sp>
        <p:nvSpPr>
          <p:cNvPr id="589" name="Google Shape;589;p49"/>
          <p:cNvSpPr txBox="1"/>
          <p:nvPr/>
        </p:nvSpPr>
        <p:spPr>
          <a:xfrm>
            <a:off x="1249075" y="2356175"/>
            <a:ext cx="984900" cy="3201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ctr" bIns="34275" lIns="0" spcFirstLastPara="1" rIns="0" wrap="square" tIns="34275">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1"/>
                </a:solidFill>
                <a:latin typeface="DM Sans Medium"/>
                <a:ea typeface="DM Sans Medium"/>
                <a:cs typeface="DM Sans Medium"/>
                <a:sym typeface="DM Sans Medium"/>
              </a:rPr>
              <a:t>Asset Bundles</a:t>
            </a:r>
            <a:br>
              <a:rPr lang="en" sz="1100">
                <a:solidFill>
                  <a:schemeClr val="accent1"/>
                </a:solidFill>
                <a:latin typeface="DM Sans Medium"/>
                <a:ea typeface="DM Sans Medium"/>
                <a:cs typeface="DM Sans Medium"/>
                <a:sym typeface="DM Sans Medium"/>
              </a:rPr>
            </a:br>
            <a:r>
              <a:rPr lang="en" sz="900">
                <a:solidFill>
                  <a:schemeClr val="accent1"/>
                </a:solidFill>
                <a:latin typeface="DM Sans Medium"/>
                <a:ea typeface="DM Sans Medium"/>
                <a:cs typeface="DM Sans Medium"/>
                <a:sym typeface="DM Sans Medium"/>
              </a:rPr>
              <a:t>(CI/CD support)</a:t>
            </a:r>
            <a:endParaRPr sz="900">
              <a:solidFill>
                <a:schemeClr val="accent1"/>
              </a:solidFill>
              <a:latin typeface="DM Sans Medium"/>
              <a:ea typeface="DM Sans Medium"/>
              <a:cs typeface="DM Sans Medium"/>
              <a:sym typeface="DM Sans Medium"/>
            </a:endParaRPr>
          </a:p>
        </p:txBody>
      </p:sp>
      <p:sp>
        <p:nvSpPr>
          <p:cNvPr id="590" name="Google Shape;590;p49"/>
          <p:cNvSpPr txBox="1"/>
          <p:nvPr/>
        </p:nvSpPr>
        <p:spPr>
          <a:xfrm>
            <a:off x="1249086" y="5906503"/>
            <a:ext cx="984900" cy="3201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ctr" bIns="34275" lIns="0" spcFirstLastPara="1" rIns="0" wrap="square" tIns="34275">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1"/>
                </a:solidFill>
                <a:latin typeface="DM Sans Medium"/>
                <a:ea typeface="DM Sans Medium"/>
                <a:cs typeface="DM Sans Medium"/>
                <a:sym typeface="DM Sans Medium"/>
              </a:rPr>
              <a:t>Delta</a:t>
            </a:r>
            <a:br>
              <a:rPr lang="en" sz="1100">
                <a:solidFill>
                  <a:schemeClr val="accent1"/>
                </a:solidFill>
                <a:latin typeface="DM Sans Medium"/>
                <a:ea typeface="DM Sans Medium"/>
                <a:cs typeface="DM Sans Medium"/>
                <a:sym typeface="DM Sans Medium"/>
              </a:rPr>
            </a:br>
            <a:r>
              <a:rPr lang="en" sz="1000">
                <a:solidFill>
                  <a:schemeClr val="accent1"/>
                </a:solidFill>
                <a:latin typeface="DM Sans Medium"/>
                <a:ea typeface="DM Sans Medium"/>
                <a:cs typeface="DM Sans Medium"/>
                <a:sym typeface="DM Sans Medium"/>
              </a:rPr>
              <a:t>(structured)</a:t>
            </a:r>
            <a:endParaRPr i="0" sz="1000" u="none" cap="none" strike="noStrike">
              <a:solidFill>
                <a:schemeClr val="accent1"/>
              </a:solidFill>
              <a:latin typeface="DM Sans Medium"/>
              <a:ea typeface="DM Sans Medium"/>
              <a:cs typeface="DM Sans Medium"/>
              <a:sym typeface="DM Sans Medium"/>
            </a:endParaRPr>
          </a:p>
        </p:txBody>
      </p:sp>
      <p:sp>
        <p:nvSpPr>
          <p:cNvPr id="591" name="Google Shape;591;p49"/>
          <p:cNvSpPr txBox="1"/>
          <p:nvPr/>
        </p:nvSpPr>
        <p:spPr>
          <a:xfrm>
            <a:off x="4487563" y="4363161"/>
            <a:ext cx="1342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400"/>
              </a:spcAft>
              <a:buNone/>
            </a:pPr>
            <a:r>
              <a:rPr lang="en" sz="1500">
                <a:solidFill>
                  <a:schemeClr val="accent1"/>
                </a:solidFill>
                <a:latin typeface="DM Sans Medium"/>
                <a:ea typeface="DM Sans Medium"/>
                <a:cs typeface="DM Sans Medium"/>
                <a:sym typeface="DM Sans Medium"/>
              </a:rPr>
              <a:t>Serve Data</a:t>
            </a:r>
            <a:endParaRPr/>
          </a:p>
        </p:txBody>
      </p:sp>
      <p:sp>
        <p:nvSpPr>
          <p:cNvPr id="592" name="Google Shape;592;p49"/>
          <p:cNvSpPr txBox="1"/>
          <p:nvPr/>
        </p:nvSpPr>
        <p:spPr>
          <a:xfrm>
            <a:off x="4059313" y="5112700"/>
            <a:ext cx="21987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400"/>
              </a:spcAft>
              <a:buNone/>
            </a:pPr>
            <a:r>
              <a:rPr lang="en" sz="1500">
                <a:solidFill>
                  <a:schemeClr val="accent1"/>
                </a:solidFill>
                <a:latin typeface="DM Sans Medium"/>
                <a:ea typeface="DM Sans Medium"/>
                <a:cs typeface="DM Sans Medium"/>
                <a:sym typeface="DM Sans Medium"/>
              </a:rPr>
              <a:t>Data &amp; AI </a:t>
            </a:r>
            <a:r>
              <a:rPr lang="en" sz="1500">
                <a:solidFill>
                  <a:schemeClr val="accent1"/>
                </a:solidFill>
                <a:latin typeface="DM Sans Medium"/>
                <a:ea typeface="DM Sans Medium"/>
                <a:cs typeface="DM Sans Medium"/>
                <a:sym typeface="DM Sans Medium"/>
              </a:rPr>
              <a:t>Governance</a:t>
            </a:r>
            <a:endParaRPr/>
          </a:p>
        </p:txBody>
      </p:sp>
      <p:sp>
        <p:nvSpPr>
          <p:cNvPr id="593" name="Google Shape;593;p49"/>
          <p:cNvSpPr txBox="1"/>
          <p:nvPr/>
        </p:nvSpPr>
        <p:spPr>
          <a:xfrm>
            <a:off x="3658656" y="2307500"/>
            <a:ext cx="3000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accent1"/>
                </a:solidFill>
                <a:latin typeface="DM Sans Medium"/>
                <a:ea typeface="DM Sans Medium"/>
                <a:cs typeface="DM Sans Medium"/>
                <a:sym typeface="DM Sans Medium"/>
              </a:rPr>
              <a:t>MLOps + LLMOps</a:t>
            </a:r>
            <a:endParaRPr/>
          </a:p>
        </p:txBody>
      </p:sp>
      <p:sp>
        <p:nvSpPr>
          <p:cNvPr id="594" name="Google Shape;594;p49"/>
          <p:cNvSpPr txBox="1"/>
          <p:nvPr/>
        </p:nvSpPr>
        <p:spPr>
          <a:xfrm>
            <a:off x="9865800" y="1723050"/>
            <a:ext cx="1953000" cy="336600"/>
          </a:xfrm>
          <a:prstGeom prst="rect">
            <a:avLst/>
          </a:prstGeom>
          <a:solidFill>
            <a:srgbClr val="FFFFFF"/>
          </a:solidFill>
          <a:ln cap="flat" cmpd="sng" w="9525">
            <a:solidFill>
              <a:srgbClr val="CCCCCC"/>
            </a:solidFill>
            <a:prstDash val="dash"/>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b="1" lang="en" sz="1600">
                <a:solidFill>
                  <a:schemeClr val="accent1"/>
                </a:solidFill>
                <a:latin typeface="DM Sans"/>
                <a:ea typeface="DM Sans"/>
                <a:cs typeface="DM Sans"/>
                <a:sym typeface="DM Sans"/>
              </a:rPr>
              <a:t>External Services</a:t>
            </a:r>
            <a:endParaRPr b="1" i="0" sz="1600" u="none" cap="none" strike="noStrike">
              <a:solidFill>
                <a:schemeClr val="accent1"/>
              </a:solidFill>
              <a:latin typeface="DM Sans"/>
              <a:ea typeface="DM Sans"/>
              <a:cs typeface="DM Sans"/>
              <a:sym typeface="DM Sans"/>
            </a:endParaRPr>
          </a:p>
        </p:txBody>
      </p:sp>
      <p:sp>
        <p:nvSpPr>
          <p:cNvPr id="595" name="Google Shape;595;p49"/>
          <p:cNvSpPr txBox="1"/>
          <p:nvPr/>
        </p:nvSpPr>
        <p:spPr>
          <a:xfrm>
            <a:off x="8021222" y="2401926"/>
            <a:ext cx="1055400" cy="2286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MLFlow</a:t>
            </a:r>
            <a:endParaRPr i="0" sz="1100" u="none" cap="none" strike="noStrike">
              <a:solidFill>
                <a:schemeClr val="accent2"/>
              </a:solidFill>
              <a:latin typeface="DM Sans Medium"/>
              <a:ea typeface="DM Sans Medium"/>
              <a:cs typeface="DM Sans Medium"/>
              <a:sym typeface="DM Sans Medium"/>
            </a:endParaRPr>
          </a:p>
        </p:txBody>
      </p:sp>
      <p:sp>
        <p:nvSpPr>
          <p:cNvPr id="596" name="Google Shape;596;p49"/>
          <p:cNvSpPr txBox="1"/>
          <p:nvPr/>
        </p:nvSpPr>
        <p:spPr>
          <a:xfrm>
            <a:off x="8084548" y="4402617"/>
            <a:ext cx="1007100" cy="3366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Vector </a:t>
            </a:r>
            <a:br>
              <a:rPr lang="en" sz="1100">
                <a:solidFill>
                  <a:schemeClr val="accent2"/>
                </a:solidFill>
                <a:latin typeface="DM Sans Medium"/>
                <a:ea typeface="DM Sans Medium"/>
                <a:cs typeface="DM Sans Medium"/>
                <a:sym typeface="DM Sans Medium"/>
              </a:rPr>
            </a:br>
            <a:r>
              <a:rPr lang="en" sz="1100">
                <a:solidFill>
                  <a:schemeClr val="accent2"/>
                </a:solidFill>
                <a:latin typeface="DM Sans Medium"/>
                <a:ea typeface="DM Sans Medium"/>
                <a:cs typeface="DM Sans Medium"/>
                <a:sym typeface="DM Sans Medium"/>
              </a:rPr>
              <a:t>Search</a:t>
            </a:r>
            <a:endParaRPr sz="1100">
              <a:solidFill>
                <a:schemeClr val="accent2"/>
              </a:solidFill>
              <a:latin typeface="DM Sans Medium"/>
              <a:ea typeface="DM Sans Medium"/>
              <a:cs typeface="DM Sans Medium"/>
              <a:sym typeface="DM Sans Medium"/>
            </a:endParaRPr>
          </a:p>
        </p:txBody>
      </p:sp>
      <p:sp>
        <p:nvSpPr>
          <p:cNvPr id="597" name="Google Shape;597;p49"/>
          <p:cNvSpPr txBox="1"/>
          <p:nvPr/>
        </p:nvSpPr>
        <p:spPr>
          <a:xfrm>
            <a:off x="6930379" y="4402613"/>
            <a:ext cx="1055400" cy="3366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Feature</a:t>
            </a:r>
            <a:br>
              <a:rPr lang="en" sz="1100">
                <a:solidFill>
                  <a:schemeClr val="accent2"/>
                </a:solidFill>
                <a:latin typeface="DM Sans Medium"/>
                <a:ea typeface="DM Sans Medium"/>
                <a:cs typeface="DM Sans Medium"/>
                <a:sym typeface="DM Sans Medium"/>
              </a:rPr>
            </a:br>
            <a:r>
              <a:rPr lang="en" sz="1100">
                <a:solidFill>
                  <a:schemeClr val="accent2"/>
                </a:solidFill>
                <a:latin typeface="DM Sans Medium"/>
                <a:ea typeface="DM Sans Medium"/>
                <a:cs typeface="DM Sans Medium"/>
                <a:sym typeface="DM Sans Medium"/>
              </a:rPr>
              <a:t>Serving</a:t>
            </a:r>
            <a:endParaRPr sz="1100">
              <a:solidFill>
                <a:schemeClr val="accent2"/>
              </a:solidFill>
              <a:latin typeface="DM Sans Medium"/>
              <a:ea typeface="DM Sans Medium"/>
              <a:cs typeface="DM Sans Medium"/>
              <a:sym typeface="DM Sans Medium"/>
            </a:endParaRPr>
          </a:p>
        </p:txBody>
      </p:sp>
      <p:sp>
        <p:nvSpPr>
          <p:cNvPr id="598" name="Google Shape;598;p49"/>
          <p:cNvSpPr txBox="1"/>
          <p:nvPr/>
        </p:nvSpPr>
        <p:spPr>
          <a:xfrm>
            <a:off x="8084560" y="3200425"/>
            <a:ext cx="1007100" cy="2286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Model Serving</a:t>
            </a:r>
            <a:r>
              <a:rPr lang="en">
                <a:solidFill>
                  <a:schemeClr val="accent2"/>
                </a:solidFill>
                <a:latin typeface="DM Sans Medium"/>
                <a:ea typeface="DM Sans Medium"/>
                <a:cs typeface="DM Sans Medium"/>
                <a:sym typeface="DM Sans Medium"/>
              </a:rPr>
              <a:t> </a:t>
            </a:r>
            <a:endParaRPr sz="800">
              <a:solidFill>
                <a:schemeClr val="accent2"/>
              </a:solidFill>
              <a:latin typeface="DM Sans Medium"/>
              <a:ea typeface="DM Sans Medium"/>
              <a:cs typeface="DM Sans Medium"/>
              <a:sym typeface="DM Sans Medium"/>
            </a:endParaRPr>
          </a:p>
        </p:txBody>
      </p:sp>
      <p:sp>
        <p:nvSpPr>
          <p:cNvPr id="599" name="Google Shape;599;p49"/>
          <p:cNvSpPr txBox="1"/>
          <p:nvPr/>
        </p:nvSpPr>
        <p:spPr>
          <a:xfrm>
            <a:off x="6930379" y="4964768"/>
            <a:ext cx="1055400" cy="3201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Model Registry </a:t>
            </a:r>
            <a:br>
              <a:rPr lang="en" sz="1100">
                <a:solidFill>
                  <a:schemeClr val="accent2"/>
                </a:solidFill>
                <a:latin typeface="DM Sans Medium"/>
                <a:ea typeface="DM Sans Medium"/>
                <a:cs typeface="DM Sans Medium"/>
                <a:sym typeface="DM Sans Medium"/>
              </a:rPr>
            </a:br>
            <a:r>
              <a:rPr lang="en" sz="900">
                <a:solidFill>
                  <a:schemeClr val="accent2"/>
                </a:solidFill>
                <a:latin typeface="DM Sans Medium"/>
                <a:ea typeface="DM Sans Medium"/>
                <a:cs typeface="DM Sans Medium"/>
                <a:sym typeface="DM Sans Medium"/>
              </a:rPr>
              <a:t>in UC</a:t>
            </a:r>
            <a:endParaRPr i="0" sz="900" u="none" cap="none" strike="noStrike">
              <a:solidFill>
                <a:schemeClr val="accent2"/>
              </a:solidFill>
              <a:latin typeface="DM Sans Medium"/>
              <a:ea typeface="DM Sans Medium"/>
              <a:cs typeface="DM Sans Medium"/>
              <a:sym typeface="DM Sans Medium"/>
            </a:endParaRPr>
          </a:p>
        </p:txBody>
      </p:sp>
      <p:sp>
        <p:nvSpPr>
          <p:cNvPr id="600" name="Google Shape;600;p49"/>
          <p:cNvSpPr txBox="1"/>
          <p:nvPr/>
        </p:nvSpPr>
        <p:spPr>
          <a:xfrm>
            <a:off x="8084560" y="3525562"/>
            <a:ext cx="1007100" cy="2286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AI  Functions</a:t>
            </a:r>
            <a:r>
              <a:rPr baseline="30000" lang="en" sz="1100">
                <a:solidFill>
                  <a:schemeClr val="accent2"/>
                </a:solidFill>
                <a:latin typeface="DM Sans Medium"/>
                <a:ea typeface="DM Sans Medium"/>
                <a:cs typeface="DM Sans Medium"/>
                <a:sym typeface="DM Sans Medium"/>
              </a:rPr>
              <a:t>#</a:t>
            </a:r>
            <a:endParaRPr baseline="30000" i="0" sz="1100" u="none" cap="none" strike="noStrike">
              <a:solidFill>
                <a:schemeClr val="accent2"/>
              </a:solidFill>
              <a:latin typeface="DM Sans Medium"/>
              <a:ea typeface="DM Sans Medium"/>
              <a:cs typeface="DM Sans Medium"/>
              <a:sym typeface="DM Sans Medium"/>
            </a:endParaRPr>
          </a:p>
        </p:txBody>
      </p:sp>
      <p:sp>
        <p:nvSpPr>
          <p:cNvPr id="601" name="Google Shape;601;p49"/>
          <p:cNvSpPr txBox="1"/>
          <p:nvPr/>
        </p:nvSpPr>
        <p:spPr>
          <a:xfrm>
            <a:off x="4600056" y="3200425"/>
            <a:ext cx="1055400" cy="2286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AutoML</a:t>
            </a:r>
            <a:endParaRPr i="0" sz="1100" u="none" cap="none" strike="noStrike">
              <a:solidFill>
                <a:schemeClr val="accent2"/>
              </a:solidFill>
              <a:latin typeface="DM Sans Medium"/>
              <a:ea typeface="DM Sans Medium"/>
              <a:cs typeface="DM Sans Medium"/>
              <a:sym typeface="DM Sans Medium"/>
            </a:endParaRPr>
          </a:p>
        </p:txBody>
      </p:sp>
      <p:sp>
        <p:nvSpPr>
          <p:cNvPr id="602" name="Google Shape;602;p49"/>
          <p:cNvSpPr txBox="1"/>
          <p:nvPr/>
        </p:nvSpPr>
        <p:spPr>
          <a:xfrm>
            <a:off x="4600048" y="1723050"/>
            <a:ext cx="4593000" cy="3366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b="1" lang="en" sz="1600">
                <a:solidFill>
                  <a:schemeClr val="accent1"/>
                </a:solidFill>
                <a:latin typeface="DM Sans"/>
                <a:ea typeface="DM Sans"/>
                <a:cs typeface="DM Sans"/>
                <a:sym typeface="DM Sans"/>
              </a:rPr>
              <a:t>Mosaic AI specific capabilities</a:t>
            </a:r>
            <a:endParaRPr b="1" i="0" sz="1600" u="none" cap="none" strike="noStrike">
              <a:solidFill>
                <a:schemeClr val="accent1"/>
              </a:solidFill>
              <a:latin typeface="DM Sans"/>
              <a:ea typeface="DM Sans"/>
              <a:cs typeface="DM Sans"/>
              <a:sym typeface="DM Sans"/>
            </a:endParaRPr>
          </a:p>
        </p:txBody>
      </p:sp>
      <p:sp>
        <p:nvSpPr>
          <p:cNvPr id="603" name="Google Shape;603;p49"/>
          <p:cNvSpPr txBox="1"/>
          <p:nvPr/>
        </p:nvSpPr>
        <p:spPr>
          <a:xfrm>
            <a:off x="4600056" y="3525556"/>
            <a:ext cx="1055400" cy="2286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MLflow</a:t>
            </a:r>
            <a:endParaRPr i="0" sz="1100" u="none" cap="none" strike="noStrike">
              <a:solidFill>
                <a:schemeClr val="accent2"/>
              </a:solidFill>
              <a:latin typeface="DM Sans Medium"/>
              <a:ea typeface="DM Sans Medium"/>
              <a:cs typeface="DM Sans Medium"/>
              <a:sym typeface="DM Sans Medium"/>
            </a:endParaRPr>
          </a:p>
        </p:txBody>
      </p:sp>
      <p:sp>
        <p:nvSpPr>
          <p:cNvPr id="604" name="Google Shape;604;p49"/>
          <p:cNvSpPr txBox="1"/>
          <p:nvPr/>
        </p:nvSpPr>
        <p:spPr>
          <a:xfrm>
            <a:off x="8084548" y="4964774"/>
            <a:ext cx="1007100" cy="3201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Feature Store</a:t>
            </a:r>
            <a:br>
              <a:rPr lang="en" sz="1100">
                <a:solidFill>
                  <a:schemeClr val="accent2"/>
                </a:solidFill>
                <a:latin typeface="DM Sans Medium"/>
                <a:ea typeface="DM Sans Medium"/>
                <a:cs typeface="DM Sans Medium"/>
                <a:sym typeface="DM Sans Medium"/>
              </a:rPr>
            </a:br>
            <a:r>
              <a:rPr lang="en" sz="900">
                <a:solidFill>
                  <a:schemeClr val="accent2"/>
                </a:solidFill>
                <a:latin typeface="DM Sans Medium"/>
                <a:ea typeface="DM Sans Medium"/>
                <a:cs typeface="DM Sans Medium"/>
                <a:sym typeface="DM Sans Medium"/>
              </a:rPr>
              <a:t>in UC</a:t>
            </a:r>
            <a:endParaRPr i="0" sz="900" u="none" cap="none" strike="noStrike">
              <a:solidFill>
                <a:schemeClr val="accent2"/>
              </a:solidFill>
              <a:latin typeface="DM Sans Medium"/>
              <a:ea typeface="DM Sans Medium"/>
              <a:cs typeface="DM Sans Medium"/>
              <a:sym typeface="DM Sans Medium"/>
            </a:endParaRPr>
          </a:p>
        </p:txBody>
      </p:sp>
      <p:sp>
        <p:nvSpPr>
          <p:cNvPr id="605" name="Google Shape;605;p49"/>
          <p:cNvSpPr txBox="1"/>
          <p:nvPr/>
        </p:nvSpPr>
        <p:spPr>
          <a:xfrm>
            <a:off x="4600056" y="3838635"/>
            <a:ext cx="1055400" cy="3384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Agent Framework</a:t>
            </a:r>
            <a:endParaRPr sz="1100">
              <a:solidFill>
                <a:schemeClr val="accent2"/>
              </a:solidFill>
              <a:latin typeface="DM Sans Medium"/>
              <a:ea typeface="DM Sans Medium"/>
              <a:cs typeface="DM Sans Medium"/>
              <a:sym typeface="DM Sans Medium"/>
            </a:endParaRPr>
          </a:p>
        </p:txBody>
      </p:sp>
      <p:sp>
        <p:nvSpPr>
          <p:cNvPr id="606" name="Google Shape;606;p49"/>
          <p:cNvSpPr txBox="1"/>
          <p:nvPr/>
        </p:nvSpPr>
        <p:spPr>
          <a:xfrm>
            <a:off x="5749388" y="3525556"/>
            <a:ext cx="1055400" cy="2286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Model Training</a:t>
            </a:r>
            <a:endParaRPr i="0" sz="1100" u="none" cap="none" strike="noStrike">
              <a:solidFill>
                <a:schemeClr val="accent2"/>
              </a:solidFill>
              <a:latin typeface="DM Sans Medium"/>
              <a:ea typeface="DM Sans Medium"/>
              <a:cs typeface="DM Sans Medium"/>
              <a:sym typeface="DM Sans Medium"/>
            </a:endParaRPr>
          </a:p>
        </p:txBody>
      </p:sp>
      <p:pic>
        <p:nvPicPr>
          <p:cNvPr id="607" name="Google Shape;607;p49"/>
          <p:cNvPicPr preferRelativeResize="0"/>
          <p:nvPr/>
        </p:nvPicPr>
        <p:blipFill>
          <a:blip r:embed="rId3">
            <a:alphaModFix/>
          </a:blip>
          <a:stretch>
            <a:fillRect/>
          </a:stretch>
        </p:blipFill>
        <p:spPr>
          <a:xfrm>
            <a:off x="10618582" y="3299689"/>
            <a:ext cx="375788" cy="381000"/>
          </a:xfrm>
          <a:prstGeom prst="rect">
            <a:avLst/>
          </a:prstGeom>
          <a:noFill/>
          <a:ln>
            <a:noFill/>
          </a:ln>
        </p:spPr>
      </p:pic>
      <p:sp>
        <p:nvSpPr>
          <p:cNvPr id="608" name="Google Shape;608;p49"/>
          <p:cNvSpPr txBox="1"/>
          <p:nvPr/>
        </p:nvSpPr>
        <p:spPr>
          <a:xfrm>
            <a:off x="10405366" y="3698839"/>
            <a:ext cx="8022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rgbClr val="1B5162"/>
                </a:solidFill>
                <a:latin typeface="DM Sans Medium"/>
                <a:ea typeface="DM Sans Medium"/>
                <a:cs typeface="DM Sans Medium"/>
                <a:sym typeface="DM Sans Medium"/>
              </a:rPr>
              <a:t>OpenAI</a:t>
            </a:r>
            <a:endParaRPr sz="1000">
              <a:solidFill>
                <a:srgbClr val="1B5162"/>
              </a:solidFill>
              <a:latin typeface="DM Sans Medium"/>
              <a:ea typeface="DM Sans Medium"/>
              <a:cs typeface="DM Sans Medium"/>
              <a:sym typeface="DM Sans Medium"/>
            </a:endParaRPr>
          </a:p>
        </p:txBody>
      </p:sp>
      <p:sp>
        <p:nvSpPr>
          <p:cNvPr id="609" name="Google Shape;609;p49"/>
          <p:cNvSpPr txBox="1"/>
          <p:nvPr/>
        </p:nvSpPr>
        <p:spPr>
          <a:xfrm>
            <a:off x="10628757" y="3846735"/>
            <a:ext cx="4605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rgbClr val="1B5162"/>
                </a:solidFill>
                <a:latin typeface="DM Sans Medium"/>
                <a:ea typeface="DM Sans Medium"/>
                <a:cs typeface="DM Sans Medium"/>
                <a:sym typeface="DM Sans Medium"/>
              </a:rPr>
              <a:t>…</a:t>
            </a:r>
            <a:endParaRPr sz="1600">
              <a:solidFill>
                <a:srgbClr val="1B5162"/>
              </a:solidFill>
              <a:latin typeface="DM Sans Medium"/>
              <a:ea typeface="DM Sans Medium"/>
              <a:cs typeface="DM Sans Medium"/>
              <a:sym typeface="DM Sans Medium"/>
            </a:endParaRPr>
          </a:p>
        </p:txBody>
      </p:sp>
      <p:sp>
        <p:nvSpPr>
          <p:cNvPr id="610" name="Google Shape;610;p49"/>
          <p:cNvSpPr txBox="1"/>
          <p:nvPr/>
        </p:nvSpPr>
        <p:spPr>
          <a:xfrm>
            <a:off x="9813252" y="3696437"/>
            <a:ext cx="8022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rgbClr val="1B5162"/>
                </a:solidFill>
                <a:latin typeface="DM Sans Medium"/>
                <a:ea typeface="DM Sans Medium"/>
                <a:cs typeface="DM Sans Medium"/>
                <a:sym typeface="DM Sans Medium"/>
              </a:rPr>
              <a:t>Hugging</a:t>
            </a:r>
            <a:br>
              <a:rPr lang="en" sz="1000">
                <a:solidFill>
                  <a:srgbClr val="1B5162"/>
                </a:solidFill>
                <a:latin typeface="DM Sans Medium"/>
                <a:ea typeface="DM Sans Medium"/>
                <a:cs typeface="DM Sans Medium"/>
                <a:sym typeface="DM Sans Medium"/>
              </a:rPr>
            </a:br>
            <a:r>
              <a:rPr lang="en" sz="1000">
                <a:solidFill>
                  <a:srgbClr val="1B5162"/>
                </a:solidFill>
                <a:latin typeface="DM Sans Medium"/>
                <a:ea typeface="DM Sans Medium"/>
                <a:cs typeface="DM Sans Medium"/>
                <a:sym typeface="DM Sans Medium"/>
              </a:rPr>
              <a:t>Face</a:t>
            </a:r>
            <a:endParaRPr sz="1000">
              <a:solidFill>
                <a:srgbClr val="1B5162"/>
              </a:solidFill>
              <a:latin typeface="DM Sans Medium"/>
              <a:ea typeface="DM Sans Medium"/>
              <a:cs typeface="DM Sans Medium"/>
              <a:sym typeface="DM Sans Medium"/>
            </a:endParaRPr>
          </a:p>
        </p:txBody>
      </p:sp>
      <p:pic>
        <p:nvPicPr>
          <p:cNvPr id="611" name="Google Shape;611;p49"/>
          <p:cNvPicPr preferRelativeResize="0"/>
          <p:nvPr/>
        </p:nvPicPr>
        <p:blipFill>
          <a:blip r:embed="rId4">
            <a:alphaModFix/>
          </a:blip>
          <a:stretch>
            <a:fillRect/>
          </a:stretch>
        </p:blipFill>
        <p:spPr>
          <a:xfrm>
            <a:off x="10010721" y="3299710"/>
            <a:ext cx="407254" cy="381000"/>
          </a:xfrm>
          <a:prstGeom prst="rect">
            <a:avLst/>
          </a:prstGeom>
          <a:noFill/>
          <a:ln>
            <a:noFill/>
          </a:ln>
        </p:spPr>
      </p:pic>
      <p:sp>
        <p:nvSpPr>
          <p:cNvPr id="612" name="Google Shape;612;p49"/>
          <p:cNvSpPr txBox="1"/>
          <p:nvPr/>
        </p:nvSpPr>
        <p:spPr>
          <a:xfrm>
            <a:off x="8084561" y="3838635"/>
            <a:ext cx="1007100" cy="3384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Databricks Apps</a:t>
            </a:r>
            <a:endParaRPr i="0" sz="1100" u="none" cap="none" strike="noStrike">
              <a:solidFill>
                <a:schemeClr val="accent2"/>
              </a:solidFill>
              <a:latin typeface="DM Sans Medium"/>
              <a:ea typeface="DM Sans Medium"/>
              <a:cs typeface="DM Sans Medium"/>
              <a:sym typeface="DM Sans Medium"/>
            </a:endParaRPr>
          </a:p>
        </p:txBody>
      </p:sp>
      <p:sp>
        <p:nvSpPr>
          <p:cNvPr id="613" name="Google Shape;613;p49"/>
          <p:cNvSpPr txBox="1"/>
          <p:nvPr/>
        </p:nvSpPr>
        <p:spPr>
          <a:xfrm>
            <a:off x="5742538" y="3200425"/>
            <a:ext cx="1055400" cy="2286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AI Playground</a:t>
            </a:r>
            <a:endParaRPr i="0" sz="1100" u="none" cap="none" strike="noStrike">
              <a:solidFill>
                <a:schemeClr val="accent2"/>
              </a:solidFill>
              <a:latin typeface="DM Sans Medium"/>
              <a:ea typeface="DM Sans Medium"/>
              <a:cs typeface="DM Sans Medium"/>
              <a:sym typeface="DM Sans Medium"/>
            </a:endParaRPr>
          </a:p>
        </p:txBody>
      </p:sp>
      <p:sp>
        <p:nvSpPr>
          <p:cNvPr id="614" name="Google Shape;614;p49"/>
          <p:cNvSpPr txBox="1"/>
          <p:nvPr/>
        </p:nvSpPr>
        <p:spPr>
          <a:xfrm>
            <a:off x="6930379" y="5341842"/>
            <a:ext cx="1055400" cy="3201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Tools Catalog </a:t>
            </a:r>
            <a:br>
              <a:rPr lang="en" sz="1100">
                <a:solidFill>
                  <a:schemeClr val="accent2"/>
                </a:solidFill>
                <a:latin typeface="DM Sans Medium"/>
                <a:ea typeface="DM Sans Medium"/>
                <a:cs typeface="DM Sans Medium"/>
                <a:sym typeface="DM Sans Medium"/>
              </a:rPr>
            </a:br>
            <a:r>
              <a:rPr lang="en" sz="900">
                <a:solidFill>
                  <a:schemeClr val="accent2"/>
                </a:solidFill>
                <a:latin typeface="DM Sans Medium"/>
                <a:ea typeface="DM Sans Medium"/>
                <a:cs typeface="DM Sans Medium"/>
                <a:sym typeface="DM Sans Medium"/>
              </a:rPr>
              <a:t>in UC</a:t>
            </a:r>
            <a:endParaRPr i="0" sz="900" u="none" cap="none" strike="noStrike">
              <a:solidFill>
                <a:schemeClr val="accent2"/>
              </a:solidFill>
              <a:latin typeface="DM Sans Medium"/>
              <a:ea typeface="DM Sans Medium"/>
              <a:cs typeface="DM Sans Medium"/>
              <a:sym typeface="DM Sans Medium"/>
            </a:endParaRPr>
          </a:p>
        </p:txBody>
      </p:sp>
      <p:sp>
        <p:nvSpPr>
          <p:cNvPr id="615" name="Google Shape;615;p49"/>
          <p:cNvSpPr txBox="1"/>
          <p:nvPr/>
        </p:nvSpPr>
        <p:spPr>
          <a:xfrm>
            <a:off x="5749383" y="4402613"/>
            <a:ext cx="1055400" cy="3201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Function Serving</a:t>
            </a:r>
            <a:endParaRPr sz="1100">
              <a:solidFill>
                <a:schemeClr val="accent2"/>
              </a:solidFill>
              <a:latin typeface="DM Sans Medium"/>
              <a:ea typeface="DM Sans Medium"/>
              <a:cs typeface="DM Sans Medium"/>
              <a:sym typeface="DM Sans Medium"/>
            </a:endParaRPr>
          </a:p>
        </p:txBody>
      </p:sp>
      <p:sp>
        <p:nvSpPr>
          <p:cNvPr id="616" name="Google Shape;616;p49"/>
          <p:cNvSpPr txBox="1"/>
          <p:nvPr/>
        </p:nvSpPr>
        <p:spPr>
          <a:xfrm>
            <a:off x="2308450" y="5906503"/>
            <a:ext cx="984900" cy="3201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ctr" bIns="34275" lIns="0" spcFirstLastPara="1" rIns="0" wrap="square" tIns="34275">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1"/>
                </a:solidFill>
                <a:latin typeface="DM Sans Medium"/>
                <a:ea typeface="DM Sans Medium"/>
                <a:cs typeface="DM Sans Medium"/>
                <a:sym typeface="DM Sans Medium"/>
              </a:rPr>
              <a:t>Files/Volumes </a:t>
            </a:r>
            <a:r>
              <a:rPr lang="en" sz="1000">
                <a:solidFill>
                  <a:schemeClr val="accent1"/>
                </a:solidFill>
                <a:latin typeface="DM Sans Medium"/>
                <a:ea typeface="DM Sans Medium"/>
                <a:cs typeface="DM Sans Medium"/>
                <a:sym typeface="DM Sans Medium"/>
              </a:rPr>
              <a:t>(unstructured)</a:t>
            </a:r>
            <a:endParaRPr i="0" sz="1000" u="none" cap="none" strike="noStrike">
              <a:solidFill>
                <a:schemeClr val="accent1"/>
              </a:solidFill>
              <a:latin typeface="DM Sans Medium"/>
              <a:ea typeface="DM Sans Medium"/>
              <a:cs typeface="DM Sans Medium"/>
              <a:sym typeface="DM Sans Medium"/>
            </a:endParaRPr>
          </a:p>
        </p:txBody>
      </p:sp>
      <p:sp>
        <p:nvSpPr>
          <p:cNvPr id="617" name="Google Shape;617;p49"/>
          <p:cNvSpPr txBox="1"/>
          <p:nvPr/>
        </p:nvSpPr>
        <p:spPr>
          <a:xfrm>
            <a:off x="1249081" y="5341842"/>
            <a:ext cx="984900" cy="3201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1"/>
                </a:solidFill>
                <a:latin typeface="DM Sans Medium"/>
                <a:ea typeface="DM Sans Medium"/>
                <a:cs typeface="DM Sans Medium"/>
                <a:sym typeface="DM Sans Medium"/>
              </a:rPr>
              <a:t>Delta Sharing</a:t>
            </a:r>
            <a:endParaRPr i="0" sz="1100" u="none" cap="none" strike="noStrike">
              <a:solidFill>
                <a:schemeClr val="accent1"/>
              </a:solidFill>
              <a:latin typeface="DM Sans Medium"/>
              <a:ea typeface="DM Sans Medium"/>
              <a:cs typeface="DM Sans Medium"/>
              <a:sym typeface="DM Sans Medium"/>
            </a:endParaRPr>
          </a:p>
        </p:txBody>
      </p:sp>
      <p:sp>
        <p:nvSpPr>
          <p:cNvPr id="618" name="Google Shape;618;p49"/>
          <p:cNvSpPr txBox="1"/>
          <p:nvPr/>
        </p:nvSpPr>
        <p:spPr>
          <a:xfrm>
            <a:off x="8084548" y="5341849"/>
            <a:ext cx="1007100" cy="3201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Models </a:t>
            </a:r>
            <a:br>
              <a:rPr lang="en" sz="1100">
                <a:solidFill>
                  <a:schemeClr val="accent2"/>
                </a:solidFill>
                <a:latin typeface="DM Sans Medium"/>
                <a:ea typeface="DM Sans Medium"/>
                <a:cs typeface="DM Sans Medium"/>
                <a:sym typeface="DM Sans Medium"/>
              </a:rPr>
            </a:br>
            <a:r>
              <a:rPr lang="en" sz="900">
                <a:solidFill>
                  <a:schemeClr val="accent2"/>
                </a:solidFill>
                <a:latin typeface="DM Sans Medium"/>
                <a:ea typeface="DM Sans Medium"/>
                <a:cs typeface="DM Sans Medium"/>
                <a:sym typeface="DM Sans Medium"/>
              </a:rPr>
              <a:t>in Marketplace</a:t>
            </a:r>
            <a:endParaRPr sz="900">
              <a:solidFill>
                <a:schemeClr val="accent2"/>
              </a:solidFill>
              <a:latin typeface="DM Sans Medium"/>
              <a:ea typeface="DM Sans Medium"/>
              <a:cs typeface="DM Sans Medium"/>
              <a:sym typeface="DM Sans Medium"/>
            </a:endParaRPr>
          </a:p>
        </p:txBody>
      </p:sp>
      <p:sp>
        <p:nvSpPr>
          <p:cNvPr id="619" name="Google Shape;619;p49"/>
          <p:cNvSpPr txBox="1"/>
          <p:nvPr/>
        </p:nvSpPr>
        <p:spPr>
          <a:xfrm>
            <a:off x="7922125" y="6454150"/>
            <a:ext cx="1910100" cy="323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aseline="30000" lang="en" sz="1000">
                <a:solidFill>
                  <a:schemeClr val="accent1"/>
                </a:solidFill>
                <a:latin typeface="DM Sans"/>
                <a:ea typeface="DM Sans"/>
                <a:cs typeface="DM Sans"/>
                <a:sym typeface="DM Sans"/>
              </a:rPr>
              <a:t>#</a:t>
            </a:r>
            <a:r>
              <a:rPr lang="en" sz="1000">
                <a:solidFill>
                  <a:schemeClr val="accent1"/>
                </a:solidFill>
                <a:latin typeface="DM Sans"/>
                <a:ea typeface="DM Sans"/>
                <a:cs typeface="DM Sans"/>
                <a:sym typeface="DM Sans"/>
              </a:rPr>
              <a:t> Calling models from SQL</a:t>
            </a:r>
            <a:endParaRPr sz="1000">
              <a:solidFill>
                <a:schemeClr val="accent1"/>
              </a:solidFill>
              <a:latin typeface="DM Sans"/>
              <a:ea typeface="DM Sans"/>
              <a:cs typeface="DM Sans"/>
              <a:sym typeface="DM Sans"/>
            </a:endParaRPr>
          </a:p>
        </p:txBody>
      </p:sp>
      <p:sp>
        <p:nvSpPr>
          <p:cNvPr id="620" name="Google Shape;620;p49"/>
          <p:cNvSpPr txBox="1"/>
          <p:nvPr/>
        </p:nvSpPr>
        <p:spPr>
          <a:xfrm>
            <a:off x="2308450" y="3200425"/>
            <a:ext cx="984900" cy="2286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100">
                <a:solidFill>
                  <a:schemeClr val="accent1"/>
                </a:solidFill>
                <a:latin typeface="DM Sans Medium"/>
                <a:ea typeface="DM Sans Medium"/>
                <a:cs typeface="DM Sans Medium"/>
                <a:sym typeface="DM Sans Medium"/>
              </a:rPr>
              <a:t>SQL</a:t>
            </a:r>
            <a:endParaRPr i="0" sz="1100" u="none" cap="none" strike="noStrike">
              <a:solidFill>
                <a:schemeClr val="accent1"/>
              </a:solidFill>
              <a:latin typeface="DM Sans Medium"/>
              <a:ea typeface="DM Sans Medium"/>
              <a:cs typeface="DM Sans Medium"/>
              <a:sym typeface="DM Sans Medium"/>
            </a:endParaRPr>
          </a:p>
        </p:txBody>
      </p:sp>
      <p:sp>
        <p:nvSpPr>
          <p:cNvPr id="621" name="Google Shape;621;p49"/>
          <p:cNvSpPr txBox="1"/>
          <p:nvPr/>
        </p:nvSpPr>
        <p:spPr>
          <a:xfrm>
            <a:off x="5749383" y="3838635"/>
            <a:ext cx="1055400" cy="3384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Agent Evaluation</a:t>
            </a:r>
            <a:endParaRPr sz="1100">
              <a:solidFill>
                <a:schemeClr val="accent2"/>
              </a:solidFill>
              <a:latin typeface="DM Sans Medium"/>
              <a:ea typeface="DM Sans Medium"/>
              <a:cs typeface="DM Sans Medium"/>
              <a:sym typeface="DM Sans Medium"/>
            </a:endParaRPr>
          </a:p>
        </p:txBody>
      </p:sp>
      <p:sp>
        <p:nvSpPr>
          <p:cNvPr id="622" name="Google Shape;622;p49"/>
          <p:cNvSpPr txBox="1"/>
          <p:nvPr/>
        </p:nvSpPr>
        <p:spPr>
          <a:xfrm>
            <a:off x="7040179" y="3200425"/>
            <a:ext cx="945600" cy="2286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AI  Gateway</a:t>
            </a:r>
            <a:r>
              <a:rPr lang="en">
                <a:solidFill>
                  <a:schemeClr val="accent2"/>
                </a:solidFill>
                <a:latin typeface="DM Sans Medium"/>
                <a:ea typeface="DM Sans Medium"/>
                <a:cs typeface="DM Sans Medium"/>
                <a:sym typeface="DM Sans Medium"/>
              </a:rPr>
              <a:t> </a:t>
            </a:r>
            <a:endParaRPr sz="800">
              <a:solidFill>
                <a:schemeClr val="accent2"/>
              </a:solidFill>
              <a:latin typeface="DM Sans Medium"/>
              <a:ea typeface="DM Sans Medium"/>
              <a:cs typeface="DM Sans Medium"/>
              <a:sym typeface="DM Sans Medium"/>
            </a:endParaRPr>
          </a:p>
        </p:txBody>
      </p:sp>
      <p:sp>
        <p:nvSpPr>
          <p:cNvPr id="623" name="Google Shape;623;p49"/>
          <p:cNvSpPr txBox="1"/>
          <p:nvPr/>
        </p:nvSpPr>
        <p:spPr>
          <a:xfrm>
            <a:off x="7040179" y="3525549"/>
            <a:ext cx="945600" cy="2286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Workflows</a:t>
            </a:r>
            <a:endParaRPr i="0" sz="1100" u="none" cap="none" strike="noStrike">
              <a:solidFill>
                <a:schemeClr val="accent2"/>
              </a:solidFill>
              <a:latin typeface="DM Sans Medium"/>
              <a:ea typeface="DM Sans Medium"/>
              <a:cs typeface="DM Sans Medium"/>
              <a:sym typeface="DM Sans Medium"/>
            </a:endParaRPr>
          </a:p>
        </p:txBody>
      </p:sp>
      <p:pic>
        <p:nvPicPr>
          <p:cNvPr id="624" name="Google Shape;624;p49"/>
          <p:cNvPicPr preferRelativeResize="0"/>
          <p:nvPr/>
        </p:nvPicPr>
        <p:blipFill>
          <a:blip r:embed="rId5">
            <a:alphaModFix/>
          </a:blip>
          <a:stretch>
            <a:fillRect/>
          </a:stretch>
        </p:blipFill>
        <p:spPr>
          <a:xfrm>
            <a:off x="11239985" y="3363463"/>
            <a:ext cx="390375" cy="253464"/>
          </a:xfrm>
          <a:prstGeom prst="rect">
            <a:avLst/>
          </a:prstGeom>
          <a:noFill/>
          <a:ln>
            <a:noFill/>
          </a:ln>
        </p:spPr>
      </p:pic>
      <p:sp>
        <p:nvSpPr>
          <p:cNvPr id="625" name="Google Shape;625;p49"/>
          <p:cNvSpPr txBox="1"/>
          <p:nvPr/>
        </p:nvSpPr>
        <p:spPr>
          <a:xfrm>
            <a:off x="11037482" y="3698839"/>
            <a:ext cx="8022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rgbClr val="1B5162"/>
                </a:solidFill>
                <a:latin typeface="DM Sans Medium"/>
                <a:ea typeface="DM Sans Medium"/>
                <a:cs typeface="DM Sans Medium"/>
                <a:sym typeface="DM Sans Medium"/>
              </a:rPr>
              <a:t>LangChain</a:t>
            </a:r>
            <a:endParaRPr sz="1000">
              <a:solidFill>
                <a:srgbClr val="1B5162"/>
              </a:solidFill>
              <a:latin typeface="DM Sans Medium"/>
              <a:ea typeface="DM Sans Medium"/>
              <a:cs typeface="DM Sans Medium"/>
              <a:sym typeface="DM Sans Medium"/>
            </a:endParaRPr>
          </a:p>
        </p:txBody>
      </p:sp>
      <p:sp>
        <p:nvSpPr>
          <p:cNvPr id="626" name="Google Shape;626;p49"/>
          <p:cNvSpPr txBox="1"/>
          <p:nvPr/>
        </p:nvSpPr>
        <p:spPr>
          <a:xfrm>
            <a:off x="1249075" y="3830348"/>
            <a:ext cx="984900" cy="320100"/>
          </a:xfrm>
          <a:prstGeom prst="rect">
            <a:avLst/>
          </a:prstGeom>
          <a:solidFill>
            <a:srgbClr val="EFEFEF"/>
          </a:solidFill>
          <a:ln cap="flat" cmpd="sng" w="9525">
            <a:solidFill>
              <a:srgbClr val="1B516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rgbClr val="1B5162"/>
                </a:solidFill>
                <a:latin typeface="DM Sans Medium"/>
                <a:ea typeface="DM Sans Medium"/>
                <a:cs typeface="DM Sans Medium"/>
                <a:sym typeface="DM Sans Medium"/>
              </a:rPr>
              <a:t>Lakeflow Connect</a:t>
            </a:r>
            <a:endParaRPr i="0" sz="1100" u="none" cap="none" strike="noStrike">
              <a:solidFill>
                <a:srgbClr val="1B5162"/>
              </a:solidFill>
              <a:latin typeface="DM Sans Medium"/>
              <a:ea typeface="DM Sans Medium"/>
              <a:cs typeface="DM Sans Medium"/>
              <a:sym typeface="DM Sans Medium"/>
            </a:endParaRPr>
          </a:p>
        </p:txBody>
      </p:sp>
      <p:sp>
        <p:nvSpPr>
          <p:cNvPr id="627" name="Google Shape;627;p49"/>
          <p:cNvSpPr txBox="1"/>
          <p:nvPr/>
        </p:nvSpPr>
        <p:spPr>
          <a:xfrm>
            <a:off x="7045350" y="3838625"/>
            <a:ext cx="945600" cy="3384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Batch Inference</a:t>
            </a:r>
            <a:endParaRPr i="0" sz="1100" u="none" cap="none" strike="noStrike">
              <a:solidFill>
                <a:schemeClr val="accent2"/>
              </a:solidFill>
              <a:latin typeface="DM Sans Medium"/>
              <a:ea typeface="DM Sans Medium"/>
              <a:cs typeface="DM Sans Medium"/>
              <a:sym typeface="DM Sans Medium"/>
            </a:endParaRPr>
          </a:p>
        </p:txBody>
      </p:sp>
      <p:sp>
        <p:nvSpPr>
          <p:cNvPr id="628" name="Google Shape;628;p49"/>
          <p:cNvSpPr txBox="1"/>
          <p:nvPr/>
        </p:nvSpPr>
        <p:spPr>
          <a:xfrm>
            <a:off x="3528075" y="3838625"/>
            <a:ext cx="984900" cy="338400"/>
          </a:xfrm>
          <a:prstGeom prst="rect">
            <a:avLst/>
          </a:prstGeom>
          <a:solidFill>
            <a:srgbClr val="D9EAD3">
              <a:alpha val="66460"/>
            </a:srgbClr>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90000"/>
              </a:lnSpc>
              <a:spcBef>
                <a:spcPts val="0"/>
              </a:spcBef>
              <a:spcAft>
                <a:spcPts val="0"/>
              </a:spcAft>
              <a:buClr>
                <a:srgbClr val="000000"/>
              </a:buClr>
              <a:buSzPts val="1100"/>
              <a:buFont typeface="Arial"/>
              <a:buNone/>
            </a:pPr>
            <a:r>
              <a:rPr lang="en" sz="1100">
                <a:solidFill>
                  <a:schemeClr val="accent2"/>
                </a:solidFill>
                <a:latin typeface="DM Sans Medium"/>
                <a:ea typeface="DM Sans Medium"/>
                <a:cs typeface="DM Sans Medium"/>
                <a:sym typeface="DM Sans Medium"/>
              </a:rPr>
              <a:t>Agent </a:t>
            </a:r>
            <a:br>
              <a:rPr lang="en" sz="1100">
                <a:solidFill>
                  <a:schemeClr val="accent2"/>
                </a:solidFill>
                <a:latin typeface="DM Sans Medium"/>
                <a:ea typeface="DM Sans Medium"/>
                <a:cs typeface="DM Sans Medium"/>
                <a:sym typeface="DM Sans Medium"/>
              </a:rPr>
            </a:br>
            <a:r>
              <a:rPr lang="en" sz="1100">
                <a:solidFill>
                  <a:schemeClr val="accent2"/>
                </a:solidFill>
                <a:latin typeface="DM Sans Medium"/>
                <a:ea typeface="DM Sans Medium"/>
                <a:cs typeface="DM Sans Medium"/>
                <a:sym typeface="DM Sans Medium"/>
              </a:rPr>
              <a:t>Bricks</a:t>
            </a:r>
            <a:endParaRPr sz="1100">
              <a:solidFill>
                <a:schemeClr val="accent2"/>
              </a:solidFill>
              <a:latin typeface="DM Sans Medium"/>
              <a:ea typeface="DM Sans Medium"/>
              <a:cs typeface="DM Sans Medium"/>
              <a:sym typeface="DM Sans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50"/>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634" name="Google Shape;634;p50"/>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Reference Architectures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51"/>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640" name="Google Shape;640;p51"/>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Resources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4" name="Shape 644"/>
        <p:cNvGrpSpPr/>
        <p:nvPr/>
      </p:nvGrpSpPr>
      <p:grpSpPr>
        <a:xfrm>
          <a:off x="0" y="0"/>
          <a:ext cx="0" cy="0"/>
          <a:chOff x="0" y="0"/>
          <a:chExt cx="0" cy="0"/>
        </a:xfrm>
      </p:grpSpPr>
      <p:sp>
        <p:nvSpPr>
          <p:cNvPr id="645" name="Google Shape;645;p52"/>
          <p:cNvSpPr/>
          <p:nvPr/>
        </p:nvSpPr>
        <p:spPr>
          <a:xfrm>
            <a:off x="4664825" y="1368050"/>
            <a:ext cx="5601300" cy="28167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grpSp>
        <p:nvGrpSpPr>
          <p:cNvPr id="646" name="Google Shape;646;p52"/>
          <p:cNvGrpSpPr/>
          <p:nvPr/>
        </p:nvGrpSpPr>
        <p:grpSpPr>
          <a:xfrm rot="-5400000">
            <a:off x="8118194" y="4175940"/>
            <a:ext cx="198576" cy="208513"/>
            <a:chOff x="3295749" y="3922446"/>
            <a:chExt cx="198576" cy="208513"/>
          </a:xfrm>
        </p:grpSpPr>
        <p:sp>
          <p:nvSpPr>
            <p:cNvPr id="647" name="Google Shape;647;p52"/>
            <p:cNvSpPr/>
            <p:nvPr/>
          </p:nvSpPr>
          <p:spPr>
            <a:xfrm>
              <a:off x="3391125" y="3922446"/>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648" name="Google Shape;648;p52"/>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649" name="Google Shape;649;p52"/>
          <p:cNvSpPr/>
          <p:nvPr/>
        </p:nvSpPr>
        <p:spPr>
          <a:xfrm>
            <a:off x="8177450" y="4282646"/>
            <a:ext cx="796500" cy="1227000"/>
          </a:xfrm>
          <a:prstGeom prst="roundRect">
            <a:avLst>
              <a:gd fmla="val 8407"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rtl="0" algn="ctr">
              <a:lnSpc>
                <a:spcPct val="90000"/>
              </a:lnSpc>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Operat. DB</a:t>
            </a:r>
            <a:endParaRPr sz="1100">
              <a:solidFill>
                <a:schemeClr val="accent5"/>
              </a:solidFill>
              <a:latin typeface="DM Sans Medium"/>
              <a:ea typeface="DM Sans Medium"/>
              <a:cs typeface="DM Sans Medium"/>
              <a:sym typeface="DM Sans Medium"/>
            </a:endParaRPr>
          </a:p>
        </p:txBody>
      </p:sp>
      <p:sp>
        <p:nvSpPr>
          <p:cNvPr id="650" name="Google Shape;650;p52"/>
          <p:cNvSpPr/>
          <p:nvPr/>
        </p:nvSpPr>
        <p:spPr>
          <a:xfrm>
            <a:off x="836750" y="4275513"/>
            <a:ext cx="932400" cy="810300"/>
          </a:xfrm>
          <a:prstGeom prst="roundRect">
            <a:avLst>
              <a:gd fmla="val 9540"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651" name="Google Shape;651;p52"/>
          <p:cNvSpPr/>
          <p:nvPr/>
        </p:nvSpPr>
        <p:spPr>
          <a:xfrm>
            <a:off x="834550" y="1368050"/>
            <a:ext cx="932400" cy="2858100"/>
          </a:xfrm>
          <a:prstGeom prst="roundRect">
            <a:avLst>
              <a:gd fmla="val 7292"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652" name="Google Shape;652;p52"/>
          <p:cNvSpPr/>
          <p:nvPr/>
        </p:nvSpPr>
        <p:spPr>
          <a:xfrm>
            <a:off x="1921625" y="1368050"/>
            <a:ext cx="3586200" cy="21996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653" name="Google Shape;653;p52"/>
          <p:cNvSpPr/>
          <p:nvPr/>
        </p:nvSpPr>
        <p:spPr>
          <a:xfrm>
            <a:off x="3183025" y="1368050"/>
            <a:ext cx="4943100" cy="4195200"/>
          </a:xfrm>
          <a:prstGeom prst="roundRect">
            <a:avLst>
              <a:gd fmla="val 202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DM Sans"/>
              <a:ea typeface="DM Sans"/>
              <a:cs typeface="DM Sans"/>
              <a:sym typeface="DM Sans"/>
            </a:endParaRPr>
          </a:p>
        </p:txBody>
      </p:sp>
      <p:sp>
        <p:nvSpPr>
          <p:cNvPr id="654" name="Google Shape;654;p52"/>
          <p:cNvSpPr/>
          <p:nvPr/>
        </p:nvSpPr>
        <p:spPr>
          <a:xfrm>
            <a:off x="3247450" y="2227650"/>
            <a:ext cx="5802600" cy="668400"/>
          </a:xfrm>
          <a:prstGeom prst="roundRect">
            <a:avLst>
              <a:gd fmla="val 10905" name="adj"/>
            </a:avLst>
          </a:prstGeom>
          <a:solidFill>
            <a:srgbClr val="FFFFFF"/>
          </a:solidFill>
          <a:ln>
            <a:noFill/>
          </a:ln>
        </p:spPr>
        <p:txBody>
          <a:bodyPr anchorCtr="0" anchor="t" bIns="0" lIns="0" spcFirstLastPara="1" rIns="0" wrap="square" tIns="0">
            <a:noAutofit/>
          </a:bodyPr>
          <a:lstStyle/>
          <a:p>
            <a:pPr indent="0" lvl="0" marL="0" marR="40661" rtl="0" algn="ctr">
              <a:lnSpc>
                <a:spcPct val="100000"/>
              </a:lnSpc>
              <a:spcBef>
                <a:spcPts val="0"/>
              </a:spcBef>
              <a:spcAft>
                <a:spcPts val="0"/>
              </a:spcAft>
              <a:buNone/>
            </a:pPr>
            <a:r>
              <a:rPr lang="en" sz="1100">
                <a:solidFill>
                  <a:schemeClr val="accent1"/>
                </a:solidFill>
                <a:latin typeface="DM Sans Medium"/>
                <a:ea typeface="DM Sans Medium"/>
                <a:cs typeface="DM Sans Medium"/>
                <a:sym typeface="DM Sans Medium"/>
              </a:rPr>
              <a:t>Data Science and AI / ML - Mosaic AI</a:t>
            </a:r>
            <a:endParaRPr sz="1100">
              <a:solidFill>
                <a:schemeClr val="accent1"/>
              </a:solidFill>
              <a:latin typeface="DM Sans Medium"/>
              <a:ea typeface="DM Sans Medium"/>
              <a:cs typeface="DM Sans Medium"/>
              <a:sym typeface="DM Sans Medium"/>
            </a:endParaRPr>
          </a:p>
          <a:p>
            <a:pPr indent="0" lvl="0" marL="0" marR="40661" rtl="0" algn="ctr">
              <a:spcBef>
                <a:spcPts val="300"/>
              </a:spcBef>
              <a:spcAft>
                <a:spcPts val="0"/>
              </a:spcAft>
              <a:buNone/>
            </a:pPr>
            <a:r>
              <a:rPr lang="en" sz="1000">
                <a:solidFill>
                  <a:schemeClr val="accent5"/>
                </a:solidFill>
                <a:latin typeface="DM Sans Medium"/>
                <a:ea typeface="DM Sans Medium"/>
                <a:cs typeface="DM Sans Medium"/>
                <a:sym typeface="DM Sans Medium"/>
              </a:rPr>
              <a:t>Mosaic AI: GenAI, Model Serving</a:t>
            </a:r>
            <a:endParaRPr sz="1100">
              <a:solidFill>
                <a:schemeClr val="accent1"/>
              </a:solidFill>
              <a:latin typeface="DM Sans Medium"/>
              <a:ea typeface="DM Sans Medium"/>
              <a:cs typeface="DM Sans Medium"/>
              <a:sym typeface="DM Sans Medium"/>
            </a:endParaRPr>
          </a:p>
          <a:p>
            <a:pPr indent="0" lvl="0" marL="457200" marR="0" rtl="0" algn="ctr">
              <a:lnSpc>
                <a:spcPct val="100000"/>
              </a:lnSpc>
              <a:spcBef>
                <a:spcPts val="300"/>
              </a:spcBef>
              <a:spcAft>
                <a:spcPts val="300"/>
              </a:spcAft>
              <a:buNone/>
            </a:pPr>
            <a:r>
              <a:t/>
            </a:r>
            <a:endParaRPr sz="1100">
              <a:solidFill>
                <a:schemeClr val="accent1"/>
              </a:solidFill>
              <a:latin typeface="DM Sans Medium"/>
              <a:ea typeface="DM Sans Medium"/>
              <a:cs typeface="DM Sans Medium"/>
              <a:sym typeface="DM Sans Medium"/>
            </a:endParaRPr>
          </a:p>
        </p:txBody>
      </p:sp>
      <p:sp>
        <p:nvSpPr>
          <p:cNvPr id="655" name="Google Shape;655;p52"/>
          <p:cNvSpPr txBox="1"/>
          <p:nvPr>
            <p:ph type="title"/>
          </p:nvPr>
        </p:nvSpPr>
        <p:spPr>
          <a:xfrm>
            <a:off x="749245" y="2307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Databricks Data Intelligence Platform</a:t>
            </a:r>
            <a:endParaRPr b="1" sz="3600">
              <a:latin typeface="DM Sans"/>
              <a:ea typeface="DM Sans"/>
              <a:cs typeface="DM Sans"/>
              <a:sym typeface="DM Sans"/>
            </a:endParaRPr>
          </a:p>
        </p:txBody>
      </p:sp>
      <p:sp>
        <p:nvSpPr>
          <p:cNvPr id="656" name="Google Shape;656;p52"/>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grpSp>
        <p:nvGrpSpPr>
          <p:cNvPr id="657" name="Google Shape;657;p52"/>
          <p:cNvGrpSpPr/>
          <p:nvPr/>
        </p:nvGrpSpPr>
        <p:grpSpPr>
          <a:xfrm>
            <a:off x="2986792" y="3550528"/>
            <a:ext cx="198576" cy="211709"/>
            <a:chOff x="3295749" y="3919250"/>
            <a:chExt cx="198576" cy="211709"/>
          </a:xfrm>
        </p:grpSpPr>
        <p:sp>
          <p:nvSpPr>
            <p:cNvPr id="658" name="Google Shape;658;p52"/>
            <p:cNvSpPr/>
            <p:nvPr/>
          </p:nvSpPr>
          <p:spPr>
            <a:xfrm>
              <a:off x="3391125" y="3919250"/>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659" name="Google Shape;659;p52"/>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660" name="Google Shape;660;p52"/>
          <p:cNvSpPr/>
          <p:nvPr/>
        </p:nvSpPr>
        <p:spPr>
          <a:xfrm>
            <a:off x="3247450" y="4807025"/>
            <a:ext cx="3380100" cy="699900"/>
          </a:xfrm>
          <a:prstGeom prst="roundRect">
            <a:avLst>
              <a:gd fmla="val 13083"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1"/>
                </a:solidFill>
                <a:latin typeface="DM Sans Medium"/>
                <a:ea typeface="DM Sans Medium"/>
                <a:cs typeface="DM Sans Medium"/>
                <a:sym typeface="DM Sans Medium"/>
              </a:rPr>
              <a:t>Data Management</a:t>
            </a:r>
            <a:endParaRPr sz="1100">
              <a:solidFill>
                <a:schemeClr val="accent1"/>
              </a:solidFill>
              <a:latin typeface="DM Sans Medium"/>
              <a:ea typeface="DM Sans Medium"/>
              <a:cs typeface="DM Sans Medium"/>
              <a:sym typeface="DM Sans Medium"/>
            </a:endParaRPr>
          </a:p>
          <a:p>
            <a:pPr indent="0" lvl="0" marL="0" rtl="0" algn="ctr">
              <a:spcBef>
                <a:spcPts val="300"/>
              </a:spcBef>
              <a:spcAft>
                <a:spcPts val="0"/>
              </a:spcAft>
              <a:buClr>
                <a:srgbClr val="000000"/>
              </a:buClr>
              <a:buSzPts val="900"/>
              <a:buFont typeface="Arial"/>
              <a:buNone/>
            </a:pPr>
            <a:r>
              <a:rPr lang="en" sz="1000">
                <a:solidFill>
                  <a:schemeClr val="accent5"/>
                </a:solidFill>
                <a:latin typeface="DM Sans Medium"/>
                <a:ea typeface="DM Sans Medium"/>
                <a:cs typeface="DM Sans Medium"/>
                <a:sym typeface="DM Sans Medium"/>
              </a:rPr>
              <a:t>Delta Lake, Iceberg, Uniform</a:t>
            </a:r>
            <a:endParaRPr sz="1000">
              <a:solidFill>
                <a:schemeClr val="accent1"/>
              </a:solidFill>
              <a:latin typeface="DM Sans Medium"/>
              <a:ea typeface="DM Sans Medium"/>
              <a:cs typeface="DM Sans Medium"/>
              <a:sym typeface="DM Sans Medium"/>
            </a:endParaRPr>
          </a:p>
          <a:p>
            <a:pPr indent="0" lvl="0" marL="0" marR="0" rtl="0" algn="ctr">
              <a:spcBef>
                <a:spcPts val="300"/>
              </a:spcBef>
              <a:spcAft>
                <a:spcPts val="300"/>
              </a:spcAft>
              <a:buClr>
                <a:srgbClr val="000000"/>
              </a:buClr>
              <a:buSzPts val="900"/>
              <a:buFont typeface="Arial"/>
              <a:buNone/>
            </a:pPr>
            <a:r>
              <a:t/>
            </a:r>
            <a:endParaRPr sz="1100">
              <a:solidFill>
                <a:schemeClr val="accent1"/>
              </a:solidFill>
              <a:latin typeface="DM Sans Medium"/>
              <a:ea typeface="DM Sans Medium"/>
              <a:cs typeface="DM Sans Medium"/>
              <a:sym typeface="DM Sans Medium"/>
            </a:endParaRPr>
          </a:p>
        </p:txBody>
      </p:sp>
      <p:sp>
        <p:nvSpPr>
          <p:cNvPr id="661" name="Google Shape;661;p52"/>
          <p:cNvSpPr/>
          <p:nvPr/>
        </p:nvSpPr>
        <p:spPr>
          <a:xfrm>
            <a:off x="6679225" y="4806950"/>
            <a:ext cx="1388100" cy="699900"/>
          </a:xfrm>
          <a:prstGeom prst="roundRect">
            <a:avLst>
              <a:gd fmla="val 11862"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1"/>
                </a:solidFill>
                <a:latin typeface="DM Sans Medium"/>
                <a:ea typeface="DM Sans Medium"/>
                <a:cs typeface="DM Sans Medium"/>
                <a:sym typeface="DM Sans Medium"/>
              </a:rPr>
              <a:t>Collaboration</a:t>
            </a:r>
            <a:endParaRPr sz="1100">
              <a:solidFill>
                <a:schemeClr val="accent1"/>
              </a:solidFill>
              <a:latin typeface="DM Sans Medium"/>
              <a:ea typeface="DM Sans Medium"/>
              <a:cs typeface="DM Sans Medium"/>
              <a:sym typeface="DM Sans Medium"/>
            </a:endParaRPr>
          </a:p>
          <a:p>
            <a:pPr indent="0" lvl="0" marL="0" rtl="0" algn="ctr">
              <a:spcBef>
                <a:spcPts val="300"/>
              </a:spcBef>
              <a:spcAft>
                <a:spcPts val="300"/>
              </a:spcAft>
              <a:buClr>
                <a:srgbClr val="000000"/>
              </a:buClr>
              <a:buSzPts val="900"/>
              <a:buFont typeface="Arial"/>
              <a:buNone/>
            </a:pPr>
            <a:r>
              <a:rPr lang="en" sz="1000">
                <a:solidFill>
                  <a:schemeClr val="accent5"/>
                </a:solidFill>
                <a:latin typeface="DM Sans Medium"/>
                <a:ea typeface="DM Sans Medium"/>
                <a:cs typeface="DM Sans Medium"/>
                <a:sym typeface="DM Sans Medium"/>
              </a:rPr>
              <a:t>Delta Sharing</a:t>
            </a:r>
            <a:endParaRPr sz="1100">
              <a:solidFill>
                <a:schemeClr val="accent1"/>
              </a:solidFill>
              <a:latin typeface="DM Sans Medium"/>
              <a:ea typeface="DM Sans Medium"/>
              <a:cs typeface="DM Sans Medium"/>
              <a:sym typeface="DM Sans Medium"/>
            </a:endParaRPr>
          </a:p>
        </p:txBody>
      </p:sp>
      <p:sp>
        <p:nvSpPr>
          <p:cNvPr id="662" name="Google Shape;662;p52"/>
          <p:cNvSpPr/>
          <p:nvPr/>
        </p:nvSpPr>
        <p:spPr>
          <a:xfrm>
            <a:off x="4267154" y="6159917"/>
            <a:ext cx="1076700" cy="215400"/>
          </a:xfrm>
          <a:prstGeom prst="rect">
            <a:avLst/>
          </a:prstGeom>
          <a:solidFill>
            <a:srgbClr val="D9D9D9"/>
          </a:solidFill>
          <a:ln>
            <a:noFill/>
          </a:ln>
        </p:spPr>
        <p:txBody>
          <a:bodyPr anchorCtr="0" anchor="ctr" bIns="146275" lIns="182850" spcFirstLastPara="1" rIns="18285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Stor</a:t>
            </a:r>
            <a:r>
              <a:rPr lang="en" sz="1300">
                <a:solidFill>
                  <a:srgbClr val="434343"/>
                </a:solidFill>
                <a:latin typeface="DM Sans SemiBold"/>
                <a:ea typeface="DM Sans SemiBold"/>
                <a:cs typeface="DM Sans SemiBold"/>
                <a:sym typeface="DM Sans SemiBold"/>
              </a:rPr>
              <a:t>age</a:t>
            </a:r>
            <a:endParaRPr i="0" sz="1300" u="none" cap="none" strike="noStrike">
              <a:solidFill>
                <a:srgbClr val="434343"/>
              </a:solidFill>
              <a:latin typeface="DM Sans SemiBold"/>
              <a:ea typeface="DM Sans SemiBold"/>
              <a:cs typeface="DM Sans SemiBold"/>
              <a:sym typeface="DM Sans SemiBold"/>
            </a:endParaRPr>
          </a:p>
        </p:txBody>
      </p:sp>
      <p:sp>
        <p:nvSpPr>
          <p:cNvPr id="663" name="Google Shape;663;p52"/>
          <p:cNvSpPr/>
          <p:nvPr/>
        </p:nvSpPr>
        <p:spPr>
          <a:xfrm>
            <a:off x="3247450" y="2955537"/>
            <a:ext cx="3380100" cy="553800"/>
          </a:xfrm>
          <a:prstGeom prst="roundRect">
            <a:avLst>
              <a:gd fmla="val 14028"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1"/>
                </a:solidFill>
                <a:latin typeface="DM Sans Medium"/>
                <a:ea typeface="DM Sans Medium"/>
                <a:cs typeface="DM Sans Medium"/>
                <a:sym typeface="DM Sans Medium"/>
              </a:rPr>
              <a:t>Data Engineering and Processing</a:t>
            </a:r>
            <a:endParaRPr sz="1100">
              <a:solidFill>
                <a:schemeClr val="accent1"/>
              </a:solidFill>
              <a:latin typeface="DM Sans Medium"/>
              <a:ea typeface="DM Sans Medium"/>
              <a:cs typeface="DM Sans Medium"/>
              <a:sym typeface="DM Sans Medium"/>
            </a:endParaRPr>
          </a:p>
          <a:p>
            <a:pPr indent="0" lvl="0" marL="0" rtl="0" algn="ctr">
              <a:spcBef>
                <a:spcPts val="300"/>
              </a:spcBef>
              <a:spcAft>
                <a:spcPts val="0"/>
              </a:spcAft>
              <a:buNone/>
            </a:pPr>
            <a:r>
              <a:rPr lang="en" sz="1000">
                <a:solidFill>
                  <a:schemeClr val="accent5"/>
                </a:solidFill>
                <a:latin typeface="DM Sans Medium"/>
                <a:ea typeface="DM Sans Medium"/>
                <a:cs typeface="DM Sans Medium"/>
                <a:sym typeface="DM Sans Medium"/>
              </a:rPr>
              <a:t>Spark/Photon, Lakeflow Declarative Pipelines</a:t>
            </a:r>
            <a:endParaRPr sz="1000">
              <a:solidFill>
                <a:schemeClr val="accent1"/>
              </a:solidFill>
              <a:latin typeface="DM Sans Medium"/>
              <a:ea typeface="DM Sans Medium"/>
              <a:cs typeface="DM Sans Medium"/>
              <a:sym typeface="DM Sans Medium"/>
            </a:endParaRPr>
          </a:p>
          <a:p>
            <a:pPr indent="0" lvl="0" marL="0" marR="0" rtl="0" algn="ctr">
              <a:lnSpc>
                <a:spcPct val="100000"/>
              </a:lnSpc>
              <a:spcBef>
                <a:spcPts val="300"/>
              </a:spcBef>
              <a:spcAft>
                <a:spcPts val="300"/>
              </a:spcAft>
              <a:buNone/>
            </a:pPr>
            <a:r>
              <a:t/>
            </a:r>
            <a:endParaRPr sz="1100">
              <a:solidFill>
                <a:schemeClr val="accent1"/>
              </a:solidFill>
              <a:latin typeface="DM Sans Medium"/>
              <a:ea typeface="DM Sans Medium"/>
              <a:cs typeface="DM Sans Medium"/>
              <a:sym typeface="DM Sans Medium"/>
            </a:endParaRPr>
          </a:p>
        </p:txBody>
      </p:sp>
      <p:sp>
        <p:nvSpPr>
          <p:cNvPr id="664" name="Google Shape;664;p52"/>
          <p:cNvSpPr/>
          <p:nvPr/>
        </p:nvSpPr>
        <p:spPr>
          <a:xfrm>
            <a:off x="3247450" y="4188200"/>
            <a:ext cx="4819800" cy="557700"/>
          </a:xfrm>
          <a:prstGeom prst="roundRect">
            <a:avLst>
              <a:gd fmla="val 12987"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Clr>
                <a:srgbClr val="000000"/>
              </a:buClr>
              <a:buSzPts val="900"/>
              <a:buFont typeface="Arial"/>
              <a:buNone/>
            </a:pPr>
            <a:r>
              <a:rPr lang="en" sz="1100">
                <a:solidFill>
                  <a:schemeClr val="accent1"/>
                </a:solidFill>
                <a:latin typeface="DM Sans Medium"/>
                <a:ea typeface="DM Sans Medium"/>
                <a:cs typeface="DM Sans Medium"/>
                <a:sym typeface="DM Sans Medium"/>
              </a:rPr>
              <a:t>   Data and AI Governance - Unity Catalog</a:t>
            </a:r>
            <a:endParaRPr sz="1100">
              <a:solidFill>
                <a:schemeClr val="accent1"/>
              </a:solidFill>
              <a:latin typeface="DM Sans Medium"/>
              <a:ea typeface="DM Sans Medium"/>
              <a:cs typeface="DM Sans Medium"/>
              <a:sym typeface="DM Sans Medium"/>
            </a:endParaRPr>
          </a:p>
          <a:p>
            <a:pPr indent="0" lvl="0" marL="0" marR="11811" rtl="0" algn="ctr">
              <a:spcBef>
                <a:spcPts val="300"/>
              </a:spcBef>
              <a:spcAft>
                <a:spcPts val="300"/>
              </a:spcAft>
              <a:buClr>
                <a:srgbClr val="000000"/>
              </a:buClr>
              <a:buSzPts val="900"/>
              <a:buFont typeface="Arial"/>
              <a:buNone/>
            </a:pPr>
            <a:r>
              <a:rPr lang="en" sz="1000">
                <a:solidFill>
                  <a:schemeClr val="accent5"/>
                </a:solidFill>
                <a:latin typeface="DM Sans Medium"/>
                <a:ea typeface="DM Sans Medium"/>
                <a:cs typeface="DM Sans Medium"/>
                <a:sym typeface="DM Sans Medium"/>
              </a:rPr>
              <a:t>Unity Catalog: Access Control, Lineage, Audit</a:t>
            </a:r>
            <a:endParaRPr sz="1100">
              <a:solidFill>
                <a:schemeClr val="accent1"/>
              </a:solidFill>
              <a:latin typeface="DM Sans Medium"/>
              <a:ea typeface="DM Sans Medium"/>
              <a:cs typeface="DM Sans Medium"/>
              <a:sym typeface="DM Sans Medium"/>
            </a:endParaRPr>
          </a:p>
        </p:txBody>
      </p:sp>
      <p:sp>
        <p:nvSpPr>
          <p:cNvPr id="665" name="Google Shape;665;p52"/>
          <p:cNvSpPr/>
          <p:nvPr/>
        </p:nvSpPr>
        <p:spPr>
          <a:xfrm>
            <a:off x="1989525" y="2227675"/>
            <a:ext cx="1187100" cy="1281600"/>
          </a:xfrm>
          <a:prstGeom prst="roundRect">
            <a:avLst>
              <a:gd fmla="val 7158" name="adj"/>
            </a:avLst>
          </a:prstGeom>
          <a:solidFill>
            <a:srgbClr val="FFFFFF"/>
          </a:solid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None/>
            </a:pPr>
            <a:r>
              <a:rPr lang="en" sz="1100">
                <a:solidFill>
                  <a:schemeClr val="accent1"/>
                </a:solidFill>
                <a:latin typeface="DM Sans Medium"/>
                <a:ea typeface="DM Sans Medium"/>
                <a:cs typeface="DM Sans Medium"/>
                <a:sym typeface="DM Sans Medium"/>
              </a:rPr>
              <a:t>Batch and Streaming</a:t>
            </a:r>
            <a:endParaRPr sz="1100">
              <a:solidFill>
                <a:schemeClr val="accent1"/>
              </a:solidFill>
              <a:latin typeface="DM Sans Medium"/>
              <a:ea typeface="DM Sans Medium"/>
              <a:cs typeface="DM Sans Medium"/>
              <a:sym typeface="DM Sans Medium"/>
            </a:endParaRPr>
          </a:p>
          <a:p>
            <a:pPr indent="0" lvl="0" marL="0" rtl="0" algn="ctr">
              <a:spcBef>
                <a:spcPts val="300"/>
              </a:spcBef>
              <a:spcAft>
                <a:spcPts val="300"/>
              </a:spcAft>
              <a:buNone/>
            </a:pPr>
            <a:r>
              <a:rPr lang="en" sz="1200">
                <a:solidFill>
                  <a:schemeClr val="accent1"/>
                </a:solidFill>
                <a:latin typeface="DM Sans Medium"/>
                <a:ea typeface="DM Sans Medium"/>
                <a:cs typeface="DM Sans Medium"/>
                <a:sym typeface="DM Sans Medium"/>
              </a:rPr>
              <a:t> </a:t>
            </a:r>
            <a:r>
              <a:rPr lang="en" sz="1000">
                <a:solidFill>
                  <a:schemeClr val="accent5"/>
                </a:solidFill>
                <a:latin typeface="DM Sans Medium"/>
                <a:ea typeface="DM Sans Medium"/>
                <a:cs typeface="DM Sans Medium"/>
                <a:sym typeface="DM Sans Medium"/>
              </a:rPr>
              <a:t>(Lakeflow Connect, Auto Loader)</a:t>
            </a:r>
            <a:endParaRPr sz="1100">
              <a:solidFill>
                <a:schemeClr val="accent1"/>
              </a:solidFill>
              <a:latin typeface="DM Sans Medium"/>
              <a:ea typeface="DM Sans Medium"/>
              <a:cs typeface="DM Sans Medium"/>
              <a:sym typeface="DM Sans Medium"/>
            </a:endParaRPr>
          </a:p>
        </p:txBody>
      </p:sp>
      <p:sp>
        <p:nvSpPr>
          <p:cNvPr id="666" name="Google Shape;666;p52"/>
          <p:cNvSpPr/>
          <p:nvPr/>
        </p:nvSpPr>
        <p:spPr>
          <a:xfrm>
            <a:off x="6687250" y="2955537"/>
            <a:ext cx="2370900" cy="553800"/>
          </a:xfrm>
          <a:prstGeom prst="roundRect">
            <a:avLst>
              <a:gd fmla="val 15048"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1"/>
                </a:solidFill>
                <a:latin typeface="DM Sans Medium"/>
                <a:ea typeface="DM Sans Medium"/>
                <a:cs typeface="DM Sans Medium"/>
                <a:sym typeface="DM Sans Medium"/>
              </a:rPr>
              <a:t>Data Warehousing</a:t>
            </a:r>
            <a:endParaRPr sz="1100">
              <a:solidFill>
                <a:schemeClr val="accent1"/>
              </a:solidFill>
              <a:latin typeface="DM Sans Medium"/>
              <a:ea typeface="DM Sans Medium"/>
              <a:cs typeface="DM Sans Medium"/>
              <a:sym typeface="DM Sans Medium"/>
            </a:endParaRPr>
          </a:p>
          <a:p>
            <a:pPr indent="0" lvl="0" marL="0" rtl="0" algn="ctr">
              <a:spcBef>
                <a:spcPts val="300"/>
              </a:spcBef>
              <a:spcAft>
                <a:spcPts val="300"/>
              </a:spcAft>
              <a:buClr>
                <a:srgbClr val="000000"/>
              </a:buClr>
              <a:buSzPts val="900"/>
              <a:buFont typeface="Arial"/>
              <a:buNone/>
            </a:pPr>
            <a:r>
              <a:rPr lang="en" sz="1000">
                <a:solidFill>
                  <a:schemeClr val="accent5"/>
                </a:solidFill>
                <a:latin typeface="DM Sans Medium"/>
                <a:ea typeface="DM Sans Medium"/>
                <a:cs typeface="DM Sans Medium"/>
                <a:sym typeface="DM Sans Medium"/>
              </a:rPr>
              <a:t>Databricks SQL</a:t>
            </a:r>
            <a:endParaRPr sz="1100">
              <a:solidFill>
                <a:schemeClr val="accent1"/>
              </a:solidFill>
              <a:latin typeface="DM Sans Medium"/>
              <a:ea typeface="DM Sans Medium"/>
              <a:cs typeface="DM Sans Medium"/>
              <a:sym typeface="DM Sans Medium"/>
            </a:endParaRPr>
          </a:p>
        </p:txBody>
      </p:sp>
      <p:sp>
        <p:nvSpPr>
          <p:cNvPr id="667" name="Google Shape;667;p52"/>
          <p:cNvSpPr txBox="1"/>
          <p:nvPr/>
        </p:nvSpPr>
        <p:spPr>
          <a:xfrm rot="-5398802">
            <a:off x="290613" y="4596075"/>
            <a:ext cx="8610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Federation</a:t>
            </a:r>
            <a:endParaRPr sz="1100">
              <a:solidFill>
                <a:schemeClr val="accent5"/>
              </a:solidFill>
              <a:latin typeface="DM Sans"/>
              <a:ea typeface="DM Sans"/>
              <a:cs typeface="DM Sans"/>
              <a:sym typeface="DM Sans"/>
            </a:endParaRPr>
          </a:p>
        </p:txBody>
      </p:sp>
      <p:sp>
        <p:nvSpPr>
          <p:cNvPr id="668" name="Google Shape;668;p52"/>
          <p:cNvSpPr txBox="1"/>
          <p:nvPr/>
        </p:nvSpPr>
        <p:spPr>
          <a:xfrm>
            <a:off x="5216667" y="1442036"/>
            <a:ext cx="2432400" cy="215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a:solidFill>
                  <a:srgbClr val="FFFFFF"/>
                </a:solidFill>
                <a:latin typeface="DM Sans SemiBold"/>
                <a:ea typeface="DM Sans SemiBold"/>
                <a:cs typeface="DM Sans SemiBold"/>
                <a:sym typeface="DM Sans SemiBold"/>
              </a:rPr>
              <a:t>Data Intelligence Platform</a:t>
            </a:r>
            <a:endParaRPr>
              <a:solidFill>
                <a:srgbClr val="FFFFFF"/>
              </a:solidFill>
              <a:latin typeface="DM Sans SemiBold"/>
              <a:ea typeface="DM Sans SemiBold"/>
              <a:cs typeface="DM Sans SemiBold"/>
              <a:sym typeface="DM Sans SemiBold"/>
            </a:endParaRPr>
          </a:p>
        </p:txBody>
      </p:sp>
      <p:sp>
        <p:nvSpPr>
          <p:cNvPr id="669" name="Google Shape;669;p52"/>
          <p:cNvSpPr/>
          <p:nvPr/>
        </p:nvSpPr>
        <p:spPr>
          <a:xfrm>
            <a:off x="9133775" y="5563184"/>
            <a:ext cx="1082100" cy="579600"/>
          </a:xfrm>
          <a:prstGeom prst="roundRect">
            <a:avLst>
              <a:gd fmla="val 12082"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Sharing Partner</a:t>
            </a:r>
            <a:endParaRPr sz="1100">
              <a:solidFill>
                <a:schemeClr val="accent5"/>
              </a:solidFill>
              <a:latin typeface="DM Sans Medium"/>
              <a:ea typeface="DM Sans Medium"/>
              <a:cs typeface="DM Sans Medium"/>
              <a:sym typeface="DM Sans Medium"/>
            </a:endParaRPr>
          </a:p>
        </p:txBody>
      </p:sp>
      <p:sp>
        <p:nvSpPr>
          <p:cNvPr id="670" name="Google Shape;670;p52"/>
          <p:cNvSpPr/>
          <p:nvPr/>
        </p:nvSpPr>
        <p:spPr>
          <a:xfrm>
            <a:off x="9133775" y="4927395"/>
            <a:ext cx="1082100" cy="579600"/>
          </a:xfrm>
          <a:prstGeom prst="roundRect">
            <a:avLst>
              <a:gd fmla="val 13760"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Applications</a:t>
            </a:r>
            <a:endParaRPr sz="1100">
              <a:solidFill>
                <a:schemeClr val="accent5"/>
              </a:solidFill>
              <a:latin typeface="DM Sans Medium"/>
              <a:ea typeface="DM Sans Medium"/>
              <a:cs typeface="DM Sans Medium"/>
              <a:sym typeface="DM Sans Medium"/>
            </a:endParaRPr>
          </a:p>
        </p:txBody>
      </p:sp>
      <p:sp>
        <p:nvSpPr>
          <p:cNvPr id="671" name="Google Shape;671;p52"/>
          <p:cNvSpPr/>
          <p:nvPr/>
        </p:nvSpPr>
        <p:spPr>
          <a:xfrm>
            <a:off x="1921625" y="967225"/>
            <a:ext cx="12549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Ingest</a:t>
            </a:r>
            <a:endParaRPr i="0" sz="1300" u="none" cap="none" strike="noStrike">
              <a:solidFill>
                <a:srgbClr val="434343"/>
              </a:solidFill>
              <a:latin typeface="DM Sans SemiBold"/>
              <a:ea typeface="DM Sans SemiBold"/>
              <a:cs typeface="DM Sans SemiBold"/>
              <a:sym typeface="DM Sans SemiBold"/>
            </a:endParaRPr>
          </a:p>
        </p:txBody>
      </p:sp>
      <p:sp>
        <p:nvSpPr>
          <p:cNvPr id="672" name="Google Shape;672;p52"/>
          <p:cNvSpPr/>
          <p:nvPr/>
        </p:nvSpPr>
        <p:spPr>
          <a:xfrm>
            <a:off x="3247450" y="966700"/>
            <a:ext cx="13434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Transform</a:t>
            </a:r>
            <a:endParaRPr i="0" sz="1300" u="none" cap="none" strike="noStrike">
              <a:solidFill>
                <a:srgbClr val="434343"/>
              </a:solidFill>
              <a:latin typeface="DM Sans SemiBold"/>
              <a:ea typeface="DM Sans SemiBold"/>
              <a:cs typeface="DM Sans SemiBold"/>
              <a:sym typeface="DM Sans SemiBold"/>
            </a:endParaRPr>
          </a:p>
        </p:txBody>
      </p:sp>
      <p:sp>
        <p:nvSpPr>
          <p:cNvPr id="673" name="Google Shape;673;p52"/>
          <p:cNvSpPr/>
          <p:nvPr/>
        </p:nvSpPr>
        <p:spPr>
          <a:xfrm>
            <a:off x="9122275" y="968000"/>
            <a:ext cx="1152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Analyse</a:t>
            </a:r>
            <a:endParaRPr i="0" sz="1300" u="none" cap="none" strike="noStrike">
              <a:solidFill>
                <a:srgbClr val="434343"/>
              </a:solidFill>
              <a:latin typeface="DM Sans SemiBold"/>
              <a:ea typeface="DM Sans SemiBold"/>
              <a:cs typeface="DM Sans SemiBold"/>
              <a:sym typeface="DM Sans SemiBold"/>
            </a:endParaRPr>
          </a:p>
        </p:txBody>
      </p:sp>
      <p:sp>
        <p:nvSpPr>
          <p:cNvPr id="674" name="Google Shape;674;p52"/>
          <p:cNvSpPr/>
          <p:nvPr/>
        </p:nvSpPr>
        <p:spPr>
          <a:xfrm>
            <a:off x="766854" y="967794"/>
            <a:ext cx="10821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Sources</a:t>
            </a:r>
            <a:endParaRPr i="0" sz="1300" u="none" cap="none" strike="noStrike">
              <a:solidFill>
                <a:srgbClr val="434343"/>
              </a:solidFill>
              <a:latin typeface="DM Sans SemiBold"/>
              <a:ea typeface="DM Sans SemiBold"/>
              <a:cs typeface="DM Sans SemiBold"/>
              <a:sym typeface="DM Sans SemiBold"/>
            </a:endParaRPr>
          </a:p>
        </p:txBody>
      </p:sp>
      <p:cxnSp>
        <p:nvCxnSpPr>
          <p:cNvPr id="675" name="Google Shape;675;p52"/>
          <p:cNvCxnSpPr/>
          <p:nvPr/>
        </p:nvCxnSpPr>
        <p:spPr>
          <a:xfrm>
            <a:off x="1765606" y="3948550"/>
            <a:ext cx="222900" cy="600"/>
          </a:xfrm>
          <a:prstGeom prst="bentConnector3">
            <a:avLst>
              <a:gd fmla="val 50000" name="adj1"/>
            </a:avLst>
          </a:prstGeom>
          <a:noFill/>
          <a:ln cap="flat" cmpd="sng" w="9525">
            <a:solidFill>
              <a:schemeClr val="accent1"/>
            </a:solidFill>
            <a:prstDash val="solid"/>
            <a:round/>
            <a:headEnd len="sm" w="sm" type="none"/>
            <a:tailEnd len="sm" w="sm" type="triangle"/>
          </a:ln>
        </p:spPr>
      </p:cxnSp>
      <p:cxnSp>
        <p:nvCxnSpPr>
          <p:cNvPr id="676" name="Google Shape;676;p52"/>
          <p:cNvCxnSpPr>
            <a:stCxn id="677" idx="3"/>
          </p:cNvCxnSpPr>
          <p:nvPr/>
        </p:nvCxnSpPr>
        <p:spPr>
          <a:xfrm>
            <a:off x="1765746" y="3027425"/>
            <a:ext cx="166800" cy="600"/>
          </a:xfrm>
          <a:prstGeom prst="bentConnector3">
            <a:avLst>
              <a:gd fmla="val 50000" name="adj1"/>
            </a:avLst>
          </a:prstGeom>
          <a:noFill/>
          <a:ln cap="flat" cmpd="sng" w="9525">
            <a:solidFill>
              <a:schemeClr val="accent1"/>
            </a:solidFill>
            <a:prstDash val="solid"/>
            <a:round/>
            <a:headEnd len="sm" w="sm" type="none"/>
            <a:tailEnd len="sm" w="sm" type="triangle"/>
          </a:ln>
        </p:spPr>
      </p:cxnSp>
      <p:cxnSp>
        <p:nvCxnSpPr>
          <p:cNvPr id="678" name="Google Shape;678;p52"/>
          <p:cNvCxnSpPr>
            <a:stCxn id="661" idx="2"/>
            <a:endCxn id="669" idx="1"/>
          </p:cNvCxnSpPr>
          <p:nvPr/>
        </p:nvCxnSpPr>
        <p:spPr>
          <a:xfrm flipH="1" rot="-5400000">
            <a:off x="8080375" y="4799750"/>
            <a:ext cx="346200" cy="1760400"/>
          </a:xfrm>
          <a:prstGeom prst="bentConnector2">
            <a:avLst/>
          </a:prstGeom>
          <a:noFill/>
          <a:ln cap="flat" cmpd="sng" w="9525">
            <a:solidFill>
              <a:schemeClr val="accent1"/>
            </a:solidFill>
            <a:prstDash val="solid"/>
            <a:round/>
            <a:headEnd len="sm" w="sm" type="none"/>
            <a:tailEnd len="sm" w="sm" type="triangle"/>
          </a:ln>
        </p:spPr>
      </p:cxnSp>
      <p:cxnSp>
        <p:nvCxnSpPr>
          <p:cNvPr id="679" name="Google Shape;679;p52"/>
          <p:cNvCxnSpPr/>
          <p:nvPr/>
        </p:nvCxnSpPr>
        <p:spPr>
          <a:xfrm>
            <a:off x="8978650" y="5336450"/>
            <a:ext cx="159000" cy="0"/>
          </a:xfrm>
          <a:prstGeom prst="straightConnector1">
            <a:avLst/>
          </a:prstGeom>
          <a:noFill/>
          <a:ln cap="flat" cmpd="sng" w="9525">
            <a:solidFill>
              <a:schemeClr val="accent1"/>
            </a:solidFill>
            <a:prstDash val="solid"/>
            <a:round/>
            <a:headEnd len="sm" w="sm" type="none"/>
            <a:tailEnd len="sm" w="sm" type="triangle"/>
          </a:ln>
        </p:spPr>
      </p:cxnSp>
      <p:cxnSp>
        <p:nvCxnSpPr>
          <p:cNvPr id="680" name="Google Shape;680;p52"/>
          <p:cNvCxnSpPr>
            <a:stCxn id="681" idx="2"/>
            <a:endCxn id="649" idx="0"/>
          </p:cNvCxnSpPr>
          <p:nvPr/>
        </p:nvCxnSpPr>
        <p:spPr>
          <a:xfrm>
            <a:off x="8575712" y="4182857"/>
            <a:ext cx="0" cy="99900"/>
          </a:xfrm>
          <a:prstGeom prst="straightConnector1">
            <a:avLst/>
          </a:prstGeom>
          <a:noFill/>
          <a:ln cap="flat" cmpd="sng" w="9525">
            <a:solidFill>
              <a:schemeClr val="accent1"/>
            </a:solidFill>
            <a:prstDash val="solid"/>
            <a:round/>
            <a:headEnd len="sm" w="sm" type="none"/>
            <a:tailEnd len="sm" w="sm" type="triangle"/>
          </a:ln>
        </p:spPr>
      </p:cxnSp>
      <p:cxnSp>
        <p:nvCxnSpPr>
          <p:cNvPr id="682" name="Google Shape;682;p52"/>
          <p:cNvCxnSpPr>
            <a:stCxn id="683" idx="3"/>
          </p:cNvCxnSpPr>
          <p:nvPr/>
        </p:nvCxnSpPr>
        <p:spPr>
          <a:xfrm>
            <a:off x="3053925" y="4259350"/>
            <a:ext cx="131100" cy="600"/>
          </a:xfrm>
          <a:prstGeom prst="bentConnector3">
            <a:avLst>
              <a:gd fmla="val 50000" name="adj1"/>
            </a:avLst>
          </a:prstGeom>
          <a:noFill/>
          <a:ln cap="flat" cmpd="sng" w="9525">
            <a:solidFill>
              <a:schemeClr val="accent1"/>
            </a:solidFill>
            <a:prstDash val="solid"/>
            <a:round/>
            <a:headEnd len="sm" w="sm" type="none"/>
            <a:tailEnd len="sm" w="sm" type="triangle"/>
          </a:ln>
        </p:spPr>
      </p:cxnSp>
      <p:grpSp>
        <p:nvGrpSpPr>
          <p:cNvPr id="684" name="Google Shape;684;p52"/>
          <p:cNvGrpSpPr/>
          <p:nvPr/>
        </p:nvGrpSpPr>
        <p:grpSpPr>
          <a:xfrm>
            <a:off x="9152825" y="5742257"/>
            <a:ext cx="1044000" cy="400292"/>
            <a:chOff x="9534531" y="5311470"/>
            <a:chExt cx="1044000" cy="400292"/>
          </a:xfrm>
        </p:grpSpPr>
        <p:sp>
          <p:nvSpPr>
            <p:cNvPr id="685" name="Google Shape;685;p52"/>
            <p:cNvSpPr txBox="1"/>
            <p:nvPr/>
          </p:nvSpPr>
          <p:spPr>
            <a:xfrm>
              <a:off x="9534531" y="5557862"/>
              <a:ext cx="10440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Data Consumer</a:t>
              </a:r>
              <a:endParaRPr sz="900">
                <a:solidFill>
                  <a:schemeClr val="accent1"/>
                </a:solidFill>
                <a:latin typeface="DM Sans Medium"/>
                <a:ea typeface="DM Sans Medium"/>
                <a:cs typeface="DM Sans Medium"/>
                <a:sym typeface="DM Sans Medium"/>
              </a:endParaRPr>
            </a:p>
          </p:txBody>
        </p:sp>
        <p:pic>
          <p:nvPicPr>
            <p:cNvPr id="686" name="Google Shape;686;p52"/>
            <p:cNvPicPr preferRelativeResize="0"/>
            <p:nvPr/>
          </p:nvPicPr>
          <p:blipFill>
            <a:blip r:embed="rId3">
              <a:alphaModFix/>
            </a:blip>
            <a:stretch>
              <a:fillRect/>
            </a:stretch>
          </p:blipFill>
          <p:spPr>
            <a:xfrm>
              <a:off x="9908871" y="5311470"/>
              <a:ext cx="265176" cy="265176"/>
            </a:xfrm>
            <a:prstGeom prst="rect">
              <a:avLst/>
            </a:prstGeom>
            <a:noFill/>
            <a:ln>
              <a:noFill/>
            </a:ln>
          </p:spPr>
        </p:pic>
      </p:grpSp>
      <p:grpSp>
        <p:nvGrpSpPr>
          <p:cNvPr id="687" name="Google Shape;687;p52"/>
          <p:cNvGrpSpPr/>
          <p:nvPr/>
        </p:nvGrpSpPr>
        <p:grpSpPr>
          <a:xfrm>
            <a:off x="9133775" y="5106027"/>
            <a:ext cx="1082100" cy="391902"/>
            <a:chOff x="9515475" y="4663855"/>
            <a:chExt cx="1082100" cy="391902"/>
          </a:xfrm>
        </p:grpSpPr>
        <p:sp>
          <p:nvSpPr>
            <p:cNvPr id="688" name="Google Shape;688;p52"/>
            <p:cNvSpPr txBox="1"/>
            <p:nvPr/>
          </p:nvSpPr>
          <p:spPr>
            <a:xfrm>
              <a:off x="9515475" y="4901857"/>
              <a:ext cx="1082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Business/AI App</a:t>
              </a:r>
              <a:endParaRPr sz="900">
                <a:solidFill>
                  <a:schemeClr val="accent1"/>
                </a:solidFill>
                <a:latin typeface="DM Sans Medium"/>
                <a:ea typeface="DM Sans Medium"/>
                <a:cs typeface="DM Sans Medium"/>
                <a:sym typeface="DM Sans Medium"/>
              </a:endParaRPr>
            </a:p>
          </p:txBody>
        </p:sp>
        <p:pic>
          <p:nvPicPr>
            <p:cNvPr id="689" name="Google Shape;689;p52"/>
            <p:cNvPicPr preferRelativeResize="0"/>
            <p:nvPr/>
          </p:nvPicPr>
          <p:blipFill>
            <a:blip r:embed="rId3">
              <a:alphaModFix/>
            </a:blip>
            <a:stretch>
              <a:fillRect/>
            </a:stretch>
          </p:blipFill>
          <p:spPr>
            <a:xfrm>
              <a:off x="9908871" y="4663855"/>
              <a:ext cx="265176" cy="265176"/>
            </a:xfrm>
            <a:prstGeom prst="rect">
              <a:avLst/>
            </a:prstGeom>
            <a:noFill/>
            <a:ln>
              <a:noFill/>
            </a:ln>
          </p:spPr>
        </p:pic>
      </p:grpSp>
      <p:grpSp>
        <p:nvGrpSpPr>
          <p:cNvPr id="690" name="Google Shape;690;p52"/>
          <p:cNvGrpSpPr/>
          <p:nvPr/>
        </p:nvGrpSpPr>
        <p:grpSpPr>
          <a:xfrm>
            <a:off x="4283501" y="5741943"/>
            <a:ext cx="1044000" cy="397683"/>
            <a:chOff x="4661400" y="6214292"/>
            <a:chExt cx="1044000" cy="397683"/>
          </a:xfrm>
        </p:grpSpPr>
        <p:sp>
          <p:nvSpPr>
            <p:cNvPr id="691" name="Google Shape;691;p52"/>
            <p:cNvSpPr/>
            <p:nvPr/>
          </p:nvSpPr>
          <p:spPr>
            <a:xfrm>
              <a:off x="4661400" y="6458075"/>
              <a:ext cx="1044000" cy="153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Cloud Storage</a:t>
              </a:r>
              <a:endParaRPr sz="900">
                <a:solidFill>
                  <a:srgbClr val="1B5162"/>
                </a:solidFill>
                <a:latin typeface="DM Sans Medium"/>
                <a:ea typeface="DM Sans Medium"/>
                <a:cs typeface="DM Sans Medium"/>
                <a:sym typeface="DM Sans Medium"/>
              </a:endParaRPr>
            </a:p>
          </p:txBody>
        </p:sp>
        <p:pic>
          <p:nvPicPr>
            <p:cNvPr id="692" name="Google Shape;692;p52"/>
            <p:cNvPicPr preferRelativeResize="0"/>
            <p:nvPr/>
          </p:nvPicPr>
          <p:blipFill>
            <a:blip r:embed="rId4">
              <a:alphaModFix/>
            </a:blip>
            <a:stretch>
              <a:fillRect/>
            </a:stretch>
          </p:blipFill>
          <p:spPr>
            <a:xfrm>
              <a:off x="5035638" y="6214292"/>
              <a:ext cx="265176" cy="265176"/>
            </a:xfrm>
            <a:prstGeom prst="rect">
              <a:avLst/>
            </a:prstGeom>
            <a:noFill/>
            <a:ln>
              <a:noFill/>
            </a:ln>
          </p:spPr>
        </p:pic>
      </p:grpSp>
      <p:sp>
        <p:nvSpPr>
          <p:cNvPr id="693" name="Google Shape;693;p52"/>
          <p:cNvSpPr/>
          <p:nvPr/>
        </p:nvSpPr>
        <p:spPr>
          <a:xfrm>
            <a:off x="9133775" y="4282646"/>
            <a:ext cx="1082100" cy="579600"/>
          </a:xfrm>
          <a:prstGeom prst="roundRect">
            <a:avLst>
              <a:gd fmla="val 15648"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BI</a:t>
            </a:r>
            <a:endParaRPr sz="1100">
              <a:solidFill>
                <a:schemeClr val="accent5"/>
              </a:solidFill>
              <a:latin typeface="DM Sans Medium"/>
              <a:ea typeface="DM Sans Medium"/>
              <a:cs typeface="DM Sans Medium"/>
              <a:sym typeface="DM Sans Medium"/>
            </a:endParaRPr>
          </a:p>
        </p:txBody>
      </p:sp>
      <p:grpSp>
        <p:nvGrpSpPr>
          <p:cNvPr id="694" name="Google Shape;694;p52"/>
          <p:cNvGrpSpPr/>
          <p:nvPr/>
        </p:nvGrpSpPr>
        <p:grpSpPr>
          <a:xfrm>
            <a:off x="9357275" y="4466615"/>
            <a:ext cx="635100" cy="393231"/>
            <a:chOff x="9738981" y="3936515"/>
            <a:chExt cx="635100" cy="393231"/>
          </a:xfrm>
        </p:grpSpPr>
        <p:sp>
          <p:nvSpPr>
            <p:cNvPr id="695" name="Google Shape;695;p52"/>
            <p:cNvSpPr txBox="1"/>
            <p:nvPr/>
          </p:nvSpPr>
          <p:spPr>
            <a:xfrm>
              <a:off x="9738981" y="4175845"/>
              <a:ext cx="635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BI Tool</a:t>
              </a:r>
              <a:endParaRPr sz="900">
                <a:solidFill>
                  <a:schemeClr val="accent1"/>
                </a:solidFill>
                <a:latin typeface="DM Sans Medium"/>
                <a:ea typeface="DM Sans Medium"/>
                <a:cs typeface="DM Sans Medium"/>
                <a:sym typeface="DM Sans Medium"/>
              </a:endParaRPr>
            </a:p>
          </p:txBody>
        </p:sp>
        <p:pic>
          <p:nvPicPr>
            <p:cNvPr id="696" name="Google Shape;696;p52"/>
            <p:cNvPicPr preferRelativeResize="0"/>
            <p:nvPr/>
          </p:nvPicPr>
          <p:blipFill>
            <a:blip r:embed="rId5">
              <a:alphaModFix/>
            </a:blip>
            <a:stretch>
              <a:fillRect/>
            </a:stretch>
          </p:blipFill>
          <p:spPr>
            <a:xfrm>
              <a:off x="9923943" y="3936515"/>
              <a:ext cx="265176" cy="265176"/>
            </a:xfrm>
            <a:prstGeom prst="rect">
              <a:avLst/>
            </a:prstGeom>
            <a:noFill/>
            <a:ln>
              <a:noFill/>
            </a:ln>
          </p:spPr>
        </p:pic>
      </p:grpSp>
      <p:sp>
        <p:nvSpPr>
          <p:cNvPr id="697" name="Google Shape;697;p52"/>
          <p:cNvSpPr/>
          <p:nvPr/>
        </p:nvSpPr>
        <p:spPr>
          <a:xfrm>
            <a:off x="8977121" y="4083498"/>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698" name="Google Shape;698;p52"/>
          <p:cNvCxnSpPr>
            <a:stCxn id="697" idx="2"/>
            <a:endCxn id="670" idx="1"/>
          </p:cNvCxnSpPr>
          <p:nvPr/>
        </p:nvCxnSpPr>
        <p:spPr>
          <a:xfrm flipH="1" rot="-5400000">
            <a:off x="8560121" y="4643598"/>
            <a:ext cx="1042200" cy="105000"/>
          </a:xfrm>
          <a:prstGeom prst="bentConnector2">
            <a:avLst/>
          </a:prstGeom>
          <a:noFill/>
          <a:ln cap="flat" cmpd="sng" w="9525">
            <a:solidFill>
              <a:schemeClr val="accent1"/>
            </a:solidFill>
            <a:prstDash val="solid"/>
            <a:round/>
            <a:headEnd len="sm" w="sm" type="none"/>
            <a:tailEnd len="sm" w="sm" type="triangle"/>
          </a:ln>
        </p:spPr>
      </p:cxnSp>
      <p:cxnSp>
        <p:nvCxnSpPr>
          <p:cNvPr id="699" name="Google Shape;699;p52"/>
          <p:cNvCxnSpPr>
            <a:stCxn id="697" idx="2"/>
            <a:endCxn id="693" idx="1"/>
          </p:cNvCxnSpPr>
          <p:nvPr/>
        </p:nvCxnSpPr>
        <p:spPr>
          <a:xfrm flipH="1" rot="-5400000">
            <a:off x="8882471" y="4321248"/>
            <a:ext cx="397500" cy="105000"/>
          </a:xfrm>
          <a:prstGeom prst="bentConnector2">
            <a:avLst/>
          </a:prstGeom>
          <a:noFill/>
          <a:ln cap="flat" cmpd="sng" w="9525">
            <a:solidFill>
              <a:schemeClr val="accent1"/>
            </a:solidFill>
            <a:prstDash val="solid"/>
            <a:round/>
            <a:headEnd len="sm" w="sm" type="none"/>
            <a:tailEnd len="sm" w="sm" type="triangle"/>
          </a:ln>
        </p:spPr>
      </p:cxnSp>
      <p:sp>
        <p:nvSpPr>
          <p:cNvPr id="700" name="Google Shape;700;p52"/>
          <p:cNvSpPr txBox="1"/>
          <p:nvPr/>
        </p:nvSpPr>
        <p:spPr>
          <a:xfrm rot="-5400000">
            <a:off x="485913" y="2789875"/>
            <a:ext cx="4701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ETL</a:t>
            </a:r>
            <a:endParaRPr sz="1100">
              <a:solidFill>
                <a:schemeClr val="accent5"/>
              </a:solidFill>
              <a:latin typeface="DM Sans"/>
              <a:ea typeface="DM Sans"/>
              <a:cs typeface="DM Sans"/>
              <a:sym typeface="DM Sans"/>
            </a:endParaRPr>
          </a:p>
        </p:txBody>
      </p:sp>
      <p:cxnSp>
        <p:nvCxnSpPr>
          <p:cNvPr id="701" name="Google Shape;701;p52"/>
          <p:cNvCxnSpPr/>
          <p:nvPr/>
        </p:nvCxnSpPr>
        <p:spPr>
          <a:xfrm>
            <a:off x="1768354" y="5371543"/>
            <a:ext cx="1413300" cy="600"/>
          </a:xfrm>
          <a:prstGeom prst="bentConnector3">
            <a:avLst>
              <a:gd fmla="val 50000" name="adj1"/>
            </a:avLst>
          </a:prstGeom>
          <a:noFill/>
          <a:ln cap="flat" cmpd="sng" w="9525">
            <a:solidFill>
              <a:schemeClr val="accent1"/>
            </a:solidFill>
            <a:prstDash val="solid"/>
            <a:round/>
            <a:headEnd len="sm" w="sm" type="none"/>
            <a:tailEnd len="sm" w="sm" type="triangle"/>
          </a:ln>
        </p:spPr>
      </p:cxnSp>
      <p:cxnSp>
        <p:nvCxnSpPr>
          <p:cNvPr id="702" name="Google Shape;702;p52"/>
          <p:cNvCxnSpPr>
            <a:stCxn id="703" idx="2"/>
            <a:endCxn id="692" idx="1"/>
          </p:cNvCxnSpPr>
          <p:nvPr/>
        </p:nvCxnSpPr>
        <p:spPr>
          <a:xfrm flipH="1" rot="-5400000">
            <a:off x="4243734" y="5460355"/>
            <a:ext cx="326100" cy="502200"/>
          </a:xfrm>
          <a:prstGeom prst="bentConnector2">
            <a:avLst/>
          </a:prstGeom>
          <a:noFill/>
          <a:ln cap="flat" cmpd="sng" w="9525">
            <a:solidFill>
              <a:schemeClr val="accent1"/>
            </a:solidFill>
            <a:prstDash val="solid"/>
            <a:round/>
            <a:headEnd len="sm" w="sm" type="triangle"/>
            <a:tailEnd len="sm" w="sm" type="triangle"/>
          </a:ln>
        </p:spPr>
      </p:cxnSp>
      <p:sp>
        <p:nvSpPr>
          <p:cNvPr id="681" name="Google Shape;681;p52"/>
          <p:cNvSpPr/>
          <p:nvPr/>
        </p:nvSpPr>
        <p:spPr>
          <a:xfrm>
            <a:off x="8524112" y="4091357"/>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677" name="Google Shape;677;p52"/>
          <p:cNvSpPr/>
          <p:nvPr/>
        </p:nvSpPr>
        <p:spPr>
          <a:xfrm>
            <a:off x="1689846" y="2981675"/>
            <a:ext cx="759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704" name="Google Shape;704;p52"/>
          <p:cNvPicPr preferRelativeResize="0"/>
          <p:nvPr/>
        </p:nvPicPr>
        <p:blipFill>
          <a:blip r:embed="rId6">
            <a:alphaModFix/>
          </a:blip>
          <a:stretch>
            <a:fillRect/>
          </a:stretch>
        </p:blipFill>
        <p:spPr>
          <a:xfrm>
            <a:off x="4998129" y="1403077"/>
            <a:ext cx="259650" cy="279625"/>
          </a:xfrm>
          <a:prstGeom prst="rect">
            <a:avLst/>
          </a:prstGeom>
          <a:noFill/>
          <a:ln>
            <a:noFill/>
          </a:ln>
        </p:spPr>
      </p:pic>
      <p:sp>
        <p:nvSpPr>
          <p:cNvPr id="703" name="Google Shape;703;p52"/>
          <p:cNvSpPr/>
          <p:nvPr/>
        </p:nvSpPr>
        <p:spPr>
          <a:xfrm>
            <a:off x="4104084" y="5456905"/>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nvGrpSpPr>
          <p:cNvPr id="705" name="Google Shape;705;p52"/>
          <p:cNvGrpSpPr/>
          <p:nvPr/>
        </p:nvGrpSpPr>
        <p:grpSpPr>
          <a:xfrm>
            <a:off x="4465719" y="5266659"/>
            <a:ext cx="1015163" cy="210402"/>
            <a:chOff x="6995676" y="6025175"/>
            <a:chExt cx="1015163" cy="210402"/>
          </a:xfrm>
        </p:grpSpPr>
        <p:sp>
          <p:nvSpPr>
            <p:cNvPr id="706" name="Google Shape;706;p52"/>
            <p:cNvSpPr txBox="1"/>
            <p:nvPr/>
          </p:nvSpPr>
          <p:spPr>
            <a:xfrm>
              <a:off x="6995676" y="6112577"/>
              <a:ext cx="38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bronze</a:t>
              </a:r>
              <a:endParaRPr sz="800">
                <a:solidFill>
                  <a:srgbClr val="1B5162"/>
                </a:solidFill>
                <a:latin typeface="DM Sans"/>
                <a:ea typeface="DM Sans"/>
                <a:cs typeface="DM Sans"/>
                <a:sym typeface="DM Sans"/>
              </a:endParaRPr>
            </a:p>
          </p:txBody>
        </p:sp>
        <p:sp>
          <p:nvSpPr>
            <p:cNvPr id="707" name="Google Shape;707;p52"/>
            <p:cNvSpPr txBox="1"/>
            <p:nvPr/>
          </p:nvSpPr>
          <p:spPr>
            <a:xfrm>
              <a:off x="7393838" y="6112577"/>
              <a:ext cx="29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silver</a:t>
              </a:r>
              <a:endParaRPr sz="800">
                <a:solidFill>
                  <a:srgbClr val="1B5162"/>
                </a:solidFill>
                <a:latin typeface="DM Sans"/>
                <a:ea typeface="DM Sans"/>
                <a:cs typeface="DM Sans"/>
                <a:sym typeface="DM Sans"/>
              </a:endParaRPr>
            </a:p>
          </p:txBody>
        </p:sp>
        <p:sp>
          <p:nvSpPr>
            <p:cNvPr id="708" name="Google Shape;708;p52"/>
            <p:cNvSpPr txBox="1"/>
            <p:nvPr/>
          </p:nvSpPr>
          <p:spPr>
            <a:xfrm>
              <a:off x="7755238" y="6112577"/>
              <a:ext cx="2556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gold</a:t>
              </a:r>
              <a:endParaRPr sz="800">
                <a:solidFill>
                  <a:srgbClr val="1B5162"/>
                </a:solidFill>
                <a:latin typeface="DM Sans"/>
                <a:ea typeface="DM Sans"/>
                <a:cs typeface="DM Sans"/>
                <a:sym typeface="DM Sans"/>
              </a:endParaRPr>
            </a:p>
          </p:txBody>
        </p:sp>
        <p:sp>
          <p:nvSpPr>
            <p:cNvPr id="709" name="Google Shape;709;p52"/>
            <p:cNvSpPr/>
            <p:nvPr/>
          </p:nvSpPr>
          <p:spPr>
            <a:xfrm>
              <a:off x="7094764" y="6025175"/>
              <a:ext cx="182100" cy="92525"/>
            </a:xfrm>
            <a:prstGeom prst="flowChartMagneticDisk">
              <a:avLst/>
            </a:prstGeom>
            <a:solidFill>
              <a:srgbClr val="BF897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710" name="Google Shape;710;p52"/>
            <p:cNvSpPr/>
            <p:nvPr/>
          </p:nvSpPr>
          <p:spPr>
            <a:xfrm>
              <a:off x="7441284" y="6025175"/>
              <a:ext cx="182100" cy="92525"/>
            </a:xfrm>
            <a:prstGeom prst="flowChartMagneticDisk">
              <a:avLst/>
            </a:prstGeom>
            <a:solidFill>
              <a:srgbClr val="C0C0C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711" name="Google Shape;711;p52"/>
            <p:cNvSpPr/>
            <p:nvPr/>
          </p:nvSpPr>
          <p:spPr>
            <a:xfrm>
              <a:off x="7791988" y="6025175"/>
              <a:ext cx="182100" cy="92525"/>
            </a:xfrm>
            <a:prstGeom prst="flowChartMagneticDisk">
              <a:avLst/>
            </a:prstGeom>
            <a:solidFill>
              <a:srgbClr val="D4AF37"/>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712" name="Google Shape;712;p52"/>
            <p:cNvSpPr/>
            <p:nvPr/>
          </p:nvSpPr>
          <p:spPr>
            <a:xfrm rot="5400000">
              <a:off x="7401063"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713" name="Google Shape;713;p52"/>
            <p:cNvCxnSpPr>
              <a:stCxn id="710" idx="4"/>
              <a:endCxn id="714" idx="3"/>
            </p:cNvCxnSpPr>
            <p:nvPr/>
          </p:nvCxnSpPr>
          <p:spPr>
            <a:xfrm>
              <a:off x="7623384" y="6071438"/>
              <a:ext cx="125400" cy="1200"/>
            </a:xfrm>
            <a:prstGeom prst="straightConnector1">
              <a:avLst/>
            </a:prstGeom>
            <a:noFill/>
            <a:ln cap="flat" cmpd="sng" w="9525">
              <a:solidFill>
                <a:srgbClr val="666666"/>
              </a:solidFill>
              <a:prstDash val="solid"/>
              <a:round/>
              <a:headEnd len="sm" w="sm" type="none"/>
              <a:tailEnd len="med" w="med" type="none"/>
            </a:ln>
          </p:spPr>
        </p:cxnSp>
        <p:sp>
          <p:nvSpPr>
            <p:cNvPr id="714" name="Google Shape;714;p52"/>
            <p:cNvSpPr/>
            <p:nvPr/>
          </p:nvSpPr>
          <p:spPr>
            <a:xfrm rot="5400000">
              <a:off x="7748234"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715" name="Google Shape;715;p52"/>
            <p:cNvCxnSpPr>
              <a:stCxn id="709" idx="4"/>
              <a:endCxn id="712" idx="3"/>
            </p:cNvCxnSpPr>
            <p:nvPr/>
          </p:nvCxnSpPr>
          <p:spPr>
            <a:xfrm>
              <a:off x="7276864" y="6071438"/>
              <a:ext cx="124800" cy="1200"/>
            </a:xfrm>
            <a:prstGeom prst="straightConnector1">
              <a:avLst/>
            </a:prstGeom>
            <a:noFill/>
            <a:ln cap="flat" cmpd="sng" w="9525">
              <a:solidFill>
                <a:srgbClr val="666666"/>
              </a:solidFill>
              <a:prstDash val="solid"/>
              <a:round/>
              <a:headEnd len="sm" w="sm" type="none"/>
              <a:tailEnd len="med" w="med" type="none"/>
            </a:ln>
          </p:spPr>
        </p:cxnSp>
      </p:grpSp>
      <p:sp>
        <p:nvSpPr>
          <p:cNvPr id="716" name="Google Shape;716;p52"/>
          <p:cNvSpPr/>
          <p:nvPr/>
        </p:nvSpPr>
        <p:spPr>
          <a:xfrm>
            <a:off x="3247450" y="3574037"/>
            <a:ext cx="3380100" cy="557700"/>
          </a:xfrm>
          <a:prstGeom prst="roundRect">
            <a:avLst>
              <a:gd fmla="val 14501"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None/>
            </a:pPr>
            <a:r>
              <a:rPr lang="en" sz="1100">
                <a:solidFill>
                  <a:schemeClr val="accent1"/>
                </a:solidFill>
                <a:latin typeface="DM Sans Medium"/>
                <a:ea typeface="DM Sans Medium"/>
                <a:cs typeface="DM Sans Medium"/>
                <a:sym typeface="DM Sans Medium"/>
              </a:rPr>
              <a:t>Data Intelligence</a:t>
            </a:r>
            <a:endParaRPr sz="1100">
              <a:solidFill>
                <a:schemeClr val="accent1"/>
              </a:solidFill>
              <a:latin typeface="DM Sans Medium"/>
              <a:ea typeface="DM Sans Medium"/>
              <a:cs typeface="DM Sans Medium"/>
              <a:sym typeface="DM Sans Medium"/>
            </a:endParaRPr>
          </a:p>
          <a:p>
            <a:pPr indent="0" lvl="0" marL="0" marR="11811" rtl="0" algn="ctr">
              <a:spcBef>
                <a:spcPts val="300"/>
              </a:spcBef>
              <a:spcAft>
                <a:spcPts val="300"/>
              </a:spcAft>
              <a:buNone/>
            </a:pPr>
            <a:r>
              <a:rPr lang="en" sz="1000">
                <a:solidFill>
                  <a:schemeClr val="accent5"/>
                </a:solidFill>
                <a:latin typeface="DM Sans Medium"/>
                <a:ea typeface="DM Sans Medium"/>
                <a:cs typeface="DM Sans Medium"/>
                <a:sym typeface="DM Sans Medium"/>
              </a:rPr>
              <a:t>Assistant, Predictive optimizations</a:t>
            </a:r>
            <a:endParaRPr sz="1100">
              <a:solidFill>
                <a:schemeClr val="accent1"/>
              </a:solidFill>
              <a:latin typeface="DM Sans Medium"/>
              <a:ea typeface="DM Sans Medium"/>
              <a:cs typeface="DM Sans Medium"/>
              <a:sym typeface="DM Sans Medium"/>
            </a:endParaRPr>
          </a:p>
        </p:txBody>
      </p:sp>
      <p:grpSp>
        <p:nvGrpSpPr>
          <p:cNvPr id="717" name="Google Shape;717;p52"/>
          <p:cNvGrpSpPr/>
          <p:nvPr/>
        </p:nvGrpSpPr>
        <p:grpSpPr>
          <a:xfrm>
            <a:off x="861763" y="1388635"/>
            <a:ext cx="879600" cy="565670"/>
            <a:chOff x="820734" y="1742570"/>
            <a:chExt cx="879600" cy="565670"/>
          </a:xfrm>
        </p:grpSpPr>
        <p:sp>
          <p:nvSpPr>
            <p:cNvPr id="718" name="Google Shape;718;p52"/>
            <p:cNvSpPr txBox="1"/>
            <p:nvPr/>
          </p:nvSpPr>
          <p:spPr>
            <a:xfrm>
              <a:off x="820734" y="1969540"/>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Files / Logs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a:t>
              </a:r>
              <a:r>
                <a:rPr lang="en" sz="800">
                  <a:solidFill>
                    <a:schemeClr val="accent5"/>
                  </a:solidFill>
                  <a:latin typeface="DM Sans Medium"/>
                  <a:ea typeface="DM Sans Medium"/>
                  <a:cs typeface="DM Sans Medium"/>
                  <a:sym typeface="DM Sans Medium"/>
                </a:rPr>
                <a:t>semi-</a:t>
              </a: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719" name="Google Shape;719;p52"/>
            <p:cNvPicPr preferRelativeResize="0"/>
            <p:nvPr/>
          </p:nvPicPr>
          <p:blipFill>
            <a:blip r:embed="rId7">
              <a:alphaModFix/>
            </a:blip>
            <a:stretch>
              <a:fillRect/>
            </a:stretch>
          </p:blipFill>
          <p:spPr>
            <a:xfrm>
              <a:off x="1127949" y="1742570"/>
              <a:ext cx="265176" cy="265176"/>
            </a:xfrm>
            <a:prstGeom prst="rect">
              <a:avLst/>
            </a:prstGeom>
            <a:noFill/>
            <a:ln>
              <a:noFill/>
            </a:ln>
          </p:spPr>
        </p:pic>
      </p:grpSp>
      <p:grpSp>
        <p:nvGrpSpPr>
          <p:cNvPr id="720" name="Google Shape;720;p52"/>
          <p:cNvGrpSpPr/>
          <p:nvPr/>
        </p:nvGrpSpPr>
        <p:grpSpPr>
          <a:xfrm>
            <a:off x="1278400" y="4282495"/>
            <a:ext cx="462900" cy="422268"/>
            <a:chOff x="1296935" y="4254734"/>
            <a:chExt cx="462900" cy="422268"/>
          </a:xfrm>
        </p:grpSpPr>
        <p:pic>
          <p:nvPicPr>
            <p:cNvPr id="721" name="Google Shape;721;p52"/>
            <p:cNvPicPr preferRelativeResize="0"/>
            <p:nvPr/>
          </p:nvPicPr>
          <p:blipFill rotWithShape="1">
            <a:blip r:embed="rId8">
              <a:alphaModFix/>
            </a:blip>
            <a:srcRect b="0" l="0" r="0" t="0"/>
            <a:stretch/>
          </p:blipFill>
          <p:spPr>
            <a:xfrm>
              <a:off x="1395798" y="4254734"/>
              <a:ext cx="265176" cy="265176"/>
            </a:xfrm>
            <a:prstGeom prst="rect">
              <a:avLst/>
            </a:prstGeom>
            <a:noFill/>
            <a:ln>
              <a:noFill/>
            </a:ln>
          </p:spPr>
        </p:pic>
        <p:sp>
          <p:nvSpPr>
            <p:cNvPr id="722" name="Google Shape;722;p52"/>
            <p:cNvSpPr txBox="1"/>
            <p:nvPr/>
          </p:nvSpPr>
          <p:spPr>
            <a:xfrm>
              <a:off x="1296935" y="4485902"/>
              <a:ext cx="4629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a:t>
              </a:r>
              <a:endParaRPr sz="900">
                <a:solidFill>
                  <a:srgbClr val="1B5162"/>
                </a:solidFill>
                <a:latin typeface="DM Sans Medium"/>
                <a:ea typeface="DM Sans Medium"/>
                <a:cs typeface="DM Sans Medium"/>
                <a:sym typeface="DM Sans Medium"/>
              </a:endParaRPr>
            </a:p>
          </p:txBody>
        </p:sp>
      </p:grpSp>
      <p:grpSp>
        <p:nvGrpSpPr>
          <p:cNvPr id="723" name="Google Shape;723;p52"/>
          <p:cNvGrpSpPr/>
          <p:nvPr/>
        </p:nvGrpSpPr>
        <p:grpSpPr>
          <a:xfrm>
            <a:off x="861800" y="1970622"/>
            <a:ext cx="879600" cy="558086"/>
            <a:chOff x="820771" y="2866176"/>
            <a:chExt cx="879600" cy="558086"/>
          </a:xfrm>
        </p:grpSpPr>
        <p:sp>
          <p:nvSpPr>
            <p:cNvPr id="724" name="Google Shape;724;p52"/>
            <p:cNvSpPr txBox="1"/>
            <p:nvPr/>
          </p:nvSpPr>
          <p:spPr>
            <a:xfrm>
              <a:off x="820771" y="3085563"/>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Sensors and IoT</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pic>
          <p:nvPicPr>
            <p:cNvPr id="725" name="Google Shape;725;p52"/>
            <p:cNvPicPr preferRelativeResize="0"/>
            <p:nvPr/>
          </p:nvPicPr>
          <p:blipFill>
            <a:blip r:embed="rId9">
              <a:alphaModFix/>
            </a:blip>
            <a:stretch>
              <a:fillRect/>
            </a:stretch>
          </p:blipFill>
          <p:spPr>
            <a:xfrm>
              <a:off x="1127949" y="2866176"/>
              <a:ext cx="265176" cy="265176"/>
            </a:xfrm>
            <a:prstGeom prst="rect">
              <a:avLst/>
            </a:prstGeom>
            <a:noFill/>
            <a:ln>
              <a:noFill/>
            </a:ln>
          </p:spPr>
        </p:pic>
      </p:grpSp>
      <p:grpSp>
        <p:nvGrpSpPr>
          <p:cNvPr id="726" name="Google Shape;726;p52"/>
          <p:cNvGrpSpPr/>
          <p:nvPr/>
        </p:nvGrpSpPr>
        <p:grpSpPr>
          <a:xfrm>
            <a:off x="903312" y="2545026"/>
            <a:ext cx="796500" cy="542824"/>
            <a:chOff x="862283" y="2315806"/>
            <a:chExt cx="796500" cy="542824"/>
          </a:xfrm>
        </p:grpSpPr>
        <p:sp>
          <p:nvSpPr>
            <p:cNvPr id="727" name="Google Shape;727;p52"/>
            <p:cNvSpPr txBox="1"/>
            <p:nvPr/>
          </p:nvSpPr>
          <p:spPr>
            <a:xfrm>
              <a:off x="862283" y="2519931"/>
              <a:ext cx="7965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 / DWH</a:t>
              </a:r>
              <a:br>
                <a:rPr lang="en" sz="900">
                  <a:solidFill>
                    <a:srgbClr val="1B5162"/>
                  </a:solidFill>
                  <a:latin typeface="DM Sans Medium"/>
                  <a:ea typeface="DM Sans Medium"/>
                  <a:cs typeface="DM Sans Medium"/>
                  <a:sym typeface="DM Sans Medium"/>
                </a:rPr>
              </a:br>
              <a:r>
                <a:rPr lang="en" sz="800">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728" name="Google Shape;728;p52"/>
            <p:cNvPicPr preferRelativeResize="0"/>
            <p:nvPr/>
          </p:nvPicPr>
          <p:blipFill>
            <a:blip r:embed="rId8">
              <a:alphaModFix/>
            </a:blip>
            <a:stretch>
              <a:fillRect/>
            </a:stretch>
          </p:blipFill>
          <p:spPr>
            <a:xfrm>
              <a:off x="1127949" y="2315806"/>
              <a:ext cx="265176" cy="265176"/>
            </a:xfrm>
            <a:prstGeom prst="rect">
              <a:avLst/>
            </a:prstGeom>
            <a:noFill/>
            <a:ln>
              <a:noFill/>
            </a:ln>
          </p:spPr>
        </p:pic>
      </p:grpSp>
      <p:grpSp>
        <p:nvGrpSpPr>
          <p:cNvPr id="729" name="Google Shape;729;p52"/>
          <p:cNvGrpSpPr/>
          <p:nvPr/>
        </p:nvGrpSpPr>
        <p:grpSpPr>
          <a:xfrm>
            <a:off x="861700" y="3104161"/>
            <a:ext cx="879600" cy="559474"/>
            <a:chOff x="820671" y="3997940"/>
            <a:chExt cx="879600" cy="559474"/>
          </a:xfrm>
        </p:grpSpPr>
        <p:pic>
          <p:nvPicPr>
            <p:cNvPr id="730" name="Google Shape;730;p52"/>
            <p:cNvPicPr preferRelativeResize="0"/>
            <p:nvPr/>
          </p:nvPicPr>
          <p:blipFill>
            <a:blip r:embed="rId3">
              <a:alphaModFix/>
            </a:blip>
            <a:stretch>
              <a:fillRect/>
            </a:stretch>
          </p:blipFill>
          <p:spPr>
            <a:xfrm>
              <a:off x="1127949" y="3997940"/>
              <a:ext cx="265176" cy="265176"/>
            </a:xfrm>
            <a:prstGeom prst="rect">
              <a:avLst/>
            </a:prstGeom>
            <a:noFill/>
            <a:ln>
              <a:noFill/>
            </a:ln>
          </p:spPr>
        </p:pic>
        <p:sp>
          <p:nvSpPr>
            <p:cNvPr id="731" name="Google Shape;731;p52"/>
            <p:cNvSpPr txBox="1"/>
            <p:nvPr/>
          </p:nvSpPr>
          <p:spPr>
            <a:xfrm>
              <a:off x="820671" y="4218714"/>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Business </a:t>
              </a:r>
              <a:r>
                <a:rPr lang="en" sz="900">
                  <a:solidFill>
                    <a:srgbClr val="1B5162"/>
                  </a:solidFill>
                  <a:latin typeface="DM Sans Medium"/>
                  <a:ea typeface="DM Sans Medium"/>
                  <a:cs typeface="DM Sans Medium"/>
                  <a:sym typeface="DM Sans Medium"/>
                </a:rPr>
                <a:t>A</a:t>
              </a:r>
              <a:r>
                <a:rPr i="0" lang="en" sz="900" u="none" cap="none" strike="noStrike">
                  <a:solidFill>
                    <a:srgbClr val="1B5162"/>
                  </a:solidFill>
                  <a:latin typeface="DM Sans Medium"/>
                  <a:ea typeface="DM Sans Medium"/>
                  <a:cs typeface="DM Sans Medium"/>
                  <a:sym typeface="DM Sans Medium"/>
                </a:rPr>
                <a:t>pps</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grpSp>
      <p:grpSp>
        <p:nvGrpSpPr>
          <p:cNvPr id="732" name="Google Shape;732;p52"/>
          <p:cNvGrpSpPr/>
          <p:nvPr/>
        </p:nvGrpSpPr>
        <p:grpSpPr>
          <a:xfrm>
            <a:off x="920210" y="3679952"/>
            <a:ext cx="761100" cy="558519"/>
            <a:chOff x="880006" y="3431841"/>
            <a:chExt cx="761100" cy="558519"/>
          </a:xfrm>
        </p:grpSpPr>
        <p:pic>
          <p:nvPicPr>
            <p:cNvPr id="733" name="Google Shape;733;p52"/>
            <p:cNvPicPr preferRelativeResize="0"/>
            <p:nvPr/>
          </p:nvPicPr>
          <p:blipFill>
            <a:blip r:embed="rId10">
              <a:alphaModFix/>
            </a:blip>
            <a:stretch>
              <a:fillRect/>
            </a:stretch>
          </p:blipFill>
          <p:spPr>
            <a:xfrm>
              <a:off x="1127949" y="3431841"/>
              <a:ext cx="265176" cy="265176"/>
            </a:xfrm>
            <a:prstGeom prst="rect">
              <a:avLst/>
            </a:prstGeom>
            <a:noFill/>
            <a:ln>
              <a:noFill/>
            </a:ln>
          </p:spPr>
        </p:pic>
        <p:sp>
          <p:nvSpPr>
            <p:cNvPr id="734" name="Google Shape;734;p52"/>
            <p:cNvSpPr txBox="1"/>
            <p:nvPr/>
          </p:nvSpPr>
          <p:spPr>
            <a:xfrm>
              <a:off x="880006" y="3651660"/>
              <a:ext cx="7611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Media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grpSp>
      <p:sp>
        <p:nvSpPr>
          <p:cNvPr id="735" name="Google Shape;735;p52"/>
          <p:cNvSpPr/>
          <p:nvPr/>
        </p:nvSpPr>
        <p:spPr>
          <a:xfrm>
            <a:off x="6679225" y="968000"/>
            <a:ext cx="2370900" cy="2154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Serve</a:t>
            </a:r>
            <a:endParaRPr i="0" sz="1300" u="none" cap="none" strike="noStrike">
              <a:solidFill>
                <a:srgbClr val="434343"/>
              </a:solidFill>
              <a:latin typeface="DM Sans SemiBold"/>
              <a:ea typeface="DM Sans SemiBold"/>
              <a:cs typeface="DM Sans SemiBold"/>
              <a:sym typeface="DM Sans SemiBold"/>
            </a:endParaRPr>
          </a:p>
        </p:txBody>
      </p:sp>
      <p:sp>
        <p:nvSpPr>
          <p:cNvPr id="736" name="Google Shape;736;p52"/>
          <p:cNvSpPr/>
          <p:nvPr/>
        </p:nvSpPr>
        <p:spPr>
          <a:xfrm>
            <a:off x="4655880" y="967735"/>
            <a:ext cx="1938000" cy="2160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Query / Process</a:t>
            </a:r>
            <a:endParaRPr i="0" sz="1300" u="none" cap="none" strike="noStrike">
              <a:solidFill>
                <a:srgbClr val="434343"/>
              </a:solidFill>
              <a:latin typeface="DM Sans SemiBold"/>
              <a:ea typeface="DM Sans SemiBold"/>
              <a:cs typeface="DM Sans SemiBold"/>
              <a:sym typeface="DM Sans SemiBold"/>
            </a:endParaRPr>
          </a:p>
        </p:txBody>
      </p:sp>
      <p:sp>
        <p:nvSpPr>
          <p:cNvPr id="737" name="Google Shape;737;p52"/>
          <p:cNvSpPr/>
          <p:nvPr/>
        </p:nvSpPr>
        <p:spPr>
          <a:xfrm>
            <a:off x="10497579" y="968002"/>
            <a:ext cx="1044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Integrate</a:t>
            </a:r>
            <a:endParaRPr sz="1300">
              <a:solidFill>
                <a:srgbClr val="434343"/>
              </a:solidFill>
              <a:latin typeface="DM Sans SemiBold"/>
              <a:ea typeface="DM Sans SemiBold"/>
              <a:cs typeface="DM Sans SemiBold"/>
              <a:sym typeface="DM Sans SemiBold"/>
            </a:endParaRPr>
          </a:p>
        </p:txBody>
      </p:sp>
      <p:grpSp>
        <p:nvGrpSpPr>
          <p:cNvPr id="738" name="Google Shape;738;p52"/>
          <p:cNvGrpSpPr/>
          <p:nvPr/>
        </p:nvGrpSpPr>
        <p:grpSpPr>
          <a:xfrm>
            <a:off x="10606481" y="3498690"/>
            <a:ext cx="826200" cy="361210"/>
            <a:chOff x="10606481" y="3498690"/>
            <a:chExt cx="826200" cy="361210"/>
          </a:xfrm>
        </p:grpSpPr>
        <p:sp>
          <p:nvSpPr>
            <p:cNvPr id="739" name="Google Shape;739;p52"/>
            <p:cNvSpPr txBox="1"/>
            <p:nvPr/>
          </p:nvSpPr>
          <p:spPr>
            <a:xfrm>
              <a:off x="10606481" y="3735100"/>
              <a:ext cx="826200" cy="1248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Hugging Face</a:t>
              </a:r>
              <a:endParaRPr sz="900">
                <a:solidFill>
                  <a:schemeClr val="accent1"/>
                </a:solidFill>
                <a:latin typeface="DM Sans Medium"/>
                <a:ea typeface="DM Sans Medium"/>
                <a:cs typeface="DM Sans Medium"/>
                <a:sym typeface="DM Sans Medium"/>
              </a:endParaRPr>
            </a:p>
          </p:txBody>
        </p:sp>
        <p:pic>
          <p:nvPicPr>
            <p:cNvPr id="740" name="Google Shape;740;p52"/>
            <p:cNvPicPr preferRelativeResize="0"/>
            <p:nvPr/>
          </p:nvPicPr>
          <p:blipFill>
            <a:blip r:embed="rId11">
              <a:alphaModFix/>
            </a:blip>
            <a:stretch>
              <a:fillRect/>
            </a:stretch>
          </p:blipFill>
          <p:spPr>
            <a:xfrm>
              <a:off x="10897819" y="3498690"/>
              <a:ext cx="243525" cy="227812"/>
            </a:xfrm>
            <a:prstGeom prst="rect">
              <a:avLst/>
            </a:prstGeom>
            <a:noFill/>
            <a:ln>
              <a:noFill/>
            </a:ln>
          </p:spPr>
        </p:pic>
      </p:grpSp>
      <p:grpSp>
        <p:nvGrpSpPr>
          <p:cNvPr id="741" name="Google Shape;741;p52"/>
          <p:cNvGrpSpPr/>
          <p:nvPr/>
        </p:nvGrpSpPr>
        <p:grpSpPr>
          <a:xfrm>
            <a:off x="10745081" y="3937546"/>
            <a:ext cx="549000" cy="366196"/>
            <a:chOff x="10745081" y="3937546"/>
            <a:chExt cx="549000" cy="366196"/>
          </a:xfrm>
        </p:grpSpPr>
        <p:pic>
          <p:nvPicPr>
            <p:cNvPr id="742" name="Google Shape;742;p52"/>
            <p:cNvPicPr preferRelativeResize="0"/>
            <p:nvPr/>
          </p:nvPicPr>
          <p:blipFill>
            <a:blip r:embed="rId12">
              <a:alphaModFix/>
            </a:blip>
            <a:stretch>
              <a:fillRect/>
            </a:stretch>
          </p:blipFill>
          <p:spPr>
            <a:xfrm>
              <a:off x="10912331" y="3937546"/>
              <a:ext cx="214500" cy="217452"/>
            </a:xfrm>
            <a:prstGeom prst="rect">
              <a:avLst/>
            </a:prstGeom>
            <a:noFill/>
            <a:ln>
              <a:noFill/>
            </a:ln>
          </p:spPr>
        </p:pic>
        <p:sp>
          <p:nvSpPr>
            <p:cNvPr id="743" name="Google Shape;743;p52"/>
            <p:cNvSpPr txBox="1"/>
            <p:nvPr/>
          </p:nvSpPr>
          <p:spPr>
            <a:xfrm>
              <a:off x="10745081" y="4165143"/>
              <a:ext cx="5490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OpenAI</a:t>
              </a:r>
              <a:endParaRPr sz="900">
                <a:solidFill>
                  <a:schemeClr val="accent1"/>
                </a:solidFill>
                <a:latin typeface="DM Sans Medium"/>
                <a:ea typeface="DM Sans Medium"/>
                <a:cs typeface="DM Sans Medium"/>
                <a:sym typeface="DM Sans Medium"/>
              </a:endParaRPr>
            </a:p>
          </p:txBody>
        </p:sp>
      </p:grpSp>
      <p:sp>
        <p:nvSpPr>
          <p:cNvPr id="744" name="Google Shape;744;p52"/>
          <p:cNvSpPr/>
          <p:nvPr/>
        </p:nvSpPr>
        <p:spPr>
          <a:xfrm>
            <a:off x="10521581" y="3219266"/>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AI Services</a:t>
            </a:r>
            <a:endParaRPr sz="1100">
              <a:solidFill>
                <a:schemeClr val="accent5"/>
              </a:solidFill>
              <a:latin typeface="DM Sans Medium"/>
              <a:ea typeface="DM Sans Medium"/>
              <a:cs typeface="DM Sans Medium"/>
              <a:sym typeface="DM Sans Medium"/>
            </a:endParaRPr>
          </a:p>
        </p:txBody>
      </p:sp>
      <p:sp>
        <p:nvSpPr>
          <p:cNvPr id="745" name="Google Shape;745;p52"/>
          <p:cNvSpPr txBox="1"/>
          <p:nvPr/>
        </p:nvSpPr>
        <p:spPr>
          <a:xfrm>
            <a:off x="10745081" y="4279763"/>
            <a:ext cx="5490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a:t>
            </a:r>
            <a:endParaRPr sz="1600">
              <a:solidFill>
                <a:schemeClr val="accent1"/>
              </a:solidFill>
              <a:latin typeface="DM Sans Medium"/>
              <a:ea typeface="DM Sans Medium"/>
              <a:cs typeface="DM Sans Medium"/>
              <a:sym typeface="DM Sans Medium"/>
            </a:endParaRPr>
          </a:p>
        </p:txBody>
      </p:sp>
      <p:cxnSp>
        <p:nvCxnSpPr>
          <p:cNvPr id="746" name="Google Shape;746;p52"/>
          <p:cNvCxnSpPr/>
          <p:nvPr/>
        </p:nvCxnSpPr>
        <p:spPr>
          <a:xfrm>
            <a:off x="10391950" y="979075"/>
            <a:ext cx="0" cy="5226000"/>
          </a:xfrm>
          <a:prstGeom prst="straightConnector1">
            <a:avLst/>
          </a:prstGeom>
          <a:noFill/>
          <a:ln cap="flat" cmpd="sng" w="9525">
            <a:solidFill>
              <a:schemeClr val="accent1"/>
            </a:solidFill>
            <a:prstDash val="dash"/>
            <a:round/>
            <a:headEnd len="med" w="med" type="none"/>
            <a:tailEnd len="med" w="med" type="none"/>
          </a:ln>
        </p:spPr>
      </p:cxnSp>
      <p:sp>
        <p:nvSpPr>
          <p:cNvPr id="747" name="Google Shape;747;p52"/>
          <p:cNvSpPr/>
          <p:nvPr/>
        </p:nvSpPr>
        <p:spPr>
          <a:xfrm>
            <a:off x="10521581" y="1368053"/>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ID Provider</a:t>
            </a:r>
            <a:endParaRPr sz="1100">
              <a:solidFill>
                <a:schemeClr val="accent5"/>
              </a:solidFill>
              <a:latin typeface="DM Sans Medium"/>
              <a:ea typeface="DM Sans Medium"/>
              <a:cs typeface="DM Sans Medium"/>
              <a:sym typeface="DM Sans Medium"/>
            </a:endParaRPr>
          </a:p>
        </p:txBody>
      </p:sp>
      <p:grpSp>
        <p:nvGrpSpPr>
          <p:cNvPr id="748" name="Google Shape;748;p52"/>
          <p:cNvGrpSpPr/>
          <p:nvPr/>
        </p:nvGrpSpPr>
        <p:grpSpPr>
          <a:xfrm>
            <a:off x="10597029" y="1623535"/>
            <a:ext cx="845100" cy="405937"/>
            <a:chOff x="10597029" y="1623535"/>
            <a:chExt cx="845100" cy="405937"/>
          </a:xfrm>
        </p:grpSpPr>
        <p:sp>
          <p:nvSpPr>
            <p:cNvPr id="749" name="Google Shape;749;p52"/>
            <p:cNvSpPr txBox="1"/>
            <p:nvPr/>
          </p:nvSpPr>
          <p:spPr>
            <a:xfrm>
              <a:off x="10597029" y="1875573"/>
              <a:ext cx="845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ID Provider</a:t>
              </a:r>
              <a:endParaRPr sz="900">
                <a:solidFill>
                  <a:srgbClr val="1B5162"/>
                </a:solidFill>
                <a:latin typeface="DM Sans Medium"/>
                <a:ea typeface="DM Sans Medium"/>
                <a:cs typeface="DM Sans Medium"/>
                <a:sym typeface="DM Sans Medium"/>
              </a:endParaRPr>
            </a:p>
          </p:txBody>
        </p:sp>
        <p:pic>
          <p:nvPicPr>
            <p:cNvPr id="750" name="Google Shape;750;p52"/>
            <p:cNvPicPr preferRelativeResize="0"/>
            <p:nvPr/>
          </p:nvPicPr>
          <p:blipFill>
            <a:blip r:embed="rId13">
              <a:alphaModFix/>
            </a:blip>
            <a:stretch>
              <a:fillRect/>
            </a:stretch>
          </p:blipFill>
          <p:spPr>
            <a:xfrm>
              <a:off x="10850739" y="1623535"/>
              <a:ext cx="265176" cy="265176"/>
            </a:xfrm>
            <a:prstGeom prst="rect">
              <a:avLst/>
            </a:prstGeom>
            <a:noFill/>
            <a:ln>
              <a:noFill/>
            </a:ln>
          </p:spPr>
        </p:pic>
      </p:grpSp>
      <p:sp>
        <p:nvSpPr>
          <p:cNvPr id="751" name="Google Shape;751;p52"/>
          <p:cNvSpPr/>
          <p:nvPr/>
        </p:nvSpPr>
        <p:spPr>
          <a:xfrm>
            <a:off x="10521581" y="2219271"/>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marR="0" rtl="0" algn="ctr">
              <a:lnSpc>
                <a:spcPct val="90000"/>
              </a:lnSpc>
              <a:spcBef>
                <a:spcPts val="0"/>
              </a:spcBef>
              <a:spcAft>
                <a:spcPts val="0"/>
              </a:spcAft>
              <a:buClr>
                <a:srgbClr val="000000"/>
              </a:buClr>
              <a:buSzPts val="1600"/>
              <a:buFont typeface="Arial"/>
              <a:buNone/>
            </a:pPr>
            <a:r>
              <a:rPr lang="en" sz="1100">
                <a:solidFill>
                  <a:schemeClr val="accent5"/>
                </a:solidFill>
                <a:latin typeface="DM Sans Medium"/>
                <a:ea typeface="DM Sans Medium"/>
                <a:cs typeface="DM Sans Medium"/>
                <a:sym typeface="DM Sans Medium"/>
              </a:rPr>
              <a:t>Governance</a:t>
            </a:r>
            <a:endParaRPr i="0" sz="1100" u="none" cap="none" strike="noStrike">
              <a:solidFill>
                <a:schemeClr val="accent5"/>
              </a:solidFill>
              <a:latin typeface="DM Sans Medium"/>
              <a:ea typeface="DM Sans Medium"/>
              <a:cs typeface="DM Sans Medium"/>
              <a:sym typeface="DM Sans Medium"/>
            </a:endParaRPr>
          </a:p>
        </p:txBody>
      </p:sp>
      <p:grpSp>
        <p:nvGrpSpPr>
          <p:cNvPr id="752" name="Google Shape;752;p52"/>
          <p:cNvGrpSpPr/>
          <p:nvPr/>
        </p:nvGrpSpPr>
        <p:grpSpPr>
          <a:xfrm>
            <a:off x="10702031" y="2486073"/>
            <a:ext cx="635100" cy="543395"/>
            <a:chOff x="10702031" y="2486073"/>
            <a:chExt cx="635100" cy="543395"/>
          </a:xfrm>
        </p:grpSpPr>
        <p:sp>
          <p:nvSpPr>
            <p:cNvPr id="753" name="Google Shape;753;p52"/>
            <p:cNvSpPr txBox="1"/>
            <p:nvPr/>
          </p:nvSpPr>
          <p:spPr>
            <a:xfrm>
              <a:off x="10702031" y="2752267"/>
              <a:ext cx="6351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Enterprise Catalog</a:t>
              </a:r>
              <a:endParaRPr sz="900">
                <a:solidFill>
                  <a:srgbClr val="1B5162"/>
                </a:solidFill>
                <a:latin typeface="DM Sans Medium"/>
                <a:ea typeface="DM Sans Medium"/>
                <a:cs typeface="DM Sans Medium"/>
                <a:sym typeface="DM Sans Medium"/>
              </a:endParaRPr>
            </a:p>
          </p:txBody>
        </p:sp>
        <p:pic>
          <p:nvPicPr>
            <p:cNvPr id="754" name="Google Shape;754;p52"/>
            <p:cNvPicPr preferRelativeResize="0"/>
            <p:nvPr/>
          </p:nvPicPr>
          <p:blipFill>
            <a:blip r:embed="rId14">
              <a:alphaModFix/>
            </a:blip>
            <a:stretch>
              <a:fillRect/>
            </a:stretch>
          </p:blipFill>
          <p:spPr>
            <a:xfrm>
              <a:off x="10850716" y="2486073"/>
              <a:ext cx="265176" cy="265176"/>
            </a:xfrm>
            <a:prstGeom prst="rect">
              <a:avLst/>
            </a:prstGeom>
            <a:noFill/>
            <a:ln>
              <a:noFill/>
            </a:ln>
          </p:spPr>
        </p:pic>
      </p:grpSp>
      <p:sp>
        <p:nvSpPr>
          <p:cNvPr id="755" name="Google Shape;755;p52"/>
          <p:cNvSpPr/>
          <p:nvPr/>
        </p:nvSpPr>
        <p:spPr>
          <a:xfrm>
            <a:off x="10521581" y="4715861"/>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Orchestration</a:t>
            </a:r>
            <a:endParaRPr sz="1100">
              <a:solidFill>
                <a:schemeClr val="accent5"/>
              </a:solidFill>
              <a:latin typeface="DM Sans Medium"/>
              <a:ea typeface="DM Sans Medium"/>
              <a:cs typeface="DM Sans Medium"/>
              <a:sym typeface="DM Sans Medium"/>
            </a:endParaRPr>
          </a:p>
        </p:txBody>
      </p:sp>
      <p:grpSp>
        <p:nvGrpSpPr>
          <p:cNvPr id="756" name="Google Shape;756;p52"/>
          <p:cNvGrpSpPr/>
          <p:nvPr/>
        </p:nvGrpSpPr>
        <p:grpSpPr>
          <a:xfrm>
            <a:off x="10621328" y="4994250"/>
            <a:ext cx="796500" cy="553688"/>
            <a:chOff x="10621328" y="4994250"/>
            <a:chExt cx="796500" cy="553688"/>
          </a:xfrm>
        </p:grpSpPr>
        <p:sp>
          <p:nvSpPr>
            <p:cNvPr id="757" name="Google Shape;757;p52"/>
            <p:cNvSpPr txBox="1"/>
            <p:nvPr/>
          </p:nvSpPr>
          <p:spPr>
            <a:xfrm>
              <a:off x="10621328" y="5270738"/>
              <a:ext cx="7965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External Orchestrator</a:t>
              </a:r>
              <a:endParaRPr sz="900">
                <a:solidFill>
                  <a:srgbClr val="1B5162"/>
                </a:solidFill>
                <a:latin typeface="DM Sans Medium"/>
                <a:ea typeface="DM Sans Medium"/>
                <a:cs typeface="DM Sans Medium"/>
                <a:sym typeface="DM Sans Medium"/>
              </a:endParaRPr>
            </a:p>
          </p:txBody>
        </p:sp>
        <p:pic>
          <p:nvPicPr>
            <p:cNvPr id="758" name="Google Shape;758;p52"/>
            <p:cNvPicPr preferRelativeResize="0"/>
            <p:nvPr/>
          </p:nvPicPr>
          <p:blipFill>
            <a:blip r:embed="rId15">
              <a:alphaModFix/>
            </a:blip>
            <a:stretch>
              <a:fillRect/>
            </a:stretch>
          </p:blipFill>
          <p:spPr>
            <a:xfrm>
              <a:off x="10864167" y="4994250"/>
              <a:ext cx="265176" cy="265176"/>
            </a:xfrm>
            <a:prstGeom prst="rect">
              <a:avLst/>
            </a:prstGeom>
            <a:noFill/>
            <a:ln>
              <a:noFill/>
            </a:ln>
          </p:spPr>
        </p:pic>
      </p:grpSp>
      <p:sp>
        <p:nvSpPr>
          <p:cNvPr id="759" name="Google Shape;759;p52"/>
          <p:cNvSpPr txBox="1"/>
          <p:nvPr/>
        </p:nvSpPr>
        <p:spPr>
          <a:xfrm>
            <a:off x="834551" y="5927525"/>
            <a:ext cx="932400" cy="191100"/>
          </a:xfrm>
          <a:prstGeom prst="rect">
            <a:avLst/>
          </a:prstGeom>
          <a:noFill/>
          <a:ln>
            <a:noFill/>
          </a:ln>
        </p:spPr>
        <p:txBody>
          <a:bodyPr anchorCtr="0" anchor="ctr" bIns="44800" lIns="0" spcFirstLastPara="1" rIns="0" wrap="square" tIns="44800">
            <a:noAutofit/>
          </a:bodyPr>
          <a:lstStyle/>
          <a:p>
            <a:pPr indent="0" lvl="0" marL="0" marR="0" rtl="0" algn="l">
              <a:lnSpc>
                <a:spcPct val="90000"/>
              </a:lnSpc>
              <a:spcBef>
                <a:spcPts val="0"/>
              </a:spcBef>
              <a:spcAft>
                <a:spcPts val="0"/>
              </a:spcAft>
              <a:buNone/>
            </a:pPr>
            <a:r>
              <a:rPr lang="en" sz="900">
                <a:solidFill>
                  <a:srgbClr val="1B5162"/>
                </a:solidFill>
                <a:latin typeface="DM Sans Light"/>
                <a:ea typeface="DM Sans Light"/>
                <a:cs typeface="DM Sans Light"/>
                <a:sym typeface="DM Sans Light"/>
              </a:rPr>
              <a:t>* Hive Metastore</a:t>
            </a:r>
            <a:endParaRPr sz="900">
              <a:solidFill>
                <a:srgbClr val="1B5162"/>
              </a:solidFill>
              <a:latin typeface="DM Sans Light"/>
              <a:ea typeface="DM Sans Light"/>
              <a:cs typeface="DM Sans Light"/>
              <a:sym typeface="DM Sans Light"/>
            </a:endParaRPr>
          </a:p>
        </p:txBody>
      </p:sp>
      <p:cxnSp>
        <p:nvCxnSpPr>
          <p:cNvPr id="760" name="Google Shape;760;p52"/>
          <p:cNvCxnSpPr/>
          <p:nvPr/>
        </p:nvCxnSpPr>
        <p:spPr>
          <a:xfrm>
            <a:off x="1768354" y="5025793"/>
            <a:ext cx="1413300" cy="600"/>
          </a:xfrm>
          <a:prstGeom prst="bentConnector3">
            <a:avLst>
              <a:gd fmla="val 50000" name="adj1"/>
            </a:avLst>
          </a:prstGeom>
          <a:noFill/>
          <a:ln cap="flat" cmpd="sng" w="9525">
            <a:solidFill>
              <a:schemeClr val="accent1"/>
            </a:solidFill>
            <a:prstDash val="solid"/>
            <a:round/>
            <a:headEnd len="sm" w="sm" type="none"/>
            <a:tailEnd len="sm" w="sm" type="triangle"/>
          </a:ln>
        </p:spPr>
      </p:cxnSp>
      <p:grpSp>
        <p:nvGrpSpPr>
          <p:cNvPr id="761" name="Google Shape;761;p52"/>
          <p:cNvGrpSpPr/>
          <p:nvPr/>
        </p:nvGrpSpPr>
        <p:grpSpPr>
          <a:xfrm>
            <a:off x="911400" y="4663311"/>
            <a:ext cx="336000" cy="426753"/>
            <a:chOff x="929785" y="4678386"/>
            <a:chExt cx="336000" cy="426753"/>
          </a:xfrm>
        </p:grpSpPr>
        <p:sp>
          <p:nvSpPr>
            <p:cNvPr id="762" name="Google Shape;762;p52"/>
            <p:cNvSpPr txBox="1"/>
            <p:nvPr/>
          </p:nvSpPr>
          <p:spPr>
            <a:xfrm>
              <a:off x="929785" y="4914039"/>
              <a:ext cx="3360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SaaS</a:t>
              </a:r>
              <a:endParaRPr sz="900">
                <a:solidFill>
                  <a:srgbClr val="1B5162"/>
                </a:solidFill>
                <a:latin typeface="DM Sans Medium"/>
                <a:ea typeface="DM Sans Medium"/>
                <a:cs typeface="DM Sans Medium"/>
                <a:sym typeface="DM Sans Medium"/>
              </a:endParaRPr>
            </a:p>
          </p:txBody>
        </p:sp>
        <p:pic>
          <p:nvPicPr>
            <p:cNvPr id="763" name="Google Shape;763;p52" title="primary-icon-navy-spark-cluster.png"/>
            <p:cNvPicPr preferRelativeResize="0"/>
            <p:nvPr/>
          </p:nvPicPr>
          <p:blipFill>
            <a:blip r:embed="rId16">
              <a:alphaModFix/>
            </a:blip>
            <a:stretch>
              <a:fillRect/>
            </a:stretch>
          </p:blipFill>
          <p:spPr>
            <a:xfrm>
              <a:off x="963302" y="4678386"/>
              <a:ext cx="269065" cy="269063"/>
            </a:xfrm>
            <a:prstGeom prst="rect">
              <a:avLst/>
            </a:prstGeom>
            <a:noFill/>
            <a:ln>
              <a:noFill/>
            </a:ln>
          </p:spPr>
        </p:pic>
      </p:grpSp>
      <p:grpSp>
        <p:nvGrpSpPr>
          <p:cNvPr id="764" name="Google Shape;764;p52"/>
          <p:cNvGrpSpPr/>
          <p:nvPr/>
        </p:nvGrpSpPr>
        <p:grpSpPr>
          <a:xfrm>
            <a:off x="1366236" y="4655157"/>
            <a:ext cx="324300" cy="434522"/>
            <a:chOff x="1377357" y="4647990"/>
            <a:chExt cx="324300" cy="434522"/>
          </a:xfrm>
        </p:grpSpPr>
        <p:sp>
          <p:nvSpPr>
            <p:cNvPr id="765" name="Google Shape;765;p52"/>
            <p:cNvSpPr txBox="1"/>
            <p:nvPr/>
          </p:nvSpPr>
          <p:spPr>
            <a:xfrm>
              <a:off x="1377357" y="4891411"/>
              <a:ext cx="3243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HMS</a:t>
              </a:r>
              <a:r>
                <a:rPr lang="en" sz="900">
                  <a:solidFill>
                    <a:srgbClr val="1B5162"/>
                  </a:solidFill>
                  <a:latin typeface="DM Sans Light"/>
                  <a:ea typeface="DM Sans Light"/>
                  <a:cs typeface="DM Sans Light"/>
                  <a:sym typeface="DM Sans Light"/>
                </a:rPr>
                <a:t>*</a:t>
              </a:r>
              <a:endParaRPr sz="900">
                <a:solidFill>
                  <a:srgbClr val="1B5162"/>
                </a:solidFill>
                <a:latin typeface="DM Sans Light"/>
                <a:ea typeface="DM Sans Light"/>
                <a:cs typeface="DM Sans Light"/>
                <a:sym typeface="DM Sans Light"/>
              </a:endParaRPr>
            </a:p>
          </p:txBody>
        </p:sp>
        <p:pic>
          <p:nvPicPr>
            <p:cNvPr id="766" name="Google Shape;766;p52" title="primary-icon-navy-hive-metastore-execution.png"/>
            <p:cNvPicPr preferRelativeResize="0"/>
            <p:nvPr/>
          </p:nvPicPr>
          <p:blipFill>
            <a:blip r:embed="rId17">
              <a:alphaModFix/>
            </a:blip>
            <a:stretch>
              <a:fillRect/>
            </a:stretch>
          </p:blipFill>
          <p:spPr>
            <a:xfrm>
              <a:off x="1379822" y="4647990"/>
              <a:ext cx="282300" cy="282300"/>
            </a:xfrm>
            <a:prstGeom prst="rect">
              <a:avLst/>
            </a:prstGeom>
            <a:noFill/>
            <a:ln>
              <a:noFill/>
            </a:ln>
          </p:spPr>
        </p:pic>
      </p:grpSp>
      <p:grpSp>
        <p:nvGrpSpPr>
          <p:cNvPr id="767" name="Google Shape;767;p52"/>
          <p:cNvGrpSpPr/>
          <p:nvPr/>
        </p:nvGrpSpPr>
        <p:grpSpPr>
          <a:xfrm>
            <a:off x="899750" y="4283846"/>
            <a:ext cx="359100" cy="422318"/>
            <a:chOff x="899750" y="4215307"/>
            <a:chExt cx="359100" cy="422318"/>
          </a:xfrm>
        </p:grpSpPr>
        <p:sp>
          <p:nvSpPr>
            <p:cNvPr id="768" name="Google Shape;768;p52"/>
            <p:cNvSpPr txBox="1"/>
            <p:nvPr/>
          </p:nvSpPr>
          <p:spPr>
            <a:xfrm>
              <a:off x="899750" y="4446525"/>
              <a:ext cx="3591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DWH</a:t>
              </a:r>
              <a:endParaRPr sz="900">
                <a:solidFill>
                  <a:srgbClr val="1B5162"/>
                </a:solidFill>
                <a:latin typeface="DM Sans Medium"/>
                <a:ea typeface="DM Sans Medium"/>
                <a:cs typeface="DM Sans Medium"/>
                <a:sym typeface="DM Sans Medium"/>
              </a:endParaRPr>
            </a:p>
          </p:txBody>
        </p:sp>
        <p:pic>
          <p:nvPicPr>
            <p:cNvPr id="769" name="Google Shape;769;p52" title="primary-icon-navy-data-warehouse-2.png"/>
            <p:cNvPicPr preferRelativeResize="0"/>
            <p:nvPr/>
          </p:nvPicPr>
          <p:blipFill>
            <a:blip r:embed="rId18">
              <a:alphaModFix/>
            </a:blip>
            <a:stretch>
              <a:fillRect/>
            </a:stretch>
          </p:blipFill>
          <p:spPr>
            <a:xfrm>
              <a:off x="912450" y="4215307"/>
              <a:ext cx="336000" cy="273665"/>
            </a:xfrm>
            <a:prstGeom prst="rect">
              <a:avLst/>
            </a:prstGeom>
            <a:noFill/>
            <a:ln>
              <a:noFill/>
            </a:ln>
          </p:spPr>
        </p:pic>
      </p:grpSp>
      <p:pic>
        <p:nvPicPr>
          <p:cNvPr id="770" name="Google Shape;770;p52"/>
          <p:cNvPicPr preferRelativeResize="0"/>
          <p:nvPr/>
        </p:nvPicPr>
        <p:blipFill>
          <a:blip r:embed="rId19">
            <a:alphaModFix/>
          </a:blip>
          <a:stretch>
            <a:fillRect/>
          </a:stretch>
        </p:blipFill>
        <p:spPr>
          <a:xfrm>
            <a:off x="2341000" y="5180940"/>
            <a:ext cx="191100" cy="160007"/>
          </a:xfrm>
          <a:prstGeom prst="rect">
            <a:avLst/>
          </a:prstGeom>
          <a:noFill/>
          <a:ln>
            <a:noFill/>
          </a:ln>
        </p:spPr>
      </p:pic>
      <p:sp>
        <p:nvSpPr>
          <p:cNvPr id="771" name="Google Shape;771;p52"/>
          <p:cNvSpPr/>
          <p:nvPr/>
        </p:nvSpPr>
        <p:spPr>
          <a:xfrm>
            <a:off x="1989525" y="3622000"/>
            <a:ext cx="1064400" cy="1327500"/>
          </a:xfrm>
          <a:prstGeom prst="roundRect">
            <a:avLst>
              <a:gd fmla="val 6120"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85000"/>
              </a:lnSpc>
              <a:spcBef>
                <a:spcPts val="0"/>
              </a:spcBef>
              <a:spcAft>
                <a:spcPts val="0"/>
              </a:spcAft>
              <a:buNone/>
            </a:pPr>
            <a:r>
              <a:rPr lang="en" sz="1100">
                <a:solidFill>
                  <a:schemeClr val="accent5"/>
                </a:solidFill>
                <a:latin typeface="DM Sans Medium"/>
                <a:ea typeface="DM Sans Medium"/>
                <a:cs typeface="DM Sans Medium"/>
                <a:sym typeface="DM Sans Medium"/>
              </a:rPr>
              <a:t>Batch and Streaming</a:t>
            </a:r>
            <a:endParaRPr sz="1100">
              <a:solidFill>
                <a:schemeClr val="accent5"/>
              </a:solidFill>
              <a:latin typeface="DM Sans Medium"/>
              <a:ea typeface="DM Sans Medium"/>
              <a:cs typeface="DM Sans Medium"/>
              <a:sym typeface="DM Sans Medium"/>
            </a:endParaRPr>
          </a:p>
        </p:txBody>
      </p:sp>
      <p:grpSp>
        <p:nvGrpSpPr>
          <p:cNvPr id="772" name="Google Shape;772;p52"/>
          <p:cNvGrpSpPr/>
          <p:nvPr/>
        </p:nvGrpSpPr>
        <p:grpSpPr>
          <a:xfrm>
            <a:off x="1964154" y="4131367"/>
            <a:ext cx="524700" cy="534103"/>
            <a:chOff x="2128750" y="4862972"/>
            <a:chExt cx="524700" cy="534103"/>
          </a:xfrm>
        </p:grpSpPr>
        <p:sp>
          <p:nvSpPr>
            <p:cNvPr id="773" name="Google Shape;773;p52"/>
            <p:cNvSpPr txBox="1"/>
            <p:nvPr/>
          </p:nvSpPr>
          <p:spPr>
            <a:xfrm>
              <a:off x="2128750" y="5119875"/>
              <a:ext cx="5247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Ingest </a:t>
              </a:r>
              <a:br>
                <a:rPr lang="en" sz="900">
                  <a:solidFill>
                    <a:schemeClr val="accent1"/>
                  </a:solidFill>
                  <a:latin typeface="DM Sans Medium"/>
                  <a:ea typeface="DM Sans Medium"/>
                  <a:cs typeface="DM Sans Medium"/>
                  <a:sym typeface="DM Sans Medium"/>
                </a:rPr>
              </a:br>
              <a:r>
                <a:rPr lang="en" sz="900">
                  <a:solidFill>
                    <a:schemeClr val="accent1"/>
                  </a:solidFill>
                  <a:latin typeface="DM Sans Medium"/>
                  <a:ea typeface="DM Sans Medium"/>
                  <a:cs typeface="DM Sans Medium"/>
                  <a:sym typeface="DM Sans Medium"/>
                </a:rPr>
                <a:t>tool</a:t>
              </a:r>
              <a:endParaRPr sz="900">
                <a:solidFill>
                  <a:schemeClr val="accent1"/>
                </a:solidFill>
                <a:latin typeface="DM Sans Medium"/>
                <a:ea typeface="DM Sans Medium"/>
                <a:cs typeface="DM Sans Medium"/>
                <a:sym typeface="DM Sans Medium"/>
              </a:endParaRPr>
            </a:p>
          </p:txBody>
        </p:sp>
        <p:pic>
          <p:nvPicPr>
            <p:cNvPr id="774" name="Google Shape;774;p52"/>
            <p:cNvPicPr preferRelativeResize="0"/>
            <p:nvPr/>
          </p:nvPicPr>
          <p:blipFill>
            <a:blip r:embed="rId20">
              <a:alphaModFix/>
            </a:blip>
            <a:stretch>
              <a:fillRect/>
            </a:stretch>
          </p:blipFill>
          <p:spPr>
            <a:xfrm>
              <a:off x="2243967" y="4862972"/>
              <a:ext cx="265176" cy="265176"/>
            </a:xfrm>
            <a:prstGeom prst="rect">
              <a:avLst/>
            </a:prstGeom>
            <a:noFill/>
            <a:ln>
              <a:noFill/>
            </a:ln>
          </p:spPr>
        </p:pic>
      </p:grpSp>
      <p:grpSp>
        <p:nvGrpSpPr>
          <p:cNvPr id="775" name="Google Shape;775;p52"/>
          <p:cNvGrpSpPr/>
          <p:nvPr/>
        </p:nvGrpSpPr>
        <p:grpSpPr>
          <a:xfrm>
            <a:off x="2394933" y="4131350"/>
            <a:ext cx="685500" cy="534119"/>
            <a:chOff x="2654875" y="4862956"/>
            <a:chExt cx="685500" cy="534119"/>
          </a:xfrm>
        </p:grpSpPr>
        <p:sp>
          <p:nvSpPr>
            <p:cNvPr id="776" name="Google Shape;776;p52"/>
            <p:cNvSpPr txBox="1"/>
            <p:nvPr/>
          </p:nvSpPr>
          <p:spPr>
            <a:xfrm>
              <a:off x="2654875" y="5119875"/>
              <a:ext cx="6855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Event Streaming</a:t>
              </a:r>
              <a:endParaRPr sz="900">
                <a:solidFill>
                  <a:schemeClr val="accent1"/>
                </a:solidFill>
                <a:latin typeface="DM Sans Medium"/>
                <a:ea typeface="DM Sans Medium"/>
                <a:cs typeface="DM Sans Medium"/>
                <a:sym typeface="DM Sans Medium"/>
              </a:endParaRPr>
            </a:p>
          </p:txBody>
        </p:sp>
        <p:pic>
          <p:nvPicPr>
            <p:cNvPr id="777" name="Google Shape;777;p52"/>
            <p:cNvPicPr preferRelativeResize="0"/>
            <p:nvPr/>
          </p:nvPicPr>
          <p:blipFill>
            <a:blip r:embed="rId21">
              <a:alphaModFix/>
            </a:blip>
            <a:stretch>
              <a:fillRect/>
            </a:stretch>
          </p:blipFill>
          <p:spPr>
            <a:xfrm>
              <a:off x="2858432" y="4862956"/>
              <a:ext cx="265176" cy="265176"/>
            </a:xfrm>
            <a:prstGeom prst="rect">
              <a:avLst/>
            </a:prstGeom>
            <a:noFill/>
            <a:ln>
              <a:noFill/>
            </a:ln>
          </p:spPr>
        </p:pic>
      </p:grpSp>
      <p:sp>
        <p:nvSpPr>
          <p:cNvPr id="778" name="Google Shape;778;p52"/>
          <p:cNvSpPr/>
          <p:nvPr/>
        </p:nvSpPr>
        <p:spPr>
          <a:xfrm>
            <a:off x="836750" y="5135200"/>
            <a:ext cx="932400" cy="617700"/>
          </a:xfrm>
          <a:prstGeom prst="roundRect">
            <a:avLst>
              <a:gd fmla="val 12696"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grpSp>
        <p:nvGrpSpPr>
          <p:cNvPr id="779" name="Google Shape;779;p52"/>
          <p:cNvGrpSpPr/>
          <p:nvPr/>
        </p:nvGrpSpPr>
        <p:grpSpPr>
          <a:xfrm>
            <a:off x="1247501" y="5175655"/>
            <a:ext cx="524700" cy="496901"/>
            <a:chOff x="1266036" y="5196700"/>
            <a:chExt cx="524700" cy="496901"/>
          </a:xfrm>
        </p:grpSpPr>
        <p:sp>
          <p:nvSpPr>
            <p:cNvPr id="780" name="Google Shape;780;p52"/>
            <p:cNvSpPr txBox="1"/>
            <p:nvPr/>
          </p:nvSpPr>
          <p:spPr>
            <a:xfrm>
              <a:off x="1266036" y="550250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Data Shares</a:t>
              </a:r>
              <a:endParaRPr sz="900">
                <a:solidFill>
                  <a:srgbClr val="1B5162"/>
                </a:solidFill>
                <a:latin typeface="DM Sans Medium"/>
                <a:ea typeface="DM Sans Medium"/>
                <a:cs typeface="DM Sans Medium"/>
                <a:sym typeface="DM Sans Medium"/>
              </a:endParaRPr>
            </a:p>
          </p:txBody>
        </p:sp>
        <p:pic>
          <p:nvPicPr>
            <p:cNvPr id="781" name="Google Shape;781;p52" title="primary-icon-navy-data-sharing.png"/>
            <p:cNvPicPr preferRelativeResize="0"/>
            <p:nvPr/>
          </p:nvPicPr>
          <p:blipFill>
            <a:blip r:embed="rId22">
              <a:alphaModFix/>
            </a:blip>
            <a:stretch>
              <a:fillRect/>
            </a:stretch>
          </p:blipFill>
          <p:spPr>
            <a:xfrm>
              <a:off x="1393854" y="5196700"/>
              <a:ext cx="269065" cy="269063"/>
            </a:xfrm>
            <a:prstGeom prst="rect">
              <a:avLst/>
            </a:prstGeom>
            <a:noFill/>
            <a:ln>
              <a:noFill/>
            </a:ln>
          </p:spPr>
        </p:pic>
      </p:grpSp>
      <p:grpSp>
        <p:nvGrpSpPr>
          <p:cNvPr id="782" name="Google Shape;782;p52"/>
          <p:cNvGrpSpPr/>
          <p:nvPr/>
        </p:nvGrpSpPr>
        <p:grpSpPr>
          <a:xfrm>
            <a:off x="816949" y="5175643"/>
            <a:ext cx="524700" cy="496193"/>
            <a:chOff x="835484" y="5196688"/>
            <a:chExt cx="524700" cy="496193"/>
          </a:xfrm>
        </p:grpSpPr>
        <p:sp>
          <p:nvSpPr>
            <p:cNvPr id="783" name="Google Shape;783;p52"/>
            <p:cNvSpPr txBox="1"/>
            <p:nvPr/>
          </p:nvSpPr>
          <p:spPr>
            <a:xfrm>
              <a:off x="835484" y="550178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Market</a:t>
              </a:r>
              <a:br>
                <a:rPr lang="en" sz="900">
                  <a:solidFill>
                    <a:srgbClr val="1B5162"/>
                  </a:solidFill>
                  <a:latin typeface="DM Sans Medium"/>
                  <a:ea typeface="DM Sans Medium"/>
                  <a:cs typeface="DM Sans Medium"/>
                  <a:sym typeface="DM Sans Medium"/>
                </a:rPr>
              </a:br>
              <a:r>
                <a:rPr lang="en" sz="900">
                  <a:solidFill>
                    <a:srgbClr val="1B5162"/>
                  </a:solidFill>
                  <a:latin typeface="DM Sans Medium"/>
                  <a:ea typeface="DM Sans Medium"/>
                  <a:cs typeface="DM Sans Medium"/>
                  <a:sym typeface="DM Sans Medium"/>
                </a:rPr>
                <a:t>places</a:t>
              </a:r>
              <a:endParaRPr sz="900">
                <a:solidFill>
                  <a:srgbClr val="1B5162"/>
                </a:solidFill>
                <a:latin typeface="DM Sans Medium"/>
                <a:ea typeface="DM Sans Medium"/>
                <a:cs typeface="DM Sans Medium"/>
                <a:sym typeface="DM Sans Medium"/>
              </a:endParaRPr>
            </a:p>
          </p:txBody>
        </p:sp>
        <p:pic>
          <p:nvPicPr>
            <p:cNvPr id="784" name="Google Shape;784;p52" title="primary-icon-navy-distribution.png"/>
            <p:cNvPicPr preferRelativeResize="0"/>
            <p:nvPr/>
          </p:nvPicPr>
          <p:blipFill>
            <a:blip r:embed="rId23">
              <a:alphaModFix/>
            </a:blip>
            <a:stretch>
              <a:fillRect/>
            </a:stretch>
          </p:blipFill>
          <p:spPr>
            <a:xfrm>
              <a:off x="963302" y="5196688"/>
              <a:ext cx="269065" cy="269063"/>
            </a:xfrm>
            <a:prstGeom prst="rect">
              <a:avLst/>
            </a:prstGeom>
            <a:noFill/>
            <a:ln>
              <a:noFill/>
            </a:ln>
          </p:spPr>
        </p:pic>
      </p:grpSp>
      <p:sp>
        <p:nvSpPr>
          <p:cNvPr id="785" name="Google Shape;785;p52"/>
          <p:cNvSpPr txBox="1"/>
          <p:nvPr/>
        </p:nvSpPr>
        <p:spPr>
          <a:xfrm rot="-5400000">
            <a:off x="431325" y="5359400"/>
            <a:ext cx="5793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Sharing</a:t>
            </a:r>
            <a:endParaRPr sz="1100">
              <a:solidFill>
                <a:schemeClr val="accent5"/>
              </a:solidFill>
              <a:latin typeface="DM Sans"/>
              <a:ea typeface="DM Sans"/>
              <a:cs typeface="DM Sans"/>
              <a:sym typeface="DM Sans"/>
            </a:endParaRPr>
          </a:p>
        </p:txBody>
      </p:sp>
      <p:sp>
        <p:nvSpPr>
          <p:cNvPr id="786" name="Google Shape;786;p52"/>
          <p:cNvSpPr/>
          <p:nvPr/>
        </p:nvSpPr>
        <p:spPr>
          <a:xfrm>
            <a:off x="9133775" y="2227875"/>
            <a:ext cx="1082100" cy="1281600"/>
          </a:xfrm>
          <a:prstGeom prst="roundRect">
            <a:avLst>
              <a:gd fmla="val 6450"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1"/>
                </a:solidFill>
                <a:latin typeface="DM Sans Medium"/>
                <a:ea typeface="DM Sans Medium"/>
                <a:cs typeface="DM Sans Medium"/>
                <a:sym typeface="DM Sans Medium"/>
              </a:rPr>
              <a:t>AI/BI</a:t>
            </a:r>
            <a:endParaRPr sz="1100">
              <a:solidFill>
                <a:schemeClr val="accent1"/>
              </a:solidFill>
              <a:latin typeface="DM Sans Medium"/>
              <a:ea typeface="DM Sans Medium"/>
              <a:cs typeface="DM Sans Medium"/>
              <a:sym typeface="DM Sans Medium"/>
            </a:endParaRPr>
          </a:p>
          <a:p>
            <a:pPr indent="0" lvl="0" marL="0" rtl="0" algn="ctr">
              <a:spcBef>
                <a:spcPts val="300"/>
              </a:spcBef>
              <a:spcAft>
                <a:spcPts val="300"/>
              </a:spcAft>
              <a:buNone/>
            </a:pPr>
            <a:r>
              <a:rPr lang="en" sz="1000">
                <a:solidFill>
                  <a:schemeClr val="accent5"/>
                </a:solidFill>
                <a:latin typeface="DM Sans Medium"/>
                <a:ea typeface="DM Sans Medium"/>
                <a:cs typeface="DM Sans Medium"/>
                <a:sym typeface="DM Sans Medium"/>
              </a:rPr>
              <a:t>AI/BI Genie &amp; Dashboards</a:t>
            </a:r>
            <a:endParaRPr sz="1100">
              <a:solidFill>
                <a:schemeClr val="accent1"/>
              </a:solidFill>
              <a:latin typeface="DM Sans Medium"/>
              <a:ea typeface="DM Sans Medium"/>
              <a:cs typeface="DM Sans Medium"/>
              <a:sym typeface="DM Sans Medium"/>
            </a:endParaRPr>
          </a:p>
        </p:txBody>
      </p:sp>
      <p:sp>
        <p:nvSpPr>
          <p:cNvPr id="787" name="Google Shape;787;p52"/>
          <p:cNvSpPr/>
          <p:nvPr/>
        </p:nvSpPr>
        <p:spPr>
          <a:xfrm>
            <a:off x="9137674" y="3574037"/>
            <a:ext cx="1082100" cy="557700"/>
          </a:xfrm>
          <a:prstGeom prst="roundRect">
            <a:avLst>
              <a:gd fmla="val 10634"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1"/>
                </a:solidFill>
                <a:latin typeface="DM Sans Medium"/>
                <a:ea typeface="DM Sans Medium"/>
                <a:cs typeface="DM Sans Medium"/>
                <a:sym typeface="DM Sans Medium"/>
              </a:rPr>
              <a:t>Applications</a:t>
            </a:r>
            <a:endParaRPr sz="1100">
              <a:solidFill>
                <a:schemeClr val="accent1"/>
              </a:solidFill>
              <a:latin typeface="DM Sans Medium"/>
              <a:ea typeface="DM Sans Medium"/>
              <a:cs typeface="DM Sans Medium"/>
              <a:sym typeface="DM Sans Medium"/>
            </a:endParaRPr>
          </a:p>
          <a:p>
            <a:pPr indent="0" lvl="0" marL="0" rtl="0" algn="ctr">
              <a:spcBef>
                <a:spcPts val="300"/>
              </a:spcBef>
              <a:spcAft>
                <a:spcPts val="300"/>
              </a:spcAft>
              <a:buNone/>
            </a:pPr>
            <a:r>
              <a:rPr lang="en" sz="1000">
                <a:solidFill>
                  <a:schemeClr val="accent5"/>
                </a:solidFill>
                <a:latin typeface="DM Sans Medium"/>
                <a:ea typeface="DM Sans Medium"/>
                <a:cs typeface="DM Sans Medium"/>
                <a:sym typeface="DM Sans Medium"/>
              </a:rPr>
              <a:t>Databricks</a:t>
            </a:r>
            <a:br>
              <a:rPr lang="en" sz="1000">
                <a:solidFill>
                  <a:schemeClr val="accent5"/>
                </a:solidFill>
                <a:latin typeface="DM Sans Medium"/>
                <a:ea typeface="DM Sans Medium"/>
                <a:cs typeface="DM Sans Medium"/>
                <a:sym typeface="DM Sans Medium"/>
              </a:rPr>
            </a:br>
            <a:r>
              <a:rPr lang="en" sz="1000">
                <a:solidFill>
                  <a:schemeClr val="accent5"/>
                </a:solidFill>
                <a:latin typeface="DM Sans Medium"/>
                <a:ea typeface="DM Sans Medium"/>
                <a:cs typeface="DM Sans Medium"/>
                <a:sym typeface="DM Sans Medium"/>
              </a:rPr>
              <a:t>Apps</a:t>
            </a:r>
            <a:endParaRPr sz="1100">
              <a:solidFill>
                <a:schemeClr val="accent1"/>
              </a:solidFill>
              <a:latin typeface="DM Sans Medium"/>
              <a:ea typeface="DM Sans Medium"/>
              <a:cs typeface="DM Sans Medium"/>
              <a:sym typeface="DM Sans Medium"/>
            </a:endParaRPr>
          </a:p>
        </p:txBody>
      </p:sp>
      <p:sp>
        <p:nvSpPr>
          <p:cNvPr id="788" name="Google Shape;788;p52"/>
          <p:cNvSpPr/>
          <p:nvPr/>
        </p:nvSpPr>
        <p:spPr>
          <a:xfrm>
            <a:off x="1989525" y="1721525"/>
            <a:ext cx="8226300" cy="4596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1"/>
                </a:solidFill>
                <a:latin typeface="DM Sans Medium"/>
                <a:ea typeface="DM Sans Medium"/>
                <a:cs typeface="DM Sans Medium"/>
                <a:sym typeface="DM Sans Medium"/>
              </a:rPr>
              <a:t>Automation and Orchestration</a:t>
            </a:r>
            <a:endParaRPr sz="1100">
              <a:solidFill>
                <a:schemeClr val="accent1"/>
              </a:solidFill>
              <a:latin typeface="DM Sans Medium"/>
              <a:ea typeface="DM Sans Medium"/>
              <a:cs typeface="DM Sans Medium"/>
              <a:sym typeface="DM Sans Medium"/>
            </a:endParaRPr>
          </a:p>
          <a:p>
            <a:pPr indent="0" lvl="0" marL="0" rtl="0" algn="ctr">
              <a:spcBef>
                <a:spcPts val="300"/>
              </a:spcBef>
              <a:spcAft>
                <a:spcPts val="0"/>
              </a:spcAft>
              <a:buNone/>
            </a:pPr>
            <a:r>
              <a:rPr lang="en" sz="1000">
                <a:solidFill>
                  <a:schemeClr val="accent5"/>
                </a:solidFill>
                <a:latin typeface="DM Sans Medium"/>
                <a:ea typeface="DM Sans Medium"/>
                <a:cs typeface="DM Sans Medium"/>
                <a:sym typeface="DM Sans Medium"/>
              </a:rPr>
              <a:t>Workflows and Jobs, CI/CD, MLOps</a:t>
            </a:r>
            <a:endParaRPr sz="1000">
              <a:solidFill>
                <a:schemeClr val="accent5"/>
              </a:solidFill>
              <a:latin typeface="DM Sans SemiBold"/>
              <a:ea typeface="DM Sans SemiBold"/>
              <a:cs typeface="DM Sans SemiBold"/>
              <a:sym typeface="DM Sans SemiBold"/>
            </a:endParaRPr>
          </a:p>
          <a:p>
            <a:pPr indent="0" lvl="0" marL="0" marR="0" rtl="0" algn="ctr">
              <a:lnSpc>
                <a:spcPct val="100000"/>
              </a:lnSpc>
              <a:spcBef>
                <a:spcPts val="300"/>
              </a:spcBef>
              <a:spcAft>
                <a:spcPts val="300"/>
              </a:spcAft>
              <a:buNone/>
            </a:pPr>
            <a:r>
              <a:t/>
            </a:r>
            <a:endParaRPr sz="1100">
              <a:solidFill>
                <a:schemeClr val="accent1"/>
              </a:solidFill>
              <a:latin typeface="DM Sans Medium"/>
              <a:ea typeface="DM Sans Medium"/>
              <a:cs typeface="DM Sans Medium"/>
              <a:sym typeface="DM Sans Medium"/>
            </a:endParaRPr>
          </a:p>
        </p:txBody>
      </p:sp>
      <p:sp>
        <p:nvSpPr>
          <p:cNvPr id="789" name="Google Shape;789;p52"/>
          <p:cNvSpPr/>
          <p:nvPr/>
        </p:nvSpPr>
        <p:spPr>
          <a:xfrm>
            <a:off x="6687325" y="3574025"/>
            <a:ext cx="2370900" cy="5577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1100">
                <a:solidFill>
                  <a:schemeClr val="accent1"/>
                </a:solidFill>
                <a:latin typeface="DM Sans Medium"/>
                <a:ea typeface="DM Sans Medium"/>
                <a:cs typeface="DM Sans Medium"/>
                <a:sym typeface="DM Sans Medium"/>
              </a:rPr>
              <a:t>Operational DB</a:t>
            </a:r>
            <a:endParaRPr sz="1100">
              <a:solidFill>
                <a:schemeClr val="accent1"/>
              </a:solidFill>
              <a:latin typeface="DM Sans Medium"/>
              <a:ea typeface="DM Sans Medium"/>
              <a:cs typeface="DM Sans Medium"/>
              <a:sym typeface="DM Sans Medium"/>
            </a:endParaRPr>
          </a:p>
          <a:p>
            <a:pPr indent="0" lvl="0" marL="0" rtl="0" algn="ctr">
              <a:spcBef>
                <a:spcPts val="300"/>
              </a:spcBef>
              <a:spcAft>
                <a:spcPts val="300"/>
              </a:spcAft>
              <a:buNone/>
            </a:pPr>
            <a:r>
              <a:rPr lang="en" sz="1000">
                <a:solidFill>
                  <a:schemeClr val="accent5"/>
                </a:solidFill>
                <a:latin typeface="DM Sans Medium"/>
                <a:ea typeface="DM Sans Medium"/>
                <a:cs typeface="DM Sans Medium"/>
                <a:sym typeface="DM Sans Medium"/>
              </a:rPr>
              <a:t>Lakebase</a:t>
            </a:r>
            <a:endParaRPr sz="1100">
              <a:solidFill>
                <a:schemeClr val="accent1"/>
              </a:solidFill>
              <a:latin typeface="DM Sans Medium"/>
              <a:ea typeface="DM Sans Medium"/>
              <a:cs typeface="DM Sans Medium"/>
              <a:sym typeface="DM Sans Medium"/>
            </a:endParaRPr>
          </a:p>
        </p:txBody>
      </p:sp>
      <p:pic>
        <p:nvPicPr>
          <p:cNvPr id="790" name="Google Shape;790;p52"/>
          <p:cNvPicPr preferRelativeResize="0"/>
          <p:nvPr/>
        </p:nvPicPr>
        <p:blipFill>
          <a:blip r:embed="rId19">
            <a:alphaModFix/>
          </a:blip>
          <a:stretch>
            <a:fillRect/>
          </a:stretch>
        </p:blipFill>
        <p:spPr>
          <a:xfrm>
            <a:off x="8403950" y="5666965"/>
            <a:ext cx="191100" cy="160007"/>
          </a:xfrm>
          <a:prstGeom prst="rect">
            <a:avLst/>
          </a:prstGeom>
          <a:noFill/>
          <a:ln>
            <a:noFill/>
          </a:ln>
        </p:spPr>
      </p:pic>
      <p:sp>
        <p:nvSpPr>
          <p:cNvPr id="791" name="Google Shape;791;p52"/>
          <p:cNvSpPr/>
          <p:nvPr/>
        </p:nvSpPr>
        <p:spPr>
          <a:xfrm>
            <a:off x="10798400" y="6096162"/>
            <a:ext cx="589500" cy="123000"/>
          </a:xfrm>
          <a:prstGeom prst="roundRect">
            <a:avLst>
              <a:gd fmla="val 26238" name="adj"/>
            </a:avLst>
          </a:prstGeom>
          <a:solidFill>
            <a:schemeClr val="accent1"/>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rgbClr val="FFFFFF"/>
                </a:solidFill>
                <a:latin typeface="DM Sans"/>
                <a:ea typeface="DM Sans"/>
                <a:cs typeface="DM Sans"/>
                <a:sym typeface="DM Sans"/>
              </a:rPr>
              <a:t>Databricks</a:t>
            </a:r>
            <a:endParaRPr sz="800">
              <a:solidFill>
                <a:srgbClr val="FFFFFF"/>
              </a:solidFill>
              <a:latin typeface="DM Sans"/>
              <a:ea typeface="DM Sans"/>
              <a:cs typeface="DM Sans"/>
              <a:sym typeface="DM Sans"/>
            </a:endParaRPr>
          </a:p>
        </p:txBody>
      </p:sp>
      <p:sp>
        <p:nvSpPr>
          <p:cNvPr id="792" name="Google Shape;792;p52"/>
          <p:cNvSpPr/>
          <p:nvPr/>
        </p:nvSpPr>
        <p:spPr>
          <a:xfrm>
            <a:off x="10798400" y="5939500"/>
            <a:ext cx="589500" cy="123000"/>
          </a:xfrm>
          <a:prstGeom prst="roundRect">
            <a:avLst>
              <a:gd fmla="val 26238" name="adj"/>
            </a:avLst>
          </a:prstGeom>
          <a:solidFill>
            <a:srgbClr val="FFFFFF"/>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chemeClr val="accent5"/>
                </a:solidFill>
                <a:latin typeface="DM Sans Medium"/>
                <a:ea typeface="DM Sans Medium"/>
                <a:cs typeface="DM Sans Medium"/>
                <a:sym typeface="DM Sans Medium"/>
              </a:rPr>
              <a:t>3rd party</a:t>
            </a:r>
            <a:endParaRPr sz="800">
              <a:solidFill>
                <a:schemeClr val="accent5"/>
              </a:solidFill>
              <a:latin typeface="DM Sans Medium"/>
              <a:ea typeface="DM Sans Medium"/>
              <a:cs typeface="DM Sans Medium"/>
              <a:sym typeface="DM Sans Medium"/>
            </a:endParaRPr>
          </a:p>
        </p:txBody>
      </p:sp>
      <p:sp>
        <p:nvSpPr>
          <p:cNvPr id="793" name="Google Shape;793;p52"/>
          <p:cNvSpPr txBox="1"/>
          <p:nvPr/>
        </p:nvSpPr>
        <p:spPr>
          <a:xfrm>
            <a:off x="10512987" y="5927525"/>
            <a:ext cx="2679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dk1"/>
                </a:solidFill>
                <a:latin typeface="DM Sans Medium"/>
                <a:ea typeface="DM Sans Medium"/>
                <a:cs typeface="DM Sans Medium"/>
                <a:sym typeface="DM Sans Medium"/>
              </a:rPr>
              <a:t>Key:</a:t>
            </a:r>
            <a:endParaRPr sz="1000">
              <a:solidFill>
                <a:schemeClr val="dk1"/>
              </a:solidFill>
              <a:latin typeface="DM Sans Medium"/>
              <a:ea typeface="DM Sans Medium"/>
              <a:cs typeface="DM Sans Medium"/>
              <a:sym typeface="DM Sans Medium"/>
            </a:endParaRPr>
          </a:p>
        </p:txBody>
      </p:sp>
      <p:grpSp>
        <p:nvGrpSpPr>
          <p:cNvPr id="794" name="Google Shape;794;p52"/>
          <p:cNvGrpSpPr/>
          <p:nvPr/>
        </p:nvGrpSpPr>
        <p:grpSpPr>
          <a:xfrm>
            <a:off x="8234791" y="4535238"/>
            <a:ext cx="685500" cy="465911"/>
            <a:chOff x="8536471" y="4748911"/>
            <a:chExt cx="685500" cy="465911"/>
          </a:xfrm>
        </p:grpSpPr>
        <p:sp>
          <p:nvSpPr>
            <p:cNvPr id="795" name="Google Shape;795;p52"/>
            <p:cNvSpPr txBox="1"/>
            <p:nvPr/>
          </p:nvSpPr>
          <p:spPr>
            <a:xfrm>
              <a:off x="8536471" y="4894722"/>
              <a:ext cx="685500" cy="3201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RDBMs</a:t>
              </a:r>
              <a:endParaRPr sz="900">
                <a:solidFill>
                  <a:schemeClr val="accent1"/>
                </a:solidFill>
                <a:latin typeface="DM Sans Medium"/>
                <a:ea typeface="DM Sans Medium"/>
                <a:cs typeface="DM Sans Medium"/>
                <a:sym typeface="DM Sans Medium"/>
              </a:endParaRPr>
            </a:p>
          </p:txBody>
        </p:sp>
        <p:pic>
          <p:nvPicPr>
            <p:cNvPr id="796" name="Google Shape;796;p52"/>
            <p:cNvPicPr preferRelativeResize="0"/>
            <p:nvPr/>
          </p:nvPicPr>
          <p:blipFill>
            <a:blip r:embed="rId8">
              <a:alphaModFix/>
            </a:blip>
            <a:stretch>
              <a:fillRect/>
            </a:stretch>
          </p:blipFill>
          <p:spPr>
            <a:xfrm>
              <a:off x="8731571" y="4748911"/>
              <a:ext cx="265176" cy="265176"/>
            </a:xfrm>
            <a:prstGeom prst="rect">
              <a:avLst/>
            </a:prstGeom>
            <a:noFill/>
            <a:ln>
              <a:noFill/>
            </a:ln>
          </p:spPr>
        </p:pic>
      </p:grpSp>
      <p:grpSp>
        <p:nvGrpSpPr>
          <p:cNvPr id="797" name="Google Shape;797;p52"/>
          <p:cNvGrpSpPr/>
          <p:nvPr/>
        </p:nvGrpSpPr>
        <p:grpSpPr>
          <a:xfrm>
            <a:off x="8234791" y="4992438"/>
            <a:ext cx="685500" cy="465911"/>
            <a:chOff x="8536471" y="4748911"/>
            <a:chExt cx="685500" cy="465911"/>
          </a:xfrm>
        </p:grpSpPr>
        <p:sp>
          <p:nvSpPr>
            <p:cNvPr id="798" name="Google Shape;798;p52"/>
            <p:cNvSpPr txBox="1"/>
            <p:nvPr/>
          </p:nvSpPr>
          <p:spPr>
            <a:xfrm>
              <a:off x="8536471" y="4894722"/>
              <a:ext cx="685500" cy="3201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KV store</a:t>
              </a:r>
              <a:endParaRPr sz="900">
                <a:solidFill>
                  <a:schemeClr val="accent1"/>
                </a:solidFill>
                <a:latin typeface="DM Sans Medium"/>
                <a:ea typeface="DM Sans Medium"/>
                <a:cs typeface="DM Sans Medium"/>
                <a:sym typeface="DM Sans Medium"/>
              </a:endParaRPr>
            </a:p>
          </p:txBody>
        </p:sp>
        <p:pic>
          <p:nvPicPr>
            <p:cNvPr id="799" name="Google Shape;799;p52"/>
            <p:cNvPicPr preferRelativeResize="0"/>
            <p:nvPr/>
          </p:nvPicPr>
          <p:blipFill>
            <a:blip r:embed="rId8">
              <a:alphaModFix/>
            </a:blip>
            <a:stretch>
              <a:fillRect/>
            </a:stretch>
          </p:blipFill>
          <p:spPr>
            <a:xfrm>
              <a:off x="8731571" y="4748911"/>
              <a:ext cx="265176" cy="265176"/>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3" name="Shape 803"/>
        <p:cNvGrpSpPr/>
        <p:nvPr/>
      </p:nvGrpSpPr>
      <p:grpSpPr>
        <a:xfrm>
          <a:off x="0" y="0"/>
          <a:ext cx="0" cy="0"/>
          <a:chOff x="0" y="0"/>
          <a:chExt cx="0" cy="0"/>
        </a:xfrm>
      </p:grpSpPr>
      <p:sp>
        <p:nvSpPr>
          <p:cNvPr id="804" name="Google Shape;804;p53"/>
          <p:cNvSpPr/>
          <p:nvPr/>
        </p:nvSpPr>
        <p:spPr>
          <a:xfrm>
            <a:off x="4664825" y="1368050"/>
            <a:ext cx="5601300" cy="28167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grpSp>
        <p:nvGrpSpPr>
          <p:cNvPr id="805" name="Google Shape;805;p53"/>
          <p:cNvGrpSpPr/>
          <p:nvPr/>
        </p:nvGrpSpPr>
        <p:grpSpPr>
          <a:xfrm rot="-5400000">
            <a:off x="8118194" y="4175940"/>
            <a:ext cx="198576" cy="208513"/>
            <a:chOff x="3295749" y="3922446"/>
            <a:chExt cx="198576" cy="208513"/>
          </a:xfrm>
        </p:grpSpPr>
        <p:sp>
          <p:nvSpPr>
            <p:cNvPr id="806" name="Google Shape;806;p53"/>
            <p:cNvSpPr/>
            <p:nvPr/>
          </p:nvSpPr>
          <p:spPr>
            <a:xfrm>
              <a:off x="3391125" y="3922446"/>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07" name="Google Shape;807;p53"/>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808" name="Google Shape;808;p53"/>
          <p:cNvSpPr/>
          <p:nvPr/>
        </p:nvSpPr>
        <p:spPr>
          <a:xfrm>
            <a:off x="8177450" y="4282646"/>
            <a:ext cx="796500" cy="1227000"/>
          </a:xfrm>
          <a:prstGeom prst="roundRect">
            <a:avLst>
              <a:gd fmla="val 8407"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rtl="0" algn="ctr">
              <a:lnSpc>
                <a:spcPct val="90000"/>
              </a:lnSpc>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Operat. DB</a:t>
            </a:r>
            <a:endParaRPr sz="1100">
              <a:solidFill>
                <a:schemeClr val="accent5"/>
              </a:solidFill>
              <a:latin typeface="DM Sans Medium"/>
              <a:ea typeface="DM Sans Medium"/>
              <a:cs typeface="DM Sans Medium"/>
              <a:sym typeface="DM Sans Medium"/>
            </a:endParaRPr>
          </a:p>
        </p:txBody>
      </p:sp>
      <p:sp>
        <p:nvSpPr>
          <p:cNvPr id="809" name="Google Shape;809;p53"/>
          <p:cNvSpPr/>
          <p:nvPr/>
        </p:nvSpPr>
        <p:spPr>
          <a:xfrm>
            <a:off x="836750" y="4275513"/>
            <a:ext cx="932400" cy="810300"/>
          </a:xfrm>
          <a:prstGeom prst="roundRect">
            <a:avLst>
              <a:gd fmla="val 9540"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810" name="Google Shape;810;p53"/>
          <p:cNvSpPr/>
          <p:nvPr/>
        </p:nvSpPr>
        <p:spPr>
          <a:xfrm>
            <a:off x="834550" y="1368050"/>
            <a:ext cx="932400" cy="2858100"/>
          </a:xfrm>
          <a:prstGeom prst="roundRect">
            <a:avLst>
              <a:gd fmla="val 7292"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811" name="Google Shape;811;p53"/>
          <p:cNvSpPr/>
          <p:nvPr/>
        </p:nvSpPr>
        <p:spPr>
          <a:xfrm>
            <a:off x="1921625" y="1368050"/>
            <a:ext cx="3586200" cy="21996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812" name="Google Shape;812;p53"/>
          <p:cNvSpPr/>
          <p:nvPr/>
        </p:nvSpPr>
        <p:spPr>
          <a:xfrm>
            <a:off x="3183025" y="1368050"/>
            <a:ext cx="4943100" cy="4195200"/>
          </a:xfrm>
          <a:prstGeom prst="roundRect">
            <a:avLst>
              <a:gd fmla="val 202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DM Sans"/>
              <a:ea typeface="DM Sans"/>
              <a:cs typeface="DM Sans"/>
              <a:sym typeface="DM Sans"/>
            </a:endParaRPr>
          </a:p>
        </p:txBody>
      </p:sp>
      <p:sp>
        <p:nvSpPr>
          <p:cNvPr id="813" name="Google Shape;813;p53"/>
          <p:cNvSpPr/>
          <p:nvPr/>
        </p:nvSpPr>
        <p:spPr>
          <a:xfrm>
            <a:off x="3247450" y="2227650"/>
            <a:ext cx="5802600" cy="668400"/>
          </a:xfrm>
          <a:prstGeom prst="roundRect">
            <a:avLst>
              <a:gd fmla="val 10905" name="adj"/>
            </a:avLst>
          </a:prstGeom>
          <a:solidFill>
            <a:srgbClr val="FFFFFF"/>
          </a:solidFill>
          <a:ln>
            <a:noFill/>
          </a:ln>
        </p:spPr>
        <p:txBody>
          <a:bodyPr anchorCtr="0" anchor="t" bIns="0" lIns="0" spcFirstLastPara="1" rIns="0" wrap="square" tIns="0">
            <a:noAutofit/>
          </a:bodyPr>
          <a:lstStyle/>
          <a:p>
            <a:pPr indent="0" lvl="0" marL="0" marR="40661"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Data Science and AI / ML - Mosaic AI</a:t>
            </a:r>
            <a:endParaRPr sz="1100">
              <a:solidFill>
                <a:schemeClr val="accent5"/>
              </a:solidFill>
              <a:latin typeface="DM Sans Medium"/>
              <a:ea typeface="DM Sans Medium"/>
              <a:cs typeface="DM Sans Medium"/>
              <a:sym typeface="DM Sans Medium"/>
            </a:endParaRPr>
          </a:p>
          <a:p>
            <a:pPr indent="0" lvl="0" marL="457200" marR="0"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p:txBody>
      </p:sp>
      <p:sp>
        <p:nvSpPr>
          <p:cNvPr id="814" name="Google Shape;814;p53"/>
          <p:cNvSpPr txBox="1"/>
          <p:nvPr>
            <p:ph type="title"/>
          </p:nvPr>
        </p:nvSpPr>
        <p:spPr>
          <a:xfrm>
            <a:off x="749245" y="2307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Databricks Data Intelligence Platform</a:t>
            </a:r>
            <a:endParaRPr b="1" sz="3600">
              <a:latin typeface="DM Sans"/>
              <a:ea typeface="DM Sans"/>
              <a:cs typeface="DM Sans"/>
              <a:sym typeface="DM Sans"/>
            </a:endParaRPr>
          </a:p>
        </p:txBody>
      </p:sp>
      <p:sp>
        <p:nvSpPr>
          <p:cNvPr id="815" name="Google Shape;815;p53"/>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grpSp>
        <p:nvGrpSpPr>
          <p:cNvPr id="816" name="Google Shape;816;p53"/>
          <p:cNvGrpSpPr/>
          <p:nvPr/>
        </p:nvGrpSpPr>
        <p:grpSpPr>
          <a:xfrm>
            <a:off x="2986792" y="3550528"/>
            <a:ext cx="198576" cy="211709"/>
            <a:chOff x="3295749" y="3919250"/>
            <a:chExt cx="198576" cy="211709"/>
          </a:xfrm>
        </p:grpSpPr>
        <p:sp>
          <p:nvSpPr>
            <p:cNvPr id="817" name="Google Shape;817;p53"/>
            <p:cNvSpPr/>
            <p:nvPr/>
          </p:nvSpPr>
          <p:spPr>
            <a:xfrm>
              <a:off x="3391125" y="3919250"/>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18" name="Google Shape;818;p53"/>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819" name="Google Shape;819;p53"/>
          <p:cNvSpPr/>
          <p:nvPr/>
        </p:nvSpPr>
        <p:spPr>
          <a:xfrm>
            <a:off x="3247450" y="4807025"/>
            <a:ext cx="3380100" cy="699900"/>
          </a:xfrm>
          <a:prstGeom prst="roundRect">
            <a:avLst>
              <a:gd fmla="val 13083"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Data Management</a:t>
            </a:r>
            <a:endParaRPr sz="1100">
              <a:solidFill>
                <a:schemeClr val="accent5"/>
              </a:solidFill>
              <a:latin typeface="DM Sans Medium"/>
              <a:ea typeface="DM Sans Medium"/>
              <a:cs typeface="DM Sans Medium"/>
              <a:sym typeface="DM Sans Medium"/>
            </a:endParaRPr>
          </a:p>
        </p:txBody>
      </p:sp>
      <p:sp>
        <p:nvSpPr>
          <p:cNvPr id="820" name="Google Shape;820;p53"/>
          <p:cNvSpPr/>
          <p:nvPr/>
        </p:nvSpPr>
        <p:spPr>
          <a:xfrm>
            <a:off x="6679225" y="4806950"/>
            <a:ext cx="1388100" cy="699900"/>
          </a:xfrm>
          <a:prstGeom prst="roundRect">
            <a:avLst>
              <a:gd fmla="val 11862"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Collaboration</a:t>
            </a:r>
            <a:endParaRPr sz="1100">
              <a:solidFill>
                <a:schemeClr val="accent5"/>
              </a:solidFill>
              <a:latin typeface="DM Sans Medium"/>
              <a:ea typeface="DM Sans Medium"/>
              <a:cs typeface="DM Sans Medium"/>
              <a:sym typeface="DM Sans Medium"/>
            </a:endParaRPr>
          </a:p>
        </p:txBody>
      </p:sp>
      <p:sp>
        <p:nvSpPr>
          <p:cNvPr id="821" name="Google Shape;821;p53"/>
          <p:cNvSpPr/>
          <p:nvPr/>
        </p:nvSpPr>
        <p:spPr>
          <a:xfrm>
            <a:off x="4267154" y="6159917"/>
            <a:ext cx="1076700" cy="215400"/>
          </a:xfrm>
          <a:prstGeom prst="rect">
            <a:avLst/>
          </a:prstGeom>
          <a:solidFill>
            <a:srgbClr val="D9D9D9"/>
          </a:solidFill>
          <a:ln>
            <a:noFill/>
          </a:ln>
        </p:spPr>
        <p:txBody>
          <a:bodyPr anchorCtr="0" anchor="ctr" bIns="146275" lIns="182850" spcFirstLastPara="1" rIns="18285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Stor</a:t>
            </a:r>
            <a:r>
              <a:rPr lang="en" sz="1300">
                <a:solidFill>
                  <a:srgbClr val="434343"/>
                </a:solidFill>
                <a:latin typeface="DM Sans SemiBold"/>
                <a:ea typeface="DM Sans SemiBold"/>
                <a:cs typeface="DM Sans SemiBold"/>
                <a:sym typeface="DM Sans SemiBold"/>
              </a:rPr>
              <a:t>age</a:t>
            </a:r>
            <a:endParaRPr i="0" sz="1300" u="none" cap="none" strike="noStrike">
              <a:solidFill>
                <a:srgbClr val="434343"/>
              </a:solidFill>
              <a:latin typeface="DM Sans SemiBold"/>
              <a:ea typeface="DM Sans SemiBold"/>
              <a:cs typeface="DM Sans SemiBold"/>
              <a:sym typeface="DM Sans SemiBold"/>
            </a:endParaRPr>
          </a:p>
        </p:txBody>
      </p:sp>
      <p:sp>
        <p:nvSpPr>
          <p:cNvPr id="822" name="Google Shape;822;p53"/>
          <p:cNvSpPr/>
          <p:nvPr/>
        </p:nvSpPr>
        <p:spPr>
          <a:xfrm>
            <a:off x="3247450" y="2955537"/>
            <a:ext cx="3380100" cy="553800"/>
          </a:xfrm>
          <a:prstGeom prst="roundRect">
            <a:avLst>
              <a:gd fmla="val 14028"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Data Engineering and Processing</a:t>
            </a:r>
            <a:endParaRPr sz="1100">
              <a:solidFill>
                <a:schemeClr val="accent5"/>
              </a:solidFill>
              <a:latin typeface="DM Sans Medium"/>
              <a:ea typeface="DM Sans Medium"/>
              <a:cs typeface="DM Sans Medium"/>
              <a:sym typeface="DM Sans Medium"/>
            </a:endParaRPr>
          </a:p>
        </p:txBody>
      </p:sp>
      <p:sp>
        <p:nvSpPr>
          <p:cNvPr id="823" name="Google Shape;823;p53"/>
          <p:cNvSpPr/>
          <p:nvPr/>
        </p:nvSpPr>
        <p:spPr>
          <a:xfrm>
            <a:off x="3247450" y="4188200"/>
            <a:ext cx="4819800" cy="557700"/>
          </a:xfrm>
          <a:prstGeom prst="roundRect">
            <a:avLst>
              <a:gd fmla="val 12987"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   Data and AI Governance - Unity Catalog</a:t>
            </a:r>
            <a:endParaRPr sz="1100">
              <a:solidFill>
                <a:schemeClr val="accent5"/>
              </a:solidFill>
              <a:latin typeface="DM Sans Medium"/>
              <a:ea typeface="DM Sans Medium"/>
              <a:cs typeface="DM Sans Medium"/>
              <a:sym typeface="DM Sans Medium"/>
            </a:endParaRPr>
          </a:p>
        </p:txBody>
      </p:sp>
      <p:sp>
        <p:nvSpPr>
          <p:cNvPr id="824" name="Google Shape;824;p53"/>
          <p:cNvSpPr/>
          <p:nvPr/>
        </p:nvSpPr>
        <p:spPr>
          <a:xfrm>
            <a:off x="1989525" y="2227675"/>
            <a:ext cx="1187100" cy="1281600"/>
          </a:xfrm>
          <a:prstGeom prst="roundRect">
            <a:avLst>
              <a:gd fmla="val 7158" name="adj"/>
            </a:avLst>
          </a:prstGeom>
          <a:solidFill>
            <a:srgbClr val="FFFFFF"/>
          </a:solid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None/>
            </a:pPr>
            <a:r>
              <a:rPr lang="en" sz="1100">
                <a:solidFill>
                  <a:schemeClr val="accent5"/>
                </a:solidFill>
                <a:latin typeface="DM Sans Medium"/>
                <a:ea typeface="DM Sans Medium"/>
                <a:cs typeface="DM Sans Medium"/>
                <a:sym typeface="DM Sans Medium"/>
              </a:rPr>
              <a:t>Batch and Streaming</a:t>
            </a:r>
            <a:endParaRPr sz="1100">
              <a:solidFill>
                <a:schemeClr val="accent5"/>
              </a:solidFill>
              <a:latin typeface="DM Sans Medium"/>
              <a:ea typeface="DM Sans Medium"/>
              <a:cs typeface="DM Sans Medium"/>
              <a:sym typeface="DM Sans Medium"/>
            </a:endParaRPr>
          </a:p>
        </p:txBody>
      </p:sp>
      <p:sp>
        <p:nvSpPr>
          <p:cNvPr id="825" name="Google Shape;825;p53"/>
          <p:cNvSpPr/>
          <p:nvPr/>
        </p:nvSpPr>
        <p:spPr>
          <a:xfrm>
            <a:off x="6687250" y="2955537"/>
            <a:ext cx="2370900" cy="553800"/>
          </a:xfrm>
          <a:prstGeom prst="roundRect">
            <a:avLst>
              <a:gd fmla="val 15048"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Data Warehousing</a:t>
            </a:r>
            <a:endParaRPr sz="1100">
              <a:solidFill>
                <a:schemeClr val="accent5"/>
              </a:solidFill>
              <a:latin typeface="DM Sans Medium"/>
              <a:ea typeface="DM Sans Medium"/>
              <a:cs typeface="DM Sans Medium"/>
              <a:sym typeface="DM Sans Medium"/>
            </a:endParaRPr>
          </a:p>
        </p:txBody>
      </p:sp>
      <p:sp>
        <p:nvSpPr>
          <p:cNvPr id="826" name="Google Shape;826;p53"/>
          <p:cNvSpPr txBox="1"/>
          <p:nvPr/>
        </p:nvSpPr>
        <p:spPr>
          <a:xfrm rot="-5398802">
            <a:off x="290613" y="4596075"/>
            <a:ext cx="8610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Federation</a:t>
            </a:r>
            <a:endParaRPr sz="1100">
              <a:solidFill>
                <a:schemeClr val="accent5"/>
              </a:solidFill>
              <a:latin typeface="DM Sans"/>
              <a:ea typeface="DM Sans"/>
              <a:cs typeface="DM Sans"/>
              <a:sym typeface="DM Sans"/>
            </a:endParaRPr>
          </a:p>
        </p:txBody>
      </p:sp>
      <p:sp>
        <p:nvSpPr>
          <p:cNvPr id="827" name="Google Shape;827;p53"/>
          <p:cNvSpPr txBox="1"/>
          <p:nvPr/>
        </p:nvSpPr>
        <p:spPr>
          <a:xfrm>
            <a:off x="5216667" y="1442036"/>
            <a:ext cx="2432400" cy="215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a:solidFill>
                  <a:srgbClr val="FFFFFF"/>
                </a:solidFill>
                <a:latin typeface="DM Sans SemiBold"/>
                <a:ea typeface="DM Sans SemiBold"/>
                <a:cs typeface="DM Sans SemiBold"/>
                <a:sym typeface="DM Sans SemiBold"/>
              </a:rPr>
              <a:t>Data Intelligence Platform</a:t>
            </a:r>
            <a:endParaRPr>
              <a:solidFill>
                <a:srgbClr val="FFFFFF"/>
              </a:solidFill>
              <a:latin typeface="DM Sans SemiBold"/>
              <a:ea typeface="DM Sans SemiBold"/>
              <a:cs typeface="DM Sans SemiBold"/>
              <a:sym typeface="DM Sans SemiBold"/>
            </a:endParaRPr>
          </a:p>
        </p:txBody>
      </p:sp>
      <p:sp>
        <p:nvSpPr>
          <p:cNvPr id="828" name="Google Shape;828;p53"/>
          <p:cNvSpPr/>
          <p:nvPr/>
        </p:nvSpPr>
        <p:spPr>
          <a:xfrm>
            <a:off x="9133775" y="5563184"/>
            <a:ext cx="1082100" cy="579600"/>
          </a:xfrm>
          <a:prstGeom prst="roundRect">
            <a:avLst>
              <a:gd fmla="val 12082"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Sharing Partner</a:t>
            </a:r>
            <a:endParaRPr sz="1100">
              <a:solidFill>
                <a:schemeClr val="accent5"/>
              </a:solidFill>
              <a:latin typeface="DM Sans Medium"/>
              <a:ea typeface="DM Sans Medium"/>
              <a:cs typeface="DM Sans Medium"/>
              <a:sym typeface="DM Sans Medium"/>
            </a:endParaRPr>
          </a:p>
        </p:txBody>
      </p:sp>
      <p:sp>
        <p:nvSpPr>
          <p:cNvPr id="829" name="Google Shape;829;p53"/>
          <p:cNvSpPr/>
          <p:nvPr/>
        </p:nvSpPr>
        <p:spPr>
          <a:xfrm>
            <a:off x="9133775" y="4927395"/>
            <a:ext cx="1082100" cy="579600"/>
          </a:xfrm>
          <a:prstGeom prst="roundRect">
            <a:avLst>
              <a:gd fmla="val 13760"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Applications</a:t>
            </a:r>
            <a:endParaRPr sz="1100">
              <a:solidFill>
                <a:schemeClr val="accent5"/>
              </a:solidFill>
              <a:latin typeface="DM Sans Medium"/>
              <a:ea typeface="DM Sans Medium"/>
              <a:cs typeface="DM Sans Medium"/>
              <a:sym typeface="DM Sans Medium"/>
            </a:endParaRPr>
          </a:p>
        </p:txBody>
      </p:sp>
      <p:sp>
        <p:nvSpPr>
          <p:cNvPr id="830" name="Google Shape;830;p53"/>
          <p:cNvSpPr/>
          <p:nvPr/>
        </p:nvSpPr>
        <p:spPr>
          <a:xfrm>
            <a:off x="1921625" y="967225"/>
            <a:ext cx="12549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Ingest</a:t>
            </a:r>
            <a:endParaRPr i="0" sz="1300" u="none" cap="none" strike="noStrike">
              <a:solidFill>
                <a:srgbClr val="434343"/>
              </a:solidFill>
              <a:latin typeface="DM Sans SemiBold"/>
              <a:ea typeface="DM Sans SemiBold"/>
              <a:cs typeface="DM Sans SemiBold"/>
              <a:sym typeface="DM Sans SemiBold"/>
            </a:endParaRPr>
          </a:p>
        </p:txBody>
      </p:sp>
      <p:sp>
        <p:nvSpPr>
          <p:cNvPr id="831" name="Google Shape;831;p53"/>
          <p:cNvSpPr/>
          <p:nvPr/>
        </p:nvSpPr>
        <p:spPr>
          <a:xfrm>
            <a:off x="3247450" y="966700"/>
            <a:ext cx="13434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Transform</a:t>
            </a:r>
            <a:endParaRPr i="0" sz="1300" u="none" cap="none" strike="noStrike">
              <a:solidFill>
                <a:srgbClr val="434343"/>
              </a:solidFill>
              <a:latin typeface="DM Sans SemiBold"/>
              <a:ea typeface="DM Sans SemiBold"/>
              <a:cs typeface="DM Sans SemiBold"/>
              <a:sym typeface="DM Sans SemiBold"/>
            </a:endParaRPr>
          </a:p>
        </p:txBody>
      </p:sp>
      <p:sp>
        <p:nvSpPr>
          <p:cNvPr id="832" name="Google Shape;832;p53"/>
          <p:cNvSpPr/>
          <p:nvPr/>
        </p:nvSpPr>
        <p:spPr>
          <a:xfrm>
            <a:off x="9122275" y="968000"/>
            <a:ext cx="1152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Analyse</a:t>
            </a:r>
            <a:endParaRPr i="0" sz="1300" u="none" cap="none" strike="noStrike">
              <a:solidFill>
                <a:srgbClr val="434343"/>
              </a:solidFill>
              <a:latin typeface="DM Sans SemiBold"/>
              <a:ea typeface="DM Sans SemiBold"/>
              <a:cs typeface="DM Sans SemiBold"/>
              <a:sym typeface="DM Sans SemiBold"/>
            </a:endParaRPr>
          </a:p>
        </p:txBody>
      </p:sp>
      <p:sp>
        <p:nvSpPr>
          <p:cNvPr id="833" name="Google Shape;833;p53"/>
          <p:cNvSpPr/>
          <p:nvPr/>
        </p:nvSpPr>
        <p:spPr>
          <a:xfrm>
            <a:off x="766854" y="967794"/>
            <a:ext cx="10821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Sources</a:t>
            </a:r>
            <a:endParaRPr i="0" sz="1300" u="none" cap="none" strike="noStrike">
              <a:solidFill>
                <a:srgbClr val="434343"/>
              </a:solidFill>
              <a:latin typeface="DM Sans SemiBold"/>
              <a:ea typeface="DM Sans SemiBold"/>
              <a:cs typeface="DM Sans SemiBold"/>
              <a:sym typeface="DM Sans SemiBold"/>
            </a:endParaRPr>
          </a:p>
        </p:txBody>
      </p:sp>
      <p:cxnSp>
        <p:nvCxnSpPr>
          <p:cNvPr id="834" name="Google Shape;834;p53"/>
          <p:cNvCxnSpPr/>
          <p:nvPr/>
        </p:nvCxnSpPr>
        <p:spPr>
          <a:xfrm>
            <a:off x="1765606" y="3948550"/>
            <a:ext cx="222900" cy="600"/>
          </a:xfrm>
          <a:prstGeom prst="bentConnector3">
            <a:avLst>
              <a:gd fmla="val 50000" name="adj1"/>
            </a:avLst>
          </a:prstGeom>
          <a:noFill/>
          <a:ln cap="flat" cmpd="sng" w="9525">
            <a:solidFill>
              <a:schemeClr val="accent1"/>
            </a:solidFill>
            <a:prstDash val="solid"/>
            <a:round/>
            <a:headEnd len="sm" w="sm" type="none"/>
            <a:tailEnd len="sm" w="sm" type="triangle"/>
          </a:ln>
        </p:spPr>
      </p:cxnSp>
      <p:cxnSp>
        <p:nvCxnSpPr>
          <p:cNvPr id="835" name="Google Shape;835;p53"/>
          <p:cNvCxnSpPr>
            <a:stCxn id="836" idx="3"/>
          </p:cNvCxnSpPr>
          <p:nvPr/>
        </p:nvCxnSpPr>
        <p:spPr>
          <a:xfrm>
            <a:off x="1765746" y="3027425"/>
            <a:ext cx="166800" cy="600"/>
          </a:xfrm>
          <a:prstGeom prst="bentConnector3">
            <a:avLst>
              <a:gd fmla="val 50000" name="adj1"/>
            </a:avLst>
          </a:prstGeom>
          <a:noFill/>
          <a:ln cap="flat" cmpd="sng" w="9525">
            <a:solidFill>
              <a:schemeClr val="accent1"/>
            </a:solidFill>
            <a:prstDash val="solid"/>
            <a:round/>
            <a:headEnd len="sm" w="sm" type="none"/>
            <a:tailEnd len="sm" w="sm" type="triangle"/>
          </a:ln>
        </p:spPr>
      </p:cxnSp>
      <p:cxnSp>
        <p:nvCxnSpPr>
          <p:cNvPr id="837" name="Google Shape;837;p53"/>
          <p:cNvCxnSpPr>
            <a:stCxn id="820" idx="2"/>
            <a:endCxn id="828" idx="1"/>
          </p:cNvCxnSpPr>
          <p:nvPr/>
        </p:nvCxnSpPr>
        <p:spPr>
          <a:xfrm flipH="1" rot="-5400000">
            <a:off x="8080375" y="4799750"/>
            <a:ext cx="346200" cy="1760400"/>
          </a:xfrm>
          <a:prstGeom prst="bentConnector2">
            <a:avLst/>
          </a:prstGeom>
          <a:noFill/>
          <a:ln cap="flat" cmpd="sng" w="9525">
            <a:solidFill>
              <a:schemeClr val="accent1"/>
            </a:solidFill>
            <a:prstDash val="solid"/>
            <a:round/>
            <a:headEnd len="sm" w="sm" type="none"/>
            <a:tailEnd len="sm" w="sm" type="triangle"/>
          </a:ln>
        </p:spPr>
      </p:cxnSp>
      <p:cxnSp>
        <p:nvCxnSpPr>
          <p:cNvPr id="838" name="Google Shape;838;p53"/>
          <p:cNvCxnSpPr/>
          <p:nvPr/>
        </p:nvCxnSpPr>
        <p:spPr>
          <a:xfrm>
            <a:off x="8978650" y="5336450"/>
            <a:ext cx="159000" cy="0"/>
          </a:xfrm>
          <a:prstGeom prst="straightConnector1">
            <a:avLst/>
          </a:prstGeom>
          <a:noFill/>
          <a:ln cap="flat" cmpd="sng" w="9525">
            <a:solidFill>
              <a:schemeClr val="accent1"/>
            </a:solidFill>
            <a:prstDash val="solid"/>
            <a:round/>
            <a:headEnd len="sm" w="sm" type="none"/>
            <a:tailEnd len="sm" w="sm" type="triangle"/>
          </a:ln>
        </p:spPr>
      </p:cxnSp>
      <p:cxnSp>
        <p:nvCxnSpPr>
          <p:cNvPr id="839" name="Google Shape;839;p53"/>
          <p:cNvCxnSpPr>
            <a:stCxn id="840" idx="2"/>
            <a:endCxn id="808" idx="0"/>
          </p:cNvCxnSpPr>
          <p:nvPr/>
        </p:nvCxnSpPr>
        <p:spPr>
          <a:xfrm>
            <a:off x="8575712" y="4182857"/>
            <a:ext cx="0" cy="99900"/>
          </a:xfrm>
          <a:prstGeom prst="straightConnector1">
            <a:avLst/>
          </a:prstGeom>
          <a:noFill/>
          <a:ln cap="flat" cmpd="sng" w="9525">
            <a:solidFill>
              <a:schemeClr val="accent1"/>
            </a:solidFill>
            <a:prstDash val="solid"/>
            <a:round/>
            <a:headEnd len="sm" w="sm" type="none"/>
            <a:tailEnd len="sm" w="sm" type="triangle"/>
          </a:ln>
        </p:spPr>
      </p:cxnSp>
      <p:sp>
        <p:nvSpPr>
          <p:cNvPr id="841" name="Google Shape;841;p53"/>
          <p:cNvSpPr/>
          <p:nvPr/>
        </p:nvSpPr>
        <p:spPr>
          <a:xfrm>
            <a:off x="7503748" y="3179562"/>
            <a:ext cx="6858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Databricks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SQL</a:t>
            </a:r>
            <a:endParaRPr sz="900">
              <a:solidFill>
                <a:schemeClr val="accent2"/>
              </a:solidFill>
              <a:latin typeface="DM Sans SemiBold"/>
              <a:ea typeface="DM Sans SemiBold"/>
              <a:cs typeface="DM Sans SemiBold"/>
              <a:sym typeface="DM Sans SemiBold"/>
            </a:endParaRPr>
          </a:p>
        </p:txBody>
      </p:sp>
      <p:sp>
        <p:nvSpPr>
          <p:cNvPr id="842" name="Google Shape;842;p53"/>
          <p:cNvSpPr/>
          <p:nvPr/>
        </p:nvSpPr>
        <p:spPr>
          <a:xfrm>
            <a:off x="2143275" y="3179562"/>
            <a:ext cx="8796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Auto</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Loader</a:t>
            </a:r>
            <a:endParaRPr sz="900">
              <a:solidFill>
                <a:schemeClr val="accent2"/>
              </a:solidFill>
              <a:latin typeface="DM Sans SemiBold"/>
              <a:ea typeface="DM Sans SemiBold"/>
              <a:cs typeface="DM Sans SemiBold"/>
              <a:sym typeface="DM Sans SemiBold"/>
            </a:endParaRPr>
          </a:p>
        </p:txBody>
      </p:sp>
      <p:sp>
        <p:nvSpPr>
          <p:cNvPr id="843" name="Google Shape;843;p53"/>
          <p:cNvSpPr/>
          <p:nvPr/>
        </p:nvSpPr>
        <p:spPr>
          <a:xfrm>
            <a:off x="7446063" y="4997825"/>
            <a:ext cx="549000" cy="223800"/>
          </a:xfrm>
          <a:prstGeom prst="roundRect">
            <a:avLst>
              <a:gd fmla="val 20281" name="adj"/>
            </a:avLst>
          </a:prstGeom>
          <a:solidFill>
            <a:srgbClr val="FFFFFF"/>
          </a:solidFill>
          <a:ln cap="flat" cmpd="sng" w="9525">
            <a:solidFill>
              <a:schemeClr val="accent2"/>
            </a:solidFill>
            <a:prstDash val="solid"/>
            <a:round/>
            <a:headEnd len="sm" w="sm" type="none"/>
            <a:tailEnd len="sm" w="sm" type="none"/>
          </a:ln>
        </p:spPr>
        <p:txBody>
          <a:bodyPr anchorCtr="0" anchor="ctr" bIns="0" lIns="0" spcFirstLastPara="1" rIns="0" wrap="square" tIns="9125">
            <a:noAutofit/>
          </a:bodyPr>
          <a:lstStyle/>
          <a:p>
            <a:pPr indent="0" lvl="0" marL="0" rtl="0" algn="ctr">
              <a:lnSpc>
                <a:spcPct val="75000"/>
              </a:lnSpc>
              <a:spcBef>
                <a:spcPts val="0"/>
              </a:spcBef>
              <a:spcAft>
                <a:spcPts val="0"/>
              </a:spcAft>
              <a:buNone/>
            </a:pPr>
            <a:r>
              <a:rPr lang="en" sz="900">
                <a:solidFill>
                  <a:schemeClr val="accent2"/>
                </a:solidFill>
                <a:latin typeface="DM Sans SemiBold"/>
                <a:ea typeface="DM Sans SemiBold"/>
                <a:cs typeface="DM Sans SemiBold"/>
                <a:sym typeface="DM Sans SemiBold"/>
              </a:rPr>
              <a:t>Market</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place</a:t>
            </a:r>
            <a:endParaRPr sz="900">
              <a:solidFill>
                <a:schemeClr val="accent2"/>
              </a:solidFill>
              <a:latin typeface="DM Sans SemiBold"/>
              <a:ea typeface="DM Sans SemiBold"/>
              <a:cs typeface="DM Sans SemiBold"/>
              <a:sym typeface="DM Sans SemiBold"/>
            </a:endParaRPr>
          </a:p>
        </p:txBody>
      </p:sp>
      <p:sp>
        <p:nvSpPr>
          <p:cNvPr id="844" name="Google Shape;844;p53"/>
          <p:cNvSpPr/>
          <p:nvPr/>
        </p:nvSpPr>
        <p:spPr>
          <a:xfrm>
            <a:off x="7254663" y="4423213"/>
            <a:ext cx="740400" cy="274200"/>
          </a:xfrm>
          <a:prstGeom prst="roundRect">
            <a:avLst>
              <a:gd fmla="val 18778"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Quality Monitoring</a:t>
            </a:r>
            <a:endParaRPr sz="900">
              <a:solidFill>
                <a:schemeClr val="accent2"/>
              </a:solidFill>
              <a:latin typeface="DM Sans SemiBold"/>
              <a:ea typeface="DM Sans SemiBold"/>
              <a:cs typeface="DM Sans SemiBold"/>
              <a:sym typeface="DM Sans SemiBold"/>
            </a:endParaRPr>
          </a:p>
        </p:txBody>
      </p:sp>
      <p:sp>
        <p:nvSpPr>
          <p:cNvPr id="845" name="Google Shape;845;p53"/>
          <p:cNvSpPr/>
          <p:nvPr/>
        </p:nvSpPr>
        <p:spPr>
          <a:xfrm>
            <a:off x="8279375" y="2268975"/>
            <a:ext cx="6858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AI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Gateway</a:t>
            </a:r>
            <a:endParaRPr sz="900">
              <a:solidFill>
                <a:schemeClr val="accent2"/>
              </a:solidFill>
              <a:latin typeface="DM Sans SemiBold"/>
              <a:ea typeface="DM Sans SemiBold"/>
              <a:cs typeface="DM Sans SemiBold"/>
              <a:sym typeface="DM Sans SemiBold"/>
            </a:endParaRPr>
          </a:p>
        </p:txBody>
      </p:sp>
      <p:sp>
        <p:nvSpPr>
          <p:cNvPr id="846" name="Google Shape;846;p53"/>
          <p:cNvSpPr/>
          <p:nvPr/>
        </p:nvSpPr>
        <p:spPr>
          <a:xfrm>
            <a:off x="7503751" y="2582483"/>
            <a:ext cx="685800" cy="2757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Vector </a:t>
            </a:r>
            <a:r>
              <a:rPr lang="en" sz="900">
                <a:solidFill>
                  <a:schemeClr val="accent2"/>
                </a:solidFill>
                <a:latin typeface="DM Sans SemiBold"/>
                <a:ea typeface="DM Sans SemiBold"/>
                <a:cs typeface="DM Sans SemiBold"/>
                <a:sym typeface="DM Sans SemiBold"/>
              </a:rPr>
              <a:t>Search</a:t>
            </a:r>
            <a:endParaRPr sz="900">
              <a:solidFill>
                <a:schemeClr val="accent2"/>
              </a:solidFill>
              <a:latin typeface="DM Sans SemiBold"/>
              <a:ea typeface="DM Sans SemiBold"/>
              <a:cs typeface="DM Sans SemiBold"/>
              <a:sym typeface="DM Sans SemiBold"/>
            </a:endParaRPr>
          </a:p>
        </p:txBody>
      </p:sp>
      <p:sp>
        <p:nvSpPr>
          <p:cNvPr id="847" name="Google Shape;847;p53"/>
          <p:cNvSpPr/>
          <p:nvPr/>
        </p:nvSpPr>
        <p:spPr>
          <a:xfrm>
            <a:off x="4121924" y="4423213"/>
            <a:ext cx="640800" cy="2742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Access</a:t>
            </a:r>
            <a:r>
              <a:rPr lang="en" sz="900">
                <a:solidFill>
                  <a:schemeClr val="accent2"/>
                </a:solidFill>
                <a:latin typeface="DM Sans SemiBold"/>
                <a:ea typeface="DM Sans SemiBold"/>
                <a:cs typeface="DM Sans SemiBold"/>
                <a:sym typeface="DM Sans SemiBold"/>
              </a:rPr>
              <a:t> Control</a:t>
            </a:r>
            <a:endParaRPr sz="900">
              <a:solidFill>
                <a:schemeClr val="accent2"/>
              </a:solidFill>
              <a:latin typeface="DM Sans SemiBold"/>
              <a:ea typeface="DM Sans SemiBold"/>
              <a:cs typeface="DM Sans SemiBold"/>
              <a:sym typeface="DM Sans SemiBold"/>
            </a:endParaRPr>
          </a:p>
        </p:txBody>
      </p:sp>
      <p:sp>
        <p:nvSpPr>
          <p:cNvPr id="848" name="Google Shape;848;p53"/>
          <p:cNvSpPr/>
          <p:nvPr/>
        </p:nvSpPr>
        <p:spPr>
          <a:xfrm>
            <a:off x="6727831" y="2583983"/>
            <a:ext cx="6858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Feature Serving</a:t>
            </a:r>
            <a:endParaRPr sz="900">
              <a:solidFill>
                <a:schemeClr val="accent2"/>
              </a:solidFill>
              <a:latin typeface="DM Sans SemiBold"/>
              <a:ea typeface="DM Sans SemiBold"/>
              <a:cs typeface="DM Sans SemiBold"/>
              <a:sym typeface="DM Sans SemiBold"/>
            </a:endParaRPr>
          </a:p>
        </p:txBody>
      </p:sp>
      <p:cxnSp>
        <p:nvCxnSpPr>
          <p:cNvPr id="849" name="Google Shape;849;p53"/>
          <p:cNvCxnSpPr>
            <a:stCxn id="850" idx="3"/>
          </p:cNvCxnSpPr>
          <p:nvPr/>
        </p:nvCxnSpPr>
        <p:spPr>
          <a:xfrm>
            <a:off x="3053925" y="4259350"/>
            <a:ext cx="131100" cy="600"/>
          </a:xfrm>
          <a:prstGeom prst="bentConnector3">
            <a:avLst>
              <a:gd fmla="val 50000" name="adj1"/>
            </a:avLst>
          </a:prstGeom>
          <a:noFill/>
          <a:ln cap="flat" cmpd="sng" w="9525">
            <a:solidFill>
              <a:schemeClr val="accent1"/>
            </a:solidFill>
            <a:prstDash val="solid"/>
            <a:round/>
            <a:headEnd len="sm" w="sm" type="none"/>
            <a:tailEnd len="sm" w="sm" type="triangle"/>
          </a:ln>
        </p:spPr>
      </p:cxnSp>
      <p:sp>
        <p:nvSpPr>
          <p:cNvPr id="851" name="Google Shape;851;p53"/>
          <p:cNvSpPr/>
          <p:nvPr/>
        </p:nvSpPr>
        <p:spPr>
          <a:xfrm>
            <a:off x="5693094" y="4423213"/>
            <a:ext cx="685800" cy="2742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 and AI Assets</a:t>
            </a:r>
            <a:endParaRPr sz="900">
              <a:solidFill>
                <a:schemeClr val="accent2"/>
              </a:solidFill>
              <a:latin typeface="DM Sans SemiBold"/>
              <a:ea typeface="DM Sans SemiBold"/>
              <a:cs typeface="DM Sans SemiBold"/>
              <a:sym typeface="DM Sans SemiBold"/>
            </a:endParaRPr>
          </a:p>
        </p:txBody>
      </p:sp>
      <p:grpSp>
        <p:nvGrpSpPr>
          <p:cNvPr id="852" name="Google Shape;852;p53"/>
          <p:cNvGrpSpPr/>
          <p:nvPr/>
        </p:nvGrpSpPr>
        <p:grpSpPr>
          <a:xfrm>
            <a:off x="9152825" y="5742257"/>
            <a:ext cx="1044000" cy="400292"/>
            <a:chOff x="9534531" y="5311470"/>
            <a:chExt cx="1044000" cy="400292"/>
          </a:xfrm>
        </p:grpSpPr>
        <p:sp>
          <p:nvSpPr>
            <p:cNvPr id="853" name="Google Shape;853;p53"/>
            <p:cNvSpPr txBox="1"/>
            <p:nvPr/>
          </p:nvSpPr>
          <p:spPr>
            <a:xfrm>
              <a:off x="9534531" y="5557862"/>
              <a:ext cx="10440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Data Consumer</a:t>
              </a:r>
              <a:endParaRPr sz="900">
                <a:solidFill>
                  <a:schemeClr val="accent1"/>
                </a:solidFill>
                <a:latin typeface="DM Sans Medium"/>
                <a:ea typeface="DM Sans Medium"/>
                <a:cs typeface="DM Sans Medium"/>
                <a:sym typeface="DM Sans Medium"/>
              </a:endParaRPr>
            </a:p>
          </p:txBody>
        </p:sp>
        <p:pic>
          <p:nvPicPr>
            <p:cNvPr id="854" name="Google Shape;854;p53"/>
            <p:cNvPicPr preferRelativeResize="0"/>
            <p:nvPr/>
          </p:nvPicPr>
          <p:blipFill>
            <a:blip r:embed="rId3">
              <a:alphaModFix/>
            </a:blip>
            <a:stretch>
              <a:fillRect/>
            </a:stretch>
          </p:blipFill>
          <p:spPr>
            <a:xfrm>
              <a:off x="9908871" y="5311470"/>
              <a:ext cx="265176" cy="265176"/>
            </a:xfrm>
            <a:prstGeom prst="rect">
              <a:avLst/>
            </a:prstGeom>
            <a:noFill/>
            <a:ln>
              <a:noFill/>
            </a:ln>
          </p:spPr>
        </p:pic>
      </p:grpSp>
      <p:grpSp>
        <p:nvGrpSpPr>
          <p:cNvPr id="855" name="Google Shape;855;p53"/>
          <p:cNvGrpSpPr/>
          <p:nvPr/>
        </p:nvGrpSpPr>
        <p:grpSpPr>
          <a:xfrm>
            <a:off x="9133775" y="5106027"/>
            <a:ext cx="1082100" cy="391902"/>
            <a:chOff x="9515475" y="4663855"/>
            <a:chExt cx="1082100" cy="391902"/>
          </a:xfrm>
        </p:grpSpPr>
        <p:sp>
          <p:nvSpPr>
            <p:cNvPr id="856" name="Google Shape;856;p53"/>
            <p:cNvSpPr txBox="1"/>
            <p:nvPr/>
          </p:nvSpPr>
          <p:spPr>
            <a:xfrm>
              <a:off x="9515475" y="4901857"/>
              <a:ext cx="1082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Business/AI App</a:t>
              </a:r>
              <a:endParaRPr sz="900">
                <a:solidFill>
                  <a:schemeClr val="accent1"/>
                </a:solidFill>
                <a:latin typeface="DM Sans Medium"/>
                <a:ea typeface="DM Sans Medium"/>
                <a:cs typeface="DM Sans Medium"/>
                <a:sym typeface="DM Sans Medium"/>
              </a:endParaRPr>
            </a:p>
          </p:txBody>
        </p:sp>
        <p:pic>
          <p:nvPicPr>
            <p:cNvPr id="857" name="Google Shape;857;p53"/>
            <p:cNvPicPr preferRelativeResize="0"/>
            <p:nvPr/>
          </p:nvPicPr>
          <p:blipFill>
            <a:blip r:embed="rId3">
              <a:alphaModFix/>
            </a:blip>
            <a:stretch>
              <a:fillRect/>
            </a:stretch>
          </p:blipFill>
          <p:spPr>
            <a:xfrm>
              <a:off x="9908871" y="4663855"/>
              <a:ext cx="265176" cy="265176"/>
            </a:xfrm>
            <a:prstGeom prst="rect">
              <a:avLst/>
            </a:prstGeom>
            <a:noFill/>
            <a:ln>
              <a:noFill/>
            </a:ln>
          </p:spPr>
        </p:pic>
      </p:grpSp>
      <p:grpSp>
        <p:nvGrpSpPr>
          <p:cNvPr id="858" name="Google Shape;858;p53"/>
          <p:cNvGrpSpPr/>
          <p:nvPr/>
        </p:nvGrpSpPr>
        <p:grpSpPr>
          <a:xfrm>
            <a:off x="4283501" y="5741943"/>
            <a:ext cx="1044000" cy="397683"/>
            <a:chOff x="4661400" y="6214292"/>
            <a:chExt cx="1044000" cy="397683"/>
          </a:xfrm>
        </p:grpSpPr>
        <p:sp>
          <p:nvSpPr>
            <p:cNvPr id="859" name="Google Shape;859;p53"/>
            <p:cNvSpPr/>
            <p:nvPr/>
          </p:nvSpPr>
          <p:spPr>
            <a:xfrm>
              <a:off x="4661400" y="6458075"/>
              <a:ext cx="1044000" cy="153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Cloud Storage</a:t>
              </a:r>
              <a:endParaRPr sz="900">
                <a:solidFill>
                  <a:srgbClr val="1B5162"/>
                </a:solidFill>
                <a:latin typeface="DM Sans Medium"/>
                <a:ea typeface="DM Sans Medium"/>
                <a:cs typeface="DM Sans Medium"/>
                <a:sym typeface="DM Sans Medium"/>
              </a:endParaRPr>
            </a:p>
          </p:txBody>
        </p:sp>
        <p:pic>
          <p:nvPicPr>
            <p:cNvPr id="860" name="Google Shape;860;p53"/>
            <p:cNvPicPr preferRelativeResize="0"/>
            <p:nvPr/>
          </p:nvPicPr>
          <p:blipFill>
            <a:blip r:embed="rId4">
              <a:alphaModFix/>
            </a:blip>
            <a:stretch>
              <a:fillRect/>
            </a:stretch>
          </p:blipFill>
          <p:spPr>
            <a:xfrm>
              <a:off x="5035638" y="6214292"/>
              <a:ext cx="265176" cy="265176"/>
            </a:xfrm>
            <a:prstGeom prst="rect">
              <a:avLst/>
            </a:prstGeom>
            <a:noFill/>
            <a:ln>
              <a:noFill/>
            </a:ln>
          </p:spPr>
        </p:pic>
      </p:grpSp>
      <p:sp>
        <p:nvSpPr>
          <p:cNvPr id="861" name="Google Shape;861;p53"/>
          <p:cNvSpPr/>
          <p:nvPr/>
        </p:nvSpPr>
        <p:spPr>
          <a:xfrm>
            <a:off x="6727000" y="5129400"/>
            <a:ext cx="666600" cy="292500"/>
          </a:xfrm>
          <a:prstGeom prst="roundRect">
            <a:avLst>
              <a:gd fmla="val 17511"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     Delta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       Sharing</a:t>
            </a:r>
            <a:endParaRPr sz="900">
              <a:solidFill>
                <a:schemeClr val="accent2"/>
              </a:solidFill>
              <a:latin typeface="DM Sans SemiBold"/>
              <a:ea typeface="DM Sans SemiBold"/>
              <a:cs typeface="DM Sans SemiBold"/>
              <a:sym typeface="DM Sans SemiBold"/>
            </a:endParaRPr>
          </a:p>
        </p:txBody>
      </p:sp>
      <p:pic>
        <p:nvPicPr>
          <p:cNvPr id="862" name="Google Shape;862;p53"/>
          <p:cNvPicPr preferRelativeResize="0"/>
          <p:nvPr/>
        </p:nvPicPr>
        <p:blipFill>
          <a:blip r:embed="rId5">
            <a:alphaModFix/>
          </a:blip>
          <a:stretch>
            <a:fillRect/>
          </a:stretch>
        </p:blipFill>
        <p:spPr>
          <a:xfrm>
            <a:off x="6754210" y="5201783"/>
            <a:ext cx="173400" cy="145181"/>
          </a:xfrm>
          <a:prstGeom prst="rect">
            <a:avLst/>
          </a:prstGeom>
          <a:noFill/>
          <a:ln>
            <a:noFill/>
          </a:ln>
        </p:spPr>
      </p:pic>
      <p:sp>
        <p:nvSpPr>
          <p:cNvPr id="863" name="Google Shape;863;p53"/>
          <p:cNvSpPr/>
          <p:nvPr/>
        </p:nvSpPr>
        <p:spPr>
          <a:xfrm>
            <a:off x="2143275" y="2825260"/>
            <a:ext cx="879600" cy="274200"/>
          </a:xfrm>
          <a:prstGeom prst="roundRect">
            <a:avLst>
              <a:gd fmla="val 16667"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Lakeflow Connect</a:t>
            </a:r>
            <a:endParaRPr sz="900">
              <a:solidFill>
                <a:schemeClr val="accent2"/>
              </a:solidFill>
              <a:latin typeface="DM Sans SemiBold"/>
              <a:ea typeface="DM Sans SemiBold"/>
              <a:cs typeface="DM Sans SemiBold"/>
              <a:sym typeface="DM Sans SemiBold"/>
            </a:endParaRPr>
          </a:p>
        </p:txBody>
      </p:sp>
      <p:sp>
        <p:nvSpPr>
          <p:cNvPr id="864" name="Google Shape;864;p53"/>
          <p:cNvSpPr/>
          <p:nvPr/>
        </p:nvSpPr>
        <p:spPr>
          <a:xfrm>
            <a:off x="9133775" y="4282646"/>
            <a:ext cx="1082100" cy="579600"/>
          </a:xfrm>
          <a:prstGeom prst="roundRect">
            <a:avLst>
              <a:gd fmla="val 15648"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BI</a:t>
            </a:r>
            <a:endParaRPr sz="1100">
              <a:solidFill>
                <a:schemeClr val="accent5"/>
              </a:solidFill>
              <a:latin typeface="DM Sans Medium"/>
              <a:ea typeface="DM Sans Medium"/>
              <a:cs typeface="DM Sans Medium"/>
              <a:sym typeface="DM Sans Medium"/>
            </a:endParaRPr>
          </a:p>
        </p:txBody>
      </p:sp>
      <p:grpSp>
        <p:nvGrpSpPr>
          <p:cNvPr id="865" name="Google Shape;865;p53"/>
          <p:cNvGrpSpPr/>
          <p:nvPr/>
        </p:nvGrpSpPr>
        <p:grpSpPr>
          <a:xfrm>
            <a:off x="9357275" y="4466615"/>
            <a:ext cx="635100" cy="393231"/>
            <a:chOff x="9738981" y="3936515"/>
            <a:chExt cx="635100" cy="393231"/>
          </a:xfrm>
        </p:grpSpPr>
        <p:sp>
          <p:nvSpPr>
            <p:cNvPr id="866" name="Google Shape;866;p53"/>
            <p:cNvSpPr txBox="1"/>
            <p:nvPr/>
          </p:nvSpPr>
          <p:spPr>
            <a:xfrm>
              <a:off x="9738981" y="4175845"/>
              <a:ext cx="635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BI Tool</a:t>
              </a:r>
              <a:endParaRPr sz="900">
                <a:solidFill>
                  <a:schemeClr val="accent1"/>
                </a:solidFill>
                <a:latin typeface="DM Sans Medium"/>
                <a:ea typeface="DM Sans Medium"/>
                <a:cs typeface="DM Sans Medium"/>
                <a:sym typeface="DM Sans Medium"/>
              </a:endParaRPr>
            </a:p>
          </p:txBody>
        </p:sp>
        <p:pic>
          <p:nvPicPr>
            <p:cNvPr id="867" name="Google Shape;867;p53"/>
            <p:cNvPicPr preferRelativeResize="0"/>
            <p:nvPr/>
          </p:nvPicPr>
          <p:blipFill>
            <a:blip r:embed="rId6">
              <a:alphaModFix/>
            </a:blip>
            <a:stretch>
              <a:fillRect/>
            </a:stretch>
          </p:blipFill>
          <p:spPr>
            <a:xfrm>
              <a:off x="9923943" y="3936515"/>
              <a:ext cx="265176" cy="265176"/>
            </a:xfrm>
            <a:prstGeom prst="rect">
              <a:avLst/>
            </a:prstGeom>
            <a:noFill/>
            <a:ln>
              <a:noFill/>
            </a:ln>
          </p:spPr>
        </p:pic>
      </p:grpSp>
      <p:sp>
        <p:nvSpPr>
          <p:cNvPr id="868" name="Google Shape;868;p53"/>
          <p:cNvSpPr/>
          <p:nvPr/>
        </p:nvSpPr>
        <p:spPr>
          <a:xfrm>
            <a:off x="8977121" y="4083498"/>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869" name="Google Shape;869;p53"/>
          <p:cNvCxnSpPr>
            <a:stCxn id="868" idx="2"/>
            <a:endCxn id="829" idx="1"/>
          </p:cNvCxnSpPr>
          <p:nvPr/>
        </p:nvCxnSpPr>
        <p:spPr>
          <a:xfrm flipH="1" rot="-5400000">
            <a:off x="8560121" y="4643598"/>
            <a:ext cx="1042200" cy="105000"/>
          </a:xfrm>
          <a:prstGeom prst="bentConnector2">
            <a:avLst/>
          </a:prstGeom>
          <a:noFill/>
          <a:ln cap="flat" cmpd="sng" w="9525">
            <a:solidFill>
              <a:schemeClr val="accent1"/>
            </a:solidFill>
            <a:prstDash val="solid"/>
            <a:round/>
            <a:headEnd len="sm" w="sm" type="none"/>
            <a:tailEnd len="sm" w="sm" type="triangle"/>
          </a:ln>
        </p:spPr>
      </p:cxnSp>
      <p:cxnSp>
        <p:nvCxnSpPr>
          <p:cNvPr id="870" name="Google Shape;870;p53"/>
          <p:cNvCxnSpPr>
            <a:stCxn id="868" idx="2"/>
            <a:endCxn id="864" idx="1"/>
          </p:cNvCxnSpPr>
          <p:nvPr/>
        </p:nvCxnSpPr>
        <p:spPr>
          <a:xfrm flipH="1" rot="-5400000">
            <a:off x="8882471" y="4321248"/>
            <a:ext cx="397500" cy="105000"/>
          </a:xfrm>
          <a:prstGeom prst="bentConnector2">
            <a:avLst/>
          </a:prstGeom>
          <a:noFill/>
          <a:ln cap="flat" cmpd="sng" w="9525">
            <a:solidFill>
              <a:schemeClr val="accent1"/>
            </a:solidFill>
            <a:prstDash val="solid"/>
            <a:round/>
            <a:headEnd len="sm" w="sm" type="none"/>
            <a:tailEnd len="sm" w="sm" type="triangle"/>
          </a:ln>
        </p:spPr>
      </p:cxnSp>
      <p:sp>
        <p:nvSpPr>
          <p:cNvPr id="871" name="Google Shape;871;p53"/>
          <p:cNvSpPr/>
          <p:nvPr/>
        </p:nvSpPr>
        <p:spPr>
          <a:xfrm>
            <a:off x="6727824" y="3179562"/>
            <a:ext cx="6858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AI Functions</a:t>
            </a:r>
            <a:endParaRPr sz="900">
              <a:solidFill>
                <a:schemeClr val="accent2"/>
              </a:solidFill>
              <a:latin typeface="DM Sans SemiBold"/>
              <a:ea typeface="DM Sans SemiBold"/>
              <a:cs typeface="DM Sans SemiBold"/>
              <a:sym typeface="DM Sans SemiBold"/>
            </a:endParaRPr>
          </a:p>
        </p:txBody>
      </p:sp>
      <p:sp>
        <p:nvSpPr>
          <p:cNvPr id="872" name="Google Shape;872;p53"/>
          <p:cNvSpPr/>
          <p:nvPr/>
        </p:nvSpPr>
        <p:spPr>
          <a:xfrm>
            <a:off x="3322840" y="5121992"/>
            <a:ext cx="704100" cy="2925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        Delta</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        Lake</a:t>
            </a:r>
            <a:endParaRPr sz="900">
              <a:solidFill>
                <a:schemeClr val="accent2"/>
              </a:solidFill>
              <a:latin typeface="DM Sans SemiBold"/>
              <a:ea typeface="DM Sans SemiBold"/>
              <a:cs typeface="DM Sans SemiBold"/>
              <a:sym typeface="DM Sans SemiBold"/>
            </a:endParaRPr>
          </a:p>
        </p:txBody>
      </p:sp>
      <p:pic>
        <p:nvPicPr>
          <p:cNvPr id="873" name="Google Shape;873;p53"/>
          <p:cNvPicPr preferRelativeResize="0"/>
          <p:nvPr/>
        </p:nvPicPr>
        <p:blipFill>
          <a:blip r:embed="rId7">
            <a:alphaModFix/>
          </a:blip>
          <a:stretch>
            <a:fillRect/>
          </a:stretch>
        </p:blipFill>
        <p:spPr>
          <a:xfrm>
            <a:off x="3367671" y="5181455"/>
            <a:ext cx="200700" cy="191237"/>
          </a:xfrm>
          <a:prstGeom prst="rect">
            <a:avLst/>
          </a:prstGeom>
          <a:noFill/>
          <a:ln>
            <a:noFill/>
          </a:ln>
        </p:spPr>
      </p:pic>
      <p:sp>
        <p:nvSpPr>
          <p:cNvPr id="874" name="Google Shape;874;p53"/>
          <p:cNvSpPr/>
          <p:nvPr/>
        </p:nvSpPr>
        <p:spPr>
          <a:xfrm>
            <a:off x="4857709" y="4423213"/>
            <a:ext cx="740400" cy="2742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Catalog and Lineage</a:t>
            </a:r>
            <a:endParaRPr sz="900">
              <a:solidFill>
                <a:schemeClr val="accent2"/>
              </a:solidFill>
              <a:latin typeface="DM Sans SemiBold"/>
              <a:ea typeface="DM Sans SemiBold"/>
              <a:cs typeface="DM Sans SemiBold"/>
              <a:sym typeface="DM Sans SemiBold"/>
            </a:endParaRPr>
          </a:p>
        </p:txBody>
      </p:sp>
      <p:sp>
        <p:nvSpPr>
          <p:cNvPr id="875" name="Google Shape;875;p53"/>
          <p:cNvSpPr txBox="1"/>
          <p:nvPr/>
        </p:nvSpPr>
        <p:spPr>
          <a:xfrm rot="-5400000">
            <a:off x="485913" y="2789875"/>
            <a:ext cx="4701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ETL</a:t>
            </a:r>
            <a:endParaRPr sz="1100">
              <a:solidFill>
                <a:schemeClr val="accent5"/>
              </a:solidFill>
              <a:latin typeface="DM Sans"/>
              <a:ea typeface="DM Sans"/>
              <a:cs typeface="DM Sans"/>
              <a:sym typeface="DM Sans"/>
            </a:endParaRPr>
          </a:p>
        </p:txBody>
      </p:sp>
      <p:sp>
        <p:nvSpPr>
          <p:cNvPr id="876" name="Google Shape;876;p53"/>
          <p:cNvSpPr/>
          <p:nvPr/>
        </p:nvSpPr>
        <p:spPr>
          <a:xfrm>
            <a:off x="4332250" y="5121992"/>
            <a:ext cx="704100" cy="2925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200025"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Iceberg</a:t>
            </a:r>
            <a:endParaRPr sz="900">
              <a:solidFill>
                <a:schemeClr val="accent2"/>
              </a:solidFill>
              <a:latin typeface="DM Sans SemiBold"/>
              <a:ea typeface="DM Sans SemiBold"/>
              <a:cs typeface="DM Sans SemiBold"/>
              <a:sym typeface="DM Sans SemiBold"/>
            </a:endParaRPr>
          </a:p>
        </p:txBody>
      </p:sp>
      <p:sp>
        <p:nvSpPr>
          <p:cNvPr id="877" name="Google Shape;877;p53"/>
          <p:cNvSpPr/>
          <p:nvPr/>
        </p:nvSpPr>
        <p:spPr>
          <a:xfrm>
            <a:off x="3449100" y="2582475"/>
            <a:ext cx="9837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Feature Engineering</a:t>
            </a:r>
            <a:endParaRPr sz="900">
              <a:solidFill>
                <a:schemeClr val="accent2"/>
              </a:solidFill>
              <a:latin typeface="DM Sans SemiBold"/>
              <a:ea typeface="DM Sans SemiBold"/>
              <a:cs typeface="DM Sans SemiBold"/>
              <a:sym typeface="DM Sans SemiBold"/>
            </a:endParaRPr>
          </a:p>
        </p:txBody>
      </p:sp>
      <p:sp>
        <p:nvSpPr>
          <p:cNvPr id="878" name="Google Shape;878;p53"/>
          <p:cNvSpPr/>
          <p:nvPr/>
        </p:nvSpPr>
        <p:spPr>
          <a:xfrm>
            <a:off x="3322840" y="4423213"/>
            <a:ext cx="704100" cy="2742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Federation</a:t>
            </a:r>
            <a:endParaRPr sz="900">
              <a:solidFill>
                <a:schemeClr val="accent2"/>
              </a:solidFill>
              <a:latin typeface="DM Sans SemiBold"/>
              <a:ea typeface="DM Sans SemiBold"/>
              <a:cs typeface="DM Sans SemiBold"/>
              <a:sym typeface="DM Sans SemiBold"/>
            </a:endParaRPr>
          </a:p>
        </p:txBody>
      </p:sp>
      <p:cxnSp>
        <p:nvCxnSpPr>
          <p:cNvPr id="879" name="Google Shape;879;p53"/>
          <p:cNvCxnSpPr/>
          <p:nvPr/>
        </p:nvCxnSpPr>
        <p:spPr>
          <a:xfrm>
            <a:off x="1768354" y="5371543"/>
            <a:ext cx="1413300" cy="600"/>
          </a:xfrm>
          <a:prstGeom prst="bentConnector3">
            <a:avLst>
              <a:gd fmla="val 50000" name="adj1"/>
            </a:avLst>
          </a:prstGeom>
          <a:noFill/>
          <a:ln cap="flat" cmpd="sng" w="9525">
            <a:solidFill>
              <a:schemeClr val="accent1"/>
            </a:solidFill>
            <a:prstDash val="solid"/>
            <a:round/>
            <a:headEnd len="sm" w="sm" type="none"/>
            <a:tailEnd len="sm" w="sm" type="triangle"/>
          </a:ln>
        </p:spPr>
      </p:cxnSp>
      <p:cxnSp>
        <p:nvCxnSpPr>
          <p:cNvPr id="880" name="Google Shape;880;p53"/>
          <p:cNvCxnSpPr>
            <a:stCxn id="881" idx="2"/>
            <a:endCxn id="860" idx="1"/>
          </p:cNvCxnSpPr>
          <p:nvPr/>
        </p:nvCxnSpPr>
        <p:spPr>
          <a:xfrm flipH="1" rot="-5400000">
            <a:off x="4243734" y="5460355"/>
            <a:ext cx="326100" cy="502200"/>
          </a:xfrm>
          <a:prstGeom prst="bentConnector2">
            <a:avLst/>
          </a:prstGeom>
          <a:noFill/>
          <a:ln cap="flat" cmpd="sng" w="9525">
            <a:solidFill>
              <a:schemeClr val="accent1"/>
            </a:solidFill>
            <a:prstDash val="solid"/>
            <a:round/>
            <a:headEnd len="sm" w="sm" type="triangle"/>
            <a:tailEnd len="sm" w="sm" type="triangle"/>
          </a:ln>
        </p:spPr>
      </p:cxnSp>
      <p:sp>
        <p:nvSpPr>
          <p:cNvPr id="840" name="Google Shape;840;p53"/>
          <p:cNvSpPr/>
          <p:nvPr/>
        </p:nvSpPr>
        <p:spPr>
          <a:xfrm>
            <a:off x="8524112" y="4091357"/>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36" name="Google Shape;836;p53"/>
          <p:cNvSpPr/>
          <p:nvPr/>
        </p:nvSpPr>
        <p:spPr>
          <a:xfrm>
            <a:off x="1689846" y="2981675"/>
            <a:ext cx="759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882" name="Google Shape;882;p53"/>
          <p:cNvPicPr preferRelativeResize="0"/>
          <p:nvPr/>
        </p:nvPicPr>
        <p:blipFill>
          <a:blip r:embed="rId8">
            <a:alphaModFix/>
          </a:blip>
          <a:stretch>
            <a:fillRect/>
          </a:stretch>
        </p:blipFill>
        <p:spPr>
          <a:xfrm>
            <a:off x="4998129" y="1403077"/>
            <a:ext cx="259650" cy="279625"/>
          </a:xfrm>
          <a:prstGeom prst="rect">
            <a:avLst/>
          </a:prstGeom>
          <a:noFill/>
          <a:ln>
            <a:noFill/>
          </a:ln>
        </p:spPr>
      </p:pic>
      <p:sp>
        <p:nvSpPr>
          <p:cNvPr id="881" name="Google Shape;881;p53"/>
          <p:cNvSpPr/>
          <p:nvPr/>
        </p:nvSpPr>
        <p:spPr>
          <a:xfrm>
            <a:off x="4104084" y="5456905"/>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83" name="Google Shape;883;p53"/>
          <p:cNvSpPr/>
          <p:nvPr/>
        </p:nvSpPr>
        <p:spPr>
          <a:xfrm>
            <a:off x="8279671" y="2582483"/>
            <a:ext cx="685500" cy="2757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Model</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Serving</a:t>
            </a:r>
            <a:endParaRPr sz="900">
              <a:solidFill>
                <a:schemeClr val="accent2"/>
              </a:solidFill>
              <a:latin typeface="DM Sans SemiBold"/>
              <a:ea typeface="DM Sans SemiBold"/>
              <a:cs typeface="DM Sans SemiBold"/>
              <a:sym typeface="DM Sans SemiBold"/>
            </a:endParaRPr>
          </a:p>
        </p:txBody>
      </p:sp>
      <p:grpSp>
        <p:nvGrpSpPr>
          <p:cNvPr id="884" name="Google Shape;884;p53"/>
          <p:cNvGrpSpPr/>
          <p:nvPr/>
        </p:nvGrpSpPr>
        <p:grpSpPr>
          <a:xfrm>
            <a:off x="5357469" y="5168059"/>
            <a:ext cx="1015163" cy="210402"/>
            <a:chOff x="6995676" y="6025175"/>
            <a:chExt cx="1015163" cy="210402"/>
          </a:xfrm>
        </p:grpSpPr>
        <p:sp>
          <p:nvSpPr>
            <p:cNvPr id="885" name="Google Shape;885;p53"/>
            <p:cNvSpPr txBox="1"/>
            <p:nvPr/>
          </p:nvSpPr>
          <p:spPr>
            <a:xfrm>
              <a:off x="6995676" y="6112577"/>
              <a:ext cx="38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bronze</a:t>
              </a:r>
              <a:endParaRPr sz="800">
                <a:solidFill>
                  <a:srgbClr val="1B5162"/>
                </a:solidFill>
                <a:latin typeface="DM Sans"/>
                <a:ea typeface="DM Sans"/>
                <a:cs typeface="DM Sans"/>
                <a:sym typeface="DM Sans"/>
              </a:endParaRPr>
            </a:p>
          </p:txBody>
        </p:sp>
        <p:sp>
          <p:nvSpPr>
            <p:cNvPr id="886" name="Google Shape;886;p53"/>
            <p:cNvSpPr txBox="1"/>
            <p:nvPr/>
          </p:nvSpPr>
          <p:spPr>
            <a:xfrm>
              <a:off x="7393838" y="6112577"/>
              <a:ext cx="29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silver</a:t>
              </a:r>
              <a:endParaRPr sz="800">
                <a:solidFill>
                  <a:srgbClr val="1B5162"/>
                </a:solidFill>
                <a:latin typeface="DM Sans"/>
                <a:ea typeface="DM Sans"/>
                <a:cs typeface="DM Sans"/>
                <a:sym typeface="DM Sans"/>
              </a:endParaRPr>
            </a:p>
          </p:txBody>
        </p:sp>
        <p:sp>
          <p:nvSpPr>
            <p:cNvPr id="887" name="Google Shape;887;p53"/>
            <p:cNvSpPr txBox="1"/>
            <p:nvPr/>
          </p:nvSpPr>
          <p:spPr>
            <a:xfrm>
              <a:off x="7755238" y="6112577"/>
              <a:ext cx="2556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gold</a:t>
              </a:r>
              <a:endParaRPr sz="800">
                <a:solidFill>
                  <a:srgbClr val="1B5162"/>
                </a:solidFill>
                <a:latin typeface="DM Sans"/>
                <a:ea typeface="DM Sans"/>
                <a:cs typeface="DM Sans"/>
                <a:sym typeface="DM Sans"/>
              </a:endParaRPr>
            </a:p>
          </p:txBody>
        </p:sp>
        <p:sp>
          <p:nvSpPr>
            <p:cNvPr id="888" name="Google Shape;888;p53"/>
            <p:cNvSpPr/>
            <p:nvPr/>
          </p:nvSpPr>
          <p:spPr>
            <a:xfrm>
              <a:off x="7094764" y="6025175"/>
              <a:ext cx="182100" cy="92525"/>
            </a:xfrm>
            <a:prstGeom prst="flowChartMagneticDisk">
              <a:avLst/>
            </a:prstGeom>
            <a:solidFill>
              <a:srgbClr val="BF897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889" name="Google Shape;889;p53"/>
            <p:cNvSpPr/>
            <p:nvPr/>
          </p:nvSpPr>
          <p:spPr>
            <a:xfrm>
              <a:off x="7441284" y="6025175"/>
              <a:ext cx="182100" cy="92525"/>
            </a:xfrm>
            <a:prstGeom prst="flowChartMagneticDisk">
              <a:avLst/>
            </a:prstGeom>
            <a:solidFill>
              <a:srgbClr val="C0C0C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890" name="Google Shape;890;p53"/>
            <p:cNvSpPr/>
            <p:nvPr/>
          </p:nvSpPr>
          <p:spPr>
            <a:xfrm>
              <a:off x="7791988" y="6025175"/>
              <a:ext cx="182100" cy="92525"/>
            </a:xfrm>
            <a:prstGeom prst="flowChartMagneticDisk">
              <a:avLst/>
            </a:prstGeom>
            <a:solidFill>
              <a:srgbClr val="D4AF37"/>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891" name="Google Shape;891;p53"/>
            <p:cNvSpPr/>
            <p:nvPr/>
          </p:nvSpPr>
          <p:spPr>
            <a:xfrm rot="5400000">
              <a:off x="7401063"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892" name="Google Shape;892;p53"/>
            <p:cNvCxnSpPr>
              <a:stCxn id="889" idx="4"/>
              <a:endCxn id="893" idx="3"/>
            </p:cNvCxnSpPr>
            <p:nvPr/>
          </p:nvCxnSpPr>
          <p:spPr>
            <a:xfrm>
              <a:off x="7623384" y="6071438"/>
              <a:ext cx="125400" cy="1200"/>
            </a:xfrm>
            <a:prstGeom prst="straightConnector1">
              <a:avLst/>
            </a:prstGeom>
            <a:noFill/>
            <a:ln cap="flat" cmpd="sng" w="9525">
              <a:solidFill>
                <a:srgbClr val="666666"/>
              </a:solidFill>
              <a:prstDash val="solid"/>
              <a:round/>
              <a:headEnd len="sm" w="sm" type="none"/>
              <a:tailEnd len="med" w="med" type="none"/>
            </a:ln>
          </p:spPr>
        </p:cxnSp>
        <p:sp>
          <p:nvSpPr>
            <p:cNvPr id="893" name="Google Shape;893;p53"/>
            <p:cNvSpPr/>
            <p:nvPr/>
          </p:nvSpPr>
          <p:spPr>
            <a:xfrm rot="5400000">
              <a:off x="7748234"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894" name="Google Shape;894;p53"/>
            <p:cNvCxnSpPr>
              <a:stCxn id="888" idx="4"/>
              <a:endCxn id="891" idx="3"/>
            </p:cNvCxnSpPr>
            <p:nvPr/>
          </p:nvCxnSpPr>
          <p:spPr>
            <a:xfrm>
              <a:off x="7276864" y="6071438"/>
              <a:ext cx="124800" cy="1200"/>
            </a:xfrm>
            <a:prstGeom prst="straightConnector1">
              <a:avLst/>
            </a:prstGeom>
            <a:noFill/>
            <a:ln cap="flat" cmpd="sng" w="9525">
              <a:solidFill>
                <a:srgbClr val="666666"/>
              </a:solidFill>
              <a:prstDash val="solid"/>
              <a:round/>
              <a:headEnd len="sm" w="sm" type="none"/>
              <a:tailEnd len="med" w="med" type="none"/>
            </a:ln>
          </p:spPr>
        </p:cxnSp>
      </p:grpSp>
      <p:sp>
        <p:nvSpPr>
          <p:cNvPr id="895" name="Google Shape;895;p53"/>
          <p:cNvSpPr/>
          <p:nvPr/>
        </p:nvSpPr>
        <p:spPr>
          <a:xfrm>
            <a:off x="3247450" y="3574037"/>
            <a:ext cx="3380100" cy="557700"/>
          </a:xfrm>
          <a:prstGeom prst="roundRect">
            <a:avLst>
              <a:gd fmla="val 14501"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None/>
            </a:pPr>
            <a:r>
              <a:rPr lang="en" sz="1100">
                <a:solidFill>
                  <a:schemeClr val="accent5"/>
                </a:solidFill>
                <a:latin typeface="DM Sans Medium"/>
                <a:ea typeface="DM Sans Medium"/>
                <a:cs typeface="DM Sans Medium"/>
                <a:sym typeface="DM Sans Medium"/>
              </a:rPr>
              <a:t>Data Intelligence</a:t>
            </a:r>
            <a:endParaRPr sz="1100">
              <a:solidFill>
                <a:schemeClr val="accent5"/>
              </a:solidFill>
              <a:latin typeface="DM Sans Medium"/>
              <a:ea typeface="DM Sans Medium"/>
              <a:cs typeface="DM Sans Medium"/>
              <a:sym typeface="DM Sans Medium"/>
            </a:endParaRPr>
          </a:p>
        </p:txBody>
      </p:sp>
      <p:sp>
        <p:nvSpPr>
          <p:cNvPr id="896" name="Google Shape;896;p53"/>
          <p:cNvSpPr/>
          <p:nvPr/>
        </p:nvSpPr>
        <p:spPr>
          <a:xfrm>
            <a:off x="3727425" y="3799000"/>
            <a:ext cx="704100" cy="274200"/>
          </a:xfrm>
          <a:prstGeom prst="roundRect">
            <a:avLst>
              <a:gd fmla="val 17361"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Assistant</a:t>
            </a:r>
            <a:endParaRPr sz="900">
              <a:solidFill>
                <a:schemeClr val="accent2"/>
              </a:solidFill>
              <a:latin typeface="DM Sans SemiBold"/>
              <a:ea typeface="DM Sans SemiBold"/>
              <a:cs typeface="DM Sans SemiBold"/>
              <a:sym typeface="DM Sans SemiBold"/>
            </a:endParaRPr>
          </a:p>
        </p:txBody>
      </p:sp>
      <p:sp>
        <p:nvSpPr>
          <p:cNvPr id="897" name="Google Shape;897;p53"/>
          <p:cNvSpPr/>
          <p:nvPr/>
        </p:nvSpPr>
        <p:spPr>
          <a:xfrm>
            <a:off x="5461775" y="3802250"/>
            <a:ext cx="685800" cy="274200"/>
          </a:xfrm>
          <a:prstGeom prst="roundRect">
            <a:avLst>
              <a:gd fmla="val 17361"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Predictive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IO</a:t>
            </a:r>
            <a:endParaRPr sz="900">
              <a:solidFill>
                <a:schemeClr val="accent2"/>
              </a:solidFill>
              <a:latin typeface="DM Sans SemiBold"/>
              <a:ea typeface="DM Sans SemiBold"/>
              <a:cs typeface="DM Sans SemiBold"/>
              <a:sym typeface="DM Sans SemiBold"/>
            </a:endParaRPr>
          </a:p>
        </p:txBody>
      </p:sp>
      <p:sp>
        <p:nvSpPr>
          <p:cNvPr id="898" name="Google Shape;898;p53"/>
          <p:cNvSpPr/>
          <p:nvPr/>
        </p:nvSpPr>
        <p:spPr>
          <a:xfrm>
            <a:off x="4564824" y="3802250"/>
            <a:ext cx="761100" cy="274200"/>
          </a:xfrm>
          <a:prstGeom prst="roundRect">
            <a:avLst>
              <a:gd fmla="val 17361"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Predictive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optimization</a:t>
            </a:r>
            <a:endParaRPr sz="900">
              <a:solidFill>
                <a:schemeClr val="accent2"/>
              </a:solidFill>
              <a:latin typeface="DM Sans SemiBold"/>
              <a:ea typeface="DM Sans SemiBold"/>
              <a:cs typeface="DM Sans SemiBold"/>
              <a:sym typeface="DM Sans SemiBold"/>
            </a:endParaRPr>
          </a:p>
        </p:txBody>
      </p:sp>
      <p:grpSp>
        <p:nvGrpSpPr>
          <p:cNvPr id="899" name="Google Shape;899;p53"/>
          <p:cNvGrpSpPr/>
          <p:nvPr/>
        </p:nvGrpSpPr>
        <p:grpSpPr>
          <a:xfrm>
            <a:off x="861763" y="1388635"/>
            <a:ext cx="879600" cy="565670"/>
            <a:chOff x="820734" y="1742570"/>
            <a:chExt cx="879600" cy="565670"/>
          </a:xfrm>
        </p:grpSpPr>
        <p:sp>
          <p:nvSpPr>
            <p:cNvPr id="900" name="Google Shape;900;p53"/>
            <p:cNvSpPr txBox="1"/>
            <p:nvPr/>
          </p:nvSpPr>
          <p:spPr>
            <a:xfrm>
              <a:off x="820734" y="1969540"/>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Files / Logs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a:t>
              </a:r>
              <a:r>
                <a:rPr lang="en" sz="800">
                  <a:solidFill>
                    <a:schemeClr val="accent5"/>
                  </a:solidFill>
                  <a:latin typeface="DM Sans Medium"/>
                  <a:ea typeface="DM Sans Medium"/>
                  <a:cs typeface="DM Sans Medium"/>
                  <a:sym typeface="DM Sans Medium"/>
                </a:rPr>
                <a:t>semi-</a:t>
              </a: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901" name="Google Shape;901;p53"/>
            <p:cNvPicPr preferRelativeResize="0"/>
            <p:nvPr/>
          </p:nvPicPr>
          <p:blipFill>
            <a:blip r:embed="rId9">
              <a:alphaModFix/>
            </a:blip>
            <a:stretch>
              <a:fillRect/>
            </a:stretch>
          </p:blipFill>
          <p:spPr>
            <a:xfrm>
              <a:off x="1127949" y="1742570"/>
              <a:ext cx="265176" cy="265176"/>
            </a:xfrm>
            <a:prstGeom prst="rect">
              <a:avLst/>
            </a:prstGeom>
            <a:noFill/>
            <a:ln>
              <a:noFill/>
            </a:ln>
          </p:spPr>
        </p:pic>
      </p:grpSp>
      <p:grpSp>
        <p:nvGrpSpPr>
          <p:cNvPr id="902" name="Google Shape;902;p53"/>
          <p:cNvGrpSpPr/>
          <p:nvPr/>
        </p:nvGrpSpPr>
        <p:grpSpPr>
          <a:xfrm>
            <a:off x="1278400" y="4282495"/>
            <a:ext cx="462900" cy="422268"/>
            <a:chOff x="1296935" y="4254734"/>
            <a:chExt cx="462900" cy="422268"/>
          </a:xfrm>
        </p:grpSpPr>
        <p:pic>
          <p:nvPicPr>
            <p:cNvPr id="903" name="Google Shape;903;p53"/>
            <p:cNvPicPr preferRelativeResize="0"/>
            <p:nvPr/>
          </p:nvPicPr>
          <p:blipFill rotWithShape="1">
            <a:blip r:embed="rId10">
              <a:alphaModFix/>
            </a:blip>
            <a:srcRect b="0" l="0" r="0" t="0"/>
            <a:stretch/>
          </p:blipFill>
          <p:spPr>
            <a:xfrm>
              <a:off x="1395798" y="4254734"/>
              <a:ext cx="265176" cy="265176"/>
            </a:xfrm>
            <a:prstGeom prst="rect">
              <a:avLst/>
            </a:prstGeom>
            <a:noFill/>
            <a:ln>
              <a:noFill/>
            </a:ln>
          </p:spPr>
        </p:pic>
        <p:sp>
          <p:nvSpPr>
            <p:cNvPr id="904" name="Google Shape;904;p53"/>
            <p:cNvSpPr txBox="1"/>
            <p:nvPr/>
          </p:nvSpPr>
          <p:spPr>
            <a:xfrm>
              <a:off x="1296935" y="4485902"/>
              <a:ext cx="4629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a:t>
              </a:r>
              <a:endParaRPr sz="900">
                <a:solidFill>
                  <a:srgbClr val="1B5162"/>
                </a:solidFill>
                <a:latin typeface="DM Sans Medium"/>
                <a:ea typeface="DM Sans Medium"/>
                <a:cs typeface="DM Sans Medium"/>
                <a:sym typeface="DM Sans Medium"/>
              </a:endParaRPr>
            </a:p>
          </p:txBody>
        </p:sp>
      </p:grpSp>
      <p:grpSp>
        <p:nvGrpSpPr>
          <p:cNvPr id="905" name="Google Shape;905;p53"/>
          <p:cNvGrpSpPr/>
          <p:nvPr/>
        </p:nvGrpSpPr>
        <p:grpSpPr>
          <a:xfrm>
            <a:off x="861800" y="1970622"/>
            <a:ext cx="879600" cy="558086"/>
            <a:chOff x="820771" y="2866176"/>
            <a:chExt cx="879600" cy="558086"/>
          </a:xfrm>
        </p:grpSpPr>
        <p:sp>
          <p:nvSpPr>
            <p:cNvPr id="906" name="Google Shape;906;p53"/>
            <p:cNvSpPr txBox="1"/>
            <p:nvPr/>
          </p:nvSpPr>
          <p:spPr>
            <a:xfrm>
              <a:off x="820771" y="3085563"/>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Sensors and IoT</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pic>
          <p:nvPicPr>
            <p:cNvPr id="907" name="Google Shape;907;p53"/>
            <p:cNvPicPr preferRelativeResize="0"/>
            <p:nvPr/>
          </p:nvPicPr>
          <p:blipFill>
            <a:blip r:embed="rId11">
              <a:alphaModFix/>
            </a:blip>
            <a:stretch>
              <a:fillRect/>
            </a:stretch>
          </p:blipFill>
          <p:spPr>
            <a:xfrm>
              <a:off x="1127949" y="2866176"/>
              <a:ext cx="265176" cy="265176"/>
            </a:xfrm>
            <a:prstGeom prst="rect">
              <a:avLst/>
            </a:prstGeom>
            <a:noFill/>
            <a:ln>
              <a:noFill/>
            </a:ln>
          </p:spPr>
        </p:pic>
      </p:grpSp>
      <p:grpSp>
        <p:nvGrpSpPr>
          <p:cNvPr id="908" name="Google Shape;908;p53"/>
          <p:cNvGrpSpPr/>
          <p:nvPr/>
        </p:nvGrpSpPr>
        <p:grpSpPr>
          <a:xfrm>
            <a:off x="903312" y="2545026"/>
            <a:ext cx="796500" cy="542824"/>
            <a:chOff x="862283" y="2315806"/>
            <a:chExt cx="796500" cy="542824"/>
          </a:xfrm>
        </p:grpSpPr>
        <p:sp>
          <p:nvSpPr>
            <p:cNvPr id="909" name="Google Shape;909;p53"/>
            <p:cNvSpPr txBox="1"/>
            <p:nvPr/>
          </p:nvSpPr>
          <p:spPr>
            <a:xfrm>
              <a:off x="862283" y="2519931"/>
              <a:ext cx="7965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 / DWH</a:t>
              </a:r>
              <a:br>
                <a:rPr lang="en" sz="900">
                  <a:solidFill>
                    <a:srgbClr val="1B5162"/>
                  </a:solidFill>
                  <a:latin typeface="DM Sans Medium"/>
                  <a:ea typeface="DM Sans Medium"/>
                  <a:cs typeface="DM Sans Medium"/>
                  <a:sym typeface="DM Sans Medium"/>
                </a:rPr>
              </a:br>
              <a:r>
                <a:rPr lang="en" sz="800">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910" name="Google Shape;910;p53"/>
            <p:cNvPicPr preferRelativeResize="0"/>
            <p:nvPr/>
          </p:nvPicPr>
          <p:blipFill>
            <a:blip r:embed="rId10">
              <a:alphaModFix/>
            </a:blip>
            <a:stretch>
              <a:fillRect/>
            </a:stretch>
          </p:blipFill>
          <p:spPr>
            <a:xfrm>
              <a:off x="1127949" y="2315806"/>
              <a:ext cx="265176" cy="265176"/>
            </a:xfrm>
            <a:prstGeom prst="rect">
              <a:avLst/>
            </a:prstGeom>
            <a:noFill/>
            <a:ln>
              <a:noFill/>
            </a:ln>
          </p:spPr>
        </p:pic>
      </p:grpSp>
      <p:grpSp>
        <p:nvGrpSpPr>
          <p:cNvPr id="911" name="Google Shape;911;p53"/>
          <p:cNvGrpSpPr/>
          <p:nvPr/>
        </p:nvGrpSpPr>
        <p:grpSpPr>
          <a:xfrm>
            <a:off x="861700" y="3104161"/>
            <a:ext cx="879600" cy="559474"/>
            <a:chOff x="820671" y="3997940"/>
            <a:chExt cx="879600" cy="559474"/>
          </a:xfrm>
        </p:grpSpPr>
        <p:pic>
          <p:nvPicPr>
            <p:cNvPr id="912" name="Google Shape;912;p53"/>
            <p:cNvPicPr preferRelativeResize="0"/>
            <p:nvPr/>
          </p:nvPicPr>
          <p:blipFill>
            <a:blip r:embed="rId3">
              <a:alphaModFix/>
            </a:blip>
            <a:stretch>
              <a:fillRect/>
            </a:stretch>
          </p:blipFill>
          <p:spPr>
            <a:xfrm>
              <a:off x="1127949" y="3997940"/>
              <a:ext cx="265176" cy="265176"/>
            </a:xfrm>
            <a:prstGeom prst="rect">
              <a:avLst/>
            </a:prstGeom>
            <a:noFill/>
            <a:ln>
              <a:noFill/>
            </a:ln>
          </p:spPr>
        </p:pic>
        <p:sp>
          <p:nvSpPr>
            <p:cNvPr id="913" name="Google Shape;913;p53"/>
            <p:cNvSpPr txBox="1"/>
            <p:nvPr/>
          </p:nvSpPr>
          <p:spPr>
            <a:xfrm>
              <a:off x="820671" y="4218714"/>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Business </a:t>
              </a:r>
              <a:r>
                <a:rPr lang="en" sz="900">
                  <a:solidFill>
                    <a:srgbClr val="1B5162"/>
                  </a:solidFill>
                  <a:latin typeface="DM Sans Medium"/>
                  <a:ea typeface="DM Sans Medium"/>
                  <a:cs typeface="DM Sans Medium"/>
                  <a:sym typeface="DM Sans Medium"/>
                </a:rPr>
                <a:t>A</a:t>
              </a:r>
              <a:r>
                <a:rPr i="0" lang="en" sz="900" u="none" cap="none" strike="noStrike">
                  <a:solidFill>
                    <a:srgbClr val="1B5162"/>
                  </a:solidFill>
                  <a:latin typeface="DM Sans Medium"/>
                  <a:ea typeface="DM Sans Medium"/>
                  <a:cs typeface="DM Sans Medium"/>
                  <a:sym typeface="DM Sans Medium"/>
                </a:rPr>
                <a:t>pps</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grpSp>
      <p:grpSp>
        <p:nvGrpSpPr>
          <p:cNvPr id="914" name="Google Shape;914;p53"/>
          <p:cNvGrpSpPr/>
          <p:nvPr/>
        </p:nvGrpSpPr>
        <p:grpSpPr>
          <a:xfrm>
            <a:off x="920210" y="3679952"/>
            <a:ext cx="761100" cy="558519"/>
            <a:chOff x="880006" y="3431841"/>
            <a:chExt cx="761100" cy="558519"/>
          </a:xfrm>
        </p:grpSpPr>
        <p:pic>
          <p:nvPicPr>
            <p:cNvPr id="915" name="Google Shape;915;p53"/>
            <p:cNvPicPr preferRelativeResize="0"/>
            <p:nvPr/>
          </p:nvPicPr>
          <p:blipFill>
            <a:blip r:embed="rId12">
              <a:alphaModFix/>
            </a:blip>
            <a:stretch>
              <a:fillRect/>
            </a:stretch>
          </p:blipFill>
          <p:spPr>
            <a:xfrm>
              <a:off x="1127949" y="3431841"/>
              <a:ext cx="265176" cy="265176"/>
            </a:xfrm>
            <a:prstGeom prst="rect">
              <a:avLst/>
            </a:prstGeom>
            <a:noFill/>
            <a:ln>
              <a:noFill/>
            </a:ln>
          </p:spPr>
        </p:pic>
        <p:sp>
          <p:nvSpPr>
            <p:cNvPr id="916" name="Google Shape;916;p53"/>
            <p:cNvSpPr txBox="1"/>
            <p:nvPr/>
          </p:nvSpPr>
          <p:spPr>
            <a:xfrm>
              <a:off x="880006" y="3651660"/>
              <a:ext cx="7611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Media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grpSp>
      <p:sp>
        <p:nvSpPr>
          <p:cNvPr id="917" name="Google Shape;917;p53"/>
          <p:cNvSpPr/>
          <p:nvPr/>
        </p:nvSpPr>
        <p:spPr>
          <a:xfrm>
            <a:off x="6679225" y="968000"/>
            <a:ext cx="2370900" cy="2154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Serve</a:t>
            </a:r>
            <a:endParaRPr i="0" sz="1300" u="none" cap="none" strike="noStrike">
              <a:solidFill>
                <a:srgbClr val="434343"/>
              </a:solidFill>
              <a:latin typeface="DM Sans SemiBold"/>
              <a:ea typeface="DM Sans SemiBold"/>
              <a:cs typeface="DM Sans SemiBold"/>
              <a:sym typeface="DM Sans SemiBold"/>
            </a:endParaRPr>
          </a:p>
        </p:txBody>
      </p:sp>
      <p:sp>
        <p:nvSpPr>
          <p:cNvPr id="918" name="Google Shape;918;p53"/>
          <p:cNvSpPr/>
          <p:nvPr/>
        </p:nvSpPr>
        <p:spPr>
          <a:xfrm>
            <a:off x="4655880" y="967735"/>
            <a:ext cx="1938000" cy="2160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Query / Process</a:t>
            </a:r>
            <a:endParaRPr i="0" sz="1300" u="none" cap="none" strike="noStrike">
              <a:solidFill>
                <a:srgbClr val="434343"/>
              </a:solidFill>
              <a:latin typeface="DM Sans SemiBold"/>
              <a:ea typeface="DM Sans SemiBold"/>
              <a:cs typeface="DM Sans SemiBold"/>
              <a:sym typeface="DM Sans SemiBold"/>
            </a:endParaRPr>
          </a:p>
        </p:txBody>
      </p:sp>
      <p:sp>
        <p:nvSpPr>
          <p:cNvPr id="919" name="Google Shape;919;p53"/>
          <p:cNvSpPr/>
          <p:nvPr/>
        </p:nvSpPr>
        <p:spPr>
          <a:xfrm>
            <a:off x="7446063" y="5249871"/>
            <a:ext cx="549000" cy="223800"/>
          </a:xfrm>
          <a:prstGeom prst="roundRect">
            <a:avLst>
              <a:gd fmla="val 20281" name="adj"/>
            </a:avLst>
          </a:prstGeom>
          <a:solidFill>
            <a:srgbClr val="FFFFFF"/>
          </a:solidFill>
          <a:ln cap="flat" cmpd="sng" w="9525">
            <a:solidFill>
              <a:schemeClr val="accent2"/>
            </a:solidFill>
            <a:prstDash val="solid"/>
            <a:round/>
            <a:headEnd len="sm" w="sm" type="none"/>
            <a:tailEnd len="sm" w="sm" type="none"/>
          </a:ln>
        </p:spPr>
        <p:txBody>
          <a:bodyPr anchorCtr="0" anchor="ctr" bIns="0" lIns="0" spcFirstLastPara="1" rIns="0" wrap="square" tIns="9125">
            <a:noAutofit/>
          </a:bodyPr>
          <a:lstStyle/>
          <a:p>
            <a:pPr indent="0" lvl="0" marL="0" rtl="0" algn="ctr">
              <a:lnSpc>
                <a:spcPct val="75000"/>
              </a:lnSpc>
              <a:spcBef>
                <a:spcPts val="0"/>
              </a:spcBef>
              <a:spcAft>
                <a:spcPts val="0"/>
              </a:spcAft>
              <a:buNone/>
            </a:pPr>
            <a:r>
              <a:rPr lang="en" sz="900">
                <a:solidFill>
                  <a:schemeClr val="accent2"/>
                </a:solidFill>
                <a:latin typeface="DM Sans SemiBold"/>
                <a:ea typeface="DM Sans SemiBold"/>
                <a:cs typeface="DM Sans SemiBold"/>
                <a:sym typeface="DM Sans SemiBold"/>
              </a:rPr>
              <a:t>Clean Rooms</a:t>
            </a:r>
            <a:endParaRPr sz="900">
              <a:solidFill>
                <a:schemeClr val="accent2"/>
              </a:solidFill>
              <a:latin typeface="DM Sans SemiBold"/>
              <a:ea typeface="DM Sans SemiBold"/>
              <a:cs typeface="DM Sans SemiBold"/>
              <a:sym typeface="DM Sans SemiBold"/>
            </a:endParaRPr>
          </a:p>
        </p:txBody>
      </p:sp>
      <p:sp>
        <p:nvSpPr>
          <p:cNvPr id="920" name="Google Shape;920;p53"/>
          <p:cNvSpPr/>
          <p:nvPr/>
        </p:nvSpPr>
        <p:spPr>
          <a:xfrm>
            <a:off x="10497579" y="968002"/>
            <a:ext cx="1044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Integrate</a:t>
            </a:r>
            <a:endParaRPr sz="1300">
              <a:solidFill>
                <a:srgbClr val="434343"/>
              </a:solidFill>
              <a:latin typeface="DM Sans SemiBold"/>
              <a:ea typeface="DM Sans SemiBold"/>
              <a:cs typeface="DM Sans SemiBold"/>
              <a:sym typeface="DM Sans SemiBold"/>
            </a:endParaRPr>
          </a:p>
        </p:txBody>
      </p:sp>
      <p:grpSp>
        <p:nvGrpSpPr>
          <p:cNvPr id="921" name="Google Shape;921;p53"/>
          <p:cNvGrpSpPr/>
          <p:nvPr/>
        </p:nvGrpSpPr>
        <p:grpSpPr>
          <a:xfrm>
            <a:off x="10606481" y="3498690"/>
            <a:ext cx="826200" cy="361210"/>
            <a:chOff x="10606481" y="3498690"/>
            <a:chExt cx="826200" cy="361210"/>
          </a:xfrm>
        </p:grpSpPr>
        <p:sp>
          <p:nvSpPr>
            <p:cNvPr id="922" name="Google Shape;922;p53"/>
            <p:cNvSpPr txBox="1"/>
            <p:nvPr/>
          </p:nvSpPr>
          <p:spPr>
            <a:xfrm>
              <a:off x="10606481" y="3735100"/>
              <a:ext cx="826200" cy="1248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Hugging Face</a:t>
              </a:r>
              <a:endParaRPr sz="900">
                <a:solidFill>
                  <a:schemeClr val="accent1"/>
                </a:solidFill>
                <a:latin typeface="DM Sans Medium"/>
                <a:ea typeface="DM Sans Medium"/>
                <a:cs typeface="DM Sans Medium"/>
                <a:sym typeface="DM Sans Medium"/>
              </a:endParaRPr>
            </a:p>
          </p:txBody>
        </p:sp>
        <p:pic>
          <p:nvPicPr>
            <p:cNvPr id="923" name="Google Shape;923;p53"/>
            <p:cNvPicPr preferRelativeResize="0"/>
            <p:nvPr/>
          </p:nvPicPr>
          <p:blipFill>
            <a:blip r:embed="rId13">
              <a:alphaModFix/>
            </a:blip>
            <a:stretch>
              <a:fillRect/>
            </a:stretch>
          </p:blipFill>
          <p:spPr>
            <a:xfrm>
              <a:off x="10897819" y="3498690"/>
              <a:ext cx="243525" cy="227812"/>
            </a:xfrm>
            <a:prstGeom prst="rect">
              <a:avLst/>
            </a:prstGeom>
            <a:noFill/>
            <a:ln>
              <a:noFill/>
            </a:ln>
          </p:spPr>
        </p:pic>
      </p:grpSp>
      <p:grpSp>
        <p:nvGrpSpPr>
          <p:cNvPr id="924" name="Google Shape;924;p53"/>
          <p:cNvGrpSpPr/>
          <p:nvPr/>
        </p:nvGrpSpPr>
        <p:grpSpPr>
          <a:xfrm>
            <a:off x="10745081" y="3937546"/>
            <a:ext cx="549000" cy="366196"/>
            <a:chOff x="10745081" y="3937546"/>
            <a:chExt cx="549000" cy="366196"/>
          </a:xfrm>
        </p:grpSpPr>
        <p:pic>
          <p:nvPicPr>
            <p:cNvPr id="925" name="Google Shape;925;p53"/>
            <p:cNvPicPr preferRelativeResize="0"/>
            <p:nvPr/>
          </p:nvPicPr>
          <p:blipFill>
            <a:blip r:embed="rId14">
              <a:alphaModFix/>
            </a:blip>
            <a:stretch>
              <a:fillRect/>
            </a:stretch>
          </p:blipFill>
          <p:spPr>
            <a:xfrm>
              <a:off x="10912331" y="3937546"/>
              <a:ext cx="214500" cy="217452"/>
            </a:xfrm>
            <a:prstGeom prst="rect">
              <a:avLst/>
            </a:prstGeom>
            <a:noFill/>
            <a:ln>
              <a:noFill/>
            </a:ln>
          </p:spPr>
        </p:pic>
        <p:sp>
          <p:nvSpPr>
            <p:cNvPr id="926" name="Google Shape;926;p53"/>
            <p:cNvSpPr txBox="1"/>
            <p:nvPr/>
          </p:nvSpPr>
          <p:spPr>
            <a:xfrm>
              <a:off x="10745081" y="4165143"/>
              <a:ext cx="5490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OpenAI</a:t>
              </a:r>
              <a:endParaRPr sz="900">
                <a:solidFill>
                  <a:schemeClr val="accent1"/>
                </a:solidFill>
                <a:latin typeface="DM Sans Medium"/>
                <a:ea typeface="DM Sans Medium"/>
                <a:cs typeface="DM Sans Medium"/>
                <a:sym typeface="DM Sans Medium"/>
              </a:endParaRPr>
            </a:p>
          </p:txBody>
        </p:sp>
      </p:grpSp>
      <p:sp>
        <p:nvSpPr>
          <p:cNvPr id="927" name="Google Shape;927;p53"/>
          <p:cNvSpPr/>
          <p:nvPr/>
        </p:nvSpPr>
        <p:spPr>
          <a:xfrm>
            <a:off x="10521581" y="3219266"/>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AI Services</a:t>
            </a:r>
            <a:endParaRPr sz="1100">
              <a:solidFill>
                <a:schemeClr val="accent5"/>
              </a:solidFill>
              <a:latin typeface="DM Sans Medium"/>
              <a:ea typeface="DM Sans Medium"/>
              <a:cs typeface="DM Sans Medium"/>
              <a:sym typeface="DM Sans Medium"/>
            </a:endParaRPr>
          </a:p>
        </p:txBody>
      </p:sp>
      <p:sp>
        <p:nvSpPr>
          <p:cNvPr id="928" name="Google Shape;928;p53"/>
          <p:cNvSpPr txBox="1"/>
          <p:nvPr/>
        </p:nvSpPr>
        <p:spPr>
          <a:xfrm>
            <a:off x="10745081" y="4279763"/>
            <a:ext cx="5490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a:t>
            </a:r>
            <a:endParaRPr sz="1600">
              <a:solidFill>
                <a:schemeClr val="accent1"/>
              </a:solidFill>
              <a:latin typeface="DM Sans Medium"/>
              <a:ea typeface="DM Sans Medium"/>
              <a:cs typeface="DM Sans Medium"/>
              <a:sym typeface="DM Sans Medium"/>
            </a:endParaRPr>
          </a:p>
        </p:txBody>
      </p:sp>
      <p:cxnSp>
        <p:nvCxnSpPr>
          <p:cNvPr id="929" name="Google Shape;929;p53"/>
          <p:cNvCxnSpPr/>
          <p:nvPr/>
        </p:nvCxnSpPr>
        <p:spPr>
          <a:xfrm>
            <a:off x="10391950" y="979075"/>
            <a:ext cx="0" cy="5226000"/>
          </a:xfrm>
          <a:prstGeom prst="straightConnector1">
            <a:avLst/>
          </a:prstGeom>
          <a:noFill/>
          <a:ln cap="flat" cmpd="sng" w="9525">
            <a:solidFill>
              <a:schemeClr val="accent1"/>
            </a:solidFill>
            <a:prstDash val="dash"/>
            <a:round/>
            <a:headEnd len="med" w="med" type="none"/>
            <a:tailEnd len="med" w="med" type="none"/>
          </a:ln>
        </p:spPr>
      </p:cxnSp>
      <p:sp>
        <p:nvSpPr>
          <p:cNvPr id="930" name="Google Shape;930;p53"/>
          <p:cNvSpPr/>
          <p:nvPr/>
        </p:nvSpPr>
        <p:spPr>
          <a:xfrm>
            <a:off x="10521581" y="1368053"/>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ID Provider</a:t>
            </a:r>
            <a:endParaRPr sz="1100">
              <a:solidFill>
                <a:schemeClr val="accent5"/>
              </a:solidFill>
              <a:latin typeface="DM Sans Medium"/>
              <a:ea typeface="DM Sans Medium"/>
              <a:cs typeface="DM Sans Medium"/>
              <a:sym typeface="DM Sans Medium"/>
            </a:endParaRPr>
          </a:p>
        </p:txBody>
      </p:sp>
      <p:grpSp>
        <p:nvGrpSpPr>
          <p:cNvPr id="931" name="Google Shape;931;p53"/>
          <p:cNvGrpSpPr/>
          <p:nvPr/>
        </p:nvGrpSpPr>
        <p:grpSpPr>
          <a:xfrm>
            <a:off x="10597029" y="1623535"/>
            <a:ext cx="845100" cy="405937"/>
            <a:chOff x="10597029" y="1623535"/>
            <a:chExt cx="845100" cy="405937"/>
          </a:xfrm>
        </p:grpSpPr>
        <p:sp>
          <p:nvSpPr>
            <p:cNvPr id="932" name="Google Shape;932;p53"/>
            <p:cNvSpPr txBox="1"/>
            <p:nvPr/>
          </p:nvSpPr>
          <p:spPr>
            <a:xfrm>
              <a:off x="10597029" y="1875573"/>
              <a:ext cx="845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ID Provider</a:t>
              </a:r>
              <a:endParaRPr sz="900">
                <a:solidFill>
                  <a:srgbClr val="1B5162"/>
                </a:solidFill>
                <a:latin typeface="DM Sans Medium"/>
                <a:ea typeface="DM Sans Medium"/>
                <a:cs typeface="DM Sans Medium"/>
                <a:sym typeface="DM Sans Medium"/>
              </a:endParaRPr>
            </a:p>
          </p:txBody>
        </p:sp>
        <p:pic>
          <p:nvPicPr>
            <p:cNvPr id="933" name="Google Shape;933;p53"/>
            <p:cNvPicPr preferRelativeResize="0"/>
            <p:nvPr/>
          </p:nvPicPr>
          <p:blipFill>
            <a:blip r:embed="rId15">
              <a:alphaModFix/>
            </a:blip>
            <a:stretch>
              <a:fillRect/>
            </a:stretch>
          </p:blipFill>
          <p:spPr>
            <a:xfrm>
              <a:off x="10850739" y="1623535"/>
              <a:ext cx="265176" cy="265176"/>
            </a:xfrm>
            <a:prstGeom prst="rect">
              <a:avLst/>
            </a:prstGeom>
            <a:noFill/>
            <a:ln>
              <a:noFill/>
            </a:ln>
          </p:spPr>
        </p:pic>
      </p:grpSp>
      <p:sp>
        <p:nvSpPr>
          <p:cNvPr id="934" name="Google Shape;934;p53"/>
          <p:cNvSpPr/>
          <p:nvPr/>
        </p:nvSpPr>
        <p:spPr>
          <a:xfrm>
            <a:off x="10521581" y="2219271"/>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marR="0" rtl="0" algn="ctr">
              <a:lnSpc>
                <a:spcPct val="90000"/>
              </a:lnSpc>
              <a:spcBef>
                <a:spcPts val="0"/>
              </a:spcBef>
              <a:spcAft>
                <a:spcPts val="0"/>
              </a:spcAft>
              <a:buClr>
                <a:srgbClr val="000000"/>
              </a:buClr>
              <a:buSzPts val="1600"/>
              <a:buFont typeface="Arial"/>
              <a:buNone/>
            </a:pPr>
            <a:r>
              <a:rPr lang="en" sz="1100">
                <a:solidFill>
                  <a:schemeClr val="accent5"/>
                </a:solidFill>
                <a:latin typeface="DM Sans Medium"/>
                <a:ea typeface="DM Sans Medium"/>
                <a:cs typeface="DM Sans Medium"/>
                <a:sym typeface="DM Sans Medium"/>
              </a:rPr>
              <a:t>Governance</a:t>
            </a:r>
            <a:endParaRPr i="0" sz="1100" u="none" cap="none" strike="noStrike">
              <a:solidFill>
                <a:schemeClr val="accent5"/>
              </a:solidFill>
              <a:latin typeface="DM Sans Medium"/>
              <a:ea typeface="DM Sans Medium"/>
              <a:cs typeface="DM Sans Medium"/>
              <a:sym typeface="DM Sans Medium"/>
            </a:endParaRPr>
          </a:p>
        </p:txBody>
      </p:sp>
      <p:grpSp>
        <p:nvGrpSpPr>
          <p:cNvPr id="935" name="Google Shape;935;p53"/>
          <p:cNvGrpSpPr/>
          <p:nvPr/>
        </p:nvGrpSpPr>
        <p:grpSpPr>
          <a:xfrm>
            <a:off x="10702031" y="2486073"/>
            <a:ext cx="635100" cy="543395"/>
            <a:chOff x="10702031" y="2486073"/>
            <a:chExt cx="635100" cy="543395"/>
          </a:xfrm>
        </p:grpSpPr>
        <p:sp>
          <p:nvSpPr>
            <p:cNvPr id="936" name="Google Shape;936;p53"/>
            <p:cNvSpPr txBox="1"/>
            <p:nvPr/>
          </p:nvSpPr>
          <p:spPr>
            <a:xfrm>
              <a:off x="10702031" y="2752267"/>
              <a:ext cx="6351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Enterprise Catalog</a:t>
              </a:r>
              <a:endParaRPr sz="900">
                <a:solidFill>
                  <a:srgbClr val="1B5162"/>
                </a:solidFill>
                <a:latin typeface="DM Sans Medium"/>
                <a:ea typeface="DM Sans Medium"/>
                <a:cs typeface="DM Sans Medium"/>
                <a:sym typeface="DM Sans Medium"/>
              </a:endParaRPr>
            </a:p>
          </p:txBody>
        </p:sp>
        <p:pic>
          <p:nvPicPr>
            <p:cNvPr id="937" name="Google Shape;937;p53"/>
            <p:cNvPicPr preferRelativeResize="0"/>
            <p:nvPr/>
          </p:nvPicPr>
          <p:blipFill>
            <a:blip r:embed="rId16">
              <a:alphaModFix/>
            </a:blip>
            <a:stretch>
              <a:fillRect/>
            </a:stretch>
          </p:blipFill>
          <p:spPr>
            <a:xfrm>
              <a:off x="10850716" y="2486073"/>
              <a:ext cx="265176" cy="265176"/>
            </a:xfrm>
            <a:prstGeom prst="rect">
              <a:avLst/>
            </a:prstGeom>
            <a:noFill/>
            <a:ln>
              <a:noFill/>
            </a:ln>
          </p:spPr>
        </p:pic>
      </p:grpSp>
      <p:sp>
        <p:nvSpPr>
          <p:cNvPr id="938" name="Google Shape;938;p53"/>
          <p:cNvSpPr/>
          <p:nvPr/>
        </p:nvSpPr>
        <p:spPr>
          <a:xfrm>
            <a:off x="10521581" y="4715861"/>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Orchestration</a:t>
            </a:r>
            <a:endParaRPr sz="1100">
              <a:solidFill>
                <a:schemeClr val="accent5"/>
              </a:solidFill>
              <a:latin typeface="DM Sans Medium"/>
              <a:ea typeface="DM Sans Medium"/>
              <a:cs typeface="DM Sans Medium"/>
              <a:sym typeface="DM Sans Medium"/>
            </a:endParaRPr>
          </a:p>
        </p:txBody>
      </p:sp>
      <p:grpSp>
        <p:nvGrpSpPr>
          <p:cNvPr id="939" name="Google Shape;939;p53"/>
          <p:cNvGrpSpPr/>
          <p:nvPr/>
        </p:nvGrpSpPr>
        <p:grpSpPr>
          <a:xfrm>
            <a:off x="10621328" y="4994250"/>
            <a:ext cx="796500" cy="553688"/>
            <a:chOff x="10621328" y="4994250"/>
            <a:chExt cx="796500" cy="553688"/>
          </a:xfrm>
        </p:grpSpPr>
        <p:sp>
          <p:nvSpPr>
            <p:cNvPr id="940" name="Google Shape;940;p53"/>
            <p:cNvSpPr txBox="1"/>
            <p:nvPr/>
          </p:nvSpPr>
          <p:spPr>
            <a:xfrm>
              <a:off x="10621328" y="5270738"/>
              <a:ext cx="7965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External Orchestrator</a:t>
              </a:r>
              <a:endParaRPr sz="900">
                <a:solidFill>
                  <a:srgbClr val="1B5162"/>
                </a:solidFill>
                <a:latin typeface="DM Sans Medium"/>
                <a:ea typeface="DM Sans Medium"/>
                <a:cs typeface="DM Sans Medium"/>
                <a:sym typeface="DM Sans Medium"/>
              </a:endParaRPr>
            </a:p>
          </p:txBody>
        </p:sp>
        <p:pic>
          <p:nvPicPr>
            <p:cNvPr id="941" name="Google Shape;941;p53"/>
            <p:cNvPicPr preferRelativeResize="0"/>
            <p:nvPr/>
          </p:nvPicPr>
          <p:blipFill>
            <a:blip r:embed="rId17">
              <a:alphaModFix/>
            </a:blip>
            <a:stretch>
              <a:fillRect/>
            </a:stretch>
          </p:blipFill>
          <p:spPr>
            <a:xfrm>
              <a:off x="10864167" y="4994250"/>
              <a:ext cx="265176" cy="265176"/>
            </a:xfrm>
            <a:prstGeom prst="rect">
              <a:avLst/>
            </a:prstGeom>
            <a:noFill/>
            <a:ln>
              <a:noFill/>
            </a:ln>
          </p:spPr>
        </p:pic>
      </p:grpSp>
      <p:sp>
        <p:nvSpPr>
          <p:cNvPr id="942" name="Google Shape;942;p53"/>
          <p:cNvSpPr/>
          <p:nvPr/>
        </p:nvSpPr>
        <p:spPr>
          <a:xfrm>
            <a:off x="8279671" y="3179562"/>
            <a:ext cx="6858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Connectors</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and APIs</a:t>
            </a:r>
            <a:endParaRPr sz="900">
              <a:solidFill>
                <a:schemeClr val="accent2"/>
              </a:solidFill>
              <a:latin typeface="DM Sans SemiBold"/>
              <a:ea typeface="DM Sans SemiBold"/>
              <a:cs typeface="DM Sans SemiBold"/>
              <a:sym typeface="DM Sans SemiBold"/>
            </a:endParaRPr>
          </a:p>
        </p:txBody>
      </p:sp>
      <p:pic>
        <p:nvPicPr>
          <p:cNvPr id="943" name="Google Shape;943;p53"/>
          <p:cNvPicPr preferRelativeResize="0"/>
          <p:nvPr/>
        </p:nvPicPr>
        <p:blipFill>
          <a:blip r:embed="rId18">
            <a:alphaModFix/>
          </a:blip>
          <a:stretch>
            <a:fillRect/>
          </a:stretch>
        </p:blipFill>
        <p:spPr>
          <a:xfrm>
            <a:off x="4351863" y="5186555"/>
            <a:ext cx="173400" cy="173400"/>
          </a:xfrm>
          <a:prstGeom prst="rect">
            <a:avLst/>
          </a:prstGeom>
          <a:noFill/>
          <a:ln>
            <a:noFill/>
          </a:ln>
        </p:spPr>
      </p:pic>
      <p:sp>
        <p:nvSpPr>
          <p:cNvPr id="944" name="Google Shape;944;p53"/>
          <p:cNvSpPr txBox="1"/>
          <p:nvPr/>
        </p:nvSpPr>
        <p:spPr>
          <a:xfrm>
            <a:off x="834551" y="5927525"/>
            <a:ext cx="932400" cy="191100"/>
          </a:xfrm>
          <a:prstGeom prst="rect">
            <a:avLst/>
          </a:prstGeom>
          <a:noFill/>
          <a:ln>
            <a:noFill/>
          </a:ln>
        </p:spPr>
        <p:txBody>
          <a:bodyPr anchorCtr="0" anchor="ctr" bIns="44800" lIns="0" spcFirstLastPara="1" rIns="0" wrap="square" tIns="44800">
            <a:noAutofit/>
          </a:bodyPr>
          <a:lstStyle/>
          <a:p>
            <a:pPr indent="0" lvl="0" marL="0" marR="0" rtl="0" algn="l">
              <a:lnSpc>
                <a:spcPct val="90000"/>
              </a:lnSpc>
              <a:spcBef>
                <a:spcPts val="0"/>
              </a:spcBef>
              <a:spcAft>
                <a:spcPts val="0"/>
              </a:spcAft>
              <a:buNone/>
            </a:pPr>
            <a:r>
              <a:rPr lang="en" sz="900">
                <a:solidFill>
                  <a:srgbClr val="1B5162"/>
                </a:solidFill>
                <a:latin typeface="DM Sans Light"/>
                <a:ea typeface="DM Sans Light"/>
                <a:cs typeface="DM Sans Light"/>
                <a:sym typeface="DM Sans Light"/>
              </a:rPr>
              <a:t>* Hive Metastore</a:t>
            </a:r>
            <a:endParaRPr sz="900">
              <a:solidFill>
                <a:srgbClr val="1B5162"/>
              </a:solidFill>
              <a:latin typeface="DM Sans Light"/>
              <a:ea typeface="DM Sans Light"/>
              <a:cs typeface="DM Sans Light"/>
              <a:sym typeface="DM Sans Light"/>
            </a:endParaRPr>
          </a:p>
        </p:txBody>
      </p:sp>
      <p:cxnSp>
        <p:nvCxnSpPr>
          <p:cNvPr id="945" name="Google Shape;945;p53"/>
          <p:cNvCxnSpPr/>
          <p:nvPr/>
        </p:nvCxnSpPr>
        <p:spPr>
          <a:xfrm>
            <a:off x="1768354" y="5025793"/>
            <a:ext cx="1413300" cy="600"/>
          </a:xfrm>
          <a:prstGeom prst="bentConnector3">
            <a:avLst>
              <a:gd fmla="val 50000" name="adj1"/>
            </a:avLst>
          </a:prstGeom>
          <a:noFill/>
          <a:ln cap="flat" cmpd="sng" w="9525">
            <a:solidFill>
              <a:schemeClr val="accent1"/>
            </a:solidFill>
            <a:prstDash val="solid"/>
            <a:round/>
            <a:headEnd len="sm" w="sm" type="none"/>
            <a:tailEnd len="sm" w="sm" type="triangle"/>
          </a:ln>
        </p:spPr>
      </p:cxnSp>
      <p:grpSp>
        <p:nvGrpSpPr>
          <p:cNvPr id="946" name="Google Shape;946;p53"/>
          <p:cNvGrpSpPr/>
          <p:nvPr/>
        </p:nvGrpSpPr>
        <p:grpSpPr>
          <a:xfrm>
            <a:off x="911400" y="4663311"/>
            <a:ext cx="336000" cy="426753"/>
            <a:chOff x="929785" y="4678386"/>
            <a:chExt cx="336000" cy="426753"/>
          </a:xfrm>
        </p:grpSpPr>
        <p:sp>
          <p:nvSpPr>
            <p:cNvPr id="947" name="Google Shape;947;p53"/>
            <p:cNvSpPr txBox="1"/>
            <p:nvPr/>
          </p:nvSpPr>
          <p:spPr>
            <a:xfrm>
              <a:off x="929785" y="4914039"/>
              <a:ext cx="3360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SaaS</a:t>
              </a:r>
              <a:endParaRPr sz="900">
                <a:solidFill>
                  <a:srgbClr val="1B5162"/>
                </a:solidFill>
                <a:latin typeface="DM Sans Medium"/>
                <a:ea typeface="DM Sans Medium"/>
                <a:cs typeface="DM Sans Medium"/>
                <a:sym typeface="DM Sans Medium"/>
              </a:endParaRPr>
            </a:p>
          </p:txBody>
        </p:sp>
        <p:pic>
          <p:nvPicPr>
            <p:cNvPr id="948" name="Google Shape;948;p53" title="primary-icon-navy-spark-cluster.png"/>
            <p:cNvPicPr preferRelativeResize="0"/>
            <p:nvPr/>
          </p:nvPicPr>
          <p:blipFill>
            <a:blip r:embed="rId19">
              <a:alphaModFix/>
            </a:blip>
            <a:stretch>
              <a:fillRect/>
            </a:stretch>
          </p:blipFill>
          <p:spPr>
            <a:xfrm>
              <a:off x="963302" y="4678386"/>
              <a:ext cx="269065" cy="269063"/>
            </a:xfrm>
            <a:prstGeom prst="rect">
              <a:avLst/>
            </a:prstGeom>
            <a:noFill/>
            <a:ln>
              <a:noFill/>
            </a:ln>
          </p:spPr>
        </p:pic>
      </p:grpSp>
      <p:grpSp>
        <p:nvGrpSpPr>
          <p:cNvPr id="949" name="Google Shape;949;p53"/>
          <p:cNvGrpSpPr/>
          <p:nvPr/>
        </p:nvGrpSpPr>
        <p:grpSpPr>
          <a:xfrm>
            <a:off x="1366236" y="4655157"/>
            <a:ext cx="324300" cy="434522"/>
            <a:chOff x="1377357" y="4647990"/>
            <a:chExt cx="324300" cy="434522"/>
          </a:xfrm>
        </p:grpSpPr>
        <p:sp>
          <p:nvSpPr>
            <p:cNvPr id="950" name="Google Shape;950;p53"/>
            <p:cNvSpPr txBox="1"/>
            <p:nvPr/>
          </p:nvSpPr>
          <p:spPr>
            <a:xfrm>
              <a:off x="1377357" y="4891411"/>
              <a:ext cx="3243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HMS</a:t>
              </a:r>
              <a:r>
                <a:rPr lang="en" sz="900">
                  <a:solidFill>
                    <a:srgbClr val="1B5162"/>
                  </a:solidFill>
                  <a:latin typeface="DM Sans Light"/>
                  <a:ea typeface="DM Sans Light"/>
                  <a:cs typeface="DM Sans Light"/>
                  <a:sym typeface="DM Sans Light"/>
                </a:rPr>
                <a:t>*</a:t>
              </a:r>
              <a:endParaRPr sz="900">
                <a:solidFill>
                  <a:srgbClr val="1B5162"/>
                </a:solidFill>
                <a:latin typeface="DM Sans Light"/>
                <a:ea typeface="DM Sans Light"/>
                <a:cs typeface="DM Sans Light"/>
                <a:sym typeface="DM Sans Light"/>
              </a:endParaRPr>
            </a:p>
          </p:txBody>
        </p:sp>
        <p:pic>
          <p:nvPicPr>
            <p:cNvPr id="951" name="Google Shape;951;p53" title="primary-icon-navy-hive-metastore-execution.png"/>
            <p:cNvPicPr preferRelativeResize="0"/>
            <p:nvPr/>
          </p:nvPicPr>
          <p:blipFill>
            <a:blip r:embed="rId20">
              <a:alphaModFix/>
            </a:blip>
            <a:stretch>
              <a:fillRect/>
            </a:stretch>
          </p:blipFill>
          <p:spPr>
            <a:xfrm>
              <a:off x="1379822" y="4647990"/>
              <a:ext cx="282300" cy="282300"/>
            </a:xfrm>
            <a:prstGeom prst="rect">
              <a:avLst/>
            </a:prstGeom>
            <a:noFill/>
            <a:ln>
              <a:noFill/>
            </a:ln>
          </p:spPr>
        </p:pic>
      </p:grpSp>
      <p:grpSp>
        <p:nvGrpSpPr>
          <p:cNvPr id="952" name="Google Shape;952;p53"/>
          <p:cNvGrpSpPr/>
          <p:nvPr/>
        </p:nvGrpSpPr>
        <p:grpSpPr>
          <a:xfrm>
            <a:off x="899750" y="4283846"/>
            <a:ext cx="359100" cy="422318"/>
            <a:chOff x="899750" y="4215307"/>
            <a:chExt cx="359100" cy="422318"/>
          </a:xfrm>
        </p:grpSpPr>
        <p:sp>
          <p:nvSpPr>
            <p:cNvPr id="953" name="Google Shape;953;p53"/>
            <p:cNvSpPr txBox="1"/>
            <p:nvPr/>
          </p:nvSpPr>
          <p:spPr>
            <a:xfrm>
              <a:off x="899750" y="4446525"/>
              <a:ext cx="3591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DWH</a:t>
              </a:r>
              <a:endParaRPr sz="900">
                <a:solidFill>
                  <a:srgbClr val="1B5162"/>
                </a:solidFill>
                <a:latin typeface="DM Sans Medium"/>
                <a:ea typeface="DM Sans Medium"/>
                <a:cs typeface="DM Sans Medium"/>
                <a:sym typeface="DM Sans Medium"/>
              </a:endParaRPr>
            </a:p>
          </p:txBody>
        </p:sp>
        <p:pic>
          <p:nvPicPr>
            <p:cNvPr id="954" name="Google Shape;954;p53" title="primary-icon-navy-data-warehouse-2.png"/>
            <p:cNvPicPr preferRelativeResize="0"/>
            <p:nvPr/>
          </p:nvPicPr>
          <p:blipFill>
            <a:blip r:embed="rId21">
              <a:alphaModFix/>
            </a:blip>
            <a:stretch>
              <a:fillRect/>
            </a:stretch>
          </p:blipFill>
          <p:spPr>
            <a:xfrm>
              <a:off x="912450" y="4215307"/>
              <a:ext cx="336000" cy="273665"/>
            </a:xfrm>
            <a:prstGeom prst="rect">
              <a:avLst/>
            </a:prstGeom>
            <a:noFill/>
            <a:ln>
              <a:noFill/>
            </a:ln>
          </p:spPr>
        </p:pic>
      </p:grpSp>
      <p:pic>
        <p:nvPicPr>
          <p:cNvPr id="955" name="Google Shape;955;p53"/>
          <p:cNvPicPr preferRelativeResize="0"/>
          <p:nvPr/>
        </p:nvPicPr>
        <p:blipFill>
          <a:blip r:embed="rId5">
            <a:alphaModFix/>
          </a:blip>
          <a:stretch>
            <a:fillRect/>
          </a:stretch>
        </p:blipFill>
        <p:spPr>
          <a:xfrm>
            <a:off x="2341000" y="5180940"/>
            <a:ext cx="191100" cy="160007"/>
          </a:xfrm>
          <a:prstGeom prst="rect">
            <a:avLst/>
          </a:prstGeom>
          <a:noFill/>
          <a:ln>
            <a:noFill/>
          </a:ln>
        </p:spPr>
      </p:pic>
      <p:sp>
        <p:nvSpPr>
          <p:cNvPr id="956" name="Google Shape;956;p53"/>
          <p:cNvSpPr/>
          <p:nvPr/>
        </p:nvSpPr>
        <p:spPr>
          <a:xfrm>
            <a:off x="1989525" y="3622000"/>
            <a:ext cx="1064400" cy="1327500"/>
          </a:xfrm>
          <a:prstGeom prst="roundRect">
            <a:avLst>
              <a:gd fmla="val 6120"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85000"/>
              </a:lnSpc>
              <a:spcBef>
                <a:spcPts val="0"/>
              </a:spcBef>
              <a:spcAft>
                <a:spcPts val="0"/>
              </a:spcAft>
              <a:buNone/>
            </a:pPr>
            <a:r>
              <a:rPr lang="en" sz="1100">
                <a:solidFill>
                  <a:schemeClr val="accent5"/>
                </a:solidFill>
                <a:latin typeface="DM Sans Medium"/>
                <a:ea typeface="DM Sans Medium"/>
                <a:cs typeface="DM Sans Medium"/>
                <a:sym typeface="DM Sans Medium"/>
              </a:rPr>
              <a:t>Batch and Streaming</a:t>
            </a:r>
            <a:endParaRPr sz="1100">
              <a:solidFill>
                <a:schemeClr val="accent5"/>
              </a:solidFill>
              <a:latin typeface="DM Sans Medium"/>
              <a:ea typeface="DM Sans Medium"/>
              <a:cs typeface="DM Sans Medium"/>
              <a:sym typeface="DM Sans Medium"/>
            </a:endParaRPr>
          </a:p>
        </p:txBody>
      </p:sp>
      <p:grpSp>
        <p:nvGrpSpPr>
          <p:cNvPr id="957" name="Google Shape;957;p53"/>
          <p:cNvGrpSpPr/>
          <p:nvPr/>
        </p:nvGrpSpPr>
        <p:grpSpPr>
          <a:xfrm>
            <a:off x="1964154" y="4131367"/>
            <a:ext cx="524700" cy="534103"/>
            <a:chOff x="2128750" y="4862972"/>
            <a:chExt cx="524700" cy="534103"/>
          </a:xfrm>
        </p:grpSpPr>
        <p:sp>
          <p:nvSpPr>
            <p:cNvPr id="958" name="Google Shape;958;p53"/>
            <p:cNvSpPr txBox="1"/>
            <p:nvPr/>
          </p:nvSpPr>
          <p:spPr>
            <a:xfrm>
              <a:off x="2128750" y="5119875"/>
              <a:ext cx="5247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Ingest </a:t>
              </a:r>
              <a:br>
                <a:rPr lang="en" sz="900">
                  <a:solidFill>
                    <a:schemeClr val="accent1"/>
                  </a:solidFill>
                  <a:latin typeface="DM Sans Medium"/>
                  <a:ea typeface="DM Sans Medium"/>
                  <a:cs typeface="DM Sans Medium"/>
                  <a:sym typeface="DM Sans Medium"/>
                </a:rPr>
              </a:br>
              <a:r>
                <a:rPr lang="en" sz="900">
                  <a:solidFill>
                    <a:schemeClr val="accent1"/>
                  </a:solidFill>
                  <a:latin typeface="DM Sans Medium"/>
                  <a:ea typeface="DM Sans Medium"/>
                  <a:cs typeface="DM Sans Medium"/>
                  <a:sym typeface="DM Sans Medium"/>
                </a:rPr>
                <a:t>tool</a:t>
              </a:r>
              <a:endParaRPr sz="900">
                <a:solidFill>
                  <a:schemeClr val="accent1"/>
                </a:solidFill>
                <a:latin typeface="DM Sans Medium"/>
                <a:ea typeface="DM Sans Medium"/>
                <a:cs typeface="DM Sans Medium"/>
                <a:sym typeface="DM Sans Medium"/>
              </a:endParaRPr>
            </a:p>
          </p:txBody>
        </p:sp>
        <p:pic>
          <p:nvPicPr>
            <p:cNvPr id="959" name="Google Shape;959;p53"/>
            <p:cNvPicPr preferRelativeResize="0"/>
            <p:nvPr/>
          </p:nvPicPr>
          <p:blipFill>
            <a:blip r:embed="rId22">
              <a:alphaModFix/>
            </a:blip>
            <a:stretch>
              <a:fillRect/>
            </a:stretch>
          </p:blipFill>
          <p:spPr>
            <a:xfrm>
              <a:off x="2243967" y="4862972"/>
              <a:ext cx="265176" cy="265176"/>
            </a:xfrm>
            <a:prstGeom prst="rect">
              <a:avLst/>
            </a:prstGeom>
            <a:noFill/>
            <a:ln>
              <a:noFill/>
            </a:ln>
          </p:spPr>
        </p:pic>
      </p:grpSp>
      <p:grpSp>
        <p:nvGrpSpPr>
          <p:cNvPr id="960" name="Google Shape;960;p53"/>
          <p:cNvGrpSpPr/>
          <p:nvPr/>
        </p:nvGrpSpPr>
        <p:grpSpPr>
          <a:xfrm>
            <a:off x="2394933" y="4131350"/>
            <a:ext cx="685500" cy="534119"/>
            <a:chOff x="2654875" y="4862956"/>
            <a:chExt cx="685500" cy="534119"/>
          </a:xfrm>
        </p:grpSpPr>
        <p:sp>
          <p:nvSpPr>
            <p:cNvPr id="961" name="Google Shape;961;p53"/>
            <p:cNvSpPr txBox="1"/>
            <p:nvPr/>
          </p:nvSpPr>
          <p:spPr>
            <a:xfrm>
              <a:off x="2654875" y="5119875"/>
              <a:ext cx="6855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Event Streaming</a:t>
              </a:r>
              <a:endParaRPr sz="900">
                <a:solidFill>
                  <a:schemeClr val="accent1"/>
                </a:solidFill>
                <a:latin typeface="DM Sans Medium"/>
                <a:ea typeface="DM Sans Medium"/>
                <a:cs typeface="DM Sans Medium"/>
                <a:sym typeface="DM Sans Medium"/>
              </a:endParaRPr>
            </a:p>
          </p:txBody>
        </p:sp>
        <p:pic>
          <p:nvPicPr>
            <p:cNvPr id="962" name="Google Shape;962;p53"/>
            <p:cNvPicPr preferRelativeResize="0"/>
            <p:nvPr/>
          </p:nvPicPr>
          <p:blipFill>
            <a:blip r:embed="rId23">
              <a:alphaModFix/>
            </a:blip>
            <a:stretch>
              <a:fillRect/>
            </a:stretch>
          </p:blipFill>
          <p:spPr>
            <a:xfrm>
              <a:off x="2858432" y="4862956"/>
              <a:ext cx="265176" cy="265176"/>
            </a:xfrm>
            <a:prstGeom prst="rect">
              <a:avLst/>
            </a:prstGeom>
            <a:noFill/>
            <a:ln>
              <a:noFill/>
            </a:ln>
          </p:spPr>
        </p:pic>
      </p:grpSp>
      <p:sp>
        <p:nvSpPr>
          <p:cNvPr id="963" name="Google Shape;963;p53"/>
          <p:cNvSpPr/>
          <p:nvPr/>
        </p:nvSpPr>
        <p:spPr>
          <a:xfrm>
            <a:off x="836750" y="5135200"/>
            <a:ext cx="932400" cy="617700"/>
          </a:xfrm>
          <a:prstGeom prst="roundRect">
            <a:avLst>
              <a:gd fmla="val 12696"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grpSp>
        <p:nvGrpSpPr>
          <p:cNvPr id="964" name="Google Shape;964;p53"/>
          <p:cNvGrpSpPr/>
          <p:nvPr/>
        </p:nvGrpSpPr>
        <p:grpSpPr>
          <a:xfrm>
            <a:off x="1247501" y="5175655"/>
            <a:ext cx="524700" cy="496901"/>
            <a:chOff x="1266036" y="5196700"/>
            <a:chExt cx="524700" cy="496901"/>
          </a:xfrm>
        </p:grpSpPr>
        <p:sp>
          <p:nvSpPr>
            <p:cNvPr id="965" name="Google Shape;965;p53"/>
            <p:cNvSpPr txBox="1"/>
            <p:nvPr/>
          </p:nvSpPr>
          <p:spPr>
            <a:xfrm>
              <a:off x="1266036" y="550250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Data Shares</a:t>
              </a:r>
              <a:endParaRPr sz="900">
                <a:solidFill>
                  <a:srgbClr val="1B5162"/>
                </a:solidFill>
                <a:latin typeface="DM Sans Medium"/>
                <a:ea typeface="DM Sans Medium"/>
                <a:cs typeface="DM Sans Medium"/>
                <a:sym typeface="DM Sans Medium"/>
              </a:endParaRPr>
            </a:p>
          </p:txBody>
        </p:sp>
        <p:pic>
          <p:nvPicPr>
            <p:cNvPr id="966" name="Google Shape;966;p53" title="primary-icon-navy-data-sharing.png"/>
            <p:cNvPicPr preferRelativeResize="0"/>
            <p:nvPr/>
          </p:nvPicPr>
          <p:blipFill>
            <a:blip r:embed="rId24">
              <a:alphaModFix/>
            </a:blip>
            <a:stretch>
              <a:fillRect/>
            </a:stretch>
          </p:blipFill>
          <p:spPr>
            <a:xfrm>
              <a:off x="1393854" y="5196700"/>
              <a:ext cx="269065" cy="269063"/>
            </a:xfrm>
            <a:prstGeom prst="rect">
              <a:avLst/>
            </a:prstGeom>
            <a:noFill/>
            <a:ln>
              <a:noFill/>
            </a:ln>
          </p:spPr>
        </p:pic>
      </p:grpSp>
      <p:grpSp>
        <p:nvGrpSpPr>
          <p:cNvPr id="967" name="Google Shape;967;p53"/>
          <p:cNvGrpSpPr/>
          <p:nvPr/>
        </p:nvGrpSpPr>
        <p:grpSpPr>
          <a:xfrm>
            <a:off x="816949" y="5175643"/>
            <a:ext cx="524700" cy="496193"/>
            <a:chOff x="835484" y="5196688"/>
            <a:chExt cx="524700" cy="496193"/>
          </a:xfrm>
        </p:grpSpPr>
        <p:sp>
          <p:nvSpPr>
            <p:cNvPr id="968" name="Google Shape;968;p53"/>
            <p:cNvSpPr txBox="1"/>
            <p:nvPr/>
          </p:nvSpPr>
          <p:spPr>
            <a:xfrm>
              <a:off x="835484" y="550178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Market</a:t>
              </a:r>
              <a:br>
                <a:rPr lang="en" sz="900">
                  <a:solidFill>
                    <a:srgbClr val="1B5162"/>
                  </a:solidFill>
                  <a:latin typeface="DM Sans Medium"/>
                  <a:ea typeface="DM Sans Medium"/>
                  <a:cs typeface="DM Sans Medium"/>
                  <a:sym typeface="DM Sans Medium"/>
                </a:rPr>
              </a:br>
              <a:r>
                <a:rPr lang="en" sz="900">
                  <a:solidFill>
                    <a:srgbClr val="1B5162"/>
                  </a:solidFill>
                  <a:latin typeface="DM Sans Medium"/>
                  <a:ea typeface="DM Sans Medium"/>
                  <a:cs typeface="DM Sans Medium"/>
                  <a:sym typeface="DM Sans Medium"/>
                </a:rPr>
                <a:t>places</a:t>
              </a:r>
              <a:endParaRPr sz="900">
                <a:solidFill>
                  <a:srgbClr val="1B5162"/>
                </a:solidFill>
                <a:latin typeface="DM Sans Medium"/>
                <a:ea typeface="DM Sans Medium"/>
                <a:cs typeface="DM Sans Medium"/>
                <a:sym typeface="DM Sans Medium"/>
              </a:endParaRPr>
            </a:p>
          </p:txBody>
        </p:sp>
        <p:pic>
          <p:nvPicPr>
            <p:cNvPr id="969" name="Google Shape;969;p53" title="primary-icon-navy-distribution.png"/>
            <p:cNvPicPr preferRelativeResize="0"/>
            <p:nvPr/>
          </p:nvPicPr>
          <p:blipFill>
            <a:blip r:embed="rId25">
              <a:alphaModFix/>
            </a:blip>
            <a:stretch>
              <a:fillRect/>
            </a:stretch>
          </p:blipFill>
          <p:spPr>
            <a:xfrm>
              <a:off x="963302" y="5196688"/>
              <a:ext cx="269065" cy="269063"/>
            </a:xfrm>
            <a:prstGeom prst="rect">
              <a:avLst/>
            </a:prstGeom>
            <a:noFill/>
            <a:ln>
              <a:noFill/>
            </a:ln>
          </p:spPr>
        </p:pic>
      </p:grpSp>
      <p:sp>
        <p:nvSpPr>
          <p:cNvPr id="970" name="Google Shape;970;p53"/>
          <p:cNvSpPr txBox="1"/>
          <p:nvPr/>
        </p:nvSpPr>
        <p:spPr>
          <a:xfrm rot="-5400000">
            <a:off x="431325" y="5359400"/>
            <a:ext cx="5793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Sharing</a:t>
            </a:r>
            <a:endParaRPr sz="1100">
              <a:solidFill>
                <a:schemeClr val="accent5"/>
              </a:solidFill>
              <a:latin typeface="DM Sans"/>
              <a:ea typeface="DM Sans"/>
              <a:cs typeface="DM Sans"/>
              <a:sym typeface="DM Sans"/>
            </a:endParaRPr>
          </a:p>
        </p:txBody>
      </p:sp>
      <p:sp>
        <p:nvSpPr>
          <p:cNvPr id="971" name="Google Shape;971;p53"/>
          <p:cNvSpPr/>
          <p:nvPr/>
        </p:nvSpPr>
        <p:spPr>
          <a:xfrm>
            <a:off x="9133775" y="2227875"/>
            <a:ext cx="1082100" cy="1281600"/>
          </a:xfrm>
          <a:prstGeom prst="roundRect">
            <a:avLst>
              <a:gd fmla="val 6450"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AI/BI</a:t>
            </a:r>
            <a:endParaRPr sz="1100">
              <a:solidFill>
                <a:schemeClr val="accent5"/>
              </a:solidFill>
              <a:latin typeface="DM Sans Medium"/>
              <a:ea typeface="DM Sans Medium"/>
              <a:cs typeface="DM Sans Medium"/>
              <a:sym typeface="DM Sans Medium"/>
            </a:endParaRPr>
          </a:p>
        </p:txBody>
      </p:sp>
      <p:sp>
        <p:nvSpPr>
          <p:cNvPr id="972" name="Google Shape;972;p53"/>
          <p:cNvSpPr/>
          <p:nvPr/>
        </p:nvSpPr>
        <p:spPr>
          <a:xfrm>
            <a:off x="9276575" y="3179562"/>
            <a:ext cx="796500" cy="274200"/>
          </a:xfrm>
          <a:prstGeom prst="roundRect">
            <a:avLst>
              <a:gd fmla="val 22836"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Genie</a:t>
            </a:r>
            <a:endParaRPr sz="900">
              <a:solidFill>
                <a:schemeClr val="accent2"/>
              </a:solidFill>
              <a:latin typeface="DM Sans SemiBold"/>
              <a:ea typeface="DM Sans SemiBold"/>
              <a:cs typeface="DM Sans SemiBold"/>
              <a:sym typeface="DM Sans SemiBold"/>
            </a:endParaRPr>
          </a:p>
        </p:txBody>
      </p:sp>
      <p:sp>
        <p:nvSpPr>
          <p:cNvPr id="973" name="Google Shape;973;p53"/>
          <p:cNvSpPr/>
          <p:nvPr/>
        </p:nvSpPr>
        <p:spPr>
          <a:xfrm>
            <a:off x="9276575" y="2825260"/>
            <a:ext cx="796500" cy="274200"/>
          </a:xfrm>
          <a:prstGeom prst="roundRect">
            <a:avLst>
              <a:gd fmla="val 22836"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Dashboards</a:t>
            </a:r>
            <a:endParaRPr sz="900">
              <a:solidFill>
                <a:schemeClr val="accent2"/>
              </a:solidFill>
              <a:latin typeface="DM Sans SemiBold"/>
              <a:ea typeface="DM Sans SemiBold"/>
              <a:cs typeface="DM Sans SemiBold"/>
              <a:sym typeface="DM Sans SemiBold"/>
            </a:endParaRPr>
          </a:p>
        </p:txBody>
      </p:sp>
      <p:sp>
        <p:nvSpPr>
          <p:cNvPr id="974" name="Google Shape;974;p53"/>
          <p:cNvSpPr/>
          <p:nvPr/>
        </p:nvSpPr>
        <p:spPr>
          <a:xfrm>
            <a:off x="9137674" y="3574037"/>
            <a:ext cx="1082100" cy="557700"/>
          </a:xfrm>
          <a:prstGeom prst="roundRect">
            <a:avLst>
              <a:gd fmla="val 10634"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Applications</a:t>
            </a:r>
            <a:endParaRPr sz="1100">
              <a:solidFill>
                <a:schemeClr val="accent5"/>
              </a:solidFill>
              <a:latin typeface="DM Sans Medium"/>
              <a:ea typeface="DM Sans Medium"/>
              <a:cs typeface="DM Sans Medium"/>
              <a:sym typeface="DM Sans Medium"/>
            </a:endParaRPr>
          </a:p>
        </p:txBody>
      </p:sp>
      <p:sp>
        <p:nvSpPr>
          <p:cNvPr id="975" name="Google Shape;975;p53"/>
          <p:cNvSpPr/>
          <p:nvPr/>
        </p:nvSpPr>
        <p:spPr>
          <a:xfrm>
            <a:off x="9276575" y="3798990"/>
            <a:ext cx="796500" cy="274200"/>
          </a:xfrm>
          <a:prstGeom prst="roundRect">
            <a:avLst>
              <a:gd fmla="val 22836"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Databricks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Apps</a:t>
            </a:r>
            <a:endParaRPr sz="900">
              <a:solidFill>
                <a:schemeClr val="accent2"/>
              </a:solidFill>
              <a:latin typeface="DM Sans SemiBold"/>
              <a:ea typeface="DM Sans SemiBold"/>
              <a:cs typeface="DM Sans SemiBold"/>
              <a:sym typeface="DM Sans SemiBold"/>
            </a:endParaRPr>
          </a:p>
        </p:txBody>
      </p:sp>
      <p:sp>
        <p:nvSpPr>
          <p:cNvPr id="976" name="Google Shape;976;p53"/>
          <p:cNvSpPr/>
          <p:nvPr/>
        </p:nvSpPr>
        <p:spPr>
          <a:xfrm>
            <a:off x="1989525" y="1721525"/>
            <a:ext cx="8226300" cy="4596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Automation and Orchestration</a:t>
            </a:r>
            <a:endParaRPr sz="1100">
              <a:solidFill>
                <a:schemeClr val="accent5"/>
              </a:solidFill>
              <a:latin typeface="DM Sans Medium"/>
              <a:ea typeface="DM Sans Medium"/>
              <a:cs typeface="DM Sans Medium"/>
              <a:sym typeface="DM Sans Medium"/>
            </a:endParaRPr>
          </a:p>
        </p:txBody>
      </p:sp>
      <p:sp>
        <p:nvSpPr>
          <p:cNvPr id="977" name="Google Shape;977;p53"/>
          <p:cNvSpPr/>
          <p:nvPr/>
        </p:nvSpPr>
        <p:spPr>
          <a:xfrm>
            <a:off x="5442734" y="1944562"/>
            <a:ext cx="740400" cy="186600"/>
          </a:xfrm>
          <a:prstGeom prst="roundRect">
            <a:avLst>
              <a:gd fmla="val 22186"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CI/CD tools</a:t>
            </a:r>
            <a:endParaRPr sz="900">
              <a:solidFill>
                <a:schemeClr val="accent2"/>
              </a:solidFill>
              <a:latin typeface="DM Sans SemiBold"/>
              <a:ea typeface="DM Sans SemiBold"/>
              <a:cs typeface="DM Sans SemiBold"/>
              <a:sym typeface="DM Sans SemiBold"/>
            </a:endParaRPr>
          </a:p>
        </p:txBody>
      </p:sp>
      <p:sp>
        <p:nvSpPr>
          <p:cNvPr id="978" name="Google Shape;978;p53"/>
          <p:cNvSpPr/>
          <p:nvPr/>
        </p:nvSpPr>
        <p:spPr>
          <a:xfrm>
            <a:off x="6254520" y="1941700"/>
            <a:ext cx="685500" cy="186600"/>
          </a:xfrm>
          <a:prstGeom prst="roundRect">
            <a:avLst>
              <a:gd fmla="val 22186"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DataOps</a:t>
            </a:r>
            <a:endParaRPr sz="900">
              <a:solidFill>
                <a:schemeClr val="accent2"/>
              </a:solidFill>
              <a:latin typeface="DM Sans SemiBold"/>
              <a:ea typeface="DM Sans SemiBold"/>
              <a:cs typeface="DM Sans SemiBold"/>
              <a:sym typeface="DM Sans SemiBold"/>
            </a:endParaRPr>
          </a:p>
        </p:txBody>
      </p:sp>
      <p:sp>
        <p:nvSpPr>
          <p:cNvPr id="979" name="Google Shape;979;p53"/>
          <p:cNvSpPr/>
          <p:nvPr/>
        </p:nvSpPr>
        <p:spPr>
          <a:xfrm>
            <a:off x="4491750" y="1944550"/>
            <a:ext cx="879600" cy="186600"/>
          </a:xfrm>
          <a:prstGeom prst="roundRect">
            <a:avLst>
              <a:gd fmla="val 22186"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Lakeflow Jobs</a:t>
            </a:r>
            <a:endParaRPr sz="900">
              <a:solidFill>
                <a:schemeClr val="accent2"/>
              </a:solidFill>
              <a:latin typeface="DM Sans SemiBold"/>
              <a:ea typeface="DM Sans SemiBold"/>
              <a:cs typeface="DM Sans SemiBold"/>
              <a:sym typeface="DM Sans SemiBold"/>
            </a:endParaRPr>
          </a:p>
        </p:txBody>
      </p:sp>
      <p:sp>
        <p:nvSpPr>
          <p:cNvPr id="980" name="Google Shape;980;p53"/>
          <p:cNvSpPr/>
          <p:nvPr/>
        </p:nvSpPr>
        <p:spPr>
          <a:xfrm>
            <a:off x="7011406" y="1941712"/>
            <a:ext cx="685800" cy="186600"/>
          </a:xfrm>
          <a:prstGeom prst="roundRect">
            <a:avLst>
              <a:gd fmla="val 22186"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MLOps</a:t>
            </a:r>
            <a:endParaRPr sz="900">
              <a:solidFill>
                <a:schemeClr val="accent2"/>
              </a:solidFill>
              <a:latin typeface="DM Sans SemiBold"/>
              <a:ea typeface="DM Sans SemiBold"/>
              <a:cs typeface="DM Sans SemiBold"/>
              <a:sym typeface="DM Sans SemiBold"/>
            </a:endParaRPr>
          </a:p>
        </p:txBody>
      </p:sp>
      <p:sp>
        <p:nvSpPr>
          <p:cNvPr id="981" name="Google Shape;981;p53"/>
          <p:cNvSpPr/>
          <p:nvPr/>
        </p:nvSpPr>
        <p:spPr>
          <a:xfrm>
            <a:off x="6687325" y="3574025"/>
            <a:ext cx="2370900" cy="5577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Operational DB</a:t>
            </a:r>
            <a:endParaRPr sz="1100">
              <a:solidFill>
                <a:schemeClr val="accent5"/>
              </a:solidFill>
              <a:latin typeface="DM Sans Medium"/>
              <a:ea typeface="DM Sans Medium"/>
              <a:cs typeface="DM Sans Medium"/>
              <a:sym typeface="DM Sans Medium"/>
            </a:endParaRPr>
          </a:p>
        </p:txBody>
      </p:sp>
      <p:sp>
        <p:nvSpPr>
          <p:cNvPr id="982" name="Google Shape;982;p53"/>
          <p:cNvSpPr/>
          <p:nvPr/>
        </p:nvSpPr>
        <p:spPr>
          <a:xfrm>
            <a:off x="7503750" y="3798990"/>
            <a:ext cx="685800" cy="274200"/>
          </a:xfrm>
          <a:prstGeom prst="roundRect">
            <a:avLst>
              <a:gd fmla="val 22186"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Lakebase</a:t>
            </a:r>
            <a:endParaRPr sz="900">
              <a:solidFill>
                <a:schemeClr val="accent2"/>
              </a:solidFill>
              <a:latin typeface="DM Sans SemiBold"/>
              <a:ea typeface="DM Sans SemiBold"/>
              <a:cs typeface="DM Sans SemiBold"/>
              <a:sym typeface="DM Sans SemiBold"/>
            </a:endParaRPr>
          </a:p>
        </p:txBody>
      </p:sp>
      <p:sp>
        <p:nvSpPr>
          <p:cNvPr id="983" name="Google Shape;983;p53"/>
          <p:cNvSpPr/>
          <p:nvPr/>
        </p:nvSpPr>
        <p:spPr>
          <a:xfrm>
            <a:off x="5718734" y="2582475"/>
            <a:ext cx="685500" cy="274200"/>
          </a:xfrm>
          <a:prstGeom prst="roundRect">
            <a:avLst>
              <a:gd fmla="val 17595"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Gen AI</a:t>
            </a:r>
            <a:endParaRPr sz="900">
              <a:solidFill>
                <a:srgbClr val="00A972"/>
              </a:solidFill>
              <a:latin typeface="DM Sans SemiBold"/>
              <a:ea typeface="DM Sans SemiBold"/>
              <a:cs typeface="DM Sans SemiBold"/>
              <a:sym typeface="DM Sans SemiBold"/>
            </a:endParaRPr>
          </a:p>
        </p:txBody>
      </p:sp>
      <p:sp>
        <p:nvSpPr>
          <p:cNvPr id="984" name="Google Shape;984;p53"/>
          <p:cNvSpPr/>
          <p:nvPr/>
        </p:nvSpPr>
        <p:spPr>
          <a:xfrm>
            <a:off x="4893050" y="2582475"/>
            <a:ext cx="761100" cy="274200"/>
          </a:xfrm>
          <a:prstGeom prst="roundRect">
            <a:avLst>
              <a:gd fmla="val 17595"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Traditional ML</a:t>
            </a:r>
            <a:endParaRPr sz="900">
              <a:solidFill>
                <a:schemeClr val="accent2"/>
              </a:solidFill>
              <a:latin typeface="DM Sans SemiBold"/>
              <a:ea typeface="DM Sans SemiBold"/>
              <a:cs typeface="DM Sans SemiBold"/>
              <a:sym typeface="DM Sans SemiBold"/>
            </a:endParaRPr>
          </a:p>
        </p:txBody>
      </p:sp>
      <p:sp>
        <p:nvSpPr>
          <p:cNvPr id="985" name="Google Shape;985;p53"/>
          <p:cNvSpPr/>
          <p:nvPr/>
        </p:nvSpPr>
        <p:spPr>
          <a:xfrm>
            <a:off x="3998451" y="3179562"/>
            <a:ext cx="983700" cy="274200"/>
          </a:xfrm>
          <a:prstGeom prst="roundRect">
            <a:avLst>
              <a:gd fmla="val 18115"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Lakeflow Declar- ative Pipelines</a:t>
            </a:r>
            <a:endParaRPr baseline="30000" sz="900">
              <a:solidFill>
                <a:schemeClr val="accent2"/>
              </a:solidFill>
              <a:latin typeface="DM Sans SemiBold"/>
              <a:ea typeface="DM Sans SemiBold"/>
              <a:cs typeface="DM Sans SemiBold"/>
              <a:sym typeface="DM Sans SemiBold"/>
            </a:endParaRPr>
          </a:p>
        </p:txBody>
      </p:sp>
      <p:sp>
        <p:nvSpPr>
          <p:cNvPr id="986" name="Google Shape;986;p53"/>
          <p:cNvSpPr/>
          <p:nvPr/>
        </p:nvSpPr>
        <p:spPr>
          <a:xfrm>
            <a:off x="5115450" y="3179550"/>
            <a:ext cx="761100" cy="274200"/>
          </a:xfrm>
          <a:prstGeom prst="roundRect">
            <a:avLst>
              <a:gd fmla="val 19944"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Spark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Photon</a:t>
            </a:r>
            <a:endParaRPr sz="900">
              <a:solidFill>
                <a:schemeClr val="accent2"/>
              </a:solidFill>
              <a:latin typeface="DM Sans SemiBold"/>
              <a:ea typeface="DM Sans SemiBold"/>
              <a:cs typeface="DM Sans SemiBold"/>
              <a:sym typeface="DM Sans SemiBold"/>
            </a:endParaRPr>
          </a:p>
        </p:txBody>
      </p:sp>
      <p:sp>
        <p:nvSpPr>
          <p:cNvPr id="987" name="Google Shape;987;p53"/>
          <p:cNvSpPr/>
          <p:nvPr/>
        </p:nvSpPr>
        <p:spPr>
          <a:xfrm>
            <a:off x="6473878" y="4423213"/>
            <a:ext cx="685800" cy="2742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Business Semantics</a:t>
            </a:r>
            <a:endParaRPr sz="900">
              <a:solidFill>
                <a:schemeClr val="accent2"/>
              </a:solidFill>
              <a:latin typeface="DM Sans SemiBold"/>
              <a:ea typeface="DM Sans SemiBold"/>
              <a:cs typeface="DM Sans SemiBold"/>
              <a:sym typeface="DM Sans SemiBold"/>
            </a:endParaRPr>
          </a:p>
        </p:txBody>
      </p:sp>
      <p:pic>
        <p:nvPicPr>
          <p:cNvPr id="988" name="Google Shape;988;p53"/>
          <p:cNvPicPr preferRelativeResize="0"/>
          <p:nvPr/>
        </p:nvPicPr>
        <p:blipFill>
          <a:blip r:embed="rId5">
            <a:alphaModFix/>
          </a:blip>
          <a:stretch>
            <a:fillRect/>
          </a:stretch>
        </p:blipFill>
        <p:spPr>
          <a:xfrm>
            <a:off x="8403950" y="5666965"/>
            <a:ext cx="191100" cy="160007"/>
          </a:xfrm>
          <a:prstGeom prst="rect">
            <a:avLst/>
          </a:prstGeom>
          <a:noFill/>
          <a:ln>
            <a:noFill/>
          </a:ln>
        </p:spPr>
      </p:pic>
      <p:sp>
        <p:nvSpPr>
          <p:cNvPr id="989" name="Google Shape;989;p53"/>
          <p:cNvSpPr/>
          <p:nvPr/>
        </p:nvSpPr>
        <p:spPr>
          <a:xfrm>
            <a:off x="10798400" y="6096162"/>
            <a:ext cx="589500" cy="123000"/>
          </a:xfrm>
          <a:prstGeom prst="roundRect">
            <a:avLst>
              <a:gd fmla="val 26238" name="adj"/>
            </a:avLst>
          </a:prstGeom>
          <a:solidFill>
            <a:schemeClr val="accent1"/>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rgbClr val="FFFFFF"/>
                </a:solidFill>
                <a:latin typeface="DM Sans"/>
                <a:ea typeface="DM Sans"/>
                <a:cs typeface="DM Sans"/>
                <a:sym typeface="DM Sans"/>
              </a:rPr>
              <a:t>Databricks</a:t>
            </a:r>
            <a:endParaRPr sz="800">
              <a:solidFill>
                <a:srgbClr val="FFFFFF"/>
              </a:solidFill>
              <a:latin typeface="DM Sans"/>
              <a:ea typeface="DM Sans"/>
              <a:cs typeface="DM Sans"/>
              <a:sym typeface="DM Sans"/>
            </a:endParaRPr>
          </a:p>
        </p:txBody>
      </p:sp>
      <p:sp>
        <p:nvSpPr>
          <p:cNvPr id="990" name="Google Shape;990;p53"/>
          <p:cNvSpPr/>
          <p:nvPr/>
        </p:nvSpPr>
        <p:spPr>
          <a:xfrm>
            <a:off x="10798400" y="5939500"/>
            <a:ext cx="589500" cy="123000"/>
          </a:xfrm>
          <a:prstGeom prst="roundRect">
            <a:avLst>
              <a:gd fmla="val 26238" name="adj"/>
            </a:avLst>
          </a:prstGeom>
          <a:solidFill>
            <a:srgbClr val="FFFFFF"/>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chemeClr val="accent5"/>
                </a:solidFill>
                <a:latin typeface="DM Sans Medium"/>
                <a:ea typeface="DM Sans Medium"/>
                <a:cs typeface="DM Sans Medium"/>
                <a:sym typeface="DM Sans Medium"/>
              </a:rPr>
              <a:t>3rd party</a:t>
            </a:r>
            <a:endParaRPr sz="800">
              <a:solidFill>
                <a:schemeClr val="accent5"/>
              </a:solidFill>
              <a:latin typeface="DM Sans Medium"/>
              <a:ea typeface="DM Sans Medium"/>
              <a:cs typeface="DM Sans Medium"/>
              <a:sym typeface="DM Sans Medium"/>
            </a:endParaRPr>
          </a:p>
        </p:txBody>
      </p:sp>
      <p:sp>
        <p:nvSpPr>
          <p:cNvPr id="991" name="Google Shape;991;p53"/>
          <p:cNvSpPr txBox="1"/>
          <p:nvPr/>
        </p:nvSpPr>
        <p:spPr>
          <a:xfrm>
            <a:off x="10512987" y="5927525"/>
            <a:ext cx="2679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dk1"/>
                </a:solidFill>
                <a:latin typeface="DM Sans Medium"/>
                <a:ea typeface="DM Sans Medium"/>
                <a:cs typeface="DM Sans Medium"/>
                <a:sym typeface="DM Sans Medium"/>
              </a:rPr>
              <a:t>Key:</a:t>
            </a:r>
            <a:endParaRPr sz="1000">
              <a:solidFill>
                <a:schemeClr val="dk1"/>
              </a:solidFill>
              <a:latin typeface="DM Sans Medium"/>
              <a:ea typeface="DM Sans Medium"/>
              <a:cs typeface="DM Sans Medium"/>
              <a:sym typeface="DM Sans Medium"/>
            </a:endParaRPr>
          </a:p>
        </p:txBody>
      </p:sp>
      <p:grpSp>
        <p:nvGrpSpPr>
          <p:cNvPr id="992" name="Google Shape;992;p53"/>
          <p:cNvGrpSpPr/>
          <p:nvPr/>
        </p:nvGrpSpPr>
        <p:grpSpPr>
          <a:xfrm>
            <a:off x="8234791" y="4535238"/>
            <a:ext cx="685500" cy="465911"/>
            <a:chOff x="8536471" y="4748911"/>
            <a:chExt cx="685500" cy="465911"/>
          </a:xfrm>
        </p:grpSpPr>
        <p:sp>
          <p:nvSpPr>
            <p:cNvPr id="993" name="Google Shape;993;p53"/>
            <p:cNvSpPr txBox="1"/>
            <p:nvPr/>
          </p:nvSpPr>
          <p:spPr>
            <a:xfrm>
              <a:off x="8536471" y="4894722"/>
              <a:ext cx="685500" cy="3201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RDBMs</a:t>
              </a:r>
              <a:endParaRPr sz="900">
                <a:solidFill>
                  <a:schemeClr val="accent1"/>
                </a:solidFill>
                <a:latin typeface="DM Sans Medium"/>
                <a:ea typeface="DM Sans Medium"/>
                <a:cs typeface="DM Sans Medium"/>
                <a:sym typeface="DM Sans Medium"/>
              </a:endParaRPr>
            </a:p>
          </p:txBody>
        </p:sp>
        <p:pic>
          <p:nvPicPr>
            <p:cNvPr id="994" name="Google Shape;994;p53"/>
            <p:cNvPicPr preferRelativeResize="0"/>
            <p:nvPr/>
          </p:nvPicPr>
          <p:blipFill>
            <a:blip r:embed="rId10">
              <a:alphaModFix/>
            </a:blip>
            <a:stretch>
              <a:fillRect/>
            </a:stretch>
          </p:blipFill>
          <p:spPr>
            <a:xfrm>
              <a:off x="8731571" y="4748911"/>
              <a:ext cx="265176" cy="265176"/>
            </a:xfrm>
            <a:prstGeom prst="rect">
              <a:avLst/>
            </a:prstGeom>
            <a:noFill/>
            <a:ln>
              <a:noFill/>
            </a:ln>
          </p:spPr>
        </p:pic>
      </p:grpSp>
      <p:grpSp>
        <p:nvGrpSpPr>
          <p:cNvPr id="995" name="Google Shape;995;p53"/>
          <p:cNvGrpSpPr/>
          <p:nvPr/>
        </p:nvGrpSpPr>
        <p:grpSpPr>
          <a:xfrm>
            <a:off x="8234791" y="4992438"/>
            <a:ext cx="685500" cy="465911"/>
            <a:chOff x="8536471" y="4748911"/>
            <a:chExt cx="685500" cy="465911"/>
          </a:xfrm>
        </p:grpSpPr>
        <p:sp>
          <p:nvSpPr>
            <p:cNvPr id="996" name="Google Shape;996;p53"/>
            <p:cNvSpPr txBox="1"/>
            <p:nvPr/>
          </p:nvSpPr>
          <p:spPr>
            <a:xfrm>
              <a:off x="8536471" y="4894722"/>
              <a:ext cx="685500" cy="3201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KV store</a:t>
              </a:r>
              <a:endParaRPr sz="900">
                <a:solidFill>
                  <a:schemeClr val="accent1"/>
                </a:solidFill>
                <a:latin typeface="DM Sans Medium"/>
                <a:ea typeface="DM Sans Medium"/>
                <a:cs typeface="DM Sans Medium"/>
                <a:sym typeface="DM Sans Medium"/>
              </a:endParaRPr>
            </a:p>
          </p:txBody>
        </p:sp>
        <p:pic>
          <p:nvPicPr>
            <p:cNvPr id="997" name="Google Shape;997;p53"/>
            <p:cNvPicPr preferRelativeResize="0"/>
            <p:nvPr/>
          </p:nvPicPr>
          <p:blipFill>
            <a:blip r:embed="rId10">
              <a:alphaModFix/>
            </a:blip>
            <a:stretch>
              <a:fillRect/>
            </a:stretch>
          </p:blipFill>
          <p:spPr>
            <a:xfrm>
              <a:off x="8731571" y="4748911"/>
              <a:ext cx="265176" cy="265176"/>
            </a:xfrm>
            <a:prstGeom prst="rect">
              <a:avLst/>
            </a:prstGeom>
            <a:noFill/>
            <a:ln>
              <a:noFill/>
            </a:ln>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1" name="Shape 1001"/>
        <p:cNvGrpSpPr/>
        <p:nvPr/>
      </p:nvGrpSpPr>
      <p:grpSpPr>
        <a:xfrm>
          <a:off x="0" y="0"/>
          <a:ext cx="0" cy="0"/>
          <a:chOff x="0" y="0"/>
          <a:chExt cx="0" cy="0"/>
        </a:xfrm>
      </p:grpSpPr>
      <p:sp>
        <p:nvSpPr>
          <p:cNvPr id="1002" name="Google Shape;1002;p54"/>
          <p:cNvSpPr/>
          <p:nvPr/>
        </p:nvSpPr>
        <p:spPr>
          <a:xfrm>
            <a:off x="4664825" y="1368050"/>
            <a:ext cx="5601300" cy="28167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grpSp>
        <p:nvGrpSpPr>
          <p:cNvPr id="1003" name="Google Shape;1003;p54"/>
          <p:cNvGrpSpPr/>
          <p:nvPr/>
        </p:nvGrpSpPr>
        <p:grpSpPr>
          <a:xfrm rot="-5400000">
            <a:off x="8118194" y="4175940"/>
            <a:ext cx="198576" cy="208513"/>
            <a:chOff x="3295749" y="3922446"/>
            <a:chExt cx="198576" cy="208513"/>
          </a:xfrm>
        </p:grpSpPr>
        <p:sp>
          <p:nvSpPr>
            <p:cNvPr id="1004" name="Google Shape;1004;p54"/>
            <p:cNvSpPr/>
            <p:nvPr/>
          </p:nvSpPr>
          <p:spPr>
            <a:xfrm>
              <a:off x="3391125" y="3922446"/>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005" name="Google Shape;1005;p54"/>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1006" name="Google Shape;1006;p54"/>
          <p:cNvSpPr/>
          <p:nvPr/>
        </p:nvSpPr>
        <p:spPr>
          <a:xfrm>
            <a:off x="8177450" y="4282646"/>
            <a:ext cx="796500" cy="1227000"/>
          </a:xfrm>
          <a:prstGeom prst="roundRect">
            <a:avLst>
              <a:gd fmla="val 8407"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rtl="0" algn="ctr">
              <a:lnSpc>
                <a:spcPct val="90000"/>
              </a:lnSpc>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Operat. DB</a:t>
            </a:r>
            <a:endParaRPr sz="1100">
              <a:solidFill>
                <a:schemeClr val="accent5"/>
              </a:solidFill>
              <a:latin typeface="DM Sans Medium"/>
              <a:ea typeface="DM Sans Medium"/>
              <a:cs typeface="DM Sans Medium"/>
              <a:sym typeface="DM Sans Medium"/>
            </a:endParaRPr>
          </a:p>
        </p:txBody>
      </p:sp>
      <p:sp>
        <p:nvSpPr>
          <p:cNvPr id="1007" name="Google Shape;1007;p54"/>
          <p:cNvSpPr/>
          <p:nvPr/>
        </p:nvSpPr>
        <p:spPr>
          <a:xfrm>
            <a:off x="836750" y="4275513"/>
            <a:ext cx="932400" cy="810300"/>
          </a:xfrm>
          <a:prstGeom prst="roundRect">
            <a:avLst>
              <a:gd fmla="val 9540"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1008" name="Google Shape;1008;p54"/>
          <p:cNvSpPr/>
          <p:nvPr/>
        </p:nvSpPr>
        <p:spPr>
          <a:xfrm>
            <a:off x="834550" y="1368050"/>
            <a:ext cx="932400" cy="2858100"/>
          </a:xfrm>
          <a:prstGeom prst="roundRect">
            <a:avLst>
              <a:gd fmla="val 7292"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1009" name="Google Shape;1009;p54"/>
          <p:cNvSpPr/>
          <p:nvPr/>
        </p:nvSpPr>
        <p:spPr>
          <a:xfrm>
            <a:off x="1921625" y="1368050"/>
            <a:ext cx="3586200" cy="21996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1010" name="Google Shape;1010;p54"/>
          <p:cNvSpPr/>
          <p:nvPr/>
        </p:nvSpPr>
        <p:spPr>
          <a:xfrm>
            <a:off x="3183025" y="1368050"/>
            <a:ext cx="4943100" cy="4195200"/>
          </a:xfrm>
          <a:prstGeom prst="roundRect">
            <a:avLst>
              <a:gd fmla="val 202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DM Sans"/>
              <a:ea typeface="DM Sans"/>
              <a:cs typeface="DM Sans"/>
              <a:sym typeface="DM Sans"/>
            </a:endParaRPr>
          </a:p>
        </p:txBody>
      </p:sp>
      <p:sp>
        <p:nvSpPr>
          <p:cNvPr id="1011" name="Google Shape;1011;p54"/>
          <p:cNvSpPr/>
          <p:nvPr/>
        </p:nvSpPr>
        <p:spPr>
          <a:xfrm>
            <a:off x="3247450" y="2227650"/>
            <a:ext cx="5802600" cy="668400"/>
          </a:xfrm>
          <a:prstGeom prst="roundRect">
            <a:avLst>
              <a:gd fmla="val 10905" name="adj"/>
            </a:avLst>
          </a:prstGeom>
          <a:solidFill>
            <a:srgbClr val="FFFFFF"/>
          </a:solidFill>
          <a:ln>
            <a:noFill/>
          </a:ln>
        </p:spPr>
        <p:txBody>
          <a:bodyPr anchorCtr="0" anchor="t" bIns="0" lIns="0" spcFirstLastPara="1" rIns="0" wrap="square" tIns="0">
            <a:noAutofit/>
          </a:bodyPr>
          <a:lstStyle/>
          <a:p>
            <a:pPr indent="0" lvl="0" marL="0" marR="40661"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Data Science and AI / ML - Mosaic AI</a:t>
            </a:r>
            <a:endParaRPr sz="1100">
              <a:solidFill>
                <a:schemeClr val="accent5"/>
              </a:solidFill>
              <a:latin typeface="DM Sans Medium"/>
              <a:ea typeface="DM Sans Medium"/>
              <a:cs typeface="DM Sans Medium"/>
              <a:sym typeface="DM Sans Medium"/>
            </a:endParaRPr>
          </a:p>
          <a:p>
            <a:pPr indent="0" lvl="0" marL="457200" marR="0"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p:txBody>
      </p:sp>
      <p:sp>
        <p:nvSpPr>
          <p:cNvPr id="1012" name="Google Shape;1012;p54"/>
          <p:cNvSpPr txBox="1"/>
          <p:nvPr>
            <p:ph type="title"/>
          </p:nvPr>
        </p:nvSpPr>
        <p:spPr>
          <a:xfrm>
            <a:off x="749245" y="2307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Databricks Data Intelligence Platform</a:t>
            </a:r>
            <a:endParaRPr b="1" sz="3600">
              <a:latin typeface="DM Sans"/>
              <a:ea typeface="DM Sans"/>
              <a:cs typeface="DM Sans"/>
              <a:sym typeface="DM Sans"/>
            </a:endParaRPr>
          </a:p>
        </p:txBody>
      </p:sp>
      <p:sp>
        <p:nvSpPr>
          <p:cNvPr id="1013" name="Google Shape;1013;p54"/>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grpSp>
        <p:nvGrpSpPr>
          <p:cNvPr id="1014" name="Google Shape;1014;p54"/>
          <p:cNvGrpSpPr/>
          <p:nvPr/>
        </p:nvGrpSpPr>
        <p:grpSpPr>
          <a:xfrm>
            <a:off x="2986792" y="3550528"/>
            <a:ext cx="198576" cy="211709"/>
            <a:chOff x="3295749" y="3919250"/>
            <a:chExt cx="198576" cy="211709"/>
          </a:xfrm>
        </p:grpSpPr>
        <p:sp>
          <p:nvSpPr>
            <p:cNvPr id="1015" name="Google Shape;1015;p54"/>
            <p:cNvSpPr/>
            <p:nvPr/>
          </p:nvSpPr>
          <p:spPr>
            <a:xfrm>
              <a:off x="3391125" y="3919250"/>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016" name="Google Shape;1016;p54"/>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1017" name="Google Shape;1017;p54"/>
          <p:cNvSpPr/>
          <p:nvPr/>
        </p:nvSpPr>
        <p:spPr>
          <a:xfrm>
            <a:off x="3247450" y="4807025"/>
            <a:ext cx="3380100" cy="699900"/>
          </a:xfrm>
          <a:prstGeom prst="roundRect">
            <a:avLst>
              <a:gd fmla="val 13083"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Data Management</a:t>
            </a:r>
            <a:endParaRPr sz="1100">
              <a:solidFill>
                <a:schemeClr val="accent5"/>
              </a:solidFill>
              <a:latin typeface="DM Sans Medium"/>
              <a:ea typeface="DM Sans Medium"/>
              <a:cs typeface="DM Sans Medium"/>
              <a:sym typeface="DM Sans Medium"/>
            </a:endParaRPr>
          </a:p>
        </p:txBody>
      </p:sp>
      <p:sp>
        <p:nvSpPr>
          <p:cNvPr id="1018" name="Google Shape;1018;p54"/>
          <p:cNvSpPr/>
          <p:nvPr/>
        </p:nvSpPr>
        <p:spPr>
          <a:xfrm>
            <a:off x="6679225" y="4806950"/>
            <a:ext cx="1388100" cy="699900"/>
          </a:xfrm>
          <a:prstGeom prst="roundRect">
            <a:avLst>
              <a:gd fmla="val 11862"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Collaboration</a:t>
            </a:r>
            <a:endParaRPr sz="1100">
              <a:solidFill>
                <a:schemeClr val="accent5"/>
              </a:solidFill>
              <a:latin typeface="DM Sans Medium"/>
              <a:ea typeface="DM Sans Medium"/>
              <a:cs typeface="DM Sans Medium"/>
              <a:sym typeface="DM Sans Medium"/>
            </a:endParaRPr>
          </a:p>
        </p:txBody>
      </p:sp>
      <p:sp>
        <p:nvSpPr>
          <p:cNvPr id="1019" name="Google Shape;1019;p54"/>
          <p:cNvSpPr/>
          <p:nvPr/>
        </p:nvSpPr>
        <p:spPr>
          <a:xfrm>
            <a:off x="4267154" y="6159917"/>
            <a:ext cx="1076700" cy="215400"/>
          </a:xfrm>
          <a:prstGeom prst="rect">
            <a:avLst/>
          </a:prstGeom>
          <a:solidFill>
            <a:srgbClr val="D9D9D9"/>
          </a:solidFill>
          <a:ln>
            <a:noFill/>
          </a:ln>
        </p:spPr>
        <p:txBody>
          <a:bodyPr anchorCtr="0" anchor="ctr" bIns="146275" lIns="182850" spcFirstLastPara="1" rIns="18285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Stor</a:t>
            </a:r>
            <a:r>
              <a:rPr lang="en" sz="1300">
                <a:solidFill>
                  <a:srgbClr val="434343"/>
                </a:solidFill>
                <a:latin typeface="DM Sans SemiBold"/>
                <a:ea typeface="DM Sans SemiBold"/>
                <a:cs typeface="DM Sans SemiBold"/>
                <a:sym typeface="DM Sans SemiBold"/>
              </a:rPr>
              <a:t>age</a:t>
            </a:r>
            <a:endParaRPr i="0" sz="1300" u="none" cap="none" strike="noStrike">
              <a:solidFill>
                <a:srgbClr val="434343"/>
              </a:solidFill>
              <a:latin typeface="DM Sans SemiBold"/>
              <a:ea typeface="DM Sans SemiBold"/>
              <a:cs typeface="DM Sans SemiBold"/>
              <a:sym typeface="DM Sans SemiBold"/>
            </a:endParaRPr>
          </a:p>
        </p:txBody>
      </p:sp>
      <p:sp>
        <p:nvSpPr>
          <p:cNvPr id="1020" name="Google Shape;1020;p54"/>
          <p:cNvSpPr/>
          <p:nvPr/>
        </p:nvSpPr>
        <p:spPr>
          <a:xfrm>
            <a:off x="3247450" y="2955537"/>
            <a:ext cx="3380100" cy="553800"/>
          </a:xfrm>
          <a:prstGeom prst="roundRect">
            <a:avLst>
              <a:gd fmla="val 14028"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Data Engineering and Processing</a:t>
            </a:r>
            <a:endParaRPr sz="1100">
              <a:solidFill>
                <a:schemeClr val="accent5"/>
              </a:solidFill>
              <a:latin typeface="DM Sans Medium"/>
              <a:ea typeface="DM Sans Medium"/>
              <a:cs typeface="DM Sans Medium"/>
              <a:sym typeface="DM Sans Medium"/>
            </a:endParaRPr>
          </a:p>
        </p:txBody>
      </p:sp>
      <p:sp>
        <p:nvSpPr>
          <p:cNvPr id="1021" name="Google Shape;1021;p54"/>
          <p:cNvSpPr/>
          <p:nvPr/>
        </p:nvSpPr>
        <p:spPr>
          <a:xfrm>
            <a:off x="3247450" y="4188200"/>
            <a:ext cx="4819800" cy="557700"/>
          </a:xfrm>
          <a:prstGeom prst="roundRect">
            <a:avLst>
              <a:gd fmla="val 12987"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   Data and AI Governance - Unity Catalog</a:t>
            </a:r>
            <a:endParaRPr sz="1100">
              <a:solidFill>
                <a:schemeClr val="accent5"/>
              </a:solidFill>
              <a:latin typeface="DM Sans Medium"/>
              <a:ea typeface="DM Sans Medium"/>
              <a:cs typeface="DM Sans Medium"/>
              <a:sym typeface="DM Sans Medium"/>
            </a:endParaRPr>
          </a:p>
        </p:txBody>
      </p:sp>
      <p:sp>
        <p:nvSpPr>
          <p:cNvPr id="1022" name="Google Shape;1022;p54"/>
          <p:cNvSpPr/>
          <p:nvPr/>
        </p:nvSpPr>
        <p:spPr>
          <a:xfrm>
            <a:off x="1989525" y="2227675"/>
            <a:ext cx="1187100" cy="1281600"/>
          </a:xfrm>
          <a:prstGeom prst="roundRect">
            <a:avLst>
              <a:gd fmla="val 7158" name="adj"/>
            </a:avLst>
          </a:prstGeom>
          <a:solidFill>
            <a:srgbClr val="FFFFFF"/>
          </a:solid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None/>
            </a:pPr>
            <a:r>
              <a:rPr lang="en" sz="1100">
                <a:solidFill>
                  <a:schemeClr val="accent5"/>
                </a:solidFill>
                <a:latin typeface="DM Sans Medium"/>
                <a:ea typeface="DM Sans Medium"/>
                <a:cs typeface="DM Sans Medium"/>
                <a:sym typeface="DM Sans Medium"/>
              </a:rPr>
              <a:t>Batch and Streaming</a:t>
            </a:r>
            <a:endParaRPr sz="1100">
              <a:solidFill>
                <a:schemeClr val="accent5"/>
              </a:solidFill>
              <a:latin typeface="DM Sans Medium"/>
              <a:ea typeface="DM Sans Medium"/>
              <a:cs typeface="DM Sans Medium"/>
              <a:sym typeface="DM Sans Medium"/>
            </a:endParaRPr>
          </a:p>
        </p:txBody>
      </p:sp>
      <p:sp>
        <p:nvSpPr>
          <p:cNvPr id="1023" name="Google Shape;1023;p54"/>
          <p:cNvSpPr/>
          <p:nvPr/>
        </p:nvSpPr>
        <p:spPr>
          <a:xfrm>
            <a:off x="6687250" y="2955537"/>
            <a:ext cx="2370900" cy="553800"/>
          </a:xfrm>
          <a:prstGeom prst="roundRect">
            <a:avLst>
              <a:gd fmla="val 15048"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Data Warehousing</a:t>
            </a:r>
            <a:endParaRPr sz="1100">
              <a:solidFill>
                <a:schemeClr val="accent5"/>
              </a:solidFill>
              <a:latin typeface="DM Sans Medium"/>
              <a:ea typeface="DM Sans Medium"/>
              <a:cs typeface="DM Sans Medium"/>
              <a:sym typeface="DM Sans Medium"/>
            </a:endParaRPr>
          </a:p>
        </p:txBody>
      </p:sp>
      <p:sp>
        <p:nvSpPr>
          <p:cNvPr id="1024" name="Google Shape;1024;p54"/>
          <p:cNvSpPr txBox="1"/>
          <p:nvPr/>
        </p:nvSpPr>
        <p:spPr>
          <a:xfrm rot="-5398802">
            <a:off x="290613" y="4596075"/>
            <a:ext cx="8610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Federation</a:t>
            </a:r>
            <a:endParaRPr sz="1100">
              <a:solidFill>
                <a:schemeClr val="accent5"/>
              </a:solidFill>
              <a:latin typeface="DM Sans"/>
              <a:ea typeface="DM Sans"/>
              <a:cs typeface="DM Sans"/>
              <a:sym typeface="DM Sans"/>
            </a:endParaRPr>
          </a:p>
        </p:txBody>
      </p:sp>
      <p:sp>
        <p:nvSpPr>
          <p:cNvPr id="1025" name="Google Shape;1025;p54"/>
          <p:cNvSpPr txBox="1"/>
          <p:nvPr/>
        </p:nvSpPr>
        <p:spPr>
          <a:xfrm>
            <a:off x="5216667" y="1442036"/>
            <a:ext cx="2432400" cy="215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a:solidFill>
                  <a:srgbClr val="FFFFFF"/>
                </a:solidFill>
                <a:latin typeface="DM Sans SemiBold"/>
                <a:ea typeface="DM Sans SemiBold"/>
                <a:cs typeface="DM Sans SemiBold"/>
                <a:sym typeface="DM Sans SemiBold"/>
              </a:rPr>
              <a:t>Data Intelligence Platform</a:t>
            </a:r>
            <a:endParaRPr>
              <a:solidFill>
                <a:srgbClr val="FFFFFF"/>
              </a:solidFill>
              <a:latin typeface="DM Sans SemiBold"/>
              <a:ea typeface="DM Sans SemiBold"/>
              <a:cs typeface="DM Sans SemiBold"/>
              <a:sym typeface="DM Sans SemiBold"/>
            </a:endParaRPr>
          </a:p>
        </p:txBody>
      </p:sp>
      <p:sp>
        <p:nvSpPr>
          <p:cNvPr id="1026" name="Google Shape;1026;p54"/>
          <p:cNvSpPr/>
          <p:nvPr/>
        </p:nvSpPr>
        <p:spPr>
          <a:xfrm>
            <a:off x="9133775" y="5563184"/>
            <a:ext cx="1082100" cy="579600"/>
          </a:xfrm>
          <a:prstGeom prst="roundRect">
            <a:avLst>
              <a:gd fmla="val 12082"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Sharing Partner</a:t>
            </a:r>
            <a:endParaRPr sz="1100">
              <a:solidFill>
                <a:schemeClr val="accent5"/>
              </a:solidFill>
              <a:latin typeface="DM Sans Medium"/>
              <a:ea typeface="DM Sans Medium"/>
              <a:cs typeface="DM Sans Medium"/>
              <a:sym typeface="DM Sans Medium"/>
            </a:endParaRPr>
          </a:p>
        </p:txBody>
      </p:sp>
      <p:sp>
        <p:nvSpPr>
          <p:cNvPr id="1027" name="Google Shape;1027;p54"/>
          <p:cNvSpPr/>
          <p:nvPr/>
        </p:nvSpPr>
        <p:spPr>
          <a:xfrm>
            <a:off x="9133775" y="4927395"/>
            <a:ext cx="1082100" cy="579600"/>
          </a:xfrm>
          <a:prstGeom prst="roundRect">
            <a:avLst>
              <a:gd fmla="val 13760"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Applications</a:t>
            </a:r>
            <a:endParaRPr sz="1100">
              <a:solidFill>
                <a:schemeClr val="accent5"/>
              </a:solidFill>
              <a:latin typeface="DM Sans Medium"/>
              <a:ea typeface="DM Sans Medium"/>
              <a:cs typeface="DM Sans Medium"/>
              <a:sym typeface="DM Sans Medium"/>
            </a:endParaRPr>
          </a:p>
        </p:txBody>
      </p:sp>
      <p:sp>
        <p:nvSpPr>
          <p:cNvPr id="1028" name="Google Shape;1028;p54"/>
          <p:cNvSpPr/>
          <p:nvPr/>
        </p:nvSpPr>
        <p:spPr>
          <a:xfrm>
            <a:off x="1921625" y="967225"/>
            <a:ext cx="12549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Ingest</a:t>
            </a:r>
            <a:endParaRPr i="0" sz="1300" u="none" cap="none" strike="noStrike">
              <a:solidFill>
                <a:srgbClr val="434343"/>
              </a:solidFill>
              <a:latin typeface="DM Sans SemiBold"/>
              <a:ea typeface="DM Sans SemiBold"/>
              <a:cs typeface="DM Sans SemiBold"/>
              <a:sym typeface="DM Sans SemiBold"/>
            </a:endParaRPr>
          </a:p>
        </p:txBody>
      </p:sp>
      <p:sp>
        <p:nvSpPr>
          <p:cNvPr id="1029" name="Google Shape;1029;p54"/>
          <p:cNvSpPr/>
          <p:nvPr/>
        </p:nvSpPr>
        <p:spPr>
          <a:xfrm>
            <a:off x="3247450" y="966700"/>
            <a:ext cx="13434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Transform</a:t>
            </a:r>
            <a:endParaRPr i="0" sz="1300" u="none" cap="none" strike="noStrike">
              <a:solidFill>
                <a:srgbClr val="434343"/>
              </a:solidFill>
              <a:latin typeface="DM Sans SemiBold"/>
              <a:ea typeface="DM Sans SemiBold"/>
              <a:cs typeface="DM Sans SemiBold"/>
              <a:sym typeface="DM Sans SemiBold"/>
            </a:endParaRPr>
          </a:p>
        </p:txBody>
      </p:sp>
      <p:sp>
        <p:nvSpPr>
          <p:cNvPr id="1030" name="Google Shape;1030;p54"/>
          <p:cNvSpPr/>
          <p:nvPr/>
        </p:nvSpPr>
        <p:spPr>
          <a:xfrm>
            <a:off x="9122275" y="968000"/>
            <a:ext cx="1152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Analyse</a:t>
            </a:r>
            <a:endParaRPr i="0" sz="1300" u="none" cap="none" strike="noStrike">
              <a:solidFill>
                <a:srgbClr val="434343"/>
              </a:solidFill>
              <a:latin typeface="DM Sans SemiBold"/>
              <a:ea typeface="DM Sans SemiBold"/>
              <a:cs typeface="DM Sans SemiBold"/>
              <a:sym typeface="DM Sans SemiBold"/>
            </a:endParaRPr>
          </a:p>
        </p:txBody>
      </p:sp>
      <p:sp>
        <p:nvSpPr>
          <p:cNvPr id="1031" name="Google Shape;1031;p54"/>
          <p:cNvSpPr/>
          <p:nvPr/>
        </p:nvSpPr>
        <p:spPr>
          <a:xfrm>
            <a:off x="766854" y="967794"/>
            <a:ext cx="10821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Sources</a:t>
            </a:r>
            <a:endParaRPr i="0" sz="1300" u="none" cap="none" strike="noStrike">
              <a:solidFill>
                <a:srgbClr val="434343"/>
              </a:solidFill>
              <a:latin typeface="DM Sans SemiBold"/>
              <a:ea typeface="DM Sans SemiBold"/>
              <a:cs typeface="DM Sans SemiBold"/>
              <a:sym typeface="DM Sans SemiBold"/>
            </a:endParaRPr>
          </a:p>
        </p:txBody>
      </p:sp>
      <p:cxnSp>
        <p:nvCxnSpPr>
          <p:cNvPr id="1032" name="Google Shape;1032;p54"/>
          <p:cNvCxnSpPr/>
          <p:nvPr/>
        </p:nvCxnSpPr>
        <p:spPr>
          <a:xfrm>
            <a:off x="1765606" y="3948550"/>
            <a:ext cx="222900" cy="600"/>
          </a:xfrm>
          <a:prstGeom prst="bentConnector3">
            <a:avLst>
              <a:gd fmla="val 50000" name="adj1"/>
            </a:avLst>
          </a:prstGeom>
          <a:noFill/>
          <a:ln cap="flat" cmpd="sng" w="9525">
            <a:solidFill>
              <a:schemeClr val="accent1"/>
            </a:solidFill>
            <a:prstDash val="solid"/>
            <a:round/>
            <a:headEnd len="sm" w="sm" type="none"/>
            <a:tailEnd len="sm" w="sm" type="triangle"/>
          </a:ln>
        </p:spPr>
      </p:cxnSp>
      <p:cxnSp>
        <p:nvCxnSpPr>
          <p:cNvPr id="1033" name="Google Shape;1033;p54"/>
          <p:cNvCxnSpPr>
            <a:stCxn id="1034" idx="3"/>
          </p:cNvCxnSpPr>
          <p:nvPr/>
        </p:nvCxnSpPr>
        <p:spPr>
          <a:xfrm>
            <a:off x="1765746" y="3027425"/>
            <a:ext cx="166800" cy="600"/>
          </a:xfrm>
          <a:prstGeom prst="bentConnector3">
            <a:avLst>
              <a:gd fmla="val 50000" name="adj1"/>
            </a:avLst>
          </a:prstGeom>
          <a:noFill/>
          <a:ln cap="flat" cmpd="sng" w="9525">
            <a:solidFill>
              <a:schemeClr val="accent1"/>
            </a:solidFill>
            <a:prstDash val="solid"/>
            <a:round/>
            <a:headEnd len="sm" w="sm" type="none"/>
            <a:tailEnd len="sm" w="sm" type="triangle"/>
          </a:ln>
        </p:spPr>
      </p:cxnSp>
      <p:cxnSp>
        <p:nvCxnSpPr>
          <p:cNvPr id="1035" name="Google Shape;1035;p54"/>
          <p:cNvCxnSpPr>
            <a:stCxn id="1018" idx="2"/>
            <a:endCxn id="1026" idx="1"/>
          </p:cNvCxnSpPr>
          <p:nvPr/>
        </p:nvCxnSpPr>
        <p:spPr>
          <a:xfrm flipH="1" rot="-5400000">
            <a:off x="8080375" y="4799750"/>
            <a:ext cx="346200" cy="1760400"/>
          </a:xfrm>
          <a:prstGeom prst="bentConnector2">
            <a:avLst/>
          </a:prstGeom>
          <a:noFill/>
          <a:ln cap="flat" cmpd="sng" w="9525">
            <a:solidFill>
              <a:schemeClr val="accent1"/>
            </a:solidFill>
            <a:prstDash val="solid"/>
            <a:round/>
            <a:headEnd len="sm" w="sm" type="none"/>
            <a:tailEnd len="sm" w="sm" type="triangle"/>
          </a:ln>
        </p:spPr>
      </p:cxnSp>
      <p:cxnSp>
        <p:nvCxnSpPr>
          <p:cNvPr id="1036" name="Google Shape;1036;p54"/>
          <p:cNvCxnSpPr/>
          <p:nvPr/>
        </p:nvCxnSpPr>
        <p:spPr>
          <a:xfrm>
            <a:off x="8978650" y="5336450"/>
            <a:ext cx="159000" cy="0"/>
          </a:xfrm>
          <a:prstGeom prst="straightConnector1">
            <a:avLst/>
          </a:prstGeom>
          <a:noFill/>
          <a:ln cap="flat" cmpd="sng" w="9525">
            <a:solidFill>
              <a:schemeClr val="accent1"/>
            </a:solidFill>
            <a:prstDash val="solid"/>
            <a:round/>
            <a:headEnd len="sm" w="sm" type="none"/>
            <a:tailEnd len="sm" w="sm" type="triangle"/>
          </a:ln>
        </p:spPr>
      </p:cxnSp>
      <p:cxnSp>
        <p:nvCxnSpPr>
          <p:cNvPr id="1037" name="Google Shape;1037;p54"/>
          <p:cNvCxnSpPr>
            <a:stCxn id="1038" idx="2"/>
            <a:endCxn id="1006" idx="0"/>
          </p:cNvCxnSpPr>
          <p:nvPr/>
        </p:nvCxnSpPr>
        <p:spPr>
          <a:xfrm>
            <a:off x="8575712" y="4182857"/>
            <a:ext cx="0" cy="99900"/>
          </a:xfrm>
          <a:prstGeom prst="straightConnector1">
            <a:avLst/>
          </a:prstGeom>
          <a:noFill/>
          <a:ln cap="flat" cmpd="sng" w="9525">
            <a:solidFill>
              <a:schemeClr val="accent1"/>
            </a:solidFill>
            <a:prstDash val="solid"/>
            <a:round/>
            <a:headEnd len="sm" w="sm" type="none"/>
            <a:tailEnd len="sm" w="sm" type="triangle"/>
          </a:ln>
        </p:spPr>
      </p:cxnSp>
      <p:sp>
        <p:nvSpPr>
          <p:cNvPr id="1039" name="Google Shape;1039;p54"/>
          <p:cNvSpPr/>
          <p:nvPr/>
        </p:nvSpPr>
        <p:spPr>
          <a:xfrm>
            <a:off x="7503748" y="3179562"/>
            <a:ext cx="6858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Databricks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SQL</a:t>
            </a:r>
            <a:endParaRPr sz="900">
              <a:solidFill>
                <a:schemeClr val="accent2"/>
              </a:solidFill>
              <a:latin typeface="DM Sans SemiBold"/>
              <a:ea typeface="DM Sans SemiBold"/>
              <a:cs typeface="DM Sans SemiBold"/>
              <a:sym typeface="DM Sans SemiBold"/>
            </a:endParaRPr>
          </a:p>
        </p:txBody>
      </p:sp>
      <p:sp>
        <p:nvSpPr>
          <p:cNvPr id="1040" name="Google Shape;1040;p54"/>
          <p:cNvSpPr/>
          <p:nvPr/>
        </p:nvSpPr>
        <p:spPr>
          <a:xfrm>
            <a:off x="2143275" y="3179562"/>
            <a:ext cx="8796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Auto</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Loader</a:t>
            </a:r>
            <a:endParaRPr sz="900">
              <a:solidFill>
                <a:schemeClr val="accent2"/>
              </a:solidFill>
              <a:latin typeface="DM Sans SemiBold"/>
              <a:ea typeface="DM Sans SemiBold"/>
              <a:cs typeface="DM Sans SemiBold"/>
              <a:sym typeface="DM Sans SemiBold"/>
            </a:endParaRPr>
          </a:p>
        </p:txBody>
      </p:sp>
      <p:sp>
        <p:nvSpPr>
          <p:cNvPr id="1041" name="Google Shape;1041;p54"/>
          <p:cNvSpPr/>
          <p:nvPr/>
        </p:nvSpPr>
        <p:spPr>
          <a:xfrm>
            <a:off x="7446063" y="4997825"/>
            <a:ext cx="549000" cy="223800"/>
          </a:xfrm>
          <a:prstGeom prst="roundRect">
            <a:avLst>
              <a:gd fmla="val 20281" name="adj"/>
            </a:avLst>
          </a:prstGeom>
          <a:solidFill>
            <a:srgbClr val="FFFFFF"/>
          </a:solidFill>
          <a:ln cap="flat" cmpd="sng" w="9525">
            <a:solidFill>
              <a:schemeClr val="accent2"/>
            </a:solidFill>
            <a:prstDash val="solid"/>
            <a:round/>
            <a:headEnd len="sm" w="sm" type="none"/>
            <a:tailEnd len="sm" w="sm" type="none"/>
          </a:ln>
        </p:spPr>
        <p:txBody>
          <a:bodyPr anchorCtr="0" anchor="ctr" bIns="0" lIns="0" spcFirstLastPara="1" rIns="0" wrap="square" tIns="9125">
            <a:noAutofit/>
          </a:bodyPr>
          <a:lstStyle/>
          <a:p>
            <a:pPr indent="0" lvl="0" marL="0" rtl="0" algn="ctr">
              <a:lnSpc>
                <a:spcPct val="75000"/>
              </a:lnSpc>
              <a:spcBef>
                <a:spcPts val="0"/>
              </a:spcBef>
              <a:spcAft>
                <a:spcPts val="0"/>
              </a:spcAft>
              <a:buNone/>
            </a:pPr>
            <a:r>
              <a:rPr lang="en" sz="900">
                <a:solidFill>
                  <a:schemeClr val="accent2"/>
                </a:solidFill>
                <a:latin typeface="DM Sans SemiBold"/>
                <a:ea typeface="DM Sans SemiBold"/>
                <a:cs typeface="DM Sans SemiBold"/>
                <a:sym typeface="DM Sans SemiBold"/>
              </a:rPr>
              <a:t>Market</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place</a:t>
            </a:r>
            <a:endParaRPr sz="900">
              <a:solidFill>
                <a:schemeClr val="accent2"/>
              </a:solidFill>
              <a:latin typeface="DM Sans SemiBold"/>
              <a:ea typeface="DM Sans SemiBold"/>
              <a:cs typeface="DM Sans SemiBold"/>
              <a:sym typeface="DM Sans SemiBold"/>
            </a:endParaRPr>
          </a:p>
        </p:txBody>
      </p:sp>
      <p:sp>
        <p:nvSpPr>
          <p:cNvPr id="1042" name="Google Shape;1042;p54"/>
          <p:cNvSpPr/>
          <p:nvPr/>
        </p:nvSpPr>
        <p:spPr>
          <a:xfrm>
            <a:off x="7254663" y="4423213"/>
            <a:ext cx="740400" cy="274200"/>
          </a:xfrm>
          <a:prstGeom prst="roundRect">
            <a:avLst>
              <a:gd fmla="val 18778"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Quality Monitoring</a:t>
            </a:r>
            <a:endParaRPr sz="900">
              <a:solidFill>
                <a:schemeClr val="accent2"/>
              </a:solidFill>
              <a:latin typeface="DM Sans SemiBold"/>
              <a:ea typeface="DM Sans SemiBold"/>
              <a:cs typeface="DM Sans SemiBold"/>
              <a:sym typeface="DM Sans SemiBold"/>
            </a:endParaRPr>
          </a:p>
        </p:txBody>
      </p:sp>
      <p:sp>
        <p:nvSpPr>
          <p:cNvPr id="1043" name="Google Shape;1043;p54"/>
          <p:cNvSpPr/>
          <p:nvPr/>
        </p:nvSpPr>
        <p:spPr>
          <a:xfrm>
            <a:off x="8279375" y="2268975"/>
            <a:ext cx="6858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AI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Gateway</a:t>
            </a:r>
            <a:endParaRPr sz="900">
              <a:solidFill>
                <a:schemeClr val="accent2"/>
              </a:solidFill>
              <a:latin typeface="DM Sans SemiBold"/>
              <a:ea typeface="DM Sans SemiBold"/>
              <a:cs typeface="DM Sans SemiBold"/>
              <a:sym typeface="DM Sans SemiBold"/>
            </a:endParaRPr>
          </a:p>
        </p:txBody>
      </p:sp>
      <p:sp>
        <p:nvSpPr>
          <p:cNvPr id="1044" name="Google Shape;1044;p54"/>
          <p:cNvSpPr/>
          <p:nvPr/>
        </p:nvSpPr>
        <p:spPr>
          <a:xfrm>
            <a:off x="7503751" y="2582483"/>
            <a:ext cx="685800" cy="2757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Vector </a:t>
            </a:r>
            <a:r>
              <a:rPr lang="en" sz="900">
                <a:solidFill>
                  <a:schemeClr val="accent2"/>
                </a:solidFill>
                <a:latin typeface="DM Sans SemiBold"/>
                <a:ea typeface="DM Sans SemiBold"/>
                <a:cs typeface="DM Sans SemiBold"/>
                <a:sym typeface="DM Sans SemiBold"/>
              </a:rPr>
              <a:t>Search</a:t>
            </a:r>
            <a:endParaRPr sz="900">
              <a:solidFill>
                <a:schemeClr val="accent2"/>
              </a:solidFill>
              <a:latin typeface="DM Sans SemiBold"/>
              <a:ea typeface="DM Sans SemiBold"/>
              <a:cs typeface="DM Sans SemiBold"/>
              <a:sym typeface="DM Sans SemiBold"/>
            </a:endParaRPr>
          </a:p>
        </p:txBody>
      </p:sp>
      <p:sp>
        <p:nvSpPr>
          <p:cNvPr id="1045" name="Google Shape;1045;p54"/>
          <p:cNvSpPr/>
          <p:nvPr/>
        </p:nvSpPr>
        <p:spPr>
          <a:xfrm>
            <a:off x="4121924" y="4423213"/>
            <a:ext cx="640800" cy="2742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Access</a:t>
            </a:r>
            <a:r>
              <a:rPr lang="en" sz="900">
                <a:solidFill>
                  <a:schemeClr val="accent2"/>
                </a:solidFill>
                <a:latin typeface="DM Sans SemiBold"/>
                <a:ea typeface="DM Sans SemiBold"/>
                <a:cs typeface="DM Sans SemiBold"/>
                <a:sym typeface="DM Sans SemiBold"/>
              </a:rPr>
              <a:t> Control</a:t>
            </a:r>
            <a:endParaRPr sz="900">
              <a:solidFill>
                <a:schemeClr val="accent2"/>
              </a:solidFill>
              <a:latin typeface="DM Sans SemiBold"/>
              <a:ea typeface="DM Sans SemiBold"/>
              <a:cs typeface="DM Sans SemiBold"/>
              <a:sym typeface="DM Sans SemiBold"/>
            </a:endParaRPr>
          </a:p>
        </p:txBody>
      </p:sp>
      <p:sp>
        <p:nvSpPr>
          <p:cNvPr id="1046" name="Google Shape;1046;p54"/>
          <p:cNvSpPr/>
          <p:nvPr/>
        </p:nvSpPr>
        <p:spPr>
          <a:xfrm>
            <a:off x="6727831" y="2583983"/>
            <a:ext cx="6858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Feature Serving</a:t>
            </a:r>
            <a:endParaRPr sz="900">
              <a:solidFill>
                <a:schemeClr val="accent2"/>
              </a:solidFill>
              <a:latin typeface="DM Sans SemiBold"/>
              <a:ea typeface="DM Sans SemiBold"/>
              <a:cs typeface="DM Sans SemiBold"/>
              <a:sym typeface="DM Sans SemiBold"/>
            </a:endParaRPr>
          </a:p>
        </p:txBody>
      </p:sp>
      <p:cxnSp>
        <p:nvCxnSpPr>
          <p:cNvPr id="1047" name="Google Shape;1047;p54"/>
          <p:cNvCxnSpPr>
            <a:stCxn id="1048" idx="3"/>
          </p:cNvCxnSpPr>
          <p:nvPr/>
        </p:nvCxnSpPr>
        <p:spPr>
          <a:xfrm>
            <a:off x="3053925" y="4259350"/>
            <a:ext cx="131100" cy="600"/>
          </a:xfrm>
          <a:prstGeom prst="bentConnector3">
            <a:avLst>
              <a:gd fmla="val 50000" name="adj1"/>
            </a:avLst>
          </a:prstGeom>
          <a:noFill/>
          <a:ln cap="flat" cmpd="sng" w="9525">
            <a:solidFill>
              <a:schemeClr val="accent1"/>
            </a:solidFill>
            <a:prstDash val="solid"/>
            <a:round/>
            <a:headEnd len="sm" w="sm" type="none"/>
            <a:tailEnd len="sm" w="sm" type="triangle"/>
          </a:ln>
        </p:spPr>
      </p:cxnSp>
      <p:sp>
        <p:nvSpPr>
          <p:cNvPr id="1049" name="Google Shape;1049;p54"/>
          <p:cNvSpPr/>
          <p:nvPr/>
        </p:nvSpPr>
        <p:spPr>
          <a:xfrm>
            <a:off x="5693094" y="4423213"/>
            <a:ext cx="685800" cy="2742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 and AI Assets</a:t>
            </a:r>
            <a:endParaRPr sz="900">
              <a:solidFill>
                <a:schemeClr val="accent2"/>
              </a:solidFill>
              <a:latin typeface="DM Sans SemiBold"/>
              <a:ea typeface="DM Sans SemiBold"/>
              <a:cs typeface="DM Sans SemiBold"/>
              <a:sym typeface="DM Sans SemiBold"/>
            </a:endParaRPr>
          </a:p>
        </p:txBody>
      </p:sp>
      <p:grpSp>
        <p:nvGrpSpPr>
          <p:cNvPr id="1050" name="Google Shape;1050;p54"/>
          <p:cNvGrpSpPr/>
          <p:nvPr/>
        </p:nvGrpSpPr>
        <p:grpSpPr>
          <a:xfrm>
            <a:off x="9152825" y="5742257"/>
            <a:ext cx="1044000" cy="400292"/>
            <a:chOff x="9534531" y="5311470"/>
            <a:chExt cx="1044000" cy="400292"/>
          </a:xfrm>
        </p:grpSpPr>
        <p:sp>
          <p:nvSpPr>
            <p:cNvPr id="1051" name="Google Shape;1051;p54"/>
            <p:cNvSpPr txBox="1"/>
            <p:nvPr/>
          </p:nvSpPr>
          <p:spPr>
            <a:xfrm>
              <a:off x="9534531" y="5557862"/>
              <a:ext cx="10440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Data Consumer</a:t>
              </a:r>
              <a:endParaRPr sz="900">
                <a:solidFill>
                  <a:schemeClr val="accent1"/>
                </a:solidFill>
                <a:latin typeface="DM Sans Medium"/>
                <a:ea typeface="DM Sans Medium"/>
                <a:cs typeface="DM Sans Medium"/>
                <a:sym typeface="DM Sans Medium"/>
              </a:endParaRPr>
            </a:p>
          </p:txBody>
        </p:sp>
        <p:pic>
          <p:nvPicPr>
            <p:cNvPr id="1052" name="Google Shape;1052;p54"/>
            <p:cNvPicPr preferRelativeResize="0"/>
            <p:nvPr/>
          </p:nvPicPr>
          <p:blipFill>
            <a:blip r:embed="rId3">
              <a:alphaModFix/>
            </a:blip>
            <a:stretch>
              <a:fillRect/>
            </a:stretch>
          </p:blipFill>
          <p:spPr>
            <a:xfrm>
              <a:off x="9908871" y="5311470"/>
              <a:ext cx="265176" cy="265176"/>
            </a:xfrm>
            <a:prstGeom prst="rect">
              <a:avLst/>
            </a:prstGeom>
            <a:noFill/>
            <a:ln>
              <a:noFill/>
            </a:ln>
          </p:spPr>
        </p:pic>
      </p:grpSp>
      <p:grpSp>
        <p:nvGrpSpPr>
          <p:cNvPr id="1053" name="Google Shape;1053;p54"/>
          <p:cNvGrpSpPr/>
          <p:nvPr/>
        </p:nvGrpSpPr>
        <p:grpSpPr>
          <a:xfrm>
            <a:off x="9133775" y="5106027"/>
            <a:ext cx="1082100" cy="391902"/>
            <a:chOff x="9515475" y="4663855"/>
            <a:chExt cx="1082100" cy="391902"/>
          </a:xfrm>
        </p:grpSpPr>
        <p:sp>
          <p:nvSpPr>
            <p:cNvPr id="1054" name="Google Shape;1054;p54"/>
            <p:cNvSpPr txBox="1"/>
            <p:nvPr/>
          </p:nvSpPr>
          <p:spPr>
            <a:xfrm>
              <a:off x="9515475" y="4901857"/>
              <a:ext cx="1082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Business/AI App</a:t>
              </a:r>
              <a:endParaRPr sz="900">
                <a:solidFill>
                  <a:schemeClr val="accent1"/>
                </a:solidFill>
                <a:latin typeface="DM Sans Medium"/>
                <a:ea typeface="DM Sans Medium"/>
                <a:cs typeface="DM Sans Medium"/>
                <a:sym typeface="DM Sans Medium"/>
              </a:endParaRPr>
            </a:p>
          </p:txBody>
        </p:sp>
        <p:pic>
          <p:nvPicPr>
            <p:cNvPr id="1055" name="Google Shape;1055;p54"/>
            <p:cNvPicPr preferRelativeResize="0"/>
            <p:nvPr/>
          </p:nvPicPr>
          <p:blipFill>
            <a:blip r:embed="rId3">
              <a:alphaModFix/>
            </a:blip>
            <a:stretch>
              <a:fillRect/>
            </a:stretch>
          </p:blipFill>
          <p:spPr>
            <a:xfrm>
              <a:off x="9908871" y="4663855"/>
              <a:ext cx="265176" cy="265176"/>
            </a:xfrm>
            <a:prstGeom prst="rect">
              <a:avLst/>
            </a:prstGeom>
            <a:noFill/>
            <a:ln>
              <a:noFill/>
            </a:ln>
          </p:spPr>
        </p:pic>
      </p:grpSp>
      <p:sp>
        <p:nvSpPr>
          <p:cNvPr id="1056" name="Google Shape;1056;p54"/>
          <p:cNvSpPr/>
          <p:nvPr/>
        </p:nvSpPr>
        <p:spPr>
          <a:xfrm>
            <a:off x="6727000" y="5129400"/>
            <a:ext cx="666600" cy="292500"/>
          </a:xfrm>
          <a:prstGeom prst="roundRect">
            <a:avLst>
              <a:gd fmla="val 17511"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     Delta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       Sharing</a:t>
            </a:r>
            <a:endParaRPr sz="900">
              <a:solidFill>
                <a:schemeClr val="accent2"/>
              </a:solidFill>
              <a:latin typeface="DM Sans SemiBold"/>
              <a:ea typeface="DM Sans SemiBold"/>
              <a:cs typeface="DM Sans SemiBold"/>
              <a:sym typeface="DM Sans SemiBold"/>
            </a:endParaRPr>
          </a:p>
        </p:txBody>
      </p:sp>
      <p:pic>
        <p:nvPicPr>
          <p:cNvPr id="1057" name="Google Shape;1057;p54"/>
          <p:cNvPicPr preferRelativeResize="0"/>
          <p:nvPr/>
        </p:nvPicPr>
        <p:blipFill>
          <a:blip r:embed="rId4">
            <a:alphaModFix/>
          </a:blip>
          <a:stretch>
            <a:fillRect/>
          </a:stretch>
        </p:blipFill>
        <p:spPr>
          <a:xfrm>
            <a:off x="6754210" y="5201783"/>
            <a:ext cx="173400" cy="145181"/>
          </a:xfrm>
          <a:prstGeom prst="rect">
            <a:avLst/>
          </a:prstGeom>
          <a:noFill/>
          <a:ln>
            <a:noFill/>
          </a:ln>
        </p:spPr>
      </p:pic>
      <p:sp>
        <p:nvSpPr>
          <p:cNvPr id="1058" name="Google Shape;1058;p54"/>
          <p:cNvSpPr/>
          <p:nvPr/>
        </p:nvSpPr>
        <p:spPr>
          <a:xfrm>
            <a:off x="2143275" y="2825260"/>
            <a:ext cx="879600" cy="274200"/>
          </a:xfrm>
          <a:prstGeom prst="roundRect">
            <a:avLst>
              <a:gd fmla="val 16667"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Lakeflow Connect</a:t>
            </a:r>
            <a:endParaRPr sz="900">
              <a:solidFill>
                <a:schemeClr val="accent2"/>
              </a:solidFill>
              <a:latin typeface="DM Sans SemiBold"/>
              <a:ea typeface="DM Sans SemiBold"/>
              <a:cs typeface="DM Sans SemiBold"/>
              <a:sym typeface="DM Sans SemiBold"/>
            </a:endParaRPr>
          </a:p>
        </p:txBody>
      </p:sp>
      <p:sp>
        <p:nvSpPr>
          <p:cNvPr id="1059" name="Google Shape;1059;p54"/>
          <p:cNvSpPr/>
          <p:nvPr/>
        </p:nvSpPr>
        <p:spPr>
          <a:xfrm>
            <a:off x="9133775" y="4282646"/>
            <a:ext cx="1082100" cy="579600"/>
          </a:xfrm>
          <a:prstGeom prst="roundRect">
            <a:avLst>
              <a:gd fmla="val 15648"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BI</a:t>
            </a:r>
            <a:endParaRPr sz="1100">
              <a:solidFill>
                <a:schemeClr val="accent5"/>
              </a:solidFill>
              <a:latin typeface="DM Sans Medium"/>
              <a:ea typeface="DM Sans Medium"/>
              <a:cs typeface="DM Sans Medium"/>
              <a:sym typeface="DM Sans Medium"/>
            </a:endParaRPr>
          </a:p>
        </p:txBody>
      </p:sp>
      <p:sp>
        <p:nvSpPr>
          <p:cNvPr id="1060" name="Google Shape;1060;p54"/>
          <p:cNvSpPr/>
          <p:nvPr/>
        </p:nvSpPr>
        <p:spPr>
          <a:xfrm>
            <a:off x="8977121" y="4083498"/>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1061" name="Google Shape;1061;p54"/>
          <p:cNvCxnSpPr>
            <a:stCxn id="1060" idx="2"/>
            <a:endCxn id="1027" idx="1"/>
          </p:cNvCxnSpPr>
          <p:nvPr/>
        </p:nvCxnSpPr>
        <p:spPr>
          <a:xfrm flipH="1" rot="-5400000">
            <a:off x="8560121" y="4643598"/>
            <a:ext cx="1042200" cy="105000"/>
          </a:xfrm>
          <a:prstGeom prst="bentConnector2">
            <a:avLst/>
          </a:prstGeom>
          <a:noFill/>
          <a:ln cap="flat" cmpd="sng" w="9525">
            <a:solidFill>
              <a:schemeClr val="accent1"/>
            </a:solidFill>
            <a:prstDash val="solid"/>
            <a:round/>
            <a:headEnd len="sm" w="sm" type="none"/>
            <a:tailEnd len="sm" w="sm" type="triangle"/>
          </a:ln>
        </p:spPr>
      </p:cxnSp>
      <p:cxnSp>
        <p:nvCxnSpPr>
          <p:cNvPr id="1062" name="Google Shape;1062;p54"/>
          <p:cNvCxnSpPr>
            <a:stCxn id="1060" idx="2"/>
            <a:endCxn id="1059" idx="1"/>
          </p:cNvCxnSpPr>
          <p:nvPr/>
        </p:nvCxnSpPr>
        <p:spPr>
          <a:xfrm flipH="1" rot="-5400000">
            <a:off x="8882471" y="4321248"/>
            <a:ext cx="397500" cy="105000"/>
          </a:xfrm>
          <a:prstGeom prst="bentConnector2">
            <a:avLst/>
          </a:prstGeom>
          <a:noFill/>
          <a:ln cap="flat" cmpd="sng" w="9525">
            <a:solidFill>
              <a:schemeClr val="accent1"/>
            </a:solidFill>
            <a:prstDash val="solid"/>
            <a:round/>
            <a:headEnd len="sm" w="sm" type="none"/>
            <a:tailEnd len="sm" w="sm" type="triangle"/>
          </a:ln>
        </p:spPr>
      </p:cxnSp>
      <p:sp>
        <p:nvSpPr>
          <p:cNvPr id="1063" name="Google Shape;1063;p54"/>
          <p:cNvSpPr/>
          <p:nvPr/>
        </p:nvSpPr>
        <p:spPr>
          <a:xfrm>
            <a:off x="6727824" y="3179562"/>
            <a:ext cx="6858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AI Functions</a:t>
            </a:r>
            <a:endParaRPr sz="900">
              <a:solidFill>
                <a:schemeClr val="accent2"/>
              </a:solidFill>
              <a:latin typeface="DM Sans SemiBold"/>
              <a:ea typeface="DM Sans SemiBold"/>
              <a:cs typeface="DM Sans SemiBold"/>
              <a:sym typeface="DM Sans SemiBold"/>
            </a:endParaRPr>
          </a:p>
        </p:txBody>
      </p:sp>
      <p:sp>
        <p:nvSpPr>
          <p:cNvPr id="1064" name="Google Shape;1064;p54"/>
          <p:cNvSpPr/>
          <p:nvPr/>
        </p:nvSpPr>
        <p:spPr>
          <a:xfrm>
            <a:off x="3322840" y="5121992"/>
            <a:ext cx="704100" cy="2925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        Delta</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        Lake</a:t>
            </a:r>
            <a:endParaRPr sz="900">
              <a:solidFill>
                <a:schemeClr val="accent2"/>
              </a:solidFill>
              <a:latin typeface="DM Sans SemiBold"/>
              <a:ea typeface="DM Sans SemiBold"/>
              <a:cs typeface="DM Sans SemiBold"/>
              <a:sym typeface="DM Sans SemiBold"/>
            </a:endParaRPr>
          </a:p>
        </p:txBody>
      </p:sp>
      <p:pic>
        <p:nvPicPr>
          <p:cNvPr id="1065" name="Google Shape;1065;p54"/>
          <p:cNvPicPr preferRelativeResize="0"/>
          <p:nvPr/>
        </p:nvPicPr>
        <p:blipFill>
          <a:blip r:embed="rId5">
            <a:alphaModFix/>
          </a:blip>
          <a:stretch>
            <a:fillRect/>
          </a:stretch>
        </p:blipFill>
        <p:spPr>
          <a:xfrm>
            <a:off x="3367671" y="5181455"/>
            <a:ext cx="200700" cy="191237"/>
          </a:xfrm>
          <a:prstGeom prst="rect">
            <a:avLst/>
          </a:prstGeom>
          <a:noFill/>
          <a:ln>
            <a:noFill/>
          </a:ln>
        </p:spPr>
      </p:pic>
      <p:sp>
        <p:nvSpPr>
          <p:cNvPr id="1066" name="Google Shape;1066;p54"/>
          <p:cNvSpPr/>
          <p:nvPr/>
        </p:nvSpPr>
        <p:spPr>
          <a:xfrm>
            <a:off x="4857709" y="4423213"/>
            <a:ext cx="740400" cy="2742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Catalog and Lineage</a:t>
            </a:r>
            <a:endParaRPr sz="900">
              <a:solidFill>
                <a:schemeClr val="accent2"/>
              </a:solidFill>
              <a:latin typeface="DM Sans SemiBold"/>
              <a:ea typeface="DM Sans SemiBold"/>
              <a:cs typeface="DM Sans SemiBold"/>
              <a:sym typeface="DM Sans SemiBold"/>
            </a:endParaRPr>
          </a:p>
        </p:txBody>
      </p:sp>
      <p:sp>
        <p:nvSpPr>
          <p:cNvPr id="1067" name="Google Shape;1067;p54"/>
          <p:cNvSpPr txBox="1"/>
          <p:nvPr/>
        </p:nvSpPr>
        <p:spPr>
          <a:xfrm rot="-5400000">
            <a:off x="485913" y="2789875"/>
            <a:ext cx="4701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ETL</a:t>
            </a:r>
            <a:endParaRPr sz="1100">
              <a:solidFill>
                <a:schemeClr val="accent5"/>
              </a:solidFill>
              <a:latin typeface="DM Sans"/>
              <a:ea typeface="DM Sans"/>
              <a:cs typeface="DM Sans"/>
              <a:sym typeface="DM Sans"/>
            </a:endParaRPr>
          </a:p>
        </p:txBody>
      </p:sp>
      <p:sp>
        <p:nvSpPr>
          <p:cNvPr id="1068" name="Google Shape;1068;p54"/>
          <p:cNvSpPr/>
          <p:nvPr/>
        </p:nvSpPr>
        <p:spPr>
          <a:xfrm>
            <a:off x="4332250" y="5121992"/>
            <a:ext cx="704100" cy="2925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200025"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Iceberg</a:t>
            </a:r>
            <a:endParaRPr sz="900">
              <a:solidFill>
                <a:schemeClr val="accent2"/>
              </a:solidFill>
              <a:latin typeface="DM Sans SemiBold"/>
              <a:ea typeface="DM Sans SemiBold"/>
              <a:cs typeface="DM Sans SemiBold"/>
              <a:sym typeface="DM Sans SemiBold"/>
            </a:endParaRPr>
          </a:p>
        </p:txBody>
      </p:sp>
      <p:sp>
        <p:nvSpPr>
          <p:cNvPr id="1069" name="Google Shape;1069;p54"/>
          <p:cNvSpPr/>
          <p:nvPr/>
        </p:nvSpPr>
        <p:spPr>
          <a:xfrm>
            <a:off x="3449100" y="2582475"/>
            <a:ext cx="9837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Feature Engineering</a:t>
            </a:r>
            <a:endParaRPr sz="900">
              <a:solidFill>
                <a:schemeClr val="accent2"/>
              </a:solidFill>
              <a:latin typeface="DM Sans SemiBold"/>
              <a:ea typeface="DM Sans SemiBold"/>
              <a:cs typeface="DM Sans SemiBold"/>
              <a:sym typeface="DM Sans SemiBold"/>
            </a:endParaRPr>
          </a:p>
        </p:txBody>
      </p:sp>
      <p:sp>
        <p:nvSpPr>
          <p:cNvPr id="1070" name="Google Shape;1070;p54"/>
          <p:cNvSpPr/>
          <p:nvPr/>
        </p:nvSpPr>
        <p:spPr>
          <a:xfrm>
            <a:off x="3322840" y="4423213"/>
            <a:ext cx="704100" cy="2742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Federation</a:t>
            </a:r>
            <a:endParaRPr sz="900">
              <a:solidFill>
                <a:schemeClr val="accent2"/>
              </a:solidFill>
              <a:latin typeface="DM Sans SemiBold"/>
              <a:ea typeface="DM Sans SemiBold"/>
              <a:cs typeface="DM Sans SemiBold"/>
              <a:sym typeface="DM Sans SemiBold"/>
            </a:endParaRPr>
          </a:p>
        </p:txBody>
      </p:sp>
      <p:cxnSp>
        <p:nvCxnSpPr>
          <p:cNvPr id="1071" name="Google Shape;1071;p54"/>
          <p:cNvCxnSpPr/>
          <p:nvPr/>
        </p:nvCxnSpPr>
        <p:spPr>
          <a:xfrm>
            <a:off x="1768354" y="5371543"/>
            <a:ext cx="1413300" cy="600"/>
          </a:xfrm>
          <a:prstGeom prst="bentConnector3">
            <a:avLst>
              <a:gd fmla="val 50000" name="adj1"/>
            </a:avLst>
          </a:prstGeom>
          <a:noFill/>
          <a:ln cap="flat" cmpd="sng" w="9525">
            <a:solidFill>
              <a:schemeClr val="accent1"/>
            </a:solidFill>
            <a:prstDash val="solid"/>
            <a:round/>
            <a:headEnd len="sm" w="sm" type="none"/>
            <a:tailEnd len="sm" w="sm" type="triangle"/>
          </a:ln>
        </p:spPr>
      </p:cxnSp>
      <p:cxnSp>
        <p:nvCxnSpPr>
          <p:cNvPr id="1072" name="Google Shape;1072;p54"/>
          <p:cNvCxnSpPr>
            <a:stCxn id="1073" idx="2"/>
            <a:endCxn id="1074" idx="1"/>
          </p:cNvCxnSpPr>
          <p:nvPr/>
        </p:nvCxnSpPr>
        <p:spPr>
          <a:xfrm flipH="1" rot="-5400000">
            <a:off x="4243734" y="5460355"/>
            <a:ext cx="326100" cy="502200"/>
          </a:xfrm>
          <a:prstGeom prst="bentConnector2">
            <a:avLst/>
          </a:prstGeom>
          <a:noFill/>
          <a:ln cap="flat" cmpd="sng" w="9525">
            <a:solidFill>
              <a:schemeClr val="accent1"/>
            </a:solidFill>
            <a:prstDash val="solid"/>
            <a:round/>
            <a:headEnd len="sm" w="sm" type="triangle"/>
            <a:tailEnd len="sm" w="sm" type="triangle"/>
          </a:ln>
        </p:spPr>
      </p:cxnSp>
      <p:sp>
        <p:nvSpPr>
          <p:cNvPr id="1038" name="Google Shape;1038;p54"/>
          <p:cNvSpPr/>
          <p:nvPr/>
        </p:nvSpPr>
        <p:spPr>
          <a:xfrm>
            <a:off x="8524112" y="4091357"/>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034" name="Google Shape;1034;p54"/>
          <p:cNvSpPr/>
          <p:nvPr/>
        </p:nvSpPr>
        <p:spPr>
          <a:xfrm>
            <a:off x="1689846" y="2981675"/>
            <a:ext cx="759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1075" name="Google Shape;1075;p54"/>
          <p:cNvPicPr preferRelativeResize="0"/>
          <p:nvPr/>
        </p:nvPicPr>
        <p:blipFill>
          <a:blip r:embed="rId6">
            <a:alphaModFix/>
          </a:blip>
          <a:stretch>
            <a:fillRect/>
          </a:stretch>
        </p:blipFill>
        <p:spPr>
          <a:xfrm>
            <a:off x="4998129" y="1403077"/>
            <a:ext cx="259650" cy="279625"/>
          </a:xfrm>
          <a:prstGeom prst="rect">
            <a:avLst/>
          </a:prstGeom>
          <a:noFill/>
          <a:ln>
            <a:noFill/>
          </a:ln>
        </p:spPr>
      </p:pic>
      <p:sp>
        <p:nvSpPr>
          <p:cNvPr id="1073" name="Google Shape;1073;p54"/>
          <p:cNvSpPr/>
          <p:nvPr/>
        </p:nvSpPr>
        <p:spPr>
          <a:xfrm>
            <a:off x="4104084" y="5456905"/>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076" name="Google Shape;1076;p54"/>
          <p:cNvSpPr/>
          <p:nvPr/>
        </p:nvSpPr>
        <p:spPr>
          <a:xfrm>
            <a:off x="8279671" y="2582483"/>
            <a:ext cx="685500" cy="2757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Model</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Serving</a:t>
            </a:r>
            <a:endParaRPr sz="900">
              <a:solidFill>
                <a:schemeClr val="accent2"/>
              </a:solidFill>
              <a:latin typeface="DM Sans SemiBold"/>
              <a:ea typeface="DM Sans SemiBold"/>
              <a:cs typeface="DM Sans SemiBold"/>
              <a:sym typeface="DM Sans SemiBold"/>
            </a:endParaRPr>
          </a:p>
        </p:txBody>
      </p:sp>
      <p:grpSp>
        <p:nvGrpSpPr>
          <p:cNvPr id="1077" name="Google Shape;1077;p54"/>
          <p:cNvGrpSpPr/>
          <p:nvPr/>
        </p:nvGrpSpPr>
        <p:grpSpPr>
          <a:xfrm>
            <a:off x="5357469" y="5168059"/>
            <a:ext cx="1015163" cy="210402"/>
            <a:chOff x="6995676" y="6025175"/>
            <a:chExt cx="1015163" cy="210402"/>
          </a:xfrm>
        </p:grpSpPr>
        <p:sp>
          <p:nvSpPr>
            <p:cNvPr id="1078" name="Google Shape;1078;p54"/>
            <p:cNvSpPr txBox="1"/>
            <p:nvPr/>
          </p:nvSpPr>
          <p:spPr>
            <a:xfrm>
              <a:off x="6995676" y="6112577"/>
              <a:ext cx="38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bronze</a:t>
              </a:r>
              <a:endParaRPr sz="800">
                <a:solidFill>
                  <a:srgbClr val="1B5162"/>
                </a:solidFill>
                <a:latin typeface="DM Sans"/>
                <a:ea typeface="DM Sans"/>
                <a:cs typeface="DM Sans"/>
                <a:sym typeface="DM Sans"/>
              </a:endParaRPr>
            </a:p>
          </p:txBody>
        </p:sp>
        <p:sp>
          <p:nvSpPr>
            <p:cNvPr id="1079" name="Google Shape;1079;p54"/>
            <p:cNvSpPr txBox="1"/>
            <p:nvPr/>
          </p:nvSpPr>
          <p:spPr>
            <a:xfrm>
              <a:off x="7393838" y="6112577"/>
              <a:ext cx="29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silver</a:t>
              </a:r>
              <a:endParaRPr sz="800">
                <a:solidFill>
                  <a:srgbClr val="1B5162"/>
                </a:solidFill>
                <a:latin typeface="DM Sans"/>
                <a:ea typeface="DM Sans"/>
                <a:cs typeface="DM Sans"/>
                <a:sym typeface="DM Sans"/>
              </a:endParaRPr>
            </a:p>
          </p:txBody>
        </p:sp>
        <p:sp>
          <p:nvSpPr>
            <p:cNvPr id="1080" name="Google Shape;1080;p54"/>
            <p:cNvSpPr txBox="1"/>
            <p:nvPr/>
          </p:nvSpPr>
          <p:spPr>
            <a:xfrm>
              <a:off x="7755238" y="6112577"/>
              <a:ext cx="2556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gold</a:t>
              </a:r>
              <a:endParaRPr sz="800">
                <a:solidFill>
                  <a:srgbClr val="1B5162"/>
                </a:solidFill>
                <a:latin typeface="DM Sans"/>
                <a:ea typeface="DM Sans"/>
                <a:cs typeface="DM Sans"/>
                <a:sym typeface="DM Sans"/>
              </a:endParaRPr>
            </a:p>
          </p:txBody>
        </p:sp>
        <p:sp>
          <p:nvSpPr>
            <p:cNvPr id="1081" name="Google Shape;1081;p54"/>
            <p:cNvSpPr/>
            <p:nvPr/>
          </p:nvSpPr>
          <p:spPr>
            <a:xfrm>
              <a:off x="7094764" y="6025175"/>
              <a:ext cx="182100" cy="92525"/>
            </a:xfrm>
            <a:prstGeom prst="flowChartMagneticDisk">
              <a:avLst/>
            </a:prstGeom>
            <a:solidFill>
              <a:srgbClr val="BF897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1082" name="Google Shape;1082;p54"/>
            <p:cNvSpPr/>
            <p:nvPr/>
          </p:nvSpPr>
          <p:spPr>
            <a:xfrm>
              <a:off x="7441284" y="6025175"/>
              <a:ext cx="182100" cy="92525"/>
            </a:xfrm>
            <a:prstGeom prst="flowChartMagneticDisk">
              <a:avLst/>
            </a:prstGeom>
            <a:solidFill>
              <a:srgbClr val="C0C0C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1083" name="Google Shape;1083;p54"/>
            <p:cNvSpPr/>
            <p:nvPr/>
          </p:nvSpPr>
          <p:spPr>
            <a:xfrm>
              <a:off x="7791988" y="6025175"/>
              <a:ext cx="182100" cy="92525"/>
            </a:xfrm>
            <a:prstGeom prst="flowChartMagneticDisk">
              <a:avLst/>
            </a:prstGeom>
            <a:solidFill>
              <a:srgbClr val="D4AF37"/>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1084" name="Google Shape;1084;p54"/>
            <p:cNvSpPr/>
            <p:nvPr/>
          </p:nvSpPr>
          <p:spPr>
            <a:xfrm rot="5400000">
              <a:off x="7401063"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1085" name="Google Shape;1085;p54"/>
            <p:cNvCxnSpPr>
              <a:stCxn id="1082" idx="4"/>
              <a:endCxn id="1086" idx="3"/>
            </p:cNvCxnSpPr>
            <p:nvPr/>
          </p:nvCxnSpPr>
          <p:spPr>
            <a:xfrm>
              <a:off x="7623384" y="6071438"/>
              <a:ext cx="125400" cy="1200"/>
            </a:xfrm>
            <a:prstGeom prst="straightConnector1">
              <a:avLst/>
            </a:prstGeom>
            <a:noFill/>
            <a:ln cap="flat" cmpd="sng" w="9525">
              <a:solidFill>
                <a:srgbClr val="666666"/>
              </a:solidFill>
              <a:prstDash val="solid"/>
              <a:round/>
              <a:headEnd len="sm" w="sm" type="none"/>
              <a:tailEnd len="med" w="med" type="none"/>
            </a:ln>
          </p:spPr>
        </p:cxnSp>
        <p:sp>
          <p:nvSpPr>
            <p:cNvPr id="1086" name="Google Shape;1086;p54"/>
            <p:cNvSpPr/>
            <p:nvPr/>
          </p:nvSpPr>
          <p:spPr>
            <a:xfrm rot="5400000">
              <a:off x="7748234"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1087" name="Google Shape;1087;p54"/>
            <p:cNvCxnSpPr>
              <a:stCxn id="1081" idx="4"/>
              <a:endCxn id="1084" idx="3"/>
            </p:cNvCxnSpPr>
            <p:nvPr/>
          </p:nvCxnSpPr>
          <p:spPr>
            <a:xfrm>
              <a:off x="7276864" y="6071438"/>
              <a:ext cx="124800" cy="1200"/>
            </a:xfrm>
            <a:prstGeom prst="straightConnector1">
              <a:avLst/>
            </a:prstGeom>
            <a:noFill/>
            <a:ln cap="flat" cmpd="sng" w="9525">
              <a:solidFill>
                <a:srgbClr val="666666"/>
              </a:solidFill>
              <a:prstDash val="solid"/>
              <a:round/>
              <a:headEnd len="sm" w="sm" type="none"/>
              <a:tailEnd len="med" w="med" type="none"/>
            </a:ln>
          </p:spPr>
        </p:cxnSp>
      </p:grpSp>
      <p:sp>
        <p:nvSpPr>
          <p:cNvPr id="1088" name="Google Shape;1088;p54"/>
          <p:cNvSpPr/>
          <p:nvPr/>
        </p:nvSpPr>
        <p:spPr>
          <a:xfrm>
            <a:off x="3247450" y="3574037"/>
            <a:ext cx="3380100" cy="557700"/>
          </a:xfrm>
          <a:prstGeom prst="roundRect">
            <a:avLst>
              <a:gd fmla="val 14501"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None/>
            </a:pPr>
            <a:r>
              <a:rPr lang="en" sz="1100">
                <a:solidFill>
                  <a:schemeClr val="accent5"/>
                </a:solidFill>
                <a:latin typeface="DM Sans Medium"/>
                <a:ea typeface="DM Sans Medium"/>
                <a:cs typeface="DM Sans Medium"/>
                <a:sym typeface="DM Sans Medium"/>
              </a:rPr>
              <a:t>Data Intelligence</a:t>
            </a:r>
            <a:endParaRPr sz="1100">
              <a:solidFill>
                <a:schemeClr val="accent5"/>
              </a:solidFill>
              <a:latin typeface="DM Sans Medium"/>
              <a:ea typeface="DM Sans Medium"/>
              <a:cs typeface="DM Sans Medium"/>
              <a:sym typeface="DM Sans Medium"/>
            </a:endParaRPr>
          </a:p>
        </p:txBody>
      </p:sp>
      <p:sp>
        <p:nvSpPr>
          <p:cNvPr id="1089" name="Google Shape;1089;p54"/>
          <p:cNvSpPr/>
          <p:nvPr/>
        </p:nvSpPr>
        <p:spPr>
          <a:xfrm>
            <a:off x="3727425" y="3799000"/>
            <a:ext cx="704100" cy="274200"/>
          </a:xfrm>
          <a:prstGeom prst="roundRect">
            <a:avLst>
              <a:gd fmla="val 17361"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Assistant</a:t>
            </a:r>
            <a:endParaRPr sz="900">
              <a:solidFill>
                <a:schemeClr val="accent2"/>
              </a:solidFill>
              <a:latin typeface="DM Sans SemiBold"/>
              <a:ea typeface="DM Sans SemiBold"/>
              <a:cs typeface="DM Sans SemiBold"/>
              <a:sym typeface="DM Sans SemiBold"/>
            </a:endParaRPr>
          </a:p>
        </p:txBody>
      </p:sp>
      <p:sp>
        <p:nvSpPr>
          <p:cNvPr id="1090" name="Google Shape;1090;p54"/>
          <p:cNvSpPr/>
          <p:nvPr/>
        </p:nvSpPr>
        <p:spPr>
          <a:xfrm>
            <a:off x="5461775" y="3802250"/>
            <a:ext cx="685800" cy="274200"/>
          </a:xfrm>
          <a:prstGeom prst="roundRect">
            <a:avLst>
              <a:gd fmla="val 17361"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Predictive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IO</a:t>
            </a:r>
            <a:endParaRPr sz="900">
              <a:solidFill>
                <a:schemeClr val="accent2"/>
              </a:solidFill>
              <a:latin typeface="DM Sans SemiBold"/>
              <a:ea typeface="DM Sans SemiBold"/>
              <a:cs typeface="DM Sans SemiBold"/>
              <a:sym typeface="DM Sans SemiBold"/>
            </a:endParaRPr>
          </a:p>
        </p:txBody>
      </p:sp>
      <p:sp>
        <p:nvSpPr>
          <p:cNvPr id="1091" name="Google Shape;1091;p54"/>
          <p:cNvSpPr/>
          <p:nvPr/>
        </p:nvSpPr>
        <p:spPr>
          <a:xfrm>
            <a:off x="4564824" y="3802250"/>
            <a:ext cx="761100" cy="274200"/>
          </a:xfrm>
          <a:prstGeom prst="roundRect">
            <a:avLst>
              <a:gd fmla="val 17361"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Predictive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optimization</a:t>
            </a:r>
            <a:endParaRPr sz="900">
              <a:solidFill>
                <a:schemeClr val="accent2"/>
              </a:solidFill>
              <a:latin typeface="DM Sans SemiBold"/>
              <a:ea typeface="DM Sans SemiBold"/>
              <a:cs typeface="DM Sans SemiBold"/>
              <a:sym typeface="DM Sans SemiBold"/>
            </a:endParaRPr>
          </a:p>
        </p:txBody>
      </p:sp>
      <p:grpSp>
        <p:nvGrpSpPr>
          <p:cNvPr id="1092" name="Google Shape;1092;p54"/>
          <p:cNvGrpSpPr/>
          <p:nvPr/>
        </p:nvGrpSpPr>
        <p:grpSpPr>
          <a:xfrm>
            <a:off x="861763" y="1388635"/>
            <a:ext cx="879600" cy="565670"/>
            <a:chOff x="820734" y="1742570"/>
            <a:chExt cx="879600" cy="565670"/>
          </a:xfrm>
        </p:grpSpPr>
        <p:sp>
          <p:nvSpPr>
            <p:cNvPr id="1093" name="Google Shape;1093;p54"/>
            <p:cNvSpPr txBox="1"/>
            <p:nvPr/>
          </p:nvSpPr>
          <p:spPr>
            <a:xfrm>
              <a:off x="820734" y="1969540"/>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Files / Logs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a:t>
              </a:r>
              <a:r>
                <a:rPr lang="en" sz="800">
                  <a:solidFill>
                    <a:schemeClr val="accent5"/>
                  </a:solidFill>
                  <a:latin typeface="DM Sans Medium"/>
                  <a:ea typeface="DM Sans Medium"/>
                  <a:cs typeface="DM Sans Medium"/>
                  <a:sym typeface="DM Sans Medium"/>
                </a:rPr>
                <a:t>semi-</a:t>
              </a: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1094" name="Google Shape;1094;p54"/>
            <p:cNvPicPr preferRelativeResize="0"/>
            <p:nvPr/>
          </p:nvPicPr>
          <p:blipFill>
            <a:blip r:embed="rId7">
              <a:alphaModFix/>
            </a:blip>
            <a:stretch>
              <a:fillRect/>
            </a:stretch>
          </p:blipFill>
          <p:spPr>
            <a:xfrm>
              <a:off x="1127949" y="1742570"/>
              <a:ext cx="265176" cy="265176"/>
            </a:xfrm>
            <a:prstGeom prst="rect">
              <a:avLst/>
            </a:prstGeom>
            <a:noFill/>
            <a:ln>
              <a:noFill/>
            </a:ln>
          </p:spPr>
        </p:pic>
      </p:grpSp>
      <p:grpSp>
        <p:nvGrpSpPr>
          <p:cNvPr id="1095" name="Google Shape;1095;p54"/>
          <p:cNvGrpSpPr/>
          <p:nvPr/>
        </p:nvGrpSpPr>
        <p:grpSpPr>
          <a:xfrm>
            <a:off x="861800" y="1970622"/>
            <a:ext cx="879600" cy="558086"/>
            <a:chOff x="820771" y="2866176"/>
            <a:chExt cx="879600" cy="558086"/>
          </a:xfrm>
        </p:grpSpPr>
        <p:sp>
          <p:nvSpPr>
            <p:cNvPr id="1096" name="Google Shape;1096;p54"/>
            <p:cNvSpPr txBox="1"/>
            <p:nvPr/>
          </p:nvSpPr>
          <p:spPr>
            <a:xfrm>
              <a:off x="820771" y="3085563"/>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Sensors and IoT</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pic>
          <p:nvPicPr>
            <p:cNvPr id="1097" name="Google Shape;1097;p54"/>
            <p:cNvPicPr preferRelativeResize="0"/>
            <p:nvPr/>
          </p:nvPicPr>
          <p:blipFill>
            <a:blip r:embed="rId8">
              <a:alphaModFix/>
            </a:blip>
            <a:stretch>
              <a:fillRect/>
            </a:stretch>
          </p:blipFill>
          <p:spPr>
            <a:xfrm>
              <a:off x="1127949" y="2866176"/>
              <a:ext cx="265176" cy="265176"/>
            </a:xfrm>
            <a:prstGeom prst="rect">
              <a:avLst/>
            </a:prstGeom>
            <a:noFill/>
            <a:ln>
              <a:noFill/>
            </a:ln>
          </p:spPr>
        </p:pic>
      </p:grpSp>
      <p:grpSp>
        <p:nvGrpSpPr>
          <p:cNvPr id="1098" name="Google Shape;1098;p54"/>
          <p:cNvGrpSpPr/>
          <p:nvPr/>
        </p:nvGrpSpPr>
        <p:grpSpPr>
          <a:xfrm>
            <a:off x="903312" y="2545026"/>
            <a:ext cx="796500" cy="542824"/>
            <a:chOff x="862283" y="2315806"/>
            <a:chExt cx="796500" cy="542824"/>
          </a:xfrm>
        </p:grpSpPr>
        <p:sp>
          <p:nvSpPr>
            <p:cNvPr id="1099" name="Google Shape;1099;p54"/>
            <p:cNvSpPr txBox="1"/>
            <p:nvPr/>
          </p:nvSpPr>
          <p:spPr>
            <a:xfrm>
              <a:off x="862283" y="2519931"/>
              <a:ext cx="7965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 / DWH</a:t>
              </a:r>
              <a:br>
                <a:rPr lang="en" sz="900">
                  <a:solidFill>
                    <a:srgbClr val="1B5162"/>
                  </a:solidFill>
                  <a:latin typeface="DM Sans Medium"/>
                  <a:ea typeface="DM Sans Medium"/>
                  <a:cs typeface="DM Sans Medium"/>
                  <a:sym typeface="DM Sans Medium"/>
                </a:rPr>
              </a:br>
              <a:r>
                <a:rPr lang="en" sz="800">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1100" name="Google Shape;1100;p54"/>
            <p:cNvPicPr preferRelativeResize="0"/>
            <p:nvPr/>
          </p:nvPicPr>
          <p:blipFill>
            <a:blip r:embed="rId9">
              <a:alphaModFix/>
            </a:blip>
            <a:stretch>
              <a:fillRect/>
            </a:stretch>
          </p:blipFill>
          <p:spPr>
            <a:xfrm>
              <a:off x="1127949" y="2315806"/>
              <a:ext cx="265176" cy="265176"/>
            </a:xfrm>
            <a:prstGeom prst="rect">
              <a:avLst/>
            </a:prstGeom>
            <a:noFill/>
            <a:ln>
              <a:noFill/>
            </a:ln>
          </p:spPr>
        </p:pic>
      </p:grpSp>
      <p:grpSp>
        <p:nvGrpSpPr>
          <p:cNvPr id="1101" name="Google Shape;1101;p54"/>
          <p:cNvGrpSpPr/>
          <p:nvPr/>
        </p:nvGrpSpPr>
        <p:grpSpPr>
          <a:xfrm>
            <a:off x="861700" y="3104161"/>
            <a:ext cx="879600" cy="559474"/>
            <a:chOff x="820671" y="3997940"/>
            <a:chExt cx="879600" cy="559474"/>
          </a:xfrm>
        </p:grpSpPr>
        <p:pic>
          <p:nvPicPr>
            <p:cNvPr id="1102" name="Google Shape;1102;p54"/>
            <p:cNvPicPr preferRelativeResize="0"/>
            <p:nvPr/>
          </p:nvPicPr>
          <p:blipFill>
            <a:blip r:embed="rId3">
              <a:alphaModFix/>
            </a:blip>
            <a:stretch>
              <a:fillRect/>
            </a:stretch>
          </p:blipFill>
          <p:spPr>
            <a:xfrm>
              <a:off x="1127949" y="3997940"/>
              <a:ext cx="265176" cy="265176"/>
            </a:xfrm>
            <a:prstGeom prst="rect">
              <a:avLst/>
            </a:prstGeom>
            <a:noFill/>
            <a:ln>
              <a:noFill/>
            </a:ln>
          </p:spPr>
        </p:pic>
        <p:sp>
          <p:nvSpPr>
            <p:cNvPr id="1103" name="Google Shape;1103;p54"/>
            <p:cNvSpPr txBox="1"/>
            <p:nvPr/>
          </p:nvSpPr>
          <p:spPr>
            <a:xfrm>
              <a:off x="820671" y="4218714"/>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Business </a:t>
              </a:r>
              <a:r>
                <a:rPr lang="en" sz="900">
                  <a:solidFill>
                    <a:srgbClr val="1B5162"/>
                  </a:solidFill>
                  <a:latin typeface="DM Sans Medium"/>
                  <a:ea typeface="DM Sans Medium"/>
                  <a:cs typeface="DM Sans Medium"/>
                  <a:sym typeface="DM Sans Medium"/>
                </a:rPr>
                <a:t>A</a:t>
              </a:r>
              <a:r>
                <a:rPr i="0" lang="en" sz="900" u="none" cap="none" strike="noStrike">
                  <a:solidFill>
                    <a:srgbClr val="1B5162"/>
                  </a:solidFill>
                  <a:latin typeface="DM Sans Medium"/>
                  <a:ea typeface="DM Sans Medium"/>
                  <a:cs typeface="DM Sans Medium"/>
                  <a:sym typeface="DM Sans Medium"/>
                </a:rPr>
                <a:t>pps</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grpSp>
      <p:grpSp>
        <p:nvGrpSpPr>
          <p:cNvPr id="1104" name="Google Shape;1104;p54"/>
          <p:cNvGrpSpPr/>
          <p:nvPr/>
        </p:nvGrpSpPr>
        <p:grpSpPr>
          <a:xfrm>
            <a:off x="920210" y="3679952"/>
            <a:ext cx="761100" cy="558519"/>
            <a:chOff x="880006" y="3431841"/>
            <a:chExt cx="761100" cy="558519"/>
          </a:xfrm>
        </p:grpSpPr>
        <p:pic>
          <p:nvPicPr>
            <p:cNvPr id="1105" name="Google Shape;1105;p54"/>
            <p:cNvPicPr preferRelativeResize="0"/>
            <p:nvPr/>
          </p:nvPicPr>
          <p:blipFill>
            <a:blip r:embed="rId10">
              <a:alphaModFix/>
            </a:blip>
            <a:stretch>
              <a:fillRect/>
            </a:stretch>
          </p:blipFill>
          <p:spPr>
            <a:xfrm>
              <a:off x="1127949" y="3431841"/>
              <a:ext cx="265176" cy="265176"/>
            </a:xfrm>
            <a:prstGeom prst="rect">
              <a:avLst/>
            </a:prstGeom>
            <a:noFill/>
            <a:ln>
              <a:noFill/>
            </a:ln>
          </p:spPr>
        </p:pic>
        <p:sp>
          <p:nvSpPr>
            <p:cNvPr id="1106" name="Google Shape;1106;p54"/>
            <p:cNvSpPr txBox="1"/>
            <p:nvPr/>
          </p:nvSpPr>
          <p:spPr>
            <a:xfrm>
              <a:off x="880006" y="3651660"/>
              <a:ext cx="7611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Media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grpSp>
      <p:sp>
        <p:nvSpPr>
          <p:cNvPr id="1107" name="Google Shape;1107;p54"/>
          <p:cNvSpPr/>
          <p:nvPr/>
        </p:nvSpPr>
        <p:spPr>
          <a:xfrm>
            <a:off x="6679225" y="968000"/>
            <a:ext cx="2370900" cy="2154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Serve</a:t>
            </a:r>
            <a:endParaRPr i="0" sz="1300" u="none" cap="none" strike="noStrike">
              <a:solidFill>
                <a:srgbClr val="434343"/>
              </a:solidFill>
              <a:latin typeface="DM Sans SemiBold"/>
              <a:ea typeface="DM Sans SemiBold"/>
              <a:cs typeface="DM Sans SemiBold"/>
              <a:sym typeface="DM Sans SemiBold"/>
            </a:endParaRPr>
          </a:p>
        </p:txBody>
      </p:sp>
      <p:sp>
        <p:nvSpPr>
          <p:cNvPr id="1108" name="Google Shape;1108;p54"/>
          <p:cNvSpPr/>
          <p:nvPr/>
        </p:nvSpPr>
        <p:spPr>
          <a:xfrm>
            <a:off x="4655880" y="967735"/>
            <a:ext cx="1938000" cy="2160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Query / Process</a:t>
            </a:r>
            <a:endParaRPr i="0" sz="1300" u="none" cap="none" strike="noStrike">
              <a:solidFill>
                <a:srgbClr val="434343"/>
              </a:solidFill>
              <a:latin typeface="DM Sans SemiBold"/>
              <a:ea typeface="DM Sans SemiBold"/>
              <a:cs typeface="DM Sans SemiBold"/>
              <a:sym typeface="DM Sans SemiBold"/>
            </a:endParaRPr>
          </a:p>
        </p:txBody>
      </p:sp>
      <p:sp>
        <p:nvSpPr>
          <p:cNvPr id="1109" name="Google Shape;1109;p54"/>
          <p:cNvSpPr/>
          <p:nvPr/>
        </p:nvSpPr>
        <p:spPr>
          <a:xfrm>
            <a:off x="7446063" y="5249871"/>
            <a:ext cx="549000" cy="223800"/>
          </a:xfrm>
          <a:prstGeom prst="roundRect">
            <a:avLst>
              <a:gd fmla="val 20281" name="adj"/>
            </a:avLst>
          </a:prstGeom>
          <a:solidFill>
            <a:srgbClr val="FFFFFF"/>
          </a:solidFill>
          <a:ln cap="flat" cmpd="sng" w="9525">
            <a:solidFill>
              <a:schemeClr val="accent2"/>
            </a:solidFill>
            <a:prstDash val="solid"/>
            <a:round/>
            <a:headEnd len="sm" w="sm" type="none"/>
            <a:tailEnd len="sm" w="sm" type="none"/>
          </a:ln>
        </p:spPr>
        <p:txBody>
          <a:bodyPr anchorCtr="0" anchor="ctr" bIns="0" lIns="0" spcFirstLastPara="1" rIns="0" wrap="square" tIns="9125">
            <a:noAutofit/>
          </a:bodyPr>
          <a:lstStyle/>
          <a:p>
            <a:pPr indent="0" lvl="0" marL="0" rtl="0" algn="ctr">
              <a:lnSpc>
                <a:spcPct val="75000"/>
              </a:lnSpc>
              <a:spcBef>
                <a:spcPts val="0"/>
              </a:spcBef>
              <a:spcAft>
                <a:spcPts val="0"/>
              </a:spcAft>
              <a:buNone/>
            </a:pPr>
            <a:r>
              <a:rPr lang="en" sz="900">
                <a:solidFill>
                  <a:schemeClr val="accent2"/>
                </a:solidFill>
                <a:latin typeface="DM Sans SemiBold"/>
                <a:ea typeface="DM Sans SemiBold"/>
                <a:cs typeface="DM Sans SemiBold"/>
                <a:sym typeface="DM Sans SemiBold"/>
              </a:rPr>
              <a:t>Clean Rooms</a:t>
            </a:r>
            <a:endParaRPr sz="900">
              <a:solidFill>
                <a:schemeClr val="accent2"/>
              </a:solidFill>
              <a:latin typeface="DM Sans SemiBold"/>
              <a:ea typeface="DM Sans SemiBold"/>
              <a:cs typeface="DM Sans SemiBold"/>
              <a:sym typeface="DM Sans SemiBold"/>
            </a:endParaRPr>
          </a:p>
        </p:txBody>
      </p:sp>
      <p:sp>
        <p:nvSpPr>
          <p:cNvPr id="1110" name="Google Shape;1110;p54"/>
          <p:cNvSpPr/>
          <p:nvPr/>
        </p:nvSpPr>
        <p:spPr>
          <a:xfrm>
            <a:off x="10497579" y="968002"/>
            <a:ext cx="1044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Integrate</a:t>
            </a:r>
            <a:endParaRPr sz="1300">
              <a:solidFill>
                <a:srgbClr val="434343"/>
              </a:solidFill>
              <a:latin typeface="DM Sans SemiBold"/>
              <a:ea typeface="DM Sans SemiBold"/>
              <a:cs typeface="DM Sans SemiBold"/>
              <a:sym typeface="DM Sans SemiBold"/>
            </a:endParaRPr>
          </a:p>
        </p:txBody>
      </p:sp>
      <p:grpSp>
        <p:nvGrpSpPr>
          <p:cNvPr id="1111" name="Google Shape;1111;p54"/>
          <p:cNvGrpSpPr/>
          <p:nvPr/>
        </p:nvGrpSpPr>
        <p:grpSpPr>
          <a:xfrm>
            <a:off x="10606481" y="3498690"/>
            <a:ext cx="826200" cy="361210"/>
            <a:chOff x="10606481" y="3498690"/>
            <a:chExt cx="826200" cy="361210"/>
          </a:xfrm>
        </p:grpSpPr>
        <p:sp>
          <p:nvSpPr>
            <p:cNvPr id="1112" name="Google Shape;1112;p54"/>
            <p:cNvSpPr txBox="1"/>
            <p:nvPr/>
          </p:nvSpPr>
          <p:spPr>
            <a:xfrm>
              <a:off x="10606481" y="3735100"/>
              <a:ext cx="826200" cy="1248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Hugging Face</a:t>
              </a:r>
              <a:endParaRPr sz="900">
                <a:solidFill>
                  <a:schemeClr val="accent1"/>
                </a:solidFill>
                <a:latin typeface="DM Sans Medium"/>
                <a:ea typeface="DM Sans Medium"/>
                <a:cs typeface="DM Sans Medium"/>
                <a:sym typeface="DM Sans Medium"/>
              </a:endParaRPr>
            </a:p>
          </p:txBody>
        </p:sp>
        <p:pic>
          <p:nvPicPr>
            <p:cNvPr id="1113" name="Google Shape;1113;p54"/>
            <p:cNvPicPr preferRelativeResize="0"/>
            <p:nvPr/>
          </p:nvPicPr>
          <p:blipFill>
            <a:blip r:embed="rId11">
              <a:alphaModFix/>
            </a:blip>
            <a:stretch>
              <a:fillRect/>
            </a:stretch>
          </p:blipFill>
          <p:spPr>
            <a:xfrm>
              <a:off x="10897819" y="3498690"/>
              <a:ext cx="243525" cy="227812"/>
            </a:xfrm>
            <a:prstGeom prst="rect">
              <a:avLst/>
            </a:prstGeom>
            <a:noFill/>
            <a:ln>
              <a:noFill/>
            </a:ln>
          </p:spPr>
        </p:pic>
      </p:grpSp>
      <p:sp>
        <p:nvSpPr>
          <p:cNvPr id="1114" name="Google Shape;1114;p54"/>
          <p:cNvSpPr/>
          <p:nvPr/>
        </p:nvSpPr>
        <p:spPr>
          <a:xfrm>
            <a:off x="10521581" y="3219266"/>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AI Services</a:t>
            </a:r>
            <a:endParaRPr sz="1100">
              <a:solidFill>
                <a:schemeClr val="accent5"/>
              </a:solidFill>
              <a:latin typeface="DM Sans Medium"/>
              <a:ea typeface="DM Sans Medium"/>
              <a:cs typeface="DM Sans Medium"/>
              <a:sym typeface="DM Sans Medium"/>
            </a:endParaRPr>
          </a:p>
        </p:txBody>
      </p:sp>
      <p:sp>
        <p:nvSpPr>
          <p:cNvPr id="1115" name="Google Shape;1115;p54"/>
          <p:cNvSpPr txBox="1"/>
          <p:nvPr/>
        </p:nvSpPr>
        <p:spPr>
          <a:xfrm>
            <a:off x="10745081" y="4279763"/>
            <a:ext cx="5490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a:t>
            </a:r>
            <a:endParaRPr sz="1600">
              <a:solidFill>
                <a:schemeClr val="accent1"/>
              </a:solidFill>
              <a:latin typeface="DM Sans Medium"/>
              <a:ea typeface="DM Sans Medium"/>
              <a:cs typeface="DM Sans Medium"/>
              <a:sym typeface="DM Sans Medium"/>
            </a:endParaRPr>
          </a:p>
        </p:txBody>
      </p:sp>
      <p:cxnSp>
        <p:nvCxnSpPr>
          <p:cNvPr id="1116" name="Google Shape;1116;p54"/>
          <p:cNvCxnSpPr/>
          <p:nvPr/>
        </p:nvCxnSpPr>
        <p:spPr>
          <a:xfrm>
            <a:off x="10391950" y="979075"/>
            <a:ext cx="0" cy="5226000"/>
          </a:xfrm>
          <a:prstGeom prst="straightConnector1">
            <a:avLst/>
          </a:prstGeom>
          <a:noFill/>
          <a:ln cap="flat" cmpd="sng" w="9525">
            <a:solidFill>
              <a:schemeClr val="accent1"/>
            </a:solidFill>
            <a:prstDash val="dash"/>
            <a:round/>
            <a:headEnd len="med" w="med" type="none"/>
            <a:tailEnd len="med" w="med" type="none"/>
          </a:ln>
        </p:spPr>
      </p:cxnSp>
      <p:sp>
        <p:nvSpPr>
          <p:cNvPr id="1117" name="Google Shape;1117;p54"/>
          <p:cNvSpPr/>
          <p:nvPr/>
        </p:nvSpPr>
        <p:spPr>
          <a:xfrm>
            <a:off x="10521581" y="1368053"/>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ID Provider</a:t>
            </a:r>
            <a:endParaRPr sz="1100">
              <a:solidFill>
                <a:schemeClr val="accent5"/>
              </a:solidFill>
              <a:latin typeface="DM Sans Medium"/>
              <a:ea typeface="DM Sans Medium"/>
              <a:cs typeface="DM Sans Medium"/>
              <a:sym typeface="DM Sans Medium"/>
            </a:endParaRPr>
          </a:p>
        </p:txBody>
      </p:sp>
      <p:sp>
        <p:nvSpPr>
          <p:cNvPr id="1118" name="Google Shape;1118;p54"/>
          <p:cNvSpPr/>
          <p:nvPr/>
        </p:nvSpPr>
        <p:spPr>
          <a:xfrm>
            <a:off x="10521581" y="2219271"/>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marR="0" rtl="0" algn="ctr">
              <a:lnSpc>
                <a:spcPct val="90000"/>
              </a:lnSpc>
              <a:spcBef>
                <a:spcPts val="0"/>
              </a:spcBef>
              <a:spcAft>
                <a:spcPts val="0"/>
              </a:spcAft>
              <a:buClr>
                <a:srgbClr val="000000"/>
              </a:buClr>
              <a:buSzPts val="1600"/>
              <a:buFont typeface="Arial"/>
              <a:buNone/>
            </a:pPr>
            <a:r>
              <a:rPr lang="en" sz="1100">
                <a:solidFill>
                  <a:schemeClr val="accent5"/>
                </a:solidFill>
                <a:latin typeface="DM Sans Medium"/>
                <a:ea typeface="DM Sans Medium"/>
                <a:cs typeface="DM Sans Medium"/>
                <a:sym typeface="DM Sans Medium"/>
              </a:rPr>
              <a:t>Governance</a:t>
            </a:r>
            <a:endParaRPr i="0" sz="1100" u="none" cap="none" strike="noStrike">
              <a:solidFill>
                <a:schemeClr val="accent5"/>
              </a:solidFill>
              <a:latin typeface="DM Sans Medium"/>
              <a:ea typeface="DM Sans Medium"/>
              <a:cs typeface="DM Sans Medium"/>
              <a:sym typeface="DM Sans Medium"/>
            </a:endParaRPr>
          </a:p>
        </p:txBody>
      </p:sp>
      <p:sp>
        <p:nvSpPr>
          <p:cNvPr id="1119" name="Google Shape;1119;p54"/>
          <p:cNvSpPr/>
          <p:nvPr/>
        </p:nvSpPr>
        <p:spPr>
          <a:xfrm>
            <a:off x="10521581" y="4715861"/>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Orchestration</a:t>
            </a:r>
            <a:endParaRPr sz="1100">
              <a:solidFill>
                <a:schemeClr val="accent5"/>
              </a:solidFill>
              <a:latin typeface="DM Sans Medium"/>
              <a:ea typeface="DM Sans Medium"/>
              <a:cs typeface="DM Sans Medium"/>
              <a:sym typeface="DM Sans Medium"/>
            </a:endParaRPr>
          </a:p>
        </p:txBody>
      </p:sp>
      <p:grpSp>
        <p:nvGrpSpPr>
          <p:cNvPr id="1120" name="Google Shape;1120;p54"/>
          <p:cNvGrpSpPr/>
          <p:nvPr/>
        </p:nvGrpSpPr>
        <p:grpSpPr>
          <a:xfrm>
            <a:off x="10621328" y="4994250"/>
            <a:ext cx="796500" cy="553688"/>
            <a:chOff x="10621328" y="4994250"/>
            <a:chExt cx="796500" cy="553688"/>
          </a:xfrm>
        </p:grpSpPr>
        <p:sp>
          <p:nvSpPr>
            <p:cNvPr id="1121" name="Google Shape;1121;p54"/>
            <p:cNvSpPr txBox="1"/>
            <p:nvPr/>
          </p:nvSpPr>
          <p:spPr>
            <a:xfrm>
              <a:off x="10621328" y="5270738"/>
              <a:ext cx="7965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External Orchestrator</a:t>
              </a:r>
              <a:endParaRPr sz="900">
                <a:solidFill>
                  <a:srgbClr val="1B5162"/>
                </a:solidFill>
                <a:latin typeface="DM Sans Medium"/>
                <a:ea typeface="DM Sans Medium"/>
                <a:cs typeface="DM Sans Medium"/>
                <a:sym typeface="DM Sans Medium"/>
              </a:endParaRPr>
            </a:p>
          </p:txBody>
        </p:sp>
        <p:pic>
          <p:nvPicPr>
            <p:cNvPr id="1122" name="Google Shape;1122;p54"/>
            <p:cNvPicPr preferRelativeResize="0"/>
            <p:nvPr/>
          </p:nvPicPr>
          <p:blipFill>
            <a:blip r:embed="rId12">
              <a:alphaModFix/>
            </a:blip>
            <a:stretch>
              <a:fillRect/>
            </a:stretch>
          </p:blipFill>
          <p:spPr>
            <a:xfrm>
              <a:off x="10864167" y="4994250"/>
              <a:ext cx="265176" cy="265176"/>
            </a:xfrm>
            <a:prstGeom prst="rect">
              <a:avLst/>
            </a:prstGeom>
            <a:noFill/>
            <a:ln>
              <a:noFill/>
            </a:ln>
          </p:spPr>
        </p:pic>
      </p:grpSp>
      <p:sp>
        <p:nvSpPr>
          <p:cNvPr id="1123" name="Google Shape;1123;p54"/>
          <p:cNvSpPr/>
          <p:nvPr/>
        </p:nvSpPr>
        <p:spPr>
          <a:xfrm>
            <a:off x="8279671" y="3179562"/>
            <a:ext cx="6858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Connectors</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and APIs</a:t>
            </a:r>
            <a:endParaRPr sz="900">
              <a:solidFill>
                <a:schemeClr val="accent2"/>
              </a:solidFill>
              <a:latin typeface="DM Sans SemiBold"/>
              <a:ea typeface="DM Sans SemiBold"/>
              <a:cs typeface="DM Sans SemiBold"/>
              <a:sym typeface="DM Sans SemiBold"/>
            </a:endParaRPr>
          </a:p>
        </p:txBody>
      </p:sp>
      <p:pic>
        <p:nvPicPr>
          <p:cNvPr id="1124" name="Google Shape;1124;p54"/>
          <p:cNvPicPr preferRelativeResize="0"/>
          <p:nvPr/>
        </p:nvPicPr>
        <p:blipFill>
          <a:blip r:embed="rId13">
            <a:alphaModFix/>
          </a:blip>
          <a:stretch>
            <a:fillRect/>
          </a:stretch>
        </p:blipFill>
        <p:spPr>
          <a:xfrm>
            <a:off x="4351863" y="5186555"/>
            <a:ext cx="173400" cy="173400"/>
          </a:xfrm>
          <a:prstGeom prst="rect">
            <a:avLst/>
          </a:prstGeom>
          <a:noFill/>
          <a:ln>
            <a:noFill/>
          </a:ln>
        </p:spPr>
      </p:pic>
      <p:sp>
        <p:nvSpPr>
          <p:cNvPr id="1125" name="Google Shape;1125;p54"/>
          <p:cNvSpPr txBox="1"/>
          <p:nvPr/>
        </p:nvSpPr>
        <p:spPr>
          <a:xfrm>
            <a:off x="834551" y="5927525"/>
            <a:ext cx="932400" cy="191100"/>
          </a:xfrm>
          <a:prstGeom prst="rect">
            <a:avLst/>
          </a:prstGeom>
          <a:noFill/>
          <a:ln>
            <a:noFill/>
          </a:ln>
        </p:spPr>
        <p:txBody>
          <a:bodyPr anchorCtr="0" anchor="ctr" bIns="44800" lIns="0" spcFirstLastPara="1" rIns="0" wrap="square" tIns="44800">
            <a:noAutofit/>
          </a:bodyPr>
          <a:lstStyle/>
          <a:p>
            <a:pPr indent="0" lvl="0" marL="0" marR="0" rtl="0" algn="l">
              <a:lnSpc>
                <a:spcPct val="90000"/>
              </a:lnSpc>
              <a:spcBef>
                <a:spcPts val="0"/>
              </a:spcBef>
              <a:spcAft>
                <a:spcPts val="0"/>
              </a:spcAft>
              <a:buNone/>
            </a:pPr>
            <a:r>
              <a:rPr lang="en" sz="900">
                <a:solidFill>
                  <a:srgbClr val="1B5162"/>
                </a:solidFill>
                <a:latin typeface="DM Sans Light"/>
                <a:ea typeface="DM Sans Light"/>
                <a:cs typeface="DM Sans Light"/>
                <a:sym typeface="DM Sans Light"/>
              </a:rPr>
              <a:t>* Hive Metastore</a:t>
            </a:r>
            <a:endParaRPr sz="900">
              <a:solidFill>
                <a:srgbClr val="1B5162"/>
              </a:solidFill>
              <a:latin typeface="DM Sans Light"/>
              <a:ea typeface="DM Sans Light"/>
              <a:cs typeface="DM Sans Light"/>
              <a:sym typeface="DM Sans Light"/>
            </a:endParaRPr>
          </a:p>
        </p:txBody>
      </p:sp>
      <p:cxnSp>
        <p:nvCxnSpPr>
          <p:cNvPr id="1126" name="Google Shape;1126;p54"/>
          <p:cNvCxnSpPr/>
          <p:nvPr/>
        </p:nvCxnSpPr>
        <p:spPr>
          <a:xfrm>
            <a:off x="1768354" y="5025793"/>
            <a:ext cx="1413300" cy="600"/>
          </a:xfrm>
          <a:prstGeom prst="bentConnector3">
            <a:avLst>
              <a:gd fmla="val 50000" name="adj1"/>
            </a:avLst>
          </a:prstGeom>
          <a:noFill/>
          <a:ln cap="flat" cmpd="sng" w="9525">
            <a:solidFill>
              <a:schemeClr val="accent1"/>
            </a:solidFill>
            <a:prstDash val="solid"/>
            <a:round/>
            <a:headEnd len="sm" w="sm" type="none"/>
            <a:tailEnd len="sm" w="sm" type="triangle"/>
          </a:ln>
        </p:spPr>
      </p:cxnSp>
      <p:pic>
        <p:nvPicPr>
          <p:cNvPr id="1127" name="Google Shape;1127;p54"/>
          <p:cNvPicPr preferRelativeResize="0"/>
          <p:nvPr/>
        </p:nvPicPr>
        <p:blipFill>
          <a:blip r:embed="rId4">
            <a:alphaModFix/>
          </a:blip>
          <a:stretch>
            <a:fillRect/>
          </a:stretch>
        </p:blipFill>
        <p:spPr>
          <a:xfrm>
            <a:off x="2341000" y="5180940"/>
            <a:ext cx="191100" cy="160007"/>
          </a:xfrm>
          <a:prstGeom prst="rect">
            <a:avLst/>
          </a:prstGeom>
          <a:noFill/>
          <a:ln>
            <a:noFill/>
          </a:ln>
        </p:spPr>
      </p:pic>
      <p:sp>
        <p:nvSpPr>
          <p:cNvPr id="1128" name="Google Shape;1128;p54"/>
          <p:cNvSpPr/>
          <p:nvPr/>
        </p:nvSpPr>
        <p:spPr>
          <a:xfrm>
            <a:off x="1989525" y="3622000"/>
            <a:ext cx="1064400" cy="1327500"/>
          </a:xfrm>
          <a:prstGeom prst="roundRect">
            <a:avLst>
              <a:gd fmla="val 6120"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85000"/>
              </a:lnSpc>
              <a:spcBef>
                <a:spcPts val="0"/>
              </a:spcBef>
              <a:spcAft>
                <a:spcPts val="0"/>
              </a:spcAft>
              <a:buNone/>
            </a:pPr>
            <a:r>
              <a:rPr lang="en" sz="1100">
                <a:solidFill>
                  <a:schemeClr val="accent5"/>
                </a:solidFill>
                <a:latin typeface="DM Sans Medium"/>
                <a:ea typeface="DM Sans Medium"/>
                <a:cs typeface="DM Sans Medium"/>
                <a:sym typeface="DM Sans Medium"/>
              </a:rPr>
              <a:t>Batch and Streaming</a:t>
            </a:r>
            <a:endParaRPr sz="1100">
              <a:solidFill>
                <a:schemeClr val="accent5"/>
              </a:solidFill>
              <a:latin typeface="DM Sans Medium"/>
              <a:ea typeface="DM Sans Medium"/>
              <a:cs typeface="DM Sans Medium"/>
              <a:sym typeface="DM Sans Medium"/>
            </a:endParaRPr>
          </a:p>
        </p:txBody>
      </p:sp>
      <p:sp>
        <p:nvSpPr>
          <p:cNvPr id="1129" name="Google Shape;1129;p54"/>
          <p:cNvSpPr/>
          <p:nvPr/>
        </p:nvSpPr>
        <p:spPr>
          <a:xfrm>
            <a:off x="836750" y="5135200"/>
            <a:ext cx="932400" cy="617700"/>
          </a:xfrm>
          <a:prstGeom prst="roundRect">
            <a:avLst>
              <a:gd fmla="val 12696"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grpSp>
        <p:nvGrpSpPr>
          <p:cNvPr id="1130" name="Google Shape;1130;p54"/>
          <p:cNvGrpSpPr/>
          <p:nvPr/>
        </p:nvGrpSpPr>
        <p:grpSpPr>
          <a:xfrm>
            <a:off x="1247501" y="5175655"/>
            <a:ext cx="524700" cy="496901"/>
            <a:chOff x="1266036" y="5196700"/>
            <a:chExt cx="524700" cy="496901"/>
          </a:xfrm>
        </p:grpSpPr>
        <p:sp>
          <p:nvSpPr>
            <p:cNvPr id="1131" name="Google Shape;1131;p54"/>
            <p:cNvSpPr txBox="1"/>
            <p:nvPr/>
          </p:nvSpPr>
          <p:spPr>
            <a:xfrm>
              <a:off x="1266036" y="550250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Data Shares</a:t>
              </a:r>
              <a:endParaRPr sz="900">
                <a:solidFill>
                  <a:srgbClr val="1B5162"/>
                </a:solidFill>
                <a:latin typeface="DM Sans Medium"/>
                <a:ea typeface="DM Sans Medium"/>
                <a:cs typeface="DM Sans Medium"/>
                <a:sym typeface="DM Sans Medium"/>
              </a:endParaRPr>
            </a:p>
          </p:txBody>
        </p:sp>
        <p:pic>
          <p:nvPicPr>
            <p:cNvPr id="1132" name="Google Shape;1132;p54" title="primary-icon-navy-data-sharing.png"/>
            <p:cNvPicPr preferRelativeResize="0"/>
            <p:nvPr/>
          </p:nvPicPr>
          <p:blipFill>
            <a:blip r:embed="rId14">
              <a:alphaModFix/>
            </a:blip>
            <a:stretch>
              <a:fillRect/>
            </a:stretch>
          </p:blipFill>
          <p:spPr>
            <a:xfrm>
              <a:off x="1393854" y="5196700"/>
              <a:ext cx="269065" cy="269063"/>
            </a:xfrm>
            <a:prstGeom prst="rect">
              <a:avLst/>
            </a:prstGeom>
            <a:noFill/>
            <a:ln>
              <a:noFill/>
            </a:ln>
          </p:spPr>
        </p:pic>
      </p:grpSp>
      <p:grpSp>
        <p:nvGrpSpPr>
          <p:cNvPr id="1133" name="Google Shape;1133;p54"/>
          <p:cNvGrpSpPr/>
          <p:nvPr/>
        </p:nvGrpSpPr>
        <p:grpSpPr>
          <a:xfrm>
            <a:off x="816949" y="5175643"/>
            <a:ext cx="524700" cy="496193"/>
            <a:chOff x="835484" y="5196688"/>
            <a:chExt cx="524700" cy="496193"/>
          </a:xfrm>
        </p:grpSpPr>
        <p:sp>
          <p:nvSpPr>
            <p:cNvPr id="1134" name="Google Shape;1134;p54"/>
            <p:cNvSpPr txBox="1"/>
            <p:nvPr/>
          </p:nvSpPr>
          <p:spPr>
            <a:xfrm>
              <a:off x="835484" y="550178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Market</a:t>
              </a:r>
              <a:br>
                <a:rPr lang="en" sz="900">
                  <a:solidFill>
                    <a:srgbClr val="1B5162"/>
                  </a:solidFill>
                  <a:latin typeface="DM Sans Medium"/>
                  <a:ea typeface="DM Sans Medium"/>
                  <a:cs typeface="DM Sans Medium"/>
                  <a:sym typeface="DM Sans Medium"/>
                </a:rPr>
              </a:br>
              <a:r>
                <a:rPr lang="en" sz="900">
                  <a:solidFill>
                    <a:srgbClr val="1B5162"/>
                  </a:solidFill>
                  <a:latin typeface="DM Sans Medium"/>
                  <a:ea typeface="DM Sans Medium"/>
                  <a:cs typeface="DM Sans Medium"/>
                  <a:sym typeface="DM Sans Medium"/>
                </a:rPr>
                <a:t>places</a:t>
              </a:r>
              <a:endParaRPr sz="900">
                <a:solidFill>
                  <a:srgbClr val="1B5162"/>
                </a:solidFill>
                <a:latin typeface="DM Sans Medium"/>
                <a:ea typeface="DM Sans Medium"/>
                <a:cs typeface="DM Sans Medium"/>
                <a:sym typeface="DM Sans Medium"/>
              </a:endParaRPr>
            </a:p>
          </p:txBody>
        </p:sp>
        <p:pic>
          <p:nvPicPr>
            <p:cNvPr id="1135" name="Google Shape;1135;p54" title="primary-icon-navy-distribution.png"/>
            <p:cNvPicPr preferRelativeResize="0"/>
            <p:nvPr/>
          </p:nvPicPr>
          <p:blipFill>
            <a:blip r:embed="rId15">
              <a:alphaModFix/>
            </a:blip>
            <a:stretch>
              <a:fillRect/>
            </a:stretch>
          </p:blipFill>
          <p:spPr>
            <a:xfrm>
              <a:off x="963302" y="5196688"/>
              <a:ext cx="269065" cy="269063"/>
            </a:xfrm>
            <a:prstGeom prst="rect">
              <a:avLst/>
            </a:prstGeom>
            <a:noFill/>
            <a:ln>
              <a:noFill/>
            </a:ln>
          </p:spPr>
        </p:pic>
      </p:grpSp>
      <p:sp>
        <p:nvSpPr>
          <p:cNvPr id="1136" name="Google Shape;1136;p54"/>
          <p:cNvSpPr txBox="1"/>
          <p:nvPr/>
        </p:nvSpPr>
        <p:spPr>
          <a:xfrm rot="-5400000">
            <a:off x="431325" y="5359400"/>
            <a:ext cx="5793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Sharing</a:t>
            </a:r>
            <a:endParaRPr sz="1100">
              <a:solidFill>
                <a:schemeClr val="accent5"/>
              </a:solidFill>
              <a:latin typeface="DM Sans"/>
              <a:ea typeface="DM Sans"/>
              <a:cs typeface="DM Sans"/>
              <a:sym typeface="DM Sans"/>
            </a:endParaRPr>
          </a:p>
        </p:txBody>
      </p:sp>
      <p:sp>
        <p:nvSpPr>
          <p:cNvPr id="1137" name="Google Shape;1137;p54"/>
          <p:cNvSpPr/>
          <p:nvPr/>
        </p:nvSpPr>
        <p:spPr>
          <a:xfrm>
            <a:off x="9133775" y="2227875"/>
            <a:ext cx="1082100" cy="1281600"/>
          </a:xfrm>
          <a:prstGeom prst="roundRect">
            <a:avLst>
              <a:gd fmla="val 6450"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AI/BI</a:t>
            </a:r>
            <a:endParaRPr sz="1100">
              <a:solidFill>
                <a:schemeClr val="accent5"/>
              </a:solidFill>
              <a:latin typeface="DM Sans Medium"/>
              <a:ea typeface="DM Sans Medium"/>
              <a:cs typeface="DM Sans Medium"/>
              <a:sym typeface="DM Sans Medium"/>
            </a:endParaRPr>
          </a:p>
        </p:txBody>
      </p:sp>
      <p:sp>
        <p:nvSpPr>
          <p:cNvPr id="1138" name="Google Shape;1138;p54"/>
          <p:cNvSpPr/>
          <p:nvPr/>
        </p:nvSpPr>
        <p:spPr>
          <a:xfrm>
            <a:off x="9276575" y="3179562"/>
            <a:ext cx="796500" cy="274200"/>
          </a:xfrm>
          <a:prstGeom prst="roundRect">
            <a:avLst>
              <a:gd fmla="val 22836"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Genie</a:t>
            </a:r>
            <a:endParaRPr sz="900">
              <a:solidFill>
                <a:schemeClr val="accent2"/>
              </a:solidFill>
              <a:latin typeface="DM Sans SemiBold"/>
              <a:ea typeface="DM Sans SemiBold"/>
              <a:cs typeface="DM Sans SemiBold"/>
              <a:sym typeface="DM Sans SemiBold"/>
            </a:endParaRPr>
          </a:p>
        </p:txBody>
      </p:sp>
      <p:sp>
        <p:nvSpPr>
          <p:cNvPr id="1139" name="Google Shape;1139;p54"/>
          <p:cNvSpPr/>
          <p:nvPr/>
        </p:nvSpPr>
        <p:spPr>
          <a:xfrm>
            <a:off x="9276575" y="2825260"/>
            <a:ext cx="796500" cy="274200"/>
          </a:xfrm>
          <a:prstGeom prst="roundRect">
            <a:avLst>
              <a:gd fmla="val 22836"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Dashboards</a:t>
            </a:r>
            <a:endParaRPr sz="900">
              <a:solidFill>
                <a:schemeClr val="accent2"/>
              </a:solidFill>
              <a:latin typeface="DM Sans SemiBold"/>
              <a:ea typeface="DM Sans SemiBold"/>
              <a:cs typeface="DM Sans SemiBold"/>
              <a:sym typeface="DM Sans SemiBold"/>
            </a:endParaRPr>
          </a:p>
        </p:txBody>
      </p:sp>
      <p:sp>
        <p:nvSpPr>
          <p:cNvPr id="1140" name="Google Shape;1140;p54"/>
          <p:cNvSpPr/>
          <p:nvPr/>
        </p:nvSpPr>
        <p:spPr>
          <a:xfrm>
            <a:off x="9137674" y="3574037"/>
            <a:ext cx="1082100" cy="557700"/>
          </a:xfrm>
          <a:prstGeom prst="roundRect">
            <a:avLst>
              <a:gd fmla="val 10634"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Applications</a:t>
            </a:r>
            <a:endParaRPr sz="1100">
              <a:solidFill>
                <a:schemeClr val="accent5"/>
              </a:solidFill>
              <a:latin typeface="DM Sans Medium"/>
              <a:ea typeface="DM Sans Medium"/>
              <a:cs typeface="DM Sans Medium"/>
              <a:sym typeface="DM Sans Medium"/>
            </a:endParaRPr>
          </a:p>
        </p:txBody>
      </p:sp>
      <p:sp>
        <p:nvSpPr>
          <p:cNvPr id="1141" name="Google Shape;1141;p54"/>
          <p:cNvSpPr/>
          <p:nvPr/>
        </p:nvSpPr>
        <p:spPr>
          <a:xfrm>
            <a:off x="9276575" y="3798990"/>
            <a:ext cx="796500" cy="274200"/>
          </a:xfrm>
          <a:prstGeom prst="roundRect">
            <a:avLst>
              <a:gd fmla="val 22836"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Databricks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Apps</a:t>
            </a:r>
            <a:endParaRPr sz="900">
              <a:solidFill>
                <a:schemeClr val="accent2"/>
              </a:solidFill>
              <a:latin typeface="DM Sans SemiBold"/>
              <a:ea typeface="DM Sans SemiBold"/>
              <a:cs typeface="DM Sans SemiBold"/>
              <a:sym typeface="DM Sans SemiBold"/>
            </a:endParaRPr>
          </a:p>
        </p:txBody>
      </p:sp>
      <p:sp>
        <p:nvSpPr>
          <p:cNvPr id="1142" name="Google Shape;1142;p54"/>
          <p:cNvSpPr/>
          <p:nvPr/>
        </p:nvSpPr>
        <p:spPr>
          <a:xfrm>
            <a:off x="1989525" y="1721525"/>
            <a:ext cx="8226300" cy="4596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Automation and Orchestration</a:t>
            </a:r>
            <a:endParaRPr sz="1100">
              <a:solidFill>
                <a:schemeClr val="accent5"/>
              </a:solidFill>
              <a:latin typeface="DM Sans Medium"/>
              <a:ea typeface="DM Sans Medium"/>
              <a:cs typeface="DM Sans Medium"/>
              <a:sym typeface="DM Sans Medium"/>
            </a:endParaRPr>
          </a:p>
        </p:txBody>
      </p:sp>
      <p:sp>
        <p:nvSpPr>
          <p:cNvPr id="1143" name="Google Shape;1143;p54"/>
          <p:cNvSpPr/>
          <p:nvPr/>
        </p:nvSpPr>
        <p:spPr>
          <a:xfrm>
            <a:off x="5442734" y="1944562"/>
            <a:ext cx="740400" cy="186600"/>
          </a:xfrm>
          <a:prstGeom prst="roundRect">
            <a:avLst>
              <a:gd fmla="val 22186"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CI/CD tools</a:t>
            </a:r>
            <a:endParaRPr sz="900">
              <a:solidFill>
                <a:schemeClr val="accent2"/>
              </a:solidFill>
              <a:latin typeface="DM Sans SemiBold"/>
              <a:ea typeface="DM Sans SemiBold"/>
              <a:cs typeface="DM Sans SemiBold"/>
              <a:sym typeface="DM Sans SemiBold"/>
            </a:endParaRPr>
          </a:p>
        </p:txBody>
      </p:sp>
      <p:sp>
        <p:nvSpPr>
          <p:cNvPr id="1144" name="Google Shape;1144;p54"/>
          <p:cNvSpPr/>
          <p:nvPr/>
        </p:nvSpPr>
        <p:spPr>
          <a:xfrm>
            <a:off x="6254520" y="1941700"/>
            <a:ext cx="685500" cy="186600"/>
          </a:xfrm>
          <a:prstGeom prst="roundRect">
            <a:avLst>
              <a:gd fmla="val 22186"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DataOps</a:t>
            </a:r>
            <a:endParaRPr sz="900">
              <a:solidFill>
                <a:schemeClr val="accent2"/>
              </a:solidFill>
              <a:latin typeface="DM Sans SemiBold"/>
              <a:ea typeface="DM Sans SemiBold"/>
              <a:cs typeface="DM Sans SemiBold"/>
              <a:sym typeface="DM Sans SemiBold"/>
            </a:endParaRPr>
          </a:p>
        </p:txBody>
      </p:sp>
      <p:sp>
        <p:nvSpPr>
          <p:cNvPr id="1145" name="Google Shape;1145;p54"/>
          <p:cNvSpPr/>
          <p:nvPr/>
        </p:nvSpPr>
        <p:spPr>
          <a:xfrm>
            <a:off x="4491750" y="1944550"/>
            <a:ext cx="879600" cy="186600"/>
          </a:xfrm>
          <a:prstGeom prst="roundRect">
            <a:avLst>
              <a:gd fmla="val 22186"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Lakeflow Jobs</a:t>
            </a:r>
            <a:endParaRPr sz="900">
              <a:solidFill>
                <a:schemeClr val="accent2"/>
              </a:solidFill>
              <a:latin typeface="DM Sans SemiBold"/>
              <a:ea typeface="DM Sans SemiBold"/>
              <a:cs typeface="DM Sans SemiBold"/>
              <a:sym typeface="DM Sans SemiBold"/>
            </a:endParaRPr>
          </a:p>
        </p:txBody>
      </p:sp>
      <p:sp>
        <p:nvSpPr>
          <p:cNvPr id="1146" name="Google Shape;1146;p54"/>
          <p:cNvSpPr/>
          <p:nvPr/>
        </p:nvSpPr>
        <p:spPr>
          <a:xfrm>
            <a:off x="7011406" y="1941712"/>
            <a:ext cx="685800" cy="186600"/>
          </a:xfrm>
          <a:prstGeom prst="roundRect">
            <a:avLst>
              <a:gd fmla="val 22186"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MLOps</a:t>
            </a:r>
            <a:endParaRPr sz="900">
              <a:solidFill>
                <a:schemeClr val="accent2"/>
              </a:solidFill>
              <a:latin typeface="DM Sans SemiBold"/>
              <a:ea typeface="DM Sans SemiBold"/>
              <a:cs typeface="DM Sans SemiBold"/>
              <a:sym typeface="DM Sans SemiBold"/>
            </a:endParaRPr>
          </a:p>
        </p:txBody>
      </p:sp>
      <p:sp>
        <p:nvSpPr>
          <p:cNvPr id="1147" name="Google Shape;1147;p54"/>
          <p:cNvSpPr/>
          <p:nvPr/>
        </p:nvSpPr>
        <p:spPr>
          <a:xfrm>
            <a:off x="6687325" y="3574025"/>
            <a:ext cx="2370900" cy="5577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Operational DB</a:t>
            </a:r>
            <a:endParaRPr sz="1100">
              <a:solidFill>
                <a:schemeClr val="accent5"/>
              </a:solidFill>
              <a:latin typeface="DM Sans Medium"/>
              <a:ea typeface="DM Sans Medium"/>
              <a:cs typeface="DM Sans Medium"/>
              <a:sym typeface="DM Sans Medium"/>
            </a:endParaRPr>
          </a:p>
        </p:txBody>
      </p:sp>
      <p:sp>
        <p:nvSpPr>
          <p:cNvPr id="1148" name="Google Shape;1148;p54"/>
          <p:cNvSpPr/>
          <p:nvPr/>
        </p:nvSpPr>
        <p:spPr>
          <a:xfrm>
            <a:off x="7503750" y="3798990"/>
            <a:ext cx="685800" cy="274200"/>
          </a:xfrm>
          <a:prstGeom prst="roundRect">
            <a:avLst>
              <a:gd fmla="val 22186"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Lakebase</a:t>
            </a:r>
            <a:endParaRPr sz="900">
              <a:solidFill>
                <a:schemeClr val="accent2"/>
              </a:solidFill>
              <a:latin typeface="DM Sans SemiBold"/>
              <a:ea typeface="DM Sans SemiBold"/>
              <a:cs typeface="DM Sans SemiBold"/>
              <a:sym typeface="DM Sans SemiBold"/>
            </a:endParaRPr>
          </a:p>
        </p:txBody>
      </p:sp>
      <p:sp>
        <p:nvSpPr>
          <p:cNvPr id="1149" name="Google Shape;1149;p54"/>
          <p:cNvSpPr/>
          <p:nvPr/>
        </p:nvSpPr>
        <p:spPr>
          <a:xfrm>
            <a:off x="5718734" y="2582475"/>
            <a:ext cx="685500" cy="274200"/>
          </a:xfrm>
          <a:prstGeom prst="roundRect">
            <a:avLst>
              <a:gd fmla="val 17595"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Gen AI</a:t>
            </a:r>
            <a:endParaRPr sz="900">
              <a:solidFill>
                <a:srgbClr val="00A972"/>
              </a:solidFill>
              <a:latin typeface="DM Sans SemiBold"/>
              <a:ea typeface="DM Sans SemiBold"/>
              <a:cs typeface="DM Sans SemiBold"/>
              <a:sym typeface="DM Sans SemiBold"/>
            </a:endParaRPr>
          </a:p>
        </p:txBody>
      </p:sp>
      <p:sp>
        <p:nvSpPr>
          <p:cNvPr id="1150" name="Google Shape;1150;p54"/>
          <p:cNvSpPr/>
          <p:nvPr/>
        </p:nvSpPr>
        <p:spPr>
          <a:xfrm>
            <a:off x="4893050" y="2582475"/>
            <a:ext cx="761100" cy="274200"/>
          </a:xfrm>
          <a:prstGeom prst="roundRect">
            <a:avLst>
              <a:gd fmla="val 17595"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Traditional ML</a:t>
            </a:r>
            <a:endParaRPr sz="900">
              <a:solidFill>
                <a:schemeClr val="accent2"/>
              </a:solidFill>
              <a:latin typeface="DM Sans SemiBold"/>
              <a:ea typeface="DM Sans SemiBold"/>
              <a:cs typeface="DM Sans SemiBold"/>
              <a:sym typeface="DM Sans SemiBold"/>
            </a:endParaRPr>
          </a:p>
        </p:txBody>
      </p:sp>
      <p:sp>
        <p:nvSpPr>
          <p:cNvPr id="1151" name="Google Shape;1151;p54"/>
          <p:cNvSpPr/>
          <p:nvPr/>
        </p:nvSpPr>
        <p:spPr>
          <a:xfrm>
            <a:off x="3998451" y="3179562"/>
            <a:ext cx="983700" cy="274200"/>
          </a:xfrm>
          <a:prstGeom prst="roundRect">
            <a:avLst>
              <a:gd fmla="val 18115"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Lakeflow Declar- ative Pipelines</a:t>
            </a:r>
            <a:endParaRPr baseline="30000" sz="900">
              <a:solidFill>
                <a:schemeClr val="accent2"/>
              </a:solidFill>
              <a:latin typeface="DM Sans SemiBold"/>
              <a:ea typeface="DM Sans SemiBold"/>
              <a:cs typeface="DM Sans SemiBold"/>
              <a:sym typeface="DM Sans SemiBold"/>
            </a:endParaRPr>
          </a:p>
        </p:txBody>
      </p:sp>
      <p:sp>
        <p:nvSpPr>
          <p:cNvPr id="1152" name="Google Shape;1152;p54"/>
          <p:cNvSpPr/>
          <p:nvPr/>
        </p:nvSpPr>
        <p:spPr>
          <a:xfrm>
            <a:off x="5115450" y="3179550"/>
            <a:ext cx="761100" cy="274200"/>
          </a:xfrm>
          <a:prstGeom prst="roundRect">
            <a:avLst>
              <a:gd fmla="val 19944"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Spark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Photon</a:t>
            </a:r>
            <a:endParaRPr sz="900">
              <a:solidFill>
                <a:schemeClr val="accent2"/>
              </a:solidFill>
              <a:latin typeface="DM Sans SemiBold"/>
              <a:ea typeface="DM Sans SemiBold"/>
              <a:cs typeface="DM Sans SemiBold"/>
              <a:sym typeface="DM Sans SemiBold"/>
            </a:endParaRPr>
          </a:p>
        </p:txBody>
      </p:sp>
      <p:sp>
        <p:nvSpPr>
          <p:cNvPr id="1153" name="Google Shape;1153;p54"/>
          <p:cNvSpPr/>
          <p:nvPr/>
        </p:nvSpPr>
        <p:spPr>
          <a:xfrm>
            <a:off x="6473878" y="4423213"/>
            <a:ext cx="685800" cy="2742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Business Semantics</a:t>
            </a:r>
            <a:endParaRPr sz="900">
              <a:solidFill>
                <a:schemeClr val="accent2"/>
              </a:solidFill>
              <a:latin typeface="DM Sans SemiBold"/>
              <a:ea typeface="DM Sans SemiBold"/>
              <a:cs typeface="DM Sans SemiBold"/>
              <a:sym typeface="DM Sans SemiBold"/>
            </a:endParaRPr>
          </a:p>
        </p:txBody>
      </p:sp>
      <p:pic>
        <p:nvPicPr>
          <p:cNvPr id="1154" name="Google Shape;1154;p54"/>
          <p:cNvPicPr preferRelativeResize="0"/>
          <p:nvPr/>
        </p:nvPicPr>
        <p:blipFill>
          <a:blip r:embed="rId4">
            <a:alphaModFix/>
          </a:blip>
          <a:stretch>
            <a:fillRect/>
          </a:stretch>
        </p:blipFill>
        <p:spPr>
          <a:xfrm>
            <a:off x="8403950" y="5666965"/>
            <a:ext cx="191100" cy="160007"/>
          </a:xfrm>
          <a:prstGeom prst="rect">
            <a:avLst/>
          </a:prstGeom>
          <a:noFill/>
          <a:ln>
            <a:noFill/>
          </a:ln>
        </p:spPr>
      </p:pic>
      <p:sp>
        <p:nvSpPr>
          <p:cNvPr id="1155" name="Google Shape;1155;p54"/>
          <p:cNvSpPr/>
          <p:nvPr/>
        </p:nvSpPr>
        <p:spPr>
          <a:xfrm>
            <a:off x="10798400" y="6096162"/>
            <a:ext cx="589500" cy="123000"/>
          </a:xfrm>
          <a:prstGeom prst="roundRect">
            <a:avLst>
              <a:gd fmla="val 26238" name="adj"/>
            </a:avLst>
          </a:prstGeom>
          <a:solidFill>
            <a:schemeClr val="accent1"/>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rgbClr val="FFFFFF"/>
                </a:solidFill>
                <a:latin typeface="DM Sans"/>
                <a:ea typeface="DM Sans"/>
                <a:cs typeface="DM Sans"/>
                <a:sym typeface="DM Sans"/>
              </a:rPr>
              <a:t>Databricks</a:t>
            </a:r>
            <a:endParaRPr sz="800">
              <a:solidFill>
                <a:srgbClr val="FFFFFF"/>
              </a:solidFill>
              <a:latin typeface="DM Sans"/>
              <a:ea typeface="DM Sans"/>
              <a:cs typeface="DM Sans"/>
              <a:sym typeface="DM Sans"/>
            </a:endParaRPr>
          </a:p>
        </p:txBody>
      </p:sp>
      <p:sp>
        <p:nvSpPr>
          <p:cNvPr id="1156" name="Google Shape;1156;p54"/>
          <p:cNvSpPr/>
          <p:nvPr/>
        </p:nvSpPr>
        <p:spPr>
          <a:xfrm>
            <a:off x="10798400" y="5939500"/>
            <a:ext cx="589500" cy="123000"/>
          </a:xfrm>
          <a:prstGeom prst="roundRect">
            <a:avLst>
              <a:gd fmla="val 26238" name="adj"/>
            </a:avLst>
          </a:prstGeom>
          <a:solidFill>
            <a:srgbClr val="FFFFFF"/>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chemeClr val="accent5"/>
                </a:solidFill>
                <a:latin typeface="DM Sans Medium"/>
                <a:ea typeface="DM Sans Medium"/>
                <a:cs typeface="DM Sans Medium"/>
                <a:sym typeface="DM Sans Medium"/>
              </a:rPr>
              <a:t>3rd party</a:t>
            </a:r>
            <a:endParaRPr sz="800">
              <a:solidFill>
                <a:schemeClr val="accent5"/>
              </a:solidFill>
              <a:latin typeface="DM Sans Medium"/>
              <a:ea typeface="DM Sans Medium"/>
              <a:cs typeface="DM Sans Medium"/>
              <a:sym typeface="DM Sans Medium"/>
            </a:endParaRPr>
          </a:p>
        </p:txBody>
      </p:sp>
      <p:sp>
        <p:nvSpPr>
          <p:cNvPr id="1157" name="Google Shape;1157;p54"/>
          <p:cNvSpPr txBox="1"/>
          <p:nvPr/>
        </p:nvSpPr>
        <p:spPr>
          <a:xfrm>
            <a:off x="10512987" y="5927525"/>
            <a:ext cx="2679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dk1"/>
                </a:solidFill>
                <a:latin typeface="DM Sans Medium"/>
                <a:ea typeface="DM Sans Medium"/>
                <a:cs typeface="DM Sans Medium"/>
                <a:sym typeface="DM Sans Medium"/>
              </a:rPr>
              <a:t>Key:</a:t>
            </a:r>
            <a:endParaRPr sz="1000">
              <a:solidFill>
                <a:schemeClr val="dk1"/>
              </a:solidFill>
              <a:latin typeface="DM Sans Medium"/>
              <a:ea typeface="DM Sans Medium"/>
              <a:cs typeface="DM Sans Medium"/>
              <a:sym typeface="DM Sans Medium"/>
            </a:endParaRPr>
          </a:p>
        </p:txBody>
      </p:sp>
      <p:grpSp>
        <p:nvGrpSpPr>
          <p:cNvPr id="1158" name="Google Shape;1158;p54"/>
          <p:cNvGrpSpPr/>
          <p:nvPr/>
        </p:nvGrpSpPr>
        <p:grpSpPr>
          <a:xfrm>
            <a:off x="8383469" y="4487242"/>
            <a:ext cx="399000" cy="387451"/>
            <a:chOff x="8447042" y="4765999"/>
            <a:chExt cx="399000" cy="387451"/>
          </a:xfrm>
        </p:grpSpPr>
        <p:sp>
          <p:nvSpPr>
            <p:cNvPr id="1159" name="Google Shape;1159;p54"/>
            <p:cNvSpPr txBox="1"/>
            <p:nvPr/>
          </p:nvSpPr>
          <p:spPr>
            <a:xfrm>
              <a:off x="8447042" y="4999550"/>
              <a:ext cx="399000" cy="1539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rgbClr val="000000"/>
                </a:buClr>
                <a:buSzPts val="1000"/>
                <a:buFont typeface="Arial"/>
                <a:buNone/>
              </a:pPr>
              <a:r>
                <a:rPr lang="en" sz="900">
                  <a:solidFill>
                    <a:schemeClr val="accent1"/>
                  </a:solidFill>
                  <a:latin typeface="DM Sans Medium"/>
                  <a:ea typeface="DM Sans Medium"/>
                  <a:cs typeface="DM Sans Medium"/>
                  <a:sym typeface="DM Sans Medium"/>
                </a:rPr>
                <a:t>SQL DB</a:t>
              </a:r>
              <a:endParaRPr sz="900">
                <a:solidFill>
                  <a:schemeClr val="accent1"/>
                </a:solidFill>
                <a:latin typeface="DM Sans Medium"/>
                <a:ea typeface="DM Sans Medium"/>
                <a:cs typeface="DM Sans Medium"/>
                <a:sym typeface="DM Sans Medium"/>
              </a:endParaRPr>
            </a:p>
          </p:txBody>
        </p:sp>
        <p:pic>
          <p:nvPicPr>
            <p:cNvPr id="1160" name="Google Shape;1160;p54"/>
            <p:cNvPicPr preferRelativeResize="0"/>
            <p:nvPr/>
          </p:nvPicPr>
          <p:blipFill>
            <a:blip r:embed="rId16">
              <a:alphaModFix/>
            </a:blip>
            <a:stretch>
              <a:fillRect/>
            </a:stretch>
          </p:blipFill>
          <p:spPr>
            <a:xfrm>
              <a:off x="8543023" y="4765999"/>
              <a:ext cx="207100" cy="207100"/>
            </a:xfrm>
            <a:prstGeom prst="rect">
              <a:avLst/>
            </a:prstGeom>
            <a:noFill/>
            <a:ln>
              <a:noFill/>
            </a:ln>
          </p:spPr>
        </p:pic>
      </p:grpSp>
      <p:grpSp>
        <p:nvGrpSpPr>
          <p:cNvPr id="1161" name="Google Shape;1161;p54"/>
          <p:cNvGrpSpPr/>
          <p:nvPr/>
        </p:nvGrpSpPr>
        <p:grpSpPr>
          <a:xfrm>
            <a:off x="8298869" y="4909282"/>
            <a:ext cx="568200" cy="528065"/>
            <a:chOff x="8732600" y="4747774"/>
            <a:chExt cx="568200" cy="528065"/>
          </a:xfrm>
        </p:grpSpPr>
        <p:sp>
          <p:nvSpPr>
            <p:cNvPr id="1162" name="Google Shape;1162;p54"/>
            <p:cNvSpPr txBox="1"/>
            <p:nvPr/>
          </p:nvSpPr>
          <p:spPr>
            <a:xfrm>
              <a:off x="8732600" y="4995339"/>
              <a:ext cx="568200" cy="280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chemeClr val="accent1"/>
                  </a:solidFill>
                  <a:latin typeface="DM Sans Medium"/>
                  <a:ea typeface="DM Sans Medium"/>
                  <a:cs typeface="DM Sans Medium"/>
                  <a:sym typeface="DM Sans Medium"/>
                </a:rPr>
                <a:t>Cosmos </a:t>
              </a:r>
              <a:br>
                <a:rPr i="0" lang="en" sz="900" u="none" cap="none" strike="noStrike">
                  <a:solidFill>
                    <a:schemeClr val="accent1"/>
                  </a:solidFill>
                  <a:latin typeface="DM Sans Medium"/>
                  <a:ea typeface="DM Sans Medium"/>
                  <a:cs typeface="DM Sans Medium"/>
                  <a:sym typeface="DM Sans Medium"/>
                </a:rPr>
              </a:br>
              <a:r>
                <a:rPr i="0" lang="en" sz="900" u="none" cap="none" strike="noStrike">
                  <a:solidFill>
                    <a:schemeClr val="accent1"/>
                  </a:solidFill>
                  <a:latin typeface="DM Sans Medium"/>
                  <a:ea typeface="DM Sans Medium"/>
                  <a:cs typeface="DM Sans Medium"/>
                  <a:sym typeface="DM Sans Medium"/>
                </a:rPr>
                <a:t>DB</a:t>
              </a:r>
              <a:endParaRPr i="0" sz="900" u="none" cap="none" strike="noStrike">
                <a:solidFill>
                  <a:schemeClr val="accent1"/>
                </a:solidFill>
                <a:latin typeface="DM Sans Medium"/>
                <a:ea typeface="DM Sans Medium"/>
                <a:cs typeface="DM Sans Medium"/>
                <a:sym typeface="DM Sans Medium"/>
              </a:endParaRPr>
            </a:p>
          </p:txBody>
        </p:sp>
        <p:pic>
          <p:nvPicPr>
            <p:cNvPr id="1163" name="Google Shape;1163;p54"/>
            <p:cNvPicPr preferRelativeResize="0"/>
            <p:nvPr/>
          </p:nvPicPr>
          <p:blipFill>
            <a:blip r:embed="rId17">
              <a:alphaModFix/>
            </a:blip>
            <a:stretch>
              <a:fillRect/>
            </a:stretch>
          </p:blipFill>
          <p:spPr>
            <a:xfrm>
              <a:off x="8909919" y="4747774"/>
              <a:ext cx="243550" cy="243550"/>
            </a:xfrm>
            <a:prstGeom prst="rect">
              <a:avLst/>
            </a:prstGeom>
            <a:noFill/>
            <a:ln>
              <a:noFill/>
            </a:ln>
          </p:spPr>
        </p:pic>
      </p:grpSp>
      <p:grpSp>
        <p:nvGrpSpPr>
          <p:cNvPr id="1164" name="Google Shape;1164;p54"/>
          <p:cNvGrpSpPr/>
          <p:nvPr/>
        </p:nvGrpSpPr>
        <p:grpSpPr>
          <a:xfrm>
            <a:off x="4276866" y="5713607"/>
            <a:ext cx="1044000" cy="367351"/>
            <a:chOff x="4276866" y="5713607"/>
            <a:chExt cx="1044000" cy="367351"/>
          </a:xfrm>
        </p:grpSpPr>
        <p:sp>
          <p:nvSpPr>
            <p:cNvPr id="1165" name="Google Shape;1165;p54"/>
            <p:cNvSpPr/>
            <p:nvPr/>
          </p:nvSpPr>
          <p:spPr>
            <a:xfrm>
              <a:off x="4276866" y="5863458"/>
              <a:ext cx="1044000" cy="217500"/>
            </a:xfrm>
            <a:prstGeom prst="rect">
              <a:avLst/>
            </a:prstGeom>
            <a:noFill/>
            <a:ln>
              <a:noFill/>
            </a:ln>
          </p:spPr>
          <p:txBody>
            <a:bodyPr anchorCtr="0" anchor="t" bIns="44800" lIns="89625" spcFirstLastPara="1" rIns="89625" wrap="square" tIns="44800">
              <a:noAutofit/>
            </a:bodyPr>
            <a:lstStyle/>
            <a:p>
              <a:pPr indent="0" lvl="0" marL="0" marR="0" rtl="0" algn="ctr">
                <a:lnSpc>
                  <a:spcPct val="100000"/>
                </a:lnSpc>
                <a:spcBef>
                  <a:spcPts val="0"/>
                </a:spcBef>
                <a:spcAft>
                  <a:spcPts val="0"/>
                </a:spcAft>
                <a:buNone/>
              </a:pPr>
              <a:r>
                <a:rPr lang="en" sz="900">
                  <a:solidFill>
                    <a:schemeClr val="accent1"/>
                  </a:solidFill>
                  <a:latin typeface="DM Sans Medium"/>
                  <a:ea typeface="DM Sans Medium"/>
                  <a:cs typeface="DM Sans Medium"/>
                  <a:sym typeface="DM Sans Medium"/>
                </a:rPr>
                <a:t>ADLS Gen 2</a:t>
              </a:r>
              <a:endParaRPr sz="900">
                <a:solidFill>
                  <a:schemeClr val="accent1"/>
                </a:solidFill>
                <a:latin typeface="DM Sans Medium"/>
                <a:ea typeface="DM Sans Medium"/>
                <a:cs typeface="DM Sans Medium"/>
                <a:sym typeface="DM Sans Medium"/>
              </a:endParaRPr>
            </a:p>
          </p:txBody>
        </p:sp>
        <p:pic>
          <p:nvPicPr>
            <p:cNvPr id="1166" name="Google Shape;1166;p54"/>
            <p:cNvPicPr preferRelativeResize="0"/>
            <p:nvPr/>
          </p:nvPicPr>
          <p:blipFill>
            <a:blip r:embed="rId18">
              <a:alphaModFix/>
            </a:blip>
            <a:stretch>
              <a:fillRect/>
            </a:stretch>
          </p:blipFill>
          <p:spPr>
            <a:xfrm>
              <a:off x="4687563" y="5713607"/>
              <a:ext cx="201168" cy="201168"/>
            </a:xfrm>
            <a:prstGeom prst="rect">
              <a:avLst/>
            </a:prstGeom>
            <a:noFill/>
            <a:ln>
              <a:noFill/>
            </a:ln>
          </p:spPr>
        </p:pic>
      </p:grpSp>
      <p:grpSp>
        <p:nvGrpSpPr>
          <p:cNvPr id="1167" name="Google Shape;1167;p54"/>
          <p:cNvGrpSpPr/>
          <p:nvPr/>
        </p:nvGrpSpPr>
        <p:grpSpPr>
          <a:xfrm>
            <a:off x="10693553" y="3974261"/>
            <a:ext cx="652029" cy="372600"/>
            <a:chOff x="10693553" y="3974261"/>
            <a:chExt cx="652029" cy="372600"/>
          </a:xfrm>
        </p:grpSpPr>
        <p:grpSp>
          <p:nvGrpSpPr>
            <p:cNvPr id="1168" name="Google Shape;1168;p54"/>
            <p:cNvGrpSpPr/>
            <p:nvPr/>
          </p:nvGrpSpPr>
          <p:grpSpPr>
            <a:xfrm>
              <a:off x="10693553" y="4208261"/>
              <a:ext cx="652029" cy="138600"/>
              <a:chOff x="11311901" y="4867940"/>
              <a:chExt cx="652029" cy="138600"/>
            </a:xfrm>
          </p:grpSpPr>
          <p:sp>
            <p:nvSpPr>
              <p:cNvPr id="1169" name="Google Shape;1169;p54"/>
              <p:cNvSpPr txBox="1"/>
              <p:nvPr/>
            </p:nvSpPr>
            <p:spPr>
              <a:xfrm>
                <a:off x="11414931" y="4867940"/>
                <a:ext cx="5490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OpenAI</a:t>
                </a:r>
                <a:endParaRPr sz="900">
                  <a:solidFill>
                    <a:schemeClr val="accent1"/>
                  </a:solidFill>
                  <a:latin typeface="DM Sans Medium"/>
                  <a:ea typeface="DM Sans Medium"/>
                  <a:cs typeface="DM Sans Medium"/>
                  <a:sym typeface="DM Sans Medium"/>
                </a:endParaRPr>
              </a:p>
            </p:txBody>
          </p:sp>
          <p:pic>
            <p:nvPicPr>
              <p:cNvPr id="1170" name="Google Shape;1170;p54"/>
              <p:cNvPicPr preferRelativeResize="0"/>
              <p:nvPr/>
            </p:nvPicPr>
            <p:blipFill rotWithShape="1">
              <a:blip r:embed="rId19">
                <a:alphaModFix/>
              </a:blip>
              <a:srcRect b="14720" l="60042" r="6246" t="20487"/>
              <a:stretch/>
            </p:blipFill>
            <p:spPr>
              <a:xfrm>
                <a:off x="11311901" y="4872074"/>
                <a:ext cx="132301" cy="123548"/>
              </a:xfrm>
              <a:prstGeom prst="rect">
                <a:avLst/>
              </a:prstGeom>
              <a:noFill/>
              <a:ln>
                <a:noFill/>
              </a:ln>
            </p:spPr>
          </p:pic>
        </p:grpSp>
        <p:pic>
          <p:nvPicPr>
            <p:cNvPr id="1171" name="Google Shape;1171;p54"/>
            <p:cNvPicPr preferRelativeResize="0"/>
            <p:nvPr/>
          </p:nvPicPr>
          <p:blipFill>
            <a:blip r:embed="rId20">
              <a:alphaModFix/>
            </a:blip>
            <a:stretch>
              <a:fillRect/>
            </a:stretch>
          </p:blipFill>
          <p:spPr>
            <a:xfrm>
              <a:off x="10905915" y="3974261"/>
              <a:ext cx="214500" cy="217452"/>
            </a:xfrm>
            <a:prstGeom prst="rect">
              <a:avLst/>
            </a:prstGeom>
            <a:noFill/>
            <a:ln>
              <a:noFill/>
            </a:ln>
          </p:spPr>
        </p:pic>
      </p:grpSp>
      <p:grpSp>
        <p:nvGrpSpPr>
          <p:cNvPr id="1172" name="Google Shape;1172;p54"/>
          <p:cNvGrpSpPr/>
          <p:nvPr/>
        </p:nvGrpSpPr>
        <p:grpSpPr>
          <a:xfrm>
            <a:off x="10702027" y="1649700"/>
            <a:ext cx="635100" cy="411223"/>
            <a:chOff x="10702027" y="1649700"/>
            <a:chExt cx="635100" cy="411223"/>
          </a:xfrm>
        </p:grpSpPr>
        <p:sp>
          <p:nvSpPr>
            <p:cNvPr id="1173" name="Google Shape;1173;p54"/>
            <p:cNvSpPr txBox="1"/>
            <p:nvPr/>
          </p:nvSpPr>
          <p:spPr>
            <a:xfrm>
              <a:off x="10702027" y="1922323"/>
              <a:ext cx="6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Entra ID</a:t>
              </a:r>
              <a:endParaRPr sz="900">
                <a:solidFill>
                  <a:srgbClr val="1B5162"/>
                </a:solidFill>
                <a:latin typeface="DM Sans Medium"/>
                <a:ea typeface="DM Sans Medium"/>
                <a:cs typeface="DM Sans Medium"/>
                <a:sym typeface="DM Sans Medium"/>
              </a:endParaRPr>
            </a:p>
          </p:txBody>
        </p:sp>
        <p:pic>
          <p:nvPicPr>
            <p:cNvPr id="1174" name="Google Shape;1174;p54"/>
            <p:cNvPicPr preferRelativeResize="0"/>
            <p:nvPr/>
          </p:nvPicPr>
          <p:blipFill>
            <a:blip r:embed="rId21">
              <a:alphaModFix/>
            </a:blip>
            <a:stretch>
              <a:fillRect/>
            </a:stretch>
          </p:blipFill>
          <p:spPr>
            <a:xfrm>
              <a:off x="10874377" y="1649700"/>
              <a:ext cx="246888" cy="246888"/>
            </a:xfrm>
            <a:prstGeom prst="rect">
              <a:avLst/>
            </a:prstGeom>
            <a:noFill/>
            <a:ln>
              <a:noFill/>
            </a:ln>
          </p:spPr>
        </p:pic>
      </p:grpSp>
      <p:grpSp>
        <p:nvGrpSpPr>
          <p:cNvPr id="1175" name="Google Shape;1175;p54"/>
          <p:cNvGrpSpPr/>
          <p:nvPr/>
        </p:nvGrpSpPr>
        <p:grpSpPr>
          <a:xfrm>
            <a:off x="9141595" y="4477406"/>
            <a:ext cx="1085100" cy="350737"/>
            <a:chOff x="9141595" y="3844831"/>
            <a:chExt cx="1085100" cy="350737"/>
          </a:xfrm>
        </p:grpSpPr>
        <p:sp>
          <p:nvSpPr>
            <p:cNvPr id="1176" name="Google Shape;1176;p54"/>
            <p:cNvSpPr txBox="1"/>
            <p:nvPr/>
          </p:nvSpPr>
          <p:spPr>
            <a:xfrm>
              <a:off x="9141595" y="4056968"/>
              <a:ext cx="108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Power BI+Copilot</a:t>
              </a:r>
              <a:endParaRPr sz="900">
                <a:solidFill>
                  <a:schemeClr val="accent1"/>
                </a:solidFill>
                <a:latin typeface="DM Sans Medium"/>
                <a:ea typeface="DM Sans Medium"/>
                <a:cs typeface="DM Sans Medium"/>
                <a:sym typeface="DM Sans Medium"/>
              </a:endParaRPr>
            </a:p>
          </p:txBody>
        </p:sp>
        <p:pic>
          <p:nvPicPr>
            <p:cNvPr id="1177" name="Google Shape;1177;p54"/>
            <p:cNvPicPr preferRelativeResize="0"/>
            <p:nvPr/>
          </p:nvPicPr>
          <p:blipFill>
            <a:blip r:embed="rId22">
              <a:alphaModFix/>
            </a:blip>
            <a:stretch>
              <a:fillRect/>
            </a:stretch>
          </p:blipFill>
          <p:spPr>
            <a:xfrm>
              <a:off x="9449366" y="3844831"/>
              <a:ext cx="201168" cy="201168"/>
            </a:xfrm>
            <a:prstGeom prst="rect">
              <a:avLst/>
            </a:prstGeom>
            <a:noFill/>
            <a:ln>
              <a:noFill/>
            </a:ln>
          </p:spPr>
        </p:pic>
        <p:pic>
          <p:nvPicPr>
            <p:cNvPr id="1178" name="Google Shape;1178;p54"/>
            <p:cNvPicPr preferRelativeResize="0"/>
            <p:nvPr/>
          </p:nvPicPr>
          <p:blipFill rotWithShape="1">
            <a:blip r:embed="rId23">
              <a:alphaModFix/>
            </a:blip>
            <a:srcRect b="35326" l="2508" r="73435" t="30828"/>
            <a:stretch/>
          </p:blipFill>
          <p:spPr>
            <a:xfrm>
              <a:off x="9745503" y="3852094"/>
              <a:ext cx="201168" cy="201168"/>
            </a:xfrm>
            <a:prstGeom prst="rect">
              <a:avLst/>
            </a:prstGeom>
            <a:noFill/>
            <a:ln>
              <a:noFill/>
            </a:ln>
          </p:spPr>
        </p:pic>
      </p:grpSp>
      <p:grpSp>
        <p:nvGrpSpPr>
          <p:cNvPr id="1179" name="Google Shape;1179;p54"/>
          <p:cNvGrpSpPr/>
          <p:nvPr/>
        </p:nvGrpSpPr>
        <p:grpSpPr>
          <a:xfrm>
            <a:off x="1920237" y="3963164"/>
            <a:ext cx="626100" cy="336179"/>
            <a:chOff x="1878100" y="3947841"/>
            <a:chExt cx="626100" cy="336179"/>
          </a:xfrm>
        </p:grpSpPr>
        <p:sp>
          <p:nvSpPr>
            <p:cNvPr id="1180" name="Google Shape;1180;p54"/>
            <p:cNvSpPr/>
            <p:nvPr/>
          </p:nvSpPr>
          <p:spPr>
            <a:xfrm>
              <a:off x="1878100" y="4161020"/>
              <a:ext cx="626100" cy="123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IoT Hub</a:t>
              </a:r>
              <a:endParaRPr sz="900">
                <a:solidFill>
                  <a:schemeClr val="accent1"/>
                </a:solidFill>
                <a:latin typeface="DM Sans Medium"/>
                <a:ea typeface="DM Sans Medium"/>
                <a:cs typeface="DM Sans Medium"/>
                <a:sym typeface="DM Sans Medium"/>
              </a:endParaRPr>
            </a:p>
          </p:txBody>
        </p:sp>
        <p:pic>
          <p:nvPicPr>
            <p:cNvPr id="1181" name="Google Shape;1181;p54"/>
            <p:cNvPicPr preferRelativeResize="0"/>
            <p:nvPr/>
          </p:nvPicPr>
          <p:blipFill>
            <a:blip r:embed="rId24">
              <a:alphaModFix/>
            </a:blip>
            <a:stretch>
              <a:fillRect/>
            </a:stretch>
          </p:blipFill>
          <p:spPr>
            <a:xfrm>
              <a:off x="2087595" y="3947841"/>
              <a:ext cx="201168" cy="201168"/>
            </a:xfrm>
            <a:prstGeom prst="rect">
              <a:avLst/>
            </a:prstGeom>
            <a:noFill/>
            <a:ln>
              <a:noFill/>
            </a:ln>
          </p:spPr>
        </p:pic>
      </p:grpSp>
      <p:grpSp>
        <p:nvGrpSpPr>
          <p:cNvPr id="1182" name="Google Shape;1182;p54"/>
          <p:cNvGrpSpPr/>
          <p:nvPr/>
        </p:nvGrpSpPr>
        <p:grpSpPr>
          <a:xfrm>
            <a:off x="2429675" y="3963164"/>
            <a:ext cx="664800" cy="336162"/>
            <a:chOff x="2429675" y="3947841"/>
            <a:chExt cx="664800" cy="336162"/>
          </a:xfrm>
        </p:grpSpPr>
        <p:sp>
          <p:nvSpPr>
            <p:cNvPr id="1183" name="Google Shape;1183;p54"/>
            <p:cNvSpPr/>
            <p:nvPr/>
          </p:nvSpPr>
          <p:spPr>
            <a:xfrm>
              <a:off x="2429675" y="4161003"/>
              <a:ext cx="664800" cy="123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Event Hub</a:t>
              </a:r>
              <a:endParaRPr sz="900">
                <a:solidFill>
                  <a:schemeClr val="accent1"/>
                </a:solidFill>
                <a:latin typeface="DM Sans Medium"/>
                <a:ea typeface="DM Sans Medium"/>
                <a:cs typeface="DM Sans Medium"/>
                <a:sym typeface="DM Sans Medium"/>
              </a:endParaRPr>
            </a:p>
          </p:txBody>
        </p:sp>
        <p:pic>
          <p:nvPicPr>
            <p:cNvPr id="1184" name="Google Shape;1184;p54"/>
            <p:cNvPicPr preferRelativeResize="0"/>
            <p:nvPr/>
          </p:nvPicPr>
          <p:blipFill>
            <a:blip r:embed="rId25">
              <a:alphaModFix/>
            </a:blip>
            <a:stretch>
              <a:fillRect/>
            </a:stretch>
          </p:blipFill>
          <p:spPr>
            <a:xfrm>
              <a:off x="2661491" y="3947841"/>
              <a:ext cx="201168" cy="201168"/>
            </a:xfrm>
            <a:prstGeom prst="rect">
              <a:avLst/>
            </a:prstGeom>
            <a:noFill/>
            <a:ln>
              <a:noFill/>
            </a:ln>
          </p:spPr>
        </p:pic>
      </p:grpSp>
      <p:grpSp>
        <p:nvGrpSpPr>
          <p:cNvPr id="1185" name="Google Shape;1185;p54"/>
          <p:cNvGrpSpPr/>
          <p:nvPr/>
        </p:nvGrpSpPr>
        <p:grpSpPr>
          <a:xfrm>
            <a:off x="1980537" y="4351120"/>
            <a:ext cx="505500" cy="572377"/>
            <a:chOff x="1965199" y="4294073"/>
            <a:chExt cx="505500" cy="572377"/>
          </a:xfrm>
        </p:grpSpPr>
        <p:pic>
          <p:nvPicPr>
            <p:cNvPr id="1186" name="Google Shape;1186;p54"/>
            <p:cNvPicPr preferRelativeResize="0"/>
            <p:nvPr/>
          </p:nvPicPr>
          <p:blipFill>
            <a:blip r:embed="rId26">
              <a:alphaModFix/>
            </a:blip>
            <a:stretch>
              <a:fillRect/>
            </a:stretch>
          </p:blipFill>
          <p:spPr>
            <a:xfrm>
              <a:off x="2108458" y="4294073"/>
              <a:ext cx="201168" cy="201168"/>
            </a:xfrm>
            <a:prstGeom prst="rect">
              <a:avLst/>
            </a:prstGeom>
            <a:noFill/>
            <a:ln>
              <a:noFill/>
            </a:ln>
          </p:spPr>
        </p:pic>
        <p:sp>
          <p:nvSpPr>
            <p:cNvPr id="1187" name="Google Shape;1187;p54"/>
            <p:cNvSpPr txBox="1"/>
            <p:nvPr/>
          </p:nvSpPr>
          <p:spPr>
            <a:xfrm>
              <a:off x="1965199" y="4513050"/>
              <a:ext cx="505500" cy="353400"/>
            </a:xfrm>
            <a:prstGeom prst="rect">
              <a:avLst/>
            </a:prstGeom>
            <a:noFill/>
            <a:ln>
              <a:noFill/>
            </a:ln>
          </p:spPr>
          <p:txBody>
            <a:bodyPr anchorCtr="0" anchor="t" bIns="0" lIns="0" spcFirstLastPara="1" rIns="0" wrap="square" tIns="0">
              <a:spAutoFit/>
            </a:bodyPr>
            <a:lstStyle/>
            <a:p>
              <a:pPr indent="0" lvl="0" marL="0" rtl="0" algn="ctr">
                <a:lnSpc>
                  <a:spcPct val="85000"/>
                </a:lnSpc>
                <a:spcBef>
                  <a:spcPts val="0"/>
                </a:spcBef>
                <a:spcAft>
                  <a:spcPts val="0"/>
                </a:spcAft>
                <a:buNone/>
              </a:pPr>
              <a:r>
                <a:rPr lang="en" sz="900">
                  <a:solidFill>
                    <a:schemeClr val="accent1"/>
                  </a:solidFill>
                  <a:latin typeface="DM Sans Medium"/>
                  <a:ea typeface="DM Sans Medium"/>
                  <a:cs typeface="DM Sans Medium"/>
                  <a:sym typeface="DM Sans Medium"/>
                </a:rPr>
                <a:t>Azure </a:t>
              </a:r>
              <a:br>
                <a:rPr lang="en" sz="900">
                  <a:solidFill>
                    <a:schemeClr val="accent1"/>
                  </a:solidFill>
                  <a:latin typeface="DM Sans Medium"/>
                  <a:ea typeface="DM Sans Medium"/>
                  <a:cs typeface="DM Sans Medium"/>
                  <a:sym typeface="DM Sans Medium"/>
                </a:rPr>
              </a:br>
              <a:r>
                <a:rPr lang="en" sz="900">
                  <a:solidFill>
                    <a:schemeClr val="accent1"/>
                  </a:solidFill>
                  <a:latin typeface="DM Sans Medium"/>
                  <a:ea typeface="DM Sans Medium"/>
                  <a:cs typeface="DM Sans Medium"/>
                  <a:sym typeface="DM Sans Medium"/>
                </a:rPr>
                <a:t>Data Factory</a:t>
              </a:r>
              <a:endParaRPr sz="900">
                <a:solidFill>
                  <a:schemeClr val="accent1"/>
                </a:solidFill>
                <a:latin typeface="DM Sans Medium"/>
                <a:ea typeface="DM Sans Medium"/>
                <a:cs typeface="DM Sans Medium"/>
                <a:sym typeface="DM Sans Medium"/>
              </a:endParaRPr>
            </a:p>
          </p:txBody>
        </p:sp>
      </p:grpSp>
      <p:grpSp>
        <p:nvGrpSpPr>
          <p:cNvPr id="1188" name="Google Shape;1188;p54"/>
          <p:cNvGrpSpPr/>
          <p:nvPr/>
        </p:nvGrpSpPr>
        <p:grpSpPr>
          <a:xfrm>
            <a:off x="2524175" y="4356769"/>
            <a:ext cx="475800" cy="566728"/>
            <a:chOff x="2547225" y="4299722"/>
            <a:chExt cx="475800" cy="566728"/>
          </a:xfrm>
        </p:grpSpPr>
        <p:pic>
          <p:nvPicPr>
            <p:cNvPr id="1189" name="Google Shape;1189;p54"/>
            <p:cNvPicPr preferRelativeResize="0"/>
            <p:nvPr/>
          </p:nvPicPr>
          <p:blipFill>
            <a:blip r:embed="rId27">
              <a:alphaModFix/>
            </a:blip>
            <a:stretch>
              <a:fillRect/>
            </a:stretch>
          </p:blipFill>
          <p:spPr>
            <a:xfrm>
              <a:off x="2675542" y="4299722"/>
              <a:ext cx="201169" cy="201168"/>
            </a:xfrm>
            <a:prstGeom prst="rect">
              <a:avLst/>
            </a:prstGeom>
            <a:noFill/>
            <a:ln>
              <a:noFill/>
            </a:ln>
          </p:spPr>
        </p:pic>
        <p:sp>
          <p:nvSpPr>
            <p:cNvPr id="1190" name="Google Shape;1190;p54"/>
            <p:cNvSpPr txBox="1"/>
            <p:nvPr/>
          </p:nvSpPr>
          <p:spPr>
            <a:xfrm>
              <a:off x="2547225" y="4513050"/>
              <a:ext cx="475800" cy="353400"/>
            </a:xfrm>
            <a:prstGeom prst="rect">
              <a:avLst/>
            </a:prstGeom>
            <a:noFill/>
            <a:ln>
              <a:noFill/>
            </a:ln>
          </p:spPr>
          <p:txBody>
            <a:bodyPr anchorCtr="0" anchor="t" bIns="0" lIns="0" spcFirstLastPara="1" rIns="0" wrap="square" tIns="0">
              <a:spAutoFit/>
            </a:bodyPr>
            <a:lstStyle/>
            <a:p>
              <a:pPr indent="0" lvl="0" marL="0" rtl="0" algn="ctr">
                <a:lnSpc>
                  <a:spcPct val="85000"/>
                </a:lnSpc>
                <a:spcBef>
                  <a:spcPts val="0"/>
                </a:spcBef>
                <a:spcAft>
                  <a:spcPts val="0"/>
                </a:spcAft>
                <a:buNone/>
              </a:pPr>
              <a:r>
                <a:rPr lang="en" sz="900">
                  <a:solidFill>
                    <a:schemeClr val="accent1"/>
                  </a:solidFill>
                  <a:latin typeface="DM Sans Medium"/>
                  <a:ea typeface="DM Sans Medium"/>
                  <a:cs typeface="DM Sans Medium"/>
                  <a:sym typeface="DM Sans Medium"/>
                </a:rPr>
                <a:t>Fabric </a:t>
              </a:r>
              <a:br>
                <a:rPr lang="en" sz="900">
                  <a:solidFill>
                    <a:schemeClr val="accent1"/>
                  </a:solidFill>
                  <a:latin typeface="DM Sans Medium"/>
                  <a:ea typeface="DM Sans Medium"/>
                  <a:cs typeface="DM Sans Medium"/>
                  <a:sym typeface="DM Sans Medium"/>
                </a:rPr>
              </a:br>
              <a:r>
                <a:rPr lang="en" sz="900">
                  <a:solidFill>
                    <a:schemeClr val="accent1"/>
                  </a:solidFill>
                  <a:latin typeface="DM Sans Medium"/>
                  <a:ea typeface="DM Sans Medium"/>
                  <a:cs typeface="DM Sans Medium"/>
                  <a:sym typeface="DM Sans Medium"/>
                </a:rPr>
                <a:t>Data Factory</a:t>
              </a:r>
              <a:endParaRPr sz="900">
                <a:solidFill>
                  <a:schemeClr val="accent1"/>
                </a:solidFill>
                <a:latin typeface="DM Sans Medium"/>
                <a:ea typeface="DM Sans Medium"/>
                <a:cs typeface="DM Sans Medium"/>
                <a:sym typeface="DM Sans Medium"/>
              </a:endParaRPr>
            </a:p>
          </p:txBody>
        </p:sp>
      </p:grpSp>
      <p:grpSp>
        <p:nvGrpSpPr>
          <p:cNvPr id="1191" name="Google Shape;1191;p54"/>
          <p:cNvGrpSpPr/>
          <p:nvPr/>
        </p:nvGrpSpPr>
        <p:grpSpPr>
          <a:xfrm>
            <a:off x="829250" y="4322962"/>
            <a:ext cx="568200" cy="362139"/>
            <a:chOff x="725080" y="5082323"/>
            <a:chExt cx="568200" cy="362139"/>
          </a:xfrm>
        </p:grpSpPr>
        <p:sp>
          <p:nvSpPr>
            <p:cNvPr id="1192" name="Google Shape;1192;p54"/>
            <p:cNvSpPr txBox="1"/>
            <p:nvPr/>
          </p:nvSpPr>
          <p:spPr>
            <a:xfrm>
              <a:off x="725080" y="5198162"/>
              <a:ext cx="568200" cy="246300"/>
            </a:xfrm>
            <a:prstGeom prst="rect">
              <a:avLst/>
            </a:prstGeom>
            <a:noFill/>
            <a:ln>
              <a:noFill/>
            </a:ln>
          </p:spPr>
          <p:txBody>
            <a:bodyPr anchorCtr="0" anchor="t"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Synapse</a:t>
              </a:r>
              <a:endParaRPr sz="900">
                <a:solidFill>
                  <a:schemeClr val="accent1"/>
                </a:solidFill>
                <a:latin typeface="DM Sans Medium"/>
                <a:ea typeface="DM Sans Medium"/>
                <a:cs typeface="DM Sans Medium"/>
                <a:sym typeface="DM Sans Medium"/>
              </a:endParaRPr>
            </a:p>
          </p:txBody>
        </p:sp>
        <p:pic>
          <p:nvPicPr>
            <p:cNvPr id="1193" name="Google Shape;1193;p54"/>
            <p:cNvPicPr preferRelativeResize="0"/>
            <p:nvPr/>
          </p:nvPicPr>
          <p:blipFill>
            <a:blip r:embed="rId28">
              <a:alphaModFix/>
            </a:blip>
            <a:stretch>
              <a:fillRect/>
            </a:stretch>
          </p:blipFill>
          <p:spPr>
            <a:xfrm>
              <a:off x="901939" y="5082323"/>
              <a:ext cx="201168" cy="201168"/>
            </a:xfrm>
            <a:prstGeom prst="rect">
              <a:avLst/>
            </a:prstGeom>
            <a:noFill/>
            <a:ln>
              <a:noFill/>
            </a:ln>
          </p:spPr>
        </p:pic>
      </p:grpSp>
      <p:grpSp>
        <p:nvGrpSpPr>
          <p:cNvPr id="1194" name="Google Shape;1194;p54"/>
          <p:cNvGrpSpPr/>
          <p:nvPr/>
        </p:nvGrpSpPr>
        <p:grpSpPr>
          <a:xfrm>
            <a:off x="1300925" y="4311864"/>
            <a:ext cx="484200" cy="492373"/>
            <a:chOff x="1249350" y="5070836"/>
            <a:chExt cx="484200" cy="492373"/>
          </a:xfrm>
        </p:grpSpPr>
        <p:sp>
          <p:nvSpPr>
            <p:cNvPr id="1195" name="Google Shape;1195;p54"/>
            <p:cNvSpPr txBox="1"/>
            <p:nvPr/>
          </p:nvSpPr>
          <p:spPr>
            <a:xfrm>
              <a:off x="1249350" y="5295309"/>
              <a:ext cx="484200" cy="2679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rgbClr val="000000"/>
                </a:buClr>
                <a:buSzPts val="1000"/>
                <a:buFont typeface="Arial"/>
                <a:buNone/>
              </a:pPr>
              <a:r>
                <a:rPr lang="en" sz="900">
                  <a:solidFill>
                    <a:schemeClr val="accent1"/>
                  </a:solidFill>
                  <a:latin typeface="DM Sans Medium"/>
                  <a:ea typeface="DM Sans Medium"/>
                  <a:cs typeface="DM Sans Medium"/>
                  <a:sym typeface="DM Sans Medium"/>
                </a:rPr>
                <a:t>SQL </a:t>
              </a:r>
              <a:br>
                <a:rPr lang="en" sz="900">
                  <a:solidFill>
                    <a:schemeClr val="accent1"/>
                  </a:solidFill>
                  <a:latin typeface="DM Sans Medium"/>
                  <a:ea typeface="DM Sans Medium"/>
                  <a:cs typeface="DM Sans Medium"/>
                  <a:sym typeface="DM Sans Medium"/>
                </a:rPr>
              </a:br>
              <a:r>
                <a:rPr lang="en" sz="900">
                  <a:solidFill>
                    <a:schemeClr val="accent1"/>
                  </a:solidFill>
                  <a:latin typeface="DM Sans Medium"/>
                  <a:ea typeface="DM Sans Medium"/>
                  <a:cs typeface="DM Sans Medium"/>
                  <a:sym typeface="DM Sans Medium"/>
                </a:rPr>
                <a:t>Server</a:t>
              </a:r>
              <a:endParaRPr sz="900">
                <a:solidFill>
                  <a:schemeClr val="accent1"/>
                </a:solidFill>
                <a:latin typeface="DM Sans Medium"/>
                <a:ea typeface="DM Sans Medium"/>
                <a:cs typeface="DM Sans Medium"/>
                <a:sym typeface="DM Sans Medium"/>
              </a:endParaRPr>
            </a:p>
          </p:txBody>
        </p:sp>
        <p:pic>
          <p:nvPicPr>
            <p:cNvPr id="1196" name="Google Shape;1196;p54"/>
            <p:cNvPicPr preferRelativeResize="0"/>
            <p:nvPr/>
          </p:nvPicPr>
          <p:blipFill>
            <a:blip r:embed="rId16">
              <a:alphaModFix/>
            </a:blip>
            <a:stretch>
              <a:fillRect/>
            </a:stretch>
          </p:blipFill>
          <p:spPr>
            <a:xfrm>
              <a:off x="1403466" y="5070836"/>
              <a:ext cx="201168" cy="201168"/>
            </a:xfrm>
            <a:prstGeom prst="rect">
              <a:avLst/>
            </a:prstGeom>
            <a:noFill/>
            <a:ln>
              <a:noFill/>
            </a:ln>
          </p:spPr>
        </p:pic>
      </p:grpSp>
      <p:grpSp>
        <p:nvGrpSpPr>
          <p:cNvPr id="1197" name="Google Shape;1197;p54"/>
          <p:cNvGrpSpPr/>
          <p:nvPr/>
        </p:nvGrpSpPr>
        <p:grpSpPr>
          <a:xfrm>
            <a:off x="953676" y="4768311"/>
            <a:ext cx="592935" cy="282300"/>
            <a:chOff x="1379822" y="4647990"/>
            <a:chExt cx="592935" cy="282300"/>
          </a:xfrm>
        </p:grpSpPr>
        <p:sp>
          <p:nvSpPr>
            <p:cNvPr id="1198" name="Google Shape;1198;p54"/>
            <p:cNvSpPr txBox="1"/>
            <p:nvPr/>
          </p:nvSpPr>
          <p:spPr>
            <a:xfrm>
              <a:off x="1648457" y="4694986"/>
              <a:ext cx="3243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HMS</a:t>
              </a:r>
              <a:r>
                <a:rPr lang="en" sz="900">
                  <a:solidFill>
                    <a:srgbClr val="1B5162"/>
                  </a:solidFill>
                  <a:latin typeface="DM Sans Light"/>
                  <a:ea typeface="DM Sans Light"/>
                  <a:cs typeface="DM Sans Light"/>
                  <a:sym typeface="DM Sans Light"/>
                </a:rPr>
                <a:t>*</a:t>
              </a:r>
              <a:endParaRPr sz="900">
                <a:solidFill>
                  <a:srgbClr val="1B5162"/>
                </a:solidFill>
                <a:latin typeface="DM Sans Light"/>
                <a:ea typeface="DM Sans Light"/>
                <a:cs typeface="DM Sans Light"/>
                <a:sym typeface="DM Sans Light"/>
              </a:endParaRPr>
            </a:p>
          </p:txBody>
        </p:sp>
        <p:pic>
          <p:nvPicPr>
            <p:cNvPr id="1199" name="Google Shape;1199;p54" title="primary-icon-navy-hive-metastore-execution.png"/>
            <p:cNvPicPr preferRelativeResize="0"/>
            <p:nvPr/>
          </p:nvPicPr>
          <p:blipFill>
            <a:blip r:embed="rId29">
              <a:alphaModFix/>
            </a:blip>
            <a:stretch>
              <a:fillRect/>
            </a:stretch>
          </p:blipFill>
          <p:spPr>
            <a:xfrm>
              <a:off x="1379822" y="4647990"/>
              <a:ext cx="282300" cy="282300"/>
            </a:xfrm>
            <a:prstGeom prst="rect">
              <a:avLst/>
            </a:prstGeom>
            <a:noFill/>
            <a:ln>
              <a:noFill/>
            </a:ln>
          </p:spPr>
        </p:pic>
      </p:grpSp>
      <p:grpSp>
        <p:nvGrpSpPr>
          <p:cNvPr id="1200" name="Google Shape;1200;p54"/>
          <p:cNvGrpSpPr/>
          <p:nvPr/>
        </p:nvGrpSpPr>
        <p:grpSpPr>
          <a:xfrm>
            <a:off x="10710827" y="2549250"/>
            <a:ext cx="635100" cy="370800"/>
            <a:chOff x="10710827" y="2549250"/>
            <a:chExt cx="635100" cy="370800"/>
          </a:xfrm>
        </p:grpSpPr>
        <p:pic>
          <p:nvPicPr>
            <p:cNvPr id="1201" name="Google Shape;1201;p54"/>
            <p:cNvPicPr preferRelativeResize="0"/>
            <p:nvPr/>
          </p:nvPicPr>
          <p:blipFill>
            <a:blip r:embed="rId30">
              <a:alphaModFix/>
            </a:blip>
            <a:stretch>
              <a:fillRect/>
            </a:stretch>
          </p:blipFill>
          <p:spPr>
            <a:xfrm>
              <a:off x="10883177" y="2549250"/>
              <a:ext cx="246888" cy="246888"/>
            </a:xfrm>
            <a:prstGeom prst="rect">
              <a:avLst/>
            </a:prstGeom>
            <a:noFill/>
            <a:ln>
              <a:noFill/>
            </a:ln>
          </p:spPr>
        </p:pic>
        <p:sp>
          <p:nvSpPr>
            <p:cNvPr id="1202" name="Google Shape;1202;p54"/>
            <p:cNvSpPr txBox="1"/>
            <p:nvPr/>
          </p:nvSpPr>
          <p:spPr>
            <a:xfrm>
              <a:off x="10710827" y="2781450"/>
              <a:ext cx="6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Purview</a:t>
              </a:r>
              <a:endParaRPr sz="900">
                <a:solidFill>
                  <a:srgbClr val="1B5162"/>
                </a:solidFill>
                <a:latin typeface="DM Sans Medium"/>
                <a:ea typeface="DM Sans Medium"/>
                <a:cs typeface="DM Sans Medium"/>
                <a:sym typeface="DM Sans Medium"/>
              </a:endParaRPr>
            </a:p>
          </p:txBody>
        </p:sp>
      </p:grpSp>
      <p:pic>
        <p:nvPicPr>
          <p:cNvPr id="1203" name="Google Shape;1203;p54"/>
          <p:cNvPicPr preferRelativeResize="0"/>
          <p:nvPr/>
        </p:nvPicPr>
        <p:blipFill rotWithShape="1">
          <a:blip r:embed="rId31">
            <a:alphaModFix/>
          </a:blip>
          <a:srcRect b="0" l="0" r="0" t="0"/>
          <a:stretch/>
        </p:blipFill>
        <p:spPr>
          <a:xfrm>
            <a:off x="11020487" y="0"/>
            <a:ext cx="1171513" cy="400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7" name="Shape 1207"/>
        <p:cNvGrpSpPr/>
        <p:nvPr/>
      </p:nvGrpSpPr>
      <p:grpSpPr>
        <a:xfrm>
          <a:off x="0" y="0"/>
          <a:ext cx="0" cy="0"/>
          <a:chOff x="0" y="0"/>
          <a:chExt cx="0" cy="0"/>
        </a:xfrm>
      </p:grpSpPr>
      <p:sp>
        <p:nvSpPr>
          <p:cNvPr id="1208" name="Google Shape;1208;p55"/>
          <p:cNvSpPr/>
          <p:nvPr/>
        </p:nvSpPr>
        <p:spPr>
          <a:xfrm>
            <a:off x="4664825" y="1368050"/>
            <a:ext cx="5601300" cy="28167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grpSp>
        <p:nvGrpSpPr>
          <p:cNvPr id="1209" name="Google Shape;1209;p55"/>
          <p:cNvGrpSpPr/>
          <p:nvPr/>
        </p:nvGrpSpPr>
        <p:grpSpPr>
          <a:xfrm rot="-5400000">
            <a:off x="8118194" y="4175940"/>
            <a:ext cx="198576" cy="208513"/>
            <a:chOff x="3295749" y="3922446"/>
            <a:chExt cx="198576" cy="208513"/>
          </a:xfrm>
        </p:grpSpPr>
        <p:sp>
          <p:nvSpPr>
            <p:cNvPr id="1210" name="Google Shape;1210;p55"/>
            <p:cNvSpPr/>
            <p:nvPr/>
          </p:nvSpPr>
          <p:spPr>
            <a:xfrm>
              <a:off x="3391125" y="3922446"/>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211" name="Google Shape;1211;p55"/>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1212" name="Google Shape;1212;p55"/>
          <p:cNvSpPr/>
          <p:nvPr/>
        </p:nvSpPr>
        <p:spPr>
          <a:xfrm>
            <a:off x="8177450" y="4282646"/>
            <a:ext cx="796500" cy="1227000"/>
          </a:xfrm>
          <a:prstGeom prst="roundRect">
            <a:avLst>
              <a:gd fmla="val 8407"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rtl="0" algn="ctr">
              <a:lnSpc>
                <a:spcPct val="90000"/>
              </a:lnSpc>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Operat. DB</a:t>
            </a:r>
            <a:endParaRPr sz="1100">
              <a:solidFill>
                <a:schemeClr val="accent5"/>
              </a:solidFill>
              <a:latin typeface="DM Sans Medium"/>
              <a:ea typeface="DM Sans Medium"/>
              <a:cs typeface="DM Sans Medium"/>
              <a:sym typeface="DM Sans Medium"/>
            </a:endParaRPr>
          </a:p>
        </p:txBody>
      </p:sp>
      <p:sp>
        <p:nvSpPr>
          <p:cNvPr id="1213" name="Google Shape;1213;p55"/>
          <p:cNvSpPr/>
          <p:nvPr/>
        </p:nvSpPr>
        <p:spPr>
          <a:xfrm>
            <a:off x="836750" y="4275513"/>
            <a:ext cx="932400" cy="810300"/>
          </a:xfrm>
          <a:prstGeom prst="roundRect">
            <a:avLst>
              <a:gd fmla="val 9540"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1214" name="Google Shape;1214;p55"/>
          <p:cNvSpPr/>
          <p:nvPr/>
        </p:nvSpPr>
        <p:spPr>
          <a:xfrm>
            <a:off x="834550" y="1368050"/>
            <a:ext cx="932400" cy="2858100"/>
          </a:xfrm>
          <a:prstGeom prst="roundRect">
            <a:avLst>
              <a:gd fmla="val 7292"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1215" name="Google Shape;1215;p55"/>
          <p:cNvSpPr/>
          <p:nvPr/>
        </p:nvSpPr>
        <p:spPr>
          <a:xfrm>
            <a:off x="1921625" y="1368050"/>
            <a:ext cx="3586200" cy="21996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1216" name="Google Shape;1216;p55"/>
          <p:cNvSpPr/>
          <p:nvPr/>
        </p:nvSpPr>
        <p:spPr>
          <a:xfrm>
            <a:off x="3183025" y="1368050"/>
            <a:ext cx="4943100" cy="4195200"/>
          </a:xfrm>
          <a:prstGeom prst="roundRect">
            <a:avLst>
              <a:gd fmla="val 202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DM Sans"/>
              <a:ea typeface="DM Sans"/>
              <a:cs typeface="DM Sans"/>
              <a:sym typeface="DM Sans"/>
            </a:endParaRPr>
          </a:p>
        </p:txBody>
      </p:sp>
      <p:sp>
        <p:nvSpPr>
          <p:cNvPr id="1217" name="Google Shape;1217;p55"/>
          <p:cNvSpPr/>
          <p:nvPr/>
        </p:nvSpPr>
        <p:spPr>
          <a:xfrm>
            <a:off x="3247450" y="2227650"/>
            <a:ext cx="5802600" cy="668400"/>
          </a:xfrm>
          <a:prstGeom prst="roundRect">
            <a:avLst>
              <a:gd fmla="val 10905" name="adj"/>
            </a:avLst>
          </a:prstGeom>
          <a:solidFill>
            <a:srgbClr val="FFFFFF"/>
          </a:solidFill>
          <a:ln>
            <a:noFill/>
          </a:ln>
        </p:spPr>
        <p:txBody>
          <a:bodyPr anchorCtr="0" anchor="t" bIns="0" lIns="0" spcFirstLastPara="1" rIns="0" wrap="square" tIns="0">
            <a:noAutofit/>
          </a:bodyPr>
          <a:lstStyle/>
          <a:p>
            <a:pPr indent="0" lvl="0" marL="0" marR="40661"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Data Science and AI / ML - Mosaic AI</a:t>
            </a:r>
            <a:endParaRPr sz="1100">
              <a:solidFill>
                <a:schemeClr val="accent5"/>
              </a:solidFill>
              <a:latin typeface="DM Sans Medium"/>
              <a:ea typeface="DM Sans Medium"/>
              <a:cs typeface="DM Sans Medium"/>
              <a:sym typeface="DM Sans Medium"/>
            </a:endParaRPr>
          </a:p>
          <a:p>
            <a:pPr indent="0" lvl="0" marL="457200" marR="0"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p:txBody>
      </p:sp>
      <p:sp>
        <p:nvSpPr>
          <p:cNvPr id="1218" name="Google Shape;1218;p55"/>
          <p:cNvSpPr txBox="1"/>
          <p:nvPr>
            <p:ph type="title"/>
          </p:nvPr>
        </p:nvSpPr>
        <p:spPr>
          <a:xfrm>
            <a:off x="749245" y="2307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Databricks Data Intelligence Platform</a:t>
            </a:r>
            <a:endParaRPr b="1" sz="3600">
              <a:latin typeface="DM Sans"/>
              <a:ea typeface="DM Sans"/>
              <a:cs typeface="DM Sans"/>
              <a:sym typeface="DM Sans"/>
            </a:endParaRPr>
          </a:p>
        </p:txBody>
      </p:sp>
      <p:sp>
        <p:nvSpPr>
          <p:cNvPr id="1219" name="Google Shape;1219;p55"/>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grpSp>
        <p:nvGrpSpPr>
          <p:cNvPr id="1220" name="Google Shape;1220;p55"/>
          <p:cNvGrpSpPr/>
          <p:nvPr/>
        </p:nvGrpSpPr>
        <p:grpSpPr>
          <a:xfrm>
            <a:off x="2986792" y="3550528"/>
            <a:ext cx="198576" cy="211709"/>
            <a:chOff x="3295749" y="3919250"/>
            <a:chExt cx="198576" cy="211709"/>
          </a:xfrm>
        </p:grpSpPr>
        <p:sp>
          <p:nvSpPr>
            <p:cNvPr id="1221" name="Google Shape;1221;p55"/>
            <p:cNvSpPr/>
            <p:nvPr/>
          </p:nvSpPr>
          <p:spPr>
            <a:xfrm>
              <a:off x="3391125" y="3919250"/>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222" name="Google Shape;1222;p55"/>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1223" name="Google Shape;1223;p55"/>
          <p:cNvSpPr/>
          <p:nvPr/>
        </p:nvSpPr>
        <p:spPr>
          <a:xfrm>
            <a:off x="3247450" y="4807025"/>
            <a:ext cx="3380100" cy="699900"/>
          </a:xfrm>
          <a:prstGeom prst="roundRect">
            <a:avLst>
              <a:gd fmla="val 13083"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Data Management</a:t>
            </a:r>
            <a:endParaRPr sz="1100">
              <a:solidFill>
                <a:schemeClr val="accent5"/>
              </a:solidFill>
              <a:latin typeface="DM Sans Medium"/>
              <a:ea typeface="DM Sans Medium"/>
              <a:cs typeface="DM Sans Medium"/>
              <a:sym typeface="DM Sans Medium"/>
            </a:endParaRPr>
          </a:p>
        </p:txBody>
      </p:sp>
      <p:sp>
        <p:nvSpPr>
          <p:cNvPr id="1224" name="Google Shape;1224;p55"/>
          <p:cNvSpPr/>
          <p:nvPr/>
        </p:nvSpPr>
        <p:spPr>
          <a:xfrm>
            <a:off x="6679225" y="4806950"/>
            <a:ext cx="1388100" cy="699900"/>
          </a:xfrm>
          <a:prstGeom prst="roundRect">
            <a:avLst>
              <a:gd fmla="val 11862"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Collaboration</a:t>
            </a:r>
            <a:endParaRPr sz="1100">
              <a:solidFill>
                <a:schemeClr val="accent5"/>
              </a:solidFill>
              <a:latin typeface="DM Sans Medium"/>
              <a:ea typeface="DM Sans Medium"/>
              <a:cs typeface="DM Sans Medium"/>
              <a:sym typeface="DM Sans Medium"/>
            </a:endParaRPr>
          </a:p>
        </p:txBody>
      </p:sp>
      <p:sp>
        <p:nvSpPr>
          <p:cNvPr id="1225" name="Google Shape;1225;p55"/>
          <p:cNvSpPr/>
          <p:nvPr/>
        </p:nvSpPr>
        <p:spPr>
          <a:xfrm>
            <a:off x="4267154" y="6159917"/>
            <a:ext cx="1076700" cy="215400"/>
          </a:xfrm>
          <a:prstGeom prst="rect">
            <a:avLst/>
          </a:prstGeom>
          <a:solidFill>
            <a:srgbClr val="D9D9D9"/>
          </a:solidFill>
          <a:ln>
            <a:noFill/>
          </a:ln>
        </p:spPr>
        <p:txBody>
          <a:bodyPr anchorCtr="0" anchor="ctr" bIns="146275" lIns="182850" spcFirstLastPara="1" rIns="18285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Stor</a:t>
            </a:r>
            <a:r>
              <a:rPr lang="en" sz="1300">
                <a:solidFill>
                  <a:srgbClr val="434343"/>
                </a:solidFill>
                <a:latin typeface="DM Sans SemiBold"/>
                <a:ea typeface="DM Sans SemiBold"/>
                <a:cs typeface="DM Sans SemiBold"/>
                <a:sym typeface="DM Sans SemiBold"/>
              </a:rPr>
              <a:t>age</a:t>
            </a:r>
            <a:endParaRPr i="0" sz="1300" u="none" cap="none" strike="noStrike">
              <a:solidFill>
                <a:srgbClr val="434343"/>
              </a:solidFill>
              <a:latin typeface="DM Sans SemiBold"/>
              <a:ea typeface="DM Sans SemiBold"/>
              <a:cs typeface="DM Sans SemiBold"/>
              <a:sym typeface="DM Sans SemiBold"/>
            </a:endParaRPr>
          </a:p>
        </p:txBody>
      </p:sp>
      <p:sp>
        <p:nvSpPr>
          <p:cNvPr id="1226" name="Google Shape;1226;p55"/>
          <p:cNvSpPr/>
          <p:nvPr/>
        </p:nvSpPr>
        <p:spPr>
          <a:xfrm>
            <a:off x="3247450" y="2955537"/>
            <a:ext cx="3380100" cy="553800"/>
          </a:xfrm>
          <a:prstGeom prst="roundRect">
            <a:avLst>
              <a:gd fmla="val 14028"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Data Engineering and Processing</a:t>
            </a:r>
            <a:endParaRPr sz="1100">
              <a:solidFill>
                <a:schemeClr val="accent5"/>
              </a:solidFill>
              <a:latin typeface="DM Sans Medium"/>
              <a:ea typeface="DM Sans Medium"/>
              <a:cs typeface="DM Sans Medium"/>
              <a:sym typeface="DM Sans Medium"/>
            </a:endParaRPr>
          </a:p>
        </p:txBody>
      </p:sp>
      <p:sp>
        <p:nvSpPr>
          <p:cNvPr id="1227" name="Google Shape;1227;p55"/>
          <p:cNvSpPr/>
          <p:nvPr/>
        </p:nvSpPr>
        <p:spPr>
          <a:xfrm>
            <a:off x="3247450" y="4188200"/>
            <a:ext cx="4819800" cy="557700"/>
          </a:xfrm>
          <a:prstGeom prst="roundRect">
            <a:avLst>
              <a:gd fmla="val 12987"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   Data and AI Governance - Unity Catalog</a:t>
            </a:r>
            <a:endParaRPr sz="1100">
              <a:solidFill>
                <a:schemeClr val="accent5"/>
              </a:solidFill>
              <a:latin typeface="DM Sans Medium"/>
              <a:ea typeface="DM Sans Medium"/>
              <a:cs typeface="DM Sans Medium"/>
              <a:sym typeface="DM Sans Medium"/>
            </a:endParaRPr>
          </a:p>
        </p:txBody>
      </p:sp>
      <p:sp>
        <p:nvSpPr>
          <p:cNvPr id="1228" name="Google Shape;1228;p55"/>
          <p:cNvSpPr/>
          <p:nvPr/>
        </p:nvSpPr>
        <p:spPr>
          <a:xfrm>
            <a:off x="1989525" y="2227675"/>
            <a:ext cx="1187100" cy="1281600"/>
          </a:xfrm>
          <a:prstGeom prst="roundRect">
            <a:avLst>
              <a:gd fmla="val 7158" name="adj"/>
            </a:avLst>
          </a:prstGeom>
          <a:solidFill>
            <a:srgbClr val="FFFFFF"/>
          </a:solid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None/>
            </a:pPr>
            <a:r>
              <a:rPr lang="en" sz="1100">
                <a:solidFill>
                  <a:schemeClr val="accent5"/>
                </a:solidFill>
                <a:latin typeface="DM Sans Medium"/>
                <a:ea typeface="DM Sans Medium"/>
                <a:cs typeface="DM Sans Medium"/>
                <a:sym typeface="DM Sans Medium"/>
              </a:rPr>
              <a:t>Batch and Streaming</a:t>
            </a:r>
            <a:endParaRPr sz="1100">
              <a:solidFill>
                <a:schemeClr val="accent5"/>
              </a:solidFill>
              <a:latin typeface="DM Sans Medium"/>
              <a:ea typeface="DM Sans Medium"/>
              <a:cs typeface="DM Sans Medium"/>
              <a:sym typeface="DM Sans Medium"/>
            </a:endParaRPr>
          </a:p>
        </p:txBody>
      </p:sp>
      <p:sp>
        <p:nvSpPr>
          <p:cNvPr id="1229" name="Google Shape;1229;p55"/>
          <p:cNvSpPr/>
          <p:nvPr/>
        </p:nvSpPr>
        <p:spPr>
          <a:xfrm>
            <a:off x="6687250" y="2955537"/>
            <a:ext cx="2370900" cy="553800"/>
          </a:xfrm>
          <a:prstGeom prst="roundRect">
            <a:avLst>
              <a:gd fmla="val 15048"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Data Warehousing</a:t>
            </a:r>
            <a:endParaRPr sz="1100">
              <a:solidFill>
                <a:schemeClr val="accent5"/>
              </a:solidFill>
              <a:latin typeface="DM Sans Medium"/>
              <a:ea typeface="DM Sans Medium"/>
              <a:cs typeface="DM Sans Medium"/>
              <a:sym typeface="DM Sans Medium"/>
            </a:endParaRPr>
          </a:p>
        </p:txBody>
      </p:sp>
      <p:sp>
        <p:nvSpPr>
          <p:cNvPr id="1230" name="Google Shape;1230;p55"/>
          <p:cNvSpPr txBox="1"/>
          <p:nvPr/>
        </p:nvSpPr>
        <p:spPr>
          <a:xfrm rot="-5398802">
            <a:off x="290613" y="4596075"/>
            <a:ext cx="8610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Federation</a:t>
            </a:r>
            <a:endParaRPr sz="1100">
              <a:solidFill>
                <a:schemeClr val="accent5"/>
              </a:solidFill>
              <a:latin typeface="DM Sans"/>
              <a:ea typeface="DM Sans"/>
              <a:cs typeface="DM Sans"/>
              <a:sym typeface="DM Sans"/>
            </a:endParaRPr>
          </a:p>
        </p:txBody>
      </p:sp>
      <p:sp>
        <p:nvSpPr>
          <p:cNvPr id="1231" name="Google Shape;1231;p55"/>
          <p:cNvSpPr txBox="1"/>
          <p:nvPr/>
        </p:nvSpPr>
        <p:spPr>
          <a:xfrm>
            <a:off x="5216667" y="1442036"/>
            <a:ext cx="2432400" cy="215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a:solidFill>
                  <a:srgbClr val="FFFFFF"/>
                </a:solidFill>
                <a:latin typeface="DM Sans SemiBold"/>
                <a:ea typeface="DM Sans SemiBold"/>
                <a:cs typeface="DM Sans SemiBold"/>
                <a:sym typeface="DM Sans SemiBold"/>
              </a:rPr>
              <a:t>Data Intelligence Platform</a:t>
            </a:r>
            <a:endParaRPr>
              <a:solidFill>
                <a:srgbClr val="FFFFFF"/>
              </a:solidFill>
              <a:latin typeface="DM Sans SemiBold"/>
              <a:ea typeface="DM Sans SemiBold"/>
              <a:cs typeface="DM Sans SemiBold"/>
              <a:sym typeface="DM Sans SemiBold"/>
            </a:endParaRPr>
          </a:p>
        </p:txBody>
      </p:sp>
      <p:sp>
        <p:nvSpPr>
          <p:cNvPr id="1232" name="Google Shape;1232;p55"/>
          <p:cNvSpPr/>
          <p:nvPr/>
        </p:nvSpPr>
        <p:spPr>
          <a:xfrm>
            <a:off x="9133775" y="5563184"/>
            <a:ext cx="1082100" cy="579600"/>
          </a:xfrm>
          <a:prstGeom prst="roundRect">
            <a:avLst>
              <a:gd fmla="val 12082"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Sharing Partner</a:t>
            </a:r>
            <a:endParaRPr sz="1100">
              <a:solidFill>
                <a:schemeClr val="accent5"/>
              </a:solidFill>
              <a:latin typeface="DM Sans Medium"/>
              <a:ea typeface="DM Sans Medium"/>
              <a:cs typeface="DM Sans Medium"/>
              <a:sym typeface="DM Sans Medium"/>
            </a:endParaRPr>
          </a:p>
        </p:txBody>
      </p:sp>
      <p:sp>
        <p:nvSpPr>
          <p:cNvPr id="1233" name="Google Shape;1233;p55"/>
          <p:cNvSpPr/>
          <p:nvPr/>
        </p:nvSpPr>
        <p:spPr>
          <a:xfrm>
            <a:off x="9133775" y="4927395"/>
            <a:ext cx="1082100" cy="579600"/>
          </a:xfrm>
          <a:prstGeom prst="roundRect">
            <a:avLst>
              <a:gd fmla="val 13760"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Applications</a:t>
            </a:r>
            <a:endParaRPr sz="1100">
              <a:solidFill>
                <a:schemeClr val="accent5"/>
              </a:solidFill>
              <a:latin typeface="DM Sans Medium"/>
              <a:ea typeface="DM Sans Medium"/>
              <a:cs typeface="DM Sans Medium"/>
              <a:sym typeface="DM Sans Medium"/>
            </a:endParaRPr>
          </a:p>
        </p:txBody>
      </p:sp>
      <p:sp>
        <p:nvSpPr>
          <p:cNvPr id="1234" name="Google Shape;1234;p55"/>
          <p:cNvSpPr/>
          <p:nvPr/>
        </p:nvSpPr>
        <p:spPr>
          <a:xfrm>
            <a:off x="1921625" y="967225"/>
            <a:ext cx="12549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Ingest</a:t>
            </a:r>
            <a:endParaRPr i="0" sz="1300" u="none" cap="none" strike="noStrike">
              <a:solidFill>
                <a:srgbClr val="434343"/>
              </a:solidFill>
              <a:latin typeface="DM Sans SemiBold"/>
              <a:ea typeface="DM Sans SemiBold"/>
              <a:cs typeface="DM Sans SemiBold"/>
              <a:sym typeface="DM Sans SemiBold"/>
            </a:endParaRPr>
          </a:p>
        </p:txBody>
      </p:sp>
      <p:sp>
        <p:nvSpPr>
          <p:cNvPr id="1235" name="Google Shape;1235;p55"/>
          <p:cNvSpPr/>
          <p:nvPr/>
        </p:nvSpPr>
        <p:spPr>
          <a:xfrm>
            <a:off x="3247450" y="966700"/>
            <a:ext cx="13434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Transform</a:t>
            </a:r>
            <a:endParaRPr i="0" sz="1300" u="none" cap="none" strike="noStrike">
              <a:solidFill>
                <a:srgbClr val="434343"/>
              </a:solidFill>
              <a:latin typeface="DM Sans SemiBold"/>
              <a:ea typeface="DM Sans SemiBold"/>
              <a:cs typeface="DM Sans SemiBold"/>
              <a:sym typeface="DM Sans SemiBold"/>
            </a:endParaRPr>
          </a:p>
        </p:txBody>
      </p:sp>
      <p:sp>
        <p:nvSpPr>
          <p:cNvPr id="1236" name="Google Shape;1236;p55"/>
          <p:cNvSpPr/>
          <p:nvPr/>
        </p:nvSpPr>
        <p:spPr>
          <a:xfrm>
            <a:off x="9122275" y="968000"/>
            <a:ext cx="1152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Analyse</a:t>
            </a:r>
            <a:endParaRPr i="0" sz="1300" u="none" cap="none" strike="noStrike">
              <a:solidFill>
                <a:srgbClr val="434343"/>
              </a:solidFill>
              <a:latin typeface="DM Sans SemiBold"/>
              <a:ea typeface="DM Sans SemiBold"/>
              <a:cs typeface="DM Sans SemiBold"/>
              <a:sym typeface="DM Sans SemiBold"/>
            </a:endParaRPr>
          </a:p>
        </p:txBody>
      </p:sp>
      <p:sp>
        <p:nvSpPr>
          <p:cNvPr id="1237" name="Google Shape;1237;p55"/>
          <p:cNvSpPr/>
          <p:nvPr/>
        </p:nvSpPr>
        <p:spPr>
          <a:xfrm>
            <a:off x="766854" y="967794"/>
            <a:ext cx="10821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Sources</a:t>
            </a:r>
            <a:endParaRPr i="0" sz="1300" u="none" cap="none" strike="noStrike">
              <a:solidFill>
                <a:srgbClr val="434343"/>
              </a:solidFill>
              <a:latin typeface="DM Sans SemiBold"/>
              <a:ea typeface="DM Sans SemiBold"/>
              <a:cs typeface="DM Sans SemiBold"/>
              <a:sym typeface="DM Sans SemiBold"/>
            </a:endParaRPr>
          </a:p>
        </p:txBody>
      </p:sp>
      <p:cxnSp>
        <p:nvCxnSpPr>
          <p:cNvPr id="1238" name="Google Shape;1238;p55"/>
          <p:cNvCxnSpPr/>
          <p:nvPr/>
        </p:nvCxnSpPr>
        <p:spPr>
          <a:xfrm>
            <a:off x="1765606" y="3948550"/>
            <a:ext cx="222900" cy="600"/>
          </a:xfrm>
          <a:prstGeom prst="bentConnector3">
            <a:avLst>
              <a:gd fmla="val 50000" name="adj1"/>
            </a:avLst>
          </a:prstGeom>
          <a:noFill/>
          <a:ln cap="flat" cmpd="sng" w="9525">
            <a:solidFill>
              <a:schemeClr val="accent1"/>
            </a:solidFill>
            <a:prstDash val="solid"/>
            <a:round/>
            <a:headEnd len="sm" w="sm" type="none"/>
            <a:tailEnd len="sm" w="sm" type="triangle"/>
          </a:ln>
        </p:spPr>
      </p:cxnSp>
      <p:cxnSp>
        <p:nvCxnSpPr>
          <p:cNvPr id="1239" name="Google Shape;1239;p55"/>
          <p:cNvCxnSpPr>
            <a:stCxn id="1240" idx="3"/>
          </p:cNvCxnSpPr>
          <p:nvPr/>
        </p:nvCxnSpPr>
        <p:spPr>
          <a:xfrm>
            <a:off x="1765746" y="3027425"/>
            <a:ext cx="166800" cy="600"/>
          </a:xfrm>
          <a:prstGeom prst="bentConnector3">
            <a:avLst>
              <a:gd fmla="val 50000" name="adj1"/>
            </a:avLst>
          </a:prstGeom>
          <a:noFill/>
          <a:ln cap="flat" cmpd="sng" w="9525">
            <a:solidFill>
              <a:schemeClr val="accent1"/>
            </a:solidFill>
            <a:prstDash val="solid"/>
            <a:round/>
            <a:headEnd len="sm" w="sm" type="none"/>
            <a:tailEnd len="sm" w="sm" type="triangle"/>
          </a:ln>
        </p:spPr>
      </p:cxnSp>
      <p:cxnSp>
        <p:nvCxnSpPr>
          <p:cNvPr id="1241" name="Google Shape;1241;p55"/>
          <p:cNvCxnSpPr>
            <a:stCxn id="1224" idx="2"/>
            <a:endCxn id="1232" idx="1"/>
          </p:cNvCxnSpPr>
          <p:nvPr/>
        </p:nvCxnSpPr>
        <p:spPr>
          <a:xfrm flipH="1" rot="-5400000">
            <a:off x="8080375" y="4799750"/>
            <a:ext cx="346200" cy="1760400"/>
          </a:xfrm>
          <a:prstGeom prst="bentConnector2">
            <a:avLst/>
          </a:prstGeom>
          <a:noFill/>
          <a:ln cap="flat" cmpd="sng" w="9525">
            <a:solidFill>
              <a:schemeClr val="accent1"/>
            </a:solidFill>
            <a:prstDash val="solid"/>
            <a:round/>
            <a:headEnd len="sm" w="sm" type="none"/>
            <a:tailEnd len="sm" w="sm" type="triangle"/>
          </a:ln>
        </p:spPr>
      </p:cxnSp>
      <p:cxnSp>
        <p:nvCxnSpPr>
          <p:cNvPr id="1242" name="Google Shape;1242;p55"/>
          <p:cNvCxnSpPr/>
          <p:nvPr/>
        </p:nvCxnSpPr>
        <p:spPr>
          <a:xfrm>
            <a:off x="8978650" y="5336450"/>
            <a:ext cx="159000" cy="0"/>
          </a:xfrm>
          <a:prstGeom prst="straightConnector1">
            <a:avLst/>
          </a:prstGeom>
          <a:noFill/>
          <a:ln cap="flat" cmpd="sng" w="9525">
            <a:solidFill>
              <a:schemeClr val="accent1"/>
            </a:solidFill>
            <a:prstDash val="solid"/>
            <a:round/>
            <a:headEnd len="sm" w="sm" type="none"/>
            <a:tailEnd len="sm" w="sm" type="triangle"/>
          </a:ln>
        </p:spPr>
      </p:cxnSp>
      <p:cxnSp>
        <p:nvCxnSpPr>
          <p:cNvPr id="1243" name="Google Shape;1243;p55"/>
          <p:cNvCxnSpPr>
            <a:stCxn id="1244" idx="2"/>
            <a:endCxn id="1212" idx="0"/>
          </p:cNvCxnSpPr>
          <p:nvPr/>
        </p:nvCxnSpPr>
        <p:spPr>
          <a:xfrm>
            <a:off x="8575712" y="4182857"/>
            <a:ext cx="0" cy="99900"/>
          </a:xfrm>
          <a:prstGeom prst="straightConnector1">
            <a:avLst/>
          </a:prstGeom>
          <a:noFill/>
          <a:ln cap="flat" cmpd="sng" w="9525">
            <a:solidFill>
              <a:schemeClr val="accent1"/>
            </a:solidFill>
            <a:prstDash val="solid"/>
            <a:round/>
            <a:headEnd len="sm" w="sm" type="none"/>
            <a:tailEnd len="sm" w="sm" type="triangle"/>
          </a:ln>
        </p:spPr>
      </p:cxnSp>
      <p:sp>
        <p:nvSpPr>
          <p:cNvPr id="1245" name="Google Shape;1245;p55"/>
          <p:cNvSpPr/>
          <p:nvPr/>
        </p:nvSpPr>
        <p:spPr>
          <a:xfrm>
            <a:off x="7503748" y="3179562"/>
            <a:ext cx="6858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Databricks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SQL</a:t>
            </a:r>
            <a:endParaRPr sz="900">
              <a:solidFill>
                <a:schemeClr val="accent2"/>
              </a:solidFill>
              <a:latin typeface="DM Sans SemiBold"/>
              <a:ea typeface="DM Sans SemiBold"/>
              <a:cs typeface="DM Sans SemiBold"/>
              <a:sym typeface="DM Sans SemiBold"/>
            </a:endParaRPr>
          </a:p>
        </p:txBody>
      </p:sp>
      <p:sp>
        <p:nvSpPr>
          <p:cNvPr id="1246" name="Google Shape;1246;p55"/>
          <p:cNvSpPr/>
          <p:nvPr/>
        </p:nvSpPr>
        <p:spPr>
          <a:xfrm>
            <a:off x="2143275" y="3179562"/>
            <a:ext cx="8796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Auto</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Loader</a:t>
            </a:r>
            <a:endParaRPr sz="900">
              <a:solidFill>
                <a:schemeClr val="accent2"/>
              </a:solidFill>
              <a:latin typeface="DM Sans SemiBold"/>
              <a:ea typeface="DM Sans SemiBold"/>
              <a:cs typeface="DM Sans SemiBold"/>
              <a:sym typeface="DM Sans SemiBold"/>
            </a:endParaRPr>
          </a:p>
        </p:txBody>
      </p:sp>
      <p:sp>
        <p:nvSpPr>
          <p:cNvPr id="1247" name="Google Shape;1247;p55"/>
          <p:cNvSpPr/>
          <p:nvPr/>
        </p:nvSpPr>
        <p:spPr>
          <a:xfrm>
            <a:off x="7446063" y="4997825"/>
            <a:ext cx="549000" cy="223800"/>
          </a:xfrm>
          <a:prstGeom prst="roundRect">
            <a:avLst>
              <a:gd fmla="val 20281" name="adj"/>
            </a:avLst>
          </a:prstGeom>
          <a:solidFill>
            <a:srgbClr val="FFFFFF"/>
          </a:solidFill>
          <a:ln cap="flat" cmpd="sng" w="9525">
            <a:solidFill>
              <a:schemeClr val="accent2"/>
            </a:solidFill>
            <a:prstDash val="solid"/>
            <a:round/>
            <a:headEnd len="sm" w="sm" type="none"/>
            <a:tailEnd len="sm" w="sm" type="none"/>
          </a:ln>
        </p:spPr>
        <p:txBody>
          <a:bodyPr anchorCtr="0" anchor="ctr" bIns="0" lIns="0" spcFirstLastPara="1" rIns="0" wrap="square" tIns="9125">
            <a:noAutofit/>
          </a:bodyPr>
          <a:lstStyle/>
          <a:p>
            <a:pPr indent="0" lvl="0" marL="0" rtl="0" algn="ctr">
              <a:lnSpc>
                <a:spcPct val="75000"/>
              </a:lnSpc>
              <a:spcBef>
                <a:spcPts val="0"/>
              </a:spcBef>
              <a:spcAft>
                <a:spcPts val="0"/>
              </a:spcAft>
              <a:buNone/>
            </a:pPr>
            <a:r>
              <a:rPr lang="en" sz="900">
                <a:solidFill>
                  <a:schemeClr val="accent2"/>
                </a:solidFill>
                <a:latin typeface="DM Sans SemiBold"/>
                <a:ea typeface="DM Sans SemiBold"/>
                <a:cs typeface="DM Sans SemiBold"/>
                <a:sym typeface="DM Sans SemiBold"/>
              </a:rPr>
              <a:t>Market</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place</a:t>
            </a:r>
            <a:endParaRPr sz="900">
              <a:solidFill>
                <a:schemeClr val="accent2"/>
              </a:solidFill>
              <a:latin typeface="DM Sans SemiBold"/>
              <a:ea typeface="DM Sans SemiBold"/>
              <a:cs typeface="DM Sans SemiBold"/>
              <a:sym typeface="DM Sans SemiBold"/>
            </a:endParaRPr>
          </a:p>
        </p:txBody>
      </p:sp>
      <p:sp>
        <p:nvSpPr>
          <p:cNvPr id="1248" name="Google Shape;1248;p55"/>
          <p:cNvSpPr/>
          <p:nvPr/>
        </p:nvSpPr>
        <p:spPr>
          <a:xfrm>
            <a:off x="7254663" y="4423213"/>
            <a:ext cx="740400" cy="274200"/>
          </a:xfrm>
          <a:prstGeom prst="roundRect">
            <a:avLst>
              <a:gd fmla="val 18778"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Quality Monitoring</a:t>
            </a:r>
            <a:endParaRPr sz="900">
              <a:solidFill>
                <a:schemeClr val="accent2"/>
              </a:solidFill>
              <a:latin typeface="DM Sans SemiBold"/>
              <a:ea typeface="DM Sans SemiBold"/>
              <a:cs typeface="DM Sans SemiBold"/>
              <a:sym typeface="DM Sans SemiBold"/>
            </a:endParaRPr>
          </a:p>
        </p:txBody>
      </p:sp>
      <p:sp>
        <p:nvSpPr>
          <p:cNvPr id="1249" name="Google Shape;1249;p55"/>
          <p:cNvSpPr/>
          <p:nvPr/>
        </p:nvSpPr>
        <p:spPr>
          <a:xfrm>
            <a:off x="8279375" y="2268975"/>
            <a:ext cx="6858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AI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Gateway</a:t>
            </a:r>
            <a:endParaRPr sz="900">
              <a:solidFill>
                <a:schemeClr val="accent2"/>
              </a:solidFill>
              <a:latin typeface="DM Sans SemiBold"/>
              <a:ea typeface="DM Sans SemiBold"/>
              <a:cs typeface="DM Sans SemiBold"/>
              <a:sym typeface="DM Sans SemiBold"/>
            </a:endParaRPr>
          </a:p>
        </p:txBody>
      </p:sp>
      <p:sp>
        <p:nvSpPr>
          <p:cNvPr id="1250" name="Google Shape;1250;p55"/>
          <p:cNvSpPr/>
          <p:nvPr/>
        </p:nvSpPr>
        <p:spPr>
          <a:xfrm>
            <a:off x="7503751" y="2582483"/>
            <a:ext cx="685800" cy="2757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Vector </a:t>
            </a:r>
            <a:r>
              <a:rPr lang="en" sz="900">
                <a:solidFill>
                  <a:schemeClr val="accent2"/>
                </a:solidFill>
                <a:latin typeface="DM Sans SemiBold"/>
                <a:ea typeface="DM Sans SemiBold"/>
                <a:cs typeface="DM Sans SemiBold"/>
                <a:sym typeface="DM Sans SemiBold"/>
              </a:rPr>
              <a:t>Search</a:t>
            </a:r>
            <a:endParaRPr sz="900">
              <a:solidFill>
                <a:schemeClr val="accent2"/>
              </a:solidFill>
              <a:latin typeface="DM Sans SemiBold"/>
              <a:ea typeface="DM Sans SemiBold"/>
              <a:cs typeface="DM Sans SemiBold"/>
              <a:sym typeface="DM Sans SemiBold"/>
            </a:endParaRPr>
          </a:p>
        </p:txBody>
      </p:sp>
      <p:sp>
        <p:nvSpPr>
          <p:cNvPr id="1251" name="Google Shape;1251;p55"/>
          <p:cNvSpPr/>
          <p:nvPr/>
        </p:nvSpPr>
        <p:spPr>
          <a:xfrm>
            <a:off x="4121924" y="4423213"/>
            <a:ext cx="640800" cy="2742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Access</a:t>
            </a:r>
            <a:r>
              <a:rPr lang="en" sz="900">
                <a:solidFill>
                  <a:schemeClr val="accent2"/>
                </a:solidFill>
                <a:latin typeface="DM Sans SemiBold"/>
                <a:ea typeface="DM Sans SemiBold"/>
                <a:cs typeface="DM Sans SemiBold"/>
                <a:sym typeface="DM Sans SemiBold"/>
              </a:rPr>
              <a:t> Control</a:t>
            </a:r>
            <a:endParaRPr sz="900">
              <a:solidFill>
                <a:schemeClr val="accent2"/>
              </a:solidFill>
              <a:latin typeface="DM Sans SemiBold"/>
              <a:ea typeface="DM Sans SemiBold"/>
              <a:cs typeface="DM Sans SemiBold"/>
              <a:sym typeface="DM Sans SemiBold"/>
            </a:endParaRPr>
          </a:p>
        </p:txBody>
      </p:sp>
      <p:sp>
        <p:nvSpPr>
          <p:cNvPr id="1252" name="Google Shape;1252;p55"/>
          <p:cNvSpPr/>
          <p:nvPr/>
        </p:nvSpPr>
        <p:spPr>
          <a:xfrm>
            <a:off x="6727831" y="2583983"/>
            <a:ext cx="6858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Feature Serving</a:t>
            </a:r>
            <a:endParaRPr sz="900">
              <a:solidFill>
                <a:schemeClr val="accent2"/>
              </a:solidFill>
              <a:latin typeface="DM Sans SemiBold"/>
              <a:ea typeface="DM Sans SemiBold"/>
              <a:cs typeface="DM Sans SemiBold"/>
              <a:sym typeface="DM Sans SemiBold"/>
            </a:endParaRPr>
          </a:p>
        </p:txBody>
      </p:sp>
      <p:cxnSp>
        <p:nvCxnSpPr>
          <p:cNvPr id="1253" name="Google Shape;1253;p55"/>
          <p:cNvCxnSpPr>
            <a:stCxn id="1254" idx="3"/>
          </p:cNvCxnSpPr>
          <p:nvPr/>
        </p:nvCxnSpPr>
        <p:spPr>
          <a:xfrm>
            <a:off x="3053925" y="4259350"/>
            <a:ext cx="131100" cy="600"/>
          </a:xfrm>
          <a:prstGeom prst="bentConnector3">
            <a:avLst>
              <a:gd fmla="val 50000" name="adj1"/>
            </a:avLst>
          </a:prstGeom>
          <a:noFill/>
          <a:ln cap="flat" cmpd="sng" w="9525">
            <a:solidFill>
              <a:schemeClr val="accent1"/>
            </a:solidFill>
            <a:prstDash val="solid"/>
            <a:round/>
            <a:headEnd len="sm" w="sm" type="none"/>
            <a:tailEnd len="sm" w="sm" type="triangle"/>
          </a:ln>
        </p:spPr>
      </p:cxnSp>
      <p:sp>
        <p:nvSpPr>
          <p:cNvPr id="1255" name="Google Shape;1255;p55"/>
          <p:cNvSpPr/>
          <p:nvPr/>
        </p:nvSpPr>
        <p:spPr>
          <a:xfrm>
            <a:off x="5693094" y="4423213"/>
            <a:ext cx="685800" cy="2742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 and AI Assets</a:t>
            </a:r>
            <a:endParaRPr sz="900">
              <a:solidFill>
                <a:schemeClr val="accent2"/>
              </a:solidFill>
              <a:latin typeface="DM Sans SemiBold"/>
              <a:ea typeface="DM Sans SemiBold"/>
              <a:cs typeface="DM Sans SemiBold"/>
              <a:sym typeface="DM Sans SemiBold"/>
            </a:endParaRPr>
          </a:p>
        </p:txBody>
      </p:sp>
      <p:grpSp>
        <p:nvGrpSpPr>
          <p:cNvPr id="1256" name="Google Shape;1256;p55"/>
          <p:cNvGrpSpPr/>
          <p:nvPr/>
        </p:nvGrpSpPr>
        <p:grpSpPr>
          <a:xfrm>
            <a:off x="9152825" y="5742257"/>
            <a:ext cx="1044000" cy="400292"/>
            <a:chOff x="9534531" y="5311470"/>
            <a:chExt cx="1044000" cy="400292"/>
          </a:xfrm>
        </p:grpSpPr>
        <p:sp>
          <p:nvSpPr>
            <p:cNvPr id="1257" name="Google Shape;1257;p55"/>
            <p:cNvSpPr txBox="1"/>
            <p:nvPr/>
          </p:nvSpPr>
          <p:spPr>
            <a:xfrm>
              <a:off x="9534531" y="5557862"/>
              <a:ext cx="10440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Data Consumer</a:t>
              </a:r>
              <a:endParaRPr sz="900">
                <a:solidFill>
                  <a:schemeClr val="accent1"/>
                </a:solidFill>
                <a:latin typeface="DM Sans Medium"/>
                <a:ea typeface="DM Sans Medium"/>
                <a:cs typeface="DM Sans Medium"/>
                <a:sym typeface="DM Sans Medium"/>
              </a:endParaRPr>
            </a:p>
          </p:txBody>
        </p:sp>
        <p:pic>
          <p:nvPicPr>
            <p:cNvPr id="1258" name="Google Shape;1258;p55"/>
            <p:cNvPicPr preferRelativeResize="0"/>
            <p:nvPr/>
          </p:nvPicPr>
          <p:blipFill>
            <a:blip r:embed="rId3">
              <a:alphaModFix/>
            </a:blip>
            <a:stretch>
              <a:fillRect/>
            </a:stretch>
          </p:blipFill>
          <p:spPr>
            <a:xfrm>
              <a:off x="9908871" y="5311470"/>
              <a:ext cx="265176" cy="265176"/>
            </a:xfrm>
            <a:prstGeom prst="rect">
              <a:avLst/>
            </a:prstGeom>
            <a:noFill/>
            <a:ln>
              <a:noFill/>
            </a:ln>
          </p:spPr>
        </p:pic>
      </p:grpSp>
      <p:grpSp>
        <p:nvGrpSpPr>
          <p:cNvPr id="1259" name="Google Shape;1259;p55"/>
          <p:cNvGrpSpPr/>
          <p:nvPr/>
        </p:nvGrpSpPr>
        <p:grpSpPr>
          <a:xfrm>
            <a:off x="9133775" y="5106027"/>
            <a:ext cx="1082100" cy="391902"/>
            <a:chOff x="9515475" y="4663855"/>
            <a:chExt cx="1082100" cy="391902"/>
          </a:xfrm>
        </p:grpSpPr>
        <p:sp>
          <p:nvSpPr>
            <p:cNvPr id="1260" name="Google Shape;1260;p55"/>
            <p:cNvSpPr txBox="1"/>
            <p:nvPr/>
          </p:nvSpPr>
          <p:spPr>
            <a:xfrm>
              <a:off x="9515475" y="4901857"/>
              <a:ext cx="1082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Business/AI App</a:t>
              </a:r>
              <a:endParaRPr sz="900">
                <a:solidFill>
                  <a:schemeClr val="accent1"/>
                </a:solidFill>
                <a:latin typeface="DM Sans Medium"/>
                <a:ea typeface="DM Sans Medium"/>
                <a:cs typeface="DM Sans Medium"/>
                <a:sym typeface="DM Sans Medium"/>
              </a:endParaRPr>
            </a:p>
          </p:txBody>
        </p:sp>
        <p:pic>
          <p:nvPicPr>
            <p:cNvPr id="1261" name="Google Shape;1261;p55"/>
            <p:cNvPicPr preferRelativeResize="0"/>
            <p:nvPr/>
          </p:nvPicPr>
          <p:blipFill>
            <a:blip r:embed="rId3">
              <a:alphaModFix/>
            </a:blip>
            <a:stretch>
              <a:fillRect/>
            </a:stretch>
          </p:blipFill>
          <p:spPr>
            <a:xfrm>
              <a:off x="9908871" y="4663855"/>
              <a:ext cx="265176" cy="265176"/>
            </a:xfrm>
            <a:prstGeom prst="rect">
              <a:avLst/>
            </a:prstGeom>
            <a:noFill/>
            <a:ln>
              <a:noFill/>
            </a:ln>
          </p:spPr>
        </p:pic>
      </p:grpSp>
      <p:sp>
        <p:nvSpPr>
          <p:cNvPr id="1262" name="Google Shape;1262;p55"/>
          <p:cNvSpPr/>
          <p:nvPr/>
        </p:nvSpPr>
        <p:spPr>
          <a:xfrm>
            <a:off x="6727000" y="5129400"/>
            <a:ext cx="666600" cy="292500"/>
          </a:xfrm>
          <a:prstGeom prst="roundRect">
            <a:avLst>
              <a:gd fmla="val 17511"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     Delta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       Sharing</a:t>
            </a:r>
            <a:endParaRPr sz="900">
              <a:solidFill>
                <a:schemeClr val="accent2"/>
              </a:solidFill>
              <a:latin typeface="DM Sans SemiBold"/>
              <a:ea typeface="DM Sans SemiBold"/>
              <a:cs typeface="DM Sans SemiBold"/>
              <a:sym typeface="DM Sans SemiBold"/>
            </a:endParaRPr>
          </a:p>
        </p:txBody>
      </p:sp>
      <p:pic>
        <p:nvPicPr>
          <p:cNvPr id="1263" name="Google Shape;1263;p55"/>
          <p:cNvPicPr preferRelativeResize="0"/>
          <p:nvPr/>
        </p:nvPicPr>
        <p:blipFill>
          <a:blip r:embed="rId4">
            <a:alphaModFix/>
          </a:blip>
          <a:stretch>
            <a:fillRect/>
          </a:stretch>
        </p:blipFill>
        <p:spPr>
          <a:xfrm>
            <a:off x="6754210" y="5201783"/>
            <a:ext cx="173400" cy="145181"/>
          </a:xfrm>
          <a:prstGeom prst="rect">
            <a:avLst/>
          </a:prstGeom>
          <a:noFill/>
          <a:ln>
            <a:noFill/>
          </a:ln>
        </p:spPr>
      </p:pic>
      <p:sp>
        <p:nvSpPr>
          <p:cNvPr id="1264" name="Google Shape;1264;p55"/>
          <p:cNvSpPr/>
          <p:nvPr/>
        </p:nvSpPr>
        <p:spPr>
          <a:xfrm>
            <a:off x="2143275" y="2825260"/>
            <a:ext cx="879600" cy="274200"/>
          </a:xfrm>
          <a:prstGeom prst="roundRect">
            <a:avLst>
              <a:gd fmla="val 16667"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Lakeflow Connect</a:t>
            </a:r>
            <a:endParaRPr sz="900">
              <a:solidFill>
                <a:schemeClr val="accent2"/>
              </a:solidFill>
              <a:latin typeface="DM Sans SemiBold"/>
              <a:ea typeface="DM Sans SemiBold"/>
              <a:cs typeface="DM Sans SemiBold"/>
              <a:sym typeface="DM Sans SemiBold"/>
            </a:endParaRPr>
          </a:p>
        </p:txBody>
      </p:sp>
      <p:sp>
        <p:nvSpPr>
          <p:cNvPr id="1265" name="Google Shape;1265;p55"/>
          <p:cNvSpPr/>
          <p:nvPr/>
        </p:nvSpPr>
        <p:spPr>
          <a:xfrm>
            <a:off x="9133775" y="4282646"/>
            <a:ext cx="1082100" cy="579600"/>
          </a:xfrm>
          <a:prstGeom prst="roundRect">
            <a:avLst>
              <a:gd fmla="val 15648"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BI</a:t>
            </a:r>
            <a:endParaRPr sz="1100">
              <a:solidFill>
                <a:schemeClr val="accent5"/>
              </a:solidFill>
              <a:latin typeface="DM Sans Medium"/>
              <a:ea typeface="DM Sans Medium"/>
              <a:cs typeface="DM Sans Medium"/>
              <a:sym typeface="DM Sans Medium"/>
            </a:endParaRPr>
          </a:p>
        </p:txBody>
      </p:sp>
      <p:sp>
        <p:nvSpPr>
          <p:cNvPr id="1266" name="Google Shape;1266;p55"/>
          <p:cNvSpPr/>
          <p:nvPr/>
        </p:nvSpPr>
        <p:spPr>
          <a:xfrm>
            <a:off x="8977121" y="4083498"/>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1267" name="Google Shape;1267;p55"/>
          <p:cNvCxnSpPr>
            <a:stCxn id="1266" idx="2"/>
            <a:endCxn id="1233" idx="1"/>
          </p:cNvCxnSpPr>
          <p:nvPr/>
        </p:nvCxnSpPr>
        <p:spPr>
          <a:xfrm flipH="1" rot="-5400000">
            <a:off x="8560121" y="4643598"/>
            <a:ext cx="1042200" cy="105000"/>
          </a:xfrm>
          <a:prstGeom prst="bentConnector2">
            <a:avLst/>
          </a:prstGeom>
          <a:noFill/>
          <a:ln cap="flat" cmpd="sng" w="9525">
            <a:solidFill>
              <a:schemeClr val="accent1"/>
            </a:solidFill>
            <a:prstDash val="solid"/>
            <a:round/>
            <a:headEnd len="sm" w="sm" type="none"/>
            <a:tailEnd len="sm" w="sm" type="triangle"/>
          </a:ln>
        </p:spPr>
      </p:cxnSp>
      <p:cxnSp>
        <p:nvCxnSpPr>
          <p:cNvPr id="1268" name="Google Shape;1268;p55"/>
          <p:cNvCxnSpPr>
            <a:stCxn id="1266" idx="2"/>
            <a:endCxn id="1265" idx="1"/>
          </p:cNvCxnSpPr>
          <p:nvPr/>
        </p:nvCxnSpPr>
        <p:spPr>
          <a:xfrm flipH="1" rot="-5400000">
            <a:off x="8882471" y="4321248"/>
            <a:ext cx="397500" cy="105000"/>
          </a:xfrm>
          <a:prstGeom prst="bentConnector2">
            <a:avLst/>
          </a:prstGeom>
          <a:noFill/>
          <a:ln cap="flat" cmpd="sng" w="9525">
            <a:solidFill>
              <a:schemeClr val="accent1"/>
            </a:solidFill>
            <a:prstDash val="solid"/>
            <a:round/>
            <a:headEnd len="sm" w="sm" type="none"/>
            <a:tailEnd len="sm" w="sm" type="triangle"/>
          </a:ln>
        </p:spPr>
      </p:cxnSp>
      <p:sp>
        <p:nvSpPr>
          <p:cNvPr id="1269" name="Google Shape;1269;p55"/>
          <p:cNvSpPr/>
          <p:nvPr/>
        </p:nvSpPr>
        <p:spPr>
          <a:xfrm>
            <a:off x="6727824" y="3179562"/>
            <a:ext cx="6858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AI Functions</a:t>
            </a:r>
            <a:endParaRPr sz="900">
              <a:solidFill>
                <a:schemeClr val="accent2"/>
              </a:solidFill>
              <a:latin typeface="DM Sans SemiBold"/>
              <a:ea typeface="DM Sans SemiBold"/>
              <a:cs typeface="DM Sans SemiBold"/>
              <a:sym typeface="DM Sans SemiBold"/>
            </a:endParaRPr>
          </a:p>
        </p:txBody>
      </p:sp>
      <p:sp>
        <p:nvSpPr>
          <p:cNvPr id="1270" name="Google Shape;1270;p55"/>
          <p:cNvSpPr/>
          <p:nvPr/>
        </p:nvSpPr>
        <p:spPr>
          <a:xfrm>
            <a:off x="3322840" y="5121992"/>
            <a:ext cx="704100" cy="2925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        Delta</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        Lake</a:t>
            </a:r>
            <a:endParaRPr sz="900">
              <a:solidFill>
                <a:schemeClr val="accent2"/>
              </a:solidFill>
              <a:latin typeface="DM Sans SemiBold"/>
              <a:ea typeface="DM Sans SemiBold"/>
              <a:cs typeface="DM Sans SemiBold"/>
              <a:sym typeface="DM Sans SemiBold"/>
            </a:endParaRPr>
          </a:p>
        </p:txBody>
      </p:sp>
      <p:pic>
        <p:nvPicPr>
          <p:cNvPr id="1271" name="Google Shape;1271;p55"/>
          <p:cNvPicPr preferRelativeResize="0"/>
          <p:nvPr/>
        </p:nvPicPr>
        <p:blipFill>
          <a:blip r:embed="rId5">
            <a:alphaModFix/>
          </a:blip>
          <a:stretch>
            <a:fillRect/>
          </a:stretch>
        </p:blipFill>
        <p:spPr>
          <a:xfrm>
            <a:off x="3367671" y="5181455"/>
            <a:ext cx="200700" cy="191237"/>
          </a:xfrm>
          <a:prstGeom prst="rect">
            <a:avLst/>
          </a:prstGeom>
          <a:noFill/>
          <a:ln>
            <a:noFill/>
          </a:ln>
        </p:spPr>
      </p:pic>
      <p:sp>
        <p:nvSpPr>
          <p:cNvPr id="1272" name="Google Shape;1272;p55"/>
          <p:cNvSpPr/>
          <p:nvPr/>
        </p:nvSpPr>
        <p:spPr>
          <a:xfrm>
            <a:off x="4857709" y="4423213"/>
            <a:ext cx="740400" cy="2742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Catalog and Lineage</a:t>
            </a:r>
            <a:endParaRPr sz="900">
              <a:solidFill>
                <a:schemeClr val="accent2"/>
              </a:solidFill>
              <a:latin typeface="DM Sans SemiBold"/>
              <a:ea typeface="DM Sans SemiBold"/>
              <a:cs typeface="DM Sans SemiBold"/>
              <a:sym typeface="DM Sans SemiBold"/>
            </a:endParaRPr>
          </a:p>
        </p:txBody>
      </p:sp>
      <p:sp>
        <p:nvSpPr>
          <p:cNvPr id="1273" name="Google Shape;1273;p55"/>
          <p:cNvSpPr txBox="1"/>
          <p:nvPr/>
        </p:nvSpPr>
        <p:spPr>
          <a:xfrm rot="-5400000">
            <a:off x="485913" y="2789875"/>
            <a:ext cx="4701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ETL</a:t>
            </a:r>
            <a:endParaRPr sz="1100">
              <a:solidFill>
                <a:schemeClr val="accent5"/>
              </a:solidFill>
              <a:latin typeface="DM Sans"/>
              <a:ea typeface="DM Sans"/>
              <a:cs typeface="DM Sans"/>
              <a:sym typeface="DM Sans"/>
            </a:endParaRPr>
          </a:p>
        </p:txBody>
      </p:sp>
      <p:sp>
        <p:nvSpPr>
          <p:cNvPr id="1274" name="Google Shape;1274;p55"/>
          <p:cNvSpPr/>
          <p:nvPr/>
        </p:nvSpPr>
        <p:spPr>
          <a:xfrm>
            <a:off x="4332250" y="5121992"/>
            <a:ext cx="704100" cy="2925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200025"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Iceberg</a:t>
            </a:r>
            <a:endParaRPr sz="900">
              <a:solidFill>
                <a:schemeClr val="accent2"/>
              </a:solidFill>
              <a:latin typeface="DM Sans SemiBold"/>
              <a:ea typeface="DM Sans SemiBold"/>
              <a:cs typeface="DM Sans SemiBold"/>
              <a:sym typeface="DM Sans SemiBold"/>
            </a:endParaRPr>
          </a:p>
        </p:txBody>
      </p:sp>
      <p:sp>
        <p:nvSpPr>
          <p:cNvPr id="1275" name="Google Shape;1275;p55"/>
          <p:cNvSpPr/>
          <p:nvPr/>
        </p:nvSpPr>
        <p:spPr>
          <a:xfrm>
            <a:off x="3449100" y="2582475"/>
            <a:ext cx="9837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Feature Engineering</a:t>
            </a:r>
            <a:endParaRPr sz="900">
              <a:solidFill>
                <a:schemeClr val="accent2"/>
              </a:solidFill>
              <a:latin typeface="DM Sans SemiBold"/>
              <a:ea typeface="DM Sans SemiBold"/>
              <a:cs typeface="DM Sans SemiBold"/>
              <a:sym typeface="DM Sans SemiBold"/>
            </a:endParaRPr>
          </a:p>
        </p:txBody>
      </p:sp>
      <p:sp>
        <p:nvSpPr>
          <p:cNvPr id="1276" name="Google Shape;1276;p55"/>
          <p:cNvSpPr/>
          <p:nvPr/>
        </p:nvSpPr>
        <p:spPr>
          <a:xfrm>
            <a:off x="3322840" y="4423213"/>
            <a:ext cx="704100" cy="2742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Federation</a:t>
            </a:r>
            <a:endParaRPr sz="900">
              <a:solidFill>
                <a:schemeClr val="accent2"/>
              </a:solidFill>
              <a:latin typeface="DM Sans SemiBold"/>
              <a:ea typeface="DM Sans SemiBold"/>
              <a:cs typeface="DM Sans SemiBold"/>
              <a:sym typeface="DM Sans SemiBold"/>
            </a:endParaRPr>
          </a:p>
        </p:txBody>
      </p:sp>
      <p:cxnSp>
        <p:nvCxnSpPr>
          <p:cNvPr id="1277" name="Google Shape;1277;p55"/>
          <p:cNvCxnSpPr/>
          <p:nvPr/>
        </p:nvCxnSpPr>
        <p:spPr>
          <a:xfrm>
            <a:off x="1768354" y="5371543"/>
            <a:ext cx="1413300" cy="600"/>
          </a:xfrm>
          <a:prstGeom prst="bentConnector3">
            <a:avLst>
              <a:gd fmla="val 50000" name="adj1"/>
            </a:avLst>
          </a:prstGeom>
          <a:noFill/>
          <a:ln cap="flat" cmpd="sng" w="9525">
            <a:solidFill>
              <a:schemeClr val="accent1"/>
            </a:solidFill>
            <a:prstDash val="solid"/>
            <a:round/>
            <a:headEnd len="sm" w="sm" type="none"/>
            <a:tailEnd len="sm" w="sm" type="triangle"/>
          </a:ln>
        </p:spPr>
      </p:cxnSp>
      <p:cxnSp>
        <p:nvCxnSpPr>
          <p:cNvPr id="1278" name="Google Shape;1278;p55"/>
          <p:cNvCxnSpPr>
            <a:stCxn id="1279" idx="2"/>
            <a:endCxn id="1280" idx="1"/>
          </p:cNvCxnSpPr>
          <p:nvPr/>
        </p:nvCxnSpPr>
        <p:spPr>
          <a:xfrm flipH="1" rot="-5400000">
            <a:off x="4292634" y="5411455"/>
            <a:ext cx="258000" cy="531900"/>
          </a:xfrm>
          <a:prstGeom prst="bentConnector2">
            <a:avLst/>
          </a:prstGeom>
          <a:noFill/>
          <a:ln cap="flat" cmpd="sng" w="9525">
            <a:solidFill>
              <a:schemeClr val="accent1"/>
            </a:solidFill>
            <a:prstDash val="solid"/>
            <a:round/>
            <a:headEnd len="sm" w="sm" type="triangle"/>
            <a:tailEnd len="sm" w="sm" type="triangle"/>
          </a:ln>
        </p:spPr>
      </p:cxnSp>
      <p:sp>
        <p:nvSpPr>
          <p:cNvPr id="1244" name="Google Shape;1244;p55"/>
          <p:cNvSpPr/>
          <p:nvPr/>
        </p:nvSpPr>
        <p:spPr>
          <a:xfrm>
            <a:off x="8524112" y="4091357"/>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240" name="Google Shape;1240;p55"/>
          <p:cNvSpPr/>
          <p:nvPr/>
        </p:nvSpPr>
        <p:spPr>
          <a:xfrm>
            <a:off x="1689846" y="2981675"/>
            <a:ext cx="759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1281" name="Google Shape;1281;p55"/>
          <p:cNvPicPr preferRelativeResize="0"/>
          <p:nvPr/>
        </p:nvPicPr>
        <p:blipFill>
          <a:blip r:embed="rId6">
            <a:alphaModFix/>
          </a:blip>
          <a:stretch>
            <a:fillRect/>
          </a:stretch>
        </p:blipFill>
        <p:spPr>
          <a:xfrm>
            <a:off x="4998129" y="1403077"/>
            <a:ext cx="259650" cy="279625"/>
          </a:xfrm>
          <a:prstGeom prst="rect">
            <a:avLst/>
          </a:prstGeom>
          <a:noFill/>
          <a:ln>
            <a:noFill/>
          </a:ln>
        </p:spPr>
      </p:pic>
      <p:sp>
        <p:nvSpPr>
          <p:cNvPr id="1279" name="Google Shape;1279;p55"/>
          <p:cNvSpPr/>
          <p:nvPr/>
        </p:nvSpPr>
        <p:spPr>
          <a:xfrm>
            <a:off x="4104084" y="5456905"/>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282" name="Google Shape;1282;p55"/>
          <p:cNvSpPr/>
          <p:nvPr/>
        </p:nvSpPr>
        <p:spPr>
          <a:xfrm>
            <a:off x="8279671" y="2582483"/>
            <a:ext cx="685500" cy="2757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Model</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Serving</a:t>
            </a:r>
            <a:endParaRPr sz="900">
              <a:solidFill>
                <a:schemeClr val="accent2"/>
              </a:solidFill>
              <a:latin typeface="DM Sans SemiBold"/>
              <a:ea typeface="DM Sans SemiBold"/>
              <a:cs typeface="DM Sans SemiBold"/>
              <a:sym typeface="DM Sans SemiBold"/>
            </a:endParaRPr>
          </a:p>
        </p:txBody>
      </p:sp>
      <p:grpSp>
        <p:nvGrpSpPr>
          <p:cNvPr id="1283" name="Google Shape;1283;p55"/>
          <p:cNvGrpSpPr/>
          <p:nvPr/>
        </p:nvGrpSpPr>
        <p:grpSpPr>
          <a:xfrm>
            <a:off x="5357469" y="5168059"/>
            <a:ext cx="1015163" cy="210402"/>
            <a:chOff x="6995676" y="6025175"/>
            <a:chExt cx="1015163" cy="210402"/>
          </a:xfrm>
        </p:grpSpPr>
        <p:sp>
          <p:nvSpPr>
            <p:cNvPr id="1284" name="Google Shape;1284;p55"/>
            <p:cNvSpPr txBox="1"/>
            <p:nvPr/>
          </p:nvSpPr>
          <p:spPr>
            <a:xfrm>
              <a:off x="6995676" y="6112577"/>
              <a:ext cx="38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bronze</a:t>
              </a:r>
              <a:endParaRPr sz="800">
                <a:solidFill>
                  <a:srgbClr val="1B5162"/>
                </a:solidFill>
                <a:latin typeface="DM Sans"/>
                <a:ea typeface="DM Sans"/>
                <a:cs typeface="DM Sans"/>
                <a:sym typeface="DM Sans"/>
              </a:endParaRPr>
            </a:p>
          </p:txBody>
        </p:sp>
        <p:sp>
          <p:nvSpPr>
            <p:cNvPr id="1285" name="Google Shape;1285;p55"/>
            <p:cNvSpPr txBox="1"/>
            <p:nvPr/>
          </p:nvSpPr>
          <p:spPr>
            <a:xfrm>
              <a:off x="7393838" y="6112577"/>
              <a:ext cx="29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silver</a:t>
              </a:r>
              <a:endParaRPr sz="800">
                <a:solidFill>
                  <a:srgbClr val="1B5162"/>
                </a:solidFill>
                <a:latin typeface="DM Sans"/>
                <a:ea typeface="DM Sans"/>
                <a:cs typeface="DM Sans"/>
                <a:sym typeface="DM Sans"/>
              </a:endParaRPr>
            </a:p>
          </p:txBody>
        </p:sp>
        <p:sp>
          <p:nvSpPr>
            <p:cNvPr id="1286" name="Google Shape;1286;p55"/>
            <p:cNvSpPr txBox="1"/>
            <p:nvPr/>
          </p:nvSpPr>
          <p:spPr>
            <a:xfrm>
              <a:off x="7755238" y="6112577"/>
              <a:ext cx="2556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gold</a:t>
              </a:r>
              <a:endParaRPr sz="800">
                <a:solidFill>
                  <a:srgbClr val="1B5162"/>
                </a:solidFill>
                <a:latin typeface="DM Sans"/>
                <a:ea typeface="DM Sans"/>
                <a:cs typeface="DM Sans"/>
                <a:sym typeface="DM Sans"/>
              </a:endParaRPr>
            </a:p>
          </p:txBody>
        </p:sp>
        <p:sp>
          <p:nvSpPr>
            <p:cNvPr id="1287" name="Google Shape;1287;p55"/>
            <p:cNvSpPr/>
            <p:nvPr/>
          </p:nvSpPr>
          <p:spPr>
            <a:xfrm>
              <a:off x="7094764" y="6025175"/>
              <a:ext cx="182100" cy="92525"/>
            </a:xfrm>
            <a:prstGeom prst="flowChartMagneticDisk">
              <a:avLst/>
            </a:prstGeom>
            <a:solidFill>
              <a:srgbClr val="BF897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1288" name="Google Shape;1288;p55"/>
            <p:cNvSpPr/>
            <p:nvPr/>
          </p:nvSpPr>
          <p:spPr>
            <a:xfrm>
              <a:off x="7441284" y="6025175"/>
              <a:ext cx="182100" cy="92525"/>
            </a:xfrm>
            <a:prstGeom prst="flowChartMagneticDisk">
              <a:avLst/>
            </a:prstGeom>
            <a:solidFill>
              <a:srgbClr val="C0C0C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1289" name="Google Shape;1289;p55"/>
            <p:cNvSpPr/>
            <p:nvPr/>
          </p:nvSpPr>
          <p:spPr>
            <a:xfrm>
              <a:off x="7791988" y="6025175"/>
              <a:ext cx="182100" cy="92525"/>
            </a:xfrm>
            <a:prstGeom prst="flowChartMagneticDisk">
              <a:avLst/>
            </a:prstGeom>
            <a:solidFill>
              <a:srgbClr val="D4AF37"/>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1290" name="Google Shape;1290;p55"/>
            <p:cNvSpPr/>
            <p:nvPr/>
          </p:nvSpPr>
          <p:spPr>
            <a:xfrm rot="5400000">
              <a:off x="7401063"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1291" name="Google Shape;1291;p55"/>
            <p:cNvCxnSpPr>
              <a:stCxn id="1288" idx="4"/>
              <a:endCxn id="1292" idx="3"/>
            </p:cNvCxnSpPr>
            <p:nvPr/>
          </p:nvCxnSpPr>
          <p:spPr>
            <a:xfrm>
              <a:off x="7623384" y="6071438"/>
              <a:ext cx="125400" cy="1200"/>
            </a:xfrm>
            <a:prstGeom prst="straightConnector1">
              <a:avLst/>
            </a:prstGeom>
            <a:noFill/>
            <a:ln cap="flat" cmpd="sng" w="9525">
              <a:solidFill>
                <a:srgbClr val="666666"/>
              </a:solidFill>
              <a:prstDash val="solid"/>
              <a:round/>
              <a:headEnd len="sm" w="sm" type="none"/>
              <a:tailEnd len="med" w="med" type="none"/>
            </a:ln>
          </p:spPr>
        </p:cxnSp>
        <p:sp>
          <p:nvSpPr>
            <p:cNvPr id="1292" name="Google Shape;1292;p55"/>
            <p:cNvSpPr/>
            <p:nvPr/>
          </p:nvSpPr>
          <p:spPr>
            <a:xfrm rot="5400000">
              <a:off x="7748234"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1293" name="Google Shape;1293;p55"/>
            <p:cNvCxnSpPr>
              <a:stCxn id="1287" idx="4"/>
              <a:endCxn id="1290" idx="3"/>
            </p:cNvCxnSpPr>
            <p:nvPr/>
          </p:nvCxnSpPr>
          <p:spPr>
            <a:xfrm>
              <a:off x="7276864" y="6071438"/>
              <a:ext cx="124800" cy="1200"/>
            </a:xfrm>
            <a:prstGeom prst="straightConnector1">
              <a:avLst/>
            </a:prstGeom>
            <a:noFill/>
            <a:ln cap="flat" cmpd="sng" w="9525">
              <a:solidFill>
                <a:srgbClr val="666666"/>
              </a:solidFill>
              <a:prstDash val="solid"/>
              <a:round/>
              <a:headEnd len="sm" w="sm" type="none"/>
              <a:tailEnd len="med" w="med" type="none"/>
            </a:ln>
          </p:spPr>
        </p:cxnSp>
      </p:grpSp>
      <p:sp>
        <p:nvSpPr>
          <p:cNvPr id="1294" name="Google Shape;1294;p55"/>
          <p:cNvSpPr/>
          <p:nvPr/>
        </p:nvSpPr>
        <p:spPr>
          <a:xfrm>
            <a:off x="3247450" y="3574037"/>
            <a:ext cx="3380100" cy="557700"/>
          </a:xfrm>
          <a:prstGeom prst="roundRect">
            <a:avLst>
              <a:gd fmla="val 14501"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None/>
            </a:pPr>
            <a:r>
              <a:rPr lang="en" sz="1100">
                <a:solidFill>
                  <a:schemeClr val="accent5"/>
                </a:solidFill>
                <a:latin typeface="DM Sans Medium"/>
                <a:ea typeface="DM Sans Medium"/>
                <a:cs typeface="DM Sans Medium"/>
                <a:sym typeface="DM Sans Medium"/>
              </a:rPr>
              <a:t>Data Intelligence</a:t>
            </a:r>
            <a:endParaRPr sz="1100">
              <a:solidFill>
                <a:schemeClr val="accent5"/>
              </a:solidFill>
              <a:latin typeface="DM Sans Medium"/>
              <a:ea typeface="DM Sans Medium"/>
              <a:cs typeface="DM Sans Medium"/>
              <a:sym typeface="DM Sans Medium"/>
            </a:endParaRPr>
          </a:p>
        </p:txBody>
      </p:sp>
      <p:sp>
        <p:nvSpPr>
          <p:cNvPr id="1295" name="Google Shape;1295;p55"/>
          <p:cNvSpPr/>
          <p:nvPr/>
        </p:nvSpPr>
        <p:spPr>
          <a:xfrm>
            <a:off x="3727425" y="3799000"/>
            <a:ext cx="704100" cy="274200"/>
          </a:xfrm>
          <a:prstGeom prst="roundRect">
            <a:avLst>
              <a:gd fmla="val 17361"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Assistant</a:t>
            </a:r>
            <a:endParaRPr sz="900">
              <a:solidFill>
                <a:schemeClr val="accent2"/>
              </a:solidFill>
              <a:latin typeface="DM Sans SemiBold"/>
              <a:ea typeface="DM Sans SemiBold"/>
              <a:cs typeface="DM Sans SemiBold"/>
              <a:sym typeface="DM Sans SemiBold"/>
            </a:endParaRPr>
          </a:p>
        </p:txBody>
      </p:sp>
      <p:sp>
        <p:nvSpPr>
          <p:cNvPr id="1296" name="Google Shape;1296;p55"/>
          <p:cNvSpPr/>
          <p:nvPr/>
        </p:nvSpPr>
        <p:spPr>
          <a:xfrm>
            <a:off x="5461775" y="3802250"/>
            <a:ext cx="685800" cy="274200"/>
          </a:xfrm>
          <a:prstGeom prst="roundRect">
            <a:avLst>
              <a:gd fmla="val 17361"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Predictive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IO</a:t>
            </a:r>
            <a:endParaRPr sz="900">
              <a:solidFill>
                <a:schemeClr val="accent2"/>
              </a:solidFill>
              <a:latin typeface="DM Sans SemiBold"/>
              <a:ea typeface="DM Sans SemiBold"/>
              <a:cs typeface="DM Sans SemiBold"/>
              <a:sym typeface="DM Sans SemiBold"/>
            </a:endParaRPr>
          </a:p>
        </p:txBody>
      </p:sp>
      <p:sp>
        <p:nvSpPr>
          <p:cNvPr id="1297" name="Google Shape;1297;p55"/>
          <p:cNvSpPr/>
          <p:nvPr/>
        </p:nvSpPr>
        <p:spPr>
          <a:xfrm>
            <a:off x="4564824" y="3802250"/>
            <a:ext cx="761100" cy="274200"/>
          </a:xfrm>
          <a:prstGeom prst="roundRect">
            <a:avLst>
              <a:gd fmla="val 17361"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Predictive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optimization</a:t>
            </a:r>
            <a:endParaRPr sz="900">
              <a:solidFill>
                <a:schemeClr val="accent2"/>
              </a:solidFill>
              <a:latin typeface="DM Sans SemiBold"/>
              <a:ea typeface="DM Sans SemiBold"/>
              <a:cs typeface="DM Sans SemiBold"/>
              <a:sym typeface="DM Sans SemiBold"/>
            </a:endParaRPr>
          </a:p>
        </p:txBody>
      </p:sp>
      <p:grpSp>
        <p:nvGrpSpPr>
          <p:cNvPr id="1298" name="Google Shape;1298;p55"/>
          <p:cNvGrpSpPr/>
          <p:nvPr/>
        </p:nvGrpSpPr>
        <p:grpSpPr>
          <a:xfrm>
            <a:off x="861763" y="1388635"/>
            <a:ext cx="879600" cy="565670"/>
            <a:chOff x="820734" y="1742570"/>
            <a:chExt cx="879600" cy="565670"/>
          </a:xfrm>
        </p:grpSpPr>
        <p:sp>
          <p:nvSpPr>
            <p:cNvPr id="1299" name="Google Shape;1299;p55"/>
            <p:cNvSpPr txBox="1"/>
            <p:nvPr/>
          </p:nvSpPr>
          <p:spPr>
            <a:xfrm>
              <a:off x="820734" y="1969540"/>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Files / Logs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a:t>
              </a:r>
              <a:r>
                <a:rPr lang="en" sz="800">
                  <a:solidFill>
                    <a:schemeClr val="accent5"/>
                  </a:solidFill>
                  <a:latin typeface="DM Sans Medium"/>
                  <a:ea typeface="DM Sans Medium"/>
                  <a:cs typeface="DM Sans Medium"/>
                  <a:sym typeface="DM Sans Medium"/>
                </a:rPr>
                <a:t>semi-</a:t>
              </a: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1300" name="Google Shape;1300;p55"/>
            <p:cNvPicPr preferRelativeResize="0"/>
            <p:nvPr/>
          </p:nvPicPr>
          <p:blipFill>
            <a:blip r:embed="rId7">
              <a:alphaModFix/>
            </a:blip>
            <a:stretch>
              <a:fillRect/>
            </a:stretch>
          </p:blipFill>
          <p:spPr>
            <a:xfrm>
              <a:off x="1127949" y="1742570"/>
              <a:ext cx="265176" cy="265176"/>
            </a:xfrm>
            <a:prstGeom prst="rect">
              <a:avLst/>
            </a:prstGeom>
            <a:noFill/>
            <a:ln>
              <a:noFill/>
            </a:ln>
          </p:spPr>
        </p:pic>
      </p:grpSp>
      <p:grpSp>
        <p:nvGrpSpPr>
          <p:cNvPr id="1301" name="Google Shape;1301;p55"/>
          <p:cNvGrpSpPr/>
          <p:nvPr/>
        </p:nvGrpSpPr>
        <p:grpSpPr>
          <a:xfrm>
            <a:off x="861800" y="1970622"/>
            <a:ext cx="879600" cy="558086"/>
            <a:chOff x="820771" y="2866176"/>
            <a:chExt cx="879600" cy="558086"/>
          </a:xfrm>
        </p:grpSpPr>
        <p:sp>
          <p:nvSpPr>
            <p:cNvPr id="1302" name="Google Shape;1302;p55"/>
            <p:cNvSpPr txBox="1"/>
            <p:nvPr/>
          </p:nvSpPr>
          <p:spPr>
            <a:xfrm>
              <a:off x="820771" y="3085563"/>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Sensors and IoT</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pic>
          <p:nvPicPr>
            <p:cNvPr id="1303" name="Google Shape;1303;p55"/>
            <p:cNvPicPr preferRelativeResize="0"/>
            <p:nvPr/>
          </p:nvPicPr>
          <p:blipFill>
            <a:blip r:embed="rId8">
              <a:alphaModFix/>
            </a:blip>
            <a:stretch>
              <a:fillRect/>
            </a:stretch>
          </p:blipFill>
          <p:spPr>
            <a:xfrm>
              <a:off x="1127949" y="2866176"/>
              <a:ext cx="265176" cy="265176"/>
            </a:xfrm>
            <a:prstGeom prst="rect">
              <a:avLst/>
            </a:prstGeom>
            <a:noFill/>
            <a:ln>
              <a:noFill/>
            </a:ln>
          </p:spPr>
        </p:pic>
      </p:grpSp>
      <p:grpSp>
        <p:nvGrpSpPr>
          <p:cNvPr id="1304" name="Google Shape;1304;p55"/>
          <p:cNvGrpSpPr/>
          <p:nvPr/>
        </p:nvGrpSpPr>
        <p:grpSpPr>
          <a:xfrm>
            <a:off x="903312" y="2545026"/>
            <a:ext cx="796500" cy="542824"/>
            <a:chOff x="862283" y="2315806"/>
            <a:chExt cx="796500" cy="542824"/>
          </a:xfrm>
        </p:grpSpPr>
        <p:sp>
          <p:nvSpPr>
            <p:cNvPr id="1305" name="Google Shape;1305;p55"/>
            <p:cNvSpPr txBox="1"/>
            <p:nvPr/>
          </p:nvSpPr>
          <p:spPr>
            <a:xfrm>
              <a:off x="862283" y="2519931"/>
              <a:ext cx="7965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 / DWH</a:t>
              </a:r>
              <a:br>
                <a:rPr lang="en" sz="900">
                  <a:solidFill>
                    <a:srgbClr val="1B5162"/>
                  </a:solidFill>
                  <a:latin typeface="DM Sans Medium"/>
                  <a:ea typeface="DM Sans Medium"/>
                  <a:cs typeface="DM Sans Medium"/>
                  <a:sym typeface="DM Sans Medium"/>
                </a:rPr>
              </a:br>
              <a:r>
                <a:rPr lang="en" sz="800">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1306" name="Google Shape;1306;p55"/>
            <p:cNvPicPr preferRelativeResize="0"/>
            <p:nvPr/>
          </p:nvPicPr>
          <p:blipFill>
            <a:blip r:embed="rId9">
              <a:alphaModFix/>
            </a:blip>
            <a:stretch>
              <a:fillRect/>
            </a:stretch>
          </p:blipFill>
          <p:spPr>
            <a:xfrm>
              <a:off x="1127949" y="2315806"/>
              <a:ext cx="265176" cy="265176"/>
            </a:xfrm>
            <a:prstGeom prst="rect">
              <a:avLst/>
            </a:prstGeom>
            <a:noFill/>
            <a:ln>
              <a:noFill/>
            </a:ln>
          </p:spPr>
        </p:pic>
      </p:grpSp>
      <p:grpSp>
        <p:nvGrpSpPr>
          <p:cNvPr id="1307" name="Google Shape;1307;p55"/>
          <p:cNvGrpSpPr/>
          <p:nvPr/>
        </p:nvGrpSpPr>
        <p:grpSpPr>
          <a:xfrm>
            <a:off x="861700" y="3104161"/>
            <a:ext cx="879600" cy="559474"/>
            <a:chOff x="820671" y="3997940"/>
            <a:chExt cx="879600" cy="559474"/>
          </a:xfrm>
        </p:grpSpPr>
        <p:pic>
          <p:nvPicPr>
            <p:cNvPr id="1308" name="Google Shape;1308;p55"/>
            <p:cNvPicPr preferRelativeResize="0"/>
            <p:nvPr/>
          </p:nvPicPr>
          <p:blipFill>
            <a:blip r:embed="rId3">
              <a:alphaModFix/>
            </a:blip>
            <a:stretch>
              <a:fillRect/>
            </a:stretch>
          </p:blipFill>
          <p:spPr>
            <a:xfrm>
              <a:off x="1127949" y="3997940"/>
              <a:ext cx="265176" cy="265176"/>
            </a:xfrm>
            <a:prstGeom prst="rect">
              <a:avLst/>
            </a:prstGeom>
            <a:noFill/>
            <a:ln>
              <a:noFill/>
            </a:ln>
          </p:spPr>
        </p:pic>
        <p:sp>
          <p:nvSpPr>
            <p:cNvPr id="1309" name="Google Shape;1309;p55"/>
            <p:cNvSpPr txBox="1"/>
            <p:nvPr/>
          </p:nvSpPr>
          <p:spPr>
            <a:xfrm>
              <a:off x="820671" y="4218714"/>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Business </a:t>
              </a:r>
              <a:r>
                <a:rPr lang="en" sz="900">
                  <a:solidFill>
                    <a:srgbClr val="1B5162"/>
                  </a:solidFill>
                  <a:latin typeface="DM Sans Medium"/>
                  <a:ea typeface="DM Sans Medium"/>
                  <a:cs typeface="DM Sans Medium"/>
                  <a:sym typeface="DM Sans Medium"/>
                </a:rPr>
                <a:t>A</a:t>
              </a:r>
              <a:r>
                <a:rPr i="0" lang="en" sz="900" u="none" cap="none" strike="noStrike">
                  <a:solidFill>
                    <a:srgbClr val="1B5162"/>
                  </a:solidFill>
                  <a:latin typeface="DM Sans Medium"/>
                  <a:ea typeface="DM Sans Medium"/>
                  <a:cs typeface="DM Sans Medium"/>
                  <a:sym typeface="DM Sans Medium"/>
                </a:rPr>
                <a:t>pps</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grpSp>
      <p:grpSp>
        <p:nvGrpSpPr>
          <p:cNvPr id="1310" name="Google Shape;1310;p55"/>
          <p:cNvGrpSpPr/>
          <p:nvPr/>
        </p:nvGrpSpPr>
        <p:grpSpPr>
          <a:xfrm>
            <a:off x="920210" y="3679952"/>
            <a:ext cx="761100" cy="558519"/>
            <a:chOff x="880006" y="3431841"/>
            <a:chExt cx="761100" cy="558519"/>
          </a:xfrm>
        </p:grpSpPr>
        <p:pic>
          <p:nvPicPr>
            <p:cNvPr id="1311" name="Google Shape;1311;p55"/>
            <p:cNvPicPr preferRelativeResize="0"/>
            <p:nvPr/>
          </p:nvPicPr>
          <p:blipFill>
            <a:blip r:embed="rId10">
              <a:alphaModFix/>
            </a:blip>
            <a:stretch>
              <a:fillRect/>
            </a:stretch>
          </p:blipFill>
          <p:spPr>
            <a:xfrm>
              <a:off x="1127949" y="3431841"/>
              <a:ext cx="265176" cy="265176"/>
            </a:xfrm>
            <a:prstGeom prst="rect">
              <a:avLst/>
            </a:prstGeom>
            <a:noFill/>
            <a:ln>
              <a:noFill/>
            </a:ln>
          </p:spPr>
        </p:pic>
        <p:sp>
          <p:nvSpPr>
            <p:cNvPr id="1312" name="Google Shape;1312;p55"/>
            <p:cNvSpPr txBox="1"/>
            <p:nvPr/>
          </p:nvSpPr>
          <p:spPr>
            <a:xfrm>
              <a:off x="880006" y="3651660"/>
              <a:ext cx="7611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Media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grpSp>
      <p:sp>
        <p:nvSpPr>
          <p:cNvPr id="1313" name="Google Shape;1313;p55"/>
          <p:cNvSpPr/>
          <p:nvPr/>
        </p:nvSpPr>
        <p:spPr>
          <a:xfrm>
            <a:off x="6679225" y="968000"/>
            <a:ext cx="2370900" cy="2154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Serve</a:t>
            </a:r>
            <a:endParaRPr i="0" sz="1300" u="none" cap="none" strike="noStrike">
              <a:solidFill>
                <a:srgbClr val="434343"/>
              </a:solidFill>
              <a:latin typeface="DM Sans SemiBold"/>
              <a:ea typeface="DM Sans SemiBold"/>
              <a:cs typeface="DM Sans SemiBold"/>
              <a:sym typeface="DM Sans SemiBold"/>
            </a:endParaRPr>
          </a:p>
        </p:txBody>
      </p:sp>
      <p:sp>
        <p:nvSpPr>
          <p:cNvPr id="1314" name="Google Shape;1314;p55"/>
          <p:cNvSpPr/>
          <p:nvPr/>
        </p:nvSpPr>
        <p:spPr>
          <a:xfrm>
            <a:off x="4655880" y="967735"/>
            <a:ext cx="1938000" cy="2160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Query / Process</a:t>
            </a:r>
            <a:endParaRPr i="0" sz="1300" u="none" cap="none" strike="noStrike">
              <a:solidFill>
                <a:srgbClr val="434343"/>
              </a:solidFill>
              <a:latin typeface="DM Sans SemiBold"/>
              <a:ea typeface="DM Sans SemiBold"/>
              <a:cs typeface="DM Sans SemiBold"/>
              <a:sym typeface="DM Sans SemiBold"/>
            </a:endParaRPr>
          </a:p>
        </p:txBody>
      </p:sp>
      <p:sp>
        <p:nvSpPr>
          <p:cNvPr id="1315" name="Google Shape;1315;p55"/>
          <p:cNvSpPr/>
          <p:nvPr/>
        </p:nvSpPr>
        <p:spPr>
          <a:xfrm>
            <a:off x="7446063" y="5249871"/>
            <a:ext cx="549000" cy="223800"/>
          </a:xfrm>
          <a:prstGeom prst="roundRect">
            <a:avLst>
              <a:gd fmla="val 20281" name="adj"/>
            </a:avLst>
          </a:prstGeom>
          <a:solidFill>
            <a:srgbClr val="FFFFFF"/>
          </a:solidFill>
          <a:ln cap="flat" cmpd="sng" w="9525">
            <a:solidFill>
              <a:schemeClr val="accent2"/>
            </a:solidFill>
            <a:prstDash val="solid"/>
            <a:round/>
            <a:headEnd len="sm" w="sm" type="none"/>
            <a:tailEnd len="sm" w="sm" type="none"/>
          </a:ln>
        </p:spPr>
        <p:txBody>
          <a:bodyPr anchorCtr="0" anchor="ctr" bIns="0" lIns="0" spcFirstLastPara="1" rIns="0" wrap="square" tIns="9125">
            <a:noAutofit/>
          </a:bodyPr>
          <a:lstStyle/>
          <a:p>
            <a:pPr indent="0" lvl="0" marL="0" rtl="0" algn="ctr">
              <a:lnSpc>
                <a:spcPct val="75000"/>
              </a:lnSpc>
              <a:spcBef>
                <a:spcPts val="0"/>
              </a:spcBef>
              <a:spcAft>
                <a:spcPts val="0"/>
              </a:spcAft>
              <a:buNone/>
            </a:pPr>
            <a:r>
              <a:rPr lang="en" sz="900">
                <a:solidFill>
                  <a:schemeClr val="accent2"/>
                </a:solidFill>
                <a:latin typeface="DM Sans SemiBold"/>
                <a:ea typeface="DM Sans SemiBold"/>
                <a:cs typeface="DM Sans SemiBold"/>
                <a:sym typeface="DM Sans SemiBold"/>
              </a:rPr>
              <a:t>Clean Rooms</a:t>
            </a:r>
            <a:endParaRPr sz="900">
              <a:solidFill>
                <a:schemeClr val="accent2"/>
              </a:solidFill>
              <a:latin typeface="DM Sans SemiBold"/>
              <a:ea typeface="DM Sans SemiBold"/>
              <a:cs typeface="DM Sans SemiBold"/>
              <a:sym typeface="DM Sans SemiBold"/>
            </a:endParaRPr>
          </a:p>
        </p:txBody>
      </p:sp>
      <p:sp>
        <p:nvSpPr>
          <p:cNvPr id="1316" name="Google Shape;1316;p55"/>
          <p:cNvSpPr/>
          <p:nvPr/>
        </p:nvSpPr>
        <p:spPr>
          <a:xfrm>
            <a:off x="10497579" y="968002"/>
            <a:ext cx="1044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Integrate</a:t>
            </a:r>
            <a:endParaRPr sz="1300">
              <a:solidFill>
                <a:srgbClr val="434343"/>
              </a:solidFill>
              <a:latin typeface="DM Sans SemiBold"/>
              <a:ea typeface="DM Sans SemiBold"/>
              <a:cs typeface="DM Sans SemiBold"/>
              <a:sym typeface="DM Sans SemiBold"/>
            </a:endParaRPr>
          </a:p>
        </p:txBody>
      </p:sp>
      <p:grpSp>
        <p:nvGrpSpPr>
          <p:cNvPr id="1317" name="Google Shape;1317;p55"/>
          <p:cNvGrpSpPr/>
          <p:nvPr/>
        </p:nvGrpSpPr>
        <p:grpSpPr>
          <a:xfrm>
            <a:off x="10606481" y="3498690"/>
            <a:ext cx="826200" cy="361210"/>
            <a:chOff x="10606481" y="3498690"/>
            <a:chExt cx="826200" cy="361210"/>
          </a:xfrm>
        </p:grpSpPr>
        <p:sp>
          <p:nvSpPr>
            <p:cNvPr id="1318" name="Google Shape;1318;p55"/>
            <p:cNvSpPr txBox="1"/>
            <p:nvPr/>
          </p:nvSpPr>
          <p:spPr>
            <a:xfrm>
              <a:off x="10606481" y="3735100"/>
              <a:ext cx="826200" cy="1248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Hugging Face</a:t>
              </a:r>
              <a:endParaRPr sz="900">
                <a:solidFill>
                  <a:schemeClr val="accent1"/>
                </a:solidFill>
                <a:latin typeface="DM Sans Medium"/>
                <a:ea typeface="DM Sans Medium"/>
                <a:cs typeface="DM Sans Medium"/>
                <a:sym typeface="DM Sans Medium"/>
              </a:endParaRPr>
            </a:p>
          </p:txBody>
        </p:sp>
        <p:pic>
          <p:nvPicPr>
            <p:cNvPr id="1319" name="Google Shape;1319;p55"/>
            <p:cNvPicPr preferRelativeResize="0"/>
            <p:nvPr/>
          </p:nvPicPr>
          <p:blipFill>
            <a:blip r:embed="rId11">
              <a:alphaModFix/>
            </a:blip>
            <a:stretch>
              <a:fillRect/>
            </a:stretch>
          </p:blipFill>
          <p:spPr>
            <a:xfrm>
              <a:off x="10897819" y="3498690"/>
              <a:ext cx="243525" cy="227812"/>
            </a:xfrm>
            <a:prstGeom prst="rect">
              <a:avLst/>
            </a:prstGeom>
            <a:noFill/>
            <a:ln>
              <a:noFill/>
            </a:ln>
          </p:spPr>
        </p:pic>
      </p:grpSp>
      <p:sp>
        <p:nvSpPr>
          <p:cNvPr id="1320" name="Google Shape;1320;p55"/>
          <p:cNvSpPr/>
          <p:nvPr/>
        </p:nvSpPr>
        <p:spPr>
          <a:xfrm>
            <a:off x="10521581" y="3219266"/>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AI Services</a:t>
            </a:r>
            <a:endParaRPr sz="1100">
              <a:solidFill>
                <a:schemeClr val="accent5"/>
              </a:solidFill>
              <a:latin typeface="DM Sans Medium"/>
              <a:ea typeface="DM Sans Medium"/>
              <a:cs typeface="DM Sans Medium"/>
              <a:sym typeface="DM Sans Medium"/>
            </a:endParaRPr>
          </a:p>
        </p:txBody>
      </p:sp>
      <p:sp>
        <p:nvSpPr>
          <p:cNvPr id="1321" name="Google Shape;1321;p55"/>
          <p:cNvSpPr txBox="1"/>
          <p:nvPr/>
        </p:nvSpPr>
        <p:spPr>
          <a:xfrm>
            <a:off x="10745081" y="4355963"/>
            <a:ext cx="5490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a:t>
            </a:r>
            <a:endParaRPr sz="1600">
              <a:solidFill>
                <a:schemeClr val="accent1"/>
              </a:solidFill>
              <a:latin typeface="DM Sans Medium"/>
              <a:ea typeface="DM Sans Medium"/>
              <a:cs typeface="DM Sans Medium"/>
              <a:sym typeface="DM Sans Medium"/>
            </a:endParaRPr>
          </a:p>
        </p:txBody>
      </p:sp>
      <p:cxnSp>
        <p:nvCxnSpPr>
          <p:cNvPr id="1322" name="Google Shape;1322;p55"/>
          <p:cNvCxnSpPr/>
          <p:nvPr/>
        </p:nvCxnSpPr>
        <p:spPr>
          <a:xfrm>
            <a:off x="10391950" y="979075"/>
            <a:ext cx="0" cy="5226000"/>
          </a:xfrm>
          <a:prstGeom prst="straightConnector1">
            <a:avLst/>
          </a:prstGeom>
          <a:noFill/>
          <a:ln cap="flat" cmpd="sng" w="9525">
            <a:solidFill>
              <a:schemeClr val="accent1"/>
            </a:solidFill>
            <a:prstDash val="dash"/>
            <a:round/>
            <a:headEnd len="med" w="med" type="none"/>
            <a:tailEnd len="med" w="med" type="none"/>
          </a:ln>
        </p:spPr>
      </p:cxnSp>
      <p:sp>
        <p:nvSpPr>
          <p:cNvPr id="1323" name="Google Shape;1323;p55"/>
          <p:cNvSpPr/>
          <p:nvPr/>
        </p:nvSpPr>
        <p:spPr>
          <a:xfrm>
            <a:off x="10521581" y="1368053"/>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ID Provider</a:t>
            </a:r>
            <a:endParaRPr sz="1100">
              <a:solidFill>
                <a:schemeClr val="accent5"/>
              </a:solidFill>
              <a:latin typeface="DM Sans Medium"/>
              <a:ea typeface="DM Sans Medium"/>
              <a:cs typeface="DM Sans Medium"/>
              <a:sym typeface="DM Sans Medium"/>
            </a:endParaRPr>
          </a:p>
        </p:txBody>
      </p:sp>
      <p:sp>
        <p:nvSpPr>
          <p:cNvPr id="1324" name="Google Shape;1324;p55"/>
          <p:cNvSpPr/>
          <p:nvPr/>
        </p:nvSpPr>
        <p:spPr>
          <a:xfrm>
            <a:off x="10521581" y="2219271"/>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marR="0" rtl="0" algn="ctr">
              <a:lnSpc>
                <a:spcPct val="90000"/>
              </a:lnSpc>
              <a:spcBef>
                <a:spcPts val="0"/>
              </a:spcBef>
              <a:spcAft>
                <a:spcPts val="0"/>
              </a:spcAft>
              <a:buClr>
                <a:srgbClr val="000000"/>
              </a:buClr>
              <a:buSzPts val="1600"/>
              <a:buFont typeface="Arial"/>
              <a:buNone/>
            </a:pPr>
            <a:r>
              <a:rPr lang="en" sz="1100">
                <a:solidFill>
                  <a:schemeClr val="accent5"/>
                </a:solidFill>
                <a:latin typeface="DM Sans Medium"/>
                <a:ea typeface="DM Sans Medium"/>
                <a:cs typeface="DM Sans Medium"/>
                <a:sym typeface="DM Sans Medium"/>
              </a:rPr>
              <a:t>Governance</a:t>
            </a:r>
            <a:endParaRPr i="0" sz="1100" u="none" cap="none" strike="noStrike">
              <a:solidFill>
                <a:schemeClr val="accent5"/>
              </a:solidFill>
              <a:latin typeface="DM Sans Medium"/>
              <a:ea typeface="DM Sans Medium"/>
              <a:cs typeface="DM Sans Medium"/>
              <a:sym typeface="DM Sans Medium"/>
            </a:endParaRPr>
          </a:p>
        </p:txBody>
      </p:sp>
      <p:grpSp>
        <p:nvGrpSpPr>
          <p:cNvPr id="1325" name="Google Shape;1325;p55"/>
          <p:cNvGrpSpPr/>
          <p:nvPr/>
        </p:nvGrpSpPr>
        <p:grpSpPr>
          <a:xfrm>
            <a:off x="10702031" y="2486073"/>
            <a:ext cx="635100" cy="543395"/>
            <a:chOff x="10702031" y="2486073"/>
            <a:chExt cx="635100" cy="543395"/>
          </a:xfrm>
        </p:grpSpPr>
        <p:sp>
          <p:nvSpPr>
            <p:cNvPr id="1326" name="Google Shape;1326;p55"/>
            <p:cNvSpPr txBox="1"/>
            <p:nvPr/>
          </p:nvSpPr>
          <p:spPr>
            <a:xfrm>
              <a:off x="10702031" y="2752267"/>
              <a:ext cx="6351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Enterprise Catalog</a:t>
              </a:r>
              <a:endParaRPr sz="900">
                <a:solidFill>
                  <a:srgbClr val="1B5162"/>
                </a:solidFill>
                <a:latin typeface="DM Sans Medium"/>
                <a:ea typeface="DM Sans Medium"/>
                <a:cs typeface="DM Sans Medium"/>
                <a:sym typeface="DM Sans Medium"/>
              </a:endParaRPr>
            </a:p>
          </p:txBody>
        </p:sp>
        <p:pic>
          <p:nvPicPr>
            <p:cNvPr id="1327" name="Google Shape;1327;p55"/>
            <p:cNvPicPr preferRelativeResize="0"/>
            <p:nvPr/>
          </p:nvPicPr>
          <p:blipFill>
            <a:blip r:embed="rId12">
              <a:alphaModFix/>
            </a:blip>
            <a:stretch>
              <a:fillRect/>
            </a:stretch>
          </p:blipFill>
          <p:spPr>
            <a:xfrm>
              <a:off x="10850716" y="2486073"/>
              <a:ext cx="265176" cy="265176"/>
            </a:xfrm>
            <a:prstGeom prst="rect">
              <a:avLst/>
            </a:prstGeom>
            <a:noFill/>
            <a:ln>
              <a:noFill/>
            </a:ln>
          </p:spPr>
        </p:pic>
      </p:grpSp>
      <p:sp>
        <p:nvSpPr>
          <p:cNvPr id="1328" name="Google Shape;1328;p55"/>
          <p:cNvSpPr/>
          <p:nvPr/>
        </p:nvSpPr>
        <p:spPr>
          <a:xfrm>
            <a:off x="10521581" y="4715861"/>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Orchestration</a:t>
            </a:r>
            <a:endParaRPr sz="1100">
              <a:solidFill>
                <a:schemeClr val="accent5"/>
              </a:solidFill>
              <a:latin typeface="DM Sans Medium"/>
              <a:ea typeface="DM Sans Medium"/>
              <a:cs typeface="DM Sans Medium"/>
              <a:sym typeface="DM Sans Medium"/>
            </a:endParaRPr>
          </a:p>
        </p:txBody>
      </p:sp>
      <p:grpSp>
        <p:nvGrpSpPr>
          <p:cNvPr id="1329" name="Google Shape;1329;p55"/>
          <p:cNvGrpSpPr/>
          <p:nvPr/>
        </p:nvGrpSpPr>
        <p:grpSpPr>
          <a:xfrm>
            <a:off x="10621328" y="4994250"/>
            <a:ext cx="796500" cy="553688"/>
            <a:chOff x="10621328" y="4994250"/>
            <a:chExt cx="796500" cy="553688"/>
          </a:xfrm>
        </p:grpSpPr>
        <p:sp>
          <p:nvSpPr>
            <p:cNvPr id="1330" name="Google Shape;1330;p55"/>
            <p:cNvSpPr txBox="1"/>
            <p:nvPr/>
          </p:nvSpPr>
          <p:spPr>
            <a:xfrm>
              <a:off x="10621328" y="5270738"/>
              <a:ext cx="7965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External Orchestrator</a:t>
              </a:r>
              <a:endParaRPr sz="900">
                <a:solidFill>
                  <a:srgbClr val="1B5162"/>
                </a:solidFill>
                <a:latin typeface="DM Sans Medium"/>
                <a:ea typeface="DM Sans Medium"/>
                <a:cs typeface="DM Sans Medium"/>
                <a:sym typeface="DM Sans Medium"/>
              </a:endParaRPr>
            </a:p>
          </p:txBody>
        </p:sp>
        <p:pic>
          <p:nvPicPr>
            <p:cNvPr id="1331" name="Google Shape;1331;p55"/>
            <p:cNvPicPr preferRelativeResize="0"/>
            <p:nvPr/>
          </p:nvPicPr>
          <p:blipFill>
            <a:blip r:embed="rId13">
              <a:alphaModFix/>
            </a:blip>
            <a:stretch>
              <a:fillRect/>
            </a:stretch>
          </p:blipFill>
          <p:spPr>
            <a:xfrm>
              <a:off x="10864167" y="4994250"/>
              <a:ext cx="265176" cy="265176"/>
            </a:xfrm>
            <a:prstGeom prst="rect">
              <a:avLst/>
            </a:prstGeom>
            <a:noFill/>
            <a:ln>
              <a:noFill/>
            </a:ln>
          </p:spPr>
        </p:pic>
      </p:grpSp>
      <p:sp>
        <p:nvSpPr>
          <p:cNvPr id="1332" name="Google Shape;1332;p55"/>
          <p:cNvSpPr/>
          <p:nvPr/>
        </p:nvSpPr>
        <p:spPr>
          <a:xfrm>
            <a:off x="8279671" y="3179562"/>
            <a:ext cx="6858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Connectors</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and APIs</a:t>
            </a:r>
            <a:endParaRPr sz="900">
              <a:solidFill>
                <a:schemeClr val="accent2"/>
              </a:solidFill>
              <a:latin typeface="DM Sans SemiBold"/>
              <a:ea typeface="DM Sans SemiBold"/>
              <a:cs typeface="DM Sans SemiBold"/>
              <a:sym typeface="DM Sans SemiBold"/>
            </a:endParaRPr>
          </a:p>
        </p:txBody>
      </p:sp>
      <p:pic>
        <p:nvPicPr>
          <p:cNvPr id="1333" name="Google Shape;1333;p55"/>
          <p:cNvPicPr preferRelativeResize="0"/>
          <p:nvPr/>
        </p:nvPicPr>
        <p:blipFill>
          <a:blip r:embed="rId14">
            <a:alphaModFix/>
          </a:blip>
          <a:stretch>
            <a:fillRect/>
          </a:stretch>
        </p:blipFill>
        <p:spPr>
          <a:xfrm>
            <a:off x="4351863" y="5186555"/>
            <a:ext cx="173400" cy="173400"/>
          </a:xfrm>
          <a:prstGeom prst="rect">
            <a:avLst/>
          </a:prstGeom>
          <a:noFill/>
          <a:ln>
            <a:noFill/>
          </a:ln>
        </p:spPr>
      </p:pic>
      <p:cxnSp>
        <p:nvCxnSpPr>
          <p:cNvPr id="1334" name="Google Shape;1334;p55"/>
          <p:cNvCxnSpPr/>
          <p:nvPr/>
        </p:nvCxnSpPr>
        <p:spPr>
          <a:xfrm>
            <a:off x="1768354" y="5025793"/>
            <a:ext cx="1413300" cy="600"/>
          </a:xfrm>
          <a:prstGeom prst="bentConnector3">
            <a:avLst>
              <a:gd fmla="val 50000" name="adj1"/>
            </a:avLst>
          </a:prstGeom>
          <a:noFill/>
          <a:ln cap="flat" cmpd="sng" w="9525">
            <a:solidFill>
              <a:schemeClr val="accent1"/>
            </a:solidFill>
            <a:prstDash val="solid"/>
            <a:round/>
            <a:headEnd len="sm" w="sm" type="none"/>
            <a:tailEnd len="sm" w="sm" type="triangle"/>
          </a:ln>
        </p:spPr>
      </p:cxnSp>
      <p:pic>
        <p:nvPicPr>
          <p:cNvPr id="1335" name="Google Shape;1335;p55"/>
          <p:cNvPicPr preferRelativeResize="0"/>
          <p:nvPr/>
        </p:nvPicPr>
        <p:blipFill>
          <a:blip r:embed="rId4">
            <a:alphaModFix/>
          </a:blip>
          <a:stretch>
            <a:fillRect/>
          </a:stretch>
        </p:blipFill>
        <p:spPr>
          <a:xfrm>
            <a:off x="2341000" y="5180940"/>
            <a:ext cx="191100" cy="160007"/>
          </a:xfrm>
          <a:prstGeom prst="rect">
            <a:avLst/>
          </a:prstGeom>
          <a:noFill/>
          <a:ln>
            <a:noFill/>
          </a:ln>
        </p:spPr>
      </p:pic>
      <p:sp>
        <p:nvSpPr>
          <p:cNvPr id="1336" name="Google Shape;1336;p55"/>
          <p:cNvSpPr/>
          <p:nvPr/>
        </p:nvSpPr>
        <p:spPr>
          <a:xfrm>
            <a:off x="1989525" y="3622000"/>
            <a:ext cx="1064400" cy="1327500"/>
          </a:xfrm>
          <a:prstGeom prst="roundRect">
            <a:avLst>
              <a:gd fmla="val 6120"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85000"/>
              </a:lnSpc>
              <a:spcBef>
                <a:spcPts val="0"/>
              </a:spcBef>
              <a:spcAft>
                <a:spcPts val="0"/>
              </a:spcAft>
              <a:buNone/>
            </a:pPr>
            <a:r>
              <a:rPr lang="en" sz="1100">
                <a:solidFill>
                  <a:schemeClr val="accent5"/>
                </a:solidFill>
                <a:latin typeface="DM Sans Medium"/>
                <a:ea typeface="DM Sans Medium"/>
                <a:cs typeface="DM Sans Medium"/>
                <a:sym typeface="DM Sans Medium"/>
              </a:rPr>
              <a:t>Batch and Streaming</a:t>
            </a:r>
            <a:endParaRPr sz="1100">
              <a:solidFill>
                <a:schemeClr val="accent5"/>
              </a:solidFill>
              <a:latin typeface="DM Sans Medium"/>
              <a:ea typeface="DM Sans Medium"/>
              <a:cs typeface="DM Sans Medium"/>
              <a:sym typeface="DM Sans Medium"/>
            </a:endParaRPr>
          </a:p>
        </p:txBody>
      </p:sp>
      <p:sp>
        <p:nvSpPr>
          <p:cNvPr id="1337" name="Google Shape;1337;p55"/>
          <p:cNvSpPr/>
          <p:nvPr/>
        </p:nvSpPr>
        <p:spPr>
          <a:xfrm>
            <a:off x="836750" y="5135200"/>
            <a:ext cx="932400" cy="617700"/>
          </a:xfrm>
          <a:prstGeom prst="roundRect">
            <a:avLst>
              <a:gd fmla="val 12696"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grpSp>
        <p:nvGrpSpPr>
          <p:cNvPr id="1338" name="Google Shape;1338;p55"/>
          <p:cNvGrpSpPr/>
          <p:nvPr/>
        </p:nvGrpSpPr>
        <p:grpSpPr>
          <a:xfrm>
            <a:off x="1247501" y="5175655"/>
            <a:ext cx="524700" cy="496901"/>
            <a:chOff x="1266036" y="5196700"/>
            <a:chExt cx="524700" cy="496901"/>
          </a:xfrm>
        </p:grpSpPr>
        <p:sp>
          <p:nvSpPr>
            <p:cNvPr id="1339" name="Google Shape;1339;p55"/>
            <p:cNvSpPr txBox="1"/>
            <p:nvPr/>
          </p:nvSpPr>
          <p:spPr>
            <a:xfrm>
              <a:off x="1266036" y="550250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Data Shares</a:t>
              </a:r>
              <a:endParaRPr sz="900">
                <a:solidFill>
                  <a:srgbClr val="1B5162"/>
                </a:solidFill>
                <a:latin typeface="DM Sans Medium"/>
                <a:ea typeface="DM Sans Medium"/>
                <a:cs typeface="DM Sans Medium"/>
                <a:sym typeface="DM Sans Medium"/>
              </a:endParaRPr>
            </a:p>
          </p:txBody>
        </p:sp>
        <p:pic>
          <p:nvPicPr>
            <p:cNvPr id="1340" name="Google Shape;1340;p55" title="primary-icon-navy-data-sharing.png"/>
            <p:cNvPicPr preferRelativeResize="0"/>
            <p:nvPr/>
          </p:nvPicPr>
          <p:blipFill>
            <a:blip r:embed="rId15">
              <a:alphaModFix/>
            </a:blip>
            <a:stretch>
              <a:fillRect/>
            </a:stretch>
          </p:blipFill>
          <p:spPr>
            <a:xfrm>
              <a:off x="1393854" y="5196700"/>
              <a:ext cx="269065" cy="269063"/>
            </a:xfrm>
            <a:prstGeom prst="rect">
              <a:avLst/>
            </a:prstGeom>
            <a:noFill/>
            <a:ln>
              <a:noFill/>
            </a:ln>
          </p:spPr>
        </p:pic>
      </p:grpSp>
      <p:grpSp>
        <p:nvGrpSpPr>
          <p:cNvPr id="1341" name="Google Shape;1341;p55"/>
          <p:cNvGrpSpPr/>
          <p:nvPr/>
        </p:nvGrpSpPr>
        <p:grpSpPr>
          <a:xfrm>
            <a:off x="816949" y="5175643"/>
            <a:ext cx="524700" cy="496193"/>
            <a:chOff x="835484" y="5196688"/>
            <a:chExt cx="524700" cy="496193"/>
          </a:xfrm>
        </p:grpSpPr>
        <p:sp>
          <p:nvSpPr>
            <p:cNvPr id="1342" name="Google Shape;1342;p55"/>
            <p:cNvSpPr txBox="1"/>
            <p:nvPr/>
          </p:nvSpPr>
          <p:spPr>
            <a:xfrm>
              <a:off x="835484" y="550178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Market</a:t>
              </a:r>
              <a:br>
                <a:rPr lang="en" sz="900">
                  <a:solidFill>
                    <a:srgbClr val="1B5162"/>
                  </a:solidFill>
                  <a:latin typeface="DM Sans Medium"/>
                  <a:ea typeface="DM Sans Medium"/>
                  <a:cs typeface="DM Sans Medium"/>
                  <a:sym typeface="DM Sans Medium"/>
                </a:rPr>
              </a:br>
              <a:r>
                <a:rPr lang="en" sz="900">
                  <a:solidFill>
                    <a:srgbClr val="1B5162"/>
                  </a:solidFill>
                  <a:latin typeface="DM Sans Medium"/>
                  <a:ea typeface="DM Sans Medium"/>
                  <a:cs typeface="DM Sans Medium"/>
                  <a:sym typeface="DM Sans Medium"/>
                </a:rPr>
                <a:t>places</a:t>
              </a:r>
              <a:endParaRPr sz="900">
                <a:solidFill>
                  <a:srgbClr val="1B5162"/>
                </a:solidFill>
                <a:latin typeface="DM Sans Medium"/>
                <a:ea typeface="DM Sans Medium"/>
                <a:cs typeface="DM Sans Medium"/>
                <a:sym typeface="DM Sans Medium"/>
              </a:endParaRPr>
            </a:p>
          </p:txBody>
        </p:sp>
        <p:pic>
          <p:nvPicPr>
            <p:cNvPr id="1343" name="Google Shape;1343;p55" title="primary-icon-navy-distribution.png"/>
            <p:cNvPicPr preferRelativeResize="0"/>
            <p:nvPr/>
          </p:nvPicPr>
          <p:blipFill>
            <a:blip r:embed="rId16">
              <a:alphaModFix/>
            </a:blip>
            <a:stretch>
              <a:fillRect/>
            </a:stretch>
          </p:blipFill>
          <p:spPr>
            <a:xfrm>
              <a:off x="963302" y="5196688"/>
              <a:ext cx="269065" cy="269063"/>
            </a:xfrm>
            <a:prstGeom prst="rect">
              <a:avLst/>
            </a:prstGeom>
            <a:noFill/>
            <a:ln>
              <a:noFill/>
            </a:ln>
          </p:spPr>
        </p:pic>
      </p:grpSp>
      <p:sp>
        <p:nvSpPr>
          <p:cNvPr id="1344" name="Google Shape;1344;p55"/>
          <p:cNvSpPr txBox="1"/>
          <p:nvPr/>
        </p:nvSpPr>
        <p:spPr>
          <a:xfrm rot="-5400000">
            <a:off x="431325" y="5359400"/>
            <a:ext cx="5793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Sharing</a:t>
            </a:r>
            <a:endParaRPr sz="1100">
              <a:solidFill>
                <a:schemeClr val="accent5"/>
              </a:solidFill>
              <a:latin typeface="DM Sans"/>
              <a:ea typeface="DM Sans"/>
              <a:cs typeface="DM Sans"/>
              <a:sym typeface="DM Sans"/>
            </a:endParaRPr>
          </a:p>
        </p:txBody>
      </p:sp>
      <p:sp>
        <p:nvSpPr>
          <p:cNvPr id="1345" name="Google Shape;1345;p55"/>
          <p:cNvSpPr/>
          <p:nvPr/>
        </p:nvSpPr>
        <p:spPr>
          <a:xfrm>
            <a:off x="9133775" y="2227875"/>
            <a:ext cx="1082100" cy="1281600"/>
          </a:xfrm>
          <a:prstGeom prst="roundRect">
            <a:avLst>
              <a:gd fmla="val 6450"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AI/BI</a:t>
            </a:r>
            <a:endParaRPr sz="1100">
              <a:solidFill>
                <a:schemeClr val="accent5"/>
              </a:solidFill>
              <a:latin typeface="DM Sans Medium"/>
              <a:ea typeface="DM Sans Medium"/>
              <a:cs typeface="DM Sans Medium"/>
              <a:sym typeface="DM Sans Medium"/>
            </a:endParaRPr>
          </a:p>
        </p:txBody>
      </p:sp>
      <p:sp>
        <p:nvSpPr>
          <p:cNvPr id="1346" name="Google Shape;1346;p55"/>
          <p:cNvSpPr/>
          <p:nvPr/>
        </p:nvSpPr>
        <p:spPr>
          <a:xfrm>
            <a:off x="9276575" y="3179562"/>
            <a:ext cx="796500" cy="274200"/>
          </a:xfrm>
          <a:prstGeom prst="roundRect">
            <a:avLst>
              <a:gd fmla="val 22836"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Genie</a:t>
            </a:r>
            <a:endParaRPr sz="900">
              <a:solidFill>
                <a:schemeClr val="accent2"/>
              </a:solidFill>
              <a:latin typeface="DM Sans SemiBold"/>
              <a:ea typeface="DM Sans SemiBold"/>
              <a:cs typeface="DM Sans SemiBold"/>
              <a:sym typeface="DM Sans SemiBold"/>
            </a:endParaRPr>
          </a:p>
        </p:txBody>
      </p:sp>
      <p:sp>
        <p:nvSpPr>
          <p:cNvPr id="1347" name="Google Shape;1347;p55"/>
          <p:cNvSpPr/>
          <p:nvPr/>
        </p:nvSpPr>
        <p:spPr>
          <a:xfrm>
            <a:off x="9276575" y="2825260"/>
            <a:ext cx="796500" cy="274200"/>
          </a:xfrm>
          <a:prstGeom prst="roundRect">
            <a:avLst>
              <a:gd fmla="val 22836"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Dashboards</a:t>
            </a:r>
            <a:endParaRPr sz="900">
              <a:solidFill>
                <a:schemeClr val="accent2"/>
              </a:solidFill>
              <a:latin typeface="DM Sans SemiBold"/>
              <a:ea typeface="DM Sans SemiBold"/>
              <a:cs typeface="DM Sans SemiBold"/>
              <a:sym typeface="DM Sans SemiBold"/>
            </a:endParaRPr>
          </a:p>
        </p:txBody>
      </p:sp>
      <p:sp>
        <p:nvSpPr>
          <p:cNvPr id="1348" name="Google Shape;1348;p55"/>
          <p:cNvSpPr/>
          <p:nvPr/>
        </p:nvSpPr>
        <p:spPr>
          <a:xfrm>
            <a:off x="9137674" y="3574037"/>
            <a:ext cx="1082100" cy="557700"/>
          </a:xfrm>
          <a:prstGeom prst="roundRect">
            <a:avLst>
              <a:gd fmla="val 10634"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Applications</a:t>
            </a:r>
            <a:endParaRPr sz="1100">
              <a:solidFill>
                <a:schemeClr val="accent5"/>
              </a:solidFill>
              <a:latin typeface="DM Sans Medium"/>
              <a:ea typeface="DM Sans Medium"/>
              <a:cs typeface="DM Sans Medium"/>
              <a:sym typeface="DM Sans Medium"/>
            </a:endParaRPr>
          </a:p>
        </p:txBody>
      </p:sp>
      <p:sp>
        <p:nvSpPr>
          <p:cNvPr id="1349" name="Google Shape;1349;p55"/>
          <p:cNvSpPr/>
          <p:nvPr/>
        </p:nvSpPr>
        <p:spPr>
          <a:xfrm>
            <a:off x="9276575" y="3798990"/>
            <a:ext cx="796500" cy="274200"/>
          </a:xfrm>
          <a:prstGeom prst="roundRect">
            <a:avLst>
              <a:gd fmla="val 22836"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Databricks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Apps</a:t>
            </a:r>
            <a:endParaRPr sz="900">
              <a:solidFill>
                <a:schemeClr val="accent2"/>
              </a:solidFill>
              <a:latin typeface="DM Sans SemiBold"/>
              <a:ea typeface="DM Sans SemiBold"/>
              <a:cs typeface="DM Sans SemiBold"/>
              <a:sym typeface="DM Sans SemiBold"/>
            </a:endParaRPr>
          </a:p>
        </p:txBody>
      </p:sp>
      <p:sp>
        <p:nvSpPr>
          <p:cNvPr id="1350" name="Google Shape;1350;p55"/>
          <p:cNvSpPr/>
          <p:nvPr/>
        </p:nvSpPr>
        <p:spPr>
          <a:xfrm>
            <a:off x="1989525" y="1721525"/>
            <a:ext cx="8226300" cy="4596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Automation and Orchestration</a:t>
            </a:r>
            <a:endParaRPr sz="1100">
              <a:solidFill>
                <a:schemeClr val="accent5"/>
              </a:solidFill>
              <a:latin typeface="DM Sans Medium"/>
              <a:ea typeface="DM Sans Medium"/>
              <a:cs typeface="DM Sans Medium"/>
              <a:sym typeface="DM Sans Medium"/>
            </a:endParaRPr>
          </a:p>
        </p:txBody>
      </p:sp>
      <p:sp>
        <p:nvSpPr>
          <p:cNvPr id="1351" name="Google Shape;1351;p55"/>
          <p:cNvSpPr/>
          <p:nvPr/>
        </p:nvSpPr>
        <p:spPr>
          <a:xfrm>
            <a:off x="5442734" y="1944562"/>
            <a:ext cx="740400" cy="186600"/>
          </a:xfrm>
          <a:prstGeom prst="roundRect">
            <a:avLst>
              <a:gd fmla="val 22186"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CI/CD tools</a:t>
            </a:r>
            <a:endParaRPr sz="900">
              <a:solidFill>
                <a:schemeClr val="accent2"/>
              </a:solidFill>
              <a:latin typeface="DM Sans SemiBold"/>
              <a:ea typeface="DM Sans SemiBold"/>
              <a:cs typeface="DM Sans SemiBold"/>
              <a:sym typeface="DM Sans SemiBold"/>
            </a:endParaRPr>
          </a:p>
        </p:txBody>
      </p:sp>
      <p:sp>
        <p:nvSpPr>
          <p:cNvPr id="1352" name="Google Shape;1352;p55"/>
          <p:cNvSpPr/>
          <p:nvPr/>
        </p:nvSpPr>
        <p:spPr>
          <a:xfrm>
            <a:off x="6254520" y="1941700"/>
            <a:ext cx="685500" cy="186600"/>
          </a:xfrm>
          <a:prstGeom prst="roundRect">
            <a:avLst>
              <a:gd fmla="val 22186"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DataOps</a:t>
            </a:r>
            <a:endParaRPr sz="900">
              <a:solidFill>
                <a:schemeClr val="accent2"/>
              </a:solidFill>
              <a:latin typeface="DM Sans SemiBold"/>
              <a:ea typeface="DM Sans SemiBold"/>
              <a:cs typeface="DM Sans SemiBold"/>
              <a:sym typeface="DM Sans SemiBold"/>
            </a:endParaRPr>
          </a:p>
        </p:txBody>
      </p:sp>
      <p:sp>
        <p:nvSpPr>
          <p:cNvPr id="1353" name="Google Shape;1353;p55"/>
          <p:cNvSpPr/>
          <p:nvPr/>
        </p:nvSpPr>
        <p:spPr>
          <a:xfrm>
            <a:off x="4491750" y="1944550"/>
            <a:ext cx="879600" cy="186600"/>
          </a:xfrm>
          <a:prstGeom prst="roundRect">
            <a:avLst>
              <a:gd fmla="val 22186"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Lakeflow Jobs</a:t>
            </a:r>
            <a:endParaRPr sz="900">
              <a:solidFill>
                <a:schemeClr val="accent2"/>
              </a:solidFill>
              <a:latin typeface="DM Sans SemiBold"/>
              <a:ea typeface="DM Sans SemiBold"/>
              <a:cs typeface="DM Sans SemiBold"/>
              <a:sym typeface="DM Sans SemiBold"/>
            </a:endParaRPr>
          </a:p>
        </p:txBody>
      </p:sp>
      <p:sp>
        <p:nvSpPr>
          <p:cNvPr id="1354" name="Google Shape;1354;p55"/>
          <p:cNvSpPr/>
          <p:nvPr/>
        </p:nvSpPr>
        <p:spPr>
          <a:xfrm>
            <a:off x="7011406" y="1941712"/>
            <a:ext cx="685800" cy="186600"/>
          </a:xfrm>
          <a:prstGeom prst="roundRect">
            <a:avLst>
              <a:gd fmla="val 22186"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MLOps</a:t>
            </a:r>
            <a:endParaRPr sz="900">
              <a:solidFill>
                <a:schemeClr val="accent2"/>
              </a:solidFill>
              <a:latin typeface="DM Sans SemiBold"/>
              <a:ea typeface="DM Sans SemiBold"/>
              <a:cs typeface="DM Sans SemiBold"/>
              <a:sym typeface="DM Sans SemiBold"/>
            </a:endParaRPr>
          </a:p>
        </p:txBody>
      </p:sp>
      <p:sp>
        <p:nvSpPr>
          <p:cNvPr id="1355" name="Google Shape;1355;p55"/>
          <p:cNvSpPr/>
          <p:nvPr/>
        </p:nvSpPr>
        <p:spPr>
          <a:xfrm>
            <a:off x="6687325" y="3574025"/>
            <a:ext cx="2370900" cy="5577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Operational DB</a:t>
            </a:r>
            <a:endParaRPr sz="1100">
              <a:solidFill>
                <a:schemeClr val="accent5"/>
              </a:solidFill>
              <a:latin typeface="DM Sans Medium"/>
              <a:ea typeface="DM Sans Medium"/>
              <a:cs typeface="DM Sans Medium"/>
              <a:sym typeface="DM Sans Medium"/>
            </a:endParaRPr>
          </a:p>
        </p:txBody>
      </p:sp>
      <p:sp>
        <p:nvSpPr>
          <p:cNvPr id="1356" name="Google Shape;1356;p55"/>
          <p:cNvSpPr/>
          <p:nvPr/>
        </p:nvSpPr>
        <p:spPr>
          <a:xfrm>
            <a:off x="7503750" y="3798990"/>
            <a:ext cx="685800" cy="274200"/>
          </a:xfrm>
          <a:prstGeom prst="roundRect">
            <a:avLst>
              <a:gd fmla="val 22186"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Lakebase</a:t>
            </a:r>
            <a:endParaRPr sz="900">
              <a:solidFill>
                <a:schemeClr val="accent2"/>
              </a:solidFill>
              <a:latin typeface="DM Sans SemiBold"/>
              <a:ea typeface="DM Sans SemiBold"/>
              <a:cs typeface="DM Sans SemiBold"/>
              <a:sym typeface="DM Sans SemiBold"/>
            </a:endParaRPr>
          </a:p>
        </p:txBody>
      </p:sp>
      <p:sp>
        <p:nvSpPr>
          <p:cNvPr id="1357" name="Google Shape;1357;p55"/>
          <p:cNvSpPr/>
          <p:nvPr/>
        </p:nvSpPr>
        <p:spPr>
          <a:xfrm>
            <a:off x="5718734" y="2582475"/>
            <a:ext cx="685500" cy="274200"/>
          </a:xfrm>
          <a:prstGeom prst="roundRect">
            <a:avLst>
              <a:gd fmla="val 17595"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Gen AI</a:t>
            </a:r>
            <a:endParaRPr sz="900">
              <a:solidFill>
                <a:srgbClr val="00A972"/>
              </a:solidFill>
              <a:latin typeface="DM Sans SemiBold"/>
              <a:ea typeface="DM Sans SemiBold"/>
              <a:cs typeface="DM Sans SemiBold"/>
              <a:sym typeface="DM Sans SemiBold"/>
            </a:endParaRPr>
          </a:p>
        </p:txBody>
      </p:sp>
      <p:sp>
        <p:nvSpPr>
          <p:cNvPr id="1358" name="Google Shape;1358;p55"/>
          <p:cNvSpPr/>
          <p:nvPr/>
        </p:nvSpPr>
        <p:spPr>
          <a:xfrm>
            <a:off x="4893050" y="2582475"/>
            <a:ext cx="761100" cy="274200"/>
          </a:xfrm>
          <a:prstGeom prst="roundRect">
            <a:avLst>
              <a:gd fmla="val 17595"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Traditional ML</a:t>
            </a:r>
            <a:endParaRPr sz="900">
              <a:solidFill>
                <a:schemeClr val="accent2"/>
              </a:solidFill>
              <a:latin typeface="DM Sans SemiBold"/>
              <a:ea typeface="DM Sans SemiBold"/>
              <a:cs typeface="DM Sans SemiBold"/>
              <a:sym typeface="DM Sans SemiBold"/>
            </a:endParaRPr>
          </a:p>
        </p:txBody>
      </p:sp>
      <p:sp>
        <p:nvSpPr>
          <p:cNvPr id="1359" name="Google Shape;1359;p55"/>
          <p:cNvSpPr/>
          <p:nvPr/>
        </p:nvSpPr>
        <p:spPr>
          <a:xfrm>
            <a:off x="3998451" y="3179562"/>
            <a:ext cx="983700" cy="274200"/>
          </a:xfrm>
          <a:prstGeom prst="roundRect">
            <a:avLst>
              <a:gd fmla="val 18115"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Lakeflow Declar- ative Pipelines</a:t>
            </a:r>
            <a:endParaRPr baseline="30000" sz="900">
              <a:solidFill>
                <a:schemeClr val="accent2"/>
              </a:solidFill>
              <a:latin typeface="DM Sans SemiBold"/>
              <a:ea typeface="DM Sans SemiBold"/>
              <a:cs typeface="DM Sans SemiBold"/>
              <a:sym typeface="DM Sans SemiBold"/>
            </a:endParaRPr>
          </a:p>
        </p:txBody>
      </p:sp>
      <p:sp>
        <p:nvSpPr>
          <p:cNvPr id="1360" name="Google Shape;1360;p55"/>
          <p:cNvSpPr/>
          <p:nvPr/>
        </p:nvSpPr>
        <p:spPr>
          <a:xfrm>
            <a:off x="5115450" y="3179550"/>
            <a:ext cx="761100" cy="274200"/>
          </a:xfrm>
          <a:prstGeom prst="roundRect">
            <a:avLst>
              <a:gd fmla="val 19944"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Spark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Photon</a:t>
            </a:r>
            <a:endParaRPr sz="900">
              <a:solidFill>
                <a:schemeClr val="accent2"/>
              </a:solidFill>
              <a:latin typeface="DM Sans SemiBold"/>
              <a:ea typeface="DM Sans SemiBold"/>
              <a:cs typeface="DM Sans SemiBold"/>
              <a:sym typeface="DM Sans SemiBold"/>
            </a:endParaRPr>
          </a:p>
        </p:txBody>
      </p:sp>
      <p:sp>
        <p:nvSpPr>
          <p:cNvPr id="1361" name="Google Shape;1361;p55"/>
          <p:cNvSpPr/>
          <p:nvPr/>
        </p:nvSpPr>
        <p:spPr>
          <a:xfrm>
            <a:off x="6473878" y="4423213"/>
            <a:ext cx="685800" cy="2742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Business Semantics</a:t>
            </a:r>
            <a:endParaRPr sz="900">
              <a:solidFill>
                <a:schemeClr val="accent2"/>
              </a:solidFill>
              <a:latin typeface="DM Sans SemiBold"/>
              <a:ea typeface="DM Sans SemiBold"/>
              <a:cs typeface="DM Sans SemiBold"/>
              <a:sym typeface="DM Sans SemiBold"/>
            </a:endParaRPr>
          </a:p>
        </p:txBody>
      </p:sp>
      <p:pic>
        <p:nvPicPr>
          <p:cNvPr id="1362" name="Google Shape;1362;p55"/>
          <p:cNvPicPr preferRelativeResize="0"/>
          <p:nvPr/>
        </p:nvPicPr>
        <p:blipFill>
          <a:blip r:embed="rId4">
            <a:alphaModFix/>
          </a:blip>
          <a:stretch>
            <a:fillRect/>
          </a:stretch>
        </p:blipFill>
        <p:spPr>
          <a:xfrm>
            <a:off x="8403950" y="5666965"/>
            <a:ext cx="191100" cy="160007"/>
          </a:xfrm>
          <a:prstGeom prst="rect">
            <a:avLst/>
          </a:prstGeom>
          <a:noFill/>
          <a:ln>
            <a:noFill/>
          </a:ln>
        </p:spPr>
      </p:pic>
      <p:sp>
        <p:nvSpPr>
          <p:cNvPr id="1363" name="Google Shape;1363;p55"/>
          <p:cNvSpPr/>
          <p:nvPr/>
        </p:nvSpPr>
        <p:spPr>
          <a:xfrm>
            <a:off x="10798400" y="6096162"/>
            <a:ext cx="589500" cy="123000"/>
          </a:xfrm>
          <a:prstGeom prst="roundRect">
            <a:avLst>
              <a:gd fmla="val 26238" name="adj"/>
            </a:avLst>
          </a:prstGeom>
          <a:solidFill>
            <a:schemeClr val="accent1"/>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rgbClr val="FFFFFF"/>
                </a:solidFill>
                <a:latin typeface="DM Sans"/>
                <a:ea typeface="DM Sans"/>
                <a:cs typeface="DM Sans"/>
                <a:sym typeface="DM Sans"/>
              </a:rPr>
              <a:t>Databricks</a:t>
            </a:r>
            <a:endParaRPr sz="800">
              <a:solidFill>
                <a:srgbClr val="FFFFFF"/>
              </a:solidFill>
              <a:latin typeface="DM Sans"/>
              <a:ea typeface="DM Sans"/>
              <a:cs typeface="DM Sans"/>
              <a:sym typeface="DM Sans"/>
            </a:endParaRPr>
          </a:p>
        </p:txBody>
      </p:sp>
      <p:sp>
        <p:nvSpPr>
          <p:cNvPr id="1364" name="Google Shape;1364;p55"/>
          <p:cNvSpPr/>
          <p:nvPr/>
        </p:nvSpPr>
        <p:spPr>
          <a:xfrm>
            <a:off x="10798400" y="5939500"/>
            <a:ext cx="589500" cy="123000"/>
          </a:xfrm>
          <a:prstGeom prst="roundRect">
            <a:avLst>
              <a:gd fmla="val 26238" name="adj"/>
            </a:avLst>
          </a:prstGeom>
          <a:solidFill>
            <a:srgbClr val="FFFFFF"/>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chemeClr val="accent5"/>
                </a:solidFill>
                <a:latin typeface="DM Sans Medium"/>
                <a:ea typeface="DM Sans Medium"/>
                <a:cs typeface="DM Sans Medium"/>
                <a:sym typeface="DM Sans Medium"/>
              </a:rPr>
              <a:t>3rd party</a:t>
            </a:r>
            <a:endParaRPr sz="800">
              <a:solidFill>
                <a:schemeClr val="accent5"/>
              </a:solidFill>
              <a:latin typeface="DM Sans Medium"/>
              <a:ea typeface="DM Sans Medium"/>
              <a:cs typeface="DM Sans Medium"/>
              <a:sym typeface="DM Sans Medium"/>
            </a:endParaRPr>
          </a:p>
        </p:txBody>
      </p:sp>
      <p:sp>
        <p:nvSpPr>
          <p:cNvPr id="1365" name="Google Shape;1365;p55"/>
          <p:cNvSpPr txBox="1"/>
          <p:nvPr/>
        </p:nvSpPr>
        <p:spPr>
          <a:xfrm>
            <a:off x="10512987" y="5927525"/>
            <a:ext cx="2679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dk1"/>
                </a:solidFill>
                <a:latin typeface="DM Sans Medium"/>
                <a:ea typeface="DM Sans Medium"/>
                <a:cs typeface="DM Sans Medium"/>
                <a:sym typeface="DM Sans Medium"/>
              </a:rPr>
              <a:t>Key:</a:t>
            </a:r>
            <a:endParaRPr sz="1000">
              <a:solidFill>
                <a:schemeClr val="dk1"/>
              </a:solidFill>
              <a:latin typeface="DM Sans Medium"/>
              <a:ea typeface="DM Sans Medium"/>
              <a:cs typeface="DM Sans Medium"/>
              <a:sym typeface="DM Sans Medium"/>
            </a:endParaRPr>
          </a:p>
        </p:txBody>
      </p:sp>
      <p:grpSp>
        <p:nvGrpSpPr>
          <p:cNvPr id="1366" name="Google Shape;1366;p55"/>
          <p:cNvGrpSpPr/>
          <p:nvPr/>
        </p:nvGrpSpPr>
        <p:grpSpPr>
          <a:xfrm>
            <a:off x="2600918" y="3963501"/>
            <a:ext cx="346800" cy="474845"/>
            <a:chOff x="2547700" y="5399809"/>
            <a:chExt cx="346800" cy="474845"/>
          </a:xfrm>
        </p:grpSpPr>
        <p:sp>
          <p:nvSpPr>
            <p:cNvPr id="1367" name="Google Shape;1367;p55"/>
            <p:cNvSpPr/>
            <p:nvPr/>
          </p:nvSpPr>
          <p:spPr>
            <a:xfrm>
              <a:off x="2547700" y="5622654"/>
              <a:ext cx="346800" cy="252000"/>
            </a:xfrm>
            <a:prstGeom prst="rect">
              <a:avLst/>
            </a:prstGeom>
            <a:no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Clr>
                  <a:srgbClr val="000000"/>
                </a:buClr>
                <a:buSzPts val="1100"/>
                <a:buFont typeface="Arial"/>
                <a:buNone/>
              </a:pPr>
              <a:r>
                <a:rPr lang="en" sz="900">
                  <a:solidFill>
                    <a:schemeClr val="accent1"/>
                  </a:solidFill>
                  <a:latin typeface="DM Sans Medium"/>
                  <a:ea typeface="DM Sans Medium"/>
                  <a:cs typeface="DM Sans Medium"/>
                  <a:sym typeface="DM Sans Medium"/>
                </a:rPr>
                <a:t>AWS </a:t>
              </a:r>
              <a:br>
                <a:rPr lang="en" sz="900">
                  <a:solidFill>
                    <a:schemeClr val="accent1"/>
                  </a:solidFill>
                  <a:latin typeface="DM Sans Medium"/>
                  <a:ea typeface="DM Sans Medium"/>
                  <a:cs typeface="DM Sans Medium"/>
                  <a:sym typeface="DM Sans Medium"/>
                </a:rPr>
              </a:br>
              <a:r>
                <a:rPr lang="en" sz="900">
                  <a:solidFill>
                    <a:schemeClr val="accent1"/>
                  </a:solidFill>
                  <a:latin typeface="DM Sans Medium"/>
                  <a:ea typeface="DM Sans Medium"/>
                  <a:cs typeface="DM Sans Medium"/>
                  <a:sym typeface="DM Sans Medium"/>
                </a:rPr>
                <a:t>DMS</a:t>
              </a:r>
              <a:endParaRPr i="0" sz="900" u="none" cap="none" strike="noStrike">
                <a:solidFill>
                  <a:schemeClr val="accent1"/>
                </a:solidFill>
                <a:latin typeface="DM Sans Medium"/>
                <a:ea typeface="DM Sans Medium"/>
                <a:cs typeface="DM Sans Medium"/>
                <a:sym typeface="DM Sans Medium"/>
              </a:endParaRPr>
            </a:p>
          </p:txBody>
        </p:sp>
        <p:pic>
          <p:nvPicPr>
            <p:cNvPr id="1368" name="Google Shape;1368;p55"/>
            <p:cNvPicPr preferRelativeResize="0"/>
            <p:nvPr/>
          </p:nvPicPr>
          <p:blipFill>
            <a:blip r:embed="rId17">
              <a:alphaModFix/>
            </a:blip>
            <a:stretch>
              <a:fillRect/>
            </a:stretch>
          </p:blipFill>
          <p:spPr>
            <a:xfrm>
              <a:off x="2616835" y="5399809"/>
              <a:ext cx="201168" cy="201168"/>
            </a:xfrm>
            <a:prstGeom prst="rect">
              <a:avLst/>
            </a:prstGeom>
            <a:noFill/>
            <a:ln>
              <a:noFill/>
            </a:ln>
          </p:spPr>
        </p:pic>
      </p:grpSp>
      <p:grpSp>
        <p:nvGrpSpPr>
          <p:cNvPr id="1369" name="Google Shape;1369;p55"/>
          <p:cNvGrpSpPr/>
          <p:nvPr/>
        </p:nvGrpSpPr>
        <p:grpSpPr>
          <a:xfrm>
            <a:off x="2030762" y="4460624"/>
            <a:ext cx="549000" cy="460514"/>
            <a:chOff x="1977550" y="5965471"/>
            <a:chExt cx="549000" cy="460514"/>
          </a:xfrm>
        </p:grpSpPr>
        <p:sp>
          <p:nvSpPr>
            <p:cNvPr id="1370" name="Google Shape;1370;p55"/>
            <p:cNvSpPr/>
            <p:nvPr/>
          </p:nvSpPr>
          <p:spPr>
            <a:xfrm>
              <a:off x="1977550" y="6180586"/>
              <a:ext cx="549000" cy="245400"/>
            </a:xfrm>
            <a:prstGeom prst="rect">
              <a:avLst/>
            </a:prstGeom>
            <a:no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Clr>
                  <a:srgbClr val="000000"/>
                </a:buClr>
                <a:buSzPts val="1100"/>
                <a:buFont typeface="Arial"/>
                <a:buNone/>
              </a:pPr>
              <a:r>
                <a:rPr lang="en" sz="900">
                  <a:solidFill>
                    <a:schemeClr val="accent1"/>
                  </a:solidFill>
                  <a:latin typeface="DM Sans Medium"/>
                  <a:ea typeface="DM Sans Medium"/>
                  <a:cs typeface="DM Sans Medium"/>
                  <a:sym typeface="DM Sans Medium"/>
                </a:rPr>
                <a:t>AWS </a:t>
              </a:r>
              <a:br>
                <a:rPr lang="en" sz="900">
                  <a:solidFill>
                    <a:schemeClr val="accent1"/>
                  </a:solidFill>
                  <a:latin typeface="DM Sans Medium"/>
                  <a:ea typeface="DM Sans Medium"/>
                  <a:cs typeface="DM Sans Medium"/>
                  <a:sym typeface="DM Sans Medium"/>
                </a:rPr>
              </a:br>
              <a:r>
                <a:rPr lang="en" sz="900">
                  <a:solidFill>
                    <a:schemeClr val="accent1"/>
                  </a:solidFill>
                  <a:latin typeface="DM Sans Medium"/>
                  <a:ea typeface="DM Sans Medium"/>
                  <a:cs typeface="DM Sans Medium"/>
                  <a:sym typeface="DM Sans Medium"/>
                </a:rPr>
                <a:t>IoT Core</a:t>
              </a:r>
              <a:endParaRPr i="0" sz="900" u="none" cap="none" strike="noStrike">
                <a:solidFill>
                  <a:schemeClr val="accent1"/>
                </a:solidFill>
                <a:latin typeface="DM Sans Medium"/>
                <a:ea typeface="DM Sans Medium"/>
                <a:cs typeface="DM Sans Medium"/>
                <a:sym typeface="DM Sans Medium"/>
              </a:endParaRPr>
            </a:p>
          </p:txBody>
        </p:sp>
        <p:pic>
          <p:nvPicPr>
            <p:cNvPr id="1371" name="Google Shape;1371;p55"/>
            <p:cNvPicPr preferRelativeResize="0"/>
            <p:nvPr/>
          </p:nvPicPr>
          <p:blipFill>
            <a:blip r:embed="rId18">
              <a:alphaModFix/>
            </a:blip>
            <a:stretch>
              <a:fillRect/>
            </a:stretch>
          </p:blipFill>
          <p:spPr>
            <a:xfrm>
              <a:off x="2152751" y="5965471"/>
              <a:ext cx="198575" cy="198594"/>
            </a:xfrm>
            <a:prstGeom prst="rect">
              <a:avLst/>
            </a:prstGeom>
            <a:noFill/>
            <a:ln>
              <a:noFill/>
            </a:ln>
          </p:spPr>
        </p:pic>
      </p:grpSp>
      <p:grpSp>
        <p:nvGrpSpPr>
          <p:cNvPr id="1372" name="Google Shape;1372;p55"/>
          <p:cNvGrpSpPr/>
          <p:nvPr/>
        </p:nvGrpSpPr>
        <p:grpSpPr>
          <a:xfrm>
            <a:off x="2526968" y="4460625"/>
            <a:ext cx="494700" cy="469266"/>
            <a:chOff x="2473752" y="5965472"/>
            <a:chExt cx="494700" cy="469266"/>
          </a:xfrm>
        </p:grpSpPr>
        <p:pic>
          <p:nvPicPr>
            <p:cNvPr id="1373" name="Google Shape;1373;p55"/>
            <p:cNvPicPr preferRelativeResize="0"/>
            <p:nvPr/>
          </p:nvPicPr>
          <p:blipFill rotWithShape="1">
            <a:blip r:embed="rId19">
              <a:alphaModFix/>
            </a:blip>
            <a:srcRect b="0" l="0" r="0" t="0"/>
            <a:stretch/>
          </p:blipFill>
          <p:spPr>
            <a:xfrm>
              <a:off x="2621798" y="5965472"/>
              <a:ext cx="198575" cy="198595"/>
            </a:xfrm>
            <a:prstGeom prst="rect">
              <a:avLst/>
            </a:prstGeom>
            <a:noFill/>
            <a:ln>
              <a:noFill/>
            </a:ln>
          </p:spPr>
        </p:pic>
        <p:sp>
          <p:nvSpPr>
            <p:cNvPr id="1374" name="Google Shape;1374;p55"/>
            <p:cNvSpPr/>
            <p:nvPr/>
          </p:nvSpPr>
          <p:spPr>
            <a:xfrm>
              <a:off x="2473752" y="6182737"/>
              <a:ext cx="494700" cy="252000"/>
            </a:xfrm>
            <a:prstGeom prst="rect">
              <a:avLst/>
            </a:prstGeom>
            <a:no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Clr>
                  <a:srgbClr val="000000"/>
                </a:buClr>
                <a:buSzPts val="1100"/>
                <a:buFont typeface="Arial"/>
                <a:buNone/>
              </a:pPr>
              <a:r>
                <a:rPr lang="en" sz="900">
                  <a:solidFill>
                    <a:schemeClr val="accent1"/>
                  </a:solidFill>
                  <a:latin typeface="DM Sans Medium"/>
                  <a:ea typeface="DM Sans Medium"/>
                  <a:cs typeface="DM Sans Medium"/>
                  <a:sym typeface="DM Sans Medium"/>
                </a:rPr>
                <a:t>Amazon </a:t>
              </a:r>
              <a:br>
                <a:rPr lang="en" sz="900">
                  <a:solidFill>
                    <a:schemeClr val="accent1"/>
                  </a:solidFill>
                  <a:latin typeface="DM Sans Medium"/>
                  <a:ea typeface="DM Sans Medium"/>
                  <a:cs typeface="DM Sans Medium"/>
                  <a:sym typeface="DM Sans Medium"/>
                </a:rPr>
              </a:br>
              <a:r>
                <a:rPr lang="en" sz="900">
                  <a:solidFill>
                    <a:schemeClr val="accent1"/>
                  </a:solidFill>
                  <a:latin typeface="DM Sans Medium"/>
                  <a:ea typeface="DM Sans Medium"/>
                  <a:cs typeface="DM Sans Medium"/>
                  <a:sym typeface="DM Sans Medium"/>
                </a:rPr>
                <a:t>Kinesis</a:t>
              </a:r>
              <a:endParaRPr i="0" sz="900" u="none" cap="none" strike="noStrike">
                <a:solidFill>
                  <a:schemeClr val="accent1"/>
                </a:solidFill>
                <a:latin typeface="DM Sans Medium"/>
                <a:ea typeface="DM Sans Medium"/>
                <a:cs typeface="DM Sans Medium"/>
                <a:sym typeface="DM Sans Medium"/>
              </a:endParaRPr>
            </a:p>
          </p:txBody>
        </p:sp>
      </p:grpSp>
      <p:grpSp>
        <p:nvGrpSpPr>
          <p:cNvPr id="1375" name="Google Shape;1375;p55"/>
          <p:cNvGrpSpPr/>
          <p:nvPr/>
        </p:nvGrpSpPr>
        <p:grpSpPr>
          <a:xfrm>
            <a:off x="2006612" y="3966113"/>
            <a:ext cx="597300" cy="452853"/>
            <a:chOff x="1953396" y="5402421"/>
            <a:chExt cx="597300" cy="452853"/>
          </a:xfrm>
        </p:grpSpPr>
        <p:pic>
          <p:nvPicPr>
            <p:cNvPr id="1376" name="Google Shape;1376;p55"/>
            <p:cNvPicPr preferRelativeResize="0"/>
            <p:nvPr/>
          </p:nvPicPr>
          <p:blipFill>
            <a:blip r:embed="rId20">
              <a:alphaModFix/>
            </a:blip>
            <a:stretch>
              <a:fillRect/>
            </a:stretch>
          </p:blipFill>
          <p:spPr>
            <a:xfrm>
              <a:off x="2152762" y="5402421"/>
              <a:ext cx="198575" cy="198556"/>
            </a:xfrm>
            <a:prstGeom prst="rect">
              <a:avLst/>
            </a:prstGeom>
            <a:noFill/>
            <a:ln>
              <a:noFill/>
            </a:ln>
          </p:spPr>
        </p:pic>
        <p:sp>
          <p:nvSpPr>
            <p:cNvPr id="1377" name="Google Shape;1377;p55"/>
            <p:cNvSpPr txBox="1"/>
            <p:nvPr/>
          </p:nvSpPr>
          <p:spPr>
            <a:xfrm>
              <a:off x="1953396" y="5619775"/>
              <a:ext cx="597300" cy="235500"/>
            </a:xfrm>
            <a:prstGeom prst="rect">
              <a:avLst/>
            </a:prstGeom>
            <a:noFill/>
            <a:ln>
              <a:noFill/>
            </a:ln>
          </p:spPr>
          <p:txBody>
            <a:bodyPr anchorCtr="0" anchor="t" bIns="0" lIns="0" spcFirstLastPara="1" rIns="0" wrap="square" tIns="0">
              <a:spAutoFit/>
            </a:bodyPr>
            <a:lstStyle/>
            <a:p>
              <a:pPr indent="0" lvl="0" marL="0" rtl="0" algn="ctr">
                <a:lnSpc>
                  <a:spcPct val="85000"/>
                </a:lnSpc>
                <a:spcBef>
                  <a:spcPts val="0"/>
                </a:spcBef>
                <a:spcAft>
                  <a:spcPts val="0"/>
                </a:spcAft>
                <a:buNone/>
              </a:pPr>
              <a:r>
                <a:rPr lang="en" sz="900">
                  <a:solidFill>
                    <a:schemeClr val="accent1"/>
                  </a:solidFill>
                  <a:latin typeface="DM Sans Medium"/>
                  <a:ea typeface="DM Sans Medium"/>
                  <a:cs typeface="DM Sans Medium"/>
                  <a:sym typeface="DM Sans Medium"/>
                </a:rPr>
                <a:t>Amazon AppFlow</a:t>
              </a:r>
              <a:endParaRPr sz="900">
                <a:solidFill>
                  <a:schemeClr val="accent1"/>
                </a:solidFill>
                <a:latin typeface="DM Sans Medium"/>
                <a:ea typeface="DM Sans Medium"/>
                <a:cs typeface="DM Sans Medium"/>
                <a:sym typeface="DM Sans Medium"/>
              </a:endParaRPr>
            </a:p>
          </p:txBody>
        </p:sp>
      </p:grpSp>
      <p:grpSp>
        <p:nvGrpSpPr>
          <p:cNvPr id="1378" name="Google Shape;1378;p55"/>
          <p:cNvGrpSpPr/>
          <p:nvPr/>
        </p:nvGrpSpPr>
        <p:grpSpPr>
          <a:xfrm>
            <a:off x="4472275" y="5705945"/>
            <a:ext cx="666600" cy="357480"/>
            <a:chOff x="4472275" y="5705945"/>
            <a:chExt cx="666600" cy="357480"/>
          </a:xfrm>
        </p:grpSpPr>
        <p:sp>
          <p:nvSpPr>
            <p:cNvPr id="1379" name="Google Shape;1379;p55"/>
            <p:cNvSpPr/>
            <p:nvPr/>
          </p:nvSpPr>
          <p:spPr>
            <a:xfrm>
              <a:off x="4472275" y="5909525"/>
              <a:ext cx="666600" cy="153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Amazon S3</a:t>
              </a:r>
              <a:endParaRPr sz="900">
                <a:solidFill>
                  <a:srgbClr val="1B5162"/>
                </a:solidFill>
                <a:latin typeface="DM Sans Medium"/>
                <a:ea typeface="DM Sans Medium"/>
                <a:cs typeface="DM Sans Medium"/>
                <a:sym typeface="DM Sans Medium"/>
              </a:endParaRPr>
            </a:p>
          </p:txBody>
        </p:sp>
        <p:pic>
          <p:nvPicPr>
            <p:cNvPr id="1280" name="Google Shape;1280;p55"/>
            <p:cNvPicPr preferRelativeResize="0"/>
            <p:nvPr/>
          </p:nvPicPr>
          <p:blipFill rotWithShape="1">
            <a:blip r:embed="rId21">
              <a:alphaModFix/>
            </a:blip>
            <a:srcRect b="0" l="0" r="0" t="0"/>
            <a:stretch/>
          </p:blipFill>
          <p:spPr>
            <a:xfrm>
              <a:off x="4687700" y="5705945"/>
              <a:ext cx="201168" cy="201168"/>
            </a:xfrm>
            <a:prstGeom prst="rect">
              <a:avLst/>
            </a:prstGeom>
            <a:noFill/>
            <a:ln>
              <a:noFill/>
            </a:ln>
          </p:spPr>
        </p:pic>
      </p:grpSp>
      <p:grpSp>
        <p:nvGrpSpPr>
          <p:cNvPr id="1380" name="Google Shape;1380;p55"/>
          <p:cNvGrpSpPr/>
          <p:nvPr/>
        </p:nvGrpSpPr>
        <p:grpSpPr>
          <a:xfrm>
            <a:off x="8316569" y="4541418"/>
            <a:ext cx="494700" cy="462613"/>
            <a:chOff x="8183715" y="5652393"/>
            <a:chExt cx="494700" cy="462613"/>
          </a:xfrm>
        </p:grpSpPr>
        <p:pic>
          <p:nvPicPr>
            <p:cNvPr id="1381" name="Google Shape;1381;p55"/>
            <p:cNvPicPr preferRelativeResize="0"/>
            <p:nvPr/>
          </p:nvPicPr>
          <p:blipFill rotWithShape="1">
            <a:blip r:embed="rId22">
              <a:alphaModFix/>
            </a:blip>
            <a:srcRect b="0" l="0" r="0" t="0"/>
            <a:stretch/>
          </p:blipFill>
          <p:spPr>
            <a:xfrm>
              <a:off x="8330481" y="5652393"/>
              <a:ext cx="201168" cy="201168"/>
            </a:xfrm>
            <a:prstGeom prst="rect">
              <a:avLst/>
            </a:prstGeom>
            <a:noFill/>
            <a:ln>
              <a:noFill/>
            </a:ln>
          </p:spPr>
        </p:pic>
        <p:sp>
          <p:nvSpPr>
            <p:cNvPr id="1382" name="Google Shape;1382;p55"/>
            <p:cNvSpPr/>
            <p:nvPr/>
          </p:nvSpPr>
          <p:spPr>
            <a:xfrm>
              <a:off x="8183715" y="5865407"/>
              <a:ext cx="494700" cy="249600"/>
            </a:xfrm>
            <a:prstGeom prst="rect">
              <a:avLst/>
            </a:prstGeom>
            <a:no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Clr>
                  <a:srgbClr val="000000"/>
                </a:buClr>
                <a:buSzPts val="1100"/>
                <a:buFont typeface="Arial"/>
                <a:buNone/>
              </a:pPr>
              <a:r>
                <a:rPr lang="en" sz="900">
                  <a:solidFill>
                    <a:schemeClr val="accent1"/>
                  </a:solidFill>
                  <a:latin typeface="DM Sans Medium"/>
                  <a:ea typeface="DM Sans Medium"/>
                  <a:cs typeface="DM Sans Medium"/>
                  <a:sym typeface="DM Sans Medium"/>
                </a:rPr>
                <a:t>Amazon </a:t>
              </a:r>
              <a:br>
                <a:rPr lang="en" sz="900">
                  <a:solidFill>
                    <a:schemeClr val="accent1"/>
                  </a:solidFill>
                  <a:latin typeface="DM Sans Medium"/>
                  <a:ea typeface="DM Sans Medium"/>
                  <a:cs typeface="DM Sans Medium"/>
                  <a:sym typeface="DM Sans Medium"/>
                </a:rPr>
              </a:br>
              <a:r>
                <a:rPr lang="en" sz="900">
                  <a:solidFill>
                    <a:schemeClr val="accent1"/>
                  </a:solidFill>
                  <a:latin typeface="DM Sans Medium"/>
                  <a:ea typeface="DM Sans Medium"/>
                  <a:cs typeface="DM Sans Medium"/>
                  <a:sym typeface="DM Sans Medium"/>
                </a:rPr>
                <a:t>RDS</a:t>
              </a:r>
              <a:endParaRPr i="0" sz="900" u="none" cap="none" strike="noStrike">
                <a:solidFill>
                  <a:schemeClr val="accent1"/>
                </a:solidFill>
                <a:latin typeface="DM Sans Medium"/>
                <a:ea typeface="DM Sans Medium"/>
                <a:cs typeface="DM Sans Medium"/>
                <a:sym typeface="DM Sans Medium"/>
              </a:endParaRPr>
            </a:p>
          </p:txBody>
        </p:sp>
      </p:grpSp>
      <p:grpSp>
        <p:nvGrpSpPr>
          <p:cNvPr id="1383" name="Google Shape;1383;p55"/>
          <p:cNvGrpSpPr/>
          <p:nvPr/>
        </p:nvGrpSpPr>
        <p:grpSpPr>
          <a:xfrm>
            <a:off x="8186257" y="5004017"/>
            <a:ext cx="762900" cy="470384"/>
            <a:chOff x="8049615" y="6210692"/>
            <a:chExt cx="762900" cy="470384"/>
          </a:xfrm>
        </p:grpSpPr>
        <p:pic>
          <p:nvPicPr>
            <p:cNvPr id="1384" name="Google Shape;1384;p55"/>
            <p:cNvPicPr preferRelativeResize="0"/>
            <p:nvPr/>
          </p:nvPicPr>
          <p:blipFill rotWithShape="1">
            <a:blip r:embed="rId23">
              <a:alphaModFix/>
            </a:blip>
            <a:srcRect b="0" l="0" r="0" t="0"/>
            <a:stretch/>
          </p:blipFill>
          <p:spPr>
            <a:xfrm>
              <a:off x="8330481" y="6210692"/>
              <a:ext cx="201168" cy="201168"/>
            </a:xfrm>
            <a:prstGeom prst="rect">
              <a:avLst/>
            </a:prstGeom>
            <a:noFill/>
            <a:ln>
              <a:noFill/>
            </a:ln>
          </p:spPr>
        </p:pic>
        <p:sp>
          <p:nvSpPr>
            <p:cNvPr id="1385" name="Google Shape;1385;p55"/>
            <p:cNvSpPr/>
            <p:nvPr/>
          </p:nvSpPr>
          <p:spPr>
            <a:xfrm>
              <a:off x="8049615" y="6431476"/>
              <a:ext cx="762900" cy="249600"/>
            </a:xfrm>
            <a:prstGeom prst="rect">
              <a:avLst/>
            </a:prstGeom>
            <a:no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Clr>
                  <a:srgbClr val="000000"/>
                </a:buClr>
                <a:buSzPts val="1100"/>
                <a:buFont typeface="Arial"/>
                <a:buNone/>
              </a:pPr>
              <a:r>
                <a:rPr lang="en" sz="900">
                  <a:solidFill>
                    <a:schemeClr val="accent1"/>
                  </a:solidFill>
                  <a:latin typeface="DM Sans Medium"/>
                  <a:ea typeface="DM Sans Medium"/>
                  <a:cs typeface="DM Sans Medium"/>
                  <a:sym typeface="DM Sans Medium"/>
                </a:rPr>
                <a:t>Amazon </a:t>
              </a:r>
              <a:br>
                <a:rPr lang="en" sz="900">
                  <a:solidFill>
                    <a:schemeClr val="accent1"/>
                  </a:solidFill>
                  <a:latin typeface="DM Sans Medium"/>
                  <a:ea typeface="DM Sans Medium"/>
                  <a:cs typeface="DM Sans Medium"/>
                  <a:sym typeface="DM Sans Medium"/>
                </a:rPr>
              </a:br>
              <a:r>
                <a:rPr lang="en" sz="900">
                  <a:solidFill>
                    <a:schemeClr val="accent1"/>
                  </a:solidFill>
                  <a:latin typeface="DM Sans Medium"/>
                  <a:ea typeface="DM Sans Medium"/>
                  <a:cs typeface="DM Sans Medium"/>
                  <a:sym typeface="DM Sans Medium"/>
                </a:rPr>
                <a:t>DynamoDB</a:t>
              </a:r>
              <a:endParaRPr i="0" sz="900" u="none" cap="none" strike="noStrike">
                <a:solidFill>
                  <a:schemeClr val="accent1"/>
                </a:solidFill>
                <a:latin typeface="DM Sans Medium"/>
                <a:ea typeface="DM Sans Medium"/>
                <a:cs typeface="DM Sans Medium"/>
                <a:sym typeface="DM Sans Medium"/>
              </a:endParaRPr>
            </a:p>
          </p:txBody>
        </p:sp>
      </p:grpSp>
      <p:grpSp>
        <p:nvGrpSpPr>
          <p:cNvPr id="1386" name="Google Shape;1386;p55"/>
          <p:cNvGrpSpPr/>
          <p:nvPr/>
        </p:nvGrpSpPr>
        <p:grpSpPr>
          <a:xfrm>
            <a:off x="9265605" y="4518283"/>
            <a:ext cx="892211" cy="255600"/>
            <a:chOff x="9265605" y="3855458"/>
            <a:chExt cx="892211" cy="255600"/>
          </a:xfrm>
        </p:grpSpPr>
        <p:sp>
          <p:nvSpPr>
            <p:cNvPr id="1387" name="Google Shape;1387;p55"/>
            <p:cNvSpPr/>
            <p:nvPr/>
          </p:nvSpPr>
          <p:spPr>
            <a:xfrm>
              <a:off x="9510416" y="3855458"/>
              <a:ext cx="647400" cy="2556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None/>
              </a:pPr>
              <a:r>
                <a:rPr lang="en" sz="900">
                  <a:solidFill>
                    <a:schemeClr val="accent1"/>
                  </a:solidFill>
                  <a:latin typeface="DM Sans Medium"/>
                  <a:ea typeface="DM Sans Medium"/>
                  <a:cs typeface="DM Sans Medium"/>
                  <a:sym typeface="DM Sans Medium"/>
                </a:rPr>
                <a:t>Amazon </a:t>
              </a:r>
              <a:br>
                <a:rPr lang="en" sz="900">
                  <a:solidFill>
                    <a:schemeClr val="accent1"/>
                  </a:solidFill>
                  <a:latin typeface="DM Sans Medium"/>
                  <a:ea typeface="DM Sans Medium"/>
                  <a:cs typeface="DM Sans Medium"/>
                  <a:sym typeface="DM Sans Medium"/>
                </a:rPr>
              </a:br>
              <a:r>
                <a:rPr lang="en" sz="900">
                  <a:solidFill>
                    <a:schemeClr val="accent1"/>
                  </a:solidFill>
                  <a:latin typeface="DM Sans Medium"/>
                  <a:ea typeface="DM Sans Medium"/>
                  <a:cs typeface="DM Sans Medium"/>
                  <a:sym typeface="DM Sans Medium"/>
                </a:rPr>
                <a:t>QuickSight</a:t>
              </a:r>
              <a:endParaRPr sz="900">
                <a:solidFill>
                  <a:schemeClr val="accent1"/>
                </a:solidFill>
                <a:latin typeface="DM Sans Medium"/>
                <a:ea typeface="DM Sans Medium"/>
                <a:cs typeface="DM Sans Medium"/>
                <a:sym typeface="DM Sans Medium"/>
              </a:endParaRPr>
            </a:p>
          </p:txBody>
        </p:sp>
        <p:pic>
          <p:nvPicPr>
            <p:cNvPr id="1388" name="Google Shape;1388;p55"/>
            <p:cNvPicPr preferRelativeResize="0"/>
            <p:nvPr/>
          </p:nvPicPr>
          <p:blipFill>
            <a:blip r:embed="rId24">
              <a:alphaModFix/>
            </a:blip>
            <a:stretch>
              <a:fillRect/>
            </a:stretch>
          </p:blipFill>
          <p:spPr>
            <a:xfrm>
              <a:off x="9265605" y="3877592"/>
              <a:ext cx="201168" cy="201168"/>
            </a:xfrm>
            <a:prstGeom prst="rect">
              <a:avLst/>
            </a:prstGeom>
            <a:noFill/>
            <a:ln>
              <a:noFill/>
            </a:ln>
          </p:spPr>
        </p:pic>
      </p:grpSp>
      <p:grpSp>
        <p:nvGrpSpPr>
          <p:cNvPr id="1389" name="Google Shape;1389;p55"/>
          <p:cNvGrpSpPr/>
          <p:nvPr/>
        </p:nvGrpSpPr>
        <p:grpSpPr>
          <a:xfrm>
            <a:off x="10745081" y="3946532"/>
            <a:ext cx="549000" cy="484784"/>
            <a:chOff x="10745077" y="3927379"/>
            <a:chExt cx="549000" cy="484784"/>
          </a:xfrm>
        </p:grpSpPr>
        <p:sp>
          <p:nvSpPr>
            <p:cNvPr id="1390" name="Google Shape;1390;p55"/>
            <p:cNvSpPr txBox="1"/>
            <p:nvPr/>
          </p:nvSpPr>
          <p:spPr>
            <a:xfrm>
              <a:off x="10745077" y="4162863"/>
              <a:ext cx="549000" cy="2493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Amazon Bedrock</a:t>
              </a:r>
              <a:endParaRPr sz="900">
                <a:solidFill>
                  <a:schemeClr val="accent1"/>
                </a:solidFill>
                <a:latin typeface="DM Sans Medium"/>
                <a:ea typeface="DM Sans Medium"/>
                <a:cs typeface="DM Sans Medium"/>
                <a:sym typeface="DM Sans Medium"/>
              </a:endParaRPr>
            </a:p>
          </p:txBody>
        </p:sp>
        <p:pic>
          <p:nvPicPr>
            <p:cNvPr id="1391" name="Google Shape;1391;p55"/>
            <p:cNvPicPr preferRelativeResize="0"/>
            <p:nvPr/>
          </p:nvPicPr>
          <p:blipFill>
            <a:blip r:embed="rId25">
              <a:alphaModFix/>
            </a:blip>
            <a:stretch>
              <a:fillRect/>
            </a:stretch>
          </p:blipFill>
          <p:spPr>
            <a:xfrm>
              <a:off x="10909852" y="3927379"/>
              <a:ext cx="219456" cy="219456"/>
            </a:xfrm>
            <a:prstGeom prst="rect">
              <a:avLst/>
            </a:prstGeom>
            <a:noFill/>
            <a:ln>
              <a:noFill/>
            </a:ln>
          </p:spPr>
        </p:pic>
      </p:grpSp>
      <p:grpSp>
        <p:nvGrpSpPr>
          <p:cNvPr id="1392" name="Google Shape;1392;p55"/>
          <p:cNvGrpSpPr/>
          <p:nvPr/>
        </p:nvGrpSpPr>
        <p:grpSpPr>
          <a:xfrm>
            <a:off x="10597031" y="1640305"/>
            <a:ext cx="845100" cy="506672"/>
            <a:chOff x="10597025" y="1640305"/>
            <a:chExt cx="845100" cy="506672"/>
          </a:xfrm>
        </p:grpSpPr>
        <p:sp>
          <p:nvSpPr>
            <p:cNvPr id="1393" name="Google Shape;1393;p55"/>
            <p:cNvSpPr txBox="1"/>
            <p:nvPr/>
          </p:nvSpPr>
          <p:spPr>
            <a:xfrm>
              <a:off x="10597025" y="1886577"/>
              <a:ext cx="845100" cy="2604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IAM Identity Center</a:t>
              </a:r>
              <a:endParaRPr sz="900">
                <a:solidFill>
                  <a:schemeClr val="accent1"/>
                </a:solidFill>
                <a:latin typeface="DM Sans Medium"/>
                <a:ea typeface="DM Sans Medium"/>
                <a:cs typeface="DM Sans Medium"/>
                <a:sym typeface="DM Sans Medium"/>
              </a:endParaRPr>
            </a:p>
          </p:txBody>
        </p:sp>
        <p:pic>
          <p:nvPicPr>
            <p:cNvPr id="1394" name="Google Shape;1394;p55"/>
            <p:cNvPicPr preferRelativeResize="0"/>
            <p:nvPr/>
          </p:nvPicPr>
          <p:blipFill>
            <a:blip r:embed="rId26">
              <a:alphaModFix/>
            </a:blip>
            <a:stretch>
              <a:fillRect/>
            </a:stretch>
          </p:blipFill>
          <p:spPr>
            <a:xfrm>
              <a:off x="10909838" y="1640305"/>
              <a:ext cx="219456" cy="219456"/>
            </a:xfrm>
            <a:prstGeom prst="rect">
              <a:avLst/>
            </a:prstGeom>
            <a:noFill/>
            <a:ln>
              <a:noFill/>
            </a:ln>
          </p:spPr>
        </p:pic>
      </p:grpSp>
      <p:grpSp>
        <p:nvGrpSpPr>
          <p:cNvPr id="1395" name="Google Shape;1395;p55"/>
          <p:cNvGrpSpPr/>
          <p:nvPr/>
        </p:nvGrpSpPr>
        <p:grpSpPr>
          <a:xfrm>
            <a:off x="1212255" y="4469489"/>
            <a:ext cx="589500" cy="473416"/>
            <a:chOff x="2114375" y="5404434"/>
            <a:chExt cx="589500" cy="473416"/>
          </a:xfrm>
        </p:grpSpPr>
        <p:pic>
          <p:nvPicPr>
            <p:cNvPr id="1396" name="Google Shape;1396;p55"/>
            <p:cNvPicPr preferRelativeResize="0"/>
            <p:nvPr/>
          </p:nvPicPr>
          <p:blipFill rotWithShape="1">
            <a:blip r:embed="rId27">
              <a:alphaModFix/>
            </a:blip>
            <a:srcRect b="0" l="0" r="0" t="0"/>
            <a:stretch/>
          </p:blipFill>
          <p:spPr>
            <a:xfrm>
              <a:off x="2308541" y="5404434"/>
              <a:ext cx="201168" cy="201168"/>
            </a:xfrm>
            <a:prstGeom prst="rect">
              <a:avLst/>
            </a:prstGeom>
            <a:noFill/>
            <a:ln>
              <a:noFill/>
            </a:ln>
          </p:spPr>
        </p:pic>
        <p:sp>
          <p:nvSpPr>
            <p:cNvPr id="1397" name="Google Shape;1397;p55"/>
            <p:cNvSpPr/>
            <p:nvPr/>
          </p:nvSpPr>
          <p:spPr>
            <a:xfrm>
              <a:off x="2114375" y="5625850"/>
              <a:ext cx="589500" cy="252000"/>
            </a:xfrm>
            <a:prstGeom prst="rect">
              <a:avLst/>
            </a:prstGeom>
            <a:no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chemeClr val="accent1"/>
                  </a:solidFill>
                  <a:latin typeface="DM Sans Medium"/>
                  <a:ea typeface="DM Sans Medium"/>
                  <a:cs typeface="DM Sans Medium"/>
                  <a:sym typeface="DM Sans Medium"/>
                </a:rPr>
                <a:t>Amazon </a:t>
              </a:r>
              <a:br>
                <a:rPr lang="en" sz="900">
                  <a:solidFill>
                    <a:schemeClr val="accent1"/>
                  </a:solidFill>
                  <a:latin typeface="DM Sans Medium"/>
                  <a:ea typeface="DM Sans Medium"/>
                  <a:cs typeface="DM Sans Medium"/>
                  <a:sym typeface="DM Sans Medium"/>
                </a:rPr>
              </a:br>
              <a:r>
                <a:rPr lang="en" sz="900">
                  <a:solidFill>
                    <a:schemeClr val="accent1"/>
                  </a:solidFill>
                  <a:latin typeface="DM Sans Medium"/>
                  <a:ea typeface="DM Sans Medium"/>
                  <a:cs typeface="DM Sans Medium"/>
                  <a:sym typeface="DM Sans Medium"/>
                </a:rPr>
                <a:t>Redshift</a:t>
              </a:r>
              <a:endParaRPr sz="900">
                <a:solidFill>
                  <a:schemeClr val="accent1"/>
                </a:solidFill>
                <a:latin typeface="DM Sans Medium"/>
                <a:ea typeface="DM Sans Medium"/>
                <a:cs typeface="DM Sans Medium"/>
                <a:sym typeface="DM Sans Medium"/>
              </a:endParaRPr>
            </a:p>
          </p:txBody>
        </p:sp>
      </p:grpSp>
      <p:grpSp>
        <p:nvGrpSpPr>
          <p:cNvPr id="1398" name="Google Shape;1398;p55"/>
          <p:cNvGrpSpPr/>
          <p:nvPr/>
        </p:nvGrpSpPr>
        <p:grpSpPr>
          <a:xfrm>
            <a:off x="740604" y="4473120"/>
            <a:ext cx="635100" cy="466134"/>
            <a:chOff x="2091574" y="5990602"/>
            <a:chExt cx="635100" cy="466134"/>
          </a:xfrm>
        </p:grpSpPr>
        <p:pic>
          <p:nvPicPr>
            <p:cNvPr id="1399" name="Google Shape;1399;p55"/>
            <p:cNvPicPr preferRelativeResize="0"/>
            <p:nvPr/>
          </p:nvPicPr>
          <p:blipFill rotWithShape="1">
            <a:blip r:embed="rId28">
              <a:alphaModFix/>
            </a:blip>
            <a:srcRect b="0" l="0" r="0" t="0"/>
            <a:stretch/>
          </p:blipFill>
          <p:spPr>
            <a:xfrm>
              <a:off x="2308541" y="5990602"/>
              <a:ext cx="201168" cy="201168"/>
            </a:xfrm>
            <a:prstGeom prst="rect">
              <a:avLst/>
            </a:prstGeom>
            <a:noFill/>
            <a:ln>
              <a:noFill/>
            </a:ln>
          </p:spPr>
        </p:pic>
        <p:sp>
          <p:nvSpPr>
            <p:cNvPr id="1400" name="Google Shape;1400;p55"/>
            <p:cNvSpPr txBox="1"/>
            <p:nvPr/>
          </p:nvSpPr>
          <p:spPr>
            <a:xfrm>
              <a:off x="2091574" y="6221236"/>
              <a:ext cx="635100" cy="235500"/>
            </a:xfrm>
            <a:prstGeom prst="rect">
              <a:avLst/>
            </a:prstGeom>
            <a:noFill/>
            <a:ln>
              <a:noFill/>
            </a:ln>
          </p:spPr>
          <p:txBody>
            <a:bodyPr anchorCtr="0" anchor="t" bIns="0" lIns="91425" spcFirstLastPara="1" rIns="0" wrap="square" tIns="0">
              <a:spAutoFit/>
            </a:bodyPr>
            <a:lstStyle/>
            <a:p>
              <a:pPr indent="0" lvl="0" marL="0" rtl="0" algn="ctr">
                <a:lnSpc>
                  <a:spcPct val="85000"/>
                </a:lnSpc>
                <a:spcBef>
                  <a:spcPts val="0"/>
                </a:spcBef>
                <a:spcAft>
                  <a:spcPts val="0"/>
                </a:spcAft>
                <a:buNone/>
              </a:pPr>
              <a:r>
                <a:rPr lang="en" sz="900">
                  <a:solidFill>
                    <a:schemeClr val="accent1"/>
                  </a:solidFill>
                  <a:latin typeface="DM Sans Medium"/>
                  <a:ea typeface="DM Sans Medium"/>
                  <a:cs typeface="DM Sans Medium"/>
                  <a:sym typeface="DM Sans Medium"/>
                </a:rPr>
                <a:t>AWS </a:t>
              </a:r>
              <a:br>
                <a:rPr lang="en" sz="900">
                  <a:solidFill>
                    <a:schemeClr val="accent1"/>
                  </a:solidFill>
                  <a:latin typeface="DM Sans Medium"/>
                  <a:ea typeface="DM Sans Medium"/>
                  <a:cs typeface="DM Sans Medium"/>
                  <a:sym typeface="DM Sans Medium"/>
                </a:rPr>
              </a:br>
              <a:r>
                <a:rPr lang="en" sz="900">
                  <a:solidFill>
                    <a:schemeClr val="accent1"/>
                  </a:solidFill>
                  <a:latin typeface="DM Sans Medium"/>
                  <a:ea typeface="DM Sans Medium"/>
                  <a:cs typeface="DM Sans Medium"/>
                  <a:sym typeface="DM Sans Medium"/>
                </a:rPr>
                <a:t>Glue</a:t>
              </a:r>
              <a:endParaRPr sz="900">
                <a:solidFill>
                  <a:schemeClr val="accent1"/>
                </a:solidFill>
                <a:latin typeface="DM Sans Medium"/>
                <a:ea typeface="DM Sans Medium"/>
                <a:cs typeface="DM Sans Medium"/>
                <a:sym typeface="DM Sans Medium"/>
              </a:endParaRPr>
            </a:p>
          </p:txBody>
        </p:sp>
      </p:grpSp>
      <p:pic>
        <p:nvPicPr>
          <p:cNvPr id="1401" name="Google Shape;1401;p55"/>
          <p:cNvPicPr preferRelativeResize="0"/>
          <p:nvPr/>
        </p:nvPicPr>
        <p:blipFill>
          <a:blip r:embed="rId29">
            <a:alphaModFix/>
          </a:blip>
          <a:stretch>
            <a:fillRect/>
          </a:stretch>
        </p:blipFill>
        <p:spPr>
          <a:xfrm>
            <a:off x="11501577" y="73573"/>
            <a:ext cx="607149" cy="36576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5" name="Shape 1405"/>
        <p:cNvGrpSpPr/>
        <p:nvPr/>
      </p:nvGrpSpPr>
      <p:grpSpPr>
        <a:xfrm>
          <a:off x="0" y="0"/>
          <a:ext cx="0" cy="0"/>
          <a:chOff x="0" y="0"/>
          <a:chExt cx="0" cy="0"/>
        </a:xfrm>
      </p:grpSpPr>
      <p:sp>
        <p:nvSpPr>
          <p:cNvPr id="1406" name="Google Shape;1406;p56"/>
          <p:cNvSpPr/>
          <p:nvPr/>
        </p:nvSpPr>
        <p:spPr>
          <a:xfrm>
            <a:off x="4664825" y="1368050"/>
            <a:ext cx="5601300" cy="28167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grpSp>
        <p:nvGrpSpPr>
          <p:cNvPr id="1407" name="Google Shape;1407;p56"/>
          <p:cNvGrpSpPr/>
          <p:nvPr/>
        </p:nvGrpSpPr>
        <p:grpSpPr>
          <a:xfrm rot="-5400000">
            <a:off x="8118194" y="4175940"/>
            <a:ext cx="198576" cy="208513"/>
            <a:chOff x="3295749" y="3922446"/>
            <a:chExt cx="198576" cy="208513"/>
          </a:xfrm>
        </p:grpSpPr>
        <p:sp>
          <p:nvSpPr>
            <p:cNvPr id="1408" name="Google Shape;1408;p56"/>
            <p:cNvSpPr/>
            <p:nvPr/>
          </p:nvSpPr>
          <p:spPr>
            <a:xfrm>
              <a:off x="3391125" y="3922446"/>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09" name="Google Shape;1409;p56"/>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1410" name="Google Shape;1410;p56"/>
          <p:cNvSpPr/>
          <p:nvPr/>
        </p:nvSpPr>
        <p:spPr>
          <a:xfrm>
            <a:off x="8177450" y="4282646"/>
            <a:ext cx="796500" cy="1227000"/>
          </a:xfrm>
          <a:prstGeom prst="roundRect">
            <a:avLst>
              <a:gd fmla="val 8407"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rtl="0" algn="ctr">
              <a:lnSpc>
                <a:spcPct val="90000"/>
              </a:lnSpc>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Operat. DB</a:t>
            </a:r>
            <a:endParaRPr sz="1100">
              <a:solidFill>
                <a:schemeClr val="accent5"/>
              </a:solidFill>
              <a:latin typeface="DM Sans Medium"/>
              <a:ea typeface="DM Sans Medium"/>
              <a:cs typeface="DM Sans Medium"/>
              <a:sym typeface="DM Sans Medium"/>
            </a:endParaRPr>
          </a:p>
        </p:txBody>
      </p:sp>
      <p:sp>
        <p:nvSpPr>
          <p:cNvPr id="1411" name="Google Shape;1411;p56"/>
          <p:cNvSpPr/>
          <p:nvPr/>
        </p:nvSpPr>
        <p:spPr>
          <a:xfrm>
            <a:off x="836750" y="4275513"/>
            <a:ext cx="932400" cy="810300"/>
          </a:xfrm>
          <a:prstGeom prst="roundRect">
            <a:avLst>
              <a:gd fmla="val 9540"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1412" name="Google Shape;1412;p56"/>
          <p:cNvSpPr/>
          <p:nvPr/>
        </p:nvSpPr>
        <p:spPr>
          <a:xfrm>
            <a:off x="834550" y="1368050"/>
            <a:ext cx="932400" cy="2858100"/>
          </a:xfrm>
          <a:prstGeom prst="roundRect">
            <a:avLst>
              <a:gd fmla="val 7292"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1413" name="Google Shape;1413;p56"/>
          <p:cNvSpPr/>
          <p:nvPr/>
        </p:nvSpPr>
        <p:spPr>
          <a:xfrm>
            <a:off x="1921625" y="1368050"/>
            <a:ext cx="3586200" cy="2199600"/>
          </a:xfrm>
          <a:prstGeom prst="roundRect">
            <a:avLst>
              <a:gd fmla="val 400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DM Sans"/>
              <a:ea typeface="DM Sans"/>
              <a:cs typeface="DM Sans"/>
              <a:sym typeface="DM Sans"/>
            </a:endParaRPr>
          </a:p>
        </p:txBody>
      </p:sp>
      <p:sp>
        <p:nvSpPr>
          <p:cNvPr id="1414" name="Google Shape;1414;p56"/>
          <p:cNvSpPr/>
          <p:nvPr/>
        </p:nvSpPr>
        <p:spPr>
          <a:xfrm>
            <a:off x="3183025" y="1368050"/>
            <a:ext cx="4943100" cy="4195200"/>
          </a:xfrm>
          <a:prstGeom prst="roundRect">
            <a:avLst>
              <a:gd fmla="val 202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DM Sans"/>
              <a:ea typeface="DM Sans"/>
              <a:cs typeface="DM Sans"/>
              <a:sym typeface="DM Sans"/>
            </a:endParaRPr>
          </a:p>
        </p:txBody>
      </p:sp>
      <p:sp>
        <p:nvSpPr>
          <p:cNvPr id="1415" name="Google Shape;1415;p56"/>
          <p:cNvSpPr/>
          <p:nvPr/>
        </p:nvSpPr>
        <p:spPr>
          <a:xfrm>
            <a:off x="3247450" y="2227650"/>
            <a:ext cx="5802600" cy="668400"/>
          </a:xfrm>
          <a:prstGeom prst="roundRect">
            <a:avLst>
              <a:gd fmla="val 10905" name="adj"/>
            </a:avLst>
          </a:prstGeom>
          <a:solidFill>
            <a:srgbClr val="FFFFFF"/>
          </a:solidFill>
          <a:ln>
            <a:noFill/>
          </a:ln>
        </p:spPr>
        <p:txBody>
          <a:bodyPr anchorCtr="0" anchor="t" bIns="0" lIns="0" spcFirstLastPara="1" rIns="0" wrap="square" tIns="0">
            <a:noAutofit/>
          </a:bodyPr>
          <a:lstStyle/>
          <a:p>
            <a:pPr indent="0" lvl="0" marL="0" marR="40661"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Data Science and AI / ML - Mosaic AI</a:t>
            </a:r>
            <a:endParaRPr sz="1100">
              <a:solidFill>
                <a:schemeClr val="accent5"/>
              </a:solidFill>
              <a:latin typeface="DM Sans Medium"/>
              <a:ea typeface="DM Sans Medium"/>
              <a:cs typeface="DM Sans Medium"/>
              <a:sym typeface="DM Sans Medium"/>
            </a:endParaRPr>
          </a:p>
          <a:p>
            <a:pPr indent="0" lvl="0" marL="457200" marR="0" rtl="0" algn="ctr">
              <a:lnSpc>
                <a:spcPct val="100000"/>
              </a:lnSpc>
              <a:spcBef>
                <a:spcPts val="0"/>
              </a:spcBef>
              <a:spcAft>
                <a:spcPts val="0"/>
              </a:spcAft>
              <a:buNone/>
            </a:pPr>
            <a:r>
              <a:t/>
            </a:r>
            <a:endParaRPr sz="1100">
              <a:solidFill>
                <a:schemeClr val="accent5"/>
              </a:solidFill>
              <a:latin typeface="DM Sans Medium"/>
              <a:ea typeface="DM Sans Medium"/>
              <a:cs typeface="DM Sans Medium"/>
              <a:sym typeface="DM Sans Medium"/>
            </a:endParaRPr>
          </a:p>
        </p:txBody>
      </p:sp>
      <p:sp>
        <p:nvSpPr>
          <p:cNvPr id="1416" name="Google Shape;1416;p56"/>
          <p:cNvSpPr txBox="1"/>
          <p:nvPr>
            <p:ph type="title"/>
          </p:nvPr>
        </p:nvSpPr>
        <p:spPr>
          <a:xfrm>
            <a:off x="749245" y="2307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Databricks Data Intelligence Platform</a:t>
            </a:r>
            <a:endParaRPr b="1" sz="3600">
              <a:latin typeface="DM Sans"/>
              <a:ea typeface="DM Sans"/>
              <a:cs typeface="DM Sans"/>
              <a:sym typeface="DM Sans"/>
            </a:endParaRPr>
          </a:p>
        </p:txBody>
      </p:sp>
      <p:sp>
        <p:nvSpPr>
          <p:cNvPr id="1417" name="Google Shape;1417;p56"/>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grpSp>
        <p:nvGrpSpPr>
          <p:cNvPr id="1418" name="Google Shape;1418;p56"/>
          <p:cNvGrpSpPr/>
          <p:nvPr/>
        </p:nvGrpSpPr>
        <p:grpSpPr>
          <a:xfrm>
            <a:off x="2986792" y="3550528"/>
            <a:ext cx="198576" cy="211709"/>
            <a:chOff x="3295749" y="3919250"/>
            <a:chExt cx="198576" cy="211709"/>
          </a:xfrm>
        </p:grpSpPr>
        <p:sp>
          <p:nvSpPr>
            <p:cNvPr id="1419" name="Google Shape;1419;p56"/>
            <p:cNvSpPr/>
            <p:nvPr/>
          </p:nvSpPr>
          <p:spPr>
            <a:xfrm>
              <a:off x="3391125" y="3919250"/>
              <a:ext cx="103200" cy="114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20" name="Google Shape;1420;p56"/>
            <p:cNvSpPr/>
            <p:nvPr/>
          </p:nvSpPr>
          <p:spPr>
            <a:xfrm>
              <a:off x="3295749" y="3935059"/>
              <a:ext cx="195900" cy="195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sp>
        <p:nvSpPr>
          <p:cNvPr id="1421" name="Google Shape;1421;p56"/>
          <p:cNvSpPr/>
          <p:nvPr/>
        </p:nvSpPr>
        <p:spPr>
          <a:xfrm>
            <a:off x="3247450" y="4807025"/>
            <a:ext cx="3380100" cy="699900"/>
          </a:xfrm>
          <a:prstGeom prst="roundRect">
            <a:avLst>
              <a:gd fmla="val 13083"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Data Management</a:t>
            </a:r>
            <a:endParaRPr sz="1100">
              <a:solidFill>
                <a:schemeClr val="accent5"/>
              </a:solidFill>
              <a:latin typeface="DM Sans Medium"/>
              <a:ea typeface="DM Sans Medium"/>
              <a:cs typeface="DM Sans Medium"/>
              <a:sym typeface="DM Sans Medium"/>
            </a:endParaRPr>
          </a:p>
        </p:txBody>
      </p:sp>
      <p:sp>
        <p:nvSpPr>
          <p:cNvPr id="1422" name="Google Shape;1422;p56"/>
          <p:cNvSpPr/>
          <p:nvPr/>
        </p:nvSpPr>
        <p:spPr>
          <a:xfrm>
            <a:off x="6679225" y="4806950"/>
            <a:ext cx="1388100" cy="699900"/>
          </a:xfrm>
          <a:prstGeom prst="roundRect">
            <a:avLst>
              <a:gd fmla="val 11862"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Collaboration</a:t>
            </a:r>
            <a:endParaRPr sz="1100">
              <a:solidFill>
                <a:schemeClr val="accent5"/>
              </a:solidFill>
              <a:latin typeface="DM Sans Medium"/>
              <a:ea typeface="DM Sans Medium"/>
              <a:cs typeface="DM Sans Medium"/>
              <a:sym typeface="DM Sans Medium"/>
            </a:endParaRPr>
          </a:p>
        </p:txBody>
      </p:sp>
      <p:sp>
        <p:nvSpPr>
          <p:cNvPr id="1423" name="Google Shape;1423;p56"/>
          <p:cNvSpPr/>
          <p:nvPr/>
        </p:nvSpPr>
        <p:spPr>
          <a:xfrm>
            <a:off x="4267154" y="6159917"/>
            <a:ext cx="1076700" cy="215400"/>
          </a:xfrm>
          <a:prstGeom prst="rect">
            <a:avLst/>
          </a:prstGeom>
          <a:solidFill>
            <a:srgbClr val="D9D9D9"/>
          </a:solidFill>
          <a:ln>
            <a:noFill/>
          </a:ln>
        </p:spPr>
        <p:txBody>
          <a:bodyPr anchorCtr="0" anchor="ctr" bIns="146275" lIns="182850" spcFirstLastPara="1" rIns="18285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Stor</a:t>
            </a:r>
            <a:r>
              <a:rPr lang="en" sz="1300">
                <a:solidFill>
                  <a:srgbClr val="434343"/>
                </a:solidFill>
                <a:latin typeface="DM Sans SemiBold"/>
                <a:ea typeface="DM Sans SemiBold"/>
                <a:cs typeface="DM Sans SemiBold"/>
                <a:sym typeface="DM Sans SemiBold"/>
              </a:rPr>
              <a:t>age</a:t>
            </a:r>
            <a:endParaRPr i="0" sz="1300" u="none" cap="none" strike="noStrike">
              <a:solidFill>
                <a:srgbClr val="434343"/>
              </a:solidFill>
              <a:latin typeface="DM Sans SemiBold"/>
              <a:ea typeface="DM Sans SemiBold"/>
              <a:cs typeface="DM Sans SemiBold"/>
              <a:sym typeface="DM Sans SemiBold"/>
            </a:endParaRPr>
          </a:p>
        </p:txBody>
      </p:sp>
      <p:sp>
        <p:nvSpPr>
          <p:cNvPr id="1424" name="Google Shape;1424;p56"/>
          <p:cNvSpPr/>
          <p:nvPr/>
        </p:nvSpPr>
        <p:spPr>
          <a:xfrm>
            <a:off x="3247450" y="2955537"/>
            <a:ext cx="3380100" cy="553800"/>
          </a:xfrm>
          <a:prstGeom prst="roundRect">
            <a:avLst>
              <a:gd fmla="val 14028"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Data Engineering and Processing</a:t>
            </a:r>
            <a:endParaRPr sz="1100">
              <a:solidFill>
                <a:schemeClr val="accent5"/>
              </a:solidFill>
              <a:latin typeface="DM Sans Medium"/>
              <a:ea typeface="DM Sans Medium"/>
              <a:cs typeface="DM Sans Medium"/>
              <a:sym typeface="DM Sans Medium"/>
            </a:endParaRPr>
          </a:p>
        </p:txBody>
      </p:sp>
      <p:sp>
        <p:nvSpPr>
          <p:cNvPr id="1425" name="Google Shape;1425;p56"/>
          <p:cNvSpPr/>
          <p:nvPr/>
        </p:nvSpPr>
        <p:spPr>
          <a:xfrm>
            <a:off x="3247450" y="4188200"/>
            <a:ext cx="4819800" cy="557700"/>
          </a:xfrm>
          <a:prstGeom prst="roundRect">
            <a:avLst>
              <a:gd fmla="val 12987"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   Data and AI Governance - Unity Catalog</a:t>
            </a:r>
            <a:endParaRPr sz="1100">
              <a:solidFill>
                <a:schemeClr val="accent5"/>
              </a:solidFill>
              <a:latin typeface="DM Sans Medium"/>
              <a:ea typeface="DM Sans Medium"/>
              <a:cs typeface="DM Sans Medium"/>
              <a:sym typeface="DM Sans Medium"/>
            </a:endParaRPr>
          </a:p>
        </p:txBody>
      </p:sp>
      <p:sp>
        <p:nvSpPr>
          <p:cNvPr id="1426" name="Google Shape;1426;p56"/>
          <p:cNvSpPr/>
          <p:nvPr/>
        </p:nvSpPr>
        <p:spPr>
          <a:xfrm>
            <a:off x="1989525" y="2227675"/>
            <a:ext cx="1187100" cy="1281600"/>
          </a:xfrm>
          <a:prstGeom prst="roundRect">
            <a:avLst>
              <a:gd fmla="val 7158" name="adj"/>
            </a:avLst>
          </a:prstGeom>
          <a:solidFill>
            <a:srgbClr val="FFFFFF"/>
          </a:solid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None/>
            </a:pPr>
            <a:r>
              <a:rPr lang="en" sz="1100">
                <a:solidFill>
                  <a:schemeClr val="accent5"/>
                </a:solidFill>
                <a:latin typeface="DM Sans Medium"/>
                <a:ea typeface="DM Sans Medium"/>
                <a:cs typeface="DM Sans Medium"/>
                <a:sym typeface="DM Sans Medium"/>
              </a:rPr>
              <a:t>Batch and Streaming</a:t>
            </a:r>
            <a:endParaRPr sz="1100">
              <a:solidFill>
                <a:schemeClr val="accent5"/>
              </a:solidFill>
              <a:latin typeface="DM Sans Medium"/>
              <a:ea typeface="DM Sans Medium"/>
              <a:cs typeface="DM Sans Medium"/>
              <a:sym typeface="DM Sans Medium"/>
            </a:endParaRPr>
          </a:p>
        </p:txBody>
      </p:sp>
      <p:sp>
        <p:nvSpPr>
          <p:cNvPr id="1427" name="Google Shape;1427;p56"/>
          <p:cNvSpPr/>
          <p:nvPr/>
        </p:nvSpPr>
        <p:spPr>
          <a:xfrm>
            <a:off x="6687250" y="2955537"/>
            <a:ext cx="2370900" cy="553800"/>
          </a:xfrm>
          <a:prstGeom prst="roundRect">
            <a:avLst>
              <a:gd fmla="val 15048" name="adj"/>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900"/>
              <a:buFont typeface="Arial"/>
              <a:buNone/>
            </a:pPr>
            <a:r>
              <a:rPr lang="en" sz="1100">
                <a:solidFill>
                  <a:schemeClr val="accent5"/>
                </a:solidFill>
                <a:latin typeface="DM Sans Medium"/>
                <a:ea typeface="DM Sans Medium"/>
                <a:cs typeface="DM Sans Medium"/>
                <a:sym typeface="DM Sans Medium"/>
              </a:rPr>
              <a:t>Data Warehousing</a:t>
            </a:r>
            <a:endParaRPr sz="1100">
              <a:solidFill>
                <a:schemeClr val="accent5"/>
              </a:solidFill>
              <a:latin typeface="DM Sans Medium"/>
              <a:ea typeface="DM Sans Medium"/>
              <a:cs typeface="DM Sans Medium"/>
              <a:sym typeface="DM Sans Medium"/>
            </a:endParaRPr>
          </a:p>
        </p:txBody>
      </p:sp>
      <p:sp>
        <p:nvSpPr>
          <p:cNvPr id="1428" name="Google Shape;1428;p56"/>
          <p:cNvSpPr txBox="1"/>
          <p:nvPr/>
        </p:nvSpPr>
        <p:spPr>
          <a:xfrm rot="-5398802">
            <a:off x="290613" y="4596075"/>
            <a:ext cx="8610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Federation</a:t>
            </a:r>
            <a:endParaRPr sz="1100">
              <a:solidFill>
                <a:schemeClr val="accent5"/>
              </a:solidFill>
              <a:latin typeface="DM Sans"/>
              <a:ea typeface="DM Sans"/>
              <a:cs typeface="DM Sans"/>
              <a:sym typeface="DM Sans"/>
            </a:endParaRPr>
          </a:p>
        </p:txBody>
      </p:sp>
      <p:sp>
        <p:nvSpPr>
          <p:cNvPr id="1429" name="Google Shape;1429;p56"/>
          <p:cNvSpPr txBox="1"/>
          <p:nvPr/>
        </p:nvSpPr>
        <p:spPr>
          <a:xfrm>
            <a:off x="5216667" y="1442036"/>
            <a:ext cx="2432400" cy="2154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
                <a:solidFill>
                  <a:srgbClr val="FFFFFF"/>
                </a:solidFill>
                <a:latin typeface="DM Sans SemiBold"/>
                <a:ea typeface="DM Sans SemiBold"/>
                <a:cs typeface="DM Sans SemiBold"/>
                <a:sym typeface="DM Sans SemiBold"/>
              </a:rPr>
              <a:t>Data Intelligence Platform</a:t>
            </a:r>
            <a:endParaRPr>
              <a:solidFill>
                <a:srgbClr val="FFFFFF"/>
              </a:solidFill>
              <a:latin typeface="DM Sans SemiBold"/>
              <a:ea typeface="DM Sans SemiBold"/>
              <a:cs typeface="DM Sans SemiBold"/>
              <a:sym typeface="DM Sans SemiBold"/>
            </a:endParaRPr>
          </a:p>
        </p:txBody>
      </p:sp>
      <p:sp>
        <p:nvSpPr>
          <p:cNvPr id="1430" name="Google Shape;1430;p56"/>
          <p:cNvSpPr/>
          <p:nvPr/>
        </p:nvSpPr>
        <p:spPr>
          <a:xfrm>
            <a:off x="9133775" y="5563184"/>
            <a:ext cx="1082100" cy="579600"/>
          </a:xfrm>
          <a:prstGeom prst="roundRect">
            <a:avLst>
              <a:gd fmla="val 12082"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Sharing Partner</a:t>
            </a:r>
            <a:endParaRPr sz="1100">
              <a:solidFill>
                <a:schemeClr val="accent5"/>
              </a:solidFill>
              <a:latin typeface="DM Sans Medium"/>
              <a:ea typeface="DM Sans Medium"/>
              <a:cs typeface="DM Sans Medium"/>
              <a:sym typeface="DM Sans Medium"/>
            </a:endParaRPr>
          </a:p>
        </p:txBody>
      </p:sp>
      <p:sp>
        <p:nvSpPr>
          <p:cNvPr id="1431" name="Google Shape;1431;p56"/>
          <p:cNvSpPr/>
          <p:nvPr/>
        </p:nvSpPr>
        <p:spPr>
          <a:xfrm>
            <a:off x="9133775" y="4927395"/>
            <a:ext cx="1082100" cy="579600"/>
          </a:xfrm>
          <a:prstGeom prst="roundRect">
            <a:avLst>
              <a:gd fmla="val 13760"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Applications</a:t>
            </a:r>
            <a:endParaRPr sz="1100">
              <a:solidFill>
                <a:schemeClr val="accent5"/>
              </a:solidFill>
              <a:latin typeface="DM Sans Medium"/>
              <a:ea typeface="DM Sans Medium"/>
              <a:cs typeface="DM Sans Medium"/>
              <a:sym typeface="DM Sans Medium"/>
            </a:endParaRPr>
          </a:p>
        </p:txBody>
      </p:sp>
      <p:sp>
        <p:nvSpPr>
          <p:cNvPr id="1432" name="Google Shape;1432;p56"/>
          <p:cNvSpPr/>
          <p:nvPr/>
        </p:nvSpPr>
        <p:spPr>
          <a:xfrm>
            <a:off x="1921625" y="967225"/>
            <a:ext cx="12549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Ingest</a:t>
            </a:r>
            <a:endParaRPr i="0" sz="1300" u="none" cap="none" strike="noStrike">
              <a:solidFill>
                <a:srgbClr val="434343"/>
              </a:solidFill>
              <a:latin typeface="DM Sans SemiBold"/>
              <a:ea typeface="DM Sans SemiBold"/>
              <a:cs typeface="DM Sans SemiBold"/>
              <a:sym typeface="DM Sans SemiBold"/>
            </a:endParaRPr>
          </a:p>
        </p:txBody>
      </p:sp>
      <p:sp>
        <p:nvSpPr>
          <p:cNvPr id="1433" name="Google Shape;1433;p56"/>
          <p:cNvSpPr/>
          <p:nvPr/>
        </p:nvSpPr>
        <p:spPr>
          <a:xfrm>
            <a:off x="3247450" y="966700"/>
            <a:ext cx="13434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Transform</a:t>
            </a:r>
            <a:endParaRPr i="0" sz="1300" u="none" cap="none" strike="noStrike">
              <a:solidFill>
                <a:srgbClr val="434343"/>
              </a:solidFill>
              <a:latin typeface="DM Sans SemiBold"/>
              <a:ea typeface="DM Sans SemiBold"/>
              <a:cs typeface="DM Sans SemiBold"/>
              <a:sym typeface="DM Sans SemiBold"/>
            </a:endParaRPr>
          </a:p>
        </p:txBody>
      </p:sp>
      <p:sp>
        <p:nvSpPr>
          <p:cNvPr id="1434" name="Google Shape;1434;p56"/>
          <p:cNvSpPr/>
          <p:nvPr/>
        </p:nvSpPr>
        <p:spPr>
          <a:xfrm>
            <a:off x="9122275" y="968000"/>
            <a:ext cx="1152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Analyse</a:t>
            </a:r>
            <a:endParaRPr i="0" sz="1300" u="none" cap="none" strike="noStrike">
              <a:solidFill>
                <a:srgbClr val="434343"/>
              </a:solidFill>
              <a:latin typeface="DM Sans SemiBold"/>
              <a:ea typeface="DM Sans SemiBold"/>
              <a:cs typeface="DM Sans SemiBold"/>
              <a:sym typeface="DM Sans SemiBold"/>
            </a:endParaRPr>
          </a:p>
        </p:txBody>
      </p:sp>
      <p:sp>
        <p:nvSpPr>
          <p:cNvPr id="1435" name="Google Shape;1435;p56"/>
          <p:cNvSpPr/>
          <p:nvPr/>
        </p:nvSpPr>
        <p:spPr>
          <a:xfrm>
            <a:off x="766854" y="967794"/>
            <a:ext cx="1082100" cy="2160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Sources</a:t>
            </a:r>
            <a:endParaRPr i="0" sz="1300" u="none" cap="none" strike="noStrike">
              <a:solidFill>
                <a:srgbClr val="434343"/>
              </a:solidFill>
              <a:latin typeface="DM Sans SemiBold"/>
              <a:ea typeface="DM Sans SemiBold"/>
              <a:cs typeface="DM Sans SemiBold"/>
              <a:sym typeface="DM Sans SemiBold"/>
            </a:endParaRPr>
          </a:p>
        </p:txBody>
      </p:sp>
      <p:cxnSp>
        <p:nvCxnSpPr>
          <p:cNvPr id="1436" name="Google Shape;1436;p56"/>
          <p:cNvCxnSpPr/>
          <p:nvPr/>
        </p:nvCxnSpPr>
        <p:spPr>
          <a:xfrm>
            <a:off x="1765606" y="3948550"/>
            <a:ext cx="222900" cy="600"/>
          </a:xfrm>
          <a:prstGeom prst="bentConnector3">
            <a:avLst>
              <a:gd fmla="val 50000" name="adj1"/>
            </a:avLst>
          </a:prstGeom>
          <a:noFill/>
          <a:ln cap="flat" cmpd="sng" w="9525">
            <a:solidFill>
              <a:schemeClr val="accent1"/>
            </a:solidFill>
            <a:prstDash val="solid"/>
            <a:round/>
            <a:headEnd len="sm" w="sm" type="none"/>
            <a:tailEnd len="sm" w="sm" type="triangle"/>
          </a:ln>
        </p:spPr>
      </p:cxnSp>
      <p:cxnSp>
        <p:nvCxnSpPr>
          <p:cNvPr id="1437" name="Google Shape;1437;p56"/>
          <p:cNvCxnSpPr>
            <a:stCxn id="1438" idx="3"/>
          </p:cNvCxnSpPr>
          <p:nvPr/>
        </p:nvCxnSpPr>
        <p:spPr>
          <a:xfrm>
            <a:off x="1765746" y="3027425"/>
            <a:ext cx="166800" cy="600"/>
          </a:xfrm>
          <a:prstGeom prst="bentConnector3">
            <a:avLst>
              <a:gd fmla="val 50000" name="adj1"/>
            </a:avLst>
          </a:prstGeom>
          <a:noFill/>
          <a:ln cap="flat" cmpd="sng" w="9525">
            <a:solidFill>
              <a:schemeClr val="accent1"/>
            </a:solidFill>
            <a:prstDash val="solid"/>
            <a:round/>
            <a:headEnd len="sm" w="sm" type="none"/>
            <a:tailEnd len="sm" w="sm" type="triangle"/>
          </a:ln>
        </p:spPr>
      </p:cxnSp>
      <p:cxnSp>
        <p:nvCxnSpPr>
          <p:cNvPr id="1439" name="Google Shape;1439;p56"/>
          <p:cNvCxnSpPr>
            <a:stCxn id="1422" idx="2"/>
            <a:endCxn id="1430" idx="1"/>
          </p:cNvCxnSpPr>
          <p:nvPr/>
        </p:nvCxnSpPr>
        <p:spPr>
          <a:xfrm flipH="1" rot="-5400000">
            <a:off x="8080375" y="4799750"/>
            <a:ext cx="346200" cy="1760400"/>
          </a:xfrm>
          <a:prstGeom prst="bentConnector2">
            <a:avLst/>
          </a:prstGeom>
          <a:noFill/>
          <a:ln cap="flat" cmpd="sng" w="9525">
            <a:solidFill>
              <a:schemeClr val="accent1"/>
            </a:solidFill>
            <a:prstDash val="solid"/>
            <a:round/>
            <a:headEnd len="sm" w="sm" type="none"/>
            <a:tailEnd len="sm" w="sm" type="triangle"/>
          </a:ln>
        </p:spPr>
      </p:cxnSp>
      <p:cxnSp>
        <p:nvCxnSpPr>
          <p:cNvPr id="1440" name="Google Shape;1440;p56"/>
          <p:cNvCxnSpPr/>
          <p:nvPr/>
        </p:nvCxnSpPr>
        <p:spPr>
          <a:xfrm>
            <a:off x="8978650" y="5336450"/>
            <a:ext cx="159000" cy="0"/>
          </a:xfrm>
          <a:prstGeom prst="straightConnector1">
            <a:avLst/>
          </a:prstGeom>
          <a:noFill/>
          <a:ln cap="flat" cmpd="sng" w="9525">
            <a:solidFill>
              <a:schemeClr val="accent1"/>
            </a:solidFill>
            <a:prstDash val="solid"/>
            <a:round/>
            <a:headEnd len="sm" w="sm" type="none"/>
            <a:tailEnd len="sm" w="sm" type="triangle"/>
          </a:ln>
        </p:spPr>
      </p:cxnSp>
      <p:cxnSp>
        <p:nvCxnSpPr>
          <p:cNvPr id="1441" name="Google Shape;1441;p56"/>
          <p:cNvCxnSpPr>
            <a:stCxn id="1442" idx="2"/>
            <a:endCxn id="1410" idx="0"/>
          </p:cNvCxnSpPr>
          <p:nvPr/>
        </p:nvCxnSpPr>
        <p:spPr>
          <a:xfrm>
            <a:off x="8575712" y="4182857"/>
            <a:ext cx="0" cy="99900"/>
          </a:xfrm>
          <a:prstGeom prst="straightConnector1">
            <a:avLst/>
          </a:prstGeom>
          <a:noFill/>
          <a:ln cap="flat" cmpd="sng" w="9525">
            <a:solidFill>
              <a:schemeClr val="accent1"/>
            </a:solidFill>
            <a:prstDash val="solid"/>
            <a:round/>
            <a:headEnd len="sm" w="sm" type="none"/>
            <a:tailEnd len="sm" w="sm" type="triangle"/>
          </a:ln>
        </p:spPr>
      </p:cxnSp>
      <p:sp>
        <p:nvSpPr>
          <p:cNvPr id="1443" name="Google Shape;1443;p56"/>
          <p:cNvSpPr/>
          <p:nvPr/>
        </p:nvSpPr>
        <p:spPr>
          <a:xfrm>
            <a:off x="7503748" y="3179562"/>
            <a:ext cx="6858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Databricks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SQL</a:t>
            </a:r>
            <a:endParaRPr sz="900">
              <a:solidFill>
                <a:schemeClr val="accent2"/>
              </a:solidFill>
              <a:latin typeface="DM Sans SemiBold"/>
              <a:ea typeface="DM Sans SemiBold"/>
              <a:cs typeface="DM Sans SemiBold"/>
              <a:sym typeface="DM Sans SemiBold"/>
            </a:endParaRPr>
          </a:p>
        </p:txBody>
      </p:sp>
      <p:sp>
        <p:nvSpPr>
          <p:cNvPr id="1444" name="Google Shape;1444;p56"/>
          <p:cNvSpPr/>
          <p:nvPr/>
        </p:nvSpPr>
        <p:spPr>
          <a:xfrm>
            <a:off x="2143275" y="3179562"/>
            <a:ext cx="8796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Auto</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Loader</a:t>
            </a:r>
            <a:endParaRPr sz="900">
              <a:solidFill>
                <a:schemeClr val="accent2"/>
              </a:solidFill>
              <a:latin typeface="DM Sans SemiBold"/>
              <a:ea typeface="DM Sans SemiBold"/>
              <a:cs typeface="DM Sans SemiBold"/>
              <a:sym typeface="DM Sans SemiBold"/>
            </a:endParaRPr>
          </a:p>
        </p:txBody>
      </p:sp>
      <p:sp>
        <p:nvSpPr>
          <p:cNvPr id="1445" name="Google Shape;1445;p56"/>
          <p:cNvSpPr/>
          <p:nvPr/>
        </p:nvSpPr>
        <p:spPr>
          <a:xfrm>
            <a:off x="7254663" y="4423213"/>
            <a:ext cx="740400" cy="274200"/>
          </a:xfrm>
          <a:prstGeom prst="roundRect">
            <a:avLst>
              <a:gd fmla="val 18778"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Quality Monitoring</a:t>
            </a:r>
            <a:endParaRPr sz="900">
              <a:solidFill>
                <a:schemeClr val="accent2"/>
              </a:solidFill>
              <a:latin typeface="DM Sans SemiBold"/>
              <a:ea typeface="DM Sans SemiBold"/>
              <a:cs typeface="DM Sans SemiBold"/>
              <a:sym typeface="DM Sans SemiBold"/>
            </a:endParaRPr>
          </a:p>
        </p:txBody>
      </p:sp>
      <p:sp>
        <p:nvSpPr>
          <p:cNvPr id="1446" name="Google Shape;1446;p56"/>
          <p:cNvSpPr/>
          <p:nvPr/>
        </p:nvSpPr>
        <p:spPr>
          <a:xfrm>
            <a:off x="8279375" y="2268975"/>
            <a:ext cx="6858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AI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Gateway</a:t>
            </a:r>
            <a:endParaRPr sz="900">
              <a:solidFill>
                <a:schemeClr val="accent2"/>
              </a:solidFill>
              <a:latin typeface="DM Sans SemiBold"/>
              <a:ea typeface="DM Sans SemiBold"/>
              <a:cs typeface="DM Sans SemiBold"/>
              <a:sym typeface="DM Sans SemiBold"/>
            </a:endParaRPr>
          </a:p>
        </p:txBody>
      </p:sp>
      <p:sp>
        <p:nvSpPr>
          <p:cNvPr id="1447" name="Google Shape;1447;p56"/>
          <p:cNvSpPr/>
          <p:nvPr/>
        </p:nvSpPr>
        <p:spPr>
          <a:xfrm>
            <a:off x="7503751" y="2582483"/>
            <a:ext cx="685800" cy="2757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Vector </a:t>
            </a:r>
            <a:r>
              <a:rPr lang="en" sz="900">
                <a:solidFill>
                  <a:schemeClr val="accent2"/>
                </a:solidFill>
                <a:latin typeface="DM Sans SemiBold"/>
                <a:ea typeface="DM Sans SemiBold"/>
                <a:cs typeface="DM Sans SemiBold"/>
                <a:sym typeface="DM Sans SemiBold"/>
              </a:rPr>
              <a:t>Search</a:t>
            </a:r>
            <a:endParaRPr sz="900">
              <a:solidFill>
                <a:schemeClr val="accent2"/>
              </a:solidFill>
              <a:latin typeface="DM Sans SemiBold"/>
              <a:ea typeface="DM Sans SemiBold"/>
              <a:cs typeface="DM Sans SemiBold"/>
              <a:sym typeface="DM Sans SemiBold"/>
            </a:endParaRPr>
          </a:p>
        </p:txBody>
      </p:sp>
      <p:sp>
        <p:nvSpPr>
          <p:cNvPr id="1448" name="Google Shape;1448;p56"/>
          <p:cNvSpPr/>
          <p:nvPr/>
        </p:nvSpPr>
        <p:spPr>
          <a:xfrm>
            <a:off x="4121924" y="4423213"/>
            <a:ext cx="640800" cy="2742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Access</a:t>
            </a:r>
            <a:r>
              <a:rPr lang="en" sz="900">
                <a:solidFill>
                  <a:schemeClr val="accent2"/>
                </a:solidFill>
                <a:latin typeface="DM Sans SemiBold"/>
                <a:ea typeface="DM Sans SemiBold"/>
                <a:cs typeface="DM Sans SemiBold"/>
                <a:sym typeface="DM Sans SemiBold"/>
              </a:rPr>
              <a:t> Control</a:t>
            </a:r>
            <a:endParaRPr sz="900">
              <a:solidFill>
                <a:schemeClr val="accent2"/>
              </a:solidFill>
              <a:latin typeface="DM Sans SemiBold"/>
              <a:ea typeface="DM Sans SemiBold"/>
              <a:cs typeface="DM Sans SemiBold"/>
              <a:sym typeface="DM Sans SemiBold"/>
            </a:endParaRPr>
          </a:p>
        </p:txBody>
      </p:sp>
      <p:cxnSp>
        <p:nvCxnSpPr>
          <p:cNvPr id="1449" name="Google Shape;1449;p56"/>
          <p:cNvCxnSpPr>
            <a:stCxn id="1450" idx="3"/>
          </p:cNvCxnSpPr>
          <p:nvPr/>
        </p:nvCxnSpPr>
        <p:spPr>
          <a:xfrm>
            <a:off x="3053925" y="4259350"/>
            <a:ext cx="131100" cy="600"/>
          </a:xfrm>
          <a:prstGeom prst="bentConnector3">
            <a:avLst>
              <a:gd fmla="val 50000" name="adj1"/>
            </a:avLst>
          </a:prstGeom>
          <a:noFill/>
          <a:ln cap="flat" cmpd="sng" w="9525">
            <a:solidFill>
              <a:schemeClr val="accent1"/>
            </a:solidFill>
            <a:prstDash val="solid"/>
            <a:round/>
            <a:headEnd len="sm" w="sm" type="none"/>
            <a:tailEnd len="sm" w="sm" type="triangle"/>
          </a:ln>
        </p:spPr>
      </p:cxnSp>
      <p:sp>
        <p:nvSpPr>
          <p:cNvPr id="1451" name="Google Shape;1451;p56"/>
          <p:cNvSpPr/>
          <p:nvPr/>
        </p:nvSpPr>
        <p:spPr>
          <a:xfrm>
            <a:off x="5693094" y="4423213"/>
            <a:ext cx="685800" cy="2742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 and AI Assets</a:t>
            </a:r>
            <a:endParaRPr sz="900">
              <a:solidFill>
                <a:schemeClr val="accent2"/>
              </a:solidFill>
              <a:latin typeface="DM Sans SemiBold"/>
              <a:ea typeface="DM Sans SemiBold"/>
              <a:cs typeface="DM Sans SemiBold"/>
              <a:sym typeface="DM Sans SemiBold"/>
            </a:endParaRPr>
          </a:p>
        </p:txBody>
      </p:sp>
      <p:grpSp>
        <p:nvGrpSpPr>
          <p:cNvPr id="1452" name="Google Shape;1452;p56"/>
          <p:cNvGrpSpPr/>
          <p:nvPr/>
        </p:nvGrpSpPr>
        <p:grpSpPr>
          <a:xfrm>
            <a:off x="9152825" y="5742257"/>
            <a:ext cx="1044000" cy="400292"/>
            <a:chOff x="9534531" y="5311470"/>
            <a:chExt cx="1044000" cy="400292"/>
          </a:xfrm>
        </p:grpSpPr>
        <p:sp>
          <p:nvSpPr>
            <p:cNvPr id="1453" name="Google Shape;1453;p56"/>
            <p:cNvSpPr txBox="1"/>
            <p:nvPr/>
          </p:nvSpPr>
          <p:spPr>
            <a:xfrm>
              <a:off x="9534531" y="5557862"/>
              <a:ext cx="10440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Data Consumer</a:t>
              </a:r>
              <a:endParaRPr sz="900">
                <a:solidFill>
                  <a:schemeClr val="accent1"/>
                </a:solidFill>
                <a:latin typeface="DM Sans Medium"/>
                <a:ea typeface="DM Sans Medium"/>
                <a:cs typeface="DM Sans Medium"/>
                <a:sym typeface="DM Sans Medium"/>
              </a:endParaRPr>
            </a:p>
          </p:txBody>
        </p:sp>
        <p:pic>
          <p:nvPicPr>
            <p:cNvPr id="1454" name="Google Shape;1454;p56"/>
            <p:cNvPicPr preferRelativeResize="0"/>
            <p:nvPr/>
          </p:nvPicPr>
          <p:blipFill>
            <a:blip r:embed="rId3">
              <a:alphaModFix/>
            </a:blip>
            <a:stretch>
              <a:fillRect/>
            </a:stretch>
          </p:blipFill>
          <p:spPr>
            <a:xfrm>
              <a:off x="9908871" y="5311470"/>
              <a:ext cx="265176" cy="265176"/>
            </a:xfrm>
            <a:prstGeom prst="rect">
              <a:avLst/>
            </a:prstGeom>
            <a:noFill/>
            <a:ln>
              <a:noFill/>
            </a:ln>
          </p:spPr>
        </p:pic>
      </p:grpSp>
      <p:grpSp>
        <p:nvGrpSpPr>
          <p:cNvPr id="1455" name="Google Shape;1455;p56"/>
          <p:cNvGrpSpPr/>
          <p:nvPr/>
        </p:nvGrpSpPr>
        <p:grpSpPr>
          <a:xfrm>
            <a:off x="9133775" y="5106027"/>
            <a:ext cx="1082100" cy="391902"/>
            <a:chOff x="9515475" y="4663855"/>
            <a:chExt cx="1082100" cy="391902"/>
          </a:xfrm>
        </p:grpSpPr>
        <p:sp>
          <p:nvSpPr>
            <p:cNvPr id="1456" name="Google Shape;1456;p56"/>
            <p:cNvSpPr txBox="1"/>
            <p:nvPr/>
          </p:nvSpPr>
          <p:spPr>
            <a:xfrm>
              <a:off x="9515475" y="4901857"/>
              <a:ext cx="1082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Business/AI App</a:t>
              </a:r>
              <a:endParaRPr sz="900">
                <a:solidFill>
                  <a:schemeClr val="accent1"/>
                </a:solidFill>
                <a:latin typeface="DM Sans Medium"/>
                <a:ea typeface="DM Sans Medium"/>
                <a:cs typeface="DM Sans Medium"/>
                <a:sym typeface="DM Sans Medium"/>
              </a:endParaRPr>
            </a:p>
          </p:txBody>
        </p:sp>
        <p:pic>
          <p:nvPicPr>
            <p:cNvPr id="1457" name="Google Shape;1457;p56"/>
            <p:cNvPicPr preferRelativeResize="0"/>
            <p:nvPr/>
          </p:nvPicPr>
          <p:blipFill>
            <a:blip r:embed="rId3">
              <a:alphaModFix/>
            </a:blip>
            <a:stretch>
              <a:fillRect/>
            </a:stretch>
          </p:blipFill>
          <p:spPr>
            <a:xfrm>
              <a:off x="9908871" y="4663855"/>
              <a:ext cx="265176" cy="265176"/>
            </a:xfrm>
            <a:prstGeom prst="rect">
              <a:avLst/>
            </a:prstGeom>
            <a:noFill/>
            <a:ln>
              <a:noFill/>
            </a:ln>
          </p:spPr>
        </p:pic>
      </p:grpSp>
      <p:sp>
        <p:nvSpPr>
          <p:cNvPr id="1458" name="Google Shape;1458;p56"/>
          <p:cNvSpPr/>
          <p:nvPr/>
        </p:nvSpPr>
        <p:spPr>
          <a:xfrm>
            <a:off x="6727000" y="5129400"/>
            <a:ext cx="666600" cy="292500"/>
          </a:xfrm>
          <a:prstGeom prst="roundRect">
            <a:avLst>
              <a:gd fmla="val 17511"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     Delta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       Sharing</a:t>
            </a:r>
            <a:endParaRPr sz="900">
              <a:solidFill>
                <a:schemeClr val="accent2"/>
              </a:solidFill>
              <a:latin typeface="DM Sans SemiBold"/>
              <a:ea typeface="DM Sans SemiBold"/>
              <a:cs typeface="DM Sans SemiBold"/>
              <a:sym typeface="DM Sans SemiBold"/>
            </a:endParaRPr>
          </a:p>
        </p:txBody>
      </p:sp>
      <p:pic>
        <p:nvPicPr>
          <p:cNvPr id="1459" name="Google Shape;1459;p56"/>
          <p:cNvPicPr preferRelativeResize="0"/>
          <p:nvPr/>
        </p:nvPicPr>
        <p:blipFill>
          <a:blip r:embed="rId4">
            <a:alphaModFix/>
          </a:blip>
          <a:stretch>
            <a:fillRect/>
          </a:stretch>
        </p:blipFill>
        <p:spPr>
          <a:xfrm>
            <a:off x="6754210" y="5201783"/>
            <a:ext cx="173400" cy="145181"/>
          </a:xfrm>
          <a:prstGeom prst="rect">
            <a:avLst/>
          </a:prstGeom>
          <a:noFill/>
          <a:ln>
            <a:noFill/>
          </a:ln>
        </p:spPr>
      </p:pic>
      <p:sp>
        <p:nvSpPr>
          <p:cNvPr id="1460" name="Google Shape;1460;p56"/>
          <p:cNvSpPr/>
          <p:nvPr/>
        </p:nvSpPr>
        <p:spPr>
          <a:xfrm>
            <a:off x="2143275" y="2825260"/>
            <a:ext cx="879600" cy="274200"/>
          </a:xfrm>
          <a:prstGeom prst="roundRect">
            <a:avLst>
              <a:gd fmla="val 16667"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Lakeflow Connect</a:t>
            </a:r>
            <a:endParaRPr sz="900">
              <a:solidFill>
                <a:schemeClr val="accent2"/>
              </a:solidFill>
              <a:latin typeface="DM Sans SemiBold"/>
              <a:ea typeface="DM Sans SemiBold"/>
              <a:cs typeface="DM Sans SemiBold"/>
              <a:sym typeface="DM Sans SemiBold"/>
            </a:endParaRPr>
          </a:p>
        </p:txBody>
      </p:sp>
      <p:sp>
        <p:nvSpPr>
          <p:cNvPr id="1461" name="Google Shape;1461;p56"/>
          <p:cNvSpPr/>
          <p:nvPr/>
        </p:nvSpPr>
        <p:spPr>
          <a:xfrm>
            <a:off x="9133775" y="4282646"/>
            <a:ext cx="1082100" cy="579600"/>
          </a:xfrm>
          <a:prstGeom prst="roundRect">
            <a:avLst>
              <a:gd fmla="val 15648"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BI</a:t>
            </a:r>
            <a:endParaRPr sz="1100">
              <a:solidFill>
                <a:schemeClr val="accent5"/>
              </a:solidFill>
              <a:latin typeface="DM Sans Medium"/>
              <a:ea typeface="DM Sans Medium"/>
              <a:cs typeface="DM Sans Medium"/>
              <a:sym typeface="DM Sans Medium"/>
            </a:endParaRPr>
          </a:p>
        </p:txBody>
      </p:sp>
      <p:sp>
        <p:nvSpPr>
          <p:cNvPr id="1462" name="Google Shape;1462;p56"/>
          <p:cNvSpPr/>
          <p:nvPr/>
        </p:nvSpPr>
        <p:spPr>
          <a:xfrm>
            <a:off x="8977121" y="4083498"/>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1463" name="Google Shape;1463;p56"/>
          <p:cNvCxnSpPr>
            <a:stCxn id="1462" idx="2"/>
            <a:endCxn id="1431" idx="1"/>
          </p:cNvCxnSpPr>
          <p:nvPr/>
        </p:nvCxnSpPr>
        <p:spPr>
          <a:xfrm flipH="1" rot="-5400000">
            <a:off x="8560121" y="4643598"/>
            <a:ext cx="1042200" cy="105000"/>
          </a:xfrm>
          <a:prstGeom prst="bentConnector2">
            <a:avLst/>
          </a:prstGeom>
          <a:noFill/>
          <a:ln cap="flat" cmpd="sng" w="9525">
            <a:solidFill>
              <a:schemeClr val="accent1"/>
            </a:solidFill>
            <a:prstDash val="solid"/>
            <a:round/>
            <a:headEnd len="sm" w="sm" type="none"/>
            <a:tailEnd len="sm" w="sm" type="triangle"/>
          </a:ln>
        </p:spPr>
      </p:cxnSp>
      <p:cxnSp>
        <p:nvCxnSpPr>
          <p:cNvPr id="1464" name="Google Shape;1464;p56"/>
          <p:cNvCxnSpPr>
            <a:stCxn id="1462" idx="2"/>
            <a:endCxn id="1461" idx="1"/>
          </p:cNvCxnSpPr>
          <p:nvPr/>
        </p:nvCxnSpPr>
        <p:spPr>
          <a:xfrm flipH="1" rot="-5400000">
            <a:off x="8882471" y="4321248"/>
            <a:ext cx="397500" cy="105000"/>
          </a:xfrm>
          <a:prstGeom prst="bentConnector2">
            <a:avLst/>
          </a:prstGeom>
          <a:noFill/>
          <a:ln cap="flat" cmpd="sng" w="9525">
            <a:solidFill>
              <a:schemeClr val="accent1"/>
            </a:solidFill>
            <a:prstDash val="solid"/>
            <a:round/>
            <a:headEnd len="sm" w="sm" type="none"/>
            <a:tailEnd len="sm" w="sm" type="triangle"/>
          </a:ln>
        </p:spPr>
      </p:cxnSp>
      <p:sp>
        <p:nvSpPr>
          <p:cNvPr id="1465" name="Google Shape;1465;p56"/>
          <p:cNvSpPr/>
          <p:nvPr/>
        </p:nvSpPr>
        <p:spPr>
          <a:xfrm>
            <a:off x="6727824" y="3179562"/>
            <a:ext cx="6858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AI Functions</a:t>
            </a:r>
            <a:endParaRPr sz="900">
              <a:solidFill>
                <a:schemeClr val="accent2"/>
              </a:solidFill>
              <a:latin typeface="DM Sans SemiBold"/>
              <a:ea typeface="DM Sans SemiBold"/>
              <a:cs typeface="DM Sans SemiBold"/>
              <a:sym typeface="DM Sans SemiBold"/>
            </a:endParaRPr>
          </a:p>
        </p:txBody>
      </p:sp>
      <p:sp>
        <p:nvSpPr>
          <p:cNvPr id="1466" name="Google Shape;1466;p56"/>
          <p:cNvSpPr/>
          <p:nvPr/>
        </p:nvSpPr>
        <p:spPr>
          <a:xfrm>
            <a:off x="3322840" y="5121992"/>
            <a:ext cx="704100" cy="2925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        Delta</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        Lake</a:t>
            </a:r>
            <a:endParaRPr sz="900">
              <a:solidFill>
                <a:schemeClr val="accent2"/>
              </a:solidFill>
              <a:latin typeface="DM Sans SemiBold"/>
              <a:ea typeface="DM Sans SemiBold"/>
              <a:cs typeface="DM Sans SemiBold"/>
              <a:sym typeface="DM Sans SemiBold"/>
            </a:endParaRPr>
          </a:p>
        </p:txBody>
      </p:sp>
      <p:pic>
        <p:nvPicPr>
          <p:cNvPr id="1467" name="Google Shape;1467;p56"/>
          <p:cNvPicPr preferRelativeResize="0"/>
          <p:nvPr/>
        </p:nvPicPr>
        <p:blipFill>
          <a:blip r:embed="rId5">
            <a:alphaModFix/>
          </a:blip>
          <a:stretch>
            <a:fillRect/>
          </a:stretch>
        </p:blipFill>
        <p:spPr>
          <a:xfrm>
            <a:off x="3367671" y="5181455"/>
            <a:ext cx="200700" cy="191237"/>
          </a:xfrm>
          <a:prstGeom prst="rect">
            <a:avLst/>
          </a:prstGeom>
          <a:noFill/>
          <a:ln>
            <a:noFill/>
          </a:ln>
        </p:spPr>
      </p:pic>
      <p:sp>
        <p:nvSpPr>
          <p:cNvPr id="1468" name="Google Shape;1468;p56"/>
          <p:cNvSpPr/>
          <p:nvPr/>
        </p:nvSpPr>
        <p:spPr>
          <a:xfrm>
            <a:off x="4857709" y="4423213"/>
            <a:ext cx="740400" cy="2742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Catalog and Lineage</a:t>
            </a:r>
            <a:endParaRPr sz="900">
              <a:solidFill>
                <a:schemeClr val="accent2"/>
              </a:solidFill>
              <a:latin typeface="DM Sans SemiBold"/>
              <a:ea typeface="DM Sans SemiBold"/>
              <a:cs typeface="DM Sans SemiBold"/>
              <a:sym typeface="DM Sans SemiBold"/>
            </a:endParaRPr>
          </a:p>
        </p:txBody>
      </p:sp>
      <p:sp>
        <p:nvSpPr>
          <p:cNvPr id="1469" name="Google Shape;1469;p56"/>
          <p:cNvSpPr txBox="1"/>
          <p:nvPr/>
        </p:nvSpPr>
        <p:spPr>
          <a:xfrm rot="-5400000">
            <a:off x="485913" y="2789875"/>
            <a:ext cx="4701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ETL</a:t>
            </a:r>
            <a:endParaRPr sz="1100">
              <a:solidFill>
                <a:schemeClr val="accent5"/>
              </a:solidFill>
              <a:latin typeface="DM Sans"/>
              <a:ea typeface="DM Sans"/>
              <a:cs typeface="DM Sans"/>
              <a:sym typeface="DM Sans"/>
            </a:endParaRPr>
          </a:p>
        </p:txBody>
      </p:sp>
      <p:sp>
        <p:nvSpPr>
          <p:cNvPr id="1470" name="Google Shape;1470;p56"/>
          <p:cNvSpPr/>
          <p:nvPr/>
        </p:nvSpPr>
        <p:spPr>
          <a:xfrm>
            <a:off x="4332250" y="5121992"/>
            <a:ext cx="704100" cy="2925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200025"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Iceberg</a:t>
            </a:r>
            <a:endParaRPr sz="900">
              <a:solidFill>
                <a:schemeClr val="accent2"/>
              </a:solidFill>
              <a:latin typeface="DM Sans SemiBold"/>
              <a:ea typeface="DM Sans SemiBold"/>
              <a:cs typeface="DM Sans SemiBold"/>
              <a:sym typeface="DM Sans SemiBold"/>
            </a:endParaRPr>
          </a:p>
        </p:txBody>
      </p:sp>
      <p:sp>
        <p:nvSpPr>
          <p:cNvPr id="1471" name="Google Shape;1471;p56"/>
          <p:cNvSpPr/>
          <p:nvPr/>
        </p:nvSpPr>
        <p:spPr>
          <a:xfrm>
            <a:off x="3449100" y="2582475"/>
            <a:ext cx="9837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Feature Engineering</a:t>
            </a:r>
            <a:endParaRPr sz="900">
              <a:solidFill>
                <a:schemeClr val="accent2"/>
              </a:solidFill>
              <a:latin typeface="DM Sans SemiBold"/>
              <a:ea typeface="DM Sans SemiBold"/>
              <a:cs typeface="DM Sans SemiBold"/>
              <a:sym typeface="DM Sans SemiBold"/>
            </a:endParaRPr>
          </a:p>
        </p:txBody>
      </p:sp>
      <p:sp>
        <p:nvSpPr>
          <p:cNvPr id="1472" name="Google Shape;1472;p56"/>
          <p:cNvSpPr/>
          <p:nvPr/>
        </p:nvSpPr>
        <p:spPr>
          <a:xfrm>
            <a:off x="3322840" y="4423213"/>
            <a:ext cx="704100" cy="2742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Federation</a:t>
            </a:r>
            <a:endParaRPr sz="900">
              <a:solidFill>
                <a:schemeClr val="accent2"/>
              </a:solidFill>
              <a:latin typeface="DM Sans SemiBold"/>
              <a:ea typeface="DM Sans SemiBold"/>
              <a:cs typeface="DM Sans SemiBold"/>
              <a:sym typeface="DM Sans SemiBold"/>
            </a:endParaRPr>
          </a:p>
        </p:txBody>
      </p:sp>
      <p:cxnSp>
        <p:nvCxnSpPr>
          <p:cNvPr id="1473" name="Google Shape;1473;p56"/>
          <p:cNvCxnSpPr/>
          <p:nvPr/>
        </p:nvCxnSpPr>
        <p:spPr>
          <a:xfrm>
            <a:off x="1768354" y="5371543"/>
            <a:ext cx="1413300" cy="600"/>
          </a:xfrm>
          <a:prstGeom prst="bentConnector3">
            <a:avLst>
              <a:gd fmla="val 50000" name="adj1"/>
            </a:avLst>
          </a:prstGeom>
          <a:noFill/>
          <a:ln cap="flat" cmpd="sng" w="9525">
            <a:solidFill>
              <a:schemeClr val="accent1"/>
            </a:solidFill>
            <a:prstDash val="solid"/>
            <a:round/>
            <a:headEnd len="sm" w="sm" type="none"/>
            <a:tailEnd len="sm" w="sm" type="triangle"/>
          </a:ln>
        </p:spPr>
      </p:cxnSp>
      <p:cxnSp>
        <p:nvCxnSpPr>
          <p:cNvPr id="1474" name="Google Shape;1474;p56"/>
          <p:cNvCxnSpPr>
            <a:stCxn id="1475" idx="2"/>
            <a:endCxn id="1476" idx="1"/>
          </p:cNvCxnSpPr>
          <p:nvPr/>
        </p:nvCxnSpPr>
        <p:spPr>
          <a:xfrm flipH="1" rot="-5400000">
            <a:off x="4292184" y="5411905"/>
            <a:ext cx="261300" cy="534300"/>
          </a:xfrm>
          <a:prstGeom prst="bentConnector2">
            <a:avLst/>
          </a:prstGeom>
          <a:noFill/>
          <a:ln cap="flat" cmpd="sng" w="9525">
            <a:solidFill>
              <a:schemeClr val="accent1"/>
            </a:solidFill>
            <a:prstDash val="solid"/>
            <a:round/>
            <a:headEnd len="sm" w="sm" type="triangle"/>
            <a:tailEnd len="sm" w="sm" type="triangle"/>
          </a:ln>
        </p:spPr>
      </p:cxnSp>
      <p:sp>
        <p:nvSpPr>
          <p:cNvPr id="1442" name="Google Shape;1442;p56"/>
          <p:cNvSpPr/>
          <p:nvPr/>
        </p:nvSpPr>
        <p:spPr>
          <a:xfrm>
            <a:off x="8524112" y="4091357"/>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38" name="Google Shape;1438;p56"/>
          <p:cNvSpPr/>
          <p:nvPr/>
        </p:nvSpPr>
        <p:spPr>
          <a:xfrm>
            <a:off x="1689846" y="2981675"/>
            <a:ext cx="759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1477" name="Google Shape;1477;p56"/>
          <p:cNvPicPr preferRelativeResize="0"/>
          <p:nvPr/>
        </p:nvPicPr>
        <p:blipFill>
          <a:blip r:embed="rId6">
            <a:alphaModFix/>
          </a:blip>
          <a:stretch>
            <a:fillRect/>
          </a:stretch>
        </p:blipFill>
        <p:spPr>
          <a:xfrm>
            <a:off x="4998129" y="1403077"/>
            <a:ext cx="259650" cy="279625"/>
          </a:xfrm>
          <a:prstGeom prst="rect">
            <a:avLst/>
          </a:prstGeom>
          <a:noFill/>
          <a:ln>
            <a:noFill/>
          </a:ln>
        </p:spPr>
      </p:pic>
      <p:sp>
        <p:nvSpPr>
          <p:cNvPr id="1475" name="Google Shape;1475;p56"/>
          <p:cNvSpPr/>
          <p:nvPr/>
        </p:nvSpPr>
        <p:spPr>
          <a:xfrm>
            <a:off x="4104084" y="5456905"/>
            <a:ext cx="103200" cy="9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78" name="Google Shape;1478;p56"/>
          <p:cNvSpPr/>
          <p:nvPr/>
        </p:nvSpPr>
        <p:spPr>
          <a:xfrm>
            <a:off x="8279671" y="2582483"/>
            <a:ext cx="685500" cy="2757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Model</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Serving</a:t>
            </a:r>
            <a:endParaRPr sz="900">
              <a:solidFill>
                <a:schemeClr val="accent2"/>
              </a:solidFill>
              <a:latin typeface="DM Sans SemiBold"/>
              <a:ea typeface="DM Sans SemiBold"/>
              <a:cs typeface="DM Sans SemiBold"/>
              <a:sym typeface="DM Sans SemiBold"/>
            </a:endParaRPr>
          </a:p>
        </p:txBody>
      </p:sp>
      <p:grpSp>
        <p:nvGrpSpPr>
          <p:cNvPr id="1479" name="Google Shape;1479;p56"/>
          <p:cNvGrpSpPr/>
          <p:nvPr/>
        </p:nvGrpSpPr>
        <p:grpSpPr>
          <a:xfrm>
            <a:off x="5357469" y="5168059"/>
            <a:ext cx="1015163" cy="210402"/>
            <a:chOff x="6995676" y="6025175"/>
            <a:chExt cx="1015163" cy="210402"/>
          </a:xfrm>
        </p:grpSpPr>
        <p:sp>
          <p:nvSpPr>
            <p:cNvPr id="1480" name="Google Shape;1480;p56"/>
            <p:cNvSpPr txBox="1"/>
            <p:nvPr/>
          </p:nvSpPr>
          <p:spPr>
            <a:xfrm>
              <a:off x="6995676" y="6112577"/>
              <a:ext cx="38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bronze</a:t>
              </a:r>
              <a:endParaRPr sz="800">
                <a:solidFill>
                  <a:srgbClr val="1B5162"/>
                </a:solidFill>
                <a:latin typeface="DM Sans"/>
                <a:ea typeface="DM Sans"/>
                <a:cs typeface="DM Sans"/>
                <a:sym typeface="DM Sans"/>
              </a:endParaRPr>
            </a:p>
          </p:txBody>
        </p:sp>
        <p:sp>
          <p:nvSpPr>
            <p:cNvPr id="1481" name="Google Shape;1481;p56"/>
            <p:cNvSpPr txBox="1"/>
            <p:nvPr/>
          </p:nvSpPr>
          <p:spPr>
            <a:xfrm>
              <a:off x="7393838" y="6112577"/>
              <a:ext cx="290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silver</a:t>
              </a:r>
              <a:endParaRPr sz="800">
                <a:solidFill>
                  <a:srgbClr val="1B5162"/>
                </a:solidFill>
                <a:latin typeface="DM Sans"/>
                <a:ea typeface="DM Sans"/>
                <a:cs typeface="DM Sans"/>
                <a:sym typeface="DM Sans"/>
              </a:endParaRPr>
            </a:p>
          </p:txBody>
        </p:sp>
        <p:sp>
          <p:nvSpPr>
            <p:cNvPr id="1482" name="Google Shape;1482;p56"/>
            <p:cNvSpPr txBox="1"/>
            <p:nvPr/>
          </p:nvSpPr>
          <p:spPr>
            <a:xfrm>
              <a:off x="7755238" y="6112577"/>
              <a:ext cx="2556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rgbClr val="1B5162"/>
                  </a:solidFill>
                  <a:latin typeface="DM Sans"/>
                  <a:ea typeface="DM Sans"/>
                  <a:cs typeface="DM Sans"/>
                  <a:sym typeface="DM Sans"/>
                </a:rPr>
                <a:t>gold</a:t>
              </a:r>
              <a:endParaRPr sz="800">
                <a:solidFill>
                  <a:srgbClr val="1B5162"/>
                </a:solidFill>
                <a:latin typeface="DM Sans"/>
                <a:ea typeface="DM Sans"/>
                <a:cs typeface="DM Sans"/>
                <a:sym typeface="DM Sans"/>
              </a:endParaRPr>
            </a:p>
          </p:txBody>
        </p:sp>
        <p:sp>
          <p:nvSpPr>
            <p:cNvPr id="1483" name="Google Shape;1483;p56"/>
            <p:cNvSpPr/>
            <p:nvPr/>
          </p:nvSpPr>
          <p:spPr>
            <a:xfrm>
              <a:off x="7094764" y="6025175"/>
              <a:ext cx="182100" cy="92525"/>
            </a:xfrm>
            <a:prstGeom prst="flowChartMagneticDisk">
              <a:avLst/>
            </a:prstGeom>
            <a:solidFill>
              <a:srgbClr val="BF897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1484" name="Google Shape;1484;p56"/>
            <p:cNvSpPr/>
            <p:nvPr/>
          </p:nvSpPr>
          <p:spPr>
            <a:xfrm>
              <a:off x="7441284" y="6025175"/>
              <a:ext cx="182100" cy="92525"/>
            </a:xfrm>
            <a:prstGeom prst="flowChartMagneticDisk">
              <a:avLst/>
            </a:prstGeom>
            <a:solidFill>
              <a:srgbClr val="C0C0C0"/>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1485" name="Google Shape;1485;p56"/>
            <p:cNvSpPr/>
            <p:nvPr/>
          </p:nvSpPr>
          <p:spPr>
            <a:xfrm>
              <a:off x="7791988" y="6025175"/>
              <a:ext cx="182100" cy="92525"/>
            </a:xfrm>
            <a:prstGeom prst="flowChartMagneticDisk">
              <a:avLst/>
            </a:prstGeom>
            <a:solidFill>
              <a:srgbClr val="D4AF37"/>
            </a:solidFill>
            <a:ln cap="flat" cmpd="sng" w="9525">
              <a:solidFill>
                <a:srgbClr val="FFFFFF"/>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000">
                <a:latin typeface="DM Sans"/>
                <a:ea typeface="DM Sans"/>
                <a:cs typeface="DM Sans"/>
                <a:sym typeface="DM Sans"/>
              </a:endParaRPr>
            </a:p>
          </p:txBody>
        </p:sp>
        <p:sp>
          <p:nvSpPr>
            <p:cNvPr id="1486" name="Google Shape;1486;p56"/>
            <p:cNvSpPr/>
            <p:nvPr/>
          </p:nvSpPr>
          <p:spPr>
            <a:xfrm rot="5400000">
              <a:off x="7401063"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1487" name="Google Shape;1487;p56"/>
            <p:cNvCxnSpPr>
              <a:stCxn id="1484" idx="4"/>
              <a:endCxn id="1488" idx="3"/>
            </p:cNvCxnSpPr>
            <p:nvPr/>
          </p:nvCxnSpPr>
          <p:spPr>
            <a:xfrm>
              <a:off x="7623384" y="6071438"/>
              <a:ext cx="125400" cy="1200"/>
            </a:xfrm>
            <a:prstGeom prst="straightConnector1">
              <a:avLst/>
            </a:prstGeom>
            <a:noFill/>
            <a:ln cap="flat" cmpd="sng" w="9525">
              <a:solidFill>
                <a:srgbClr val="666666"/>
              </a:solidFill>
              <a:prstDash val="solid"/>
              <a:round/>
              <a:headEnd len="sm" w="sm" type="none"/>
              <a:tailEnd len="med" w="med" type="none"/>
            </a:ln>
          </p:spPr>
        </p:cxnSp>
        <p:sp>
          <p:nvSpPr>
            <p:cNvPr id="1488" name="Google Shape;1488;p56"/>
            <p:cNvSpPr/>
            <p:nvPr/>
          </p:nvSpPr>
          <p:spPr>
            <a:xfrm rot="5400000">
              <a:off x="7748234" y="6055658"/>
              <a:ext cx="34800" cy="33601"/>
            </a:xfrm>
            <a:prstGeom prst="triangle">
              <a:avLst>
                <a:gd fmla="val 50000" name="adj"/>
              </a:avLst>
            </a:prstGeom>
            <a:solidFill>
              <a:srgbClr val="59595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1489" name="Google Shape;1489;p56"/>
            <p:cNvCxnSpPr>
              <a:stCxn id="1483" idx="4"/>
              <a:endCxn id="1486" idx="3"/>
            </p:cNvCxnSpPr>
            <p:nvPr/>
          </p:nvCxnSpPr>
          <p:spPr>
            <a:xfrm>
              <a:off x="7276864" y="6071438"/>
              <a:ext cx="124800" cy="1200"/>
            </a:xfrm>
            <a:prstGeom prst="straightConnector1">
              <a:avLst/>
            </a:prstGeom>
            <a:noFill/>
            <a:ln cap="flat" cmpd="sng" w="9525">
              <a:solidFill>
                <a:srgbClr val="666666"/>
              </a:solidFill>
              <a:prstDash val="solid"/>
              <a:round/>
              <a:headEnd len="sm" w="sm" type="none"/>
              <a:tailEnd len="med" w="med" type="none"/>
            </a:ln>
          </p:spPr>
        </p:cxnSp>
      </p:grpSp>
      <p:sp>
        <p:nvSpPr>
          <p:cNvPr id="1490" name="Google Shape;1490;p56"/>
          <p:cNvSpPr/>
          <p:nvPr/>
        </p:nvSpPr>
        <p:spPr>
          <a:xfrm>
            <a:off x="3247450" y="3574037"/>
            <a:ext cx="3380100" cy="557700"/>
          </a:xfrm>
          <a:prstGeom prst="roundRect">
            <a:avLst>
              <a:gd fmla="val 14501" name="adj"/>
            </a:avLst>
          </a:prstGeom>
          <a:solidFill>
            <a:srgbClr val="FFFFFF"/>
          </a:solidFill>
          <a:ln>
            <a:noFill/>
          </a:ln>
        </p:spPr>
        <p:txBody>
          <a:bodyPr anchorCtr="0" anchor="t" bIns="0" lIns="0" spcFirstLastPara="1" rIns="0" wrap="square" tIns="0">
            <a:noAutofit/>
          </a:bodyPr>
          <a:lstStyle/>
          <a:p>
            <a:pPr indent="0" lvl="0" marL="0" marR="11811" rtl="0" algn="ctr">
              <a:spcBef>
                <a:spcPts val="0"/>
              </a:spcBef>
              <a:spcAft>
                <a:spcPts val="0"/>
              </a:spcAft>
              <a:buNone/>
            </a:pPr>
            <a:r>
              <a:rPr lang="en" sz="1100">
                <a:solidFill>
                  <a:schemeClr val="accent5"/>
                </a:solidFill>
                <a:latin typeface="DM Sans Medium"/>
                <a:ea typeface="DM Sans Medium"/>
                <a:cs typeface="DM Sans Medium"/>
                <a:sym typeface="DM Sans Medium"/>
              </a:rPr>
              <a:t>Data Intelligence</a:t>
            </a:r>
            <a:endParaRPr sz="1100">
              <a:solidFill>
                <a:schemeClr val="accent5"/>
              </a:solidFill>
              <a:latin typeface="DM Sans Medium"/>
              <a:ea typeface="DM Sans Medium"/>
              <a:cs typeface="DM Sans Medium"/>
              <a:sym typeface="DM Sans Medium"/>
            </a:endParaRPr>
          </a:p>
        </p:txBody>
      </p:sp>
      <p:sp>
        <p:nvSpPr>
          <p:cNvPr id="1491" name="Google Shape;1491;p56"/>
          <p:cNvSpPr/>
          <p:nvPr/>
        </p:nvSpPr>
        <p:spPr>
          <a:xfrm>
            <a:off x="3727425" y="3799000"/>
            <a:ext cx="704100" cy="274200"/>
          </a:xfrm>
          <a:prstGeom prst="roundRect">
            <a:avLst>
              <a:gd fmla="val 17361"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Assistant</a:t>
            </a:r>
            <a:endParaRPr sz="900">
              <a:solidFill>
                <a:schemeClr val="accent2"/>
              </a:solidFill>
              <a:latin typeface="DM Sans SemiBold"/>
              <a:ea typeface="DM Sans SemiBold"/>
              <a:cs typeface="DM Sans SemiBold"/>
              <a:sym typeface="DM Sans SemiBold"/>
            </a:endParaRPr>
          </a:p>
        </p:txBody>
      </p:sp>
      <p:sp>
        <p:nvSpPr>
          <p:cNvPr id="1492" name="Google Shape;1492;p56"/>
          <p:cNvSpPr/>
          <p:nvPr/>
        </p:nvSpPr>
        <p:spPr>
          <a:xfrm>
            <a:off x="5461775" y="3802250"/>
            <a:ext cx="685800" cy="274200"/>
          </a:xfrm>
          <a:prstGeom prst="roundRect">
            <a:avLst>
              <a:gd fmla="val 17361"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Predictive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IO</a:t>
            </a:r>
            <a:endParaRPr sz="900">
              <a:solidFill>
                <a:schemeClr val="accent2"/>
              </a:solidFill>
              <a:latin typeface="DM Sans SemiBold"/>
              <a:ea typeface="DM Sans SemiBold"/>
              <a:cs typeface="DM Sans SemiBold"/>
              <a:sym typeface="DM Sans SemiBold"/>
            </a:endParaRPr>
          </a:p>
        </p:txBody>
      </p:sp>
      <p:sp>
        <p:nvSpPr>
          <p:cNvPr id="1493" name="Google Shape;1493;p56"/>
          <p:cNvSpPr/>
          <p:nvPr/>
        </p:nvSpPr>
        <p:spPr>
          <a:xfrm>
            <a:off x="4564824" y="3802250"/>
            <a:ext cx="761100" cy="274200"/>
          </a:xfrm>
          <a:prstGeom prst="roundRect">
            <a:avLst>
              <a:gd fmla="val 17361"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Predictive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optimization</a:t>
            </a:r>
            <a:endParaRPr sz="900">
              <a:solidFill>
                <a:schemeClr val="accent2"/>
              </a:solidFill>
              <a:latin typeface="DM Sans SemiBold"/>
              <a:ea typeface="DM Sans SemiBold"/>
              <a:cs typeface="DM Sans SemiBold"/>
              <a:sym typeface="DM Sans SemiBold"/>
            </a:endParaRPr>
          </a:p>
        </p:txBody>
      </p:sp>
      <p:grpSp>
        <p:nvGrpSpPr>
          <p:cNvPr id="1494" name="Google Shape;1494;p56"/>
          <p:cNvGrpSpPr/>
          <p:nvPr/>
        </p:nvGrpSpPr>
        <p:grpSpPr>
          <a:xfrm>
            <a:off x="861763" y="1388635"/>
            <a:ext cx="879600" cy="565670"/>
            <a:chOff x="820734" y="1742570"/>
            <a:chExt cx="879600" cy="565670"/>
          </a:xfrm>
        </p:grpSpPr>
        <p:sp>
          <p:nvSpPr>
            <p:cNvPr id="1495" name="Google Shape;1495;p56"/>
            <p:cNvSpPr txBox="1"/>
            <p:nvPr/>
          </p:nvSpPr>
          <p:spPr>
            <a:xfrm>
              <a:off x="820734" y="1969540"/>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Files / Logs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a:t>
              </a:r>
              <a:r>
                <a:rPr lang="en" sz="800">
                  <a:solidFill>
                    <a:schemeClr val="accent5"/>
                  </a:solidFill>
                  <a:latin typeface="DM Sans Medium"/>
                  <a:ea typeface="DM Sans Medium"/>
                  <a:cs typeface="DM Sans Medium"/>
                  <a:sym typeface="DM Sans Medium"/>
                </a:rPr>
                <a:t>semi-</a:t>
              </a: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1496" name="Google Shape;1496;p56"/>
            <p:cNvPicPr preferRelativeResize="0"/>
            <p:nvPr/>
          </p:nvPicPr>
          <p:blipFill>
            <a:blip r:embed="rId7">
              <a:alphaModFix/>
            </a:blip>
            <a:stretch>
              <a:fillRect/>
            </a:stretch>
          </p:blipFill>
          <p:spPr>
            <a:xfrm>
              <a:off x="1127949" y="1742570"/>
              <a:ext cx="265176" cy="265176"/>
            </a:xfrm>
            <a:prstGeom prst="rect">
              <a:avLst/>
            </a:prstGeom>
            <a:noFill/>
            <a:ln>
              <a:noFill/>
            </a:ln>
          </p:spPr>
        </p:pic>
      </p:grpSp>
      <p:grpSp>
        <p:nvGrpSpPr>
          <p:cNvPr id="1497" name="Google Shape;1497;p56"/>
          <p:cNvGrpSpPr/>
          <p:nvPr/>
        </p:nvGrpSpPr>
        <p:grpSpPr>
          <a:xfrm>
            <a:off x="861800" y="1970622"/>
            <a:ext cx="879600" cy="558086"/>
            <a:chOff x="820771" y="2866176"/>
            <a:chExt cx="879600" cy="558086"/>
          </a:xfrm>
        </p:grpSpPr>
        <p:sp>
          <p:nvSpPr>
            <p:cNvPr id="1498" name="Google Shape;1498;p56"/>
            <p:cNvSpPr txBox="1"/>
            <p:nvPr/>
          </p:nvSpPr>
          <p:spPr>
            <a:xfrm>
              <a:off x="820771" y="3085563"/>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Sensors and IoT</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pic>
          <p:nvPicPr>
            <p:cNvPr id="1499" name="Google Shape;1499;p56"/>
            <p:cNvPicPr preferRelativeResize="0"/>
            <p:nvPr/>
          </p:nvPicPr>
          <p:blipFill>
            <a:blip r:embed="rId8">
              <a:alphaModFix/>
            </a:blip>
            <a:stretch>
              <a:fillRect/>
            </a:stretch>
          </p:blipFill>
          <p:spPr>
            <a:xfrm>
              <a:off x="1127949" y="2866176"/>
              <a:ext cx="265176" cy="265176"/>
            </a:xfrm>
            <a:prstGeom prst="rect">
              <a:avLst/>
            </a:prstGeom>
            <a:noFill/>
            <a:ln>
              <a:noFill/>
            </a:ln>
          </p:spPr>
        </p:pic>
      </p:grpSp>
      <p:grpSp>
        <p:nvGrpSpPr>
          <p:cNvPr id="1500" name="Google Shape;1500;p56"/>
          <p:cNvGrpSpPr/>
          <p:nvPr/>
        </p:nvGrpSpPr>
        <p:grpSpPr>
          <a:xfrm>
            <a:off x="903312" y="2545026"/>
            <a:ext cx="796500" cy="542824"/>
            <a:chOff x="862283" y="2315806"/>
            <a:chExt cx="796500" cy="542824"/>
          </a:xfrm>
        </p:grpSpPr>
        <p:sp>
          <p:nvSpPr>
            <p:cNvPr id="1501" name="Google Shape;1501;p56"/>
            <p:cNvSpPr txBox="1"/>
            <p:nvPr/>
          </p:nvSpPr>
          <p:spPr>
            <a:xfrm>
              <a:off x="862283" y="2519931"/>
              <a:ext cx="7965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RDBMS / DWH</a:t>
              </a:r>
              <a:br>
                <a:rPr lang="en" sz="900">
                  <a:solidFill>
                    <a:srgbClr val="1B5162"/>
                  </a:solidFill>
                  <a:latin typeface="DM Sans Medium"/>
                  <a:ea typeface="DM Sans Medium"/>
                  <a:cs typeface="DM Sans Medium"/>
                  <a:sym typeface="DM Sans Medium"/>
                </a:rPr>
              </a:br>
              <a:r>
                <a:rPr lang="en" sz="800">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pic>
          <p:nvPicPr>
            <p:cNvPr id="1502" name="Google Shape;1502;p56"/>
            <p:cNvPicPr preferRelativeResize="0"/>
            <p:nvPr/>
          </p:nvPicPr>
          <p:blipFill>
            <a:blip r:embed="rId9">
              <a:alphaModFix/>
            </a:blip>
            <a:stretch>
              <a:fillRect/>
            </a:stretch>
          </p:blipFill>
          <p:spPr>
            <a:xfrm>
              <a:off x="1127949" y="2315806"/>
              <a:ext cx="265176" cy="265176"/>
            </a:xfrm>
            <a:prstGeom prst="rect">
              <a:avLst/>
            </a:prstGeom>
            <a:noFill/>
            <a:ln>
              <a:noFill/>
            </a:ln>
          </p:spPr>
        </p:pic>
      </p:grpSp>
      <p:grpSp>
        <p:nvGrpSpPr>
          <p:cNvPr id="1503" name="Google Shape;1503;p56"/>
          <p:cNvGrpSpPr/>
          <p:nvPr/>
        </p:nvGrpSpPr>
        <p:grpSpPr>
          <a:xfrm>
            <a:off x="861700" y="3104161"/>
            <a:ext cx="879600" cy="559474"/>
            <a:chOff x="820671" y="3997940"/>
            <a:chExt cx="879600" cy="559474"/>
          </a:xfrm>
        </p:grpSpPr>
        <p:pic>
          <p:nvPicPr>
            <p:cNvPr id="1504" name="Google Shape;1504;p56"/>
            <p:cNvPicPr preferRelativeResize="0"/>
            <p:nvPr/>
          </p:nvPicPr>
          <p:blipFill>
            <a:blip r:embed="rId3">
              <a:alphaModFix/>
            </a:blip>
            <a:stretch>
              <a:fillRect/>
            </a:stretch>
          </p:blipFill>
          <p:spPr>
            <a:xfrm>
              <a:off x="1127949" y="3997940"/>
              <a:ext cx="265176" cy="265176"/>
            </a:xfrm>
            <a:prstGeom prst="rect">
              <a:avLst/>
            </a:prstGeom>
            <a:noFill/>
            <a:ln>
              <a:noFill/>
            </a:ln>
          </p:spPr>
        </p:pic>
        <p:sp>
          <p:nvSpPr>
            <p:cNvPr id="1505" name="Google Shape;1505;p56"/>
            <p:cNvSpPr txBox="1"/>
            <p:nvPr/>
          </p:nvSpPr>
          <p:spPr>
            <a:xfrm>
              <a:off x="820671" y="4218714"/>
              <a:ext cx="879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Business </a:t>
              </a:r>
              <a:r>
                <a:rPr lang="en" sz="900">
                  <a:solidFill>
                    <a:srgbClr val="1B5162"/>
                  </a:solidFill>
                  <a:latin typeface="DM Sans Medium"/>
                  <a:ea typeface="DM Sans Medium"/>
                  <a:cs typeface="DM Sans Medium"/>
                  <a:sym typeface="DM Sans Medium"/>
                </a:rPr>
                <a:t>A</a:t>
              </a:r>
              <a:r>
                <a:rPr i="0" lang="en" sz="900" u="none" cap="none" strike="noStrike">
                  <a:solidFill>
                    <a:srgbClr val="1B5162"/>
                  </a:solidFill>
                  <a:latin typeface="DM Sans Medium"/>
                  <a:ea typeface="DM Sans Medium"/>
                  <a:cs typeface="DM Sans Medium"/>
                  <a:sym typeface="DM Sans Medium"/>
                </a:rPr>
                <a:t>pps</a:t>
              </a:r>
              <a:endParaRPr i="0" sz="9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800" u="none" cap="none" strike="noStrike">
                  <a:solidFill>
                    <a:schemeClr val="accent5"/>
                  </a:solidFill>
                  <a:latin typeface="DM Sans Medium"/>
                  <a:ea typeface="DM Sans Medium"/>
                  <a:cs typeface="DM Sans Medium"/>
                  <a:sym typeface="DM Sans Medium"/>
                </a:rPr>
                <a:t>(structured)</a:t>
              </a:r>
              <a:endParaRPr i="0" sz="800" u="none" cap="none" strike="noStrike">
                <a:solidFill>
                  <a:schemeClr val="accent5"/>
                </a:solidFill>
                <a:latin typeface="DM Sans Medium"/>
                <a:ea typeface="DM Sans Medium"/>
                <a:cs typeface="DM Sans Medium"/>
                <a:sym typeface="DM Sans Medium"/>
              </a:endParaRPr>
            </a:p>
          </p:txBody>
        </p:sp>
      </p:grpSp>
      <p:grpSp>
        <p:nvGrpSpPr>
          <p:cNvPr id="1506" name="Google Shape;1506;p56"/>
          <p:cNvGrpSpPr/>
          <p:nvPr/>
        </p:nvGrpSpPr>
        <p:grpSpPr>
          <a:xfrm>
            <a:off x="920210" y="3679952"/>
            <a:ext cx="761100" cy="558519"/>
            <a:chOff x="880006" y="3431841"/>
            <a:chExt cx="761100" cy="558519"/>
          </a:xfrm>
        </p:grpSpPr>
        <p:pic>
          <p:nvPicPr>
            <p:cNvPr id="1507" name="Google Shape;1507;p56"/>
            <p:cNvPicPr preferRelativeResize="0"/>
            <p:nvPr/>
          </p:nvPicPr>
          <p:blipFill>
            <a:blip r:embed="rId10">
              <a:alphaModFix/>
            </a:blip>
            <a:stretch>
              <a:fillRect/>
            </a:stretch>
          </p:blipFill>
          <p:spPr>
            <a:xfrm>
              <a:off x="1127949" y="3431841"/>
              <a:ext cx="265176" cy="265176"/>
            </a:xfrm>
            <a:prstGeom prst="rect">
              <a:avLst/>
            </a:prstGeom>
            <a:noFill/>
            <a:ln>
              <a:noFill/>
            </a:ln>
          </p:spPr>
        </p:pic>
        <p:sp>
          <p:nvSpPr>
            <p:cNvPr id="1508" name="Google Shape;1508;p56"/>
            <p:cNvSpPr txBox="1"/>
            <p:nvPr/>
          </p:nvSpPr>
          <p:spPr>
            <a:xfrm>
              <a:off x="880006" y="3651660"/>
              <a:ext cx="7611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Medium"/>
                  <a:ea typeface="DM Sans Medium"/>
                  <a:cs typeface="DM Sans Medium"/>
                  <a:sym typeface="DM Sans Medium"/>
                </a:rPr>
                <a:t>Media </a:t>
              </a:r>
              <a:br>
                <a:rPr i="0" lang="en" sz="900" u="none" cap="none" strike="noStrike">
                  <a:solidFill>
                    <a:srgbClr val="1B5162"/>
                  </a:solidFill>
                  <a:latin typeface="DM Sans Medium"/>
                  <a:ea typeface="DM Sans Medium"/>
                  <a:cs typeface="DM Sans Medium"/>
                  <a:sym typeface="DM Sans Medium"/>
                </a:rPr>
              </a:br>
              <a:r>
                <a:rPr i="0" lang="en" sz="800" u="none" cap="none" strike="noStrike">
                  <a:solidFill>
                    <a:schemeClr val="accent5"/>
                  </a:solidFill>
                  <a:latin typeface="DM Sans Medium"/>
                  <a:ea typeface="DM Sans Medium"/>
                  <a:cs typeface="DM Sans Medium"/>
                  <a:sym typeface="DM Sans Medium"/>
                </a:rPr>
                <a:t>(unstructured)</a:t>
              </a:r>
              <a:endParaRPr i="0" sz="800" u="none" cap="none" strike="noStrike">
                <a:solidFill>
                  <a:schemeClr val="accent5"/>
                </a:solidFill>
                <a:latin typeface="DM Sans Medium"/>
                <a:ea typeface="DM Sans Medium"/>
                <a:cs typeface="DM Sans Medium"/>
                <a:sym typeface="DM Sans Medium"/>
              </a:endParaRPr>
            </a:p>
          </p:txBody>
        </p:sp>
      </p:grpSp>
      <p:sp>
        <p:nvSpPr>
          <p:cNvPr id="1509" name="Google Shape;1509;p56"/>
          <p:cNvSpPr/>
          <p:nvPr/>
        </p:nvSpPr>
        <p:spPr>
          <a:xfrm>
            <a:off x="6679225" y="968000"/>
            <a:ext cx="2370900" cy="215400"/>
          </a:xfrm>
          <a:prstGeom prst="rect">
            <a:avLst/>
          </a:prstGeom>
          <a:solidFill>
            <a:srgbClr val="D9D9D9"/>
          </a:solidFill>
          <a:ln>
            <a:noFill/>
          </a:ln>
        </p:spPr>
        <p:txBody>
          <a:bodyPr anchorCtr="0" anchor="ctr" bIns="146275" lIns="182825" spcFirstLastPara="1" rIns="182825"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i="0" lang="en" sz="1300" u="none" cap="none" strike="noStrike">
                <a:solidFill>
                  <a:srgbClr val="434343"/>
                </a:solidFill>
                <a:latin typeface="DM Sans SemiBold"/>
                <a:ea typeface="DM Sans SemiBold"/>
                <a:cs typeface="DM Sans SemiBold"/>
                <a:sym typeface="DM Sans SemiBold"/>
              </a:rPr>
              <a:t>Serve</a:t>
            </a:r>
            <a:endParaRPr i="0" sz="1300" u="none" cap="none" strike="noStrike">
              <a:solidFill>
                <a:srgbClr val="434343"/>
              </a:solidFill>
              <a:latin typeface="DM Sans SemiBold"/>
              <a:ea typeface="DM Sans SemiBold"/>
              <a:cs typeface="DM Sans SemiBold"/>
              <a:sym typeface="DM Sans SemiBold"/>
            </a:endParaRPr>
          </a:p>
        </p:txBody>
      </p:sp>
      <p:sp>
        <p:nvSpPr>
          <p:cNvPr id="1510" name="Google Shape;1510;p56"/>
          <p:cNvSpPr/>
          <p:nvPr/>
        </p:nvSpPr>
        <p:spPr>
          <a:xfrm>
            <a:off x="4655880" y="967735"/>
            <a:ext cx="1938000" cy="2160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Query / Process</a:t>
            </a:r>
            <a:endParaRPr i="0" sz="1300" u="none" cap="none" strike="noStrike">
              <a:solidFill>
                <a:srgbClr val="434343"/>
              </a:solidFill>
              <a:latin typeface="DM Sans SemiBold"/>
              <a:ea typeface="DM Sans SemiBold"/>
              <a:cs typeface="DM Sans SemiBold"/>
              <a:sym typeface="DM Sans SemiBold"/>
            </a:endParaRPr>
          </a:p>
        </p:txBody>
      </p:sp>
      <p:sp>
        <p:nvSpPr>
          <p:cNvPr id="1511" name="Google Shape;1511;p56"/>
          <p:cNvSpPr/>
          <p:nvPr/>
        </p:nvSpPr>
        <p:spPr>
          <a:xfrm>
            <a:off x="10497579" y="968002"/>
            <a:ext cx="1044000" cy="2154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Integrate</a:t>
            </a:r>
            <a:endParaRPr sz="1300">
              <a:solidFill>
                <a:srgbClr val="434343"/>
              </a:solidFill>
              <a:latin typeface="DM Sans SemiBold"/>
              <a:ea typeface="DM Sans SemiBold"/>
              <a:cs typeface="DM Sans SemiBold"/>
              <a:sym typeface="DM Sans SemiBold"/>
            </a:endParaRPr>
          </a:p>
        </p:txBody>
      </p:sp>
      <p:grpSp>
        <p:nvGrpSpPr>
          <p:cNvPr id="1512" name="Google Shape;1512;p56"/>
          <p:cNvGrpSpPr/>
          <p:nvPr/>
        </p:nvGrpSpPr>
        <p:grpSpPr>
          <a:xfrm>
            <a:off x="10606481" y="3498690"/>
            <a:ext cx="826200" cy="361210"/>
            <a:chOff x="10606481" y="3498690"/>
            <a:chExt cx="826200" cy="361210"/>
          </a:xfrm>
        </p:grpSpPr>
        <p:sp>
          <p:nvSpPr>
            <p:cNvPr id="1513" name="Google Shape;1513;p56"/>
            <p:cNvSpPr txBox="1"/>
            <p:nvPr/>
          </p:nvSpPr>
          <p:spPr>
            <a:xfrm>
              <a:off x="10606481" y="3735100"/>
              <a:ext cx="826200" cy="1248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Hugging Face</a:t>
              </a:r>
              <a:endParaRPr sz="900">
                <a:solidFill>
                  <a:schemeClr val="accent1"/>
                </a:solidFill>
                <a:latin typeface="DM Sans Medium"/>
                <a:ea typeface="DM Sans Medium"/>
                <a:cs typeface="DM Sans Medium"/>
                <a:sym typeface="DM Sans Medium"/>
              </a:endParaRPr>
            </a:p>
          </p:txBody>
        </p:sp>
        <p:pic>
          <p:nvPicPr>
            <p:cNvPr id="1514" name="Google Shape;1514;p56"/>
            <p:cNvPicPr preferRelativeResize="0"/>
            <p:nvPr/>
          </p:nvPicPr>
          <p:blipFill>
            <a:blip r:embed="rId11">
              <a:alphaModFix/>
            </a:blip>
            <a:stretch>
              <a:fillRect/>
            </a:stretch>
          </p:blipFill>
          <p:spPr>
            <a:xfrm>
              <a:off x="10897819" y="3498690"/>
              <a:ext cx="243525" cy="227812"/>
            </a:xfrm>
            <a:prstGeom prst="rect">
              <a:avLst/>
            </a:prstGeom>
            <a:noFill/>
            <a:ln>
              <a:noFill/>
            </a:ln>
          </p:spPr>
        </p:pic>
      </p:grpSp>
      <p:sp>
        <p:nvSpPr>
          <p:cNvPr id="1515" name="Google Shape;1515;p56"/>
          <p:cNvSpPr/>
          <p:nvPr/>
        </p:nvSpPr>
        <p:spPr>
          <a:xfrm>
            <a:off x="10521581" y="3219266"/>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AI Services</a:t>
            </a:r>
            <a:endParaRPr sz="1100">
              <a:solidFill>
                <a:schemeClr val="accent5"/>
              </a:solidFill>
              <a:latin typeface="DM Sans Medium"/>
              <a:ea typeface="DM Sans Medium"/>
              <a:cs typeface="DM Sans Medium"/>
              <a:sym typeface="DM Sans Medium"/>
            </a:endParaRPr>
          </a:p>
        </p:txBody>
      </p:sp>
      <p:sp>
        <p:nvSpPr>
          <p:cNvPr id="1516" name="Google Shape;1516;p56"/>
          <p:cNvSpPr txBox="1"/>
          <p:nvPr/>
        </p:nvSpPr>
        <p:spPr>
          <a:xfrm>
            <a:off x="10745081" y="4279763"/>
            <a:ext cx="5490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a:t>
            </a:r>
            <a:endParaRPr sz="1600">
              <a:solidFill>
                <a:schemeClr val="accent1"/>
              </a:solidFill>
              <a:latin typeface="DM Sans Medium"/>
              <a:ea typeface="DM Sans Medium"/>
              <a:cs typeface="DM Sans Medium"/>
              <a:sym typeface="DM Sans Medium"/>
            </a:endParaRPr>
          </a:p>
        </p:txBody>
      </p:sp>
      <p:cxnSp>
        <p:nvCxnSpPr>
          <p:cNvPr id="1517" name="Google Shape;1517;p56"/>
          <p:cNvCxnSpPr/>
          <p:nvPr/>
        </p:nvCxnSpPr>
        <p:spPr>
          <a:xfrm>
            <a:off x="10391950" y="979075"/>
            <a:ext cx="0" cy="5226000"/>
          </a:xfrm>
          <a:prstGeom prst="straightConnector1">
            <a:avLst/>
          </a:prstGeom>
          <a:noFill/>
          <a:ln cap="flat" cmpd="sng" w="9525">
            <a:solidFill>
              <a:schemeClr val="accent1"/>
            </a:solidFill>
            <a:prstDash val="dash"/>
            <a:round/>
            <a:headEnd len="med" w="med" type="none"/>
            <a:tailEnd len="med" w="med" type="none"/>
          </a:ln>
        </p:spPr>
      </p:cxnSp>
      <p:sp>
        <p:nvSpPr>
          <p:cNvPr id="1518" name="Google Shape;1518;p56"/>
          <p:cNvSpPr/>
          <p:nvPr/>
        </p:nvSpPr>
        <p:spPr>
          <a:xfrm>
            <a:off x="10521581" y="1368053"/>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ID Provider</a:t>
            </a:r>
            <a:endParaRPr sz="1100">
              <a:solidFill>
                <a:schemeClr val="accent5"/>
              </a:solidFill>
              <a:latin typeface="DM Sans Medium"/>
              <a:ea typeface="DM Sans Medium"/>
              <a:cs typeface="DM Sans Medium"/>
              <a:sym typeface="DM Sans Medium"/>
            </a:endParaRPr>
          </a:p>
        </p:txBody>
      </p:sp>
      <p:grpSp>
        <p:nvGrpSpPr>
          <p:cNvPr id="1519" name="Google Shape;1519;p56"/>
          <p:cNvGrpSpPr/>
          <p:nvPr/>
        </p:nvGrpSpPr>
        <p:grpSpPr>
          <a:xfrm>
            <a:off x="10597029" y="1623535"/>
            <a:ext cx="845100" cy="405937"/>
            <a:chOff x="10597029" y="1623535"/>
            <a:chExt cx="845100" cy="405937"/>
          </a:xfrm>
        </p:grpSpPr>
        <p:sp>
          <p:nvSpPr>
            <p:cNvPr id="1520" name="Google Shape;1520;p56"/>
            <p:cNvSpPr txBox="1"/>
            <p:nvPr/>
          </p:nvSpPr>
          <p:spPr>
            <a:xfrm>
              <a:off x="10597029" y="1875573"/>
              <a:ext cx="845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ID Provider</a:t>
              </a:r>
              <a:endParaRPr sz="900">
                <a:solidFill>
                  <a:srgbClr val="1B5162"/>
                </a:solidFill>
                <a:latin typeface="DM Sans Medium"/>
                <a:ea typeface="DM Sans Medium"/>
                <a:cs typeface="DM Sans Medium"/>
                <a:sym typeface="DM Sans Medium"/>
              </a:endParaRPr>
            </a:p>
          </p:txBody>
        </p:sp>
        <p:pic>
          <p:nvPicPr>
            <p:cNvPr id="1521" name="Google Shape;1521;p56"/>
            <p:cNvPicPr preferRelativeResize="0"/>
            <p:nvPr/>
          </p:nvPicPr>
          <p:blipFill>
            <a:blip r:embed="rId12">
              <a:alphaModFix/>
            </a:blip>
            <a:stretch>
              <a:fillRect/>
            </a:stretch>
          </p:blipFill>
          <p:spPr>
            <a:xfrm>
              <a:off x="10850739" y="1623535"/>
              <a:ext cx="265176" cy="265176"/>
            </a:xfrm>
            <a:prstGeom prst="rect">
              <a:avLst/>
            </a:prstGeom>
            <a:noFill/>
            <a:ln>
              <a:noFill/>
            </a:ln>
          </p:spPr>
        </p:pic>
      </p:grpSp>
      <p:sp>
        <p:nvSpPr>
          <p:cNvPr id="1522" name="Google Shape;1522;p56"/>
          <p:cNvSpPr/>
          <p:nvPr/>
        </p:nvSpPr>
        <p:spPr>
          <a:xfrm>
            <a:off x="10521581" y="2219271"/>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marR="0" rtl="0" algn="ctr">
              <a:lnSpc>
                <a:spcPct val="90000"/>
              </a:lnSpc>
              <a:spcBef>
                <a:spcPts val="0"/>
              </a:spcBef>
              <a:spcAft>
                <a:spcPts val="0"/>
              </a:spcAft>
              <a:buClr>
                <a:srgbClr val="000000"/>
              </a:buClr>
              <a:buSzPts val="1600"/>
              <a:buFont typeface="Arial"/>
              <a:buNone/>
            </a:pPr>
            <a:r>
              <a:rPr lang="en" sz="1100">
                <a:solidFill>
                  <a:schemeClr val="accent5"/>
                </a:solidFill>
                <a:latin typeface="DM Sans Medium"/>
                <a:ea typeface="DM Sans Medium"/>
                <a:cs typeface="DM Sans Medium"/>
                <a:sym typeface="DM Sans Medium"/>
              </a:rPr>
              <a:t>Governance</a:t>
            </a:r>
            <a:endParaRPr i="0" sz="1100" u="none" cap="none" strike="noStrike">
              <a:solidFill>
                <a:schemeClr val="accent5"/>
              </a:solidFill>
              <a:latin typeface="DM Sans Medium"/>
              <a:ea typeface="DM Sans Medium"/>
              <a:cs typeface="DM Sans Medium"/>
              <a:sym typeface="DM Sans Medium"/>
            </a:endParaRPr>
          </a:p>
        </p:txBody>
      </p:sp>
      <p:grpSp>
        <p:nvGrpSpPr>
          <p:cNvPr id="1523" name="Google Shape;1523;p56"/>
          <p:cNvGrpSpPr/>
          <p:nvPr/>
        </p:nvGrpSpPr>
        <p:grpSpPr>
          <a:xfrm>
            <a:off x="10702031" y="2486073"/>
            <a:ext cx="635100" cy="543395"/>
            <a:chOff x="10702031" y="2486073"/>
            <a:chExt cx="635100" cy="543395"/>
          </a:xfrm>
        </p:grpSpPr>
        <p:sp>
          <p:nvSpPr>
            <p:cNvPr id="1524" name="Google Shape;1524;p56"/>
            <p:cNvSpPr txBox="1"/>
            <p:nvPr/>
          </p:nvSpPr>
          <p:spPr>
            <a:xfrm>
              <a:off x="10702031" y="2752267"/>
              <a:ext cx="6351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Enterprise Catalog</a:t>
              </a:r>
              <a:endParaRPr sz="900">
                <a:solidFill>
                  <a:srgbClr val="1B5162"/>
                </a:solidFill>
                <a:latin typeface="DM Sans Medium"/>
                <a:ea typeface="DM Sans Medium"/>
                <a:cs typeface="DM Sans Medium"/>
                <a:sym typeface="DM Sans Medium"/>
              </a:endParaRPr>
            </a:p>
          </p:txBody>
        </p:sp>
        <p:pic>
          <p:nvPicPr>
            <p:cNvPr id="1525" name="Google Shape;1525;p56"/>
            <p:cNvPicPr preferRelativeResize="0"/>
            <p:nvPr/>
          </p:nvPicPr>
          <p:blipFill>
            <a:blip r:embed="rId13">
              <a:alphaModFix/>
            </a:blip>
            <a:stretch>
              <a:fillRect/>
            </a:stretch>
          </p:blipFill>
          <p:spPr>
            <a:xfrm>
              <a:off x="10850716" y="2486073"/>
              <a:ext cx="265176" cy="265176"/>
            </a:xfrm>
            <a:prstGeom prst="rect">
              <a:avLst/>
            </a:prstGeom>
            <a:noFill/>
            <a:ln>
              <a:noFill/>
            </a:ln>
          </p:spPr>
        </p:pic>
      </p:grpSp>
      <p:sp>
        <p:nvSpPr>
          <p:cNvPr id="1526" name="Google Shape;1526;p56"/>
          <p:cNvSpPr/>
          <p:nvPr/>
        </p:nvSpPr>
        <p:spPr>
          <a:xfrm>
            <a:off x="10521581" y="4715861"/>
            <a:ext cx="996000" cy="207000"/>
          </a:xfrm>
          <a:prstGeom prst="roundRect">
            <a:avLst>
              <a:gd fmla="val 16667" name="adj"/>
            </a:avLst>
          </a:prstGeom>
          <a:solidFill>
            <a:srgbClr val="FFFFFF"/>
          </a:solidFill>
          <a:ln cap="flat" cmpd="sng" w="9525">
            <a:solidFill>
              <a:schemeClr val="accent1"/>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Orchestration</a:t>
            </a:r>
            <a:endParaRPr sz="1100">
              <a:solidFill>
                <a:schemeClr val="accent5"/>
              </a:solidFill>
              <a:latin typeface="DM Sans Medium"/>
              <a:ea typeface="DM Sans Medium"/>
              <a:cs typeface="DM Sans Medium"/>
              <a:sym typeface="DM Sans Medium"/>
            </a:endParaRPr>
          </a:p>
        </p:txBody>
      </p:sp>
      <p:grpSp>
        <p:nvGrpSpPr>
          <p:cNvPr id="1527" name="Google Shape;1527;p56"/>
          <p:cNvGrpSpPr/>
          <p:nvPr/>
        </p:nvGrpSpPr>
        <p:grpSpPr>
          <a:xfrm>
            <a:off x="10621328" y="4994250"/>
            <a:ext cx="796500" cy="553688"/>
            <a:chOff x="10621328" y="4994250"/>
            <a:chExt cx="796500" cy="553688"/>
          </a:xfrm>
        </p:grpSpPr>
        <p:sp>
          <p:nvSpPr>
            <p:cNvPr id="1528" name="Google Shape;1528;p56"/>
            <p:cNvSpPr txBox="1"/>
            <p:nvPr/>
          </p:nvSpPr>
          <p:spPr>
            <a:xfrm>
              <a:off x="10621328" y="5270738"/>
              <a:ext cx="7965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900">
                  <a:solidFill>
                    <a:srgbClr val="1B5162"/>
                  </a:solidFill>
                  <a:latin typeface="DM Sans Medium"/>
                  <a:ea typeface="DM Sans Medium"/>
                  <a:cs typeface="DM Sans Medium"/>
                  <a:sym typeface="DM Sans Medium"/>
                </a:rPr>
                <a:t>External Orchestrator</a:t>
              </a:r>
              <a:endParaRPr sz="900">
                <a:solidFill>
                  <a:srgbClr val="1B5162"/>
                </a:solidFill>
                <a:latin typeface="DM Sans Medium"/>
                <a:ea typeface="DM Sans Medium"/>
                <a:cs typeface="DM Sans Medium"/>
                <a:sym typeface="DM Sans Medium"/>
              </a:endParaRPr>
            </a:p>
          </p:txBody>
        </p:sp>
        <p:pic>
          <p:nvPicPr>
            <p:cNvPr id="1529" name="Google Shape;1529;p56"/>
            <p:cNvPicPr preferRelativeResize="0"/>
            <p:nvPr/>
          </p:nvPicPr>
          <p:blipFill>
            <a:blip r:embed="rId14">
              <a:alphaModFix/>
            </a:blip>
            <a:stretch>
              <a:fillRect/>
            </a:stretch>
          </p:blipFill>
          <p:spPr>
            <a:xfrm>
              <a:off x="10864167" y="4994250"/>
              <a:ext cx="265176" cy="265176"/>
            </a:xfrm>
            <a:prstGeom prst="rect">
              <a:avLst/>
            </a:prstGeom>
            <a:noFill/>
            <a:ln>
              <a:noFill/>
            </a:ln>
          </p:spPr>
        </p:pic>
      </p:grpSp>
      <p:sp>
        <p:nvSpPr>
          <p:cNvPr id="1530" name="Google Shape;1530;p56"/>
          <p:cNvSpPr/>
          <p:nvPr/>
        </p:nvSpPr>
        <p:spPr>
          <a:xfrm>
            <a:off x="8279671" y="3179562"/>
            <a:ext cx="685800" cy="274200"/>
          </a:xfrm>
          <a:prstGeom prst="roundRect">
            <a:avLst>
              <a:gd fmla="val 14403"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Connectors</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and APIs</a:t>
            </a:r>
            <a:endParaRPr sz="900">
              <a:solidFill>
                <a:schemeClr val="accent2"/>
              </a:solidFill>
              <a:latin typeface="DM Sans SemiBold"/>
              <a:ea typeface="DM Sans SemiBold"/>
              <a:cs typeface="DM Sans SemiBold"/>
              <a:sym typeface="DM Sans SemiBold"/>
            </a:endParaRPr>
          </a:p>
        </p:txBody>
      </p:sp>
      <p:pic>
        <p:nvPicPr>
          <p:cNvPr id="1531" name="Google Shape;1531;p56"/>
          <p:cNvPicPr preferRelativeResize="0"/>
          <p:nvPr/>
        </p:nvPicPr>
        <p:blipFill>
          <a:blip r:embed="rId15">
            <a:alphaModFix/>
          </a:blip>
          <a:stretch>
            <a:fillRect/>
          </a:stretch>
        </p:blipFill>
        <p:spPr>
          <a:xfrm>
            <a:off x="4351863" y="5186555"/>
            <a:ext cx="173400" cy="173400"/>
          </a:xfrm>
          <a:prstGeom prst="rect">
            <a:avLst/>
          </a:prstGeom>
          <a:noFill/>
          <a:ln>
            <a:noFill/>
          </a:ln>
        </p:spPr>
      </p:pic>
      <p:sp>
        <p:nvSpPr>
          <p:cNvPr id="1532" name="Google Shape;1532;p56"/>
          <p:cNvSpPr txBox="1"/>
          <p:nvPr/>
        </p:nvSpPr>
        <p:spPr>
          <a:xfrm>
            <a:off x="834551" y="5927525"/>
            <a:ext cx="932400" cy="191100"/>
          </a:xfrm>
          <a:prstGeom prst="rect">
            <a:avLst/>
          </a:prstGeom>
          <a:noFill/>
          <a:ln>
            <a:noFill/>
          </a:ln>
        </p:spPr>
        <p:txBody>
          <a:bodyPr anchorCtr="0" anchor="ctr" bIns="44800" lIns="0" spcFirstLastPara="1" rIns="0" wrap="square" tIns="44800">
            <a:noAutofit/>
          </a:bodyPr>
          <a:lstStyle/>
          <a:p>
            <a:pPr indent="0" lvl="0" marL="0" marR="0" rtl="0" algn="l">
              <a:lnSpc>
                <a:spcPct val="90000"/>
              </a:lnSpc>
              <a:spcBef>
                <a:spcPts val="0"/>
              </a:spcBef>
              <a:spcAft>
                <a:spcPts val="0"/>
              </a:spcAft>
              <a:buNone/>
            </a:pPr>
            <a:r>
              <a:rPr lang="en" sz="900">
                <a:solidFill>
                  <a:srgbClr val="1B5162"/>
                </a:solidFill>
                <a:latin typeface="DM Sans Light"/>
                <a:ea typeface="DM Sans Light"/>
                <a:cs typeface="DM Sans Light"/>
                <a:sym typeface="DM Sans Light"/>
              </a:rPr>
              <a:t>* Hive Metastore</a:t>
            </a:r>
            <a:endParaRPr sz="900">
              <a:solidFill>
                <a:srgbClr val="1B5162"/>
              </a:solidFill>
              <a:latin typeface="DM Sans Light"/>
              <a:ea typeface="DM Sans Light"/>
              <a:cs typeface="DM Sans Light"/>
              <a:sym typeface="DM Sans Light"/>
            </a:endParaRPr>
          </a:p>
        </p:txBody>
      </p:sp>
      <p:cxnSp>
        <p:nvCxnSpPr>
          <p:cNvPr id="1533" name="Google Shape;1533;p56"/>
          <p:cNvCxnSpPr/>
          <p:nvPr/>
        </p:nvCxnSpPr>
        <p:spPr>
          <a:xfrm>
            <a:off x="1768354" y="5025793"/>
            <a:ext cx="1413300" cy="600"/>
          </a:xfrm>
          <a:prstGeom prst="bentConnector3">
            <a:avLst>
              <a:gd fmla="val 50000" name="adj1"/>
            </a:avLst>
          </a:prstGeom>
          <a:noFill/>
          <a:ln cap="flat" cmpd="sng" w="9525">
            <a:solidFill>
              <a:schemeClr val="accent1"/>
            </a:solidFill>
            <a:prstDash val="solid"/>
            <a:round/>
            <a:headEnd len="sm" w="sm" type="none"/>
            <a:tailEnd len="sm" w="sm" type="triangle"/>
          </a:ln>
        </p:spPr>
      </p:cxnSp>
      <p:pic>
        <p:nvPicPr>
          <p:cNvPr id="1534" name="Google Shape;1534;p56"/>
          <p:cNvPicPr preferRelativeResize="0"/>
          <p:nvPr/>
        </p:nvPicPr>
        <p:blipFill>
          <a:blip r:embed="rId4">
            <a:alphaModFix/>
          </a:blip>
          <a:stretch>
            <a:fillRect/>
          </a:stretch>
        </p:blipFill>
        <p:spPr>
          <a:xfrm>
            <a:off x="2341000" y="5180940"/>
            <a:ext cx="191100" cy="160007"/>
          </a:xfrm>
          <a:prstGeom prst="rect">
            <a:avLst/>
          </a:prstGeom>
          <a:noFill/>
          <a:ln>
            <a:noFill/>
          </a:ln>
        </p:spPr>
      </p:pic>
      <p:sp>
        <p:nvSpPr>
          <p:cNvPr id="1535" name="Google Shape;1535;p56"/>
          <p:cNvSpPr/>
          <p:nvPr/>
        </p:nvSpPr>
        <p:spPr>
          <a:xfrm>
            <a:off x="1989525" y="3622000"/>
            <a:ext cx="1064400" cy="1327500"/>
          </a:xfrm>
          <a:prstGeom prst="roundRect">
            <a:avLst>
              <a:gd fmla="val 6120" name="adj"/>
            </a:avLst>
          </a:prstGeom>
          <a:solidFill>
            <a:srgbClr val="FFFFFF"/>
          </a:solid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85000"/>
              </a:lnSpc>
              <a:spcBef>
                <a:spcPts val="0"/>
              </a:spcBef>
              <a:spcAft>
                <a:spcPts val="0"/>
              </a:spcAft>
              <a:buNone/>
            </a:pPr>
            <a:r>
              <a:rPr lang="en" sz="1100">
                <a:solidFill>
                  <a:schemeClr val="accent5"/>
                </a:solidFill>
                <a:latin typeface="DM Sans Medium"/>
                <a:ea typeface="DM Sans Medium"/>
                <a:cs typeface="DM Sans Medium"/>
                <a:sym typeface="DM Sans Medium"/>
              </a:rPr>
              <a:t>Batch and Streaming</a:t>
            </a:r>
            <a:endParaRPr sz="1100">
              <a:solidFill>
                <a:schemeClr val="accent5"/>
              </a:solidFill>
              <a:latin typeface="DM Sans Medium"/>
              <a:ea typeface="DM Sans Medium"/>
              <a:cs typeface="DM Sans Medium"/>
              <a:sym typeface="DM Sans Medium"/>
            </a:endParaRPr>
          </a:p>
        </p:txBody>
      </p:sp>
      <p:sp>
        <p:nvSpPr>
          <p:cNvPr id="1536" name="Google Shape;1536;p56"/>
          <p:cNvSpPr/>
          <p:nvPr/>
        </p:nvSpPr>
        <p:spPr>
          <a:xfrm>
            <a:off x="836750" y="5135200"/>
            <a:ext cx="932400" cy="617700"/>
          </a:xfrm>
          <a:prstGeom prst="roundRect">
            <a:avLst>
              <a:gd fmla="val 12696" name="adj"/>
            </a:avLst>
          </a:prstGeom>
          <a:noFill/>
          <a:ln cap="flat" cmpd="sng" w="9525">
            <a:solidFill>
              <a:schemeClr val="accent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grpSp>
        <p:nvGrpSpPr>
          <p:cNvPr id="1537" name="Google Shape;1537;p56"/>
          <p:cNvGrpSpPr/>
          <p:nvPr/>
        </p:nvGrpSpPr>
        <p:grpSpPr>
          <a:xfrm>
            <a:off x="1247501" y="5175655"/>
            <a:ext cx="524700" cy="496901"/>
            <a:chOff x="1266036" y="5196700"/>
            <a:chExt cx="524700" cy="496901"/>
          </a:xfrm>
        </p:grpSpPr>
        <p:sp>
          <p:nvSpPr>
            <p:cNvPr id="1538" name="Google Shape;1538;p56"/>
            <p:cNvSpPr txBox="1"/>
            <p:nvPr/>
          </p:nvSpPr>
          <p:spPr>
            <a:xfrm>
              <a:off x="1266036" y="550250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Data Shares</a:t>
              </a:r>
              <a:endParaRPr sz="900">
                <a:solidFill>
                  <a:srgbClr val="1B5162"/>
                </a:solidFill>
                <a:latin typeface="DM Sans Medium"/>
                <a:ea typeface="DM Sans Medium"/>
                <a:cs typeface="DM Sans Medium"/>
                <a:sym typeface="DM Sans Medium"/>
              </a:endParaRPr>
            </a:p>
          </p:txBody>
        </p:sp>
        <p:pic>
          <p:nvPicPr>
            <p:cNvPr id="1539" name="Google Shape;1539;p56" title="primary-icon-navy-data-sharing.png"/>
            <p:cNvPicPr preferRelativeResize="0"/>
            <p:nvPr/>
          </p:nvPicPr>
          <p:blipFill>
            <a:blip r:embed="rId16">
              <a:alphaModFix/>
            </a:blip>
            <a:stretch>
              <a:fillRect/>
            </a:stretch>
          </p:blipFill>
          <p:spPr>
            <a:xfrm>
              <a:off x="1393854" y="5196700"/>
              <a:ext cx="269065" cy="269063"/>
            </a:xfrm>
            <a:prstGeom prst="rect">
              <a:avLst/>
            </a:prstGeom>
            <a:noFill/>
            <a:ln>
              <a:noFill/>
            </a:ln>
          </p:spPr>
        </p:pic>
      </p:grpSp>
      <p:grpSp>
        <p:nvGrpSpPr>
          <p:cNvPr id="1540" name="Google Shape;1540;p56"/>
          <p:cNvGrpSpPr/>
          <p:nvPr/>
        </p:nvGrpSpPr>
        <p:grpSpPr>
          <a:xfrm>
            <a:off x="816949" y="5175643"/>
            <a:ext cx="524700" cy="496193"/>
            <a:chOff x="835484" y="5196688"/>
            <a:chExt cx="524700" cy="496193"/>
          </a:xfrm>
        </p:grpSpPr>
        <p:sp>
          <p:nvSpPr>
            <p:cNvPr id="1541" name="Google Shape;1541;p56"/>
            <p:cNvSpPr txBox="1"/>
            <p:nvPr/>
          </p:nvSpPr>
          <p:spPr>
            <a:xfrm>
              <a:off x="835484" y="5501781"/>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85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Market</a:t>
              </a:r>
              <a:br>
                <a:rPr lang="en" sz="900">
                  <a:solidFill>
                    <a:srgbClr val="1B5162"/>
                  </a:solidFill>
                  <a:latin typeface="DM Sans Medium"/>
                  <a:ea typeface="DM Sans Medium"/>
                  <a:cs typeface="DM Sans Medium"/>
                  <a:sym typeface="DM Sans Medium"/>
                </a:rPr>
              </a:br>
              <a:r>
                <a:rPr lang="en" sz="900">
                  <a:solidFill>
                    <a:srgbClr val="1B5162"/>
                  </a:solidFill>
                  <a:latin typeface="DM Sans Medium"/>
                  <a:ea typeface="DM Sans Medium"/>
                  <a:cs typeface="DM Sans Medium"/>
                  <a:sym typeface="DM Sans Medium"/>
                </a:rPr>
                <a:t>places</a:t>
              </a:r>
              <a:endParaRPr sz="900">
                <a:solidFill>
                  <a:srgbClr val="1B5162"/>
                </a:solidFill>
                <a:latin typeface="DM Sans Medium"/>
                <a:ea typeface="DM Sans Medium"/>
                <a:cs typeface="DM Sans Medium"/>
                <a:sym typeface="DM Sans Medium"/>
              </a:endParaRPr>
            </a:p>
          </p:txBody>
        </p:sp>
        <p:pic>
          <p:nvPicPr>
            <p:cNvPr id="1542" name="Google Shape;1542;p56" title="primary-icon-navy-distribution.png"/>
            <p:cNvPicPr preferRelativeResize="0"/>
            <p:nvPr/>
          </p:nvPicPr>
          <p:blipFill>
            <a:blip r:embed="rId17">
              <a:alphaModFix/>
            </a:blip>
            <a:stretch>
              <a:fillRect/>
            </a:stretch>
          </p:blipFill>
          <p:spPr>
            <a:xfrm>
              <a:off x="963302" y="5196688"/>
              <a:ext cx="269065" cy="269063"/>
            </a:xfrm>
            <a:prstGeom prst="rect">
              <a:avLst/>
            </a:prstGeom>
            <a:noFill/>
            <a:ln>
              <a:noFill/>
            </a:ln>
          </p:spPr>
        </p:pic>
      </p:grpSp>
      <p:sp>
        <p:nvSpPr>
          <p:cNvPr id="1543" name="Google Shape;1543;p56"/>
          <p:cNvSpPr txBox="1"/>
          <p:nvPr/>
        </p:nvSpPr>
        <p:spPr>
          <a:xfrm rot="-5400000">
            <a:off x="431325" y="5359400"/>
            <a:ext cx="5793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accent5"/>
                </a:solidFill>
                <a:latin typeface="DM Sans"/>
                <a:ea typeface="DM Sans"/>
                <a:cs typeface="DM Sans"/>
                <a:sym typeface="DM Sans"/>
              </a:rPr>
              <a:t>Sharing</a:t>
            </a:r>
            <a:endParaRPr sz="1100">
              <a:solidFill>
                <a:schemeClr val="accent5"/>
              </a:solidFill>
              <a:latin typeface="DM Sans"/>
              <a:ea typeface="DM Sans"/>
              <a:cs typeface="DM Sans"/>
              <a:sym typeface="DM Sans"/>
            </a:endParaRPr>
          </a:p>
        </p:txBody>
      </p:sp>
      <p:sp>
        <p:nvSpPr>
          <p:cNvPr id="1544" name="Google Shape;1544;p56"/>
          <p:cNvSpPr/>
          <p:nvPr/>
        </p:nvSpPr>
        <p:spPr>
          <a:xfrm>
            <a:off x="9133775" y="2227875"/>
            <a:ext cx="1082100" cy="1281600"/>
          </a:xfrm>
          <a:prstGeom prst="roundRect">
            <a:avLst>
              <a:gd fmla="val 6450"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AI/BI</a:t>
            </a:r>
            <a:endParaRPr sz="1100">
              <a:solidFill>
                <a:schemeClr val="accent5"/>
              </a:solidFill>
              <a:latin typeface="DM Sans Medium"/>
              <a:ea typeface="DM Sans Medium"/>
              <a:cs typeface="DM Sans Medium"/>
              <a:sym typeface="DM Sans Medium"/>
            </a:endParaRPr>
          </a:p>
        </p:txBody>
      </p:sp>
      <p:sp>
        <p:nvSpPr>
          <p:cNvPr id="1545" name="Google Shape;1545;p56"/>
          <p:cNvSpPr/>
          <p:nvPr/>
        </p:nvSpPr>
        <p:spPr>
          <a:xfrm>
            <a:off x="9276575" y="3179562"/>
            <a:ext cx="796500" cy="274200"/>
          </a:xfrm>
          <a:prstGeom prst="roundRect">
            <a:avLst>
              <a:gd fmla="val 22836"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Genie</a:t>
            </a:r>
            <a:endParaRPr sz="900">
              <a:solidFill>
                <a:schemeClr val="accent2"/>
              </a:solidFill>
              <a:latin typeface="DM Sans SemiBold"/>
              <a:ea typeface="DM Sans SemiBold"/>
              <a:cs typeface="DM Sans SemiBold"/>
              <a:sym typeface="DM Sans SemiBold"/>
            </a:endParaRPr>
          </a:p>
        </p:txBody>
      </p:sp>
      <p:sp>
        <p:nvSpPr>
          <p:cNvPr id="1546" name="Google Shape;1546;p56"/>
          <p:cNvSpPr/>
          <p:nvPr/>
        </p:nvSpPr>
        <p:spPr>
          <a:xfrm>
            <a:off x="9276575" y="2825260"/>
            <a:ext cx="796500" cy="274200"/>
          </a:xfrm>
          <a:prstGeom prst="roundRect">
            <a:avLst>
              <a:gd fmla="val 22836"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Dashboards</a:t>
            </a:r>
            <a:endParaRPr sz="900">
              <a:solidFill>
                <a:schemeClr val="accent2"/>
              </a:solidFill>
              <a:latin typeface="DM Sans SemiBold"/>
              <a:ea typeface="DM Sans SemiBold"/>
              <a:cs typeface="DM Sans SemiBold"/>
              <a:sym typeface="DM Sans SemiBold"/>
            </a:endParaRPr>
          </a:p>
        </p:txBody>
      </p:sp>
      <p:sp>
        <p:nvSpPr>
          <p:cNvPr id="1547" name="Google Shape;1547;p56"/>
          <p:cNvSpPr/>
          <p:nvPr/>
        </p:nvSpPr>
        <p:spPr>
          <a:xfrm>
            <a:off x="9137674" y="3574037"/>
            <a:ext cx="1082100" cy="557700"/>
          </a:xfrm>
          <a:prstGeom prst="roundRect">
            <a:avLst>
              <a:gd fmla="val 10634"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Applications</a:t>
            </a:r>
            <a:endParaRPr sz="1100">
              <a:solidFill>
                <a:schemeClr val="accent5"/>
              </a:solidFill>
              <a:latin typeface="DM Sans Medium"/>
              <a:ea typeface="DM Sans Medium"/>
              <a:cs typeface="DM Sans Medium"/>
              <a:sym typeface="DM Sans Medium"/>
            </a:endParaRPr>
          </a:p>
        </p:txBody>
      </p:sp>
      <p:sp>
        <p:nvSpPr>
          <p:cNvPr id="1548" name="Google Shape;1548;p56"/>
          <p:cNvSpPr/>
          <p:nvPr/>
        </p:nvSpPr>
        <p:spPr>
          <a:xfrm>
            <a:off x="9276575" y="3798990"/>
            <a:ext cx="796500" cy="274200"/>
          </a:xfrm>
          <a:prstGeom prst="roundRect">
            <a:avLst>
              <a:gd fmla="val 22836"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Databricks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Apps</a:t>
            </a:r>
            <a:endParaRPr sz="900">
              <a:solidFill>
                <a:schemeClr val="accent2"/>
              </a:solidFill>
              <a:latin typeface="DM Sans SemiBold"/>
              <a:ea typeface="DM Sans SemiBold"/>
              <a:cs typeface="DM Sans SemiBold"/>
              <a:sym typeface="DM Sans SemiBold"/>
            </a:endParaRPr>
          </a:p>
        </p:txBody>
      </p:sp>
      <p:sp>
        <p:nvSpPr>
          <p:cNvPr id="1549" name="Google Shape;1549;p56"/>
          <p:cNvSpPr/>
          <p:nvPr/>
        </p:nvSpPr>
        <p:spPr>
          <a:xfrm>
            <a:off x="1989525" y="1721525"/>
            <a:ext cx="8226300" cy="4596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1100">
                <a:solidFill>
                  <a:schemeClr val="accent5"/>
                </a:solidFill>
                <a:latin typeface="DM Sans Medium"/>
                <a:ea typeface="DM Sans Medium"/>
                <a:cs typeface="DM Sans Medium"/>
                <a:sym typeface="DM Sans Medium"/>
              </a:rPr>
              <a:t>Automation and Orchestration</a:t>
            </a:r>
            <a:endParaRPr sz="1100">
              <a:solidFill>
                <a:schemeClr val="accent5"/>
              </a:solidFill>
              <a:latin typeface="DM Sans Medium"/>
              <a:ea typeface="DM Sans Medium"/>
              <a:cs typeface="DM Sans Medium"/>
              <a:sym typeface="DM Sans Medium"/>
            </a:endParaRPr>
          </a:p>
        </p:txBody>
      </p:sp>
      <p:sp>
        <p:nvSpPr>
          <p:cNvPr id="1550" name="Google Shape;1550;p56"/>
          <p:cNvSpPr/>
          <p:nvPr/>
        </p:nvSpPr>
        <p:spPr>
          <a:xfrm>
            <a:off x="5442734" y="1944562"/>
            <a:ext cx="740400" cy="186600"/>
          </a:xfrm>
          <a:prstGeom prst="roundRect">
            <a:avLst>
              <a:gd fmla="val 22186"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CI/CD tools</a:t>
            </a:r>
            <a:endParaRPr sz="900">
              <a:solidFill>
                <a:schemeClr val="accent2"/>
              </a:solidFill>
              <a:latin typeface="DM Sans SemiBold"/>
              <a:ea typeface="DM Sans SemiBold"/>
              <a:cs typeface="DM Sans SemiBold"/>
              <a:sym typeface="DM Sans SemiBold"/>
            </a:endParaRPr>
          </a:p>
        </p:txBody>
      </p:sp>
      <p:sp>
        <p:nvSpPr>
          <p:cNvPr id="1551" name="Google Shape;1551;p56"/>
          <p:cNvSpPr/>
          <p:nvPr/>
        </p:nvSpPr>
        <p:spPr>
          <a:xfrm>
            <a:off x="6254520" y="1941700"/>
            <a:ext cx="685500" cy="186600"/>
          </a:xfrm>
          <a:prstGeom prst="roundRect">
            <a:avLst>
              <a:gd fmla="val 22186"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DataOps</a:t>
            </a:r>
            <a:endParaRPr sz="900">
              <a:solidFill>
                <a:schemeClr val="accent2"/>
              </a:solidFill>
              <a:latin typeface="DM Sans SemiBold"/>
              <a:ea typeface="DM Sans SemiBold"/>
              <a:cs typeface="DM Sans SemiBold"/>
              <a:sym typeface="DM Sans SemiBold"/>
            </a:endParaRPr>
          </a:p>
        </p:txBody>
      </p:sp>
      <p:sp>
        <p:nvSpPr>
          <p:cNvPr id="1552" name="Google Shape;1552;p56"/>
          <p:cNvSpPr/>
          <p:nvPr/>
        </p:nvSpPr>
        <p:spPr>
          <a:xfrm>
            <a:off x="4491750" y="1944550"/>
            <a:ext cx="879600" cy="186600"/>
          </a:xfrm>
          <a:prstGeom prst="roundRect">
            <a:avLst>
              <a:gd fmla="val 22186"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Lakeflow Jobs</a:t>
            </a:r>
            <a:endParaRPr sz="900">
              <a:solidFill>
                <a:schemeClr val="accent2"/>
              </a:solidFill>
              <a:latin typeface="DM Sans SemiBold"/>
              <a:ea typeface="DM Sans SemiBold"/>
              <a:cs typeface="DM Sans SemiBold"/>
              <a:sym typeface="DM Sans SemiBold"/>
            </a:endParaRPr>
          </a:p>
        </p:txBody>
      </p:sp>
      <p:sp>
        <p:nvSpPr>
          <p:cNvPr id="1553" name="Google Shape;1553;p56"/>
          <p:cNvSpPr/>
          <p:nvPr/>
        </p:nvSpPr>
        <p:spPr>
          <a:xfrm>
            <a:off x="7011406" y="1941712"/>
            <a:ext cx="685800" cy="186600"/>
          </a:xfrm>
          <a:prstGeom prst="roundRect">
            <a:avLst>
              <a:gd fmla="val 22186"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chemeClr val="accent2"/>
                </a:solidFill>
                <a:latin typeface="DM Sans SemiBold"/>
                <a:ea typeface="DM Sans SemiBold"/>
                <a:cs typeface="DM Sans SemiBold"/>
                <a:sym typeface="DM Sans SemiBold"/>
              </a:rPr>
              <a:t>MLOps</a:t>
            </a:r>
            <a:endParaRPr sz="900">
              <a:solidFill>
                <a:schemeClr val="accent2"/>
              </a:solidFill>
              <a:latin typeface="DM Sans SemiBold"/>
              <a:ea typeface="DM Sans SemiBold"/>
              <a:cs typeface="DM Sans SemiBold"/>
              <a:sym typeface="DM Sans SemiBold"/>
            </a:endParaRPr>
          </a:p>
        </p:txBody>
      </p:sp>
      <p:sp>
        <p:nvSpPr>
          <p:cNvPr id="1554" name="Google Shape;1554;p56"/>
          <p:cNvSpPr/>
          <p:nvPr/>
        </p:nvSpPr>
        <p:spPr>
          <a:xfrm>
            <a:off x="6687325" y="3574025"/>
            <a:ext cx="2370900" cy="557700"/>
          </a:xfrm>
          <a:prstGeom prst="roundRect">
            <a:avLst>
              <a:gd fmla="val 13453" name="adj"/>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1100">
                <a:solidFill>
                  <a:schemeClr val="accent5"/>
                </a:solidFill>
                <a:latin typeface="DM Sans Medium"/>
                <a:ea typeface="DM Sans Medium"/>
                <a:cs typeface="DM Sans Medium"/>
                <a:sym typeface="DM Sans Medium"/>
              </a:rPr>
              <a:t>Operational DB</a:t>
            </a:r>
            <a:endParaRPr sz="1100">
              <a:solidFill>
                <a:schemeClr val="accent5"/>
              </a:solidFill>
              <a:latin typeface="DM Sans Medium"/>
              <a:ea typeface="DM Sans Medium"/>
              <a:cs typeface="DM Sans Medium"/>
              <a:sym typeface="DM Sans Medium"/>
            </a:endParaRPr>
          </a:p>
        </p:txBody>
      </p:sp>
      <p:sp>
        <p:nvSpPr>
          <p:cNvPr id="1555" name="Google Shape;1555;p56"/>
          <p:cNvSpPr/>
          <p:nvPr/>
        </p:nvSpPr>
        <p:spPr>
          <a:xfrm>
            <a:off x="5718734" y="2582475"/>
            <a:ext cx="685500" cy="274200"/>
          </a:xfrm>
          <a:prstGeom prst="roundRect">
            <a:avLst>
              <a:gd fmla="val 17595"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Gen AI</a:t>
            </a:r>
            <a:endParaRPr sz="900">
              <a:solidFill>
                <a:srgbClr val="00A972"/>
              </a:solidFill>
              <a:latin typeface="DM Sans SemiBold"/>
              <a:ea typeface="DM Sans SemiBold"/>
              <a:cs typeface="DM Sans SemiBold"/>
              <a:sym typeface="DM Sans SemiBold"/>
            </a:endParaRPr>
          </a:p>
        </p:txBody>
      </p:sp>
      <p:sp>
        <p:nvSpPr>
          <p:cNvPr id="1556" name="Google Shape;1556;p56"/>
          <p:cNvSpPr/>
          <p:nvPr/>
        </p:nvSpPr>
        <p:spPr>
          <a:xfrm>
            <a:off x="4893050" y="2582475"/>
            <a:ext cx="761100" cy="274200"/>
          </a:xfrm>
          <a:prstGeom prst="roundRect">
            <a:avLst>
              <a:gd fmla="val 17595"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Traditional ML</a:t>
            </a:r>
            <a:endParaRPr sz="900">
              <a:solidFill>
                <a:schemeClr val="accent2"/>
              </a:solidFill>
              <a:latin typeface="DM Sans SemiBold"/>
              <a:ea typeface="DM Sans SemiBold"/>
              <a:cs typeface="DM Sans SemiBold"/>
              <a:sym typeface="DM Sans SemiBold"/>
            </a:endParaRPr>
          </a:p>
        </p:txBody>
      </p:sp>
      <p:sp>
        <p:nvSpPr>
          <p:cNvPr id="1557" name="Google Shape;1557;p56"/>
          <p:cNvSpPr/>
          <p:nvPr/>
        </p:nvSpPr>
        <p:spPr>
          <a:xfrm>
            <a:off x="3998451" y="3179562"/>
            <a:ext cx="983700" cy="274200"/>
          </a:xfrm>
          <a:prstGeom prst="roundRect">
            <a:avLst>
              <a:gd fmla="val 18115"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Lakeflow Declar- ative Pipelines</a:t>
            </a:r>
            <a:endParaRPr baseline="30000" sz="900">
              <a:solidFill>
                <a:schemeClr val="accent2"/>
              </a:solidFill>
              <a:latin typeface="DM Sans SemiBold"/>
              <a:ea typeface="DM Sans SemiBold"/>
              <a:cs typeface="DM Sans SemiBold"/>
              <a:sym typeface="DM Sans SemiBold"/>
            </a:endParaRPr>
          </a:p>
        </p:txBody>
      </p:sp>
      <p:sp>
        <p:nvSpPr>
          <p:cNvPr id="1558" name="Google Shape;1558;p56"/>
          <p:cNvSpPr/>
          <p:nvPr/>
        </p:nvSpPr>
        <p:spPr>
          <a:xfrm>
            <a:off x="5115450" y="3179550"/>
            <a:ext cx="761100" cy="274200"/>
          </a:xfrm>
          <a:prstGeom prst="roundRect">
            <a:avLst>
              <a:gd fmla="val 19944" name="adj"/>
            </a:avLst>
          </a:prstGeom>
          <a:no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Spark /</a:t>
            </a:r>
            <a:br>
              <a:rPr lang="en" sz="900">
                <a:solidFill>
                  <a:schemeClr val="accent2"/>
                </a:solidFill>
                <a:latin typeface="DM Sans SemiBold"/>
                <a:ea typeface="DM Sans SemiBold"/>
                <a:cs typeface="DM Sans SemiBold"/>
                <a:sym typeface="DM Sans SemiBold"/>
              </a:rPr>
            </a:br>
            <a:r>
              <a:rPr lang="en" sz="900">
                <a:solidFill>
                  <a:schemeClr val="accent2"/>
                </a:solidFill>
                <a:latin typeface="DM Sans SemiBold"/>
                <a:ea typeface="DM Sans SemiBold"/>
                <a:cs typeface="DM Sans SemiBold"/>
                <a:sym typeface="DM Sans SemiBold"/>
              </a:rPr>
              <a:t>Photon</a:t>
            </a:r>
            <a:endParaRPr sz="900">
              <a:solidFill>
                <a:schemeClr val="accent2"/>
              </a:solidFill>
              <a:latin typeface="DM Sans SemiBold"/>
              <a:ea typeface="DM Sans SemiBold"/>
              <a:cs typeface="DM Sans SemiBold"/>
              <a:sym typeface="DM Sans SemiBold"/>
            </a:endParaRPr>
          </a:p>
        </p:txBody>
      </p:sp>
      <p:sp>
        <p:nvSpPr>
          <p:cNvPr id="1559" name="Google Shape;1559;p56"/>
          <p:cNvSpPr/>
          <p:nvPr/>
        </p:nvSpPr>
        <p:spPr>
          <a:xfrm>
            <a:off x="6473878" y="4423213"/>
            <a:ext cx="685800" cy="274200"/>
          </a:xfrm>
          <a:prstGeom prst="roundRect">
            <a:avLst>
              <a:gd fmla="val 14403"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2"/>
                </a:solidFill>
                <a:latin typeface="DM Sans SemiBold"/>
                <a:ea typeface="DM Sans SemiBold"/>
                <a:cs typeface="DM Sans SemiBold"/>
                <a:sym typeface="DM Sans SemiBold"/>
              </a:rPr>
              <a:t>Business Semantics</a:t>
            </a:r>
            <a:endParaRPr sz="900">
              <a:solidFill>
                <a:schemeClr val="accent2"/>
              </a:solidFill>
              <a:latin typeface="DM Sans SemiBold"/>
              <a:ea typeface="DM Sans SemiBold"/>
              <a:cs typeface="DM Sans SemiBold"/>
              <a:sym typeface="DM Sans SemiBold"/>
            </a:endParaRPr>
          </a:p>
        </p:txBody>
      </p:sp>
      <p:pic>
        <p:nvPicPr>
          <p:cNvPr id="1560" name="Google Shape;1560;p56"/>
          <p:cNvPicPr preferRelativeResize="0"/>
          <p:nvPr/>
        </p:nvPicPr>
        <p:blipFill>
          <a:blip r:embed="rId4">
            <a:alphaModFix/>
          </a:blip>
          <a:stretch>
            <a:fillRect/>
          </a:stretch>
        </p:blipFill>
        <p:spPr>
          <a:xfrm>
            <a:off x="8403950" y="5666965"/>
            <a:ext cx="191100" cy="160007"/>
          </a:xfrm>
          <a:prstGeom prst="rect">
            <a:avLst/>
          </a:prstGeom>
          <a:noFill/>
          <a:ln>
            <a:noFill/>
          </a:ln>
        </p:spPr>
      </p:pic>
      <p:sp>
        <p:nvSpPr>
          <p:cNvPr id="1561" name="Google Shape;1561;p56"/>
          <p:cNvSpPr/>
          <p:nvPr/>
        </p:nvSpPr>
        <p:spPr>
          <a:xfrm>
            <a:off x="10798400" y="6096162"/>
            <a:ext cx="589500" cy="123000"/>
          </a:xfrm>
          <a:prstGeom prst="roundRect">
            <a:avLst>
              <a:gd fmla="val 26238" name="adj"/>
            </a:avLst>
          </a:prstGeom>
          <a:solidFill>
            <a:schemeClr val="accent1"/>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rgbClr val="FFFFFF"/>
                </a:solidFill>
                <a:latin typeface="DM Sans"/>
                <a:ea typeface="DM Sans"/>
                <a:cs typeface="DM Sans"/>
                <a:sym typeface="DM Sans"/>
              </a:rPr>
              <a:t>Databricks</a:t>
            </a:r>
            <a:endParaRPr sz="800">
              <a:solidFill>
                <a:srgbClr val="FFFFFF"/>
              </a:solidFill>
              <a:latin typeface="DM Sans"/>
              <a:ea typeface="DM Sans"/>
              <a:cs typeface="DM Sans"/>
              <a:sym typeface="DM Sans"/>
            </a:endParaRPr>
          </a:p>
        </p:txBody>
      </p:sp>
      <p:sp>
        <p:nvSpPr>
          <p:cNvPr id="1562" name="Google Shape;1562;p56"/>
          <p:cNvSpPr/>
          <p:nvPr/>
        </p:nvSpPr>
        <p:spPr>
          <a:xfrm>
            <a:off x="10798400" y="5939500"/>
            <a:ext cx="589500" cy="123000"/>
          </a:xfrm>
          <a:prstGeom prst="roundRect">
            <a:avLst>
              <a:gd fmla="val 26238" name="adj"/>
            </a:avLst>
          </a:prstGeom>
          <a:solidFill>
            <a:srgbClr val="FFFFFF"/>
          </a:solidFill>
          <a:ln cap="flat" cmpd="sng" w="9525">
            <a:solidFill>
              <a:schemeClr val="accent1"/>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lang="en" sz="800">
                <a:solidFill>
                  <a:schemeClr val="accent5"/>
                </a:solidFill>
                <a:latin typeface="DM Sans Medium"/>
                <a:ea typeface="DM Sans Medium"/>
                <a:cs typeface="DM Sans Medium"/>
                <a:sym typeface="DM Sans Medium"/>
              </a:rPr>
              <a:t>3rd party</a:t>
            </a:r>
            <a:endParaRPr sz="800">
              <a:solidFill>
                <a:schemeClr val="accent5"/>
              </a:solidFill>
              <a:latin typeface="DM Sans Medium"/>
              <a:ea typeface="DM Sans Medium"/>
              <a:cs typeface="DM Sans Medium"/>
              <a:sym typeface="DM Sans Medium"/>
            </a:endParaRPr>
          </a:p>
        </p:txBody>
      </p:sp>
      <p:sp>
        <p:nvSpPr>
          <p:cNvPr id="1563" name="Google Shape;1563;p56"/>
          <p:cNvSpPr txBox="1"/>
          <p:nvPr/>
        </p:nvSpPr>
        <p:spPr>
          <a:xfrm>
            <a:off x="10512987" y="5927525"/>
            <a:ext cx="2679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dk1"/>
                </a:solidFill>
                <a:latin typeface="DM Sans Medium"/>
                <a:ea typeface="DM Sans Medium"/>
                <a:cs typeface="DM Sans Medium"/>
                <a:sym typeface="DM Sans Medium"/>
              </a:rPr>
              <a:t>Key:</a:t>
            </a:r>
            <a:endParaRPr sz="1000">
              <a:solidFill>
                <a:schemeClr val="dk1"/>
              </a:solidFill>
              <a:latin typeface="DM Sans Medium"/>
              <a:ea typeface="DM Sans Medium"/>
              <a:cs typeface="DM Sans Medium"/>
              <a:sym typeface="DM Sans Medium"/>
            </a:endParaRPr>
          </a:p>
        </p:txBody>
      </p:sp>
      <p:grpSp>
        <p:nvGrpSpPr>
          <p:cNvPr id="1564" name="Google Shape;1564;p56"/>
          <p:cNvGrpSpPr/>
          <p:nvPr/>
        </p:nvGrpSpPr>
        <p:grpSpPr>
          <a:xfrm>
            <a:off x="1182138" y="4511392"/>
            <a:ext cx="568200" cy="452626"/>
            <a:chOff x="954332" y="1501306"/>
            <a:chExt cx="568200" cy="452626"/>
          </a:xfrm>
        </p:grpSpPr>
        <p:sp>
          <p:nvSpPr>
            <p:cNvPr id="1565" name="Google Shape;1565;p56"/>
            <p:cNvSpPr txBox="1"/>
            <p:nvPr/>
          </p:nvSpPr>
          <p:spPr>
            <a:xfrm>
              <a:off x="954332" y="1630832"/>
              <a:ext cx="568200" cy="323100"/>
            </a:xfrm>
            <a:prstGeom prst="rect">
              <a:avLst/>
            </a:prstGeom>
            <a:noFill/>
            <a:ln>
              <a:noFill/>
            </a:ln>
          </p:spPr>
          <p:txBody>
            <a:bodyPr anchorCtr="0" anchor="t" bIns="91425" lIns="0" spcFirstLastPara="1" rIns="0" wrap="square" tIns="91425">
              <a:noAutofit/>
            </a:bodyPr>
            <a:lstStyle/>
            <a:p>
              <a:pPr indent="0" lvl="0" marL="0" rtl="0" algn="ctr">
                <a:lnSpc>
                  <a:spcPct val="90000"/>
                </a:lnSpc>
                <a:spcBef>
                  <a:spcPts val="0"/>
                </a:spcBef>
                <a:spcAft>
                  <a:spcPts val="0"/>
                </a:spcAft>
                <a:buNone/>
              </a:pPr>
              <a:r>
                <a:rPr lang="en" sz="900">
                  <a:solidFill>
                    <a:schemeClr val="accent1"/>
                  </a:solidFill>
                  <a:latin typeface="DM Sans Medium"/>
                  <a:ea typeface="DM Sans Medium"/>
                  <a:cs typeface="DM Sans Medium"/>
                  <a:sym typeface="DM Sans Medium"/>
                </a:rPr>
                <a:t>BigQuery</a:t>
              </a:r>
              <a:endParaRPr sz="900">
                <a:solidFill>
                  <a:schemeClr val="accent1"/>
                </a:solidFill>
                <a:latin typeface="DM Sans Medium"/>
                <a:ea typeface="DM Sans Medium"/>
                <a:cs typeface="DM Sans Medium"/>
                <a:sym typeface="DM Sans Medium"/>
              </a:endParaRPr>
            </a:p>
          </p:txBody>
        </p:sp>
        <p:pic>
          <p:nvPicPr>
            <p:cNvPr id="1566" name="Google Shape;1566;p56"/>
            <p:cNvPicPr preferRelativeResize="0"/>
            <p:nvPr/>
          </p:nvPicPr>
          <p:blipFill>
            <a:blip r:embed="rId18">
              <a:alphaModFix/>
            </a:blip>
            <a:stretch>
              <a:fillRect/>
            </a:stretch>
          </p:blipFill>
          <p:spPr>
            <a:xfrm>
              <a:off x="1128255" y="1501306"/>
              <a:ext cx="201168" cy="201168"/>
            </a:xfrm>
            <a:prstGeom prst="rect">
              <a:avLst/>
            </a:prstGeom>
            <a:noFill/>
            <a:ln>
              <a:noFill/>
            </a:ln>
          </p:spPr>
        </p:pic>
      </p:grpSp>
      <p:grpSp>
        <p:nvGrpSpPr>
          <p:cNvPr id="1567" name="Google Shape;1567;p56"/>
          <p:cNvGrpSpPr/>
          <p:nvPr/>
        </p:nvGrpSpPr>
        <p:grpSpPr>
          <a:xfrm>
            <a:off x="2566796" y="4502144"/>
            <a:ext cx="421500" cy="363159"/>
            <a:chOff x="2601271" y="4486816"/>
            <a:chExt cx="421500" cy="363159"/>
          </a:xfrm>
        </p:grpSpPr>
        <p:pic>
          <p:nvPicPr>
            <p:cNvPr id="1568" name="Google Shape;1568;p56"/>
            <p:cNvPicPr preferRelativeResize="0"/>
            <p:nvPr/>
          </p:nvPicPr>
          <p:blipFill>
            <a:blip r:embed="rId19">
              <a:alphaModFix/>
            </a:blip>
            <a:stretch>
              <a:fillRect/>
            </a:stretch>
          </p:blipFill>
          <p:spPr>
            <a:xfrm>
              <a:off x="2711485" y="4486816"/>
              <a:ext cx="201168" cy="201168"/>
            </a:xfrm>
            <a:prstGeom prst="rect">
              <a:avLst/>
            </a:prstGeom>
            <a:noFill/>
            <a:ln>
              <a:noFill/>
            </a:ln>
          </p:spPr>
        </p:pic>
        <p:sp>
          <p:nvSpPr>
            <p:cNvPr id="1569" name="Google Shape;1569;p56"/>
            <p:cNvSpPr/>
            <p:nvPr/>
          </p:nvSpPr>
          <p:spPr>
            <a:xfrm>
              <a:off x="2601271" y="4690675"/>
              <a:ext cx="421500" cy="159300"/>
            </a:xfrm>
            <a:prstGeom prst="rect">
              <a:avLst/>
            </a:prstGeom>
            <a:no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Clr>
                  <a:srgbClr val="000000"/>
                </a:buClr>
                <a:buSzPts val="1100"/>
                <a:buFont typeface="Arial"/>
                <a:buNone/>
              </a:pPr>
              <a:r>
                <a:rPr lang="en" sz="900">
                  <a:solidFill>
                    <a:schemeClr val="accent1"/>
                  </a:solidFill>
                  <a:latin typeface="DM Sans Medium"/>
                  <a:ea typeface="DM Sans Medium"/>
                  <a:cs typeface="DM Sans Medium"/>
                  <a:sym typeface="DM Sans Medium"/>
                </a:rPr>
                <a:t>Data</a:t>
              </a:r>
              <a:br>
                <a:rPr lang="en" sz="900">
                  <a:solidFill>
                    <a:schemeClr val="accent1"/>
                  </a:solidFill>
                  <a:latin typeface="DM Sans Medium"/>
                  <a:ea typeface="DM Sans Medium"/>
                  <a:cs typeface="DM Sans Medium"/>
                  <a:sym typeface="DM Sans Medium"/>
                </a:rPr>
              </a:br>
              <a:r>
                <a:rPr lang="en" sz="900">
                  <a:solidFill>
                    <a:schemeClr val="accent1"/>
                  </a:solidFill>
                  <a:latin typeface="DM Sans Medium"/>
                  <a:ea typeface="DM Sans Medium"/>
                  <a:cs typeface="DM Sans Medium"/>
                  <a:sym typeface="DM Sans Medium"/>
                </a:rPr>
                <a:t>stream</a:t>
              </a:r>
              <a:endParaRPr i="0" sz="900" u="none" cap="none" strike="noStrike">
                <a:solidFill>
                  <a:schemeClr val="accent1"/>
                </a:solidFill>
                <a:latin typeface="DM Sans Medium"/>
                <a:ea typeface="DM Sans Medium"/>
                <a:cs typeface="DM Sans Medium"/>
                <a:sym typeface="DM Sans Medium"/>
              </a:endParaRPr>
            </a:p>
          </p:txBody>
        </p:sp>
      </p:grpSp>
      <p:grpSp>
        <p:nvGrpSpPr>
          <p:cNvPr id="1570" name="Google Shape;1570;p56"/>
          <p:cNvGrpSpPr/>
          <p:nvPr/>
        </p:nvGrpSpPr>
        <p:grpSpPr>
          <a:xfrm>
            <a:off x="2044467" y="4502144"/>
            <a:ext cx="498000" cy="362444"/>
            <a:chOff x="1998500" y="4486816"/>
            <a:chExt cx="498000" cy="362444"/>
          </a:xfrm>
        </p:grpSpPr>
        <p:sp>
          <p:nvSpPr>
            <p:cNvPr id="1571" name="Google Shape;1571;p56"/>
            <p:cNvSpPr/>
            <p:nvPr/>
          </p:nvSpPr>
          <p:spPr>
            <a:xfrm>
              <a:off x="1998500" y="4689960"/>
              <a:ext cx="498000" cy="1593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900">
                  <a:solidFill>
                    <a:schemeClr val="accent1"/>
                  </a:solidFill>
                  <a:latin typeface="DM Sans Medium"/>
                  <a:ea typeface="DM Sans Medium"/>
                  <a:cs typeface="DM Sans Medium"/>
                  <a:sym typeface="DM Sans Medium"/>
                </a:rPr>
                <a:t>Pub/Sub</a:t>
              </a:r>
              <a:endParaRPr i="0" sz="900" u="none" cap="none" strike="noStrike">
                <a:solidFill>
                  <a:schemeClr val="accent1"/>
                </a:solidFill>
                <a:latin typeface="DM Sans Medium"/>
                <a:ea typeface="DM Sans Medium"/>
                <a:cs typeface="DM Sans Medium"/>
                <a:sym typeface="DM Sans Medium"/>
              </a:endParaRPr>
            </a:p>
          </p:txBody>
        </p:sp>
        <p:pic>
          <p:nvPicPr>
            <p:cNvPr id="1572" name="Google Shape;1572;p56"/>
            <p:cNvPicPr preferRelativeResize="0"/>
            <p:nvPr/>
          </p:nvPicPr>
          <p:blipFill>
            <a:blip r:embed="rId20">
              <a:alphaModFix/>
            </a:blip>
            <a:stretch>
              <a:fillRect/>
            </a:stretch>
          </p:blipFill>
          <p:spPr>
            <a:xfrm>
              <a:off x="2146870" y="4486816"/>
              <a:ext cx="201168" cy="201168"/>
            </a:xfrm>
            <a:prstGeom prst="rect">
              <a:avLst/>
            </a:prstGeom>
            <a:noFill/>
            <a:ln>
              <a:noFill/>
            </a:ln>
          </p:spPr>
        </p:pic>
      </p:grpSp>
      <p:grpSp>
        <p:nvGrpSpPr>
          <p:cNvPr id="1573" name="Google Shape;1573;p56"/>
          <p:cNvGrpSpPr/>
          <p:nvPr/>
        </p:nvGrpSpPr>
        <p:grpSpPr>
          <a:xfrm>
            <a:off x="2151025" y="3987116"/>
            <a:ext cx="740400" cy="433905"/>
            <a:chOff x="1877276" y="3937720"/>
            <a:chExt cx="740400" cy="433905"/>
          </a:xfrm>
        </p:grpSpPr>
        <p:sp>
          <p:nvSpPr>
            <p:cNvPr id="1574" name="Google Shape;1574;p56"/>
            <p:cNvSpPr/>
            <p:nvPr/>
          </p:nvSpPr>
          <p:spPr>
            <a:xfrm>
              <a:off x="1877276" y="4155625"/>
              <a:ext cx="740400" cy="216000"/>
            </a:xfrm>
            <a:prstGeom prst="rect">
              <a:avLst/>
            </a:prstGeom>
            <a:no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Clr>
                  <a:srgbClr val="000000"/>
                </a:buClr>
                <a:buSzPts val="1100"/>
                <a:buFont typeface="Arial"/>
                <a:buNone/>
              </a:pPr>
              <a:r>
                <a:rPr lang="en" sz="900">
                  <a:solidFill>
                    <a:schemeClr val="accent1"/>
                  </a:solidFill>
                  <a:latin typeface="DM Sans Medium"/>
                  <a:ea typeface="DM Sans Medium"/>
                  <a:cs typeface="DM Sans Medium"/>
                  <a:sym typeface="DM Sans Medium"/>
                </a:rPr>
                <a:t>Cloud Data </a:t>
              </a:r>
              <a:br>
                <a:rPr lang="en" sz="900">
                  <a:solidFill>
                    <a:schemeClr val="accent1"/>
                  </a:solidFill>
                  <a:latin typeface="DM Sans Medium"/>
                  <a:ea typeface="DM Sans Medium"/>
                  <a:cs typeface="DM Sans Medium"/>
                  <a:sym typeface="DM Sans Medium"/>
                </a:rPr>
              </a:br>
              <a:r>
                <a:rPr lang="en" sz="900">
                  <a:solidFill>
                    <a:schemeClr val="accent1"/>
                  </a:solidFill>
                  <a:latin typeface="DM Sans Medium"/>
                  <a:ea typeface="DM Sans Medium"/>
                  <a:cs typeface="DM Sans Medium"/>
                  <a:sym typeface="DM Sans Medium"/>
                </a:rPr>
                <a:t>Fusion</a:t>
              </a:r>
              <a:endParaRPr i="0" sz="900" u="none" cap="none" strike="noStrike">
                <a:solidFill>
                  <a:schemeClr val="accent1"/>
                </a:solidFill>
                <a:latin typeface="DM Sans Medium"/>
                <a:ea typeface="DM Sans Medium"/>
                <a:cs typeface="DM Sans Medium"/>
                <a:sym typeface="DM Sans Medium"/>
              </a:endParaRPr>
            </a:p>
          </p:txBody>
        </p:sp>
        <p:pic>
          <p:nvPicPr>
            <p:cNvPr id="1575" name="Google Shape;1575;p56"/>
            <p:cNvPicPr preferRelativeResize="0"/>
            <p:nvPr/>
          </p:nvPicPr>
          <p:blipFill>
            <a:blip r:embed="rId21">
              <a:alphaModFix/>
            </a:blip>
            <a:stretch>
              <a:fillRect/>
            </a:stretch>
          </p:blipFill>
          <p:spPr>
            <a:xfrm>
              <a:off x="2150701" y="3937720"/>
              <a:ext cx="201168" cy="201168"/>
            </a:xfrm>
            <a:prstGeom prst="rect">
              <a:avLst/>
            </a:prstGeom>
            <a:noFill/>
            <a:ln>
              <a:noFill/>
            </a:ln>
          </p:spPr>
        </p:pic>
      </p:grpSp>
      <p:grpSp>
        <p:nvGrpSpPr>
          <p:cNvPr id="1576" name="Google Shape;1576;p56"/>
          <p:cNvGrpSpPr/>
          <p:nvPr/>
        </p:nvGrpSpPr>
        <p:grpSpPr>
          <a:xfrm>
            <a:off x="4069067" y="5709120"/>
            <a:ext cx="1579500" cy="355522"/>
            <a:chOff x="4432050" y="5792728"/>
            <a:chExt cx="1579500" cy="355522"/>
          </a:xfrm>
        </p:grpSpPr>
        <p:sp>
          <p:nvSpPr>
            <p:cNvPr id="1577" name="Google Shape;1577;p56"/>
            <p:cNvSpPr/>
            <p:nvPr/>
          </p:nvSpPr>
          <p:spPr>
            <a:xfrm>
              <a:off x="4432050" y="5949650"/>
              <a:ext cx="1579500" cy="198600"/>
            </a:xfrm>
            <a:prstGeom prst="rect">
              <a:avLst/>
            </a:prstGeom>
            <a:noFill/>
            <a:ln>
              <a:noFill/>
            </a:ln>
          </p:spPr>
          <p:txBody>
            <a:bodyPr anchorCtr="0" anchor="t" bIns="44800" lIns="89625" spcFirstLastPara="1" rIns="89625" wrap="square" tIns="44800">
              <a:noAutofit/>
            </a:bodyPr>
            <a:lstStyle/>
            <a:p>
              <a:pPr indent="0" lvl="0" marL="0" marR="0" rtl="0" algn="ctr">
                <a:lnSpc>
                  <a:spcPct val="100000"/>
                </a:lnSpc>
                <a:spcBef>
                  <a:spcPts val="0"/>
                </a:spcBef>
                <a:spcAft>
                  <a:spcPts val="0"/>
                </a:spcAft>
                <a:buNone/>
              </a:pPr>
              <a:r>
                <a:rPr lang="en" sz="900">
                  <a:solidFill>
                    <a:schemeClr val="accent1"/>
                  </a:solidFill>
                  <a:latin typeface="DM Sans Medium"/>
                  <a:ea typeface="DM Sans Medium"/>
                  <a:cs typeface="DM Sans Medium"/>
                  <a:sym typeface="DM Sans Medium"/>
                </a:rPr>
                <a:t>Google Cloud Storage</a:t>
              </a:r>
              <a:endParaRPr sz="900">
                <a:solidFill>
                  <a:schemeClr val="accent1"/>
                </a:solidFill>
                <a:latin typeface="DM Sans Medium"/>
                <a:ea typeface="DM Sans Medium"/>
                <a:cs typeface="DM Sans Medium"/>
                <a:sym typeface="DM Sans Medium"/>
              </a:endParaRPr>
            </a:p>
          </p:txBody>
        </p:sp>
        <p:pic>
          <p:nvPicPr>
            <p:cNvPr id="1476" name="Google Shape;1476;p56"/>
            <p:cNvPicPr preferRelativeResize="0"/>
            <p:nvPr/>
          </p:nvPicPr>
          <p:blipFill>
            <a:blip r:embed="rId22">
              <a:alphaModFix/>
            </a:blip>
            <a:stretch>
              <a:fillRect/>
            </a:stretch>
          </p:blipFill>
          <p:spPr>
            <a:xfrm>
              <a:off x="5052884" y="5792728"/>
              <a:ext cx="201168" cy="201168"/>
            </a:xfrm>
            <a:prstGeom prst="rect">
              <a:avLst/>
            </a:prstGeom>
            <a:noFill/>
            <a:ln>
              <a:noFill/>
            </a:ln>
          </p:spPr>
        </p:pic>
      </p:grpSp>
      <p:grpSp>
        <p:nvGrpSpPr>
          <p:cNvPr id="1578" name="Google Shape;1578;p56"/>
          <p:cNvGrpSpPr/>
          <p:nvPr/>
        </p:nvGrpSpPr>
        <p:grpSpPr>
          <a:xfrm>
            <a:off x="8584205" y="5020567"/>
            <a:ext cx="376500" cy="458432"/>
            <a:chOff x="8871270" y="4837126"/>
            <a:chExt cx="376500" cy="458432"/>
          </a:xfrm>
        </p:grpSpPr>
        <p:pic>
          <p:nvPicPr>
            <p:cNvPr id="1579" name="Google Shape;1579;p56"/>
            <p:cNvPicPr preferRelativeResize="0"/>
            <p:nvPr/>
          </p:nvPicPr>
          <p:blipFill>
            <a:blip r:embed="rId23">
              <a:alphaModFix/>
            </a:blip>
            <a:stretch>
              <a:fillRect/>
            </a:stretch>
          </p:blipFill>
          <p:spPr>
            <a:xfrm>
              <a:off x="8931495" y="4837126"/>
              <a:ext cx="237744" cy="201168"/>
            </a:xfrm>
            <a:prstGeom prst="rect">
              <a:avLst/>
            </a:prstGeom>
            <a:noFill/>
            <a:ln>
              <a:noFill/>
            </a:ln>
          </p:spPr>
        </p:pic>
        <p:sp>
          <p:nvSpPr>
            <p:cNvPr id="1580" name="Google Shape;1580;p56"/>
            <p:cNvSpPr/>
            <p:nvPr/>
          </p:nvSpPr>
          <p:spPr>
            <a:xfrm>
              <a:off x="8871270" y="5041759"/>
              <a:ext cx="376500" cy="2538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900"/>
                <a:buFont typeface="Arial"/>
                <a:buNone/>
              </a:pPr>
              <a:r>
                <a:rPr lang="en" sz="900">
                  <a:solidFill>
                    <a:schemeClr val="accent1"/>
                  </a:solidFill>
                  <a:latin typeface="DM Sans Medium"/>
                  <a:ea typeface="DM Sans Medium"/>
                  <a:cs typeface="DM Sans Medium"/>
                  <a:sym typeface="DM Sans Medium"/>
                </a:rPr>
                <a:t>Data</a:t>
              </a:r>
              <a:br>
                <a:rPr lang="en" sz="900">
                  <a:solidFill>
                    <a:schemeClr val="accent1"/>
                  </a:solidFill>
                  <a:latin typeface="DM Sans Medium"/>
                  <a:ea typeface="DM Sans Medium"/>
                  <a:cs typeface="DM Sans Medium"/>
                  <a:sym typeface="DM Sans Medium"/>
                </a:rPr>
              </a:br>
              <a:r>
                <a:rPr lang="en" sz="900">
                  <a:solidFill>
                    <a:schemeClr val="accent1"/>
                  </a:solidFill>
                  <a:latin typeface="DM Sans Medium"/>
                  <a:ea typeface="DM Sans Medium"/>
                  <a:cs typeface="DM Sans Medium"/>
                  <a:sym typeface="DM Sans Medium"/>
                </a:rPr>
                <a:t>store</a:t>
              </a:r>
              <a:endParaRPr sz="900">
                <a:solidFill>
                  <a:schemeClr val="accent1"/>
                </a:solidFill>
                <a:latin typeface="DM Sans Medium"/>
                <a:ea typeface="DM Sans Medium"/>
                <a:cs typeface="DM Sans Medium"/>
                <a:sym typeface="DM Sans Medium"/>
              </a:endParaRPr>
            </a:p>
          </p:txBody>
        </p:sp>
      </p:grpSp>
      <p:grpSp>
        <p:nvGrpSpPr>
          <p:cNvPr id="1581" name="Google Shape;1581;p56"/>
          <p:cNvGrpSpPr/>
          <p:nvPr/>
        </p:nvGrpSpPr>
        <p:grpSpPr>
          <a:xfrm>
            <a:off x="8194130" y="4988892"/>
            <a:ext cx="418800" cy="490107"/>
            <a:chOff x="8495880" y="4805451"/>
            <a:chExt cx="418800" cy="490107"/>
          </a:xfrm>
        </p:grpSpPr>
        <p:pic>
          <p:nvPicPr>
            <p:cNvPr id="1582" name="Google Shape;1582;p56"/>
            <p:cNvPicPr preferRelativeResize="0"/>
            <p:nvPr/>
          </p:nvPicPr>
          <p:blipFill>
            <a:blip r:embed="rId24">
              <a:alphaModFix/>
            </a:blip>
            <a:stretch>
              <a:fillRect/>
            </a:stretch>
          </p:blipFill>
          <p:spPr>
            <a:xfrm>
              <a:off x="8605592" y="4805451"/>
              <a:ext cx="199375" cy="243550"/>
            </a:xfrm>
            <a:prstGeom prst="rect">
              <a:avLst/>
            </a:prstGeom>
            <a:noFill/>
            <a:ln>
              <a:noFill/>
            </a:ln>
          </p:spPr>
        </p:pic>
        <p:sp>
          <p:nvSpPr>
            <p:cNvPr id="1583" name="Google Shape;1583;p56"/>
            <p:cNvSpPr/>
            <p:nvPr/>
          </p:nvSpPr>
          <p:spPr>
            <a:xfrm>
              <a:off x="8495880" y="5041759"/>
              <a:ext cx="418800" cy="2538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900"/>
                <a:buFont typeface="Arial"/>
                <a:buNone/>
              </a:pPr>
              <a:r>
                <a:rPr lang="en" sz="900">
                  <a:solidFill>
                    <a:schemeClr val="accent1"/>
                  </a:solidFill>
                  <a:latin typeface="DM Sans Medium"/>
                  <a:ea typeface="DM Sans Medium"/>
                  <a:cs typeface="DM Sans Medium"/>
                  <a:sym typeface="DM Sans Medium"/>
                </a:rPr>
                <a:t>Cloud</a:t>
              </a:r>
              <a:br>
                <a:rPr lang="en" sz="900">
                  <a:solidFill>
                    <a:schemeClr val="accent1"/>
                  </a:solidFill>
                  <a:latin typeface="DM Sans Medium"/>
                  <a:ea typeface="DM Sans Medium"/>
                  <a:cs typeface="DM Sans Medium"/>
                  <a:sym typeface="DM Sans Medium"/>
                </a:rPr>
              </a:br>
              <a:r>
                <a:rPr lang="en" sz="900">
                  <a:solidFill>
                    <a:schemeClr val="accent1"/>
                  </a:solidFill>
                  <a:latin typeface="DM Sans Medium"/>
                  <a:ea typeface="DM Sans Medium"/>
                  <a:cs typeface="DM Sans Medium"/>
                  <a:sym typeface="DM Sans Medium"/>
                </a:rPr>
                <a:t>SQL</a:t>
              </a:r>
              <a:endParaRPr sz="900">
                <a:solidFill>
                  <a:schemeClr val="accent1"/>
                </a:solidFill>
                <a:latin typeface="DM Sans Medium"/>
                <a:ea typeface="DM Sans Medium"/>
                <a:cs typeface="DM Sans Medium"/>
                <a:sym typeface="DM Sans Medium"/>
              </a:endParaRPr>
            </a:p>
          </p:txBody>
        </p:sp>
      </p:grpSp>
      <p:grpSp>
        <p:nvGrpSpPr>
          <p:cNvPr id="1584" name="Google Shape;1584;p56"/>
          <p:cNvGrpSpPr/>
          <p:nvPr/>
        </p:nvGrpSpPr>
        <p:grpSpPr>
          <a:xfrm>
            <a:off x="8317364" y="4499903"/>
            <a:ext cx="549000" cy="464780"/>
            <a:chOff x="8594705" y="4317663"/>
            <a:chExt cx="549000" cy="464780"/>
          </a:xfrm>
        </p:grpSpPr>
        <p:pic>
          <p:nvPicPr>
            <p:cNvPr id="1585" name="Google Shape;1585;p56"/>
            <p:cNvPicPr preferRelativeResize="0"/>
            <p:nvPr/>
          </p:nvPicPr>
          <p:blipFill rotWithShape="1">
            <a:blip r:embed="rId25">
              <a:alphaModFix/>
            </a:blip>
            <a:srcRect b="0" l="0" r="0" t="0"/>
            <a:stretch/>
          </p:blipFill>
          <p:spPr>
            <a:xfrm>
              <a:off x="8741189" y="4317663"/>
              <a:ext cx="201168" cy="201168"/>
            </a:xfrm>
            <a:prstGeom prst="rect">
              <a:avLst/>
            </a:prstGeom>
            <a:noFill/>
            <a:ln>
              <a:noFill/>
            </a:ln>
          </p:spPr>
        </p:pic>
        <p:sp>
          <p:nvSpPr>
            <p:cNvPr id="1586" name="Google Shape;1586;p56"/>
            <p:cNvSpPr/>
            <p:nvPr/>
          </p:nvSpPr>
          <p:spPr>
            <a:xfrm>
              <a:off x="8594705" y="4528644"/>
              <a:ext cx="549000" cy="2538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900"/>
                <a:buFont typeface="Arial"/>
                <a:buNone/>
              </a:pPr>
              <a:r>
                <a:rPr lang="en" sz="900">
                  <a:solidFill>
                    <a:schemeClr val="accent1"/>
                  </a:solidFill>
                  <a:latin typeface="DM Sans Medium"/>
                  <a:ea typeface="DM Sans Medium"/>
                  <a:cs typeface="DM Sans Medium"/>
                  <a:sym typeface="DM Sans Medium"/>
                </a:rPr>
                <a:t>Cloud</a:t>
              </a:r>
              <a:br>
                <a:rPr lang="en" sz="900">
                  <a:solidFill>
                    <a:schemeClr val="accent1"/>
                  </a:solidFill>
                  <a:latin typeface="DM Sans Medium"/>
                  <a:ea typeface="DM Sans Medium"/>
                  <a:cs typeface="DM Sans Medium"/>
                  <a:sym typeface="DM Sans Medium"/>
                </a:rPr>
              </a:br>
              <a:r>
                <a:rPr lang="en" sz="900">
                  <a:solidFill>
                    <a:schemeClr val="accent1"/>
                  </a:solidFill>
                  <a:latin typeface="DM Sans Medium"/>
                  <a:ea typeface="DM Sans Medium"/>
                  <a:cs typeface="DM Sans Medium"/>
                  <a:sym typeface="DM Sans Medium"/>
                </a:rPr>
                <a:t>BigTable</a:t>
              </a:r>
              <a:endParaRPr sz="900">
                <a:solidFill>
                  <a:schemeClr val="accent1"/>
                </a:solidFill>
                <a:latin typeface="DM Sans Medium"/>
                <a:ea typeface="DM Sans Medium"/>
                <a:cs typeface="DM Sans Medium"/>
                <a:sym typeface="DM Sans Medium"/>
              </a:endParaRPr>
            </a:p>
          </p:txBody>
        </p:sp>
      </p:grpSp>
      <p:grpSp>
        <p:nvGrpSpPr>
          <p:cNvPr id="1587" name="Google Shape;1587;p56"/>
          <p:cNvGrpSpPr/>
          <p:nvPr/>
        </p:nvGrpSpPr>
        <p:grpSpPr>
          <a:xfrm>
            <a:off x="10745067" y="3908985"/>
            <a:ext cx="549000" cy="428207"/>
            <a:chOff x="11251667" y="3763413"/>
            <a:chExt cx="549000" cy="428207"/>
          </a:xfrm>
        </p:grpSpPr>
        <p:sp>
          <p:nvSpPr>
            <p:cNvPr id="1588" name="Google Shape;1588;p56"/>
            <p:cNvSpPr txBox="1"/>
            <p:nvPr/>
          </p:nvSpPr>
          <p:spPr>
            <a:xfrm>
              <a:off x="11251667" y="4037720"/>
              <a:ext cx="5490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rgbClr val="1B5162"/>
                  </a:solidFill>
                  <a:latin typeface="DM Sans Medium"/>
                  <a:ea typeface="DM Sans Medium"/>
                  <a:cs typeface="DM Sans Medium"/>
                  <a:sym typeface="DM Sans Medium"/>
                </a:rPr>
                <a:t>Vertex AI</a:t>
              </a:r>
              <a:endParaRPr sz="1000">
                <a:solidFill>
                  <a:srgbClr val="1B5162"/>
                </a:solidFill>
                <a:latin typeface="DM Sans Medium"/>
                <a:ea typeface="DM Sans Medium"/>
                <a:cs typeface="DM Sans Medium"/>
                <a:sym typeface="DM Sans Medium"/>
              </a:endParaRPr>
            </a:p>
          </p:txBody>
        </p:sp>
        <p:pic>
          <p:nvPicPr>
            <p:cNvPr id="1589" name="Google Shape;1589;p56"/>
            <p:cNvPicPr preferRelativeResize="0"/>
            <p:nvPr/>
          </p:nvPicPr>
          <p:blipFill>
            <a:blip r:embed="rId26">
              <a:alphaModFix/>
            </a:blip>
            <a:stretch>
              <a:fillRect/>
            </a:stretch>
          </p:blipFill>
          <p:spPr>
            <a:xfrm>
              <a:off x="11380975" y="3763413"/>
              <a:ext cx="290400" cy="290400"/>
            </a:xfrm>
            <a:prstGeom prst="rect">
              <a:avLst/>
            </a:prstGeom>
            <a:noFill/>
            <a:ln>
              <a:noFill/>
            </a:ln>
          </p:spPr>
        </p:pic>
      </p:grpSp>
      <p:grpSp>
        <p:nvGrpSpPr>
          <p:cNvPr id="1590" name="Google Shape;1590;p56"/>
          <p:cNvGrpSpPr/>
          <p:nvPr/>
        </p:nvGrpSpPr>
        <p:grpSpPr>
          <a:xfrm>
            <a:off x="9449263" y="4481596"/>
            <a:ext cx="498000" cy="339758"/>
            <a:chOff x="9449263" y="3838633"/>
            <a:chExt cx="498000" cy="339758"/>
          </a:xfrm>
        </p:grpSpPr>
        <p:sp>
          <p:nvSpPr>
            <p:cNvPr id="1591" name="Google Shape;1591;p56"/>
            <p:cNvSpPr txBox="1"/>
            <p:nvPr/>
          </p:nvSpPr>
          <p:spPr>
            <a:xfrm>
              <a:off x="9449263" y="4039792"/>
              <a:ext cx="4980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accent1"/>
                  </a:solidFill>
                  <a:latin typeface="DM Sans Medium"/>
                  <a:ea typeface="DM Sans Medium"/>
                  <a:cs typeface="DM Sans Medium"/>
                  <a:sym typeface="DM Sans Medium"/>
                </a:rPr>
                <a:t>Looker</a:t>
              </a:r>
              <a:endParaRPr sz="900">
                <a:solidFill>
                  <a:schemeClr val="accent1"/>
                </a:solidFill>
                <a:latin typeface="DM Sans Medium"/>
                <a:ea typeface="DM Sans Medium"/>
                <a:cs typeface="DM Sans Medium"/>
                <a:sym typeface="DM Sans Medium"/>
              </a:endParaRPr>
            </a:p>
          </p:txBody>
        </p:sp>
        <p:pic>
          <p:nvPicPr>
            <p:cNvPr id="1592" name="Google Shape;1592;p56"/>
            <p:cNvPicPr preferRelativeResize="0"/>
            <p:nvPr/>
          </p:nvPicPr>
          <p:blipFill>
            <a:blip r:embed="rId27">
              <a:alphaModFix/>
            </a:blip>
            <a:stretch>
              <a:fillRect/>
            </a:stretch>
          </p:blipFill>
          <p:spPr>
            <a:xfrm>
              <a:off x="9627473" y="3838633"/>
              <a:ext cx="126661" cy="201168"/>
            </a:xfrm>
            <a:prstGeom prst="rect">
              <a:avLst/>
            </a:prstGeom>
            <a:noFill/>
            <a:ln>
              <a:noFill/>
            </a:ln>
          </p:spPr>
        </p:pic>
      </p:grpSp>
      <p:grpSp>
        <p:nvGrpSpPr>
          <p:cNvPr id="1593" name="Google Shape;1593;p56"/>
          <p:cNvGrpSpPr/>
          <p:nvPr/>
        </p:nvGrpSpPr>
        <p:grpSpPr>
          <a:xfrm>
            <a:off x="874957" y="4457190"/>
            <a:ext cx="324300" cy="434522"/>
            <a:chOff x="1377357" y="4647990"/>
            <a:chExt cx="324300" cy="434522"/>
          </a:xfrm>
        </p:grpSpPr>
        <p:sp>
          <p:nvSpPr>
            <p:cNvPr id="1594" name="Google Shape;1594;p56"/>
            <p:cNvSpPr txBox="1"/>
            <p:nvPr/>
          </p:nvSpPr>
          <p:spPr>
            <a:xfrm>
              <a:off x="1377357" y="4891411"/>
              <a:ext cx="3243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900">
                  <a:solidFill>
                    <a:srgbClr val="1B5162"/>
                  </a:solidFill>
                  <a:latin typeface="DM Sans Medium"/>
                  <a:ea typeface="DM Sans Medium"/>
                  <a:cs typeface="DM Sans Medium"/>
                  <a:sym typeface="DM Sans Medium"/>
                </a:rPr>
                <a:t>HMS</a:t>
              </a:r>
              <a:r>
                <a:rPr lang="en" sz="900">
                  <a:solidFill>
                    <a:srgbClr val="1B5162"/>
                  </a:solidFill>
                  <a:latin typeface="DM Sans Light"/>
                  <a:ea typeface="DM Sans Light"/>
                  <a:cs typeface="DM Sans Light"/>
                  <a:sym typeface="DM Sans Light"/>
                </a:rPr>
                <a:t>*</a:t>
              </a:r>
              <a:endParaRPr sz="900">
                <a:solidFill>
                  <a:srgbClr val="1B5162"/>
                </a:solidFill>
                <a:latin typeface="DM Sans Light"/>
                <a:ea typeface="DM Sans Light"/>
                <a:cs typeface="DM Sans Light"/>
                <a:sym typeface="DM Sans Light"/>
              </a:endParaRPr>
            </a:p>
          </p:txBody>
        </p:sp>
        <p:pic>
          <p:nvPicPr>
            <p:cNvPr id="1595" name="Google Shape;1595;p56" title="primary-icon-navy-hive-metastore-execution.png"/>
            <p:cNvPicPr preferRelativeResize="0"/>
            <p:nvPr/>
          </p:nvPicPr>
          <p:blipFill>
            <a:blip r:embed="rId28">
              <a:alphaModFix/>
            </a:blip>
            <a:stretch>
              <a:fillRect/>
            </a:stretch>
          </p:blipFill>
          <p:spPr>
            <a:xfrm>
              <a:off x="1379822" y="4647990"/>
              <a:ext cx="282300" cy="282300"/>
            </a:xfrm>
            <a:prstGeom prst="rect">
              <a:avLst/>
            </a:prstGeom>
            <a:noFill/>
            <a:ln>
              <a:noFill/>
            </a:ln>
          </p:spPr>
        </p:pic>
      </p:grpSp>
      <p:pic>
        <p:nvPicPr>
          <p:cNvPr id="1596" name="Google Shape;1596;p56"/>
          <p:cNvPicPr preferRelativeResize="0"/>
          <p:nvPr/>
        </p:nvPicPr>
        <p:blipFill rotWithShape="1">
          <a:blip r:embed="rId29">
            <a:alphaModFix/>
          </a:blip>
          <a:srcRect b="6728" l="7820" r="6804" t="12684"/>
          <a:stretch/>
        </p:blipFill>
        <p:spPr>
          <a:xfrm>
            <a:off x="11547125" y="12575"/>
            <a:ext cx="597302" cy="563726"/>
          </a:xfrm>
          <a:prstGeom prst="rect">
            <a:avLst/>
          </a:prstGeom>
          <a:noFill/>
          <a:ln>
            <a:noFill/>
          </a:ln>
        </p:spPr>
      </p:pic>
      <p:sp>
        <p:nvSpPr>
          <p:cNvPr id="1597" name="Google Shape;1597;p56"/>
          <p:cNvSpPr/>
          <p:nvPr/>
        </p:nvSpPr>
        <p:spPr>
          <a:xfrm>
            <a:off x="7446063" y="4997825"/>
            <a:ext cx="549000" cy="223800"/>
          </a:xfrm>
          <a:prstGeom prst="roundRect">
            <a:avLst>
              <a:gd fmla="val 20281" name="adj"/>
            </a:avLst>
          </a:prstGeom>
          <a:solidFill>
            <a:srgbClr val="FFFFFF"/>
          </a:solidFill>
          <a:ln cap="flat" cmpd="sng" w="9525">
            <a:solidFill>
              <a:srgbClr val="00A972"/>
            </a:solidFill>
            <a:prstDash val="solid"/>
            <a:round/>
            <a:headEnd len="sm" w="sm" type="none"/>
            <a:tailEnd len="sm" w="sm" type="none"/>
          </a:ln>
        </p:spPr>
        <p:txBody>
          <a:bodyPr anchorCtr="0" anchor="ctr" bIns="0" lIns="0" spcFirstLastPara="1" rIns="0" wrap="square" tIns="9125">
            <a:noAutofit/>
          </a:bodyPr>
          <a:lstStyle/>
          <a:p>
            <a:pPr indent="0" lvl="0" marL="0" rtl="0" algn="ctr">
              <a:lnSpc>
                <a:spcPct val="75000"/>
              </a:lnSpc>
              <a:spcBef>
                <a:spcPts val="0"/>
              </a:spcBef>
              <a:spcAft>
                <a:spcPts val="0"/>
              </a:spcAft>
              <a:buNone/>
            </a:pPr>
            <a:r>
              <a:rPr lang="en" sz="900">
                <a:solidFill>
                  <a:srgbClr val="00A972"/>
                </a:solidFill>
                <a:latin typeface="DM Sans SemiBold"/>
                <a:ea typeface="DM Sans SemiBold"/>
                <a:cs typeface="DM Sans SemiBold"/>
                <a:sym typeface="DM Sans SemiBold"/>
              </a:rPr>
              <a:t>Market</a:t>
            </a:r>
            <a:br>
              <a:rPr lang="en" sz="900">
                <a:solidFill>
                  <a:srgbClr val="00A972"/>
                </a:solidFill>
                <a:latin typeface="DM Sans SemiBold"/>
                <a:ea typeface="DM Sans SemiBold"/>
                <a:cs typeface="DM Sans SemiBold"/>
                <a:sym typeface="DM Sans SemiBold"/>
              </a:rPr>
            </a:br>
            <a:r>
              <a:rPr lang="en" sz="900">
                <a:solidFill>
                  <a:srgbClr val="00A972"/>
                </a:solidFill>
                <a:latin typeface="DM Sans SemiBold"/>
                <a:ea typeface="DM Sans SemiBold"/>
                <a:cs typeface="DM Sans SemiBold"/>
                <a:sym typeface="DM Sans SemiBold"/>
              </a:rPr>
              <a:t>place</a:t>
            </a:r>
            <a:endParaRPr sz="900">
              <a:solidFill>
                <a:srgbClr val="00A972"/>
              </a:solidFill>
              <a:latin typeface="DM Sans SemiBold"/>
              <a:ea typeface="DM Sans SemiBold"/>
              <a:cs typeface="DM Sans SemiBold"/>
              <a:sym typeface="DM Sans SemiBold"/>
            </a:endParaRPr>
          </a:p>
        </p:txBody>
      </p:sp>
      <p:sp>
        <p:nvSpPr>
          <p:cNvPr id="1598" name="Google Shape;1598;p56"/>
          <p:cNvSpPr/>
          <p:nvPr/>
        </p:nvSpPr>
        <p:spPr>
          <a:xfrm>
            <a:off x="7446063" y="5249871"/>
            <a:ext cx="549000" cy="223800"/>
          </a:xfrm>
          <a:prstGeom prst="roundRect">
            <a:avLst>
              <a:gd fmla="val 20281" name="adj"/>
            </a:avLst>
          </a:prstGeom>
          <a:solidFill>
            <a:srgbClr val="FFFFFF"/>
          </a:solidFill>
          <a:ln cap="flat" cmpd="sng" w="9525">
            <a:solidFill>
              <a:srgbClr val="00A972"/>
            </a:solidFill>
            <a:prstDash val="solid"/>
            <a:round/>
            <a:headEnd len="sm" w="sm" type="none"/>
            <a:tailEnd len="sm" w="sm" type="none"/>
          </a:ln>
        </p:spPr>
        <p:txBody>
          <a:bodyPr anchorCtr="0" anchor="ctr" bIns="0" lIns="0" spcFirstLastPara="1" rIns="0" wrap="square" tIns="9125">
            <a:noAutofit/>
          </a:bodyPr>
          <a:lstStyle/>
          <a:p>
            <a:pPr indent="0" lvl="0" marL="0" rtl="0" algn="ctr">
              <a:lnSpc>
                <a:spcPct val="75000"/>
              </a:lnSpc>
              <a:spcBef>
                <a:spcPts val="0"/>
              </a:spcBef>
              <a:spcAft>
                <a:spcPts val="0"/>
              </a:spcAft>
              <a:buNone/>
            </a:pPr>
            <a:r>
              <a:rPr lang="en" sz="900">
                <a:solidFill>
                  <a:srgbClr val="00A972"/>
                </a:solidFill>
                <a:latin typeface="DM Sans SemiBold"/>
                <a:ea typeface="DM Sans SemiBold"/>
                <a:cs typeface="DM Sans SemiBold"/>
                <a:sym typeface="DM Sans SemiBold"/>
              </a:rPr>
              <a:t>Clean Rooms</a:t>
            </a:r>
            <a:endParaRPr sz="900">
              <a:solidFill>
                <a:srgbClr val="00A972"/>
              </a:solidFill>
              <a:latin typeface="DM Sans SemiBold"/>
              <a:ea typeface="DM Sans SemiBold"/>
              <a:cs typeface="DM Sans SemiBold"/>
              <a:sym typeface="DM Sans SemiBo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2" name="Shape 1602"/>
        <p:cNvGrpSpPr/>
        <p:nvPr/>
      </p:nvGrpSpPr>
      <p:grpSpPr>
        <a:xfrm>
          <a:off x="0" y="0"/>
          <a:ext cx="0" cy="0"/>
          <a:chOff x="0" y="0"/>
          <a:chExt cx="0" cy="0"/>
        </a:xfrm>
      </p:grpSpPr>
      <p:sp>
        <p:nvSpPr>
          <p:cNvPr id="1603" name="Google Shape;1603;p57"/>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Architectural Assets</a:t>
            </a:r>
            <a:endParaRPr/>
          </a:p>
        </p:txBody>
      </p:sp>
      <p:sp>
        <p:nvSpPr>
          <p:cNvPr id="1604" name="Google Shape;1604;p57"/>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605" name="Google Shape;1605;p57"/>
          <p:cNvSpPr txBox="1"/>
          <p:nvPr>
            <p:ph idx="2" type="body"/>
          </p:nvPr>
        </p:nvSpPr>
        <p:spPr>
          <a:xfrm>
            <a:off x="761800" y="1988825"/>
            <a:ext cx="11463300" cy="41499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b="1" lang="en" u="sng">
                <a:solidFill>
                  <a:schemeClr val="hlink"/>
                </a:solidFill>
                <a:hlinkClick r:id="rId3"/>
              </a:rPr>
              <a:t>go/system-arch</a:t>
            </a:r>
            <a:r>
              <a:rPr b="1" lang="en"/>
              <a:t>	</a:t>
            </a:r>
            <a:r>
              <a:rPr lang="en"/>
              <a:t>System Architecture of Databricks</a:t>
            </a:r>
            <a:endParaRPr/>
          </a:p>
          <a:p>
            <a:pPr indent="0" lvl="0" marL="0" rtl="0" algn="l">
              <a:spcBef>
                <a:spcPts val="1100"/>
              </a:spcBef>
              <a:spcAft>
                <a:spcPts val="0"/>
              </a:spcAft>
              <a:buNone/>
            </a:pPr>
            <a:r>
              <a:rPr b="1" lang="en" u="sng">
                <a:solidFill>
                  <a:schemeClr val="hlink"/>
                </a:solidFill>
                <a:hlinkClick r:id="rId4"/>
              </a:rPr>
              <a:t>go/arch-center</a:t>
            </a:r>
            <a:r>
              <a:rPr lang="en"/>
              <a:t>		Architecture Center (architectural assets with explanations)</a:t>
            </a:r>
            <a:endParaRPr/>
          </a:p>
          <a:p>
            <a:pPr indent="0" lvl="0" marL="0" rtl="0" algn="l">
              <a:lnSpc>
                <a:spcPct val="100000"/>
              </a:lnSpc>
              <a:spcBef>
                <a:spcPts val="1100"/>
              </a:spcBef>
              <a:spcAft>
                <a:spcPts val="0"/>
              </a:spcAft>
              <a:buNone/>
            </a:pPr>
            <a:r>
              <a:rPr lang="en"/>
              <a:t>									- </a:t>
            </a:r>
            <a:r>
              <a:rPr lang="en" sz="1900"/>
              <a:t>Architecture Positioning</a:t>
            </a:r>
            <a:endParaRPr sz="1900"/>
          </a:p>
          <a:p>
            <a:pPr indent="0" lvl="0" marL="0" rtl="0" algn="l">
              <a:lnSpc>
                <a:spcPct val="100000"/>
              </a:lnSpc>
              <a:spcBef>
                <a:spcPts val="1100"/>
              </a:spcBef>
              <a:spcAft>
                <a:spcPts val="0"/>
              </a:spcAft>
              <a:buNone/>
            </a:pPr>
            <a:r>
              <a:rPr lang="en" sz="1900"/>
              <a:t>									- Guiding Principles</a:t>
            </a:r>
            <a:endParaRPr sz="1900"/>
          </a:p>
          <a:p>
            <a:pPr indent="0" lvl="0" marL="0" rtl="0" algn="l">
              <a:lnSpc>
                <a:spcPct val="100000"/>
              </a:lnSpc>
              <a:spcBef>
                <a:spcPts val="1100"/>
              </a:spcBef>
              <a:spcAft>
                <a:spcPts val="0"/>
              </a:spcAft>
              <a:buNone/>
            </a:pPr>
            <a:r>
              <a:rPr lang="en" sz="1900"/>
              <a:t>									- Reference Architectures</a:t>
            </a:r>
            <a:endParaRPr sz="1900"/>
          </a:p>
          <a:p>
            <a:pPr indent="0" lvl="0" marL="0" rtl="0" algn="l">
              <a:lnSpc>
                <a:spcPct val="100000"/>
              </a:lnSpc>
              <a:spcBef>
                <a:spcPts val="1100"/>
              </a:spcBef>
              <a:spcAft>
                <a:spcPts val="0"/>
              </a:spcAft>
              <a:buNone/>
            </a:pPr>
            <a:r>
              <a:rPr lang="en" sz="1900"/>
              <a:t>									- Well-Architected Lakehouse</a:t>
            </a:r>
            <a:endParaRPr sz="1900"/>
          </a:p>
          <a:p>
            <a:pPr indent="0" lvl="0" marL="0" rtl="0" algn="l">
              <a:lnSpc>
                <a:spcPct val="100000"/>
              </a:lnSpc>
              <a:spcBef>
                <a:spcPts val="1100"/>
              </a:spcBef>
              <a:spcAft>
                <a:spcPts val="0"/>
              </a:spcAft>
              <a:buNone/>
            </a:pPr>
            <a:r>
              <a:rPr lang="en" sz="1900"/>
              <a:t>									- System Architecture (go/system-arch)</a:t>
            </a:r>
            <a:endParaRPr sz="1900"/>
          </a:p>
          <a:p>
            <a:pPr indent="0" lvl="0" marL="0" rtl="0" algn="l">
              <a:lnSpc>
                <a:spcPct val="100000"/>
              </a:lnSpc>
              <a:spcBef>
                <a:spcPts val="1100"/>
              </a:spcBef>
              <a:spcAft>
                <a:spcPts val="0"/>
              </a:spcAft>
              <a:buNone/>
            </a:pPr>
            <a:r>
              <a:rPr lang="en" sz="1900"/>
              <a:t>									- Architecture Patterns</a:t>
            </a:r>
            <a:endParaRPr sz="1900"/>
          </a:p>
          <a:p>
            <a:pPr indent="0" lvl="0" marL="0" rtl="0" algn="l">
              <a:lnSpc>
                <a:spcPct val="100000"/>
              </a:lnSpc>
              <a:spcBef>
                <a:spcPts val="1100"/>
              </a:spcBef>
              <a:spcAft>
                <a:spcPts val="0"/>
              </a:spcAft>
              <a:buNone/>
            </a:pPr>
            <a:r>
              <a:t/>
            </a:r>
            <a:endParaRPr sz="19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9" name="Shape 1609"/>
        <p:cNvGrpSpPr/>
        <p:nvPr/>
      </p:nvGrpSpPr>
      <p:grpSpPr>
        <a:xfrm>
          <a:off x="0" y="0"/>
          <a:ext cx="0" cy="0"/>
          <a:chOff x="0" y="0"/>
          <a:chExt cx="0" cy="0"/>
        </a:xfrm>
      </p:grpSpPr>
      <p:sp>
        <p:nvSpPr>
          <p:cNvPr id="1610" name="Google Shape;1610;p58"/>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611" name="Google Shape;1611;p58"/>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Template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5" name="Shape 1615"/>
        <p:cNvGrpSpPr/>
        <p:nvPr/>
      </p:nvGrpSpPr>
      <p:grpSpPr>
        <a:xfrm>
          <a:off x="0" y="0"/>
          <a:ext cx="0" cy="0"/>
          <a:chOff x="0" y="0"/>
          <a:chExt cx="0" cy="0"/>
        </a:xfrm>
      </p:grpSpPr>
      <p:sp>
        <p:nvSpPr>
          <p:cNvPr id="1616" name="Google Shape;1616;p59"/>
          <p:cNvSpPr txBox="1"/>
          <p:nvPr>
            <p:ph type="title"/>
          </p:nvPr>
        </p:nvSpPr>
        <p:spPr>
          <a:xfrm>
            <a:off x="749250" y="230800"/>
            <a:ext cx="111324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700">
                <a:solidFill>
                  <a:schemeClr val="dk2"/>
                </a:solidFill>
              </a:rPr>
              <a:t>&gt; Use </a:t>
            </a:r>
            <a:r>
              <a:rPr i="1" lang="en" sz="3700">
                <a:solidFill>
                  <a:schemeClr val="dk2"/>
                </a:solidFill>
              </a:rPr>
              <a:t>Layout ⇒ Reference Architecture Layout </a:t>
            </a:r>
            <a:r>
              <a:rPr lang="en" sz="3700">
                <a:solidFill>
                  <a:schemeClr val="dk2"/>
                </a:solidFill>
              </a:rPr>
              <a:t>&lt;</a:t>
            </a:r>
            <a:endParaRPr sz="3400">
              <a:solidFill>
                <a:schemeClr val="dk2"/>
              </a:solidFill>
            </a:endParaRPr>
          </a:p>
        </p:txBody>
      </p:sp>
      <p:sp>
        <p:nvSpPr>
          <p:cNvPr id="1617" name="Google Shape;1617;p59"/>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1" name="Shape 1621"/>
        <p:cNvGrpSpPr/>
        <p:nvPr/>
      </p:nvGrpSpPr>
      <p:grpSpPr>
        <a:xfrm>
          <a:off x="0" y="0"/>
          <a:ext cx="0" cy="0"/>
          <a:chOff x="0" y="0"/>
          <a:chExt cx="0" cy="0"/>
        </a:xfrm>
      </p:grpSpPr>
      <p:sp>
        <p:nvSpPr>
          <p:cNvPr id="1622" name="Google Shape;1622;p60"/>
          <p:cNvSpPr txBox="1"/>
          <p:nvPr>
            <p:ph type="title"/>
          </p:nvPr>
        </p:nvSpPr>
        <p:spPr>
          <a:xfrm>
            <a:off x="749245" y="2307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Slide with applied </a:t>
            </a:r>
            <a:r>
              <a:rPr lang="en"/>
              <a:t>layout</a:t>
            </a:r>
            <a:r>
              <a:rPr lang="en"/>
              <a:t> and icons added</a:t>
            </a:r>
            <a:endParaRPr/>
          </a:p>
        </p:txBody>
      </p:sp>
      <p:sp>
        <p:nvSpPr>
          <p:cNvPr id="1623" name="Google Shape;1623;p60"/>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624" name="Google Shape;1624;p60"/>
          <p:cNvSpPr/>
          <p:nvPr/>
        </p:nvSpPr>
        <p:spPr>
          <a:xfrm>
            <a:off x="7503748" y="3179562"/>
            <a:ext cx="685800" cy="274200"/>
          </a:xfrm>
          <a:prstGeom prst="roundRect">
            <a:avLst>
              <a:gd fmla="val 14403" name="adj"/>
            </a:avLst>
          </a:prstGeom>
          <a:no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Databricks  </a:t>
            </a:r>
            <a:br>
              <a:rPr lang="en" sz="900">
                <a:solidFill>
                  <a:srgbClr val="00A972"/>
                </a:solidFill>
                <a:latin typeface="DM Sans SemiBold"/>
                <a:ea typeface="DM Sans SemiBold"/>
                <a:cs typeface="DM Sans SemiBold"/>
                <a:sym typeface="DM Sans SemiBold"/>
              </a:rPr>
            </a:br>
            <a:r>
              <a:rPr lang="en" sz="900">
                <a:solidFill>
                  <a:srgbClr val="00A972"/>
                </a:solidFill>
                <a:latin typeface="DM Sans SemiBold"/>
                <a:ea typeface="DM Sans SemiBold"/>
                <a:cs typeface="DM Sans SemiBold"/>
                <a:sym typeface="DM Sans SemiBold"/>
              </a:rPr>
              <a:t>SQL</a:t>
            </a:r>
            <a:endParaRPr sz="900">
              <a:solidFill>
                <a:srgbClr val="00A972"/>
              </a:solidFill>
              <a:latin typeface="DM Sans SemiBold"/>
              <a:ea typeface="DM Sans SemiBold"/>
              <a:cs typeface="DM Sans SemiBold"/>
              <a:sym typeface="DM Sans SemiBold"/>
            </a:endParaRPr>
          </a:p>
        </p:txBody>
      </p:sp>
      <p:sp>
        <p:nvSpPr>
          <p:cNvPr id="1625" name="Google Shape;1625;p60"/>
          <p:cNvSpPr/>
          <p:nvPr/>
        </p:nvSpPr>
        <p:spPr>
          <a:xfrm>
            <a:off x="2143275" y="3179562"/>
            <a:ext cx="879600" cy="274200"/>
          </a:xfrm>
          <a:prstGeom prst="roundRect">
            <a:avLst>
              <a:gd fmla="val 14403" name="adj"/>
            </a:avLst>
          </a:prstGeom>
          <a:no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Auto</a:t>
            </a:r>
            <a:br>
              <a:rPr lang="en" sz="900">
                <a:solidFill>
                  <a:srgbClr val="00A972"/>
                </a:solidFill>
                <a:latin typeface="DM Sans SemiBold"/>
                <a:ea typeface="DM Sans SemiBold"/>
                <a:cs typeface="DM Sans SemiBold"/>
                <a:sym typeface="DM Sans SemiBold"/>
              </a:rPr>
            </a:br>
            <a:r>
              <a:rPr lang="en" sz="900">
                <a:solidFill>
                  <a:srgbClr val="00A972"/>
                </a:solidFill>
                <a:latin typeface="DM Sans SemiBold"/>
                <a:ea typeface="DM Sans SemiBold"/>
                <a:cs typeface="DM Sans SemiBold"/>
                <a:sym typeface="DM Sans SemiBold"/>
              </a:rPr>
              <a:t>Loader</a:t>
            </a:r>
            <a:endParaRPr sz="900">
              <a:solidFill>
                <a:srgbClr val="00A972"/>
              </a:solidFill>
              <a:latin typeface="DM Sans SemiBold"/>
              <a:ea typeface="DM Sans SemiBold"/>
              <a:cs typeface="DM Sans SemiBold"/>
              <a:sym typeface="DM Sans SemiBold"/>
            </a:endParaRPr>
          </a:p>
        </p:txBody>
      </p:sp>
      <p:sp>
        <p:nvSpPr>
          <p:cNvPr id="1626" name="Google Shape;1626;p60"/>
          <p:cNvSpPr/>
          <p:nvPr/>
        </p:nvSpPr>
        <p:spPr>
          <a:xfrm>
            <a:off x="7254663" y="4423213"/>
            <a:ext cx="740400" cy="274200"/>
          </a:xfrm>
          <a:prstGeom prst="roundRect">
            <a:avLst>
              <a:gd fmla="val 18778" name="adj"/>
            </a:avLst>
          </a:prstGeom>
          <a:solidFill>
            <a:srgbClr val="FFFFFF"/>
          </a:solid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Quality Monitoring</a:t>
            </a:r>
            <a:endParaRPr sz="900">
              <a:solidFill>
                <a:srgbClr val="00A972"/>
              </a:solidFill>
              <a:latin typeface="DM Sans SemiBold"/>
              <a:ea typeface="DM Sans SemiBold"/>
              <a:cs typeface="DM Sans SemiBold"/>
              <a:sym typeface="DM Sans SemiBold"/>
            </a:endParaRPr>
          </a:p>
        </p:txBody>
      </p:sp>
      <p:sp>
        <p:nvSpPr>
          <p:cNvPr id="1627" name="Google Shape;1627;p60"/>
          <p:cNvSpPr/>
          <p:nvPr/>
        </p:nvSpPr>
        <p:spPr>
          <a:xfrm>
            <a:off x="8279375" y="2268975"/>
            <a:ext cx="685800" cy="274200"/>
          </a:xfrm>
          <a:prstGeom prst="roundRect">
            <a:avLst>
              <a:gd fmla="val 14403" name="adj"/>
            </a:avLst>
          </a:prstGeom>
          <a:no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AI </a:t>
            </a:r>
            <a:br>
              <a:rPr lang="en" sz="900">
                <a:solidFill>
                  <a:srgbClr val="00A972"/>
                </a:solidFill>
                <a:latin typeface="DM Sans SemiBold"/>
                <a:ea typeface="DM Sans SemiBold"/>
                <a:cs typeface="DM Sans SemiBold"/>
                <a:sym typeface="DM Sans SemiBold"/>
              </a:rPr>
            </a:br>
            <a:r>
              <a:rPr lang="en" sz="900">
                <a:solidFill>
                  <a:srgbClr val="00A972"/>
                </a:solidFill>
                <a:latin typeface="DM Sans SemiBold"/>
                <a:ea typeface="DM Sans SemiBold"/>
                <a:cs typeface="DM Sans SemiBold"/>
                <a:sym typeface="DM Sans SemiBold"/>
              </a:rPr>
              <a:t>Gateway</a:t>
            </a:r>
            <a:endParaRPr sz="900">
              <a:solidFill>
                <a:srgbClr val="00A972"/>
              </a:solidFill>
              <a:latin typeface="DM Sans SemiBold"/>
              <a:ea typeface="DM Sans SemiBold"/>
              <a:cs typeface="DM Sans SemiBold"/>
              <a:sym typeface="DM Sans SemiBold"/>
            </a:endParaRPr>
          </a:p>
        </p:txBody>
      </p:sp>
      <p:sp>
        <p:nvSpPr>
          <p:cNvPr id="1628" name="Google Shape;1628;p60"/>
          <p:cNvSpPr/>
          <p:nvPr/>
        </p:nvSpPr>
        <p:spPr>
          <a:xfrm>
            <a:off x="7503751" y="2582483"/>
            <a:ext cx="685800" cy="275700"/>
          </a:xfrm>
          <a:prstGeom prst="roundRect">
            <a:avLst>
              <a:gd fmla="val 14403" name="adj"/>
            </a:avLst>
          </a:prstGeom>
          <a:no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Vector </a:t>
            </a:r>
            <a:r>
              <a:rPr lang="en" sz="900">
                <a:solidFill>
                  <a:srgbClr val="00A972"/>
                </a:solidFill>
                <a:latin typeface="DM Sans SemiBold"/>
                <a:ea typeface="DM Sans SemiBold"/>
                <a:cs typeface="DM Sans SemiBold"/>
                <a:sym typeface="DM Sans SemiBold"/>
              </a:rPr>
              <a:t>Search</a:t>
            </a:r>
            <a:endParaRPr sz="900">
              <a:solidFill>
                <a:srgbClr val="00A972"/>
              </a:solidFill>
              <a:latin typeface="DM Sans SemiBold"/>
              <a:ea typeface="DM Sans SemiBold"/>
              <a:cs typeface="DM Sans SemiBold"/>
              <a:sym typeface="DM Sans SemiBold"/>
            </a:endParaRPr>
          </a:p>
        </p:txBody>
      </p:sp>
      <p:sp>
        <p:nvSpPr>
          <p:cNvPr id="1629" name="Google Shape;1629;p60"/>
          <p:cNvSpPr/>
          <p:nvPr/>
        </p:nvSpPr>
        <p:spPr>
          <a:xfrm>
            <a:off x="4121924" y="4423213"/>
            <a:ext cx="640800" cy="274200"/>
          </a:xfrm>
          <a:prstGeom prst="roundRect">
            <a:avLst>
              <a:gd fmla="val 14403" name="adj"/>
            </a:avLst>
          </a:prstGeom>
          <a:solidFill>
            <a:srgbClr val="FFFFFF"/>
          </a:solid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Access</a:t>
            </a:r>
            <a:r>
              <a:rPr lang="en" sz="900">
                <a:solidFill>
                  <a:srgbClr val="00A972"/>
                </a:solidFill>
                <a:latin typeface="DM Sans SemiBold"/>
                <a:ea typeface="DM Sans SemiBold"/>
                <a:cs typeface="DM Sans SemiBold"/>
                <a:sym typeface="DM Sans SemiBold"/>
              </a:rPr>
              <a:t> Control</a:t>
            </a:r>
            <a:endParaRPr sz="900">
              <a:solidFill>
                <a:srgbClr val="00A972"/>
              </a:solidFill>
              <a:latin typeface="DM Sans SemiBold"/>
              <a:ea typeface="DM Sans SemiBold"/>
              <a:cs typeface="DM Sans SemiBold"/>
              <a:sym typeface="DM Sans SemiBold"/>
            </a:endParaRPr>
          </a:p>
        </p:txBody>
      </p:sp>
      <p:sp>
        <p:nvSpPr>
          <p:cNvPr id="1630" name="Google Shape;1630;p60"/>
          <p:cNvSpPr/>
          <p:nvPr/>
        </p:nvSpPr>
        <p:spPr>
          <a:xfrm>
            <a:off x="5693094" y="4423213"/>
            <a:ext cx="685800" cy="274200"/>
          </a:xfrm>
          <a:prstGeom prst="roundRect">
            <a:avLst>
              <a:gd fmla="val 14403" name="adj"/>
            </a:avLst>
          </a:prstGeom>
          <a:solidFill>
            <a:srgbClr val="FFFFFF"/>
          </a:solid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Data and AI Assets</a:t>
            </a:r>
            <a:endParaRPr sz="900">
              <a:solidFill>
                <a:srgbClr val="00A972"/>
              </a:solidFill>
              <a:latin typeface="DM Sans SemiBold"/>
              <a:ea typeface="DM Sans SemiBold"/>
              <a:cs typeface="DM Sans SemiBold"/>
              <a:sym typeface="DM Sans SemiBold"/>
            </a:endParaRPr>
          </a:p>
        </p:txBody>
      </p:sp>
      <p:sp>
        <p:nvSpPr>
          <p:cNvPr id="1631" name="Google Shape;1631;p60"/>
          <p:cNvSpPr/>
          <p:nvPr/>
        </p:nvSpPr>
        <p:spPr>
          <a:xfrm>
            <a:off x="6727000" y="5129400"/>
            <a:ext cx="666600" cy="292500"/>
          </a:xfrm>
          <a:prstGeom prst="roundRect">
            <a:avLst>
              <a:gd fmla="val 17511" name="adj"/>
            </a:avLst>
          </a:prstGeom>
          <a:no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     Delta   </a:t>
            </a:r>
            <a:br>
              <a:rPr lang="en" sz="900">
                <a:solidFill>
                  <a:srgbClr val="00A972"/>
                </a:solidFill>
                <a:latin typeface="DM Sans SemiBold"/>
                <a:ea typeface="DM Sans SemiBold"/>
                <a:cs typeface="DM Sans SemiBold"/>
                <a:sym typeface="DM Sans SemiBold"/>
              </a:rPr>
            </a:br>
            <a:r>
              <a:rPr lang="en" sz="900">
                <a:solidFill>
                  <a:srgbClr val="00A972"/>
                </a:solidFill>
                <a:latin typeface="DM Sans SemiBold"/>
                <a:ea typeface="DM Sans SemiBold"/>
                <a:cs typeface="DM Sans SemiBold"/>
                <a:sym typeface="DM Sans SemiBold"/>
              </a:rPr>
              <a:t>       Sharing</a:t>
            </a:r>
            <a:endParaRPr sz="900">
              <a:solidFill>
                <a:srgbClr val="00A972"/>
              </a:solidFill>
              <a:latin typeface="DM Sans SemiBold"/>
              <a:ea typeface="DM Sans SemiBold"/>
              <a:cs typeface="DM Sans SemiBold"/>
              <a:sym typeface="DM Sans SemiBold"/>
            </a:endParaRPr>
          </a:p>
        </p:txBody>
      </p:sp>
      <p:pic>
        <p:nvPicPr>
          <p:cNvPr id="1632" name="Google Shape;1632;p60"/>
          <p:cNvPicPr preferRelativeResize="0"/>
          <p:nvPr/>
        </p:nvPicPr>
        <p:blipFill>
          <a:blip r:embed="rId3">
            <a:alphaModFix/>
          </a:blip>
          <a:stretch>
            <a:fillRect/>
          </a:stretch>
        </p:blipFill>
        <p:spPr>
          <a:xfrm>
            <a:off x="6754210" y="5201783"/>
            <a:ext cx="173400" cy="145181"/>
          </a:xfrm>
          <a:prstGeom prst="rect">
            <a:avLst/>
          </a:prstGeom>
          <a:noFill/>
          <a:ln>
            <a:noFill/>
          </a:ln>
        </p:spPr>
      </p:pic>
      <p:sp>
        <p:nvSpPr>
          <p:cNvPr id="1633" name="Google Shape;1633;p60"/>
          <p:cNvSpPr/>
          <p:nvPr/>
        </p:nvSpPr>
        <p:spPr>
          <a:xfrm>
            <a:off x="2143275" y="2825260"/>
            <a:ext cx="879600" cy="274200"/>
          </a:xfrm>
          <a:prstGeom prst="roundRect">
            <a:avLst>
              <a:gd fmla="val 16667" name="adj"/>
            </a:avLst>
          </a:prstGeom>
          <a:no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Lakeflow Connect</a:t>
            </a:r>
            <a:endParaRPr sz="900">
              <a:solidFill>
                <a:srgbClr val="00A972"/>
              </a:solidFill>
              <a:latin typeface="DM Sans SemiBold"/>
              <a:ea typeface="DM Sans SemiBold"/>
              <a:cs typeface="DM Sans SemiBold"/>
              <a:sym typeface="DM Sans SemiBold"/>
            </a:endParaRPr>
          </a:p>
        </p:txBody>
      </p:sp>
      <p:sp>
        <p:nvSpPr>
          <p:cNvPr id="1634" name="Google Shape;1634;p60"/>
          <p:cNvSpPr/>
          <p:nvPr/>
        </p:nvSpPr>
        <p:spPr>
          <a:xfrm>
            <a:off x="6727824" y="3179562"/>
            <a:ext cx="685800" cy="274200"/>
          </a:xfrm>
          <a:prstGeom prst="roundRect">
            <a:avLst>
              <a:gd fmla="val 14403" name="adj"/>
            </a:avLst>
          </a:prstGeom>
          <a:no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AI Functions</a:t>
            </a:r>
            <a:endParaRPr sz="900">
              <a:solidFill>
                <a:srgbClr val="00A972"/>
              </a:solidFill>
              <a:latin typeface="DM Sans SemiBold"/>
              <a:ea typeface="DM Sans SemiBold"/>
              <a:cs typeface="DM Sans SemiBold"/>
              <a:sym typeface="DM Sans SemiBold"/>
            </a:endParaRPr>
          </a:p>
        </p:txBody>
      </p:sp>
      <p:sp>
        <p:nvSpPr>
          <p:cNvPr id="1635" name="Google Shape;1635;p60"/>
          <p:cNvSpPr/>
          <p:nvPr/>
        </p:nvSpPr>
        <p:spPr>
          <a:xfrm>
            <a:off x="4034612" y="5045792"/>
            <a:ext cx="704100" cy="292500"/>
          </a:xfrm>
          <a:prstGeom prst="roundRect">
            <a:avLst>
              <a:gd fmla="val 14403" name="adj"/>
            </a:avLst>
          </a:prstGeom>
          <a:solidFill>
            <a:srgbClr val="FFFFFF"/>
          </a:solid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        Delta</a:t>
            </a:r>
            <a:br>
              <a:rPr lang="en" sz="900">
                <a:solidFill>
                  <a:srgbClr val="00A972"/>
                </a:solidFill>
                <a:latin typeface="DM Sans SemiBold"/>
                <a:ea typeface="DM Sans SemiBold"/>
                <a:cs typeface="DM Sans SemiBold"/>
                <a:sym typeface="DM Sans SemiBold"/>
              </a:rPr>
            </a:br>
            <a:r>
              <a:rPr lang="en" sz="900">
                <a:solidFill>
                  <a:srgbClr val="00A972"/>
                </a:solidFill>
                <a:latin typeface="DM Sans SemiBold"/>
                <a:ea typeface="DM Sans SemiBold"/>
                <a:cs typeface="DM Sans SemiBold"/>
                <a:sym typeface="DM Sans SemiBold"/>
              </a:rPr>
              <a:t>        Lake</a:t>
            </a:r>
            <a:endParaRPr sz="900">
              <a:solidFill>
                <a:srgbClr val="00A972"/>
              </a:solidFill>
              <a:latin typeface="DM Sans SemiBold"/>
              <a:ea typeface="DM Sans SemiBold"/>
              <a:cs typeface="DM Sans SemiBold"/>
              <a:sym typeface="DM Sans SemiBold"/>
            </a:endParaRPr>
          </a:p>
        </p:txBody>
      </p:sp>
      <p:pic>
        <p:nvPicPr>
          <p:cNvPr id="1636" name="Google Shape;1636;p60"/>
          <p:cNvPicPr preferRelativeResize="0"/>
          <p:nvPr/>
        </p:nvPicPr>
        <p:blipFill>
          <a:blip r:embed="rId4">
            <a:alphaModFix/>
          </a:blip>
          <a:stretch>
            <a:fillRect/>
          </a:stretch>
        </p:blipFill>
        <p:spPr>
          <a:xfrm>
            <a:off x="4079443" y="5105255"/>
            <a:ext cx="200700" cy="191237"/>
          </a:xfrm>
          <a:prstGeom prst="rect">
            <a:avLst/>
          </a:prstGeom>
          <a:noFill/>
          <a:ln>
            <a:noFill/>
          </a:ln>
        </p:spPr>
      </p:pic>
      <p:sp>
        <p:nvSpPr>
          <p:cNvPr id="1637" name="Google Shape;1637;p60"/>
          <p:cNvSpPr/>
          <p:nvPr/>
        </p:nvSpPr>
        <p:spPr>
          <a:xfrm>
            <a:off x="4857709" y="4423213"/>
            <a:ext cx="740400" cy="274200"/>
          </a:xfrm>
          <a:prstGeom prst="roundRect">
            <a:avLst>
              <a:gd fmla="val 14403" name="adj"/>
            </a:avLst>
          </a:prstGeom>
          <a:solidFill>
            <a:srgbClr val="FFFFFF"/>
          </a:solid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Catalog and Lineage</a:t>
            </a:r>
            <a:endParaRPr sz="900">
              <a:solidFill>
                <a:srgbClr val="00A972"/>
              </a:solidFill>
              <a:latin typeface="DM Sans SemiBold"/>
              <a:ea typeface="DM Sans SemiBold"/>
              <a:cs typeface="DM Sans SemiBold"/>
              <a:sym typeface="DM Sans SemiBold"/>
            </a:endParaRPr>
          </a:p>
        </p:txBody>
      </p:sp>
      <p:sp>
        <p:nvSpPr>
          <p:cNvPr id="1638" name="Google Shape;1638;p60"/>
          <p:cNvSpPr/>
          <p:nvPr/>
        </p:nvSpPr>
        <p:spPr>
          <a:xfrm>
            <a:off x="5044022" y="5045792"/>
            <a:ext cx="704100" cy="292500"/>
          </a:xfrm>
          <a:prstGeom prst="roundRect">
            <a:avLst>
              <a:gd fmla="val 14403" name="adj"/>
            </a:avLst>
          </a:prstGeom>
          <a:solidFill>
            <a:srgbClr val="FFFFFF"/>
          </a:solid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200025"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Iceberg</a:t>
            </a:r>
            <a:endParaRPr sz="900">
              <a:solidFill>
                <a:srgbClr val="00A972"/>
              </a:solidFill>
              <a:latin typeface="DM Sans SemiBold"/>
              <a:ea typeface="DM Sans SemiBold"/>
              <a:cs typeface="DM Sans SemiBold"/>
              <a:sym typeface="DM Sans SemiBold"/>
            </a:endParaRPr>
          </a:p>
        </p:txBody>
      </p:sp>
      <p:sp>
        <p:nvSpPr>
          <p:cNvPr id="1639" name="Google Shape;1639;p60"/>
          <p:cNvSpPr/>
          <p:nvPr/>
        </p:nvSpPr>
        <p:spPr>
          <a:xfrm>
            <a:off x="3449100" y="2582475"/>
            <a:ext cx="983700" cy="274200"/>
          </a:xfrm>
          <a:prstGeom prst="roundRect">
            <a:avLst>
              <a:gd fmla="val 14403" name="adj"/>
            </a:avLst>
          </a:prstGeom>
          <a:no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Feature Engineering</a:t>
            </a:r>
            <a:endParaRPr sz="900">
              <a:solidFill>
                <a:srgbClr val="00A972"/>
              </a:solidFill>
              <a:latin typeface="DM Sans SemiBold"/>
              <a:ea typeface="DM Sans SemiBold"/>
              <a:cs typeface="DM Sans SemiBold"/>
              <a:sym typeface="DM Sans SemiBold"/>
            </a:endParaRPr>
          </a:p>
        </p:txBody>
      </p:sp>
      <p:sp>
        <p:nvSpPr>
          <p:cNvPr id="1640" name="Google Shape;1640;p60"/>
          <p:cNvSpPr/>
          <p:nvPr/>
        </p:nvSpPr>
        <p:spPr>
          <a:xfrm>
            <a:off x="3322840" y="4423213"/>
            <a:ext cx="704100" cy="274200"/>
          </a:xfrm>
          <a:prstGeom prst="roundRect">
            <a:avLst>
              <a:gd fmla="val 14403" name="adj"/>
            </a:avLst>
          </a:prstGeom>
          <a:solidFill>
            <a:srgbClr val="FFFFFF"/>
          </a:solid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Federation</a:t>
            </a:r>
            <a:endParaRPr sz="900">
              <a:solidFill>
                <a:srgbClr val="00A972"/>
              </a:solidFill>
              <a:latin typeface="DM Sans SemiBold"/>
              <a:ea typeface="DM Sans SemiBold"/>
              <a:cs typeface="DM Sans SemiBold"/>
              <a:sym typeface="DM Sans SemiBold"/>
            </a:endParaRPr>
          </a:p>
        </p:txBody>
      </p:sp>
      <p:sp>
        <p:nvSpPr>
          <p:cNvPr id="1641" name="Google Shape;1641;p60"/>
          <p:cNvSpPr/>
          <p:nvPr/>
        </p:nvSpPr>
        <p:spPr>
          <a:xfrm>
            <a:off x="8279671" y="2582483"/>
            <a:ext cx="685500" cy="275700"/>
          </a:xfrm>
          <a:prstGeom prst="roundRect">
            <a:avLst>
              <a:gd fmla="val 14403" name="adj"/>
            </a:avLst>
          </a:prstGeom>
          <a:no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Model</a:t>
            </a:r>
            <a:br>
              <a:rPr lang="en" sz="900">
                <a:solidFill>
                  <a:srgbClr val="00A972"/>
                </a:solidFill>
                <a:latin typeface="DM Sans SemiBold"/>
                <a:ea typeface="DM Sans SemiBold"/>
                <a:cs typeface="DM Sans SemiBold"/>
                <a:sym typeface="DM Sans SemiBold"/>
              </a:rPr>
            </a:br>
            <a:r>
              <a:rPr lang="en" sz="900">
                <a:solidFill>
                  <a:srgbClr val="00A972"/>
                </a:solidFill>
                <a:latin typeface="DM Sans SemiBold"/>
                <a:ea typeface="DM Sans SemiBold"/>
                <a:cs typeface="DM Sans SemiBold"/>
                <a:sym typeface="DM Sans SemiBold"/>
              </a:rPr>
              <a:t>Serving</a:t>
            </a:r>
            <a:endParaRPr sz="900">
              <a:solidFill>
                <a:srgbClr val="00A972"/>
              </a:solidFill>
              <a:latin typeface="DM Sans SemiBold"/>
              <a:ea typeface="DM Sans SemiBold"/>
              <a:cs typeface="DM Sans SemiBold"/>
              <a:sym typeface="DM Sans SemiBold"/>
            </a:endParaRPr>
          </a:p>
        </p:txBody>
      </p:sp>
      <p:sp>
        <p:nvSpPr>
          <p:cNvPr id="1642" name="Google Shape;1642;p60"/>
          <p:cNvSpPr/>
          <p:nvPr/>
        </p:nvSpPr>
        <p:spPr>
          <a:xfrm>
            <a:off x="3727425" y="3799000"/>
            <a:ext cx="704100" cy="274200"/>
          </a:xfrm>
          <a:prstGeom prst="roundRect">
            <a:avLst>
              <a:gd fmla="val 17361" name="adj"/>
            </a:avLst>
          </a:prstGeom>
          <a:solidFill>
            <a:srgbClr val="FFFFFF"/>
          </a:solid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Assistant</a:t>
            </a:r>
            <a:endParaRPr sz="900">
              <a:solidFill>
                <a:srgbClr val="00A972"/>
              </a:solidFill>
              <a:latin typeface="DM Sans SemiBold"/>
              <a:ea typeface="DM Sans SemiBold"/>
              <a:cs typeface="DM Sans SemiBold"/>
              <a:sym typeface="DM Sans SemiBold"/>
            </a:endParaRPr>
          </a:p>
        </p:txBody>
      </p:sp>
      <p:sp>
        <p:nvSpPr>
          <p:cNvPr id="1643" name="Google Shape;1643;p60"/>
          <p:cNvSpPr/>
          <p:nvPr/>
        </p:nvSpPr>
        <p:spPr>
          <a:xfrm>
            <a:off x="5461775" y="3802250"/>
            <a:ext cx="685800" cy="274200"/>
          </a:xfrm>
          <a:prstGeom prst="roundRect">
            <a:avLst>
              <a:gd fmla="val 17361" name="adj"/>
            </a:avLst>
          </a:prstGeom>
          <a:solidFill>
            <a:srgbClr val="FFFFFF"/>
          </a:solid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Predictive </a:t>
            </a:r>
            <a:br>
              <a:rPr lang="en" sz="900">
                <a:solidFill>
                  <a:srgbClr val="00A972"/>
                </a:solidFill>
                <a:latin typeface="DM Sans SemiBold"/>
                <a:ea typeface="DM Sans SemiBold"/>
                <a:cs typeface="DM Sans SemiBold"/>
                <a:sym typeface="DM Sans SemiBold"/>
              </a:rPr>
            </a:br>
            <a:r>
              <a:rPr lang="en" sz="900">
                <a:solidFill>
                  <a:srgbClr val="00A972"/>
                </a:solidFill>
                <a:latin typeface="DM Sans SemiBold"/>
                <a:ea typeface="DM Sans SemiBold"/>
                <a:cs typeface="DM Sans SemiBold"/>
                <a:sym typeface="DM Sans SemiBold"/>
              </a:rPr>
              <a:t>IO</a:t>
            </a:r>
            <a:endParaRPr sz="900">
              <a:solidFill>
                <a:srgbClr val="00A972"/>
              </a:solidFill>
              <a:latin typeface="DM Sans SemiBold"/>
              <a:ea typeface="DM Sans SemiBold"/>
              <a:cs typeface="DM Sans SemiBold"/>
              <a:sym typeface="DM Sans SemiBold"/>
            </a:endParaRPr>
          </a:p>
        </p:txBody>
      </p:sp>
      <p:sp>
        <p:nvSpPr>
          <p:cNvPr id="1644" name="Google Shape;1644;p60"/>
          <p:cNvSpPr/>
          <p:nvPr/>
        </p:nvSpPr>
        <p:spPr>
          <a:xfrm>
            <a:off x="4564824" y="3802250"/>
            <a:ext cx="761100" cy="274200"/>
          </a:xfrm>
          <a:prstGeom prst="roundRect">
            <a:avLst>
              <a:gd fmla="val 17361" name="adj"/>
            </a:avLst>
          </a:prstGeom>
          <a:solidFill>
            <a:srgbClr val="FFFFFF"/>
          </a:solid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Predictive </a:t>
            </a:r>
            <a:br>
              <a:rPr lang="en" sz="900">
                <a:solidFill>
                  <a:srgbClr val="00A972"/>
                </a:solidFill>
                <a:latin typeface="DM Sans SemiBold"/>
                <a:ea typeface="DM Sans SemiBold"/>
                <a:cs typeface="DM Sans SemiBold"/>
                <a:sym typeface="DM Sans SemiBold"/>
              </a:rPr>
            </a:br>
            <a:r>
              <a:rPr lang="en" sz="900">
                <a:solidFill>
                  <a:srgbClr val="00A972"/>
                </a:solidFill>
                <a:latin typeface="DM Sans SemiBold"/>
                <a:ea typeface="DM Sans SemiBold"/>
                <a:cs typeface="DM Sans SemiBold"/>
                <a:sym typeface="DM Sans SemiBold"/>
              </a:rPr>
              <a:t>optimization</a:t>
            </a:r>
            <a:endParaRPr sz="900">
              <a:solidFill>
                <a:srgbClr val="00A972"/>
              </a:solidFill>
              <a:latin typeface="DM Sans SemiBold"/>
              <a:ea typeface="DM Sans SemiBold"/>
              <a:cs typeface="DM Sans SemiBold"/>
              <a:sym typeface="DM Sans SemiBold"/>
            </a:endParaRPr>
          </a:p>
        </p:txBody>
      </p:sp>
      <p:sp>
        <p:nvSpPr>
          <p:cNvPr id="1645" name="Google Shape;1645;p60"/>
          <p:cNvSpPr/>
          <p:nvPr/>
        </p:nvSpPr>
        <p:spPr>
          <a:xfrm>
            <a:off x="8279671" y="3179562"/>
            <a:ext cx="685800" cy="274200"/>
          </a:xfrm>
          <a:prstGeom prst="roundRect">
            <a:avLst>
              <a:gd fmla="val 14403" name="adj"/>
            </a:avLst>
          </a:prstGeom>
          <a:no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Connectors</a:t>
            </a:r>
            <a:br>
              <a:rPr lang="en" sz="900">
                <a:solidFill>
                  <a:srgbClr val="00A972"/>
                </a:solidFill>
                <a:latin typeface="DM Sans SemiBold"/>
                <a:ea typeface="DM Sans SemiBold"/>
                <a:cs typeface="DM Sans SemiBold"/>
                <a:sym typeface="DM Sans SemiBold"/>
              </a:rPr>
            </a:br>
            <a:r>
              <a:rPr lang="en" sz="900">
                <a:solidFill>
                  <a:srgbClr val="00A972"/>
                </a:solidFill>
                <a:latin typeface="DM Sans SemiBold"/>
                <a:ea typeface="DM Sans SemiBold"/>
                <a:cs typeface="DM Sans SemiBold"/>
                <a:sym typeface="DM Sans SemiBold"/>
              </a:rPr>
              <a:t>and APIs</a:t>
            </a:r>
            <a:endParaRPr sz="900">
              <a:solidFill>
                <a:srgbClr val="00A972"/>
              </a:solidFill>
              <a:latin typeface="DM Sans SemiBold"/>
              <a:ea typeface="DM Sans SemiBold"/>
              <a:cs typeface="DM Sans SemiBold"/>
              <a:sym typeface="DM Sans SemiBold"/>
            </a:endParaRPr>
          </a:p>
        </p:txBody>
      </p:sp>
      <p:pic>
        <p:nvPicPr>
          <p:cNvPr id="1646" name="Google Shape;1646;p60"/>
          <p:cNvPicPr preferRelativeResize="0"/>
          <p:nvPr/>
        </p:nvPicPr>
        <p:blipFill>
          <a:blip r:embed="rId5">
            <a:alphaModFix/>
          </a:blip>
          <a:stretch>
            <a:fillRect/>
          </a:stretch>
        </p:blipFill>
        <p:spPr>
          <a:xfrm>
            <a:off x="5063635" y="5110355"/>
            <a:ext cx="173400" cy="173400"/>
          </a:xfrm>
          <a:prstGeom prst="rect">
            <a:avLst/>
          </a:prstGeom>
          <a:noFill/>
          <a:ln>
            <a:noFill/>
          </a:ln>
        </p:spPr>
      </p:pic>
      <p:sp>
        <p:nvSpPr>
          <p:cNvPr id="1647" name="Google Shape;1647;p60"/>
          <p:cNvSpPr/>
          <p:nvPr/>
        </p:nvSpPr>
        <p:spPr>
          <a:xfrm>
            <a:off x="9276575" y="3179562"/>
            <a:ext cx="796500" cy="274200"/>
          </a:xfrm>
          <a:prstGeom prst="roundRect">
            <a:avLst>
              <a:gd fmla="val 22836" name="adj"/>
            </a:avLst>
          </a:prstGeom>
          <a:solidFill>
            <a:srgbClr val="FFFFFF"/>
          </a:solid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Genie</a:t>
            </a:r>
            <a:endParaRPr sz="900">
              <a:solidFill>
                <a:srgbClr val="00A972"/>
              </a:solidFill>
              <a:latin typeface="DM Sans SemiBold"/>
              <a:ea typeface="DM Sans SemiBold"/>
              <a:cs typeface="DM Sans SemiBold"/>
              <a:sym typeface="DM Sans SemiBold"/>
            </a:endParaRPr>
          </a:p>
        </p:txBody>
      </p:sp>
      <p:sp>
        <p:nvSpPr>
          <p:cNvPr id="1648" name="Google Shape;1648;p60"/>
          <p:cNvSpPr/>
          <p:nvPr/>
        </p:nvSpPr>
        <p:spPr>
          <a:xfrm>
            <a:off x="9276575" y="2825260"/>
            <a:ext cx="796500" cy="274200"/>
          </a:xfrm>
          <a:prstGeom prst="roundRect">
            <a:avLst>
              <a:gd fmla="val 22836" name="adj"/>
            </a:avLst>
          </a:prstGeom>
          <a:solidFill>
            <a:srgbClr val="FFFFFF"/>
          </a:solid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Dashboards</a:t>
            </a:r>
            <a:endParaRPr sz="900">
              <a:solidFill>
                <a:srgbClr val="00A972"/>
              </a:solidFill>
              <a:latin typeface="DM Sans SemiBold"/>
              <a:ea typeface="DM Sans SemiBold"/>
              <a:cs typeface="DM Sans SemiBold"/>
              <a:sym typeface="DM Sans SemiBold"/>
            </a:endParaRPr>
          </a:p>
        </p:txBody>
      </p:sp>
      <p:sp>
        <p:nvSpPr>
          <p:cNvPr id="1649" name="Google Shape;1649;p60"/>
          <p:cNvSpPr/>
          <p:nvPr/>
        </p:nvSpPr>
        <p:spPr>
          <a:xfrm>
            <a:off x="9276575" y="3798990"/>
            <a:ext cx="796500" cy="274200"/>
          </a:xfrm>
          <a:prstGeom prst="roundRect">
            <a:avLst>
              <a:gd fmla="val 22836" name="adj"/>
            </a:avLst>
          </a:prstGeom>
          <a:solidFill>
            <a:srgbClr val="FFFFFF"/>
          </a:solid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Databricks </a:t>
            </a:r>
            <a:br>
              <a:rPr lang="en" sz="900">
                <a:solidFill>
                  <a:srgbClr val="00A972"/>
                </a:solidFill>
                <a:latin typeface="DM Sans SemiBold"/>
                <a:ea typeface="DM Sans SemiBold"/>
                <a:cs typeface="DM Sans SemiBold"/>
                <a:sym typeface="DM Sans SemiBold"/>
              </a:rPr>
            </a:br>
            <a:r>
              <a:rPr lang="en" sz="900">
                <a:solidFill>
                  <a:srgbClr val="00A972"/>
                </a:solidFill>
                <a:latin typeface="DM Sans SemiBold"/>
                <a:ea typeface="DM Sans SemiBold"/>
                <a:cs typeface="DM Sans SemiBold"/>
                <a:sym typeface="DM Sans SemiBold"/>
              </a:rPr>
              <a:t>Apps</a:t>
            </a:r>
            <a:endParaRPr sz="900">
              <a:solidFill>
                <a:srgbClr val="00A972"/>
              </a:solidFill>
              <a:latin typeface="DM Sans SemiBold"/>
              <a:ea typeface="DM Sans SemiBold"/>
              <a:cs typeface="DM Sans SemiBold"/>
              <a:sym typeface="DM Sans SemiBold"/>
            </a:endParaRPr>
          </a:p>
        </p:txBody>
      </p:sp>
      <p:sp>
        <p:nvSpPr>
          <p:cNvPr id="1650" name="Google Shape;1650;p60"/>
          <p:cNvSpPr/>
          <p:nvPr/>
        </p:nvSpPr>
        <p:spPr>
          <a:xfrm>
            <a:off x="5442734" y="1944562"/>
            <a:ext cx="740400" cy="186600"/>
          </a:xfrm>
          <a:prstGeom prst="roundRect">
            <a:avLst>
              <a:gd fmla="val 22186" name="adj"/>
            </a:avLst>
          </a:prstGeom>
          <a:no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rgbClr val="00A972"/>
                </a:solidFill>
                <a:latin typeface="DM Sans SemiBold"/>
                <a:ea typeface="DM Sans SemiBold"/>
                <a:cs typeface="DM Sans SemiBold"/>
                <a:sym typeface="DM Sans SemiBold"/>
              </a:rPr>
              <a:t>CI/CD tools</a:t>
            </a:r>
            <a:endParaRPr sz="900">
              <a:solidFill>
                <a:srgbClr val="00A972"/>
              </a:solidFill>
              <a:latin typeface="DM Sans SemiBold"/>
              <a:ea typeface="DM Sans SemiBold"/>
              <a:cs typeface="DM Sans SemiBold"/>
              <a:sym typeface="DM Sans SemiBold"/>
            </a:endParaRPr>
          </a:p>
        </p:txBody>
      </p:sp>
      <p:sp>
        <p:nvSpPr>
          <p:cNvPr id="1651" name="Google Shape;1651;p60"/>
          <p:cNvSpPr/>
          <p:nvPr/>
        </p:nvSpPr>
        <p:spPr>
          <a:xfrm>
            <a:off x="6254520" y="1941700"/>
            <a:ext cx="685500" cy="186600"/>
          </a:xfrm>
          <a:prstGeom prst="roundRect">
            <a:avLst>
              <a:gd fmla="val 22186" name="adj"/>
            </a:avLst>
          </a:prstGeom>
          <a:no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rgbClr val="00A972"/>
                </a:solidFill>
                <a:latin typeface="DM Sans SemiBold"/>
                <a:ea typeface="DM Sans SemiBold"/>
                <a:cs typeface="DM Sans SemiBold"/>
                <a:sym typeface="DM Sans SemiBold"/>
              </a:rPr>
              <a:t>DataOps</a:t>
            </a:r>
            <a:endParaRPr sz="900">
              <a:solidFill>
                <a:srgbClr val="00A972"/>
              </a:solidFill>
              <a:latin typeface="DM Sans SemiBold"/>
              <a:ea typeface="DM Sans SemiBold"/>
              <a:cs typeface="DM Sans SemiBold"/>
              <a:sym typeface="DM Sans SemiBold"/>
            </a:endParaRPr>
          </a:p>
        </p:txBody>
      </p:sp>
      <p:sp>
        <p:nvSpPr>
          <p:cNvPr id="1652" name="Google Shape;1652;p60"/>
          <p:cNvSpPr/>
          <p:nvPr/>
        </p:nvSpPr>
        <p:spPr>
          <a:xfrm>
            <a:off x="4491750" y="1944550"/>
            <a:ext cx="879600" cy="186600"/>
          </a:xfrm>
          <a:prstGeom prst="roundRect">
            <a:avLst>
              <a:gd fmla="val 22186" name="adj"/>
            </a:avLst>
          </a:prstGeom>
          <a:no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rgbClr val="00A972"/>
                </a:solidFill>
                <a:latin typeface="DM Sans SemiBold"/>
                <a:ea typeface="DM Sans SemiBold"/>
                <a:cs typeface="DM Sans SemiBold"/>
                <a:sym typeface="DM Sans SemiBold"/>
              </a:rPr>
              <a:t>Lakeflow Jobs</a:t>
            </a:r>
            <a:endParaRPr sz="900">
              <a:solidFill>
                <a:srgbClr val="00A972"/>
              </a:solidFill>
              <a:latin typeface="DM Sans SemiBold"/>
              <a:ea typeface="DM Sans SemiBold"/>
              <a:cs typeface="DM Sans SemiBold"/>
              <a:sym typeface="DM Sans SemiBold"/>
            </a:endParaRPr>
          </a:p>
        </p:txBody>
      </p:sp>
      <p:sp>
        <p:nvSpPr>
          <p:cNvPr id="1653" name="Google Shape;1653;p60"/>
          <p:cNvSpPr/>
          <p:nvPr/>
        </p:nvSpPr>
        <p:spPr>
          <a:xfrm>
            <a:off x="7011406" y="1941712"/>
            <a:ext cx="685800" cy="186600"/>
          </a:xfrm>
          <a:prstGeom prst="roundRect">
            <a:avLst>
              <a:gd fmla="val 22186" name="adj"/>
            </a:avLst>
          </a:prstGeom>
          <a:no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solidFill>
                  <a:srgbClr val="00A972"/>
                </a:solidFill>
                <a:latin typeface="DM Sans SemiBold"/>
                <a:ea typeface="DM Sans SemiBold"/>
                <a:cs typeface="DM Sans SemiBold"/>
                <a:sym typeface="DM Sans SemiBold"/>
              </a:rPr>
              <a:t>MLOps</a:t>
            </a:r>
            <a:endParaRPr sz="900">
              <a:solidFill>
                <a:srgbClr val="00A972"/>
              </a:solidFill>
              <a:latin typeface="DM Sans SemiBold"/>
              <a:ea typeface="DM Sans SemiBold"/>
              <a:cs typeface="DM Sans SemiBold"/>
              <a:sym typeface="DM Sans SemiBold"/>
            </a:endParaRPr>
          </a:p>
        </p:txBody>
      </p:sp>
      <p:sp>
        <p:nvSpPr>
          <p:cNvPr id="1654" name="Google Shape;1654;p60"/>
          <p:cNvSpPr/>
          <p:nvPr/>
        </p:nvSpPr>
        <p:spPr>
          <a:xfrm>
            <a:off x="5718734" y="2582475"/>
            <a:ext cx="685500" cy="274200"/>
          </a:xfrm>
          <a:prstGeom prst="roundRect">
            <a:avLst>
              <a:gd fmla="val 17595" name="adj"/>
            </a:avLst>
          </a:prstGeom>
          <a:no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Gen AI</a:t>
            </a:r>
            <a:endParaRPr sz="900">
              <a:solidFill>
                <a:srgbClr val="00A972"/>
              </a:solidFill>
              <a:latin typeface="DM Sans SemiBold"/>
              <a:ea typeface="DM Sans SemiBold"/>
              <a:cs typeface="DM Sans SemiBold"/>
              <a:sym typeface="DM Sans SemiBold"/>
            </a:endParaRPr>
          </a:p>
        </p:txBody>
      </p:sp>
      <p:sp>
        <p:nvSpPr>
          <p:cNvPr id="1655" name="Google Shape;1655;p60"/>
          <p:cNvSpPr/>
          <p:nvPr/>
        </p:nvSpPr>
        <p:spPr>
          <a:xfrm>
            <a:off x="4893050" y="2582475"/>
            <a:ext cx="761100" cy="274200"/>
          </a:xfrm>
          <a:prstGeom prst="roundRect">
            <a:avLst>
              <a:gd fmla="val 17595" name="adj"/>
            </a:avLst>
          </a:prstGeom>
          <a:no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Traditional ML</a:t>
            </a:r>
            <a:endParaRPr sz="900">
              <a:solidFill>
                <a:srgbClr val="00A972"/>
              </a:solidFill>
              <a:latin typeface="DM Sans SemiBold"/>
              <a:ea typeface="DM Sans SemiBold"/>
              <a:cs typeface="DM Sans SemiBold"/>
              <a:sym typeface="DM Sans SemiBold"/>
            </a:endParaRPr>
          </a:p>
        </p:txBody>
      </p:sp>
      <p:sp>
        <p:nvSpPr>
          <p:cNvPr id="1656" name="Google Shape;1656;p60"/>
          <p:cNvSpPr/>
          <p:nvPr/>
        </p:nvSpPr>
        <p:spPr>
          <a:xfrm>
            <a:off x="3998451" y="3179562"/>
            <a:ext cx="983700" cy="274200"/>
          </a:xfrm>
          <a:prstGeom prst="roundRect">
            <a:avLst>
              <a:gd fmla="val 18115" name="adj"/>
            </a:avLst>
          </a:prstGeom>
          <a:no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Lakeflow Declar- ative Pipelines</a:t>
            </a:r>
            <a:endParaRPr baseline="30000" sz="900">
              <a:solidFill>
                <a:srgbClr val="00A972"/>
              </a:solidFill>
              <a:latin typeface="DM Sans SemiBold"/>
              <a:ea typeface="DM Sans SemiBold"/>
              <a:cs typeface="DM Sans SemiBold"/>
              <a:sym typeface="DM Sans SemiBold"/>
            </a:endParaRPr>
          </a:p>
        </p:txBody>
      </p:sp>
      <p:sp>
        <p:nvSpPr>
          <p:cNvPr id="1657" name="Google Shape;1657;p60"/>
          <p:cNvSpPr/>
          <p:nvPr/>
        </p:nvSpPr>
        <p:spPr>
          <a:xfrm>
            <a:off x="5115450" y="3179550"/>
            <a:ext cx="761100" cy="274200"/>
          </a:xfrm>
          <a:prstGeom prst="roundRect">
            <a:avLst>
              <a:gd fmla="val 19944" name="adj"/>
            </a:avLst>
          </a:prstGeom>
          <a:no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Spark /</a:t>
            </a:r>
            <a:br>
              <a:rPr lang="en" sz="900">
                <a:solidFill>
                  <a:srgbClr val="00A972"/>
                </a:solidFill>
                <a:latin typeface="DM Sans SemiBold"/>
                <a:ea typeface="DM Sans SemiBold"/>
                <a:cs typeface="DM Sans SemiBold"/>
                <a:sym typeface="DM Sans SemiBold"/>
              </a:rPr>
            </a:br>
            <a:r>
              <a:rPr lang="en" sz="900">
                <a:solidFill>
                  <a:srgbClr val="00A972"/>
                </a:solidFill>
                <a:latin typeface="DM Sans SemiBold"/>
                <a:ea typeface="DM Sans SemiBold"/>
                <a:cs typeface="DM Sans SemiBold"/>
                <a:sym typeface="DM Sans SemiBold"/>
              </a:rPr>
              <a:t>Photon</a:t>
            </a:r>
            <a:endParaRPr sz="900">
              <a:solidFill>
                <a:srgbClr val="00A972"/>
              </a:solidFill>
              <a:latin typeface="DM Sans SemiBold"/>
              <a:ea typeface="DM Sans SemiBold"/>
              <a:cs typeface="DM Sans SemiBold"/>
              <a:sym typeface="DM Sans SemiBold"/>
            </a:endParaRPr>
          </a:p>
        </p:txBody>
      </p:sp>
      <p:sp>
        <p:nvSpPr>
          <p:cNvPr id="1658" name="Google Shape;1658;p60"/>
          <p:cNvSpPr/>
          <p:nvPr/>
        </p:nvSpPr>
        <p:spPr>
          <a:xfrm>
            <a:off x="6473878" y="4423213"/>
            <a:ext cx="685800" cy="274200"/>
          </a:xfrm>
          <a:prstGeom prst="roundRect">
            <a:avLst>
              <a:gd fmla="val 14403" name="adj"/>
            </a:avLst>
          </a:prstGeom>
          <a:solidFill>
            <a:srgbClr val="FFFFFF"/>
          </a:solidFill>
          <a:ln cap="flat" cmpd="sng" w="9525">
            <a:solidFill>
              <a:srgbClr val="00A97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900">
                <a:solidFill>
                  <a:srgbClr val="00A972"/>
                </a:solidFill>
                <a:latin typeface="DM Sans SemiBold"/>
                <a:ea typeface="DM Sans SemiBold"/>
                <a:cs typeface="DM Sans SemiBold"/>
                <a:sym typeface="DM Sans SemiBold"/>
              </a:rPr>
              <a:t>Business Semantics</a:t>
            </a:r>
            <a:endParaRPr sz="900">
              <a:solidFill>
                <a:srgbClr val="00A972"/>
              </a:solidFill>
              <a:latin typeface="DM Sans SemiBold"/>
              <a:ea typeface="DM Sans SemiBold"/>
              <a:cs typeface="DM Sans SemiBold"/>
              <a:sym typeface="DM Sans SemiBold"/>
            </a:endParaRPr>
          </a:p>
        </p:txBody>
      </p:sp>
      <p:sp>
        <p:nvSpPr>
          <p:cNvPr id="1659" name="Google Shape;1659;p60"/>
          <p:cNvSpPr/>
          <p:nvPr/>
        </p:nvSpPr>
        <p:spPr>
          <a:xfrm>
            <a:off x="7446063" y="4997825"/>
            <a:ext cx="549000" cy="223800"/>
          </a:xfrm>
          <a:prstGeom prst="roundRect">
            <a:avLst>
              <a:gd fmla="val 20281" name="adj"/>
            </a:avLst>
          </a:prstGeom>
          <a:solidFill>
            <a:srgbClr val="FFFFFF"/>
          </a:solidFill>
          <a:ln cap="flat" cmpd="sng" w="9525">
            <a:solidFill>
              <a:srgbClr val="00A972"/>
            </a:solidFill>
            <a:prstDash val="solid"/>
            <a:round/>
            <a:headEnd len="sm" w="sm" type="none"/>
            <a:tailEnd len="sm" w="sm" type="none"/>
          </a:ln>
        </p:spPr>
        <p:txBody>
          <a:bodyPr anchorCtr="0" anchor="ctr" bIns="0" lIns="0" spcFirstLastPara="1" rIns="0" wrap="square" tIns="9125">
            <a:noAutofit/>
          </a:bodyPr>
          <a:lstStyle/>
          <a:p>
            <a:pPr indent="0" lvl="0" marL="0" rtl="0" algn="ctr">
              <a:lnSpc>
                <a:spcPct val="75000"/>
              </a:lnSpc>
              <a:spcBef>
                <a:spcPts val="0"/>
              </a:spcBef>
              <a:spcAft>
                <a:spcPts val="0"/>
              </a:spcAft>
              <a:buNone/>
            </a:pPr>
            <a:r>
              <a:rPr lang="en" sz="900">
                <a:solidFill>
                  <a:srgbClr val="00A972"/>
                </a:solidFill>
                <a:latin typeface="DM Sans SemiBold"/>
                <a:ea typeface="DM Sans SemiBold"/>
                <a:cs typeface="DM Sans SemiBold"/>
                <a:sym typeface="DM Sans SemiBold"/>
              </a:rPr>
              <a:t>Market</a:t>
            </a:r>
            <a:br>
              <a:rPr lang="en" sz="900">
                <a:solidFill>
                  <a:srgbClr val="00A972"/>
                </a:solidFill>
                <a:latin typeface="DM Sans SemiBold"/>
                <a:ea typeface="DM Sans SemiBold"/>
                <a:cs typeface="DM Sans SemiBold"/>
                <a:sym typeface="DM Sans SemiBold"/>
              </a:rPr>
            </a:br>
            <a:r>
              <a:rPr lang="en" sz="900">
                <a:solidFill>
                  <a:srgbClr val="00A972"/>
                </a:solidFill>
                <a:latin typeface="DM Sans SemiBold"/>
                <a:ea typeface="DM Sans SemiBold"/>
                <a:cs typeface="DM Sans SemiBold"/>
                <a:sym typeface="DM Sans SemiBold"/>
              </a:rPr>
              <a:t>place</a:t>
            </a:r>
            <a:endParaRPr sz="900">
              <a:solidFill>
                <a:srgbClr val="00A972"/>
              </a:solidFill>
              <a:latin typeface="DM Sans SemiBold"/>
              <a:ea typeface="DM Sans SemiBold"/>
              <a:cs typeface="DM Sans SemiBold"/>
              <a:sym typeface="DM Sans SemiBold"/>
            </a:endParaRPr>
          </a:p>
        </p:txBody>
      </p:sp>
      <p:sp>
        <p:nvSpPr>
          <p:cNvPr id="1660" name="Google Shape;1660;p60"/>
          <p:cNvSpPr/>
          <p:nvPr/>
        </p:nvSpPr>
        <p:spPr>
          <a:xfrm>
            <a:off x="7446063" y="5249871"/>
            <a:ext cx="549000" cy="223800"/>
          </a:xfrm>
          <a:prstGeom prst="roundRect">
            <a:avLst>
              <a:gd fmla="val 20281" name="adj"/>
            </a:avLst>
          </a:prstGeom>
          <a:solidFill>
            <a:srgbClr val="FFFFFF"/>
          </a:solidFill>
          <a:ln cap="flat" cmpd="sng" w="9525">
            <a:solidFill>
              <a:srgbClr val="00A972"/>
            </a:solidFill>
            <a:prstDash val="solid"/>
            <a:round/>
            <a:headEnd len="sm" w="sm" type="none"/>
            <a:tailEnd len="sm" w="sm" type="none"/>
          </a:ln>
        </p:spPr>
        <p:txBody>
          <a:bodyPr anchorCtr="0" anchor="ctr" bIns="0" lIns="0" spcFirstLastPara="1" rIns="0" wrap="square" tIns="9125">
            <a:noAutofit/>
          </a:bodyPr>
          <a:lstStyle/>
          <a:p>
            <a:pPr indent="0" lvl="0" marL="0" rtl="0" algn="ctr">
              <a:lnSpc>
                <a:spcPct val="75000"/>
              </a:lnSpc>
              <a:spcBef>
                <a:spcPts val="0"/>
              </a:spcBef>
              <a:spcAft>
                <a:spcPts val="0"/>
              </a:spcAft>
              <a:buNone/>
            </a:pPr>
            <a:r>
              <a:rPr lang="en" sz="900">
                <a:solidFill>
                  <a:srgbClr val="00A972"/>
                </a:solidFill>
                <a:latin typeface="DM Sans SemiBold"/>
                <a:ea typeface="DM Sans SemiBold"/>
                <a:cs typeface="DM Sans SemiBold"/>
                <a:sym typeface="DM Sans SemiBold"/>
              </a:rPr>
              <a:t>Clean Rooms</a:t>
            </a:r>
            <a:endParaRPr sz="900">
              <a:solidFill>
                <a:srgbClr val="00A972"/>
              </a:solidFill>
              <a:latin typeface="DM Sans SemiBold"/>
              <a:ea typeface="DM Sans SemiBold"/>
              <a:cs typeface="DM Sans SemiBold"/>
              <a:sym typeface="DM Sans SemiBo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4" name="Shape 1664"/>
        <p:cNvGrpSpPr/>
        <p:nvPr/>
      </p:nvGrpSpPr>
      <p:grpSpPr>
        <a:xfrm>
          <a:off x="0" y="0"/>
          <a:ext cx="0" cy="0"/>
          <a:chOff x="0" y="0"/>
          <a:chExt cx="0" cy="0"/>
        </a:xfrm>
      </p:grpSpPr>
      <p:sp>
        <p:nvSpPr>
          <p:cNvPr id="1665" name="Google Shape;1665;p61"/>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666" name="Google Shape;1666;p61"/>
          <p:cNvSpPr txBox="1"/>
          <p:nvPr>
            <p:ph type="title"/>
          </p:nvPr>
        </p:nvSpPr>
        <p:spPr>
          <a:xfrm>
            <a:off x="292050" y="230800"/>
            <a:ext cx="115680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700">
                <a:solidFill>
                  <a:schemeClr val="dk2"/>
                </a:solidFill>
              </a:rPr>
              <a:t>&gt; Use </a:t>
            </a:r>
            <a:r>
              <a:rPr i="1" lang="en" sz="3700">
                <a:solidFill>
                  <a:schemeClr val="dk2"/>
                </a:solidFill>
              </a:rPr>
              <a:t>Layout ⇒ Reference Architecture Layout</a:t>
            </a:r>
            <a:r>
              <a:rPr i="1" lang="en" sz="3700">
                <a:solidFill>
                  <a:schemeClr val="dk2"/>
                </a:solidFill>
              </a:rPr>
              <a:t> (2)</a:t>
            </a:r>
            <a:r>
              <a:rPr i="1" lang="en" sz="3700">
                <a:solidFill>
                  <a:schemeClr val="dk2"/>
                </a:solidFill>
              </a:rPr>
              <a:t> </a:t>
            </a:r>
            <a:r>
              <a:rPr lang="en" sz="3700">
                <a:solidFill>
                  <a:schemeClr val="dk2"/>
                </a:solidFill>
              </a:rPr>
              <a:t>&lt;</a:t>
            </a:r>
            <a:endParaRPr sz="34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0" name="Shape 1670"/>
        <p:cNvGrpSpPr/>
        <p:nvPr/>
      </p:nvGrpSpPr>
      <p:grpSpPr>
        <a:xfrm>
          <a:off x="0" y="0"/>
          <a:ext cx="0" cy="0"/>
          <a:chOff x="0" y="0"/>
          <a:chExt cx="0" cy="0"/>
        </a:xfrm>
      </p:grpSpPr>
      <p:sp>
        <p:nvSpPr>
          <p:cNvPr id="1671" name="Google Shape;1671;p62"/>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672" name="Google Shape;1672;p62"/>
          <p:cNvSpPr/>
          <p:nvPr/>
        </p:nvSpPr>
        <p:spPr>
          <a:xfrm>
            <a:off x="8507191" y="4382125"/>
            <a:ext cx="740400" cy="925800"/>
          </a:xfrm>
          <a:prstGeom prst="roundRect">
            <a:avLst>
              <a:gd fmla="val 8407" name="adj"/>
            </a:avLst>
          </a:prstGeom>
          <a:solidFill>
            <a:srgbClr val="FFFFFF"/>
          </a:solidFill>
          <a:ln cap="flat" cmpd="sng" w="9525">
            <a:solidFill>
              <a:srgbClr val="90A5B1"/>
            </a:solidFill>
            <a:prstDash val="solid"/>
            <a:round/>
            <a:headEnd len="sm" w="sm" type="none"/>
            <a:tailEnd len="sm" w="sm" type="none"/>
          </a:ln>
        </p:spPr>
        <p:txBody>
          <a:bodyPr anchorCtr="0" anchor="t" bIns="0" lIns="0" spcFirstLastPara="1" rIns="0" wrap="square" tIns="0">
            <a:noAutofit/>
          </a:bodyPr>
          <a:lstStyle/>
          <a:p>
            <a:pPr indent="0" lvl="0" marL="0" rtl="0" algn="ctr">
              <a:lnSpc>
                <a:spcPct val="90000"/>
              </a:lnSpc>
              <a:spcBef>
                <a:spcPts val="0"/>
              </a:spcBef>
              <a:spcAft>
                <a:spcPts val="0"/>
              </a:spcAft>
              <a:buClr>
                <a:srgbClr val="000000"/>
              </a:buClr>
              <a:buSzPts val="900"/>
              <a:buFont typeface="Arial"/>
              <a:buNone/>
            </a:pPr>
            <a:r>
              <a:rPr lang="en" sz="1100">
                <a:solidFill>
                  <a:schemeClr val="accent5"/>
                </a:solidFill>
                <a:latin typeface="DM Sans SemiBold"/>
                <a:ea typeface="DM Sans SemiBold"/>
                <a:cs typeface="DM Sans SemiBold"/>
                <a:sym typeface="DM Sans SemiBold"/>
              </a:rPr>
              <a:t>Operat. </a:t>
            </a:r>
            <a:br>
              <a:rPr lang="en" sz="1100">
                <a:solidFill>
                  <a:schemeClr val="accent5"/>
                </a:solidFill>
                <a:latin typeface="DM Sans SemiBold"/>
                <a:ea typeface="DM Sans SemiBold"/>
                <a:cs typeface="DM Sans SemiBold"/>
                <a:sym typeface="DM Sans SemiBold"/>
              </a:rPr>
            </a:br>
            <a:r>
              <a:rPr lang="en" sz="1100">
                <a:solidFill>
                  <a:schemeClr val="accent5"/>
                </a:solidFill>
                <a:latin typeface="DM Sans SemiBold"/>
                <a:ea typeface="DM Sans SemiBold"/>
                <a:cs typeface="DM Sans SemiBold"/>
                <a:sym typeface="DM Sans SemiBold"/>
              </a:rPr>
              <a:t>DBs</a:t>
            </a:r>
            <a:endParaRPr sz="1100">
              <a:solidFill>
                <a:schemeClr val="accent5"/>
              </a:solidFill>
              <a:latin typeface="DM Sans SemiBold"/>
              <a:ea typeface="DM Sans SemiBold"/>
              <a:cs typeface="DM Sans SemiBold"/>
              <a:sym typeface="DM Sans SemiBold"/>
            </a:endParaRPr>
          </a:p>
        </p:txBody>
      </p:sp>
      <p:sp>
        <p:nvSpPr>
          <p:cNvPr id="1673" name="Google Shape;1673;p62"/>
          <p:cNvSpPr/>
          <p:nvPr/>
        </p:nvSpPr>
        <p:spPr>
          <a:xfrm>
            <a:off x="739450" y="5032575"/>
            <a:ext cx="1041900" cy="861300"/>
          </a:xfrm>
          <a:prstGeom prst="roundRect">
            <a:avLst>
              <a:gd fmla="val 9540" name="adj"/>
            </a:avLst>
          </a:prstGeom>
          <a:solidFill>
            <a:srgbClr val="FFFFFF"/>
          </a:solidFill>
          <a:ln cap="flat" cmpd="sng" w="9525">
            <a:solidFill>
              <a:srgbClr val="90A5B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1674" name="Google Shape;1674;p62"/>
          <p:cNvSpPr txBox="1"/>
          <p:nvPr/>
        </p:nvSpPr>
        <p:spPr>
          <a:xfrm rot="-5398802">
            <a:off x="123455" y="5390558"/>
            <a:ext cx="8610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dk1"/>
                </a:solidFill>
                <a:latin typeface="DM Sans"/>
                <a:ea typeface="DM Sans"/>
                <a:cs typeface="DM Sans"/>
                <a:sym typeface="DM Sans"/>
              </a:rPr>
              <a:t>Federation</a:t>
            </a:r>
            <a:endParaRPr sz="1100">
              <a:solidFill>
                <a:schemeClr val="dk1"/>
              </a:solidFill>
              <a:latin typeface="DM Sans"/>
              <a:ea typeface="DM Sans"/>
              <a:cs typeface="DM Sans"/>
              <a:sym typeface="DM Sans"/>
            </a:endParaRPr>
          </a:p>
        </p:txBody>
      </p:sp>
      <p:sp>
        <p:nvSpPr>
          <p:cNvPr id="1675" name="Google Shape;1675;p62"/>
          <p:cNvSpPr/>
          <p:nvPr/>
        </p:nvSpPr>
        <p:spPr>
          <a:xfrm>
            <a:off x="9515475" y="5097300"/>
            <a:ext cx="1082100" cy="628500"/>
          </a:xfrm>
          <a:prstGeom prst="roundRect">
            <a:avLst>
              <a:gd fmla="val 12082" name="adj"/>
            </a:avLst>
          </a:prstGeom>
          <a:noFill/>
          <a:ln cap="flat" cmpd="sng" w="9525">
            <a:solidFill>
              <a:srgbClr val="90A5B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100">
                <a:solidFill>
                  <a:schemeClr val="accent5"/>
                </a:solidFill>
                <a:latin typeface="DM Sans SemiBold"/>
                <a:ea typeface="DM Sans SemiBold"/>
                <a:cs typeface="DM Sans SemiBold"/>
                <a:sym typeface="DM Sans SemiBold"/>
              </a:rPr>
              <a:t>3rd party</a:t>
            </a:r>
            <a:endParaRPr sz="1100">
              <a:solidFill>
                <a:schemeClr val="accent5"/>
              </a:solidFill>
              <a:latin typeface="DM Sans SemiBold"/>
              <a:ea typeface="DM Sans SemiBold"/>
              <a:cs typeface="DM Sans SemiBold"/>
              <a:sym typeface="DM Sans SemiBold"/>
            </a:endParaRPr>
          </a:p>
        </p:txBody>
      </p:sp>
      <p:sp>
        <p:nvSpPr>
          <p:cNvPr id="1676" name="Google Shape;1676;p62"/>
          <p:cNvSpPr/>
          <p:nvPr/>
        </p:nvSpPr>
        <p:spPr>
          <a:xfrm>
            <a:off x="9515475" y="4405473"/>
            <a:ext cx="1082100" cy="630900"/>
          </a:xfrm>
          <a:prstGeom prst="roundRect">
            <a:avLst>
              <a:gd fmla="val 13760" name="adj"/>
            </a:avLst>
          </a:prstGeom>
          <a:noFill/>
          <a:ln cap="flat" cmpd="sng" w="9525">
            <a:solidFill>
              <a:srgbClr val="90A5B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100">
                <a:solidFill>
                  <a:schemeClr val="accent5"/>
                </a:solidFill>
                <a:latin typeface="DM Sans SemiBold"/>
                <a:ea typeface="DM Sans SemiBold"/>
                <a:cs typeface="DM Sans SemiBold"/>
                <a:sym typeface="DM Sans SemiBold"/>
              </a:rPr>
              <a:t>Business Apps</a:t>
            </a:r>
            <a:endParaRPr sz="1100">
              <a:solidFill>
                <a:schemeClr val="accent5"/>
              </a:solidFill>
              <a:latin typeface="DM Sans SemiBold"/>
              <a:ea typeface="DM Sans SemiBold"/>
              <a:cs typeface="DM Sans SemiBold"/>
              <a:sym typeface="DM Sans SemiBold"/>
            </a:endParaRPr>
          </a:p>
        </p:txBody>
      </p:sp>
      <p:sp>
        <p:nvSpPr>
          <p:cNvPr id="1677" name="Google Shape;1677;p62"/>
          <p:cNvSpPr/>
          <p:nvPr/>
        </p:nvSpPr>
        <p:spPr>
          <a:xfrm>
            <a:off x="11004175" y="907625"/>
            <a:ext cx="1044000" cy="275700"/>
          </a:xfrm>
          <a:prstGeom prst="rect">
            <a:avLst/>
          </a:prstGeom>
          <a:solidFill>
            <a:srgbClr val="D9D9D9"/>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lang="en" sz="1300">
                <a:solidFill>
                  <a:srgbClr val="434343"/>
                </a:solidFill>
                <a:latin typeface="DM Sans SemiBold"/>
                <a:ea typeface="DM Sans SemiBold"/>
                <a:cs typeface="DM Sans SemiBold"/>
                <a:sym typeface="DM Sans SemiBold"/>
              </a:rPr>
              <a:t>Integrate</a:t>
            </a:r>
            <a:endParaRPr sz="1300">
              <a:solidFill>
                <a:srgbClr val="434343"/>
              </a:solidFill>
              <a:latin typeface="DM Sans SemiBold"/>
              <a:ea typeface="DM Sans SemiBold"/>
              <a:cs typeface="DM Sans SemiBold"/>
              <a:sym typeface="DM Sans SemiBold"/>
            </a:endParaRPr>
          </a:p>
        </p:txBody>
      </p:sp>
      <p:grpSp>
        <p:nvGrpSpPr>
          <p:cNvPr id="1678" name="Google Shape;1678;p62"/>
          <p:cNvGrpSpPr/>
          <p:nvPr/>
        </p:nvGrpSpPr>
        <p:grpSpPr>
          <a:xfrm>
            <a:off x="11113077" y="3330573"/>
            <a:ext cx="826200" cy="375010"/>
            <a:chOff x="11113077" y="3330573"/>
            <a:chExt cx="826200" cy="375010"/>
          </a:xfrm>
        </p:grpSpPr>
        <p:sp>
          <p:nvSpPr>
            <p:cNvPr id="1679" name="Google Shape;1679;p62"/>
            <p:cNvSpPr txBox="1"/>
            <p:nvPr/>
          </p:nvSpPr>
          <p:spPr>
            <a:xfrm>
              <a:off x="11113077" y="3566983"/>
              <a:ext cx="826200" cy="1386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lang="en" sz="1000">
                  <a:solidFill>
                    <a:schemeClr val="accent1"/>
                  </a:solidFill>
                  <a:latin typeface="DM Sans Medium"/>
                  <a:ea typeface="DM Sans Medium"/>
                  <a:cs typeface="DM Sans Medium"/>
                  <a:sym typeface="DM Sans Medium"/>
                </a:rPr>
                <a:t>Hugging Face</a:t>
              </a:r>
              <a:endParaRPr sz="1000">
                <a:solidFill>
                  <a:schemeClr val="accent1"/>
                </a:solidFill>
                <a:latin typeface="DM Sans Medium"/>
                <a:ea typeface="DM Sans Medium"/>
                <a:cs typeface="DM Sans Medium"/>
                <a:sym typeface="DM Sans Medium"/>
              </a:endParaRPr>
            </a:p>
          </p:txBody>
        </p:sp>
        <p:pic>
          <p:nvPicPr>
            <p:cNvPr id="1680" name="Google Shape;1680;p62"/>
            <p:cNvPicPr preferRelativeResize="0"/>
            <p:nvPr/>
          </p:nvPicPr>
          <p:blipFill>
            <a:blip r:embed="rId3">
              <a:alphaModFix/>
            </a:blip>
            <a:stretch>
              <a:fillRect/>
            </a:stretch>
          </p:blipFill>
          <p:spPr>
            <a:xfrm>
              <a:off x="11404415" y="3330573"/>
              <a:ext cx="243525" cy="227812"/>
            </a:xfrm>
            <a:prstGeom prst="rect">
              <a:avLst/>
            </a:prstGeom>
            <a:noFill/>
            <a:ln>
              <a:noFill/>
            </a:ln>
          </p:spPr>
        </p:pic>
      </p:grpSp>
      <p:grpSp>
        <p:nvGrpSpPr>
          <p:cNvPr id="1681" name="Google Shape;1681;p62"/>
          <p:cNvGrpSpPr/>
          <p:nvPr/>
        </p:nvGrpSpPr>
        <p:grpSpPr>
          <a:xfrm>
            <a:off x="11251677" y="3769430"/>
            <a:ext cx="549000" cy="381496"/>
            <a:chOff x="11251677" y="3769430"/>
            <a:chExt cx="549000" cy="381496"/>
          </a:xfrm>
        </p:grpSpPr>
        <p:pic>
          <p:nvPicPr>
            <p:cNvPr id="1682" name="Google Shape;1682;p62"/>
            <p:cNvPicPr preferRelativeResize="0"/>
            <p:nvPr/>
          </p:nvPicPr>
          <p:blipFill>
            <a:blip r:embed="rId4">
              <a:alphaModFix/>
            </a:blip>
            <a:stretch>
              <a:fillRect/>
            </a:stretch>
          </p:blipFill>
          <p:spPr>
            <a:xfrm>
              <a:off x="11418927" y="3769430"/>
              <a:ext cx="214500" cy="217452"/>
            </a:xfrm>
            <a:prstGeom prst="rect">
              <a:avLst/>
            </a:prstGeom>
            <a:noFill/>
            <a:ln>
              <a:noFill/>
            </a:ln>
          </p:spPr>
        </p:pic>
        <p:sp>
          <p:nvSpPr>
            <p:cNvPr id="1683" name="Google Shape;1683;p62"/>
            <p:cNvSpPr txBox="1"/>
            <p:nvPr/>
          </p:nvSpPr>
          <p:spPr>
            <a:xfrm>
              <a:off x="11251677" y="3997026"/>
              <a:ext cx="5490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chemeClr val="accent1"/>
                  </a:solidFill>
                  <a:latin typeface="DM Sans Medium"/>
                  <a:ea typeface="DM Sans Medium"/>
                  <a:cs typeface="DM Sans Medium"/>
                  <a:sym typeface="DM Sans Medium"/>
                </a:rPr>
                <a:t>OpenAI</a:t>
              </a:r>
              <a:endParaRPr sz="1000">
                <a:solidFill>
                  <a:schemeClr val="accent1"/>
                </a:solidFill>
                <a:latin typeface="DM Sans Medium"/>
                <a:ea typeface="DM Sans Medium"/>
                <a:cs typeface="DM Sans Medium"/>
                <a:sym typeface="DM Sans Medium"/>
              </a:endParaRPr>
            </a:p>
          </p:txBody>
        </p:sp>
      </p:grpSp>
      <p:sp>
        <p:nvSpPr>
          <p:cNvPr id="1684" name="Google Shape;1684;p62"/>
          <p:cNvSpPr/>
          <p:nvPr/>
        </p:nvSpPr>
        <p:spPr>
          <a:xfrm>
            <a:off x="11028177" y="1314228"/>
            <a:ext cx="996000" cy="207000"/>
          </a:xfrm>
          <a:prstGeom prst="roundRect">
            <a:avLst>
              <a:gd fmla="val 16667" name="adj"/>
            </a:avLst>
          </a:prstGeom>
          <a:solidFill>
            <a:srgbClr val="FFFFFF"/>
          </a:solidFill>
          <a:ln cap="flat" cmpd="sng" w="9525">
            <a:solidFill>
              <a:srgbClr val="B7B7B7"/>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rgbClr val="666666"/>
                </a:solidFill>
                <a:latin typeface="DM Sans SemiBold"/>
                <a:ea typeface="DM Sans SemiBold"/>
                <a:cs typeface="DM Sans SemiBold"/>
                <a:sym typeface="DM Sans SemiBold"/>
              </a:rPr>
              <a:t>ID Provider</a:t>
            </a:r>
            <a:endParaRPr sz="1100">
              <a:solidFill>
                <a:srgbClr val="666666"/>
              </a:solidFill>
              <a:latin typeface="DM Sans SemiBold"/>
              <a:ea typeface="DM Sans SemiBold"/>
              <a:cs typeface="DM Sans SemiBold"/>
              <a:sym typeface="DM Sans SemiBold"/>
            </a:endParaRPr>
          </a:p>
        </p:txBody>
      </p:sp>
      <p:sp>
        <p:nvSpPr>
          <p:cNvPr id="1685" name="Google Shape;1685;p62"/>
          <p:cNvSpPr/>
          <p:nvPr/>
        </p:nvSpPr>
        <p:spPr>
          <a:xfrm>
            <a:off x="11028177" y="2126608"/>
            <a:ext cx="996000" cy="207000"/>
          </a:xfrm>
          <a:prstGeom prst="roundRect">
            <a:avLst>
              <a:gd fmla="val 16667" name="adj"/>
            </a:avLst>
          </a:prstGeom>
          <a:solidFill>
            <a:srgbClr val="FFFFFF"/>
          </a:solidFill>
          <a:ln cap="flat" cmpd="sng" w="9525">
            <a:solidFill>
              <a:srgbClr val="B7B7B7"/>
            </a:solidFill>
            <a:prstDash val="solid"/>
            <a:round/>
            <a:headEnd len="sm" w="sm" type="none"/>
            <a:tailEnd len="sm" w="sm" type="none"/>
          </a:ln>
        </p:spPr>
        <p:txBody>
          <a:bodyPr anchorCtr="0" anchor="ctr" bIns="146275" lIns="0" spcFirstLastPara="1" rIns="0" wrap="square" tIns="146275">
            <a:noAutofit/>
          </a:bodyPr>
          <a:lstStyle/>
          <a:p>
            <a:pPr indent="0" lvl="0" marL="0" marR="0" rtl="0" algn="ctr">
              <a:lnSpc>
                <a:spcPct val="90000"/>
              </a:lnSpc>
              <a:spcBef>
                <a:spcPts val="0"/>
              </a:spcBef>
              <a:spcAft>
                <a:spcPts val="0"/>
              </a:spcAft>
              <a:buClr>
                <a:srgbClr val="000000"/>
              </a:buClr>
              <a:buSzPts val="1600"/>
              <a:buFont typeface="Arial"/>
              <a:buNone/>
            </a:pPr>
            <a:r>
              <a:rPr lang="en" sz="1100">
                <a:solidFill>
                  <a:srgbClr val="666666"/>
                </a:solidFill>
                <a:latin typeface="DM Sans SemiBold"/>
                <a:ea typeface="DM Sans SemiBold"/>
                <a:cs typeface="DM Sans SemiBold"/>
                <a:sym typeface="DM Sans SemiBold"/>
              </a:rPr>
              <a:t>Governance</a:t>
            </a:r>
            <a:endParaRPr i="0" sz="1100" u="none" cap="none" strike="noStrike">
              <a:solidFill>
                <a:srgbClr val="666666"/>
              </a:solidFill>
              <a:latin typeface="DM Sans SemiBold"/>
              <a:ea typeface="DM Sans SemiBold"/>
              <a:cs typeface="DM Sans SemiBold"/>
              <a:sym typeface="DM Sans SemiBold"/>
            </a:endParaRPr>
          </a:p>
        </p:txBody>
      </p:sp>
      <p:sp>
        <p:nvSpPr>
          <p:cNvPr id="1686" name="Google Shape;1686;p62"/>
          <p:cNvSpPr/>
          <p:nvPr/>
        </p:nvSpPr>
        <p:spPr>
          <a:xfrm>
            <a:off x="11028177" y="3051149"/>
            <a:ext cx="996000" cy="207000"/>
          </a:xfrm>
          <a:prstGeom prst="roundRect">
            <a:avLst>
              <a:gd fmla="val 16667" name="adj"/>
            </a:avLst>
          </a:prstGeom>
          <a:solidFill>
            <a:srgbClr val="FFFFFF"/>
          </a:solidFill>
          <a:ln cap="flat" cmpd="sng" w="9525">
            <a:solidFill>
              <a:srgbClr val="B7B7B7"/>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rgbClr val="666666"/>
                </a:solidFill>
                <a:latin typeface="DM Sans SemiBold"/>
                <a:ea typeface="DM Sans SemiBold"/>
                <a:cs typeface="DM Sans SemiBold"/>
                <a:sym typeface="DM Sans SemiBold"/>
              </a:rPr>
              <a:t>AI Services</a:t>
            </a:r>
            <a:endParaRPr sz="1100">
              <a:solidFill>
                <a:srgbClr val="666666"/>
              </a:solidFill>
              <a:latin typeface="DM Sans SemiBold"/>
              <a:ea typeface="DM Sans SemiBold"/>
              <a:cs typeface="DM Sans SemiBold"/>
              <a:sym typeface="DM Sans SemiBold"/>
            </a:endParaRPr>
          </a:p>
        </p:txBody>
      </p:sp>
      <p:sp>
        <p:nvSpPr>
          <p:cNvPr id="1687" name="Google Shape;1687;p62"/>
          <p:cNvSpPr txBox="1"/>
          <p:nvPr/>
        </p:nvSpPr>
        <p:spPr>
          <a:xfrm>
            <a:off x="11251677" y="4111646"/>
            <a:ext cx="5490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600">
                <a:solidFill>
                  <a:schemeClr val="accent5"/>
                </a:solidFill>
                <a:latin typeface="DM Sans SemiBold"/>
                <a:ea typeface="DM Sans SemiBold"/>
                <a:cs typeface="DM Sans SemiBold"/>
                <a:sym typeface="DM Sans SemiBold"/>
              </a:rPr>
              <a:t>…</a:t>
            </a:r>
            <a:endParaRPr sz="1600">
              <a:solidFill>
                <a:schemeClr val="accent5"/>
              </a:solidFill>
              <a:latin typeface="DM Sans SemiBold"/>
              <a:ea typeface="DM Sans SemiBold"/>
              <a:cs typeface="DM Sans SemiBold"/>
              <a:sym typeface="DM Sans SemiBold"/>
            </a:endParaRPr>
          </a:p>
        </p:txBody>
      </p:sp>
      <p:grpSp>
        <p:nvGrpSpPr>
          <p:cNvPr id="1688" name="Google Shape;1688;p62"/>
          <p:cNvGrpSpPr/>
          <p:nvPr/>
        </p:nvGrpSpPr>
        <p:grpSpPr>
          <a:xfrm>
            <a:off x="9534531" y="5311470"/>
            <a:ext cx="1044000" cy="400292"/>
            <a:chOff x="9534531" y="5311470"/>
            <a:chExt cx="1044000" cy="400292"/>
          </a:xfrm>
        </p:grpSpPr>
        <p:sp>
          <p:nvSpPr>
            <p:cNvPr id="1689" name="Google Shape;1689;p62"/>
            <p:cNvSpPr txBox="1"/>
            <p:nvPr/>
          </p:nvSpPr>
          <p:spPr>
            <a:xfrm>
              <a:off x="9534531" y="5557862"/>
              <a:ext cx="10440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000">
                  <a:solidFill>
                    <a:srgbClr val="1B5162"/>
                  </a:solidFill>
                  <a:latin typeface="DM Sans Medium"/>
                  <a:ea typeface="DM Sans Medium"/>
                  <a:cs typeface="DM Sans Medium"/>
                  <a:sym typeface="DM Sans Medium"/>
                </a:rPr>
                <a:t>Data Consumer</a:t>
              </a:r>
              <a:endParaRPr sz="1000">
                <a:solidFill>
                  <a:srgbClr val="1B5162"/>
                </a:solidFill>
                <a:latin typeface="DM Sans Medium"/>
                <a:ea typeface="DM Sans Medium"/>
                <a:cs typeface="DM Sans Medium"/>
                <a:sym typeface="DM Sans Medium"/>
              </a:endParaRPr>
            </a:p>
          </p:txBody>
        </p:sp>
        <p:pic>
          <p:nvPicPr>
            <p:cNvPr id="1690" name="Google Shape;1690;p62"/>
            <p:cNvPicPr preferRelativeResize="0"/>
            <p:nvPr/>
          </p:nvPicPr>
          <p:blipFill>
            <a:blip r:embed="rId5">
              <a:alphaModFix/>
            </a:blip>
            <a:stretch>
              <a:fillRect/>
            </a:stretch>
          </p:blipFill>
          <p:spPr>
            <a:xfrm>
              <a:off x="9908871" y="5311470"/>
              <a:ext cx="265176" cy="265176"/>
            </a:xfrm>
            <a:prstGeom prst="rect">
              <a:avLst/>
            </a:prstGeom>
            <a:noFill/>
            <a:ln>
              <a:noFill/>
            </a:ln>
          </p:spPr>
        </p:pic>
      </p:grpSp>
      <p:grpSp>
        <p:nvGrpSpPr>
          <p:cNvPr id="1691" name="Google Shape;1691;p62"/>
          <p:cNvGrpSpPr/>
          <p:nvPr/>
        </p:nvGrpSpPr>
        <p:grpSpPr>
          <a:xfrm>
            <a:off x="9534525" y="4640673"/>
            <a:ext cx="1044000" cy="391902"/>
            <a:chOff x="9534525" y="4640673"/>
            <a:chExt cx="1044000" cy="391902"/>
          </a:xfrm>
        </p:grpSpPr>
        <p:sp>
          <p:nvSpPr>
            <p:cNvPr id="1692" name="Google Shape;1692;p62"/>
            <p:cNvSpPr txBox="1"/>
            <p:nvPr/>
          </p:nvSpPr>
          <p:spPr>
            <a:xfrm>
              <a:off x="9534525" y="4878675"/>
              <a:ext cx="10440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000">
                  <a:solidFill>
                    <a:srgbClr val="1B5162"/>
                  </a:solidFill>
                  <a:latin typeface="DM Sans Medium"/>
                  <a:ea typeface="DM Sans Medium"/>
                  <a:cs typeface="DM Sans Medium"/>
                  <a:sym typeface="DM Sans Medium"/>
                </a:rPr>
                <a:t>Business/AI App</a:t>
              </a:r>
              <a:endParaRPr sz="1000">
                <a:solidFill>
                  <a:srgbClr val="1B5162"/>
                </a:solidFill>
                <a:latin typeface="DM Sans Medium"/>
                <a:ea typeface="DM Sans Medium"/>
                <a:cs typeface="DM Sans Medium"/>
                <a:sym typeface="DM Sans Medium"/>
              </a:endParaRPr>
            </a:p>
          </p:txBody>
        </p:sp>
        <p:pic>
          <p:nvPicPr>
            <p:cNvPr id="1693" name="Google Shape;1693;p62"/>
            <p:cNvPicPr preferRelativeResize="0"/>
            <p:nvPr/>
          </p:nvPicPr>
          <p:blipFill>
            <a:blip r:embed="rId5">
              <a:alphaModFix/>
            </a:blip>
            <a:stretch>
              <a:fillRect/>
            </a:stretch>
          </p:blipFill>
          <p:spPr>
            <a:xfrm>
              <a:off x="9908871" y="4640673"/>
              <a:ext cx="265176" cy="265176"/>
            </a:xfrm>
            <a:prstGeom prst="rect">
              <a:avLst/>
            </a:prstGeom>
            <a:noFill/>
            <a:ln>
              <a:noFill/>
            </a:ln>
          </p:spPr>
        </p:pic>
      </p:grpSp>
      <p:grpSp>
        <p:nvGrpSpPr>
          <p:cNvPr id="1694" name="Google Shape;1694;p62"/>
          <p:cNvGrpSpPr/>
          <p:nvPr/>
        </p:nvGrpSpPr>
        <p:grpSpPr>
          <a:xfrm>
            <a:off x="8536471" y="4729701"/>
            <a:ext cx="685500" cy="542111"/>
            <a:chOff x="8536471" y="4748911"/>
            <a:chExt cx="685500" cy="542111"/>
          </a:xfrm>
        </p:grpSpPr>
        <p:sp>
          <p:nvSpPr>
            <p:cNvPr id="1695" name="Google Shape;1695;p62"/>
            <p:cNvSpPr txBox="1"/>
            <p:nvPr/>
          </p:nvSpPr>
          <p:spPr>
            <a:xfrm>
              <a:off x="8536471" y="4970922"/>
              <a:ext cx="685500" cy="3201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 sz="1000">
                  <a:solidFill>
                    <a:srgbClr val="1B5162"/>
                  </a:solidFill>
                  <a:latin typeface="DM Sans Medium"/>
                  <a:ea typeface="DM Sans Medium"/>
                  <a:cs typeface="DM Sans Medium"/>
                  <a:sym typeface="DM Sans Medium"/>
                </a:rPr>
                <a:t>RDBMs,</a:t>
              </a:r>
              <a:br>
                <a:rPr lang="en" sz="1000">
                  <a:solidFill>
                    <a:srgbClr val="1B5162"/>
                  </a:solidFill>
                  <a:latin typeface="DM Sans Medium"/>
                  <a:ea typeface="DM Sans Medium"/>
                  <a:cs typeface="DM Sans Medium"/>
                  <a:sym typeface="DM Sans Medium"/>
                </a:rPr>
              </a:br>
              <a:r>
                <a:rPr lang="en" sz="1000">
                  <a:solidFill>
                    <a:srgbClr val="1B5162"/>
                  </a:solidFill>
                  <a:latin typeface="DM Sans Medium"/>
                  <a:ea typeface="DM Sans Medium"/>
                  <a:cs typeface="DM Sans Medium"/>
                  <a:sym typeface="DM Sans Medium"/>
                </a:rPr>
                <a:t>KV store</a:t>
              </a:r>
              <a:endParaRPr sz="1000">
                <a:solidFill>
                  <a:srgbClr val="1B5162"/>
                </a:solidFill>
                <a:latin typeface="DM Sans Medium"/>
                <a:ea typeface="DM Sans Medium"/>
                <a:cs typeface="DM Sans Medium"/>
                <a:sym typeface="DM Sans Medium"/>
              </a:endParaRPr>
            </a:p>
          </p:txBody>
        </p:sp>
        <p:pic>
          <p:nvPicPr>
            <p:cNvPr id="1696" name="Google Shape;1696;p62"/>
            <p:cNvPicPr preferRelativeResize="0"/>
            <p:nvPr/>
          </p:nvPicPr>
          <p:blipFill>
            <a:blip r:embed="rId6">
              <a:alphaModFix/>
            </a:blip>
            <a:stretch>
              <a:fillRect/>
            </a:stretch>
          </p:blipFill>
          <p:spPr>
            <a:xfrm>
              <a:off x="8731571" y="4748911"/>
              <a:ext cx="265176" cy="265176"/>
            </a:xfrm>
            <a:prstGeom prst="rect">
              <a:avLst/>
            </a:prstGeom>
            <a:noFill/>
            <a:ln>
              <a:noFill/>
            </a:ln>
          </p:spPr>
        </p:pic>
      </p:grpSp>
      <p:grpSp>
        <p:nvGrpSpPr>
          <p:cNvPr id="1697" name="Google Shape;1697;p62"/>
          <p:cNvGrpSpPr/>
          <p:nvPr/>
        </p:nvGrpSpPr>
        <p:grpSpPr>
          <a:xfrm>
            <a:off x="11103625" y="1568073"/>
            <a:ext cx="845100" cy="405937"/>
            <a:chOff x="11103625" y="1625063"/>
            <a:chExt cx="845100" cy="405937"/>
          </a:xfrm>
        </p:grpSpPr>
        <p:sp>
          <p:nvSpPr>
            <p:cNvPr id="1698" name="Google Shape;1698;p62"/>
            <p:cNvSpPr txBox="1"/>
            <p:nvPr/>
          </p:nvSpPr>
          <p:spPr>
            <a:xfrm>
              <a:off x="11103625" y="1877100"/>
              <a:ext cx="845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000">
                  <a:solidFill>
                    <a:srgbClr val="1B5162"/>
                  </a:solidFill>
                  <a:latin typeface="DM Sans Medium"/>
                  <a:ea typeface="DM Sans Medium"/>
                  <a:cs typeface="DM Sans Medium"/>
                  <a:sym typeface="DM Sans Medium"/>
                </a:rPr>
                <a:t>ID Provider</a:t>
              </a:r>
              <a:endParaRPr sz="1000">
                <a:solidFill>
                  <a:srgbClr val="1B5162"/>
                </a:solidFill>
                <a:latin typeface="DM Sans Medium"/>
                <a:ea typeface="DM Sans Medium"/>
                <a:cs typeface="DM Sans Medium"/>
                <a:sym typeface="DM Sans Medium"/>
              </a:endParaRPr>
            </a:p>
          </p:txBody>
        </p:sp>
        <p:pic>
          <p:nvPicPr>
            <p:cNvPr id="1699" name="Google Shape;1699;p62"/>
            <p:cNvPicPr preferRelativeResize="0"/>
            <p:nvPr/>
          </p:nvPicPr>
          <p:blipFill>
            <a:blip r:embed="rId7">
              <a:alphaModFix/>
            </a:blip>
            <a:stretch>
              <a:fillRect/>
            </a:stretch>
          </p:blipFill>
          <p:spPr>
            <a:xfrm>
              <a:off x="11357335" y="1625063"/>
              <a:ext cx="265176" cy="265176"/>
            </a:xfrm>
            <a:prstGeom prst="rect">
              <a:avLst/>
            </a:prstGeom>
            <a:noFill/>
            <a:ln>
              <a:noFill/>
            </a:ln>
          </p:spPr>
        </p:pic>
      </p:grpSp>
      <p:grpSp>
        <p:nvGrpSpPr>
          <p:cNvPr id="1700" name="Google Shape;1700;p62"/>
          <p:cNvGrpSpPr/>
          <p:nvPr/>
        </p:nvGrpSpPr>
        <p:grpSpPr>
          <a:xfrm>
            <a:off x="11208627" y="2393410"/>
            <a:ext cx="635100" cy="543395"/>
            <a:chOff x="11208627" y="2393410"/>
            <a:chExt cx="635100" cy="543395"/>
          </a:xfrm>
        </p:grpSpPr>
        <p:sp>
          <p:nvSpPr>
            <p:cNvPr id="1701" name="Google Shape;1701;p62"/>
            <p:cNvSpPr txBox="1"/>
            <p:nvPr/>
          </p:nvSpPr>
          <p:spPr>
            <a:xfrm>
              <a:off x="11208627" y="2659605"/>
              <a:ext cx="6351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1000">
                  <a:solidFill>
                    <a:srgbClr val="1B5162"/>
                  </a:solidFill>
                  <a:latin typeface="DM Sans Medium"/>
                  <a:ea typeface="DM Sans Medium"/>
                  <a:cs typeface="DM Sans Medium"/>
                  <a:sym typeface="DM Sans Medium"/>
                </a:rPr>
                <a:t>Enterprise Catalog</a:t>
              </a:r>
              <a:endParaRPr sz="1000">
                <a:solidFill>
                  <a:srgbClr val="1B5162"/>
                </a:solidFill>
                <a:latin typeface="DM Sans Medium"/>
                <a:ea typeface="DM Sans Medium"/>
                <a:cs typeface="DM Sans Medium"/>
                <a:sym typeface="DM Sans Medium"/>
              </a:endParaRPr>
            </a:p>
          </p:txBody>
        </p:sp>
        <p:pic>
          <p:nvPicPr>
            <p:cNvPr id="1702" name="Google Shape;1702;p62"/>
            <p:cNvPicPr preferRelativeResize="0"/>
            <p:nvPr/>
          </p:nvPicPr>
          <p:blipFill>
            <a:blip r:embed="rId8">
              <a:alphaModFix/>
            </a:blip>
            <a:stretch>
              <a:fillRect/>
            </a:stretch>
          </p:blipFill>
          <p:spPr>
            <a:xfrm>
              <a:off x="11357312" y="2393410"/>
              <a:ext cx="265176" cy="265176"/>
            </a:xfrm>
            <a:prstGeom prst="rect">
              <a:avLst/>
            </a:prstGeom>
            <a:noFill/>
            <a:ln>
              <a:noFill/>
            </a:ln>
          </p:spPr>
        </p:pic>
      </p:grpSp>
      <p:sp>
        <p:nvSpPr>
          <p:cNvPr id="1703" name="Google Shape;1703;p62"/>
          <p:cNvSpPr/>
          <p:nvPr/>
        </p:nvSpPr>
        <p:spPr>
          <a:xfrm>
            <a:off x="9515481" y="3713646"/>
            <a:ext cx="1082100" cy="630900"/>
          </a:xfrm>
          <a:prstGeom prst="roundRect">
            <a:avLst>
              <a:gd fmla="val 15648" name="adj"/>
            </a:avLst>
          </a:prstGeom>
          <a:noFill/>
          <a:ln cap="flat" cmpd="sng" w="9525">
            <a:solidFill>
              <a:srgbClr val="90A5B1"/>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100">
                <a:solidFill>
                  <a:schemeClr val="accent5"/>
                </a:solidFill>
                <a:latin typeface="DM Sans SemiBold"/>
                <a:ea typeface="DM Sans SemiBold"/>
                <a:cs typeface="DM Sans SemiBold"/>
                <a:sym typeface="DM Sans SemiBold"/>
              </a:rPr>
              <a:t>BI</a:t>
            </a:r>
            <a:endParaRPr sz="1100">
              <a:solidFill>
                <a:schemeClr val="accent5"/>
              </a:solidFill>
              <a:latin typeface="DM Sans SemiBold"/>
              <a:ea typeface="DM Sans SemiBold"/>
              <a:cs typeface="DM Sans SemiBold"/>
              <a:sym typeface="DM Sans SemiBold"/>
            </a:endParaRPr>
          </a:p>
        </p:txBody>
      </p:sp>
      <p:grpSp>
        <p:nvGrpSpPr>
          <p:cNvPr id="1704" name="Google Shape;1704;p62"/>
          <p:cNvGrpSpPr/>
          <p:nvPr/>
        </p:nvGrpSpPr>
        <p:grpSpPr>
          <a:xfrm>
            <a:off x="9738981" y="3936515"/>
            <a:ext cx="635100" cy="393231"/>
            <a:chOff x="9738981" y="3936515"/>
            <a:chExt cx="635100" cy="393231"/>
          </a:xfrm>
        </p:grpSpPr>
        <p:sp>
          <p:nvSpPr>
            <p:cNvPr id="1705" name="Google Shape;1705;p62"/>
            <p:cNvSpPr txBox="1"/>
            <p:nvPr/>
          </p:nvSpPr>
          <p:spPr>
            <a:xfrm>
              <a:off x="9738981" y="4175845"/>
              <a:ext cx="635100" cy="15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rgbClr val="1B5162"/>
                  </a:solidFill>
                  <a:latin typeface="DM Sans Medium"/>
                  <a:ea typeface="DM Sans Medium"/>
                  <a:cs typeface="DM Sans Medium"/>
                  <a:sym typeface="DM Sans Medium"/>
                </a:rPr>
                <a:t>BI Tool</a:t>
              </a:r>
              <a:endParaRPr sz="900">
                <a:solidFill>
                  <a:srgbClr val="1B5162"/>
                </a:solidFill>
                <a:latin typeface="DM Sans Medium"/>
                <a:ea typeface="DM Sans Medium"/>
                <a:cs typeface="DM Sans Medium"/>
                <a:sym typeface="DM Sans Medium"/>
              </a:endParaRPr>
            </a:p>
          </p:txBody>
        </p:sp>
        <p:pic>
          <p:nvPicPr>
            <p:cNvPr id="1706" name="Google Shape;1706;p62"/>
            <p:cNvPicPr preferRelativeResize="0"/>
            <p:nvPr/>
          </p:nvPicPr>
          <p:blipFill>
            <a:blip r:embed="rId9">
              <a:alphaModFix/>
            </a:blip>
            <a:stretch>
              <a:fillRect/>
            </a:stretch>
          </p:blipFill>
          <p:spPr>
            <a:xfrm>
              <a:off x="9908871" y="3936515"/>
              <a:ext cx="265176" cy="265176"/>
            </a:xfrm>
            <a:prstGeom prst="rect">
              <a:avLst/>
            </a:prstGeom>
            <a:noFill/>
            <a:ln>
              <a:noFill/>
            </a:ln>
          </p:spPr>
        </p:pic>
      </p:grpSp>
      <p:grpSp>
        <p:nvGrpSpPr>
          <p:cNvPr id="1707" name="Google Shape;1707;p62"/>
          <p:cNvGrpSpPr/>
          <p:nvPr/>
        </p:nvGrpSpPr>
        <p:grpSpPr>
          <a:xfrm>
            <a:off x="992625" y="5260091"/>
            <a:ext cx="524700" cy="406280"/>
            <a:chOff x="998175" y="5186957"/>
            <a:chExt cx="524700" cy="406280"/>
          </a:xfrm>
        </p:grpSpPr>
        <p:pic>
          <p:nvPicPr>
            <p:cNvPr id="1708" name="Google Shape;1708;p62"/>
            <p:cNvPicPr preferRelativeResize="0"/>
            <p:nvPr/>
          </p:nvPicPr>
          <p:blipFill>
            <a:blip r:embed="rId6">
              <a:alphaModFix/>
            </a:blip>
            <a:stretch>
              <a:fillRect/>
            </a:stretch>
          </p:blipFill>
          <p:spPr>
            <a:xfrm>
              <a:off x="1127949" y="5186957"/>
              <a:ext cx="265176" cy="265176"/>
            </a:xfrm>
            <a:prstGeom prst="rect">
              <a:avLst/>
            </a:prstGeom>
            <a:noFill/>
            <a:ln>
              <a:noFill/>
            </a:ln>
          </p:spPr>
        </p:pic>
        <p:sp>
          <p:nvSpPr>
            <p:cNvPr id="1709" name="Google Shape;1709;p62"/>
            <p:cNvSpPr txBox="1"/>
            <p:nvPr/>
          </p:nvSpPr>
          <p:spPr>
            <a:xfrm>
              <a:off x="998175" y="5402137"/>
              <a:ext cx="524700" cy="191100"/>
            </a:xfrm>
            <a:prstGeom prst="rect">
              <a:avLst/>
            </a:prstGeom>
            <a:noFill/>
            <a:ln>
              <a:noFill/>
            </a:ln>
          </p:spPr>
          <p:txBody>
            <a:bodyPr anchorCtr="0" anchor="ctr" bIns="44800" lIns="0" spcFirstLastPara="1" rIns="0" wrap="square" tIns="44800">
              <a:noAutofit/>
            </a:bodyPr>
            <a:lstStyle/>
            <a:p>
              <a:pPr indent="0" lvl="0" marL="0" marR="0" rtl="0" algn="ctr">
                <a:lnSpc>
                  <a:spcPct val="90000"/>
                </a:lnSpc>
                <a:spcBef>
                  <a:spcPts val="0"/>
                </a:spcBef>
                <a:spcAft>
                  <a:spcPts val="0"/>
                </a:spcAft>
                <a:buClr>
                  <a:srgbClr val="000000"/>
                </a:buClr>
                <a:buSzPts val="1000"/>
                <a:buFont typeface="Arial"/>
                <a:buNone/>
              </a:pPr>
              <a:r>
                <a:rPr lang="en" sz="1000">
                  <a:solidFill>
                    <a:srgbClr val="1B5162"/>
                  </a:solidFill>
                  <a:latin typeface="DM Sans Medium"/>
                  <a:ea typeface="DM Sans Medium"/>
                  <a:cs typeface="DM Sans Medium"/>
                  <a:sym typeface="DM Sans Medium"/>
                </a:rPr>
                <a:t>RDBMS</a:t>
              </a:r>
              <a:endParaRPr sz="1000">
                <a:solidFill>
                  <a:srgbClr val="1B5162"/>
                </a:solidFill>
                <a:latin typeface="DM Sans"/>
                <a:ea typeface="DM Sans"/>
                <a:cs typeface="DM Sans"/>
                <a:sym typeface="DM Sans"/>
              </a:endParaRPr>
            </a:p>
          </p:txBody>
        </p:sp>
      </p:grpSp>
      <p:sp>
        <p:nvSpPr>
          <p:cNvPr id="1710" name="Google Shape;1710;p62"/>
          <p:cNvSpPr/>
          <p:nvPr/>
        </p:nvSpPr>
        <p:spPr>
          <a:xfrm>
            <a:off x="737250" y="1261450"/>
            <a:ext cx="1041900" cy="3717000"/>
          </a:xfrm>
          <a:prstGeom prst="roundRect">
            <a:avLst>
              <a:gd fmla="val 7292" name="adj"/>
            </a:avLst>
          </a:prstGeom>
          <a:solidFill>
            <a:srgbClr val="FFFFFF"/>
          </a:solidFill>
          <a:ln cap="flat" cmpd="sng" w="9525">
            <a:solidFill>
              <a:srgbClr val="90A5B1"/>
            </a:solidFill>
            <a:prstDash val="solid"/>
            <a:round/>
            <a:headEnd len="sm" w="sm" type="none"/>
            <a:tailEnd len="sm" w="sm" type="none"/>
          </a:ln>
        </p:spPr>
        <p:txBody>
          <a:bodyPr anchorCtr="0" anchor="t" bIns="0" lIns="0" spcFirstLastPara="1" rIns="0" wrap="square" tIns="18275">
            <a:noAutofit/>
          </a:bodyPr>
          <a:lstStyle/>
          <a:p>
            <a:pPr indent="0" lvl="0" marL="0" marR="0" rtl="0" algn="ctr">
              <a:spcBef>
                <a:spcPts val="0"/>
              </a:spcBef>
              <a:spcAft>
                <a:spcPts val="0"/>
              </a:spcAft>
              <a:buNone/>
            </a:pPr>
            <a:r>
              <a:t/>
            </a:r>
            <a:endParaRPr sz="1200">
              <a:solidFill>
                <a:schemeClr val="accent1"/>
              </a:solidFill>
              <a:latin typeface="DM Sans Medium"/>
              <a:ea typeface="DM Sans Medium"/>
              <a:cs typeface="DM Sans Medium"/>
              <a:sym typeface="DM Sans Medium"/>
            </a:endParaRPr>
          </a:p>
        </p:txBody>
      </p:sp>
      <p:sp>
        <p:nvSpPr>
          <p:cNvPr id="1711" name="Google Shape;1711;p62"/>
          <p:cNvSpPr txBox="1"/>
          <p:nvPr/>
        </p:nvSpPr>
        <p:spPr>
          <a:xfrm rot="-5400000">
            <a:off x="318905" y="3054650"/>
            <a:ext cx="4701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dk1"/>
                </a:solidFill>
                <a:latin typeface="DM Sans"/>
                <a:ea typeface="DM Sans"/>
                <a:cs typeface="DM Sans"/>
                <a:sym typeface="DM Sans"/>
              </a:rPr>
              <a:t>ETL</a:t>
            </a:r>
            <a:endParaRPr sz="1100">
              <a:solidFill>
                <a:schemeClr val="dk1"/>
              </a:solidFill>
              <a:latin typeface="DM Sans"/>
              <a:ea typeface="DM Sans"/>
              <a:cs typeface="DM Sans"/>
              <a:sym typeface="DM Sans"/>
            </a:endParaRPr>
          </a:p>
        </p:txBody>
      </p:sp>
      <p:sp>
        <p:nvSpPr>
          <p:cNvPr id="1712" name="Google Shape;1712;p62"/>
          <p:cNvSpPr/>
          <p:nvPr/>
        </p:nvSpPr>
        <p:spPr>
          <a:xfrm>
            <a:off x="11028177" y="4422749"/>
            <a:ext cx="996000" cy="207000"/>
          </a:xfrm>
          <a:prstGeom prst="roundRect">
            <a:avLst>
              <a:gd fmla="val 16667" name="adj"/>
            </a:avLst>
          </a:prstGeom>
          <a:solidFill>
            <a:srgbClr val="FFFFFF"/>
          </a:solidFill>
          <a:ln cap="flat" cmpd="sng" w="9525">
            <a:solidFill>
              <a:srgbClr val="B7B7B7"/>
            </a:solidFill>
            <a:prstDash val="solid"/>
            <a:round/>
            <a:headEnd len="sm" w="sm" type="none"/>
            <a:tailEnd len="sm" w="sm" type="none"/>
          </a:ln>
        </p:spPr>
        <p:txBody>
          <a:bodyPr anchorCtr="0" anchor="ctr" bIns="146275" lIns="0" spcFirstLastPara="1" rIns="0" wrap="square" tIns="146275">
            <a:noAutofit/>
          </a:bodyPr>
          <a:lstStyle/>
          <a:p>
            <a:pPr indent="0" lvl="0" marL="0" rtl="0" algn="ctr">
              <a:lnSpc>
                <a:spcPct val="90000"/>
              </a:lnSpc>
              <a:spcBef>
                <a:spcPts val="0"/>
              </a:spcBef>
              <a:spcAft>
                <a:spcPts val="0"/>
              </a:spcAft>
              <a:buNone/>
            </a:pPr>
            <a:r>
              <a:rPr lang="en" sz="1100">
                <a:solidFill>
                  <a:srgbClr val="666666"/>
                </a:solidFill>
                <a:latin typeface="DM Sans SemiBold"/>
                <a:ea typeface="DM Sans SemiBold"/>
                <a:cs typeface="DM Sans SemiBold"/>
                <a:sym typeface="DM Sans SemiBold"/>
              </a:rPr>
              <a:t>Orchestration</a:t>
            </a:r>
            <a:endParaRPr sz="1100">
              <a:solidFill>
                <a:srgbClr val="666666"/>
              </a:solidFill>
              <a:latin typeface="DM Sans SemiBold"/>
              <a:ea typeface="DM Sans SemiBold"/>
              <a:cs typeface="DM Sans SemiBold"/>
              <a:sym typeface="DM Sans SemiBold"/>
            </a:endParaRPr>
          </a:p>
        </p:txBody>
      </p:sp>
      <p:grpSp>
        <p:nvGrpSpPr>
          <p:cNvPr id="1713" name="Google Shape;1713;p62"/>
          <p:cNvGrpSpPr/>
          <p:nvPr/>
        </p:nvGrpSpPr>
        <p:grpSpPr>
          <a:xfrm>
            <a:off x="11127924" y="4701138"/>
            <a:ext cx="796500" cy="553688"/>
            <a:chOff x="11051724" y="4701138"/>
            <a:chExt cx="796500" cy="553688"/>
          </a:xfrm>
        </p:grpSpPr>
        <p:sp>
          <p:nvSpPr>
            <p:cNvPr id="1714" name="Google Shape;1714;p62"/>
            <p:cNvSpPr txBox="1"/>
            <p:nvPr/>
          </p:nvSpPr>
          <p:spPr>
            <a:xfrm>
              <a:off x="11051724" y="4977625"/>
              <a:ext cx="796500" cy="277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1000">
                  <a:solidFill>
                    <a:srgbClr val="1B5162"/>
                  </a:solidFill>
                  <a:latin typeface="DM Sans Medium"/>
                  <a:ea typeface="DM Sans Medium"/>
                  <a:cs typeface="DM Sans Medium"/>
                  <a:sym typeface="DM Sans Medium"/>
                </a:rPr>
                <a:t>External Orchestrator</a:t>
              </a:r>
              <a:endParaRPr sz="1000">
                <a:solidFill>
                  <a:srgbClr val="1B5162"/>
                </a:solidFill>
                <a:latin typeface="DM Sans Medium"/>
                <a:ea typeface="DM Sans Medium"/>
                <a:cs typeface="DM Sans Medium"/>
                <a:sym typeface="DM Sans Medium"/>
              </a:endParaRPr>
            </a:p>
          </p:txBody>
        </p:sp>
        <p:pic>
          <p:nvPicPr>
            <p:cNvPr id="1715" name="Google Shape;1715;p62"/>
            <p:cNvPicPr preferRelativeResize="0"/>
            <p:nvPr/>
          </p:nvPicPr>
          <p:blipFill>
            <a:blip r:embed="rId10">
              <a:alphaModFix/>
            </a:blip>
            <a:stretch>
              <a:fillRect/>
            </a:stretch>
          </p:blipFill>
          <p:spPr>
            <a:xfrm>
              <a:off x="11294563" y="4701138"/>
              <a:ext cx="265176" cy="265176"/>
            </a:xfrm>
            <a:prstGeom prst="rect">
              <a:avLst/>
            </a:prstGeom>
            <a:noFill/>
            <a:ln>
              <a:noFill/>
            </a:ln>
          </p:spPr>
        </p:pic>
      </p:grpSp>
      <p:grpSp>
        <p:nvGrpSpPr>
          <p:cNvPr id="1716" name="Google Shape;1716;p62"/>
          <p:cNvGrpSpPr/>
          <p:nvPr/>
        </p:nvGrpSpPr>
        <p:grpSpPr>
          <a:xfrm>
            <a:off x="862287" y="4453544"/>
            <a:ext cx="796500" cy="451916"/>
            <a:chOff x="862287" y="4564959"/>
            <a:chExt cx="796500" cy="451916"/>
          </a:xfrm>
        </p:grpSpPr>
        <p:sp>
          <p:nvSpPr>
            <p:cNvPr id="1717" name="Google Shape;1717;p62"/>
            <p:cNvSpPr txBox="1"/>
            <p:nvPr/>
          </p:nvSpPr>
          <p:spPr>
            <a:xfrm>
              <a:off x="862287" y="4795475"/>
              <a:ext cx="796500" cy="2214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lang="en" sz="1000">
                  <a:solidFill>
                    <a:srgbClr val="1B5162"/>
                  </a:solidFill>
                  <a:latin typeface="DM Sans Medium"/>
                  <a:ea typeface="DM Sans Medium"/>
                  <a:cs typeface="DM Sans Medium"/>
                  <a:sym typeface="DM Sans Medium"/>
                </a:rPr>
                <a:t>Other clouds</a:t>
              </a:r>
              <a:endParaRPr i="0" sz="1000" u="none" cap="none" strike="noStrike">
                <a:solidFill>
                  <a:srgbClr val="1B5162"/>
                </a:solidFill>
                <a:latin typeface="DM Sans Medium"/>
                <a:ea typeface="DM Sans Medium"/>
                <a:cs typeface="DM Sans Medium"/>
                <a:sym typeface="DM Sans Medium"/>
              </a:endParaRPr>
            </a:p>
          </p:txBody>
        </p:sp>
        <p:pic>
          <p:nvPicPr>
            <p:cNvPr id="1718" name="Google Shape;1718;p62"/>
            <p:cNvPicPr preferRelativeResize="0"/>
            <p:nvPr/>
          </p:nvPicPr>
          <p:blipFill>
            <a:blip r:embed="rId11">
              <a:alphaModFix/>
            </a:blip>
            <a:stretch>
              <a:fillRect/>
            </a:stretch>
          </p:blipFill>
          <p:spPr>
            <a:xfrm>
              <a:off x="1127949" y="4564959"/>
              <a:ext cx="265176" cy="265176"/>
            </a:xfrm>
            <a:prstGeom prst="rect">
              <a:avLst/>
            </a:prstGeom>
            <a:noFill/>
            <a:ln>
              <a:noFill/>
            </a:ln>
          </p:spPr>
        </p:pic>
      </p:grpSp>
      <p:grpSp>
        <p:nvGrpSpPr>
          <p:cNvPr id="1719" name="Google Shape;1719;p62"/>
          <p:cNvGrpSpPr/>
          <p:nvPr/>
        </p:nvGrpSpPr>
        <p:grpSpPr>
          <a:xfrm>
            <a:off x="739587" y="1337205"/>
            <a:ext cx="1041900" cy="565680"/>
            <a:chOff x="739587" y="1742570"/>
            <a:chExt cx="1041900" cy="565680"/>
          </a:xfrm>
        </p:grpSpPr>
        <p:sp>
          <p:nvSpPr>
            <p:cNvPr id="1720" name="Google Shape;1720;p62"/>
            <p:cNvSpPr txBox="1"/>
            <p:nvPr/>
          </p:nvSpPr>
          <p:spPr>
            <a:xfrm>
              <a:off x="739587" y="1969550"/>
              <a:ext cx="10419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1000" u="none" cap="none" strike="noStrike">
                  <a:solidFill>
                    <a:srgbClr val="1B5162"/>
                  </a:solidFill>
                  <a:latin typeface="DM Sans Medium"/>
                  <a:ea typeface="DM Sans Medium"/>
                  <a:cs typeface="DM Sans Medium"/>
                  <a:sym typeface="DM Sans Medium"/>
                </a:rPr>
                <a:t>Files / Logs </a:t>
              </a:r>
              <a:br>
                <a:rPr i="0" lang="en" sz="1000" u="none" cap="none" strike="noStrike">
                  <a:solidFill>
                    <a:srgbClr val="1B5162"/>
                  </a:solidFill>
                  <a:latin typeface="DM Sans Medium"/>
                  <a:ea typeface="DM Sans Medium"/>
                  <a:cs typeface="DM Sans Medium"/>
                  <a:sym typeface="DM Sans Medium"/>
                </a:rPr>
              </a:br>
              <a:r>
                <a:rPr i="0" lang="en" sz="900" u="none" cap="none" strike="noStrike">
                  <a:solidFill>
                    <a:srgbClr val="1B5162"/>
                  </a:solidFill>
                  <a:latin typeface="DM Sans"/>
                  <a:ea typeface="DM Sans"/>
                  <a:cs typeface="DM Sans"/>
                  <a:sym typeface="DM Sans"/>
                </a:rPr>
                <a:t>(</a:t>
              </a:r>
              <a:r>
                <a:rPr lang="en" sz="900">
                  <a:solidFill>
                    <a:srgbClr val="1B5162"/>
                  </a:solidFill>
                  <a:latin typeface="DM Sans"/>
                  <a:ea typeface="DM Sans"/>
                  <a:cs typeface="DM Sans"/>
                  <a:sym typeface="DM Sans"/>
                </a:rPr>
                <a:t>semi-</a:t>
              </a:r>
              <a:r>
                <a:rPr i="0" lang="en" sz="900" u="none" cap="none" strike="noStrike">
                  <a:solidFill>
                    <a:srgbClr val="1B5162"/>
                  </a:solidFill>
                  <a:latin typeface="DM Sans"/>
                  <a:ea typeface="DM Sans"/>
                  <a:cs typeface="DM Sans"/>
                  <a:sym typeface="DM Sans"/>
                </a:rPr>
                <a:t>structured)</a:t>
              </a:r>
              <a:endParaRPr i="0" sz="900" u="none" cap="none" strike="noStrike">
                <a:solidFill>
                  <a:srgbClr val="1B5162"/>
                </a:solidFill>
                <a:latin typeface="DM Sans"/>
                <a:ea typeface="DM Sans"/>
                <a:cs typeface="DM Sans"/>
                <a:sym typeface="DM Sans"/>
              </a:endParaRPr>
            </a:p>
          </p:txBody>
        </p:sp>
        <p:pic>
          <p:nvPicPr>
            <p:cNvPr id="1721" name="Google Shape;1721;p62"/>
            <p:cNvPicPr preferRelativeResize="0"/>
            <p:nvPr/>
          </p:nvPicPr>
          <p:blipFill>
            <a:blip r:embed="rId12">
              <a:alphaModFix/>
            </a:blip>
            <a:stretch>
              <a:fillRect/>
            </a:stretch>
          </p:blipFill>
          <p:spPr>
            <a:xfrm>
              <a:off x="1127949" y="1742570"/>
              <a:ext cx="265176" cy="265176"/>
            </a:xfrm>
            <a:prstGeom prst="rect">
              <a:avLst/>
            </a:prstGeom>
            <a:noFill/>
            <a:ln>
              <a:noFill/>
            </a:ln>
          </p:spPr>
        </p:pic>
      </p:grpSp>
      <p:grpSp>
        <p:nvGrpSpPr>
          <p:cNvPr id="1722" name="Google Shape;1722;p62"/>
          <p:cNvGrpSpPr/>
          <p:nvPr/>
        </p:nvGrpSpPr>
        <p:grpSpPr>
          <a:xfrm>
            <a:off x="762575" y="1969234"/>
            <a:ext cx="996000" cy="558091"/>
            <a:chOff x="762575" y="2866176"/>
            <a:chExt cx="996000" cy="558091"/>
          </a:xfrm>
        </p:grpSpPr>
        <p:sp>
          <p:nvSpPr>
            <p:cNvPr id="1723" name="Google Shape;1723;p62"/>
            <p:cNvSpPr txBox="1"/>
            <p:nvPr/>
          </p:nvSpPr>
          <p:spPr>
            <a:xfrm>
              <a:off x="762575" y="3085567"/>
              <a:ext cx="9960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1000" u="none" cap="none" strike="noStrike">
                  <a:solidFill>
                    <a:srgbClr val="1B5162"/>
                  </a:solidFill>
                  <a:latin typeface="DM Sans Medium"/>
                  <a:ea typeface="DM Sans Medium"/>
                  <a:cs typeface="DM Sans Medium"/>
                  <a:sym typeface="DM Sans Medium"/>
                </a:rPr>
                <a:t>Sensors and IoT</a:t>
              </a:r>
              <a:endParaRPr i="0" sz="10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a:ea typeface="DM Sans"/>
                  <a:cs typeface="DM Sans"/>
                  <a:sym typeface="DM Sans"/>
                </a:rPr>
                <a:t>(unstructured)</a:t>
              </a:r>
              <a:endParaRPr i="0" sz="900" u="none" cap="none" strike="noStrike">
                <a:solidFill>
                  <a:srgbClr val="1B5162"/>
                </a:solidFill>
                <a:latin typeface="DM Sans"/>
                <a:ea typeface="DM Sans"/>
                <a:cs typeface="DM Sans"/>
                <a:sym typeface="DM Sans"/>
              </a:endParaRPr>
            </a:p>
          </p:txBody>
        </p:sp>
        <p:pic>
          <p:nvPicPr>
            <p:cNvPr id="1724" name="Google Shape;1724;p62"/>
            <p:cNvPicPr preferRelativeResize="0"/>
            <p:nvPr/>
          </p:nvPicPr>
          <p:blipFill>
            <a:blip r:embed="rId13">
              <a:alphaModFix/>
            </a:blip>
            <a:stretch>
              <a:fillRect/>
            </a:stretch>
          </p:blipFill>
          <p:spPr>
            <a:xfrm>
              <a:off x="1127949" y="2866176"/>
              <a:ext cx="265176" cy="265176"/>
            </a:xfrm>
            <a:prstGeom prst="rect">
              <a:avLst/>
            </a:prstGeom>
            <a:noFill/>
            <a:ln>
              <a:noFill/>
            </a:ln>
          </p:spPr>
        </p:pic>
      </p:grpSp>
      <p:grpSp>
        <p:nvGrpSpPr>
          <p:cNvPr id="1725" name="Google Shape;1725;p62"/>
          <p:cNvGrpSpPr/>
          <p:nvPr/>
        </p:nvGrpSpPr>
        <p:grpSpPr>
          <a:xfrm>
            <a:off x="890337" y="2593682"/>
            <a:ext cx="740400" cy="542819"/>
            <a:chOff x="890337" y="2315806"/>
            <a:chExt cx="740400" cy="542819"/>
          </a:xfrm>
        </p:grpSpPr>
        <p:sp>
          <p:nvSpPr>
            <p:cNvPr id="1726" name="Google Shape;1726;p62"/>
            <p:cNvSpPr txBox="1"/>
            <p:nvPr/>
          </p:nvSpPr>
          <p:spPr>
            <a:xfrm>
              <a:off x="890337" y="2519925"/>
              <a:ext cx="7404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lang="en" sz="1000">
                  <a:solidFill>
                    <a:srgbClr val="1B5162"/>
                  </a:solidFill>
                  <a:latin typeface="DM Sans Medium"/>
                  <a:ea typeface="DM Sans Medium"/>
                  <a:cs typeface="DM Sans Medium"/>
                  <a:sym typeface="DM Sans Medium"/>
                </a:rPr>
                <a:t>RDBMS</a:t>
              </a:r>
              <a:br>
                <a:rPr lang="en" sz="1000">
                  <a:solidFill>
                    <a:srgbClr val="1B5162"/>
                  </a:solidFill>
                  <a:latin typeface="DM Sans Medium"/>
                  <a:ea typeface="DM Sans Medium"/>
                  <a:cs typeface="DM Sans Medium"/>
                  <a:sym typeface="DM Sans Medium"/>
                </a:rPr>
              </a:br>
              <a:r>
                <a:rPr lang="en" sz="900">
                  <a:solidFill>
                    <a:srgbClr val="1B5162"/>
                  </a:solidFill>
                  <a:latin typeface="DM Sans"/>
                  <a:ea typeface="DM Sans"/>
                  <a:cs typeface="DM Sans"/>
                  <a:sym typeface="DM Sans"/>
                </a:rPr>
                <a:t>(structured)</a:t>
              </a:r>
              <a:endParaRPr i="0" sz="900" u="none" cap="none" strike="noStrike">
                <a:solidFill>
                  <a:srgbClr val="1B5162"/>
                </a:solidFill>
                <a:latin typeface="DM Sans"/>
                <a:ea typeface="DM Sans"/>
                <a:cs typeface="DM Sans"/>
                <a:sym typeface="DM Sans"/>
              </a:endParaRPr>
            </a:p>
          </p:txBody>
        </p:sp>
        <p:pic>
          <p:nvPicPr>
            <p:cNvPr id="1727" name="Google Shape;1727;p62"/>
            <p:cNvPicPr preferRelativeResize="0"/>
            <p:nvPr/>
          </p:nvPicPr>
          <p:blipFill>
            <a:blip r:embed="rId6">
              <a:alphaModFix/>
            </a:blip>
            <a:stretch>
              <a:fillRect/>
            </a:stretch>
          </p:blipFill>
          <p:spPr>
            <a:xfrm>
              <a:off x="1127949" y="2315806"/>
              <a:ext cx="265176" cy="265176"/>
            </a:xfrm>
            <a:prstGeom prst="rect">
              <a:avLst/>
            </a:prstGeom>
            <a:noFill/>
            <a:ln>
              <a:noFill/>
            </a:ln>
          </p:spPr>
        </p:pic>
      </p:grpSp>
      <p:grpSp>
        <p:nvGrpSpPr>
          <p:cNvPr id="1728" name="Google Shape;1728;p62"/>
          <p:cNvGrpSpPr/>
          <p:nvPr/>
        </p:nvGrpSpPr>
        <p:grpSpPr>
          <a:xfrm>
            <a:off x="778738" y="3218134"/>
            <a:ext cx="963600" cy="559466"/>
            <a:chOff x="778738" y="3997940"/>
            <a:chExt cx="963600" cy="559466"/>
          </a:xfrm>
        </p:grpSpPr>
        <p:pic>
          <p:nvPicPr>
            <p:cNvPr id="1729" name="Google Shape;1729;p62"/>
            <p:cNvPicPr preferRelativeResize="0"/>
            <p:nvPr/>
          </p:nvPicPr>
          <p:blipFill>
            <a:blip r:embed="rId5">
              <a:alphaModFix/>
            </a:blip>
            <a:stretch>
              <a:fillRect/>
            </a:stretch>
          </p:blipFill>
          <p:spPr>
            <a:xfrm>
              <a:off x="1127949" y="3997940"/>
              <a:ext cx="265176" cy="265176"/>
            </a:xfrm>
            <a:prstGeom prst="rect">
              <a:avLst/>
            </a:prstGeom>
            <a:noFill/>
            <a:ln>
              <a:noFill/>
            </a:ln>
          </p:spPr>
        </p:pic>
        <p:sp>
          <p:nvSpPr>
            <p:cNvPr id="1730" name="Google Shape;1730;p62"/>
            <p:cNvSpPr txBox="1"/>
            <p:nvPr/>
          </p:nvSpPr>
          <p:spPr>
            <a:xfrm>
              <a:off x="778738" y="4218706"/>
              <a:ext cx="9636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1000" u="none" cap="none" strike="noStrike">
                  <a:solidFill>
                    <a:srgbClr val="1B5162"/>
                  </a:solidFill>
                  <a:latin typeface="DM Sans Medium"/>
                  <a:ea typeface="DM Sans Medium"/>
                  <a:cs typeface="DM Sans Medium"/>
                  <a:sym typeface="DM Sans Medium"/>
                </a:rPr>
                <a:t>Business </a:t>
              </a:r>
              <a:r>
                <a:rPr lang="en" sz="1000">
                  <a:solidFill>
                    <a:srgbClr val="1B5162"/>
                  </a:solidFill>
                  <a:latin typeface="DM Sans Medium"/>
                  <a:ea typeface="DM Sans Medium"/>
                  <a:cs typeface="DM Sans Medium"/>
                  <a:sym typeface="DM Sans Medium"/>
                </a:rPr>
                <a:t>A</a:t>
              </a:r>
              <a:r>
                <a:rPr i="0" lang="en" sz="1000" u="none" cap="none" strike="noStrike">
                  <a:solidFill>
                    <a:srgbClr val="1B5162"/>
                  </a:solidFill>
                  <a:latin typeface="DM Sans Medium"/>
                  <a:ea typeface="DM Sans Medium"/>
                  <a:cs typeface="DM Sans Medium"/>
                  <a:sym typeface="DM Sans Medium"/>
                </a:rPr>
                <a:t>pps</a:t>
              </a:r>
              <a:endParaRPr i="0" sz="1000" u="none" cap="none" strike="noStrike">
                <a:solidFill>
                  <a:srgbClr val="1B5162"/>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rPr i="0" lang="en" sz="900" u="none" cap="none" strike="noStrike">
                  <a:solidFill>
                    <a:srgbClr val="1B5162"/>
                  </a:solidFill>
                  <a:latin typeface="DM Sans"/>
                  <a:ea typeface="DM Sans"/>
                  <a:cs typeface="DM Sans"/>
                  <a:sym typeface="DM Sans"/>
                </a:rPr>
                <a:t>(structured)</a:t>
              </a:r>
              <a:endParaRPr i="0" sz="900" u="none" cap="none" strike="noStrike">
                <a:solidFill>
                  <a:srgbClr val="1B5162"/>
                </a:solidFill>
                <a:latin typeface="DM Sans"/>
                <a:ea typeface="DM Sans"/>
                <a:cs typeface="DM Sans"/>
                <a:sym typeface="DM Sans"/>
              </a:endParaRPr>
            </a:p>
          </p:txBody>
        </p:sp>
      </p:grpSp>
      <p:grpSp>
        <p:nvGrpSpPr>
          <p:cNvPr id="1731" name="Google Shape;1731;p62"/>
          <p:cNvGrpSpPr/>
          <p:nvPr/>
        </p:nvGrpSpPr>
        <p:grpSpPr>
          <a:xfrm>
            <a:off x="837987" y="3812451"/>
            <a:ext cx="845100" cy="558534"/>
            <a:chOff x="837987" y="3431841"/>
            <a:chExt cx="845100" cy="558534"/>
          </a:xfrm>
        </p:grpSpPr>
        <p:pic>
          <p:nvPicPr>
            <p:cNvPr id="1732" name="Google Shape;1732;p62"/>
            <p:cNvPicPr preferRelativeResize="0"/>
            <p:nvPr/>
          </p:nvPicPr>
          <p:blipFill>
            <a:blip r:embed="rId14">
              <a:alphaModFix/>
            </a:blip>
            <a:stretch>
              <a:fillRect/>
            </a:stretch>
          </p:blipFill>
          <p:spPr>
            <a:xfrm>
              <a:off x="1127949" y="3431841"/>
              <a:ext cx="265176" cy="265176"/>
            </a:xfrm>
            <a:prstGeom prst="rect">
              <a:avLst/>
            </a:prstGeom>
            <a:noFill/>
            <a:ln>
              <a:noFill/>
            </a:ln>
          </p:spPr>
        </p:pic>
        <p:sp>
          <p:nvSpPr>
            <p:cNvPr id="1733" name="Google Shape;1733;p62"/>
            <p:cNvSpPr txBox="1"/>
            <p:nvPr/>
          </p:nvSpPr>
          <p:spPr>
            <a:xfrm>
              <a:off x="837987" y="3651675"/>
              <a:ext cx="845100" cy="33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1000" u="none" cap="none" strike="noStrike">
                  <a:solidFill>
                    <a:srgbClr val="1B5162"/>
                  </a:solidFill>
                  <a:latin typeface="DM Sans Medium"/>
                  <a:ea typeface="DM Sans Medium"/>
                  <a:cs typeface="DM Sans Medium"/>
                  <a:sym typeface="DM Sans Medium"/>
                </a:rPr>
                <a:t>Media </a:t>
              </a:r>
              <a:br>
                <a:rPr i="0" lang="en" sz="900" u="none" cap="none" strike="noStrike">
                  <a:solidFill>
                    <a:srgbClr val="1B5162"/>
                  </a:solidFill>
                  <a:latin typeface="DM Sans Medium"/>
                  <a:ea typeface="DM Sans Medium"/>
                  <a:cs typeface="DM Sans Medium"/>
                  <a:sym typeface="DM Sans Medium"/>
                </a:rPr>
              </a:br>
              <a:r>
                <a:rPr i="0" lang="en" sz="900" u="none" cap="none" strike="noStrike">
                  <a:solidFill>
                    <a:srgbClr val="1B5162"/>
                  </a:solidFill>
                  <a:latin typeface="DM Sans"/>
                  <a:ea typeface="DM Sans"/>
                  <a:cs typeface="DM Sans"/>
                  <a:sym typeface="DM Sans"/>
                </a:rPr>
                <a:t>(unstructured)</a:t>
              </a:r>
              <a:endParaRPr i="0" sz="900" u="none" cap="none" strike="noStrike">
                <a:solidFill>
                  <a:srgbClr val="1B5162"/>
                </a:solidFill>
                <a:latin typeface="DM Sans"/>
                <a:ea typeface="DM Sans"/>
                <a:cs typeface="DM Sans"/>
                <a:sym typeface="DM Sans"/>
              </a:endParaRPr>
            </a:p>
          </p:txBody>
        </p:sp>
      </p:grpSp>
      <p:sp>
        <p:nvSpPr>
          <p:cNvPr id="1734" name="Google Shape;1734;p62"/>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solidFill>
                  <a:schemeClr val="dk2"/>
                </a:solidFill>
              </a:rPr>
              <a:t>&gt; The other icons &lt;</a:t>
            </a:r>
            <a:endParaRPr>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8" name="Shape 1738"/>
        <p:cNvGrpSpPr/>
        <p:nvPr/>
      </p:nvGrpSpPr>
      <p:grpSpPr>
        <a:xfrm>
          <a:off x="0" y="0"/>
          <a:ext cx="0" cy="0"/>
          <a:chOff x="0" y="0"/>
          <a:chExt cx="0" cy="0"/>
        </a:xfrm>
      </p:grpSpPr>
      <p:sp>
        <p:nvSpPr>
          <p:cNvPr id="1739" name="Google Shape;1739;p63"/>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740" name="Google Shape;1740;p63"/>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Most used icons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4" name="Shape 1744"/>
        <p:cNvGrpSpPr/>
        <p:nvPr/>
      </p:nvGrpSpPr>
      <p:grpSpPr>
        <a:xfrm>
          <a:off x="0" y="0"/>
          <a:ext cx="0" cy="0"/>
          <a:chOff x="0" y="0"/>
          <a:chExt cx="0" cy="0"/>
        </a:xfrm>
      </p:grpSpPr>
      <p:sp>
        <p:nvSpPr>
          <p:cNvPr id="1745" name="Google Shape;1745;p64"/>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The Digital Asset Chrome Plugin</a:t>
            </a:r>
            <a:endParaRPr/>
          </a:p>
        </p:txBody>
      </p:sp>
      <p:sp>
        <p:nvSpPr>
          <p:cNvPr id="1746" name="Google Shape;1746;p64"/>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1747" name="Google Shape;1747;p64"/>
          <p:cNvPicPr preferRelativeResize="0"/>
          <p:nvPr/>
        </p:nvPicPr>
        <p:blipFill>
          <a:blip r:embed="rId3">
            <a:alphaModFix/>
          </a:blip>
          <a:stretch>
            <a:fillRect/>
          </a:stretch>
        </p:blipFill>
        <p:spPr>
          <a:xfrm>
            <a:off x="4966450" y="1553200"/>
            <a:ext cx="3874399" cy="4920101"/>
          </a:xfrm>
          <a:prstGeom prst="rect">
            <a:avLst/>
          </a:prstGeom>
          <a:noFill/>
          <a:ln>
            <a:noFill/>
          </a:ln>
          <a:effectLst>
            <a:outerShdw blurRad="57150" rotWithShape="0" algn="bl" dir="5400000" dist="19050">
              <a:srgbClr val="000000">
                <a:alpha val="50000"/>
              </a:srgbClr>
            </a:outerShdw>
          </a:effectLst>
        </p:spPr>
      </p:pic>
      <p:pic>
        <p:nvPicPr>
          <p:cNvPr id="1748" name="Google Shape;1748;p64"/>
          <p:cNvPicPr preferRelativeResize="0"/>
          <p:nvPr/>
        </p:nvPicPr>
        <p:blipFill>
          <a:blip r:embed="rId4">
            <a:alphaModFix/>
          </a:blip>
          <a:stretch>
            <a:fillRect/>
          </a:stretch>
        </p:blipFill>
        <p:spPr>
          <a:xfrm>
            <a:off x="1780225" y="1553199"/>
            <a:ext cx="2464375" cy="1676350"/>
          </a:xfrm>
          <a:prstGeom prst="rect">
            <a:avLst/>
          </a:prstGeom>
          <a:noFill/>
          <a:ln>
            <a:noFill/>
          </a:ln>
          <a:effectLst>
            <a:outerShdw blurRad="57150" rotWithShape="0" algn="bl" dir="5400000" dist="19050">
              <a:srgbClr val="000000">
                <a:alpha val="50000"/>
              </a:srgbClr>
            </a:outerShdw>
          </a:effectLst>
        </p:spPr>
      </p:pic>
      <p:cxnSp>
        <p:nvCxnSpPr>
          <p:cNvPr id="1749" name="Google Shape;1749;p64"/>
          <p:cNvCxnSpPr>
            <a:stCxn id="1748" idx="3"/>
            <a:endCxn id="1747" idx="1"/>
          </p:cNvCxnSpPr>
          <p:nvPr/>
        </p:nvCxnSpPr>
        <p:spPr>
          <a:xfrm>
            <a:off x="4244599" y="2391374"/>
            <a:ext cx="721800" cy="1621800"/>
          </a:xfrm>
          <a:prstGeom prst="curvedConnector3">
            <a:avLst>
              <a:gd fmla="val 50004" name="adj1"/>
            </a:avLst>
          </a:prstGeom>
          <a:noFill/>
          <a:ln cap="flat" cmpd="sng" w="9525">
            <a:solidFill>
              <a:schemeClr val="dk2"/>
            </a:solidFill>
            <a:prstDash val="solid"/>
            <a:round/>
            <a:headEnd len="med" w="med" type="none"/>
            <a:tailEnd len="med" w="med" type="triangle"/>
          </a:ln>
        </p:spPr>
      </p:cxnSp>
      <p:sp>
        <p:nvSpPr>
          <p:cNvPr id="1750" name="Google Shape;1750;p64"/>
          <p:cNvSpPr txBox="1"/>
          <p:nvPr/>
        </p:nvSpPr>
        <p:spPr>
          <a:xfrm>
            <a:off x="367700" y="3612975"/>
            <a:ext cx="4718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5"/>
              </a:rPr>
              <a:t>https://brandfolder.com/integrations/chrome-extension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4" name="Shape 1754"/>
        <p:cNvGrpSpPr/>
        <p:nvPr/>
      </p:nvGrpSpPr>
      <p:grpSpPr>
        <a:xfrm>
          <a:off x="0" y="0"/>
          <a:ext cx="0" cy="0"/>
          <a:chOff x="0" y="0"/>
          <a:chExt cx="0" cy="0"/>
        </a:xfrm>
      </p:grpSpPr>
      <p:sp>
        <p:nvSpPr>
          <p:cNvPr id="1755" name="Google Shape;1755;p65"/>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Alternatives</a:t>
            </a:r>
            <a:endParaRPr/>
          </a:p>
        </p:txBody>
      </p:sp>
      <p:sp>
        <p:nvSpPr>
          <p:cNvPr id="1756" name="Google Shape;1756;p65"/>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0" name="Shape 1760"/>
        <p:cNvGrpSpPr/>
        <p:nvPr/>
      </p:nvGrpSpPr>
      <p:grpSpPr>
        <a:xfrm>
          <a:off x="0" y="0"/>
          <a:ext cx="0" cy="0"/>
          <a:chOff x="0" y="0"/>
          <a:chExt cx="0" cy="0"/>
        </a:xfrm>
      </p:grpSpPr>
      <p:sp>
        <p:nvSpPr>
          <p:cNvPr id="1761" name="Google Shape;1761;p66"/>
          <p:cNvSpPr/>
          <p:nvPr/>
        </p:nvSpPr>
        <p:spPr>
          <a:xfrm>
            <a:off x="1398775" y="1813800"/>
            <a:ext cx="4138500" cy="4102200"/>
          </a:xfrm>
          <a:prstGeom prst="roundRect">
            <a:avLst>
              <a:gd fmla="val 7426" name="adj"/>
            </a:avLst>
          </a:prstGeom>
          <a:noFill/>
          <a:ln cap="flat" cmpd="sng" w="9525">
            <a:solidFill>
              <a:srgbClr val="434343"/>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038"/>
              </a:buClr>
              <a:buSzPts val="1500"/>
              <a:buFont typeface="Calibri"/>
              <a:buNone/>
            </a:pPr>
            <a:r>
              <a:t/>
            </a:r>
            <a:endParaRPr b="0" i="0" sz="1500" u="none" cap="none" strike="noStrike">
              <a:solidFill>
                <a:srgbClr val="FFFFFF"/>
              </a:solidFill>
              <a:latin typeface="Barlow"/>
              <a:ea typeface="Barlow"/>
              <a:cs typeface="Barlow"/>
              <a:sym typeface="Barlow"/>
            </a:endParaRPr>
          </a:p>
        </p:txBody>
      </p:sp>
      <p:sp>
        <p:nvSpPr>
          <p:cNvPr id="1762" name="Google Shape;1762;p66"/>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763" name="Google Shape;1763;p66"/>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Databricks Logos</a:t>
            </a:r>
            <a:endParaRPr/>
          </a:p>
        </p:txBody>
      </p:sp>
      <p:sp>
        <p:nvSpPr>
          <p:cNvPr id="1764" name="Google Shape;1764;p66"/>
          <p:cNvSpPr/>
          <p:nvPr/>
        </p:nvSpPr>
        <p:spPr>
          <a:xfrm>
            <a:off x="6635200" y="1813800"/>
            <a:ext cx="4138500" cy="4102200"/>
          </a:xfrm>
          <a:prstGeom prst="roundRect">
            <a:avLst>
              <a:gd fmla="val 7426" name="adj"/>
            </a:avLst>
          </a:prstGeom>
          <a:solidFill>
            <a:srgbClr val="43434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038"/>
              </a:buClr>
              <a:buSzPts val="1500"/>
              <a:buFont typeface="Calibri"/>
              <a:buNone/>
            </a:pPr>
            <a:r>
              <a:t/>
            </a:r>
            <a:endParaRPr b="0" i="0" sz="1500" u="none" cap="none" strike="noStrike">
              <a:solidFill>
                <a:srgbClr val="FFFFFF"/>
              </a:solidFill>
              <a:latin typeface="Barlow"/>
              <a:ea typeface="Barlow"/>
              <a:cs typeface="Barlow"/>
              <a:sym typeface="Barlow"/>
            </a:endParaRPr>
          </a:p>
        </p:txBody>
      </p:sp>
      <p:pic>
        <p:nvPicPr>
          <p:cNvPr id="1765" name="Google Shape;1765;p66"/>
          <p:cNvPicPr preferRelativeResize="0"/>
          <p:nvPr/>
        </p:nvPicPr>
        <p:blipFill rotWithShape="1">
          <a:blip r:embed="rId3">
            <a:alphaModFix/>
          </a:blip>
          <a:srcRect b="0" l="0" r="0" t="0"/>
          <a:stretch/>
        </p:blipFill>
        <p:spPr>
          <a:xfrm>
            <a:off x="3172870" y="2045962"/>
            <a:ext cx="1970806" cy="293928"/>
          </a:xfrm>
          <a:prstGeom prst="rect">
            <a:avLst/>
          </a:prstGeom>
          <a:noFill/>
          <a:ln>
            <a:noFill/>
          </a:ln>
        </p:spPr>
      </p:pic>
      <p:pic>
        <p:nvPicPr>
          <p:cNvPr id="1766" name="Google Shape;1766;p66"/>
          <p:cNvPicPr preferRelativeResize="0"/>
          <p:nvPr/>
        </p:nvPicPr>
        <p:blipFill rotWithShape="1">
          <a:blip r:embed="rId4">
            <a:alphaModFix/>
          </a:blip>
          <a:srcRect b="0" l="0" r="0" t="0"/>
          <a:stretch/>
        </p:blipFill>
        <p:spPr>
          <a:xfrm>
            <a:off x="8429402" y="2045953"/>
            <a:ext cx="1970806" cy="293933"/>
          </a:xfrm>
          <a:prstGeom prst="rect">
            <a:avLst/>
          </a:prstGeom>
          <a:noFill/>
          <a:ln>
            <a:noFill/>
          </a:ln>
        </p:spPr>
      </p:pic>
      <p:pic>
        <p:nvPicPr>
          <p:cNvPr id="1767" name="Google Shape;1767;p66"/>
          <p:cNvPicPr preferRelativeResize="0"/>
          <p:nvPr/>
        </p:nvPicPr>
        <p:blipFill rotWithShape="1">
          <a:blip r:embed="rId5">
            <a:alphaModFix/>
          </a:blip>
          <a:srcRect b="0" l="0" r="0" t="0"/>
          <a:stretch/>
        </p:blipFill>
        <p:spPr>
          <a:xfrm>
            <a:off x="3172870" y="2649339"/>
            <a:ext cx="1970806" cy="293928"/>
          </a:xfrm>
          <a:prstGeom prst="rect">
            <a:avLst/>
          </a:prstGeom>
          <a:noFill/>
          <a:ln>
            <a:noFill/>
          </a:ln>
        </p:spPr>
      </p:pic>
      <p:pic>
        <p:nvPicPr>
          <p:cNvPr id="1768" name="Google Shape;1768;p66"/>
          <p:cNvPicPr preferRelativeResize="0"/>
          <p:nvPr/>
        </p:nvPicPr>
        <p:blipFill rotWithShape="1">
          <a:blip r:embed="rId6">
            <a:alphaModFix/>
          </a:blip>
          <a:srcRect b="0" l="0" r="0" t="0"/>
          <a:stretch/>
        </p:blipFill>
        <p:spPr>
          <a:xfrm>
            <a:off x="8429402" y="2649345"/>
            <a:ext cx="1970806" cy="293933"/>
          </a:xfrm>
          <a:prstGeom prst="rect">
            <a:avLst/>
          </a:prstGeom>
          <a:noFill/>
          <a:ln>
            <a:noFill/>
          </a:ln>
        </p:spPr>
      </p:pic>
      <p:pic>
        <p:nvPicPr>
          <p:cNvPr id="1769" name="Google Shape;1769;p66"/>
          <p:cNvPicPr preferRelativeResize="0"/>
          <p:nvPr/>
        </p:nvPicPr>
        <p:blipFill>
          <a:blip r:embed="rId7">
            <a:alphaModFix/>
          </a:blip>
          <a:stretch>
            <a:fillRect/>
          </a:stretch>
        </p:blipFill>
        <p:spPr>
          <a:xfrm>
            <a:off x="2071451" y="2545713"/>
            <a:ext cx="424707" cy="433582"/>
          </a:xfrm>
          <a:prstGeom prst="rect">
            <a:avLst/>
          </a:prstGeom>
          <a:noFill/>
          <a:ln>
            <a:noFill/>
          </a:ln>
        </p:spPr>
      </p:pic>
      <p:pic>
        <p:nvPicPr>
          <p:cNvPr id="1770" name="Google Shape;1770;p66"/>
          <p:cNvPicPr preferRelativeResize="0"/>
          <p:nvPr/>
        </p:nvPicPr>
        <p:blipFill>
          <a:blip r:embed="rId8">
            <a:alphaModFix/>
          </a:blip>
          <a:stretch>
            <a:fillRect/>
          </a:stretch>
        </p:blipFill>
        <p:spPr>
          <a:xfrm>
            <a:off x="7354094" y="1976118"/>
            <a:ext cx="424707" cy="433577"/>
          </a:xfrm>
          <a:prstGeom prst="rect">
            <a:avLst/>
          </a:prstGeom>
          <a:noFill/>
          <a:ln>
            <a:noFill/>
          </a:ln>
        </p:spPr>
      </p:pic>
      <p:pic>
        <p:nvPicPr>
          <p:cNvPr id="1771" name="Google Shape;1771;p66"/>
          <p:cNvPicPr preferRelativeResize="0"/>
          <p:nvPr/>
        </p:nvPicPr>
        <p:blipFill>
          <a:blip r:embed="rId9">
            <a:alphaModFix/>
          </a:blip>
          <a:stretch>
            <a:fillRect/>
          </a:stretch>
        </p:blipFill>
        <p:spPr>
          <a:xfrm>
            <a:off x="7354094" y="2579525"/>
            <a:ext cx="424707" cy="433582"/>
          </a:xfrm>
          <a:prstGeom prst="rect">
            <a:avLst/>
          </a:prstGeom>
          <a:noFill/>
          <a:ln>
            <a:noFill/>
          </a:ln>
        </p:spPr>
      </p:pic>
      <p:pic>
        <p:nvPicPr>
          <p:cNvPr id="1772" name="Google Shape;1772;p66"/>
          <p:cNvPicPr preferRelativeResize="0"/>
          <p:nvPr/>
        </p:nvPicPr>
        <p:blipFill>
          <a:blip r:embed="rId8">
            <a:alphaModFix/>
          </a:blip>
          <a:stretch>
            <a:fillRect/>
          </a:stretch>
        </p:blipFill>
        <p:spPr>
          <a:xfrm>
            <a:off x="2071451" y="1976118"/>
            <a:ext cx="424707" cy="433577"/>
          </a:xfrm>
          <a:prstGeom prst="rect">
            <a:avLst/>
          </a:prstGeom>
          <a:noFill/>
          <a:ln>
            <a:noFill/>
          </a:ln>
        </p:spPr>
      </p:pic>
      <p:pic>
        <p:nvPicPr>
          <p:cNvPr id="1773" name="Google Shape;1773;p66"/>
          <p:cNvPicPr preferRelativeResize="0"/>
          <p:nvPr/>
        </p:nvPicPr>
        <p:blipFill rotWithShape="1">
          <a:blip r:embed="rId10">
            <a:alphaModFix/>
          </a:blip>
          <a:srcRect b="0" l="0" r="0" t="0"/>
          <a:stretch/>
        </p:blipFill>
        <p:spPr>
          <a:xfrm>
            <a:off x="7187954" y="3722687"/>
            <a:ext cx="756986" cy="393145"/>
          </a:xfrm>
          <a:prstGeom prst="rect">
            <a:avLst/>
          </a:prstGeom>
          <a:noFill/>
          <a:ln>
            <a:noFill/>
          </a:ln>
        </p:spPr>
      </p:pic>
      <p:pic>
        <p:nvPicPr>
          <p:cNvPr id="1774" name="Google Shape;1774;p66"/>
          <p:cNvPicPr preferRelativeResize="0"/>
          <p:nvPr/>
        </p:nvPicPr>
        <p:blipFill rotWithShape="1">
          <a:blip r:embed="rId11">
            <a:alphaModFix/>
          </a:blip>
          <a:srcRect b="0" l="0" r="0" t="0"/>
          <a:stretch/>
        </p:blipFill>
        <p:spPr>
          <a:xfrm>
            <a:off x="1902896" y="3721432"/>
            <a:ext cx="761817" cy="395654"/>
          </a:xfrm>
          <a:prstGeom prst="rect">
            <a:avLst/>
          </a:prstGeom>
          <a:noFill/>
          <a:ln>
            <a:noFill/>
          </a:ln>
        </p:spPr>
      </p:pic>
      <p:pic>
        <p:nvPicPr>
          <p:cNvPr id="1775" name="Google Shape;1775;p66"/>
          <p:cNvPicPr preferRelativeResize="0"/>
          <p:nvPr/>
        </p:nvPicPr>
        <p:blipFill rotWithShape="1">
          <a:blip r:embed="rId12">
            <a:alphaModFix/>
          </a:blip>
          <a:srcRect b="0" l="0" r="0" t="0"/>
          <a:stretch/>
        </p:blipFill>
        <p:spPr>
          <a:xfrm>
            <a:off x="1878375" y="5327411"/>
            <a:ext cx="810859" cy="296010"/>
          </a:xfrm>
          <a:prstGeom prst="rect">
            <a:avLst/>
          </a:prstGeom>
          <a:noFill/>
          <a:ln>
            <a:noFill/>
          </a:ln>
        </p:spPr>
      </p:pic>
      <p:pic>
        <p:nvPicPr>
          <p:cNvPr id="1776" name="Google Shape;1776;p66"/>
          <p:cNvPicPr preferRelativeResize="0"/>
          <p:nvPr/>
        </p:nvPicPr>
        <p:blipFill rotWithShape="1">
          <a:blip r:embed="rId13">
            <a:alphaModFix/>
          </a:blip>
          <a:srcRect b="0" l="0" r="0" t="0"/>
          <a:stretch/>
        </p:blipFill>
        <p:spPr>
          <a:xfrm>
            <a:off x="7161593" y="5327988"/>
            <a:ext cx="809710" cy="294856"/>
          </a:xfrm>
          <a:prstGeom prst="rect">
            <a:avLst/>
          </a:prstGeom>
          <a:noFill/>
          <a:ln>
            <a:noFill/>
          </a:ln>
        </p:spPr>
      </p:pic>
      <p:pic>
        <p:nvPicPr>
          <p:cNvPr id="1777" name="Google Shape;1777;p66"/>
          <p:cNvPicPr preferRelativeResize="0"/>
          <p:nvPr/>
        </p:nvPicPr>
        <p:blipFill rotWithShape="1">
          <a:blip r:embed="rId14">
            <a:alphaModFix/>
          </a:blip>
          <a:srcRect b="0" l="0" r="0" t="0"/>
          <a:stretch/>
        </p:blipFill>
        <p:spPr>
          <a:xfrm>
            <a:off x="7287397" y="4465310"/>
            <a:ext cx="558101" cy="433545"/>
          </a:xfrm>
          <a:prstGeom prst="rect">
            <a:avLst/>
          </a:prstGeom>
          <a:noFill/>
          <a:ln>
            <a:noFill/>
          </a:ln>
        </p:spPr>
      </p:pic>
      <p:pic>
        <p:nvPicPr>
          <p:cNvPr id="1778" name="Google Shape;1778;p66"/>
          <p:cNvPicPr preferRelativeResize="0"/>
          <p:nvPr/>
        </p:nvPicPr>
        <p:blipFill rotWithShape="1">
          <a:blip r:embed="rId15">
            <a:alphaModFix/>
          </a:blip>
          <a:srcRect b="0" l="0" r="0" t="0"/>
          <a:stretch/>
        </p:blipFill>
        <p:spPr>
          <a:xfrm>
            <a:off x="2004748" y="4465282"/>
            <a:ext cx="558112" cy="433575"/>
          </a:xfrm>
          <a:prstGeom prst="rect">
            <a:avLst/>
          </a:prstGeom>
          <a:noFill/>
          <a:ln>
            <a:noFill/>
          </a:ln>
        </p:spPr>
      </p:pic>
      <p:pic>
        <p:nvPicPr>
          <p:cNvPr id="1779" name="Google Shape;1779;p66"/>
          <p:cNvPicPr preferRelativeResize="0"/>
          <p:nvPr/>
        </p:nvPicPr>
        <p:blipFill rotWithShape="1">
          <a:blip r:embed="rId16">
            <a:alphaModFix/>
          </a:blip>
          <a:srcRect b="0" l="0" r="0" t="0"/>
          <a:stretch/>
        </p:blipFill>
        <p:spPr>
          <a:xfrm>
            <a:off x="9103585" y="5196022"/>
            <a:ext cx="622441" cy="558789"/>
          </a:xfrm>
          <a:prstGeom prst="rect">
            <a:avLst/>
          </a:prstGeom>
          <a:noFill/>
          <a:ln>
            <a:noFill/>
          </a:ln>
        </p:spPr>
      </p:pic>
      <p:pic>
        <p:nvPicPr>
          <p:cNvPr id="1780" name="Google Shape;1780;p66"/>
          <p:cNvPicPr preferRelativeResize="0"/>
          <p:nvPr/>
        </p:nvPicPr>
        <p:blipFill rotWithShape="1">
          <a:blip r:embed="rId17">
            <a:alphaModFix/>
          </a:blip>
          <a:srcRect b="0" l="0" r="0" t="0"/>
          <a:stretch/>
        </p:blipFill>
        <p:spPr>
          <a:xfrm>
            <a:off x="3847838" y="5196022"/>
            <a:ext cx="620871" cy="558789"/>
          </a:xfrm>
          <a:prstGeom prst="rect">
            <a:avLst/>
          </a:prstGeom>
          <a:noFill/>
          <a:ln>
            <a:noFill/>
          </a:ln>
        </p:spPr>
      </p:pic>
      <p:pic>
        <p:nvPicPr>
          <p:cNvPr id="1781" name="Google Shape;1781;p66"/>
          <p:cNvPicPr preferRelativeResize="0"/>
          <p:nvPr/>
        </p:nvPicPr>
        <p:blipFill>
          <a:blip r:embed="rId18">
            <a:alphaModFix/>
          </a:blip>
          <a:stretch>
            <a:fillRect/>
          </a:stretch>
        </p:blipFill>
        <p:spPr>
          <a:xfrm>
            <a:off x="9059256" y="4465281"/>
            <a:ext cx="711100" cy="433602"/>
          </a:xfrm>
          <a:prstGeom prst="rect">
            <a:avLst/>
          </a:prstGeom>
          <a:noFill/>
          <a:ln>
            <a:noFill/>
          </a:ln>
        </p:spPr>
      </p:pic>
      <p:pic>
        <p:nvPicPr>
          <p:cNvPr id="1782" name="Google Shape;1782;p66"/>
          <p:cNvPicPr preferRelativeResize="0"/>
          <p:nvPr/>
        </p:nvPicPr>
        <p:blipFill>
          <a:blip r:embed="rId19">
            <a:alphaModFix/>
          </a:blip>
          <a:stretch>
            <a:fillRect/>
          </a:stretch>
        </p:blipFill>
        <p:spPr>
          <a:xfrm>
            <a:off x="3802723" y="4465282"/>
            <a:ext cx="711101" cy="433575"/>
          </a:xfrm>
          <a:prstGeom prst="rect">
            <a:avLst/>
          </a:prstGeom>
          <a:noFill/>
          <a:ln>
            <a:noFill/>
          </a:ln>
        </p:spPr>
      </p:pic>
      <p:grpSp>
        <p:nvGrpSpPr>
          <p:cNvPr id="1783" name="Google Shape;1783;p66"/>
          <p:cNvGrpSpPr/>
          <p:nvPr/>
        </p:nvGrpSpPr>
        <p:grpSpPr>
          <a:xfrm>
            <a:off x="3802773" y="3670397"/>
            <a:ext cx="711000" cy="702603"/>
            <a:chOff x="3883045" y="3670397"/>
            <a:chExt cx="711000" cy="702603"/>
          </a:xfrm>
        </p:grpSpPr>
        <p:pic>
          <p:nvPicPr>
            <p:cNvPr id="1784" name="Google Shape;1784;p66"/>
            <p:cNvPicPr preferRelativeResize="0"/>
            <p:nvPr/>
          </p:nvPicPr>
          <p:blipFill>
            <a:blip r:embed="rId20">
              <a:alphaModFix/>
            </a:blip>
            <a:stretch>
              <a:fillRect/>
            </a:stretch>
          </p:blipFill>
          <p:spPr>
            <a:xfrm>
              <a:off x="3989683" y="3670397"/>
              <a:ext cx="497725" cy="497725"/>
            </a:xfrm>
            <a:prstGeom prst="rect">
              <a:avLst/>
            </a:prstGeom>
            <a:noFill/>
            <a:ln>
              <a:noFill/>
            </a:ln>
          </p:spPr>
        </p:pic>
        <p:sp>
          <p:nvSpPr>
            <p:cNvPr id="1785" name="Google Shape;1785;p66"/>
            <p:cNvSpPr txBox="1"/>
            <p:nvPr/>
          </p:nvSpPr>
          <p:spPr>
            <a:xfrm>
              <a:off x="3883045" y="4049900"/>
              <a:ext cx="7110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latin typeface="DM Sans"/>
                  <a:ea typeface="DM Sans"/>
                  <a:cs typeface="DM Sans"/>
                  <a:sym typeface="DM Sans"/>
                </a:rPr>
                <a:t>Photon</a:t>
              </a:r>
              <a:endParaRPr b="1" sz="900">
                <a:latin typeface="DM Sans"/>
                <a:ea typeface="DM Sans"/>
                <a:cs typeface="DM Sans"/>
                <a:sym typeface="DM Sans"/>
              </a:endParaRPr>
            </a:p>
          </p:txBody>
        </p:sp>
      </p:grpSp>
      <p:grpSp>
        <p:nvGrpSpPr>
          <p:cNvPr id="1786" name="Google Shape;1786;p66"/>
          <p:cNvGrpSpPr/>
          <p:nvPr/>
        </p:nvGrpSpPr>
        <p:grpSpPr>
          <a:xfrm>
            <a:off x="9059306" y="3670397"/>
            <a:ext cx="711000" cy="702603"/>
            <a:chOff x="9420155" y="3670397"/>
            <a:chExt cx="711000" cy="702603"/>
          </a:xfrm>
        </p:grpSpPr>
        <p:pic>
          <p:nvPicPr>
            <p:cNvPr id="1787" name="Google Shape;1787;p66"/>
            <p:cNvPicPr preferRelativeResize="0"/>
            <p:nvPr/>
          </p:nvPicPr>
          <p:blipFill>
            <a:blip r:embed="rId20">
              <a:alphaModFix/>
            </a:blip>
            <a:stretch>
              <a:fillRect/>
            </a:stretch>
          </p:blipFill>
          <p:spPr>
            <a:xfrm>
              <a:off x="9526793" y="3670397"/>
              <a:ext cx="497725" cy="497725"/>
            </a:xfrm>
            <a:prstGeom prst="rect">
              <a:avLst/>
            </a:prstGeom>
            <a:noFill/>
            <a:ln>
              <a:noFill/>
            </a:ln>
          </p:spPr>
        </p:pic>
        <p:sp>
          <p:nvSpPr>
            <p:cNvPr id="1788" name="Google Shape;1788;p66"/>
            <p:cNvSpPr txBox="1"/>
            <p:nvPr/>
          </p:nvSpPr>
          <p:spPr>
            <a:xfrm>
              <a:off x="9420155" y="4049900"/>
              <a:ext cx="7110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FFFFFF"/>
                  </a:solidFill>
                  <a:latin typeface="DM Sans"/>
                  <a:ea typeface="DM Sans"/>
                  <a:cs typeface="DM Sans"/>
                  <a:sym typeface="DM Sans"/>
                </a:rPr>
                <a:t>Photon</a:t>
              </a:r>
              <a:endParaRPr b="1" sz="900">
                <a:solidFill>
                  <a:srgbClr val="FFFFFF"/>
                </a:solidFill>
                <a:latin typeface="DM Sans"/>
                <a:ea typeface="DM Sans"/>
                <a:cs typeface="DM Sans"/>
                <a:sym typeface="DM Sans"/>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2" name="Shape 1792"/>
        <p:cNvGrpSpPr/>
        <p:nvPr/>
      </p:nvGrpSpPr>
      <p:grpSpPr>
        <a:xfrm>
          <a:off x="0" y="0"/>
          <a:ext cx="0" cy="0"/>
          <a:chOff x="0" y="0"/>
          <a:chExt cx="0" cy="0"/>
        </a:xfrm>
      </p:grpSpPr>
      <p:sp>
        <p:nvSpPr>
          <p:cNvPr id="1793" name="Google Shape;1793;p67"/>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Databricks Icons - Links to 112*112 PNGs</a:t>
            </a:r>
            <a:endParaRPr/>
          </a:p>
        </p:txBody>
      </p:sp>
      <p:sp>
        <p:nvSpPr>
          <p:cNvPr id="1794" name="Google Shape;1794;p67"/>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795" name="Google Shape;1795;p67"/>
          <p:cNvSpPr/>
          <p:nvPr/>
        </p:nvSpPr>
        <p:spPr>
          <a:xfrm>
            <a:off x="768075" y="2906138"/>
            <a:ext cx="800100" cy="482400"/>
          </a:xfrm>
          <a:prstGeom prst="rect">
            <a:avLst/>
          </a:prstGeom>
          <a:solidFill>
            <a:srgbClr val="618794"/>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618794</a:t>
            </a:r>
            <a:endParaRPr sz="1100">
              <a:latin typeface="DM Mono"/>
              <a:ea typeface="DM Mono"/>
              <a:cs typeface="DM Mono"/>
              <a:sym typeface="DM Mono"/>
            </a:endParaRPr>
          </a:p>
        </p:txBody>
      </p:sp>
      <p:sp>
        <p:nvSpPr>
          <p:cNvPr id="1796" name="Google Shape;1796;p67"/>
          <p:cNvSpPr/>
          <p:nvPr/>
        </p:nvSpPr>
        <p:spPr>
          <a:xfrm>
            <a:off x="768075" y="1470950"/>
            <a:ext cx="800100" cy="482400"/>
          </a:xfrm>
          <a:prstGeom prst="rect">
            <a:avLst/>
          </a:prstGeom>
          <a:solidFill>
            <a:srgbClr val="1B3139"/>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rgbClr val="F9F7F4"/>
                </a:solidFill>
                <a:latin typeface="DM Mono"/>
                <a:ea typeface="DM Mono"/>
                <a:cs typeface="DM Mono"/>
                <a:sym typeface="DM Mono"/>
              </a:rPr>
              <a:t>1B3139</a:t>
            </a:r>
            <a:endParaRPr sz="1100">
              <a:solidFill>
                <a:srgbClr val="F9F7F4"/>
              </a:solidFill>
              <a:latin typeface="DM Mono"/>
              <a:ea typeface="DM Mono"/>
              <a:cs typeface="DM Mono"/>
              <a:sym typeface="DM Mono"/>
            </a:endParaRPr>
          </a:p>
          <a:p>
            <a:pPr indent="0" lvl="0" marL="0" rtl="0" algn="l">
              <a:spcBef>
                <a:spcPts val="0"/>
              </a:spcBef>
              <a:spcAft>
                <a:spcPts val="0"/>
              </a:spcAft>
              <a:buNone/>
            </a:pPr>
            <a:r>
              <a:t/>
            </a:r>
            <a:endParaRPr sz="1100">
              <a:solidFill>
                <a:srgbClr val="F9F7F4"/>
              </a:solidFill>
              <a:latin typeface="DM Mono"/>
              <a:ea typeface="DM Mono"/>
              <a:cs typeface="DM Mono"/>
              <a:sym typeface="DM Mono"/>
            </a:endParaRPr>
          </a:p>
        </p:txBody>
      </p:sp>
      <p:sp>
        <p:nvSpPr>
          <p:cNvPr id="1797" name="Google Shape;1797;p67"/>
          <p:cNvSpPr/>
          <p:nvPr/>
        </p:nvSpPr>
        <p:spPr>
          <a:xfrm>
            <a:off x="768075" y="2188544"/>
            <a:ext cx="800100" cy="482400"/>
          </a:xfrm>
          <a:prstGeom prst="rect">
            <a:avLst/>
          </a:prstGeom>
          <a:solidFill>
            <a:srgbClr val="1B5162"/>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rgbClr val="F9F7F4"/>
                </a:solidFill>
                <a:latin typeface="DM Mono"/>
                <a:ea typeface="DM Mono"/>
                <a:cs typeface="DM Mono"/>
                <a:sym typeface="DM Mono"/>
              </a:rPr>
              <a:t>1B5162</a:t>
            </a:r>
            <a:endParaRPr sz="1100">
              <a:solidFill>
                <a:srgbClr val="F9F7F4"/>
              </a:solidFill>
              <a:latin typeface="DM Mono"/>
              <a:ea typeface="DM Mono"/>
              <a:cs typeface="DM Mono"/>
              <a:sym typeface="DM Mono"/>
            </a:endParaRPr>
          </a:p>
        </p:txBody>
      </p:sp>
      <p:sp>
        <p:nvSpPr>
          <p:cNvPr id="1798" name="Google Shape;1798;p67"/>
          <p:cNvSpPr/>
          <p:nvPr/>
        </p:nvSpPr>
        <p:spPr>
          <a:xfrm>
            <a:off x="768075" y="3623732"/>
            <a:ext cx="800100" cy="482400"/>
          </a:xfrm>
          <a:prstGeom prst="rect">
            <a:avLst/>
          </a:prstGeom>
          <a:solidFill>
            <a:srgbClr val="FF3621"/>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FF3621</a:t>
            </a:r>
            <a:endParaRPr sz="1100">
              <a:latin typeface="DM Mono"/>
              <a:ea typeface="DM Mono"/>
              <a:cs typeface="DM Mono"/>
              <a:sym typeface="DM Mono"/>
            </a:endParaRPr>
          </a:p>
        </p:txBody>
      </p:sp>
      <p:sp>
        <p:nvSpPr>
          <p:cNvPr id="1799" name="Google Shape;1799;p67"/>
          <p:cNvSpPr/>
          <p:nvPr/>
        </p:nvSpPr>
        <p:spPr>
          <a:xfrm>
            <a:off x="768075" y="4341326"/>
            <a:ext cx="800100" cy="482400"/>
          </a:xfrm>
          <a:prstGeom prst="rect">
            <a:avLst/>
          </a:prstGeom>
          <a:solidFill>
            <a:srgbClr val="FFAB00"/>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FFAB00</a:t>
            </a:r>
            <a:endParaRPr sz="1100">
              <a:latin typeface="DM Mono"/>
              <a:ea typeface="DM Mono"/>
              <a:cs typeface="DM Mono"/>
              <a:sym typeface="DM Mono"/>
            </a:endParaRPr>
          </a:p>
        </p:txBody>
      </p:sp>
      <p:sp>
        <p:nvSpPr>
          <p:cNvPr id="1800" name="Google Shape;1800;p67"/>
          <p:cNvSpPr/>
          <p:nvPr/>
        </p:nvSpPr>
        <p:spPr>
          <a:xfrm>
            <a:off x="768075" y="5058920"/>
            <a:ext cx="800100" cy="482400"/>
          </a:xfrm>
          <a:prstGeom prst="rect">
            <a:avLst/>
          </a:prstGeom>
          <a:solidFill>
            <a:srgbClr val="00A972"/>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00A972</a:t>
            </a:r>
            <a:endParaRPr sz="1100">
              <a:latin typeface="DM Mono"/>
              <a:ea typeface="DM Mono"/>
              <a:cs typeface="DM Mono"/>
              <a:sym typeface="DM Mono"/>
            </a:endParaRPr>
          </a:p>
        </p:txBody>
      </p:sp>
      <p:sp>
        <p:nvSpPr>
          <p:cNvPr id="1801" name="Google Shape;1801;p67"/>
          <p:cNvSpPr/>
          <p:nvPr/>
        </p:nvSpPr>
        <p:spPr>
          <a:xfrm>
            <a:off x="768075" y="5776514"/>
            <a:ext cx="800100" cy="482400"/>
          </a:xfrm>
          <a:prstGeom prst="rect">
            <a:avLst/>
          </a:prstGeom>
          <a:solidFill>
            <a:srgbClr val="98102A"/>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rgbClr val="F9F7F4"/>
                </a:solidFill>
                <a:latin typeface="DM Mono"/>
                <a:ea typeface="DM Mono"/>
                <a:cs typeface="DM Mono"/>
                <a:sym typeface="DM Mono"/>
              </a:rPr>
              <a:t>98102A</a:t>
            </a:r>
            <a:endParaRPr sz="1100">
              <a:solidFill>
                <a:srgbClr val="F9F7F4"/>
              </a:solidFill>
              <a:latin typeface="DM Mono"/>
              <a:ea typeface="DM Mono"/>
              <a:cs typeface="DM Mono"/>
              <a:sym typeface="DM Mono"/>
            </a:endParaRPr>
          </a:p>
        </p:txBody>
      </p:sp>
      <p:pic>
        <p:nvPicPr>
          <p:cNvPr id="1802" name="Google Shape;1802;p67"/>
          <p:cNvPicPr preferRelativeResize="0"/>
          <p:nvPr/>
        </p:nvPicPr>
        <p:blipFill>
          <a:blip r:embed="rId3">
            <a:alphaModFix/>
          </a:blip>
          <a:stretch>
            <a:fillRect/>
          </a:stretch>
        </p:blipFill>
        <p:spPr>
          <a:xfrm>
            <a:off x="1856878" y="3441992"/>
            <a:ext cx="800100" cy="800667"/>
          </a:xfrm>
          <a:prstGeom prst="rect">
            <a:avLst/>
          </a:prstGeom>
          <a:noFill/>
          <a:ln>
            <a:noFill/>
          </a:ln>
        </p:spPr>
      </p:pic>
      <p:pic>
        <p:nvPicPr>
          <p:cNvPr id="1803" name="Google Shape;1803;p67"/>
          <p:cNvPicPr preferRelativeResize="0"/>
          <p:nvPr/>
        </p:nvPicPr>
        <p:blipFill>
          <a:blip r:embed="rId4">
            <a:alphaModFix/>
          </a:blip>
          <a:stretch>
            <a:fillRect/>
          </a:stretch>
        </p:blipFill>
        <p:spPr>
          <a:xfrm>
            <a:off x="1856878" y="4152235"/>
            <a:ext cx="800100" cy="800667"/>
          </a:xfrm>
          <a:prstGeom prst="rect">
            <a:avLst/>
          </a:prstGeom>
          <a:noFill/>
          <a:ln>
            <a:noFill/>
          </a:ln>
        </p:spPr>
      </p:pic>
      <p:pic>
        <p:nvPicPr>
          <p:cNvPr id="1804" name="Google Shape;1804;p67"/>
          <p:cNvPicPr preferRelativeResize="0"/>
          <p:nvPr/>
        </p:nvPicPr>
        <p:blipFill>
          <a:blip r:embed="rId5">
            <a:alphaModFix/>
          </a:blip>
          <a:stretch>
            <a:fillRect/>
          </a:stretch>
        </p:blipFill>
        <p:spPr>
          <a:xfrm>
            <a:off x="1856878" y="2732010"/>
            <a:ext cx="800100" cy="800667"/>
          </a:xfrm>
          <a:prstGeom prst="rect">
            <a:avLst/>
          </a:prstGeom>
          <a:noFill/>
          <a:ln>
            <a:noFill/>
          </a:ln>
        </p:spPr>
      </p:pic>
      <p:pic>
        <p:nvPicPr>
          <p:cNvPr id="1805" name="Google Shape;1805;p67"/>
          <p:cNvPicPr preferRelativeResize="0"/>
          <p:nvPr/>
        </p:nvPicPr>
        <p:blipFill>
          <a:blip r:embed="rId6">
            <a:alphaModFix/>
          </a:blip>
          <a:stretch>
            <a:fillRect/>
          </a:stretch>
        </p:blipFill>
        <p:spPr>
          <a:xfrm>
            <a:off x="1856878" y="2021897"/>
            <a:ext cx="800100" cy="800667"/>
          </a:xfrm>
          <a:prstGeom prst="rect">
            <a:avLst/>
          </a:prstGeom>
          <a:noFill/>
          <a:ln>
            <a:noFill/>
          </a:ln>
        </p:spPr>
      </p:pic>
      <p:pic>
        <p:nvPicPr>
          <p:cNvPr id="1806" name="Google Shape;1806;p67"/>
          <p:cNvPicPr preferRelativeResize="0"/>
          <p:nvPr/>
        </p:nvPicPr>
        <p:blipFill>
          <a:blip r:embed="rId7">
            <a:alphaModFix/>
          </a:blip>
          <a:stretch>
            <a:fillRect/>
          </a:stretch>
        </p:blipFill>
        <p:spPr>
          <a:xfrm>
            <a:off x="1856878" y="1311784"/>
            <a:ext cx="800100" cy="800667"/>
          </a:xfrm>
          <a:prstGeom prst="rect">
            <a:avLst/>
          </a:prstGeom>
          <a:noFill/>
          <a:ln>
            <a:noFill/>
          </a:ln>
        </p:spPr>
      </p:pic>
      <p:pic>
        <p:nvPicPr>
          <p:cNvPr id="1807" name="Google Shape;1807;p67"/>
          <p:cNvPicPr preferRelativeResize="0"/>
          <p:nvPr/>
        </p:nvPicPr>
        <p:blipFill>
          <a:blip r:embed="rId8">
            <a:alphaModFix/>
          </a:blip>
          <a:stretch>
            <a:fillRect/>
          </a:stretch>
        </p:blipFill>
        <p:spPr>
          <a:xfrm>
            <a:off x="1856878" y="5617369"/>
            <a:ext cx="800100" cy="800667"/>
          </a:xfrm>
          <a:prstGeom prst="rect">
            <a:avLst/>
          </a:prstGeom>
          <a:noFill/>
          <a:ln>
            <a:noFill/>
          </a:ln>
        </p:spPr>
      </p:pic>
      <p:pic>
        <p:nvPicPr>
          <p:cNvPr id="1808" name="Google Shape;1808;p67"/>
          <p:cNvPicPr preferRelativeResize="0"/>
          <p:nvPr/>
        </p:nvPicPr>
        <p:blipFill>
          <a:blip r:embed="rId9">
            <a:alphaModFix/>
          </a:blip>
          <a:stretch>
            <a:fillRect/>
          </a:stretch>
        </p:blipFill>
        <p:spPr>
          <a:xfrm>
            <a:off x="1856878" y="4862084"/>
            <a:ext cx="800100" cy="800667"/>
          </a:xfrm>
          <a:prstGeom prst="rect">
            <a:avLst/>
          </a:prstGeom>
          <a:noFill/>
          <a:ln>
            <a:noFill/>
          </a:ln>
        </p:spPr>
      </p:pic>
      <p:pic>
        <p:nvPicPr>
          <p:cNvPr id="1809" name="Google Shape;1809;p67"/>
          <p:cNvPicPr preferRelativeResize="0"/>
          <p:nvPr/>
        </p:nvPicPr>
        <p:blipFill>
          <a:blip r:embed="rId10">
            <a:alphaModFix/>
          </a:blip>
          <a:stretch>
            <a:fillRect/>
          </a:stretch>
        </p:blipFill>
        <p:spPr>
          <a:xfrm>
            <a:off x="2744215" y="4861897"/>
            <a:ext cx="800100" cy="801035"/>
          </a:xfrm>
          <a:prstGeom prst="rect">
            <a:avLst/>
          </a:prstGeom>
          <a:noFill/>
          <a:ln>
            <a:noFill/>
          </a:ln>
        </p:spPr>
      </p:pic>
      <p:pic>
        <p:nvPicPr>
          <p:cNvPr id="1810" name="Google Shape;1810;p67"/>
          <p:cNvPicPr preferRelativeResize="0"/>
          <p:nvPr/>
        </p:nvPicPr>
        <p:blipFill>
          <a:blip r:embed="rId11">
            <a:alphaModFix/>
          </a:blip>
          <a:stretch>
            <a:fillRect/>
          </a:stretch>
        </p:blipFill>
        <p:spPr>
          <a:xfrm>
            <a:off x="2744215" y="3441802"/>
            <a:ext cx="800100" cy="801035"/>
          </a:xfrm>
          <a:prstGeom prst="rect">
            <a:avLst/>
          </a:prstGeom>
          <a:noFill/>
          <a:ln>
            <a:noFill/>
          </a:ln>
        </p:spPr>
      </p:pic>
      <p:pic>
        <p:nvPicPr>
          <p:cNvPr id="1811" name="Google Shape;1811;p67"/>
          <p:cNvPicPr preferRelativeResize="0"/>
          <p:nvPr/>
        </p:nvPicPr>
        <p:blipFill>
          <a:blip r:embed="rId12">
            <a:alphaModFix/>
          </a:blip>
          <a:stretch>
            <a:fillRect/>
          </a:stretch>
        </p:blipFill>
        <p:spPr>
          <a:xfrm>
            <a:off x="2744215" y="5617190"/>
            <a:ext cx="800100" cy="801035"/>
          </a:xfrm>
          <a:prstGeom prst="rect">
            <a:avLst/>
          </a:prstGeom>
          <a:noFill/>
          <a:ln>
            <a:noFill/>
          </a:ln>
        </p:spPr>
      </p:pic>
      <p:pic>
        <p:nvPicPr>
          <p:cNvPr id="1812" name="Google Shape;1812;p67"/>
          <p:cNvPicPr preferRelativeResize="0"/>
          <p:nvPr/>
        </p:nvPicPr>
        <p:blipFill>
          <a:blip r:embed="rId13">
            <a:alphaModFix/>
          </a:blip>
          <a:stretch>
            <a:fillRect/>
          </a:stretch>
        </p:blipFill>
        <p:spPr>
          <a:xfrm>
            <a:off x="2744215" y="1311615"/>
            <a:ext cx="800100" cy="801035"/>
          </a:xfrm>
          <a:prstGeom prst="rect">
            <a:avLst/>
          </a:prstGeom>
          <a:noFill/>
          <a:ln>
            <a:noFill/>
          </a:ln>
        </p:spPr>
      </p:pic>
      <p:pic>
        <p:nvPicPr>
          <p:cNvPr id="1813" name="Google Shape;1813;p67"/>
          <p:cNvPicPr preferRelativeResize="0"/>
          <p:nvPr/>
        </p:nvPicPr>
        <p:blipFill>
          <a:blip r:embed="rId14">
            <a:alphaModFix/>
          </a:blip>
          <a:stretch>
            <a:fillRect/>
          </a:stretch>
        </p:blipFill>
        <p:spPr>
          <a:xfrm>
            <a:off x="2744215" y="2021696"/>
            <a:ext cx="800100" cy="801035"/>
          </a:xfrm>
          <a:prstGeom prst="rect">
            <a:avLst/>
          </a:prstGeom>
          <a:noFill/>
          <a:ln>
            <a:noFill/>
          </a:ln>
        </p:spPr>
      </p:pic>
      <p:pic>
        <p:nvPicPr>
          <p:cNvPr id="1814" name="Google Shape;1814;p67"/>
          <p:cNvPicPr preferRelativeResize="0"/>
          <p:nvPr/>
        </p:nvPicPr>
        <p:blipFill>
          <a:blip r:embed="rId15">
            <a:alphaModFix/>
          </a:blip>
          <a:stretch>
            <a:fillRect/>
          </a:stretch>
        </p:blipFill>
        <p:spPr>
          <a:xfrm>
            <a:off x="2744215" y="2731816"/>
            <a:ext cx="800100" cy="801035"/>
          </a:xfrm>
          <a:prstGeom prst="rect">
            <a:avLst/>
          </a:prstGeom>
          <a:noFill/>
          <a:ln>
            <a:noFill/>
          </a:ln>
        </p:spPr>
      </p:pic>
      <p:pic>
        <p:nvPicPr>
          <p:cNvPr id="1815" name="Google Shape;1815;p67"/>
          <p:cNvPicPr preferRelativeResize="0"/>
          <p:nvPr/>
        </p:nvPicPr>
        <p:blipFill>
          <a:blip r:embed="rId16">
            <a:alphaModFix/>
          </a:blip>
          <a:stretch>
            <a:fillRect/>
          </a:stretch>
        </p:blipFill>
        <p:spPr>
          <a:xfrm>
            <a:off x="2744215" y="4107275"/>
            <a:ext cx="800100" cy="800100"/>
          </a:xfrm>
          <a:prstGeom prst="rect">
            <a:avLst/>
          </a:prstGeom>
          <a:noFill/>
          <a:ln>
            <a:noFill/>
          </a:ln>
        </p:spPr>
      </p:pic>
      <p:sp>
        <p:nvSpPr>
          <p:cNvPr id="1816" name="Google Shape;1816;p67"/>
          <p:cNvSpPr txBox="1"/>
          <p:nvPr/>
        </p:nvSpPr>
        <p:spPr>
          <a:xfrm>
            <a:off x="3615525" y="1590100"/>
            <a:ext cx="3045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u="sng">
                <a:solidFill>
                  <a:schemeClr val="hlink"/>
                </a:solidFill>
                <a:latin typeface="DM Sans"/>
                <a:ea typeface="DM Sans"/>
                <a:cs typeface="DM Sans"/>
                <a:sym typeface="DM Sans"/>
                <a:hlinkClick r:id="rId17"/>
              </a:rPr>
              <a:t>Google Drive &gt; Shared Drives &gt; Databricks Platform &gt; Published &gt; Databricks Icons 112x112 all colors &gt; dark cyan 3</a:t>
            </a:r>
            <a:endParaRPr sz="800">
              <a:latin typeface="DM Sans"/>
              <a:ea typeface="DM Sans"/>
              <a:cs typeface="DM Sans"/>
              <a:sym typeface="DM Sans"/>
            </a:endParaRPr>
          </a:p>
        </p:txBody>
      </p:sp>
      <p:sp>
        <p:nvSpPr>
          <p:cNvPr id="1817" name="Google Shape;1817;p67"/>
          <p:cNvSpPr txBox="1"/>
          <p:nvPr/>
        </p:nvSpPr>
        <p:spPr>
          <a:xfrm>
            <a:off x="3615525" y="2302383"/>
            <a:ext cx="3045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u="sng">
                <a:solidFill>
                  <a:schemeClr val="hlink"/>
                </a:solidFill>
                <a:latin typeface="DM Sans"/>
                <a:ea typeface="DM Sans"/>
                <a:cs typeface="DM Sans"/>
                <a:sym typeface="DM Sans"/>
                <a:hlinkClick r:id="rId18"/>
              </a:rPr>
              <a:t>Google Drive &gt; Shared Drives &gt; Databricks Platform &gt; Published &gt; Databricks Icons 112x112 all colors &gt; dark cyan 2</a:t>
            </a:r>
            <a:endParaRPr sz="800">
              <a:latin typeface="DM Sans"/>
              <a:ea typeface="DM Sans"/>
              <a:cs typeface="DM Sans"/>
              <a:sym typeface="DM Sans"/>
            </a:endParaRPr>
          </a:p>
        </p:txBody>
      </p:sp>
      <p:sp>
        <p:nvSpPr>
          <p:cNvPr id="1818" name="Google Shape;1818;p67"/>
          <p:cNvSpPr txBox="1"/>
          <p:nvPr/>
        </p:nvSpPr>
        <p:spPr>
          <a:xfrm>
            <a:off x="3615525" y="3014667"/>
            <a:ext cx="3045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u="sng">
                <a:solidFill>
                  <a:schemeClr val="hlink"/>
                </a:solidFill>
                <a:latin typeface="DM Sans"/>
                <a:ea typeface="DM Sans"/>
                <a:cs typeface="DM Sans"/>
                <a:sym typeface="DM Sans"/>
                <a:hlinkClick r:id="rId19"/>
              </a:rPr>
              <a:t>Google Drive &gt; Shared Drives &gt; Databricks Platform &gt; Published &gt; Databricks Icons 112x112 all colors &gt; dark cyan 1</a:t>
            </a:r>
            <a:endParaRPr sz="800">
              <a:latin typeface="DM Sans"/>
              <a:ea typeface="DM Sans"/>
              <a:cs typeface="DM Sans"/>
              <a:sym typeface="DM Sans"/>
            </a:endParaRPr>
          </a:p>
        </p:txBody>
      </p:sp>
      <p:sp>
        <p:nvSpPr>
          <p:cNvPr id="1819" name="Google Shape;1819;p67"/>
          <p:cNvSpPr txBox="1"/>
          <p:nvPr/>
        </p:nvSpPr>
        <p:spPr>
          <a:xfrm>
            <a:off x="3615525" y="3726950"/>
            <a:ext cx="3045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u="sng">
                <a:solidFill>
                  <a:schemeClr val="hlink"/>
                </a:solidFill>
                <a:latin typeface="DM Sans"/>
                <a:ea typeface="DM Sans"/>
                <a:cs typeface="DM Sans"/>
                <a:sym typeface="DM Sans"/>
                <a:hlinkClick r:id="rId20"/>
              </a:rPr>
              <a:t>Google Drive &gt; Shared Drives &gt; Databricks Platform &gt; Published &gt; Databricks Icons 112x112 all colors &gt; orange</a:t>
            </a:r>
            <a:endParaRPr sz="800">
              <a:latin typeface="DM Sans"/>
              <a:ea typeface="DM Sans"/>
              <a:cs typeface="DM Sans"/>
              <a:sym typeface="DM Sans"/>
            </a:endParaRPr>
          </a:p>
        </p:txBody>
      </p:sp>
      <p:sp>
        <p:nvSpPr>
          <p:cNvPr id="1820" name="Google Shape;1820;p67"/>
          <p:cNvSpPr txBox="1"/>
          <p:nvPr/>
        </p:nvSpPr>
        <p:spPr>
          <a:xfrm>
            <a:off x="3615525" y="4439233"/>
            <a:ext cx="3045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u="sng">
                <a:solidFill>
                  <a:schemeClr val="hlink"/>
                </a:solidFill>
                <a:latin typeface="DM Sans"/>
                <a:ea typeface="DM Sans"/>
                <a:cs typeface="DM Sans"/>
                <a:sym typeface="DM Sans"/>
                <a:hlinkClick r:id="rId21"/>
              </a:rPr>
              <a:t>Google Drive &gt; Shared Drives &gt; Databricks Platform &gt; Published &gt; Databricks Icons 112x112 all colors &gt; amber</a:t>
            </a:r>
            <a:endParaRPr sz="800">
              <a:latin typeface="DM Sans"/>
              <a:ea typeface="DM Sans"/>
              <a:cs typeface="DM Sans"/>
              <a:sym typeface="DM Sans"/>
            </a:endParaRPr>
          </a:p>
        </p:txBody>
      </p:sp>
      <p:sp>
        <p:nvSpPr>
          <p:cNvPr id="1821" name="Google Shape;1821;p67"/>
          <p:cNvSpPr txBox="1"/>
          <p:nvPr/>
        </p:nvSpPr>
        <p:spPr>
          <a:xfrm>
            <a:off x="3615525" y="5151517"/>
            <a:ext cx="3045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u="sng">
                <a:solidFill>
                  <a:schemeClr val="hlink"/>
                </a:solidFill>
                <a:latin typeface="DM Sans"/>
                <a:ea typeface="DM Sans"/>
                <a:cs typeface="DM Sans"/>
                <a:sym typeface="DM Sans"/>
                <a:hlinkClick r:id="rId22"/>
              </a:rPr>
              <a:t>Google Drive &gt; Shared Drives &gt; Databricks Platform &gt; Published &gt; Databricks Icons 112x112 all colors &gt; green</a:t>
            </a:r>
            <a:endParaRPr sz="800">
              <a:latin typeface="DM Sans"/>
              <a:ea typeface="DM Sans"/>
              <a:cs typeface="DM Sans"/>
              <a:sym typeface="DM Sans"/>
            </a:endParaRPr>
          </a:p>
        </p:txBody>
      </p:sp>
      <p:sp>
        <p:nvSpPr>
          <p:cNvPr id="1822" name="Google Shape;1822;p67"/>
          <p:cNvSpPr txBox="1"/>
          <p:nvPr/>
        </p:nvSpPr>
        <p:spPr>
          <a:xfrm>
            <a:off x="3615525" y="5863800"/>
            <a:ext cx="3045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u="sng">
                <a:solidFill>
                  <a:schemeClr val="hlink"/>
                </a:solidFill>
                <a:latin typeface="DM Sans"/>
                <a:ea typeface="DM Sans"/>
                <a:cs typeface="DM Sans"/>
                <a:sym typeface="DM Sans"/>
                <a:hlinkClick r:id="rId23"/>
              </a:rPr>
              <a:t>Google Drive &gt; Shared Drives &gt; Databricks Platform &gt; Published &gt; Databricks Icons 112x112 all colors &gt; dark red</a:t>
            </a:r>
            <a:endParaRPr sz="800">
              <a:latin typeface="DM Sans"/>
              <a:ea typeface="DM Sans"/>
              <a:cs typeface="DM Sans"/>
              <a:sym typeface="DM Sans"/>
            </a:endParaRPr>
          </a:p>
        </p:txBody>
      </p:sp>
      <p:sp>
        <p:nvSpPr>
          <p:cNvPr id="1823" name="Google Shape;1823;p67"/>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1824" name="Google Shape;1824;p67"/>
          <p:cNvPicPr preferRelativeResize="0"/>
          <p:nvPr/>
        </p:nvPicPr>
        <p:blipFill>
          <a:blip r:embed="rId24">
            <a:alphaModFix/>
          </a:blip>
          <a:stretch>
            <a:fillRect/>
          </a:stretch>
        </p:blipFill>
        <p:spPr>
          <a:xfrm>
            <a:off x="9191721" y="1343925"/>
            <a:ext cx="1986746" cy="870433"/>
          </a:xfrm>
          <a:prstGeom prst="rect">
            <a:avLst/>
          </a:prstGeom>
          <a:noFill/>
          <a:ln cap="flat" cmpd="sng" w="9525">
            <a:solidFill>
              <a:srgbClr val="D1D1D1"/>
            </a:solidFill>
            <a:prstDash val="solid"/>
            <a:round/>
            <a:headEnd len="sm" w="sm" type="none"/>
            <a:tailEnd len="sm" w="sm" type="none"/>
          </a:ln>
        </p:spPr>
      </p:pic>
      <p:pic>
        <p:nvPicPr>
          <p:cNvPr id="1825" name="Google Shape;1825;p67"/>
          <p:cNvPicPr preferRelativeResize="0"/>
          <p:nvPr/>
        </p:nvPicPr>
        <p:blipFill>
          <a:blip r:embed="rId25">
            <a:alphaModFix/>
          </a:blip>
          <a:stretch>
            <a:fillRect/>
          </a:stretch>
        </p:blipFill>
        <p:spPr>
          <a:xfrm>
            <a:off x="9191721" y="2514859"/>
            <a:ext cx="2675222" cy="870433"/>
          </a:xfrm>
          <a:prstGeom prst="rect">
            <a:avLst/>
          </a:prstGeom>
          <a:noFill/>
          <a:ln cap="flat" cmpd="sng" w="9525">
            <a:solidFill>
              <a:srgbClr val="D1D1D1"/>
            </a:solidFill>
            <a:prstDash val="solid"/>
            <a:round/>
            <a:headEnd len="sm" w="sm" type="none"/>
            <a:tailEnd len="sm" w="sm" type="none"/>
          </a:ln>
        </p:spPr>
      </p:pic>
      <p:pic>
        <p:nvPicPr>
          <p:cNvPr id="1826" name="Google Shape;1826;p67"/>
          <p:cNvPicPr preferRelativeResize="0"/>
          <p:nvPr/>
        </p:nvPicPr>
        <p:blipFill rotWithShape="1">
          <a:blip r:embed="rId26">
            <a:alphaModFix/>
          </a:blip>
          <a:srcRect b="0" l="16198" r="0" t="0"/>
          <a:stretch/>
        </p:blipFill>
        <p:spPr>
          <a:xfrm>
            <a:off x="7906175" y="3690686"/>
            <a:ext cx="4191001" cy="1509739"/>
          </a:xfrm>
          <a:prstGeom prst="rect">
            <a:avLst/>
          </a:prstGeom>
          <a:noFill/>
          <a:ln cap="flat" cmpd="sng" w="9525">
            <a:solidFill>
              <a:srgbClr val="D1D1D1"/>
            </a:solidFill>
            <a:prstDash val="solid"/>
            <a:round/>
            <a:headEnd len="sm" w="sm" type="none"/>
            <a:tailEnd len="sm" w="sm" type="none"/>
          </a:ln>
        </p:spPr>
      </p:pic>
      <p:sp>
        <p:nvSpPr>
          <p:cNvPr id="1827" name="Google Shape;1827;p67"/>
          <p:cNvSpPr/>
          <p:nvPr/>
        </p:nvSpPr>
        <p:spPr>
          <a:xfrm>
            <a:off x="10623475" y="1639350"/>
            <a:ext cx="474300" cy="5493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67"/>
          <p:cNvSpPr/>
          <p:nvPr/>
        </p:nvSpPr>
        <p:spPr>
          <a:xfrm>
            <a:off x="9158200" y="1947151"/>
            <a:ext cx="843600" cy="1866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29" name="Google Shape;1829;p67"/>
          <p:cNvCxnSpPr>
            <a:stCxn id="1828" idx="3"/>
            <a:endCxn id="1827" idx="1"/>
          </p:cNvCxnSpPr>
          <p:nvPr/>
        </p:nvCxnSpPr>
        <p:spPr>
          <a:xfrm flipH="1" rot="10800000">
            <a:off x="10001800" y="1913851"/>
            <a:ext cx="621600" cy="126600"/>
          </a:xfrm>
          <a:prstGeom prst="curvedConnector3">
            <a:avLst>
              <a:gd fmla="val 50006" name="adj1"/>
            </a:avLst>
          </a:prstGeom>
          <a:noFill/>
          <a:ln cap="flat" cmpd="sng" w="9525">
            <a:solidFill>
              <a:schemeClr val="dk2"/>
            </a:solidFill>
            <a:prstDash val="solid"/>
            <a:round/>
            <a:headEnd len="med" w="med" type="none"/>
            <a:tailEnd len="med" w="med" type="triangle"/>
          </a:ln>
        </p:spPr>
      </p:cxnSp>
      <p:cxnSp>
        <p:nvCxnSpPr>
          <p:cNvPr id="1830" name="Google Shape;1830;p67"/>
          <p:cNvCxnSpPr>
            <a:stCxn id="1827" idx="2"/>
            <a:endCxn id="1825" idx="0"/>
          </p:cNvCxnSpPr>
          <p:nvPr/>
        </p:nvCxnSpPr>
        <p:spPr>
          <a:xfrm rot="5400000">
            <a:off x="10531975" y="2186100"/>
            <a:ext cx="326100" cy="331200"/>
          </a:xfrm>
          <a:prstGeom prst="curvedConnector3">
            <a:avLst>
              <a:gd fmla="val 50017" name="adj1"/>
            </a:avLst>
          </a:prstGeom>
          <a:noFill/>
          <a:ln cap="flat" cmpd="sng" w="9525">
            <a:solidFill>
              <a:schemeClr val="dk2"/>
            </a:solidFill>
            <a:prstDash val="solid"/>
            <a:round/>
            <a:headEnd len="med" w="med" type="none"/>
            <a:tailEnd len="med" w="med" type="triangle"/>
          </a:ln>
        </p:spPr>
      </p:cxnSp>
      <p:sp>
        <p:nvSpPr>
          <p:cNvPr id="1831" name="Google Shape;1831;p67"/>
          <p:cNvSpPr/>
          <p:nvPr/>
        </p:nvSpPr>
        <p:spPr>
          <a:xfrm>
            <a:off x="11438025" y="2808326"/>
            <a:ext cx="474300" cy="5835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32" name="Google Shape;1832;p67"/>
          <p:cNvCxnSpPr>
            <a:stCxn id="1831" idx="2"/>
            <a:endCxn id="1826" idx="0"/>
          </p:cNvCxnSpPr>
          <p:nvPr/>
        </p:nvCxnSpPr>
        <p:spPr>
          <a:xfrm rot="5400000">
            <a:off x="10689075" y="2704526"/>
            <a:ext cx="298800" cy="1673400"/>
          </a:xfrm>
          <a:prstGeom prst="curvedConnector3">
            <a:avLst>
              <a:gd fmla="val 50010" name="adj1"/>
            </a:avLst>
          </a:prstGeom>
          <a:noFill/>
          <a:ln cap="flat" cmpd="sng" w="9525">
            <a:solidFill>
              <a:schemeClr val="dk2"/>
            </a:solidFill>
            <a:prstDash val="dash"/>
            <a:round/>
            <a:headEnd len="med" w="med" type="none"/>
            <a:tailEnd len="med" w="med" type="triangle"/>
          </a:ln>
        </p:spPr>
      </p:cxnSp>
      <p:sp>
        <p:nvSpPr>
          <p:cNvPr id="1833" name="Google Shape;1833;p67"/>
          <p:cNvSpPr/>
          <p:nvPr/>
        </p:nvSpPr>
        <p:spPr>
          <a:xfrm>
            <a:off x="7829550" y="4868100"/>
            <a:ext cx="3312300" cy="2703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4" name="Google Shape;1834;p67"/>
          <p:cNvPicPr preferRelativeResize="0"/>
          <p:nvPr/>
        </p:nvPicPr>
        <p:blipFill>
          <a:blip r:embed="rId27">
            <a:alphaModFix/>
          </a:blip>
          <a:stretch>
            <a:fillRect/>
          </a:stretch>
        </p:blipFill>
        <p:spPr>
          <a:xfrm>
            <a:off x="7672424" y="5287357"/>
            <a:ext cx="1673400" cy="1510993"/>
          </a:xfrm>
          <a:prstGeom prst="rect">
            <a:avLst/>
          </a:prstGeom>
          <a:noFill/>
          <a:ln cap="flat" cmpd="sng" w="9525">
            <a:solidFill>
              <a:srgbClr val="D1D1D1"/>
            </a:solidFill>
            <a:prstDash val="solid"/>
            <a:round/>
            <a:headEnd len="sm" w="sm" type="none"/>
            <a:tailEnd len="sm" w="sm" type="none"/>
          </a:ln>
        </p:spPr>
      </p:pic>
      <p:sp>
        <p:nvSpPr>
          <p:cNvPr id="1835" name="Google Shape;1835;p67"/>
          <p:cNvSpPr/>
          <p:nvPr/>
        </p:nvSpPr>
        <p:spPr>
          <a:xfrm>
            <a:off x="7976873" y="4011630"/>
            <a:ext cx="474300" cy="5493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36" name="Google Shape;1836;p67"/>
          <p:cNvCxnSpPr>
            <a:stCxn id="1835" idx="1"/>
            <a:endCxn id="1834" idx="1"/>
          </p:cNvCxnSpPr>
          <p:nvPr/>
        </p:nvCxnSpPr>
        <p:spPr>
          <a:xfrm flipH="1">
            <a:off x="7672373" y="4286280"/>
            <a:ext cx="304500" cy="1756500"/>
          </a:xfrm>
          <a:prstGeom prst="curvedConnector3">
            <a:avLst>
              <a:gd fmla="val 178185" name="adj1"/>
            </a:avLst>
          </a:prstGeom>
          <a:noFill/>
          <a:ln cap="flat" cmpd="sng" w="9525">
            <a:solidFill>
              <a:schemeClr val="dk2"/>
            </a:solidFill>
            <a:prstDash val="solid"/>
            <a:round/>
            <a:headEnd len="med" w="med" type="none"/>
            <a:tailEnd len="med" w="med" type="triangle"/>
          </a:ln>
        </p:spPr>
      </p:cxnSp>
      <p:pic>
        <p:nvPicPr>
          <p:cNvPr id="1837" name="Google Shape;1837;p67"/>
          <p:cNvPicPr preferRelativeResize="0"/>
          <p:nvPr/>
        </p:nvPicPr>
        <p:blipFill>
          <a:blip r:embed="rId28">
            <a:alphaModFix/>
          </a:blip>
          <a:stretch>
            <a:fillRect/>
          </a:stretch>
        </p:blipFill>
        <p:spPr>
          <a:xfrm>
            <a:off x="10031550" y="5333275"/>
            <a:ext cx="1066800" cy="1066800"/>
          </a:xfrm>
          <a:prstGeom prst="rect">
            <a:avLst/>
          </a:prstGeom>
          <a:noFill/>
          <a:ln>
            <a:noFill/>
          </a:ln>
        </p:spPr>
      </p:pic>
      <p:cxnSp>
        <p:nvCxnSpPr>
          <p:cNvPr id="1838" name="Google Shape;1838;p67"/>
          <p:cNvCxnSpPr>
            <a:stCxn id="1839" idx="3"/>
          </p:cNvCxnSpPr>
          <p:nvPr/>
        </p:nvCxnSpPr>
        <p:spPr>
          <a:xfrm flipH="1" rot="10800000">
            <a:off x="9317561" y="5859780"/>
            <a:ext cx="1198200" cy="6900"/>
          </a:xfrm>
          <a:prstGeom prst="curvedConnector3">
            <a:avLst>
              <a:gd fmla="val 50000" name="adj1"/>
            </a:avLst>
          </a:prstGeom>
          <a:noFill/>
          <a:ln cap="flat" cmpd="sng" w="9525">
            <a:solidFill>
              <a:schemeClr val="dk2"/>
            </a:solidFill>
            <a:prstDash val="solid"/>
            <a:round/>
            <a:headEnd len="med" w="med" type="none"/>
            <a:tailEnd len="med" w="med" type="triangle"/>
          </a:ln>
        </p:spPr>
      </p:cxnSp>
      <p:sp>
        <p:nvSpPr>
          <p:cNvPr id="1839" name="Google Shape;1839;p67"/>
          <p:cNvSpPr/>
          <p:nvPr/>
        </p:nvSpPr>
        <p:spPr>
          <a:xfrm>
            <a:off x="8843261" y="5592030"/>
            <a:ext cx="474300" cy="5493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67"/>
          <p:cNvSpPr txBox="1"/>
          <p:nvPr/>
        </p:nvSpPr>
        <p:spPr>
          <a:xfrm>
            <a:off x="11178475" y="1311625"/>
            <a:ext cx="843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DM Sans"/>
                <a:ea typeface="DM Sans"/>
                <a:cs typeface="DM Sans"/>
                <a:sym typeface="DM Sans"/>
              </a:rPr>
              <a:t>Mac </a:t>
            </a:r>
            <a:endParaRPr>
              <a:latin typeface="DM Sans"/>
              <a:ea typeface="DM Sans"/>
              <a:cs typeface="DM Sans"/>
              <a:sym typeface="DM Sans"/>
            </a:endParaRPr>
          </a:p>
          <a:p>
            <a:pPr indent="0" lvl="0" marL="0" rtl="0" algn="l">
              <a:spcBef>
                <a:spcPts val="0"/>
              </a:spcBef>
              <a:spcAft>
                <a:spcPts val="0"/>
              </a:spcAft>
              <a:buNone/>
            </a:pPr>
            <a:r>
              <a:rPr lang="en">
                <a:latin typeface="DM Sans"/>
                <a:ea typeface="DM Sans"/>
                <a:cs typeface="DM Sans"/>
                <a:sym typeface="DM Sans"/>
              </a:rPr>
              <a:t>Finder</a:t>
            </a:r>
            <a:endParaRPr>
              <a:latin typeface="DM Sans"/>
              <a:ea typeface="DM Sans"/>
              <a:cs typeface="DM Sans"/>
              <a:sym typeface="DM Sans"/>
            </a:endParaRPr>
          </a:p>
        </p:txBody>
      </p:sp>
      <p:sp>
        <p:nvSpPr>
          <p:cNvPr id="1841" name="Google Shape;1841;p67"/>
          <p:cNvSpPr txBox="1"/>
          <p:nvPr/>
        </p:nvSpPr>
        <p:spPr>
          <a:xfrm>
            <a:off x="11097675" y="5592025"/>
            <a:ext cx="843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DM Sans"/>
                <a:ea typeface="DM Sans"/>
                <a:cs typeface="DM Sans"/>
                <a:sym typeface="DM Sans"/>
              </a:rPr>
              <a:t>Google slides</a:t>
            </a:r>
            <a:endParaRPr>
              <a:latin typeface="DM Sans"/>
              <a:ea typeface="DM Sans"/>
              <a:cs typeface="DM Sans"/>
              <a:sym typeface="DM Sans"/>
            </a:endParaRPr>
          </a:p>
        </p:txBody>
      </p:sp>
      <p:sp>
        <p:nvSpPr>
          <p:cNvPr id="1842" name="Google Shape;1842;p67"/>
          <p:cNvSpPr txBox="1"/>
          <p:nvPr/>
        </p:nvSpPr>
        <p:spPr>
          <a:xfrm>
            <a:off x="9358025" y="5786100"/>
            <a:ext cx="895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DM Sans"/>
                <a:ea typeface="DM Sans"/>
                <a:cs typeface="DM Sans"/>
                <a:sym typeface="DM Sans"/>
              </a:rPr>
              <a:t>drag &amp; drop</a:t>
            </a:r>
            <a:endParaRPr sz="1000">
              <a:solidFill>
                <a:schemeClr val="dk2"/>
              </a:solidFill>
              <a:latin typeface="DM Sans"/>
              <a:ea typeface="DM Sans"/>
              <a:cs typeface="DM Sans"/>
              <a:sym typeface="DM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6" name="Shape 1846"/>
        <p:cNvGrpSpPr/>
        <p:nvPr/>
      </p:nvGrpSpPr>
      <p:grpSpPr>
        <a:xfrm>
          <a:off x="0" y="0"/>
          <a:ext cx="0" cy="0"/>
          <a:chOff x="0" y="0"/>
          <a:chExt cx="0" cy="0"/>
        </a:xfrm>
      </p:grpSpPr>
      <p:sp>
        <p:nvSpPr>
          <p:cNvPr id="1847" name="Google Shape;1847;p68"/>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Databricks Icons - Overview in orange</a:t>
            </a:r>
            <a:endParaRPr/>
          </a:p>
        </p:txBody>
      </p:sp>
      <p:sp>
        <p:nvSpPr>
          <p:cNvPr id="1848" name="Google Shape;1848;p68"/>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t/>
            </a:r>
            <a:endParaRPr/>
          </a:p>
        </p:txBody>
      </p:sp>
      <p:sp>
        <p:nvSpPr>
          <p:cNvPr id="1849" name="Google Shape;1849;p68"/>
          <p:cNvSpPr txBox="1"/>
          <p:nvPr>
            <p:ph idx="2" type="body"/>
          </p:nvPr>
        </p:nvSpPr>
        <p:spPr>
          <a:xfrm>
            <a:off x="761809" y="1988833"/>
            <a:ext cx="10659300" cy="41499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t/>
            </a:r>
            <a:endParaRPr/>
          </a:p>
        </p:txBody>
      </p:sp>
      <p:sp>
        <p:nvSpPr>
          <p:cNvPr id="1850" name="Google Shape;1850;p68"/>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1851" name="Google Shape;1851;p68"/>
          <p:cNvPicPr preferRelativeResize="0"/>
          <p:nvPr/>
        </p:nvPicPr>
        <p:blipFill rotWithShape="1">
          <a:blip r:embed="rId3">
            <a:alphaModFix/>
          </a:blip>
          <a:srcRect b="8012" l="0" r="0" t="0"/>
          <a:stretch/>
        </p:blipFill>
        <p:spPr>
          <a:xfrm>
            <a:off x="0" y="1160450"/>
            <a:ext cx="12188948" cy="57156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5" name="Shape 1855"/>
        <p:cNvGrpSpPr/>
        <p:nvPr/>
      </p:nvGrpSpPr>
      <p:grpSpPr>
        <a:xfrm>
          <a:off x="0" y="0"/>
          <a:ext cx="0" cy="0"/>
          <a:chOff x="0" y="0"/>
          <a:chExt cx="0" cy="0"/>
        </a:xfrm>
      </p:grpSpPr>
      <p:sp>
        <p:nvSpPr>
          <p:cNvPr id="1856" name="Google Shape;1856;p69"/>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Cloud Service Logos (selected)</a:t>
            </a:r>
            <a:endParaRPr/>
          </a:p>
        </p:txBody>
      </p:sp>
      <p:sp>
        <p:nvSpPr>
          <p:cNvPr id="1857" name="Google Shape;1857;p69"/>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858" name="Google Shape;1858;p69"/>
          <p:cNvSpPr/>
          <p:nvPr/>
        </p:nvSpPr>
        <p:spPr>
          <a:xfrm>
            <a:off x="1636050" y="1214675"/>
            <a:ext cx="2609100" cy="276300"/>
          </a:xfrm>
          <a:prstGeom prst="rect">
            <a:avLst/>
          </a:prstGeom>
          <a:solidFill>
            <a:srgbClr val="EFEFEF"/>
          </a:solidFill>
          <a:ln>
            <a:noFill/>
          </a:ln>
        </p:spPr>
        <p:txBody>
          <a:bodyPr anchorCtr="0" anchor="ctr" bIns="146275" lIns="182850" spcFirstLastPara="1" rIns="18285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b="1" i="0" lang="en" sz="1300" u="none" cap="none" strike="noStrike">
                <a:solidFill>
                  <a:schemeClr val="dk1"/>
                </a:solidFill>
                <a:latin typeface="DM Sans"/>
                <a:ea typeface="DM Sans"/>
                <a:cs typeface="DM Sans"/>
                <a:sym typeface="DM Sans"/>
              </a:rPr>
              <a:t>Ingest</a:t>
            </a:r>
            <a:endParaRPr b="1" i="0" sz="1300" u="none" cap="none" strike="noStrike">
              <a:solidFill>
                <a:schemeClr val="dk1"/>
              </a:solidFill>
              <a:latin typeface="DM Sans"/>
              <a:ea typeface="DM Sans"/>
              <a:cs typeface="DM Sans"/>
              <a:sym typeface="DM Sans"/>
            </a:endParaRPr>
          </a:p>
        </p:txBody>
      </p:sp>
      <p:sp>
        <p:nvSpPr>
          <p:cNvPr id="1859" name="Google Shape;1859;p69"/>
          <p:cNvSpPr/>
          <p:nvPr/>
        </p:nvSpPr>
        <p:spPr>
          <a:xfrm>
            <a:off x="4288392" y="1214675"/>
            <a:ext cx="1041900" cy="276300"/>
          </a:xfrm>
          <a:prstGeom prst="rect">
            <a:avLst/>
          </a:prstGeom>
          <a:solidFill>
            <a:srgbClr val="EFEFEF"/>
          </a:solidFill>
          <a:ln>
            <a:noFill/>
          </a:ln>
        </p:spPr>
        <p:txBody>
          <a:bodyPr anchorCtr="0" anchor="ctr" bIns="146275" lIns="182850" spcFirstLastPara="1" rIns="18285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b="1" i="0" lang="en" u="none" cap="none" strike="noStrike">
                <a:solidFill>
                  <a:schemeClr val="dk1"/>
                </a:solidFill>
                <a:latin typeface="DM Sans"/>
                <a:ea typeface="DM Sans"/>
                <a:cs typeface="DM Sans"/>
                <a:sym typeface="DM Sans"/>
              </a:rPr>
              <a:t>Stor</a:t>
            </a:r>
            <a:r>
              <a:rPr b="1" lang="en">
                <a:solidFill>
                  <a:schemeClr val="dk1"/>
                </a:solidFill>
                <a:latin typeface="DM Sans"/>
                <a:ea typeface="DM Sans"/>
                <a:cs typeface="DM Sans"/>
                <a:sym typeface="DM Sans"/>
              </a:rPr>
              <a:t>age</a:t>
            </a:r>
            <a:endParaRPr b="1" i="0" u="none" cap="none" strike="noStrike">
              <a:solidFill>
                <a:schemeClr val="dk1"/>
              </a:solidFill>
              <a:latin typeface="DM Sans"/>
              <a:ea typeface="DM Sans"/>
              <a:cs typeface="DM Sans"/>
              <a:sym typeface="DM Sans"/>
            </a:endParaRPr>
          </a:p>
        </p:txBody>
      </p:sp>
      <p:sp>
        <p:nvSpPr>
          <p:cNvPr id="1860" name="Google Shape;1860;p69"/>
          <p:cNvSpPr/>
          <p:nvPr/>
        </p:nvSpPr>
        <p:spPr>
          <a:xfrm>
            <a:off x="5373533" y="1214687"/>
            <a:ext cx="2609100" cy="275400"/>
          </a:xfrm>
          <a:prstGeom prst="rect">
            <a:avLst/>
          </a:prstGeom>
          <a:solidFill>
            <a:srgbClr val="EFEFEF"/>
          </a:solidFill>
          <a:ln>
            <a:noFill/>
          </a:ln>
        </p:spPr>
        <p:txBody>
          <a:bodyPr anchorCtr="0" anchor="ctr" bIns="146275" lIns="182850" spcFirstLastPara="1" rIns="18285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b="1" i="0" lang="en" sz="1300" u="none" cap="none" strike="noStrike">
                <a:solidFill>
                  <a:schemeClr val="dk1"/>
                </a:solidFill>
                <a:latin typeface="DM Sans"/>
                <a:ea typeface="DM Sans"/>
                <a:cs typeface="DM Sans"/>
                <a:sym typeface="DM Sans"/>
              </a:rPr>
              <a:t>Serve</a:t>
            </a:r>
            <a:endParaRPr b="1" i="0" sz="1300" u="none" cap="none" strike="noStrike">
              <a:solidFill>
                <a:schemeClr val="dk1"/>
              </a:solidFill>
              <a:latin typeface="DM Sans"/>
              <a:ea typeface="DM Sans"/>
              <a:cs typeface="DM Sans"/>
              <a:sym typeface="DM Sans"/>
            </a:endParaRPr>
          </a:p>
        </p:txBody>
      </p:sp>
      <p:sp>
        <p:nvSpPr>
          <p:cNvPr id="1861" name="Google Shape;1861;p69"/>
          <p:cNvSpPr/>
          <p:nvPr/>
        </p:nvSpPr>
        <p:spPr>
          <a:xfrm>
            <a:off x="8025875" y="1214687"/>
            <a:ext cx="1435500" cy="275400"/>
          </a:xfrm>
          <a:prstGeom prst="rect">
            <a:avLst/>
          </a:prstGeom>
          <a:solidFill>
            <a:srgbClr val="EFEFEF"/>
          </a:solidFill>
          <a:ln>
            <a:noFill/>
          </a:ln>
        </p:spPr>
        <p:txBody>
          <a:bodyPr anchorCtr="0" anchor="ctr" bIns="146275" lIns="0" spcFirstLastPara="1" rIns="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b="1" lang="en" sz="1300">
                <a:solidFill>
                  <a:schemeClr val="dk1"/>
                </a:solidFill>
                <a:latin typeface="DM Sans"/>
                <a:ea typeface="DM Sans"/>
                <a:cs typeface="DM Sans"/>
                <a:sym typeface="DM Sans"/>
              </a:rPr>
              <a:t>Analysis/Output</a:t>
            </a:r>
            <a:endParaRPr b="1" i="0" sz="1300" u="none" cap="none" strike="noStrike">
              <a:solidFill>
                <a:schemeClr val="dk1"/>
              </a:solidFill>
              <a:latin typeface="DM Sans"/>
              <a:ea typeface="DM Sans"/>
              <a:cs typeface="DM Sans"/>
              <a:sym typeface="DM Sans"/>
            </a:endParaRPr>
          </a:p>
        </p:txBody>
      </p:sp>
      <p:pic>
        <p:nvPicPr>
          <p:cNvPr descr="A picture containing flower&#10;&#10;Description automatically generated" id="1862" name="Google Shape;1862;p69"/>
          <p:cNvPicPr preferRelativeResize="0"/>
          <p:nvPr/>
        </p:nvPicPr>
        <p:blipFill rotWithShape="1">
          <a:blip r:embed="rId3">
            <a:alphaModFix/>
          </a:blip>
          <a:srcRect b="0" l="0" r="0" t="0"/>
          <a:stretch/>
        </p:blipFill>
        <p:spPr>
          <a:xfrm>
            <a:off x="451639" y="3535553"/>
            <a:ext cx="982991" cy="587825"/>
          </a:xfrm>
          <a:prstGeom prst="rect">
            <a:avLst/>
          </a:prstGeom>
          <a:noFill/>
          <a:ln>
            <a:noFill/>
          </a:ln>
        </p:spPr>
      </p:pic>
      <p:pic>
        <p:nvPicPr>
          <p:cNvPr id="1863" name="Google Shape;1863;p69"/>
          <p:cNvPicPr preferRelativeResize="0"/>
          <p:nvPr/>
        </p:nvPicPr>
        <p:blipFill>
          <a:blip r:embed="rId4">
            <a:alphaModFix/>
          </a:blip>
          <a:stretch>
            <a:fillRect/>
          </a:stretch>
        </p:blipFill>
        <p:spPr>
          <a:xfrm>
            <a:off x="531506" y="4964106"/>
            <a:ext cx="823260" cy="662909"/>
          </a:xfrm>
          <a:prstGeom prst="rect">
            <a:avLst/>
          </a:prstGeom>
          <a:noFill/>
          <a:ln>
            <a:noFill/>
          </a:ln>
        </p:spPr>
      </p:pic>
      <p:pic>
        <p:nvPicPr>
          <p:cNvPr id="1864" name="Google Shape;1864;p69"/>
          <p:cNvPicPr preferRelativeResize="0"/>
          <p:nvPr/>
        </p:nvPicPr>
        <p:blipFill>
          <a:blip r:embed="rId5">
            <a:alphaModFix/>
          </a:blip>
          <a:stretch>
            <a:fillRect/>
          </a:stretch>
        </p:blipFill>
        <p:spPr>
          <a:xfrm>
            <a:off x="540957" y="1651526"/>
            <a:ext cx="804377" cy="804376"/>
          </a:xfrm>
          <a:prstGeom prst="rect">
            <a:avLst/>
          </a:prstGeom>
          <a:noFill/>
          <a:ln>
            <a:noFill/>
          </a:ln>
        </p:spPr>
      </p:pic>
      <p:grpSp>
        <p:nvGrpSpPr>
          <p:cNvPr id="1865" name="Google Shape;1865;p69"/>
          <p:cNvGrpSpPr/>
          <p:nvPr/>
        </p:nvGrpSpPr>
        <p:grpSpPr>
          <a:xfrm>
            <a:off x="2607188" y="3096579"/>
            <a:ext cx="626100" cy="689059"/>
            <a:chOff x="3258963" y="2820291"/>
            <a:chExt cx="626100" cy="689059"/>
          </a:xfrm>
        </p:grpSpPr>
        <p:sp>
          <p:nvSpPr>
            <p:cNvPr id="1866" name="Google Shape;1866;p69"/>
            <p:cNvSpPr/>
            <p:nvPr/>
          </p:nvSpPr>
          <p:spPr>
            <a:xfrm>
              <a:off x="3258963" y="3185050"/>
              <a:ext cx="626100" cy="3243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000">
                  <a:solidFill>
                    <a:schemeClr val="accent1"/>
                  </a:solidFill>
                  <a:latin typeface="DM Sans Medium"/>
                  <a:ea typeface="DM Sans Medium"/>
                  <a:cs typeface="DM Sans Medium"/>
                  <a:sym typeface="DM Sans Medium"/>
                </a:rPr>
                <a:t>Amazon </a:t>
              </a:r>
              <a:br>
                <a:rPr lang="en" sz="1000">
                  <a:solidFill>
                    <a:schemeClr val="accent1"/>
                  </a:solidFill>
                  <a:latin typeface="DM Sans Medium"/>
                  <a:ea typeface="DM Sans Medium"/>
                  <a:cs typeface="DM Sans Medium"/>
                  <a:sym typeface="DM Sans Medium"/>
                </a:rPr>
              </a:br>
              <a:r>
                <a:rPr lang="en" sz="1000">
                  <a:solidFill>
                    <a:schemeClr val="accent1"/>
                  </a:solidFill>
                  <a:latin typeface="DM Sans Medium"/>
                  <a:ea typeface="DM Sans Medium"/>
                  <a:cs typeface="DM Sans Medium"/>
                  <a:sym typeface="DM Sans Medium"/>
                </a:rPr>
                <a:t>Kinesis</a:t>
              </a:r>
              <a:endParaRPr i="0" sz="1000" u="none" cap="none" strike="noStrike">
                <a:solidFill>
                  <a:schemeClr val="accent1"/>
                </a:solidFill>
                <a:latin typeface="DM Sans Medium"/>
                <a:ea typeface="DM Sans Medium"/>
                <a:cs typeface="DM Sans Medium"/>
                <a:sym typeface="DM Sans Medium"/>
              </a:endParaRPr>
            </a:p>
          </p:txBody>
        </p:sp>
        <p:pic>
          <p:nvPicPr>
            <p:cNvPr id="1867" name="Google Shape;1867;p69"/>
            <p:cNvPicPr preferRelativeResize="0"/>
            <p:nvPr/>
          </p:nvPicPr>
          <p:blipFill rotWithShape="1">
            <a:blip r:embed="rId6">
              <a:alphaModFix/>
            </a:blip>
            <a:srcRect b="0" l="0" r="0" t="0"/>
            <a:stretch/>
          </p:blipFill>
          <p:spPr>
            <a:xfrm>
              <a:off x="3409863" y="2820291"/>
              <a:ext cx="324300" cy="324300"/>
            </a:xfrm>
            <a:prstGeom prst="rect">
              <a:avLst/>
            </a:prstGeom>
            <a:noFill/>
            <a:ln>
              <a:noFill/>
            </a:ln>
          </p:spPr>
        </p:pic>
      </p:grpSp>
      <p:grpSp>
        <p:nvGrpSpPr>
          <p:cNvPr id="1868" name="Google Shape;1868;p69"/>
          <p:cNvGrpSpPr/>
          <p:nvPr/>
        </p:nvGrpSpPr>
        <p:grpSpPr>
          <a:xfrm>
            <a:off x="1673100" y="3096579"/>
            <a:ext cx="626100" cy="689059"/>
            <a:chOff x="2248675" y="2820291"/>
            <a:chExt cx="626100" cy="689059"/>
          </a:xfrm>
        </p:grpSpPr>
        <p:pic>
          <p:nvPicPr>
            <p:cNvPr id="1869" name="Google Shape;1869;p69"/>
            <p:cNvPicPr preferRelativeResize="0"/>
            <p:nvPr/>
          </p:nvPicPr>
          <p:blipFill>
            <a:blip r:embed="rId7">
              <a:alphaModFix/>
            </a:blip>
            <a:stretch>
              <a:fillRect/>
            </a:stretch>
          </p:blipFill>
          <p:spPr>
            <a:xfrm>
              <a:off x="2399575" y="2820291"/>
              <a:ext cx="324300" cy="324300"/>
            </a:xfrm>
            <a:prstGeom prst="rect">
              <a:avLst/>
            </a:prstGeom>
            <a:noFill/>
            <a:ln>
              <a:noFill/>
            </a:ln>
          </p:spPr>
        </p:pic>
        <p:sp>
          <p:nvSpPr>
            <p:cNvPr id="1870" name="Google Shape;1870;p69"/>
            <p:cNvSpPr/>
            <p:nvPr/>
          </p:nvSpPr>
          <p:spPr>
            <a:xfrm>
              <a:off x="2248675" y="3185050"/>
              <a:ext cx="626100" cy="3243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000">
                  <a:solidFill>
                    <a:schemeClr val="accent1"/>
                  </a:solidFill>
                  <a:latin typeface="DM Sans Medium"/>
                  <a:ea typeface="DM Sans Medium"/>
                  <a:cs typeface="DM Sans Medium"/>
                  <a:sym typeface="DM Sans Medium"/>
                </a:rPr>
                <a:t>AWS IoT Core</a:t>
              </a:r>
              <a:endParaRPr i="0" sz="1000" u="none" cap="none" strike="noStrike">
                <a:solidFill>
                  <a:schemeClr val="accent1"/>
                </a:solidFill>
                <a:latin typeface="DM Sans Medium"/>
                <a:ea typeface="DM Sans Medium"/>
                <a:cs typeface="DM Sans Medium"/>
                <a:sym typeface="DM Sans Medium"/>
              </a:endParaRPr>
            </a:p>
          </p:txBody>
        </p:sp>
      </p:grpSp>
      <p:grpSp>
        <p:nvGrpSpPr>
          <p:cNvPr id="1871" name="Google Shape;1871;p69"/>
          <p:cNvGrpSpPr/>
          <p:nvPr/>
        </p:nvGrpSpPr>
        <p:grpSpPr>
          <a:xfrm>
            <a:off x="1630650" y="3917546"/>
            <a:ext cx="711000" cy="697634"/>
            <a:chOff x="2206225" y="3641258"/>
            <a:chExt cx="711000" cy="697634"/>
          </a:xfrm>
        </p:grpSpPr>
        <p:sp>
          <p:nvSpPr>
            <p:cNvPr id="1872" name="Google Shape;1872;p69"/>
            <p:cNvSpPr/>
            <p:nvPr/>
          </p:nvSpPr>
          <p:spPr>
            <a:xfrm>
              <a:off x="2206225" y="4014593"/>
              <a:ext cx="711000" cy="3243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000">
                  <a:solidFill>
                    <a:schemeClr val="accent1"/>
                  </a:solidFill>
                  <a:latin typeface="DM Sans Medium"/>
                  <a:ea typeface="DM Sans Medium"/>
                  <a:cs typeface="DM Sans Medium"/>
                  <a:sym typeface="DM Sans Medium"/>
                </a:rPr>
                <a:t>AWS DMS</a:t>
              </a:r>
              <a:endParaRPr i="0" sz="1000" u="none" cap="none" strike="noStrike">
                <a:solidFill>
                  <a:schemeClr val="accent1"/>
                </a:solidFill>
                <a:latin typeface="DM Sans Medium"/>
                <a:ea typeface="DM Sans Medium"/>
                <a:cs typeface="DM Sans Medium"/>
                <a:sym typeface="DM Sans Medium"/>
              </a:endParaRPr>
            </a:p>
          </p:txBody>
        </p:sp>
        <p:pic>
          <p:nvPicPr>
            <p:cNvPr id="1873" name="Google Shape;1873;p69"/>
            <p:cNvPicPr preferRelativeResize="0"/>
            <p:nvPr/>
          </p:nvPicPr>
          <p:blipFill>
            <a:blip r:embed="rId8">
              <a:alphaModFix/>
            </a:blip>
            <a:stretch>
              <a:fillRect/>
            </a:stretch>
          </p:blipFill>
          <p:spPr>
            <a:xfrm>
              <a:off x="2399575" y="3641258"/>
              <a:ext cx="324300" cy="324300"/>
            </a:xfrm>
            <a:prstGeom prst="rect">
              <a:avLst/>
            </a:prstGeom>
            <a:noFill/>
            <a:ln>
              <a:noFill/>
            </a:ln>
          </p:spPr>
        </p:pic>
      </p:grpSp>
      <p:grpSp>
        <p:nvGrpSpPr>
          <p:cNvPr id="1874" name="Google Shape;1874;p69"/>
          <p:cNvGrpSpPr/>
          <p:nvPr/>
        </p:nvGrpSpPr>
        <p:grpSpPr>
          <a:xfrm>
            <a:off x="5538852" y="3096579"/>
            <a:ext cx="568200" cy="689059"/>
            <a:chOff x="6724027" y="2820291"/>
            <a:chExt cx="568200" cy="689059"/>
          </a:xfrm>
        </p:grpSpPr>
        <p:sp>
          <p:nvSpPr>
            <p:cNvPr id="1875" name="Google Shape;1875;p69"/>
            <p:cNvSpPr txBox="1"/>
            <p:nvPr/>
          </p:nvSpPr>
          <p:spPr>
            <a:xfrm>
              <a:off x="6724027" y="3185050"/>
              <a:ext cx="568200" cy="3243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rgbClr val="000000"/>
                </a:buClr>
                <a:buSzPts val="1000"/>
                <a:buFont typeface="Arial"/>
                <a:buNone/>
              </a:pPr>
              <a:r>
                <a:rPr lang="en" sz="1000">
                  <a:solidFill>
                    <a:schemeClr val="accent1"/>
                  </a:solidFill>
                  <a:latin typeface="DM Sans Medium"/>
                  <a:ea typeface="DM Sans Medium"/>
                  <a:cs typeface="DM Sans Medium"/>
                  <a:sym typeface="DM Sans Medium"/>
                </a:rPr>
                <a:t>Amazon </a:t>
              </a:r>
              <a:br>
                <a:rPr lang="en" sz="1000">
                  <a:solidFill>
                    <a:schemeClr val="accent1"/>
                  </a:solidFill>
                  <a:latin typeface="DM Sans Medium"/>
                  <a:ea typeface="DM Sans Medium"/>
                  <a:cs typeface="DM Sans Medium"/>
                  <a:sym typeface="DM Sans Medium"/>
                </a:rPr>
              </a:br>
              <a:r>
                <a:rPr lang="en" sz="1000">
                  <a:solidFill>
                    <a:schemeClr val="accent1"/>
                  </a:solidFill>
                  <a:latin typeface="DM Sans Medium"/>
                  <a:ea typeface="DM Sans Medium"/>
                  <a:cs typeface="DM Sans Medium"/>
                  <a:sym typeface="DM Sans Medium"/>
                </a:rPr>
                <a:t>RDS</a:t>
              </a:r>
              <a:endParaRPr sz="1000">
                <a:solidFill>
                  <a:schemeClr val="accent1"/>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t/>
              </a:r>
              <a:endParaRPr sz="1000">
                <a:solidFill>
                  <a:schemeClr val="accent1"/>
                </a:solidFill>
                <a:latin typeface="DM Sans Medium"/>
                <a:ea typeface="DM Sans Medium"/>
                <a:cs typeface="DM Sans Medium"/>
                <a:sym typeface="DM Sans Medium"/>
              </a:endParaRPr>
            </a:p>
          </p:txBody>
        </p:sp>
        <p:pic>
          <p:nvPicPr>
            <p:cNvPr id="1876" name="Google Shape;1876;p69"/>
            <p:cNvPicPr preferRelativeResize="0"/>
            <p:nvPr/>
          </p:nvPicPr>
          <p:blipFill rotWithShape="1">
            <a:blip r:embed="rId9">
              <a:alphaModFix/>
            </a:blip>
            <a:srcRect b="0" l="0" r="0" t="0"/>
            <a:stretch/>
          </p:blipFill>
          <p:spPr>
            <a:xfrm>
              <a:off x="6845977" y="2820291"/>
              <a:ext cx="324300" cy="324300"/>
            </a:xfrm>
            <a:prstGeom prst="rect">
              <a:avLst/>
            </a:prstGeom>
            <a:noFill/>
            <a:ln>
              <a:noFill/>
            </a:ln>
          </p:spPr>
        </p:pic>
      </p:grpSp>
      <p:grpSp>
        <p:nvGrpSpPr>
          <p:cNvPr id="1877" name="Google Shape;1877;p69"/>
          <p:cNvGrpSpPr/>
          <p:nvPr/>
        </p:nvGrpSpPr>
        <p:grpSpPr>
          <a:xfrm>
            <a:off x="6227238" y="3096579"/>
            <a:ext cx="804300" cy="689059"/>
            <a:chOff x="7412413" y="2820291"/>
            <a:chExt cx="804300" cy="689059"/>
          </a:xfrm>
        </p:grpSpPr>
        <p:sp>
          <p:nvSpPr>
            <p:cNvPr id="1878" name="Google Shape;1878;p69"/>
            <p:cNvSpPr txBox="1"/>
            <p:nvPr/>
          </p:nvSpPr>
          <p:spPr>
            <a:xfrm>
              <a:off x="7412413" y="3185050"/>
              <a:ext cx="804300" cy="3243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lang="en" sz="1000">
                  <a:solidFill>
                    <a:schemeClr val="accent1"/>
                  </a:solidFill>
                  <a:latin typeface="DM Sans Medium"/>
                  <a:ea typeface="DM Sans Medium"/>
                  <a:cs typeface="DM Sans Medium"/>
                  <a:sym typeface="DM Sans Medium"/>
                </a:rPr>
                <a:t>Amazon DynamoDB</a:t>
              </a:r>
              <a:endParaRPr i="0" sz="1000" u="none" cap="none" strike="noStrike">
                <a:solidFill>
                  <a:schemeClr val="accent1"/>
                </a:solidFill>
                <a:latin typeface="DM Sans Medium"/>
                <a:ea typeface="DM Sans Medium"/>
                <a:cs typeface="DM Sans Medium"/>
                <a:sym typeface="DM Sans Medium"/>
              </a:endParaRPr>
            </a:p>
          </p:txBody>
        </p:sp>
        <p:pic>
          <p:nvPicPr>
            <p:cNvPr id="1879" name="Google Shape;1879;p69"/>
            <p:cNvPicPr preferRelativeResize="0"/>
            <p:nvPr/>
          </p:nvPicPr>
          <p:blipFill rotWithShape="1">
            <a:blip r:embed="rId10">
              <a:alphaModFix/>
            </a:blip>
            <a:srcRect b="0" l="0" r="0" t="0"/>
            <a:stretch/>
          </p:blipFill>
          <p:spPr>
            <a:xfrm>
              <a:off x="7652413" y="2820291"/>
              <a:ext cx="324300" cy="324300"/>
            </a:xfrm>
            <a:prstGeom prst="rect">
              <a:avLst/>
            </a:prstGeom>
            <a:noFill/>
            <a:ln>
              <a:noFill/>
            </a:ln>
          </p:spPr>
        </p:pic>
      </p:grpSp>
      <p:grpSp>
        <p:nvGrpSpPr>
          <p:cNvPr id="1880" name="Google Shape;1880;p69"/>
          <p:cNvGrpSpPr/>
          <p:nvPr/>
        </p:nvGrpSpPr>
        <p:grpSpPr>
          <a:xfrm>
            <a:off x="7117350" y="3096579"/>
            <a:ext cx="661200" cy="689059"/>
            <a:chOff x="8302525" y="2820291"/>
            <a:chExt cx="661200" cy="689059"/>
          </a:xfrm>
        </p:grpSpPr>
        <p:sp>
          <p:nvSpPr>
            <p:cNvPr id="1881" name="Google Shape;1881;p69"/>
            <p:cNvSpPr/>
            <p:nvPr/>
          </p:nvSpPr>
          <p:spPr>
            <a:xfrm>
              <a:off x="8302525" y="3185050"/>
              <a:ext cx="661200" cy="3243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000">
                  <a:solidFill>
                    <a:schemeClr val="accent1"/>
                  </a:solidFill>
                  <a:latin typeface="DM Sans Medium"/>
                  <a:ea typeface="DM Sans Medium"/>
                  <a:cs typeface="DM Sans Medium"/>
                  <a:sym typeface="DM Sans Medium"/>
                </a:rPr>
                <a:t>Amazon </a:t>
              </a:r>
              <a:br>
                <a:rPr lang="en" sz="1000">
                  <a:solidFill>
                    <a:schemeClr val="accent1"/>
                  </a:solidFill>
                  <a:latin typeface="DM Sans Medium"/>
                  <a:ea typeface="DM Sans Medium"/>
                  <a:cs typeface="DM Sans Medium"/>
                  <a:sym typeface="DM Sans Medium"/>
                </a:rPr>
              </a:br>
              <a:r>
                <a:rPr lang="en" sz="1000">
                  <a:solidFill>
                    <a:schemeClr val="accent1"/>
                  </a:solidFill>
                  <a:latin typeface="DM Sans Medium"/>
                  <a:ea typeface="DM Sans Medium"/>
                  <a:cs typeface="DM Sans Medium"/>
                  <a:sym typeface="DM Sans Medium"/>
                </a:rPr>
                <a:t>Redshift</a:t>
              </a:r>
              <a:endParaRPr i="0" sz="1000" u="none" cap="none" strike="noStrike">
                <a:solidFill>
                  <a:schemeClr val="accent1"/>
                </a:solidFill>
                <a:latin typeface="DM Sans Medium"/>
                <a:ea typeface="DM Sans Medium"/>
                <a:cs typeface="DM Sans Medium"/>
                <a:sym typeface="DM Sans Medium"/>
              </a:endParaRPr>
            </a:p>
          </p:txBody>
        </p:sp>
        <p:pic>
          <p:nvPicPr>
            <p:cNvPr id="1882" name="Google Shape;1882;p69"/>
            <p:cNvPicPr preferRelativeResize="0"/>
            <p:nvPr/>
          </p:nvPicPr>
          <p:blipFill rotWithShape="1">
            <a:blip r:embed="rId11">
              <a:alphaModFix/>
            </a:blip>
            <a:srcRect b="0" l="0" r="0" t="0"/>
            <a:stretch/>
          </p:blipFill>
          <p:spPr>
            <a:xfrm>
              <a:off x="8470975" y="2820291"/>
              <a:ext cx="324300" cy="324300"/>
            </a:xfrm>
            <a:prstGeom prst="rect">
              <a:avLst/>
            </a:prstGeom>
            <a:noFill/>
            <a:ln>
              <a:noFill/>
            </a:ln>
          </p:spPr>
        </p:pic>
      </p:grpSp>
      <p:grpSp>
        <p:nvGrpSpPr>
          <p:cNvPr id="1883" name="Google Shape;1883;p69"/>
          <p:cNvGrpSpPr/>
          <p:nvPr/>
        </p:nvGrpSpPr>
        <p:grpSpPr>
          <a:xfrm>
            <a:off x="7092450" y="3917546"/>
            <a:ext cx="711000" cy="697634"/>
            <a:chOff x="8277625" y="3641258"/>
            <a:chExt cx="711000" cy="697634"/>
          </a:xfrm>
        </p:grpSpPr>
        <p:pic>
          <p:nvPicPr>
            <p:cNvPr id="1884" name="Google Shape;1884;p69"/>
            <p:cNvPicPr preferRelativeResize="0"/>
            <p:nvPr/>
          </p:nvPicPr>
          <p:blipFill rotWithShape="1">
            <a:blip r:embed="rId12">
              <a:alphaModFix/>
            </a:blip>
            <a:srcRect b="0" l="0" r="0" t="0"/>
            <a:stretch/>
          </p:blipFill>
          <p:spPr>
            <a:xfrm>
              <a:off x="8470975" y="3641258"/>
              <a:ext cx="324300" cy="324300"/>
            </a:xfrm>
            <a:prstGeom prst="rect">
              <a:avLst/>
            </a:prstGeom>
            <a:noFill/>
            <a:ln>
              <a:noFill/>
            </a:ln>
          </p:spPr>
        </p:pic>
        <p:sp>
          <p:nvSpPr>
            <p:cNvPr id="1885" name="Google Shape;1885;p69"/>
            <p:cNvSpPr/>
            <p:nvPr/>
          </p:nvSpPr>
          <p:spPr>
            <a:xfrm>
              <a:off x="8277625" y="4014593"/>
              <a:ext cx="711000" cy="3243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000">
                  <a:solidFill>
                    <a:schemeClr val="accent1"/>
                  </a:solidFill>
                  <a:latin typeface="DM Sans Medium"/>
                  <a:ea typeface="DM Sans Medium"/>
                  <a:cs typeface="DM Sans Medium"/>
                  <a:sym typeface="DM Sans Medium"/>
                </a:rPr>
                <a:t>Amazon </a:t>
              </a:r>
              <a:br>
                <a:rPr lang="en" sz="1000">
                  <a:solidFill>
                    <a:schemeClr val="accent1"/>
                  </a:solidFill>
                  <a:latin typeface="DM Sans Medium"/>
                  <a:ea typeface="DM Sans Medium"/>
                  <a:cs typeface="DM Sans Medium"/>
                  <a:sym typeface="DM Sans Medium"/>
                </a:rPr>
              </a:br>
              <a:r>
                <a:rPr lang="en" sz="1000">
                  <a:solidFill>
                    <a:schemeClr val="accent1"/>
                  </a:solidFill>
                  <a:latin typeface="DM Sans Medium"/>
                  <a:ea typeface="DM Sans Medium"/>
                  <a:cs typeface="DM Sans Medium"/>
                  <a:sym typeface="DM Sans Medium"/>
                </a:rPr>
                <a:t>Athena</a:t>
              </a:r>
              <a:endParaRPr i="0" sz="1000" u="none" cap="none" strike="noStrike">
                <a:solidFill>
                  <a:schemeClr val="accent1"/>
                </a:solidFill>
                <a:latin typeface="DM Sans Medium"/>
                <a:ea typeface="DM Sans Medium"/>
                <a:cs typeface="DM Sans Medium"/>
                <a:sym typeface="DM Sans Medium"/>
              </a:endParaRPr>
            </a:p>
          </p:txBody>
        </p:sp>
      </p:grpSp>
      <p:grpSp>
        <p:nvGrpSpPr>
          <p:cNvPr id="1886" name="Google Shape;1886;p69"/>
          <p:cNvGrpSpPr/>
          <p:nvPr/>
        </p:nvGrpSpPr>
        <p:grpSpPr>
          <a:xfrm>
            <a:off x="8356550" y="3096579"/>
            <a:ext cx="796200" cy="689059"/>
            <a:chOff x="9617925" y="2820291"/>
            <a:chExt cx="796200" cy="689059"/>
          </a:xfrm>
        </p:grpSpPr>
        <p:sp>
          <p:nvSpPr>
            <p:cNvPr id="1887" name="Google Shape;1887;p69"/>
            <p:cNvSpPr/>
            <p:nvPr/>
          </p:nvSpPr>
          <p:spPr>
            <a:xfrm>
              <a:off x="9617925" y="3185050"/>
              <a:ext cx="796200" cy="3243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lang="en" sz="1000">
                  <a:solidFill>
                    <a:schemeClr val="accent1"/>
                  </a:solidFill>
                  <a:latin typeface="DM Sans Medium"/>
                  <a:ea typeface="DM Sans Medium"/>
                  <a:cs typeface="DM Sans Medium"/>
                  <a:sym typeface="DM Sans Medium"/>
                </a:rPr>
                <a:t>Amazon QuickSight</a:t>
              </a:r>
              <a:endParaRPr i="0" sz="1000" u="none" cap="none" strike="noStrike">
                <a:solidFill>
                  <a:schemeClr val="accent1"/>
                </a:solidFill>
                <a:latin typeface="DM Sans Medium"/>
                <a:ea typeface="DM Sans Medium"/>
                <a:cs typeface="DM Sans Medium"/>
                <a:sym typeface="DM Sans Medium"/>
              </a:endParaRPr>
            </a:p>
          </p:txBody>
        </p:sp>
        <p:pic>
          <p:nvPicPr>
            <p:cNvPr id="1888" name="Google Shape;1888;p69"/>
            <p:cNvPicPr preferRelativeResize="0"/>
            <p:nvPr/>
          </p:nvPicPr>
          <p:blipFill>
            <a:blip r:embed="rId13">
              <a:alphaModFix/>
            </a:blip>
            <a:stretch>
              <a:fillRect/>
            </a:stretch>
          </p:blipFill>
          <p:spPr>
            <a:xfrm>
              <a:off x="9853875" y="2820291"/>
              <a:ext cx="324300" cy="324300"/>
            </a:xfrm>
            <a:prstGeom prst="rect">
              <a:avLst/>
            </a:prstGeom>
            <a:noFill/>
            <a:ln>
              <a:noFill/>
            </a:ln>
          </p:spPr>
        </p:pic>
      </p:grpSp>
      <p:grpSp>
        <p:nvGrpSpPr>
          <p:cNvPr id="1889" name="Google Shape;1889;p69"/>
          <p:cNvGrpSpPr/>
          <p:nvPr/>
        </p:nvGrpSpPr>
        <p:grpSpPr>
          <a:xfrm>
            <a:off x="3327375" y="3917546"/>
            <a:ext cx="811500" cy="697647"/>
            <a:chOff x="4055350" y="3641258"/>
            <a:chExt cx="811500" cy="697647"/>
          </a:xfrm>
        </p:grpSpPr>
        <p:sp>
          <p:nvSpPr>
            <p:cNvPr id="1890" name="Google Shape;1890;p69"/>
            <p:cNvSpPr/>
            <p:nvPr/>
          </p:nvSpPr>
          <p:spPr>
            <a:xfrm>
              <a:off x="4055350" y="4014605"/>
              <a:ext cx="811500" cy="3243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1000">
                  <a:solidFill>
                    <a:schemeClr val="accent1"/>
                  </a:solidFill>
                  <a:latin typeface="DM Sans Medium"/>
                  <a:ea typeface="DM Sans Medium"/>
                  <a:cs typeface="DM Sans Medium"/>
                  <a:sym typeface="DM Sans Medium"/>
                </a:rPr>
                <a:t>AWS Glue</a:t>
              </a:r>
              <a:endParaRPr sz="1000">
                <a:solidFill>
                  <a:srgbClr val="0078D4"/>
                </a:solidFill>
                <a:latin typeface="DM Sans"/>
                <a:ea typeface="DM Sans"/>
                <a:cs typeface="DM Sans"/>
                <a:sym typeface="DM Sans"/>
              </a:endParaRPr>
            </a:p>
          </p:txBody>
        </p:sp>
        <p:pic>
          <p:nvPicPr>
            <p:cNvPr id="1891" name="Google Shape;1891;p69"/>
            <p:cNvPicPr preferRelativeResize="0"/>
            <p:nvPr/>
          </p:nvPicPr>
          <p:blipFill rotWithShape="1">
            <a:blip r:embed="rId14">
              <a:alphaModFix/>
            </a:blip>
            <a:srcRect b="0" l="0" r="0" t="0"/>
            <a:stretch/>
          </p:blipFill>
          <p:spPr>
            <a:xfrm>
              <a:off x="4298950" y="3641258"/>
              <a:ext cx="324300" cy="324322"/>
            </a:xfrm>
            <a:prstGeom prst="rect">
              <a:avLst/>
            </a:prstGeom>
            <a:noFill/>
            <a:ln>
              <a:noFill/>
            </a:ln>
          </p:spPr>
        </p:pic>
      </p:grpSp>
      <p:grpSp>
        <p:nvGrpSpPr>
          <p:cNvPr id="1892" name="Google Shape;1892;p69"/>
          <p:cNvGrpSpPr/>
          <p:nvPr/>
        </p:nvGrpSpPr>
        <p:grpSpPr>
          <a:xfrm>
            <a:off x="3377625" y="3096579"/>
            <a:ext cx="711000" cy="689059"/>
            <a:chOff x="4105600" y="2820291"/>
            <a:chExt cx="711000" cy="689059"/>
          </a:xfrm>
        </p:grpSpPr>
        <p:pic>
          <p:nvPicPr>
            <p:cNvPr id="1893" name="Google Shape;1893;p69"/>
            <p:cNvPicPr preferRelativeResize="0"/>
            <p:nvPr/>
          </p:nvPicPr>
          <p:blipFill>
            <a:blip r:embed="rId15">
              <a:alphaModFix/>
            </a:blip>
            <a:stretch>
              <a:fillRect/>
            </a:stretch>
          </p:blipFill>
          <p:spPr>
            <a:xfrm>
              <a:off x="4298950" y="2820291"/>
              <a:ext cx="324300" cy="324300"/>
            </a:xfrm>
            <a:prstGeom prst="rect">
              <a:avLst/>
            </a:prstGeom>
            <a:noFill/>
            <a:ln>
              <a:noFill/>
            </a:ln>
          </p:spPr>
        </p:pic>
        <p:sp>
          <p:nvSpPr>
            <p:cNvPr id="1894" name="Google Shape;1894;p69"/>
            <p:cNvSpPr/>
            <p:nvPr/>
          </p:nvSpPr>
          <p:spPr>
            <a:xfrm>
              <a:off x="4105600" y="3185050"/>
              <a:ext cx="711000" cy="3243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None/>
              </a:pPr>
              <a:r>
                <a:rPr lang="en" sz="1000">
                  <a:solidFill>
                    <a:schemeClr val="accent1"/>
                  </a:solidFill>
                  <a:latin typeface="DM Sans Medium"/>
                  <a:ea typeface="DM Sans Medium"/>
                  <a:cs typeface="DM Sans Medium"/>
                  <a:sym typeface="DM Sans Medium"/>
                </a:rPr>
                <a:t>Amazon AppFlow</a:t>
              </a:r>
              <a:endParaRPr sz="1000">
                <a:solidFill>
                  <a:srgbClr val="0078D4"/>
                </a:solidFill>
                <a:latin typeface="DM Sans"/>
                <a:ea typeface="DM Sans"/>
                <a:cs typeface="DM Sans"/>
                <a:sym typeface="DM Sans"/>
              </a:endParaRPr>
            </a:p>
          </p:txBody>
        </p:sp>
      </p:grpSp>
      <p:grpSp>
        <p:nvGrpSpPr>
          <p:cNvPr id="1895" name="Google Shape;1895;p69"/>
          <p:cNvGrpSpPr/>
          <p:nvPr/>
        </p:nvGrpSpPr>
        <p:grpSpPr>
          <a:xfrm>
            <a:off x="4465400" y="3096579"/>
            <a:ext cx="711000" cy="689071"/>
            <a:chOff x="5421975" y="2820291"/>
            <a:chExt cx="711000" cy="689071"/>
          </a:xfrm>
        </p:grpSpPr>
        <p:pic>
          <p:nvPicPr>
            <p:cNvPr id="1896" name="Google Shape;1896;p69"/>
            <p:cNvPicPr preferRelativeResize="0"/>
            <p:nvPr/>
          </p:nvPicPr>
          <p:blipFill rotWithShape="1">
            <a:blip r:embed="rId16">
              <a:alphaModFix/>
            </a:blip>
            <a:srcRect b="0" l="0" r="0" t="0"/>
            <a:stretch/>
          </p:blipFill>
          <p:spPr>
            <a:xfrm>
              <a:off x="5615325" y="2820291"/>
              <a:ext cx="324300" cy="324300"/>
            </a:xfrm>
            <a:prstGeom prst="rect">
              <a:avLst/>
            </a:prstGeom>
            <a:noFill/>
            <a:ln>
              <a:noFill/>
            </a:ln>
          </p:spPr>
        </p:pic>
        <p:sp>
          <p:nvSpPr>
            <p:cNvPr id="1897" name="Google Shape;1897;p69"/>
            <p:cNvSpPr/>
            <p:nvPr/>
          </p:nvSpPr>
          <p:spPr>
            <a:xfrm>
              <a:off x="5421975" y="3185062"/>
              <a:ext cx="711000" cy="3243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000">
                  <a:solidFill>
                    <a:schemeClr val="accent1"/>
                  </a:solidFill>
                  <a:latin typeface="DM Sans Medium"/>
                  <a:ea typeface="DM Sans Medium"/>
                  <a:cs typeface="DM Sans Medium"/>
                  <a:sym typeface="DM Sans Medium"/>
                </a:rPr>
                <a:t>Amazon S3</a:t>
              </a:r>
              <a:endParaRPr sz="1000">
                <a:solidFill>
                  <a:schemeClr val="accent1"/>
                </a:solidFill>
                <a:latin typeface="DM Sans Medium"/>
                <a:ea typeface="DM Sans Medium"/>
                <a:cs typeface="DM Sans Medium"/>
                <a:sym typeface="DM Sans Medium"/>
              </a:endParaRPr>
            </a:p>
          </p:txBody>
        </p:sp>
      </p:grpSp>
      <p:grpSp>
        <p:nvGrpSpPr>
          <p:cNvPr id="1898" name="Google Shape;1898;p69"/>
          <p:cNvGrpSpPr/>
          <p:nvPr/>
        </p:nvGrpSpPr>
        <p:grpSpPr>
          <a:xfrm>
            <a:off x="2565938" y="4807905"/>
            <a:ext cx="708600" cy="746564"/>
            <a:chOff x="3217713" y="4579305"/>
            <a:chExt cx="708600" cy="746564"/>
          </a:xfrm>
        </p:grpSpPr>
        <p:sp>
          <p:nvSpPr>
            <p:cNvPr id="1899" name="Google Shape;1899;p69"/>
            <p:cNvSpPr/>
            <p:nvPr/>
          </p:nvSpPr>
          <p:spPr>
            <a:xfrm>
              <a:off x="3217713" y="5005769"/>
              <a:ext cx="708600" cy="320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000">
                  <a:solidFill>
                    <a:srgbClr val="505050"/>
                  </a:solidFill>
                  <a:latin typeface="DM Sans Medium"/>
                  <a:ea typeface="DM Sans Medium"/>
                  <a:cs typeface="DM Sans Medium"/>
                  <a:sym typeface="DM Sans Medium"/>
                </a:rPr>
                <a:t>Pub/Sub</a:t>
              </a:r>
              <a:endParaRPr i="0" sz="1000" u="none" cap="none" strike="noStrike">
                <a:solidFill>
                  <a:srgbClr val="505050"/>
                </a:solidFill>
                <a:latin typeface="DM Sans Medium"/>
                <a:ea typeface="DM Sans Medium"/>
                <a:cs typeface="DM Sans Medium"/>
                <a:sym typeface="DM Sans Medium"/>
              </a:endParaRPr>
            </a:p>
          </p:txBody>
        </p:sp>
        <p:pic>
          <p:nvPicPr>
            <p:cNvPr id="1900" name="Google Shape;1900;p69"/>
            <p:cNvPicPr preferRelativeResize="0"/>
            <p:nvPr/>
          </p:nvPicPr>
          <p:blipFill>
            <a:blip r:embed="rId17">
              <a:alphaModFix/>
            </a:blip>
            <a:stretch>
              <a:fillRect/>
            </a:stretch>
          </p:blipFill>
          <p:spPr>
            <a:xfrm>
              <a:off x="3385613" y="4579305"/>
              <a:ext cx="372800" cy="400621"/>
            </a:xfrm>
            <a:prstGeom prst="rect">
              <a:avLst/>
            </a:prstGeom>
            <a:noFill/>
            <a:ln>
              <a:noFill/>
            </a:ln>
          </p:spPr>
        </p:pic>
      </p:grpSp>
      <p:sp>
        <p:nvSpPr>
          <p:cNvPr id="1901" name="Google Shape;1901;p69"/>
          <p:cNvSpPr txBox="1"/>
          <p:nvPr/>
        </p:nvSpPr>
        <p:spPr>
          <a:xfrm>
            <a:off x="2171325" y="4788127"/>
            <a:ext cx="1491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1000">
                <a:solidFill>
                  <a:schemeClr val="accent5"/>
                </a:solidFill>
                <a:latin typeface="DM Sans"/>
                <a:ea typeface="DM Sans"/>
                <a:cs typeface="DM Sans"/>
                <a:sym typeface="DM Sans"/>
              </a:rPr>
              <a:t>**</a:t>
            </a:r>
            <a:endParaRPr b="1" sz="1000">
              <a:solidFill>
                <a:schemeClr val="accent5"/>
              </a:solidFill>
              <a:latin typeface="DM Sans"/>
              <a:ea typeface="DM Sans"/>
              <a:cs typeface="DM Sans"/>
              <a:sym typeface="DM Sans"/>
            </a:endParaRPr>
          </a:p>
        </p:txBody>
      </p:sp>
      <p:grpSp>
        <p:nvGrpSpPr>
          <p:cNvPr id="1902" name="Google Shape;1902;p69"/>
          <p:cNvGrpSpPr/>
          <p:nvPr/>
        </p:nvGrpSpPr>
        <p:grpSpPr>
          <a:xfrm>
            <a:off x="1480200" y="5670727"/>
            <a:ext cx="1011900" cy="632397"/>
            <a:chOff x="2055775" y="5442127"/>
            <a:chExt cx="1011900" cy="632397"/>
          </a:xfrm>
        </p:grpSpPr>
        <p:sp>
          <p:nvSpPr>
            <p:cNvPr id="1903" name="Google Shape;1903;p69"/>
            <p:cNvSpPr/>
            <p:nvPr/>
          </p:nvSpPr>
          <p:spPr>
            <a:xfrm>
              <a:off x="2055775" y="5809624"/>
              <a:ext cx="1011900" cy="264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000">
                  <a:solidFill>
                    <a:srgbClr val="505050"/>
                  </a:solidFill>
                  <a:latin typeface="DM Sans Medium"/>
                  <a:ea typeface="DM Sans Medium"/>
                  <a:cs typeface="DM Sans Medium"/>
                  <a:sym typeface="DM Sans Medium"/>
                </a:rPr>
                <a:t>Cloud </a:t>
              </a:r>
              <a:endParaRPr sz="1000">
                <a:solidFill>
                  <a:srgbClr val="505050"/>
                </a:solidFill>
                <a:latin typeface="DM Sans Medium"/>
                <a:ea typeface="DM Sans Medium"/>
                <a:cs typeface="DM Sans Medium"/>
                <a:sym typeface="DM Sans Medium"/>
              </a:endParaRPr>
            </a:p>
            <a:p>
              <a:pPr indent="0" lvl="0" marL="0" marR="0" rtl="0" algn="ctr">
                <a:lnSpc>
                  <a:spcPct val="100000"/>
                </a:lnSpc>
                <a:spcBef>
                  <a:spcPts val="0"/>
                </a:spcBef>
                <a:spcAft>
                  <a:spcPts val="0"/>
                </a:spcAft>
                <a:buClr>
                  <a:srgbClr val="000000"/>
                </a:buClr>
                <a:buSzPts val="1100"/>
                <a:buFont typeface="Arial"/>
                <a:buNone/>
              </a:pPr>
              <a:r>
                <a:rPr lang="en" sz="1000">
                  <a:solidFill>
                    <a:srgbClr val="505050"/>
                  </a:solidFill>
                  <a:latin typeface="DM Sans Medium"/>
                  <a:ea typeface="DM Sans Medium"/>
                  <a:cs typeface="DM Sans Medium"/>
                  <a:sym typeface="DM Sans Medium"/>
                </a:rPr>
                <a:t>Data Fusion</a:t>
              </a:r>
              <a:endParaRPr i="0" sz="1000" u="none" cap="none" strike="noStrike">
                <a:solidFill>
                  <a:srgbClr val="505050"/>
                </a:solidFill>
                <a:latin typeface="DM Sans Medium"/>
                <a:ea typeface="DM Sans Medium"/>
                <a:cs typeface="DM Sans Medium"/>
                <a:sym typeface="DM Sans Medium"/>
              </a:endParaRPr>
            </a:p>
          </p:txBody>
        </p:sp>
        <p:pic>
          <p:nvPicPr>
            <p:cNvPr id="1904" name="Google Shape;1904;p69"/>
            <p:cNvPicPr preferRelativeResize="0"/>
            <p:nvPr/>
          </p:nvPicPr>
          <p:blipFill>
            <a:blip r:embed="rId18">
              <a:alphaModFix/>
            </a:blip>
            <a:stretch>
              <a:fillRect/>
            </a:stretch>
          </p:blipFill>
          <p:spPr>
            <a:xfrm>
              <a:off x="2399575" y="5442127"/>
              <a:ext cx="324300" cy="324300"/>
            </a:xfrm>
            <a:prstGeom prst="rect">
              <a:avLst/>
            </a:prstGeom>
            <a:noFill/>
            <a:ln>
              <a:noFill/>
            </a:ln>
          </p:spPr>
        </p:pic>
      </p:grpSp>
      <p:grpSp>
        <p:nvGrpSpPr>
          <p:cNvPr id="1905" name="Google Shape;1905;p69"/>
          <p:cNvGrpSpPr/>
          <p:nvPr/>
        </p:nvGrpSpPr>
        <p:grpSpPr>
          <a:xfrm>
            <a:off x="7020300" y="4821815"/>
            <a:ext cx="855300" cy="732652"/>
            <a:chOff x="8205475" y="4593215"/>
            <a:chExt cx="855300" cy="732652"/>
          </a:xfrm>
        </p:grpSpPr>
        <p:sp>
          <p:nvSpPr>
            <p:cNvPr id="1906" name="Google Shape;1906;p69"/>
            <p:cNvSpPr/>
            <p:nvPr/>
          </p:nvSpPr>
          <p:spPr>
            <a:xfrm>
              <a:off x="8205475" y="5005767"/>
              <a:ext cx="855300" cy="320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000">
                  <a:solidFill>
                    <a:srgbClr val="505050"/>
                  </a:solidFill>
                  <a:latin typeface="DM Sans Medium"/>
                  <a:ea typeface="DM Sans Medium"/>
                  <a:cs typeface="DM Sans Medium"/>
                  <a:sym typeface="DM Sans Medium"/>
                </a:rPr>
                <a:t>BigQuery</a:t>
              </a:r>
              <a:endParaRPr i="0" sz="1000" u="none" cap="none" strike="noStrike">
                <a:solidFill>
                  <a:srgbClr val="505050"/>
                </a:solidFill>
                <a:latin typeface="DM Sans Medium"/>
                <a:ea typeface="DM Sans Medium"/>
                <a:cs typeface="DM Sans Medium"/>
                <a:sym typeface="DM Sans Medium"/>
              </a:endParaRPr>
            </a:p>
          </p:txBody>
        </p:sp>
        <p:pic>
          <p:nvPicPr>
            <p:cNvPr id="1907" name="Google Shape;1907;p69"/>
            <p:cNvPicPr preferRelativeResize="0"/>
            <p:nvPr/>
          </p:nvPicPr>
          <p:blipFill>
            <a:blip r:embed="rId19">
              <a:alphaModFix/>
            </a:blip>
            <a:stretch>
              <a:fillRect/>
            </a:stretch>
          </p:blipFill>
          <p:spPr>
            <a:xfrm>
              <a:off x="8446725" y="4593215"/>
              <a:ext cx="372800" cy="372800"/>
            </a:xfrm>
            <a:prstGeom prst="rect">
              <a:avLst/>
            </a:prstGeom>
            <a:noFill/>
            <a:ln>
              <a:noFill/>
            </a:ln>
          </p:spPr>
        </p:pic>
      </p:grpSp>
      <p:grpSp>
        <p:nvGrpSpPr>
          <p:cNvPr id="1908" name="Google Shape;1908;p69"/>
          <p:cNvGrpSpPr/>
          <p:nvPr/>
        </p:nvGrpSpPr>
        <p:grpSpPr>
          <a:xfrm>
            <a:off x="8365700" y="4823378"/>
            <a:ext cx="777900" cy="731090"/>
            <a:chOff x="9627075" y="4594778"/>
            <a:chExt cx="777900" cy="731090"/>
          </a:xfrm>
        </p:grpSpPr>
        <p:sp>
          <p:nvSpPr>
            <p:cNvPr id="1909" name="Google Shape;1909;p69"/>
            <p:cNvSpPr/>
            <p:nvPr/>
          </p:nvSpPr>
          <p:spPr>
            <a:xfrm>
              <a:off x="9627075" y="5005767"/>
              <a:ext cx="777900" cy="320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000">
                  <a:solidFill>
                    <a:srgbClr val="505050"/>
                  </a:solidFill>
                  <a:latin typeface="DM Sans Medium"/>
                  <a:ea typeface="DM Sans Medium"/>
                  <a:cs typeface="DM Sans Medium"/>
                  <a:sym typeface="DM Sans Medium"/>
                </a:rPr>
                <a:t>Looker</a:t>
              </a:r>
              <a:endParaRPr i="0" sz="1000" u="none" cap="none" strike="noStrike">
                <a:solidFill>
                  <a:srgbClr val="505050"/>
                </a:solidFill>
                <a:latin typeface="DM Sans Medium"/>
                <a:ea typeface="DM Sans Medium"/>
                <a:cs typeface="DM Sans Medium"/>
                <a:sym typeface="DM Sans Medium"/>
              </a:endParaRPr>
            </a:p>
          </p:txBody>
        </p:sp>
        <p:pic>
          <p:nvPicPr>
            <p:cNvPr id="1910" name="Google Shape;1910;p69"/>
            <p:cNvPicPr preferRelativeResize="0"/>
            <p:nvPr/>
          </p:nvPicPr>
          <p:blipFill>
            <a:blip r:embed="rId20">
              <a:alphaModFix/>
            </a:blip>
            <a:stretch>
              <a:fillRect/>
            </a:stretch>
          </p:blipFill>
          <p:spPr>
            <a:xfrm>
              <a:off x="9900820" y="4594778"/>
              <a:ext cx="230409" cy="369675"/>
            </a:xfrm>
            <a:prstGeom prst="rect">
              <a:avLst/>
            </a:prstGeom>
            <a:noFill/>
            <a:ln>
              <a:noFill/>
            </a:ln>
          </p:spPr>
        </p:pic>
      </p:grpSp>
      <p:grpSp>
        <p:nvGrpSpPr>
          <p:cNvPr id="1911" name="Google Shape;1911;p69"/>
          <p:cNvGrpSpPr/>
          <p:nvPr/>
        </p:nvGrpSpPr>
        <p:grpSpPr>
          <a:xfrm>
            <a:off x="6348588" y="4884771"/>
            <a:ext cx="561600" cy="669697"/>
            <a:chOff x="7533763" y="4656171"/>
            <a:chExt cx="561600" cy="669697"/>
          </a:xfrm>
        </p:grpSpPr>
        <p:pic>
          <p:nvPicPr>
            <p:cNvPr id="1912" name="Google Shape;1912;p69"/>
            <p:cNvPicPr preferRelativeResize="0"/>
            <p:nvPr/>
          </p:nvPicPr>
          <p:blipFill>
            <a:blip r:embed="rId21">
              <a:alphaModFix/>
            </a:blip>
            <a:stretch>
              <a:fillRect/>
            </a:stretch>
          </p:blipFill>
          <p:spPr>
            <a:xfrm>
              <a:off x="7628163" y="4656171"/>
              <a:ext cx="372800" cy="246889"/>
            </a:xfrm>
            <a:prstGeom prst="rect">
              <a:avLst/>
            </a:prstGeom>
            <a:noFill/>
            <a:ln>
              <a:noFill/>
            </a:ln>
          </p:spPr>
        </p:pic>
        <p:sp>
          <p:nvSpPr>
            <p:cNvPr id="1913" name="Google Shape;1913;p69"/>
            <p:cNvSpPr/>
            <p:nvPr/>
          </p:nvSpPr>
          <p:spPr>
            <a:xfrm>
              <a:off x="7533763" y="5005767"/>
              <a:ext cx="561600" cy="3201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900"/>
                <a:buFont typeface="Arial"/>
                <a:buNone/>
              </a:pPr>
              <a:r>
                <a:rPr lang="en" sz="1000">
                  <a:solidFill>
                    <a:srgbClr val="505050"/>
                  </a:solidFill>
                  <a:latin typeface="DM Sans Medium"/>
                  <a:ea typeface="DM Sans Medium"/>
                  <a:cs typeface="DM Sans Medium"/>
                  <a:sym typeface="DM Sans Medium"/>
                </a:rPr>
                <a:t>Data</a:t>
              </a:r>
              <a:br>
                <a:rPr lang="en" sz="1000">
                  <a:solidFill>
                    <a:srgbClr val="505050"/>
                  </a:solidFill>
                  <a:latin typeface="DM Sans Medium"/>
                  <a:ea typeface="DM Sans Medium"/>
                  <a:cs typeface="DM Sans Medium"/>
                  <a:sym typeface="DM Sans Medium"/>
                </a:rPr>
              </a:br>
              <a:r>
                <a:rPr lang="en" sz="1000">
                  <a:solidFill>
                    <a:srgbClr val="505050"/>
                  </a:solidFill>
                  <a:latin typeface="DM Sans Medium"/>
                  <a:ea typeface="DM Sans Medium"/>
                  <a:cs typeface="DM Sans Medium"/>
                  <a:sym typeface="DM Sans Medium"/>
                </a:rPr>
                <a:t>store</a:t>
              </a:r>
              <a:endParaRPr sz="1000">
                <a:solidFill>
                  <a:srgbClr val="505050"/>
                </a:solidFill>
                <a:latin typeface="DM Sans Medium"/>
                <a:ea typeface="DM Sans Medium"/>
                <a:cs typeface="DM Sans Medium"/>
                <a:sym typeface="DM Sans Medium"/>
              </a:endParaRPr>
            </a:p>
          </p:txBody>
        </p:sp>
      </p:grpSp>
      <p:grpSp>
        <p:nvGrpSpPr>
          <p:cNvPr id="1914" name="Google Shape;1914;p69"/>
          <p:cNvGrpSpPr/>
          <p:nvPr/>
        </p:nvGrpSpPr>
        <p:grpSpPr>
          <a:xfrm>
            <a:off x="4314950" y="4864313"/>
            <a:ext cx="1011900" cy="690162"/>
            <a:chOff x="5271525" y="4635713"/>
            <a:chExt cx="1011900" cy="690162"/>
          </a:xfrm>
        </p:grpSpPr>
        <p:sp>
          <p:nvSpPr>
            <p:cNvPr id="1915" name="Google Shape;1915;p69"/>
            <p:cNvSpPr/>
            <p:nvPr/>
          </p:nvSpPr>
          <p:spPr>
            <a:xfrm>
              <a:off x="5271525" y="5005775"/>
              <a:ext cx="1011900" cy="320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000">
                  <a:solidFill>
                    <a:srgbClr val="505050"/>
                  </a:solidFill>
                  <a:latin typeface="DM Sans Medium"/>
                  <a:ea typeface="DM Sans Medium"/>
                  <a:cs typeface="DM Sans Medium"/>
                  <a:sym typeface="DM Sans Medium"/>
                </a:rPr>
                <a:t>Cloud Storage</a:t>
              </a:r>
              <a:endParaRPr sz="1000">
                <a:solidFill>
                  <a:srgbClr val="505050"/>
                </a:solidFill>
                <a:latin typeface="DM Sans Medium"/>
                <a:ea typeface="DM Sans Medium"/>
                <a:cs typeface="DM Sans Medium"/>
                <a:sym typeface="DM Sans Medium"/>
              </a:endParaRPr>
            </a:p>
            <a:p>
              <a:pPr indent="0" lvl="0" marL="0" marR="0" rtl="0" algn="ctr">
                <a:lnSpc>
                  <a:spcPct val="100000"/>
                </a:lnSpc>
                <a:spcBef>
                  <a:spcPts val="0"/>
                </a:spcBef>
                <a:spcAft>
                  <a:spcPts val="0"/>
                </a:spcAft>
                <a:buNone/>
              </a:pPr>
              <a:r>
                <a:t/>
              </a:r>
              <a:endParaRPr sz="1000">
                <a:solidFill>
                  <a:srgbClr val="505050"/>
                </a:solidFill>
                <a:latin typeface="DM Sans Medium"/>
                <a:ea typeface="DM Sans Medium"/>
                <a:cs typeface="DM Sans Medium"/>
                <a:sym typeface="DM Sans Medium"/>
              </a:endParaRPr>
            </a:p>
          </p:txBody>
        </p:sp>
        <p:pic>
          <p:nvPicPr>
            <p:cNvPr id="1916" name="Google Shape;1916;p69"/>
            <p:cNvPicPr preferRelativeResize="0"/>
            <p:nvPr/>
          </p:nvPicPr>
          <p:blipFill>
            <a:blip r:embed="rId22">
              <a:alphaModFix/>
            </a:blip>
            <a:stretch>
              <a:fillRect/>
            </a:stretch>
          </p:blipFill>
          <p:spPr>
            <a:xfrm>
              <a:off x="5598825" y="4635713"/>
              <a:ext cx="357300" cy="287804"/>
            </a:xfrm>
            <a:prstGeom prst="rect">
              <a:avLst/>
            </a:prstGeom>
            <a:noFill/>
            <a:ln>
              <a:noFill/>
            </a:ln>
          </p:spPr>
        </p:pic>
      </p:grpSp>
      <p:grpSp>
        <p:nvGrpSpPr>
          <p:cNvPr id="1917" name="Google Shape;1917;p69"/>
          <p:cNvGrpSpPr/>
          <p:nvPr/>
        </p:nvGrpSpPr>
        <p:grpSpPr>
          <a:xfrm>
            <a:off x="5542152" y="4823386"/>
            <a:ext cx="561600" cy="731081"/>
            <a:chOff x="6727327" y="4594786"/>
            <a:chExt cx="561600" cy="731081"/>
          </a:xfrm>
        </p:grpSpPr>
        <p:pic>
          <p:nvPicPr>
            <p:cNvPr id="1918" name="Google Shape;1918;p69"/>
            <p:cNvPicPr preferRelativeResize="0"/>
            <p:nvPr/>
          </p:nvPicPr>
          <p:blipFill>
            <a:blip r:embed="rId23">
              <a:alphaModFix/>
            </a:blip>
            <a:stretch>
              <a:fillRect/>
            </a:stretch>
          </p:blipFill>
          <p:spPr>
            <a:xfrm>
              <a:off x="6872090" y="4594786"/>
              <a:ext cx="272075" cy="369659"/>
            </a:xfrm>
            <a:prstGeom prst="rect">
              <a:avLst/>
            </a:prstGeom>
            <a:noFill/>
            <a:ln>
              <a:noFill/>
            </a:ln>
          </p:spPr>
        </p:pic>
        <p:sp>
          <p:nvSpPr>
            <p:cNvPr id="1919" name="Google Shape;1919;p69"/>
            <p:cNvSpPr/>
            <p:nvPr/>
          </p:nvSpPr>
          <p:spPr>
            <a:xfrm>
              <a:off x="6727327" y="5005767"/>
              <a:ext cx="561600" cy="3201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900"/>
                <a:buFont typeface="Arial"/>
                <a:buNone/>
              </a:pPr>
              <a:r>
                <a:rPr lang="en" sz="1000">
                  <a:solidFill>
                    <a:srgbClr val="505050"/>
                  </a:solidFill>
                  <a:latin typeface="DM Sans Medium"/>
                  <a:ea typeface="DM Sans Medium"/>
                  <a:cs typeface="DM Sans Medium"/>
                  <a:sym typeface="DM Sans Medium"/>
                </a:rPr>
                <a:t>Cloud</a:t>
              </a:r>
              <a:br>
                <a:rPr lang="en" sz="1000">
                  <a:solidFill>
                    <a:srgbClr val="505050"/>
                  </a:solidFill>
                  <a:latin typeface="DM Sans Medium"/>
                  <a:ea typeface="DM Sans Medium"/>
                  <a:cs typeface="DM Sans Medium"/>
                  <a:sym typeface="DM Sans Medium"/>
                </a:rPr>
              </a:br>
              <a:r>
                <a:rPr lang="en" sz="1000">
                  <a:solidFill>
                    <a:srgbClr val="505050"/>
                  </a:solidFill>
                  <a:latin typeface="DM Sans Medium"/>
                  <a:ea typeface="DM Sans Medium"/>
                  <a:cs typeface="DM Sans Medium"/>
                  <a:sym typeface="DM Sans Medium"/>
                </a:rPr>
                <a:t>SQL</a:t>
              </a:r>
              <a:endParaRPr sz="1000">
                <a:solidFill>
                  <a:srgbClr val="505050"/>
                </a:solidFill>
                <a:latin typeface="DM Sans Medium"/>
                <a:ea typeface="DM Sans Medium"/>
                <a:cs typeface="DM Sans Medium"/>
                <a:sym typeface="DM Sans Medium"/>
              </a:endParaRPr>
            </a:p>
          </p:txBody>
        </p:sp>
      </p:grpSp>
      <p:grpSp>
        <p:nvGrpSpPr>
          <p:cNvPr id="1920" name="Google Shape;1920;p69"/>
          <p:cNvGrpSpPr/>
          <p:nvPr/>
        </p:nvGrpSpPr>
        <p:grpSpPr>
          <a:xfrm>
            <a:off x="5479152" y="5659447"/>
            <a:ext cx="687600" cy="632577"/>
            <a:chOff x="6664327" y="5430847"/>
            <a:chExt cx="687600" cy="632577"/>
          </a:xfrm>
        </p:grpSpPr>
        <p:pic>
          <p:nvPicPr>
            <p:cNvPr id="1921" name="Google Shape;1921;p69"/>
            <p:cNvPicPr preferRelativeResize="0"/>
            <p:nvPr/>
          </p:nvPicPr>
          <p:blipFill>
            <a:blip r:embed="rId24">
              <a:alphaModFix/>
            </a:blip>
            <a:stretch>
              <a:fillRect/>
            </a:stretch>
          </p:blipFill>
          <p:spPr>
            <a:xfrm>
              <a:off x="6851552" y="5430847"/>
              <a:ext cx="313150" cy="346860"/>
            </a:xfrm>
            <a:prstGeom prst="rect">
              <a:avLst/>
            </a:prstGeom>
            <a:noFill/>
            <a:ln>
              <a:noFill/>
            </a:ln>
          </p:spPr>
        </p:pic>
        <p:sp>
          <p:nvSpPr>
            <p:cNvPr id="1922" name="Google Shape;1922;p69"/>
            <p:cNvSpPr/>
            <p:nvPr/>
          </p:nvSpPr>
          <p:spPr>
            <a:xfrm>
              <a:off x="6664327" y="5809624"/>
              <a:ext cx="687600" cy="2538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900"/>
                <a:buFont typeface="Arial"/>
                <a:buNone/>
              </a:pPr>
              <a:r>
                <a:rPr lang="en" sz="1000">
                  <a:solidFill>
                    <a:srgbClr val="505050"/>
                  </a:solidFill>
                  <a:latin typeface="DM Sans Medium"/>
                  <a:ea typeface="DM Sans Medium"/>
                  <a:cs typeface="DM Sans Medium"/>
                  <a:sym typeface="DM Sans Medium"/>
                </a:rPr>
                <a:t>Cloud</a:t>
              </a:r>
              <a:br>
                <a:rPr lang="en" sz="1000">
                  <a:solidFill>
                    <a:srgbClr val="505050"/>
                  </a:solidFill>
                  <a:latin typeface="DM Sans Medium"/>
                  <a:ea typeface="DM Sans Medium"/>
                  <a:cs typeface="DM Sans Medium"/>
                  <a:sym typeface="DM Sans Medium"/>
                </a:rPr>
              </a:br>
              <a:r>
                <a:rPr lang="en" sz="1000">
                  <a:solidFill>
                    <a:srgbClr val="505050"/>
                  </a:solidFill>
                  <a:latin typeface="DM Sans Medium"/>
                  <a:ea typeface="DM Sans Medium"/>
                  <a:cs typeface="DM Sans Medium"/>
                  <a:sym typeface="DM Sans Medium"/>
                </a:rPr>
                <a:t>BigTable</a:t>
              </a:r>
              <a:endParaRPr sz="1000">
                <a:solidFill>
                  <a:srgbClr val="505050"/>
                </a:solidFill>
                <a:latin typeface="DM Sans Medium"/>
                <a:ea typeface="DM Sans Medium"/>
                <a:cs typeface="DM Sans Medium"/>
                <a:sym typeface="DM Sans Medium"/>
              </a:endParaRPr>
            </a:p>
          </p:txBody>
        </p:sp>
      </p:grpSp>
      <p:sp>
        <p:nvSpPr>
          <p:cNvPr id="1923" name="Google Shape;1923;p69"/>
          <p:cNvSpPr txBox="1"/>
          <p:nvPr/>
        </p:nvSpPr>
        <p:spPr>
          <a:xfrm>
            <a:off x="3956000" y="6397255"/>
            <a:ext cx="2649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accent5"/>
                </a:solidFill>
                <a:latin typeface="DM Sans"/>
                <a:ea typeface="DM Sans"/>
                <a:cs typeface="DM Sans"/>
                <a:sym typeface="DM Sans"/>
              </a:rPr>
              <a:t>**</a:t>
            </a:r>
            <a:r>
              <a:rPr lang="en" sz="1000">
                <a:solidFill>
                  <a:schemeClr val="accent5"/>
                </a:solidFill>
                <a:latin typeface="DM Sans"/>
                <a:ea typeface="DM Sans"/>
                <a:cs typeface="DM Sans"/>
                <a:sym typeface="DM Sans"/>
              </a:rPr>
              <a:t> To be decommissioned mid of 2023</a:t>
            </a:r>
            <a:endParaRPr sz="1000">
              <a:solidFill>
                <a:schemeClr val="accent5"/>
              </a:solidFill>
              <a:latin typeface="DM Sans"/>
              <a:ea typeface="DM Sans"/>
              <a:cs typeface="DM Sans"/>
              <a:sym typeface="DM Sans"/>
            </a:endParaRPr>
          </a:p>
        </p:txBody>
      </p:sp>
      <p:pic>
        <p:nvPicPr>
          <p:cNvPr id="1924" name="Google Shape;1924;p69"/>
          <p:cNvPicPr preferRelativeResize="0"/>
          <p:nvPr/>
        </p:nvPicPr>
        <p:blipFill>
          <a:blip r:embed="rId25">
            <a:alphaModFix/>
          </a:blip>
          <a:stretch>
            <a:fillRect/>
          </a:stretch>
        </p:blipFill>
        <p:spPr>
          <a:xfrm>
            <a:off x="11347057" y="2376860"/>
            <a:ext cx="291600" cy="291600"/>
          </a:xfrm>
          <a:prstGeom prst="rect">
            <a:avLst/>
          </a:prstGeom>
          <a:noFill/>
          <a:ln>
            <a:noFill/>
          </a:ln>
        </p:spPr>
      </p:pic>
      <p:pic>
        <p:nvPicPr>
          <p:cNvPr id="1925" name="Google Shape;1925;p69"/>
          <p:cNvPicPr preferRelativeResize="0"/>
          <p:nvPr/>
        </p:nvPicPr>
        <p:blipFill>
          <a:blip r:embed="rId26">
            <a:alphaModFix/>
          </a:blip>
          <a:stretch>
            <a:fillRect/>
          </a:stretch>
        </p:blipFill>
        <p:spPr>
          <a:xfrm>
            <a:off x="9808221" y="3147434"/>
            <a:ext cx="230500" cy="293775"/>
          </a:xfrm>
          <a:prstGeom prst="rect">
            <a:avLst/>
          </a:prstGeom>
          <a:noFill/>
          <a:ln>
            <a:noFill/>
          </a:ln>
        </p:spPr>
      </p:pic>
      <p:pic>
        <p:nvPicPr>
          <p:cNvPr id="1926" name="Google Shape;1926;p69"/>
          <p:cNvPicPr preferRelativeResize="0"/>
          <p:nvPr/>
        </p:nvPicPr>
        <p:blipFill>
          <a:blip r:embed="rId27">
            <a:alphaModFix/>
          </a:blip>
          <a:stretch>
            <a:fillRect/>
          </a:stretch>
        </p:blipFill>
        <p:spPr>
          <a:xfrm>
            <a:off x="10546420" y="3159972"/>
            <a:ext cx="268700" cy="268700"/>
          </a:xfrm>
          <a:prstGeom prst="rect">
            <a:avLst/>
          </a:prstGeom>
          <a:noFill/>
          <a:ln>
            <a:noFill/>
          </a:ln>
        </p:spPr>
      </p:pic>
      <p:pic>
        <p:nvPicPr>
          <p:cNvPr id="1927" name="Google Shape;1927;p69"/>
          <p:cNvPicPr preferRelativeResize="0"/>
          <p:nvPr/>
        </p:nvPicPr>
        <p:blipFill>
          <a:blip r:embed="rId28">
            <a:alphaModFix/>
          </a:blip>
          <a:stretch>
            <a:fillRect/>
          </a:stretch>
        </p:blipFill>
        <p:spPr>
          <a:xfrm>
            <a:off x="11346309" y="3980151"/>
            <a:ext cx="290500" cy="290500"/>
          </a:xfrm>
          <a:prstGeom prst="rect">
            <a:avLst/>
          </a:prstGeom>
          <a:noFill/>
          <a:ln>
            <a:noFill/>
          </a:ln>
        </p:spPr>
      </p:pic>
      <p:pic>
        <p:nvPicPr>
          <p:cNvPr id="1928" name="Google Shape;1928;p69"/>
          <p:cNvPicPr preferRelativeResize="0"/>
          <p:nvPr/>
        </p:nvPicPr>
        <p:blipFill>
          <a:blip r:embed="rId29">
            <a:alphaModFix/>
          </a:blip>
          <a:stretch>
            <a:fillRect/>
          </a:stretch>
        </p:blipFill>
        <p:spPr>
          <a:xfrm>
            <a:off x="9808214" y="3961994"/>
            <a:ext cx="261625" cy="261625"/>
          </a:xfrm>
          <a:prstGeom prst="rect">
            <a:avLst/>
          </a:prstGeom>
          <a:noFill/>
          <a:ln>
            <a:noFill/>
          </a:ln>
        </p:spPr>
      </p:pic>
      <p:pic>
        <p:nvPicPr>
          <p:cNvPr id="1929" name="Google Shape;1929;p69"/>
          <p:cNvPicPr preferRelativeResize="0"/>
          <p:nvPr/>
        </p:nvPicPr>
        <p:blipFill>
          <a:blip r:embed="rId30">
            <a:alphaModFix/>
          </a:blip>
          <a:stretch>
            <a:fillRect/>
          </a:stretch>
        </p:blipFill>
        <p:spPr>
          <a:xfrm>
            <a:off x="10546420" y="3965585"/>
            <a:ext cx="268700" cy="268700"/>
          </a:xfrm>
          <a:prstGeom prst="rect">
            <a:avLst/>
          </a:prstGeom>
          <a:noFill/>
          <a:ln>
            <a:noFill/>
          </a:ln>
        </p:spPr>
      </p:pic>
      <p:pic>
        <p:nvPicPr>
          <p:cNvPr id="1930" name="Google Shape;1930;p69"/>
          <p:cNvPicPr preferRelativeResize="0"/>
          <p:nvPr/>
        </p:nvPicPr>
        <p:blipFill>
          <a:blip r:embed="rId31">
            <a:alphaModFix/>
          </a:blip>
          <a:stretch>
            <a:fillRect/>
          </a:stretch>
        </p:blipFill>
        <p:spPr>
          <a:xfrm>
            <a:off x="9807608" y="4931947"/>
            <a:ext cx="291375" cy="262250"/>
          </a:xfrm>
          <a:prstGeom prst="rect">
            <a:avLst/>
          </a:prstGeom>
          <a:noFill/>
          <a:ln>
            <a:noFill/>
          </a:ln>
        </p:spPr>
      </p:pic>
      <p:pic>
        <p:nvPicPr>
          <p:cNvPr id="1931" name="Google Shape;1931;p69"/>
          <p:cNvPicPr preferRelativeResize="0"/>
          <p:nvPr/>
        </p:nvPicPr>
        <p:blipFill>
          <a:blip r:embed="rId32">
            <a:alphaModFix/>
          </a:blip>
          <a:stretch>
            <a:fillRect/>
          </a:stretch>
        </p:blipFill>
        <p:spPr>
          <a:xfrm>
            <a:off x="10595097" y="4887893"/>
            <a:ext cx="284175" cy="284175"/>
          </a:xfrm>
          <a:prstGeom prst="rect">
            <a:avLst/>
          </a:prstGeom>
          <a:noFill/>
          <a:ln>
            <a:noFill/>
          </a:ln>
        </p:spPr>
      </p:pic>
      <p:sp>
        <p:nvSpPr>
          <p:cNvPr id="1932" name="Google Shape;1932;p69"/>
          <p:cNvSpPr/>
          <p:nvPr/>
        </p:nvSpPr>
        <p:spPr>
          <a:xfrm>
            <a:off x="10351226" y="5230185"/>
            <a:ext cx="687600" cy="320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000">
                <a:solidFill>
                  <a:srgbClr val="505050"/>
                </a:solidFill>
                <a:latin typeface="DM Sans Medium"/>
                <a:ea typeface="DM Sans Medium"/>
                <a:cs typeface="DM Sans Medium"/>
                <a:sym typeface="DM Sans Medium"/>
              </a:rPr>
              <a:t>Cloud </a:t>
            </a:r>
            <a:br>
              <a:rPr lang="en" sz="1000">
                <a:solidFill>
                  <a:srgbClr val="505050"/>
                </a:solidFill>
                <a:latin typeface="DM Sans Medium"/>
                <a:ea typeface="DM Sans Medium"/>
                <a:cs typeface="DM Sans Medium"/>
                <a:sym typeface="DM Sans Medium"/>
              </a:rPr>
            </a:br>
            <a:r>
              <a:rPr lang="en" sz="1000">
                <a:solidFill>
                  <a:srgbClr val="505050"/>
                </a:solidFill>
                <a:latin typeface="DM Sans Medium"/>
                <a:ea typeface="DM Sans Medium"/>
                <a:cs typeface="DM Sans Medium"/>
                <a:sym typeface="DM Sans Medium"/>
              </a:rPr>
              <a:t>NAT</a:t>
            </a:r>
            <a:endParaRPr i="0" sz="1000" u="none" cap="none" strike="noStrike">
              <a:solidFill>
                <a:srgbClr val="505050"/>
              </a:solidFill>
              <a:latin typeface="DM Sans Medium"/>
              <a:ea typeface="DM Sans Medium"/>
              <a:cs typeface="DM Sans Medium"/>
              <a:sym typeface="DM Sans Medium"/>
            </a:endParaRPr>
          </a:p>
        </p:txBody>
      </p:sp>
      <p:sp>
        <p:nvSpPr>
          <p:cNvPr id="1933" name="Google Shape;1933;p69"/>
          <p:cNvSpPr/>
          <p:nvPr/>
        </p:nvSpPr>
        <p:spPr>
          <a:xfrm>
            <a:off x="11179807" y="2683752"/>
            <a:ext cx="626100" cy="3201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000">
                <a:solidFill>
                  <a:srgbClr val="0078D4"/>
                </a:solidFill>
                <a:latin typeface="DM Sans Medium"/>
                <a:ea typeface="DM Sans Medium"/>
                <a:cs typeface="DM Sans Medium"/>
                <a:sym typeface="DM Sans Medium"/>
              </a:rPr>
              <a:t>AAD</a:t>
            </a:r>
            <a:endParaRPr i="0" sz="1000" u="none" cap="none" strike="noStrike">
              <a:solidFill>
                <a:srgbClr val="0078D4"/>
              </a:solidFill>
              <a:latin typeface="DM Sans Medium"/>
              <a:ea typeface="DM Sans Medium"/>
              <a:cs typeface="DM Sans Medium"/>
              <a:sym typeface="DM Sans Medium"/>
            </a:endParaRPr>
          </a:p>
        </p:txBody>
      </p:sp>
      <p:pic>
        <p:nvPicPr>
          <p:cNvPr id="1934" name="Google Shape;1934;p69"/>
          <p:cNvPicPr preferRelativeResize="0"/>
          <p:nvPr/>
        </p:nvPicPr>
        <p:blipFill>
          <a:blip r:embed="rId33">
            <a:alphaModFix/>
          </a:blip>
          <a:stretch>
            <a:fillRect/>
          </a:stretch>
        </p:blipFill>
        <p:spPr>
          <a:xfrm>
            <a:off x="11336107" y="1712236"/>
            <a:ext cx="313500" cy="313519"/>
          </a:xfrm>
          <a:prstGeom prst="rect">
            <a:avLst/>
          </a:prstGeom>
          <a:noFill/>
          <a:ln>
            <a:noFill/>
          </a:ln>
        </p:spPr>
      </p:pic>
      <p:sp>
        <p:nvSpPr>
          <p:cNvPr id="1935" name="Google Shape;1935;p69"/>
          <p:cNvSpPr/>
          <p:nvPr/>
        </p:nvSpPr>
        <p:spPr>
          <a:xfrm>
            <a:off x="10979923" y="2046918"/>
            <a:ext cx="983100" cy="3201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000">
                <a:solidFill>
                  <a:srgbClr val="0078D4"/>
                </a:solidFill>
                <a:latin typeface="DM Sans Medium"/>
                <a:ea typeface="DM Sans Medium"/>
                <a:cs typeface="DM Sans Medium"/>
                <a:sym typeface="DM Sans Medium"/>
              </a:rPr>
              <a:t>Network </a:t>
            </a:r>
            <a:br>
              <a:rPr lang="en" sz="1000">
                <a:solidFill>
                  <a:srgbClr val="0078D4"/>
                </a:solidFill>
                <a:latin typeface="DM Sans Medium"/>
                <a:ea typeface="DM Sans Medium"/>
                <a:cs typeface="DM Sans Medium"/>
                <a:sym typeface="DM Sans Medium"/>
              </a:rPr>
            </a:br>
            <a:r>
              <a:rPr lang="en" sz="1000">
                <a:solidFill>
                  <a:srgbClr val="0078D4"/>
                </a:solidFill>
                <a:latin typeface="DM Sans Medium"/>
                <a:ea typeface="DM Sans Medium"/>
                <a:cs typeface="DM Sans Medium"/>
                <a:sym typeface="DM Sans Medium"/>
              </a:rPr>
              <a:t>Security Group</a:t>
            </a:r>
            <a:endParaRPr i="0" sz="1000" u="none" cap="none" strike="noStrike">
              <a:solidFill>
                <a:srgbClr val="0078D4"/>
              </a:solidFill>
              <a:latin typeface="DM Sans Medium"/>
              <a:ea typeface="DM Sans Medium"/>
              <a:cs typeface="DM Sans Medium"/>
              <a:sym typeface="DM Sans Medium"/>
            </a:endParaRPr>
          </a:p>
        </p:txBody>
      </p:sp>
      <p:sp>
        <p:nvSpPr>
          <p:cNvPr id="1936" name="Google Shape;1936;p69"/>
          <p:cNvSpPr/>
          <p:nvPr/>
        </p:nvSpPr>
        <p:spPr>
          <a:xfrm>
            <a:off x="9520407" y="1213787"/>
            <a:ext cx="2397300" cy="276300"/>
          </a:xfrm>
          <a:prstGeom prst="rect">
            <a:avLst/>
          </a:prstGeom>
          <a:solidFill>
            <a:srgbClr val="EFEFEF"/>
          </a:solidFill>
          <a:ln>
            <a:noFill/>
          </a:ln>
        </p:spPr>
        <p:txBody>
          <a:bodyPr anchorCtr="0" anchor="ctr" bIns="146275" lIns="182850" spcFirstLastPara="1" rIns="182850" wrap="square" tIns="146275">
            <a:noAutofit/>
          </a:bodyPr>
          <a:lstStyle/>
          <a:p>
            <a:pPr indent="0" lvl="0" marL="0" marR="0" rtl="0" algn="ctr">
              <a:lnSpc>
                <a:spcPct val="100000"/>
              </a:lnSpc>
              <a:spcBef>
                <a:spcPts val="0"/>
              </a:spcBef>
              <a:spcAft>
                <a:spcPts val="0"/>
              </a:spcAft>
              <a:buClr>
                <a:srgbClr val="000000"/>
              </a:buClr>
              <a:buSzPts val="1600"/>
              <a:buFont typeface="Arial"/>
              <a:buNone/>
            </a:pPr>
            <a:r>
              <a:rPr b="1" lang="en" sz="1300">
                <a:solidFill>
                  <a:schemeClr val="dk1"/>
                </a:solidFill>
                <a:latin typeface="DM Sans"/>
                <a:ea typeface="DM Sans"/>
                <a:cs typeface="DM Sans"/>
                <a:sym typeface="DM Sans"/>
              </a:rPr>
              <a:t>Resources</a:t>
            </a:r>
            <a:endParaRPr b="1" i="0" sz="1300" u="none" cap="none" strike="noStrike">
              <a:solidFill>
                <a:schemeClr val="dk1"/>
              </a:solidFill>
              <a:latin typeface="DM Sans"/>
              <a:ea typeface="DM Sans"/>
              <a:cs typeface="DM Sans"/>
              <a:sym typeface="DM Sans"/>
            </a:endParaRPr>
          </a:p>
        </p:txBody>
      </p:sp>
      <p:sp>
        <p:nvSpPr>
          <p:cNvPr id="1937" name="Google Shape;1937;p69"/>
          <p:cNvSpPr/>
          <p:nvPr/>
        </p:nvSpPr>
        <p:spPr>
          <a:xfrm>
            <a:off x="10325270" y="3436603"/>
            <a:ext cx="711000" cy="3243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000">
                <a:solidFill>
                  <a:schemeClr val="accent1"/>
                </a:solidFill>
                <a:latin typeface="DM Sans Medium"/>
                <a:ea typeface="DM Sans Medium"/>
                <a:cs typeface="DM Sans Medium"/>
                <a:sym typeface="DM Sans Medium"/>
              </a:rPr>
              <a:t>Endpoint</a:t>
            </a:r>
            <a:endParaRPr i="0" sz="1000" u="none" cap="none" strike="noStrike">
              <a:solidFill>
                <a:schemeClr val="accent1"/>
              </a:solidFill>
              <a:latin typeface="DM Sans Medium"/>
              <a:ea typeface="DM Sans Medium"/>
              <a:cs typeface="DM Sans Medium"/>
              <a:sym typeface="DM Sans Medium"/>
            </a:endParaRPr>
          </a:p>
        </p:txBody>
      </p:sp>
      <p:sp>
        <p:nvSpPr>
          <p:cNvPr id="1938" name="Google Shape;1938;p69"/>
          <p:cNvSpPr/>
          <p:nvPr/>
        </p:nvSpPr>
        <p:spPr>
          <a:xfrm>
            <a:off x="11131904" y="4267675"/>
            <a:ext cx="711000" cy="3243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000">
                <a:solidFill>
                  <a:schemeClr val="accent1"/>
                </a:solidFill>
                <a:latin typeface="DM Sans Medium"/>
                <a:ea typeface="DM Sans Medium"/>
                <a:cs typeface="DM Sans Medium"/>
                <a:sym typeface="DM Sans Medium"/>
              </a:rPr>
              <a:t>Peering Connection</a:t>
            </a:r>
            <a:endParaRPr i="0" sz="1000" u="none" cap="none" strike="noStrike">
              <a:solidFill>
                <a:schemeClr val="accent1"/>
              </a:solidFill>
              <a:latin typeface="DM Sans Medium"/>
              <a:ea typeface="DM Sans Medium"/>
              <a:cs typeface="DM Sans Medium"/>
              <a:sym typeface="DM Sans Medium"/>
            </a:endParaRPr>
          </a:p>
        </p:txBody>
      </p:sp>
      <p:sp>
        <p:nvSpPr>
          <p:cNvPr id="1939" name="Google Shape;1939;p69"/>
          <p:cNvSpPr/>
          <p:nvPr/>
        </p:nvSpPr>
        <p:spPr>
          <a:xfrm>
            <a:off x="9588729" y="4239163"/>
            <a:ext cx="711000" cy="3243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000">
                <a:solidFill>
                  <a:schemeClr val="accent1"/>
                </a:solidFill>
                <a:latin typeface="DM Sans Medium"/>
                <a:ea typeface="DM Sans Medium"/>
                <a:cs typeface="DM Sans Medium"/>
                <a:sym typeface="DM Sans Medium"/>
              </a:rPr>
              <a:t>Gateway</a:t>
            </a:r>
            <a:endParaRPr i="0" sz="1000" u="none" cap="none" strike="noStrike">
              <a:solidFill>
                <a:schemeClr val="accent1"/>
              </a:solidFill>
              <a:latin typeface="DM Sans Medium"/>
              <a:ea typeface="DM Sans Medium"/>
              <a:cs typeface="DM Sans Medium"/>
              <a:sym typeface="DM Sans Medium"/>
            </a:endParaRPr>
          </a:p>
        </p:txBody>
      </p:sp>
      <p:sp>
        <p:nvSpPr>
          <p:cNvPr id="1940" name="Google Shape;1940;p69"/>
          <p:cNvSpPr/>
          <p:nvPr/>
        </p:nvSpPr>
        <p:spPr>
          <a:xfrm>
            <a:off x="10325270" y="4246291"/>
            <a:ext cx="711000" cy="3243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000">
                <a:solidFill>
                  <a:schemeClr val="accent1"/>
                </a:solidFill>
                <a:latin typeface="DM Sans Medium"/>
                <a:ea typeface="DM Sans Medium"/>
                <a:cs typeface="DM Sans Medium"/>
                <a:sym typeface="DM Sans Medium"/>
              </a:rPr>
              <a:t>VPN</a:t>
            </a:r>
            <a:endParaRPr sz="1000">
              <a:solidFill>
                <a:schemeClr val="accent1"/>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100"/>
              <a:buFont typeface="Arial"/>
              <a:buNone/>
            </a:pPr>
            <a:r>
              <a:rPr lang="en" sz="1000">
                <a:solidFill>
                  <a:schemeClr val="accent1"/>
                </a:solidFill>
                <a:latin typeface="DM Sans Medium"/>
                <a:ea typeface="DM Sans Medium"/>
                <a:cs typeface="DM Sans Medium"/>
                <a:sym typeface="DM Sans Medium"/>
              </a:rPr>
              <a:t>Gateway</a:t>
            </a:r>
            <a:endParaRPr i="0" sz="1000" u="none" cap="none" strike="noStrike">
              <a:solidFill>
                <a:schemeClr val="accent1"/>
              </a:solidFill>
              <a:latin typeface="DM Sans Medium"/>
              <a:ea typeface="DM Sans Medium"/>
              <a:cs typeface="DM Sans Medium"/>
              <a:sym typeface="DM Sans Medium"/>
            </a:endParaRPr>
          </a:p>
        </p:txBody>
      </p:sp>
      <p:sp>
        <p:nvSpPr>
          <p:cNvPr id="1941" name="Google Shape;1941;p69"/>
          <p:cNvSpPr/>
          <p:nvPr/>
        </p:nvSpPr>
        <p:spPr>
          <a:xfrm>
            <a:off x="9563270" y="3436603"/>
            <a:ext cx="711000" cy="3243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000">
                <a:solidFill>
                  <a:schemeClr val="accent1"/>
                </a:solidFill>
                <a:latin typeface="DM Sans Medium"/>
                <a:ea typeface="DM Sans Medium"/>
                <a:cs typeface="DM Sans Medium"/>
                <a:sym typeface="DM Sans Medium"/>
              </a:rPr>
              <a:t>AWS STS</a:t>
            </a:r>
            <a:endParaRPr i="0" sz="1000" u="none" cap="none" strike="noStrike">
              <a:solidFill>
                <a:schemeClr val="accent1"/>
              </a:solidFill>
              <a:latin typeface="DM Sans Medium"/>
              <a:ea typeface="DM Sans Medium"/>
              <a:cs typeface="DM Sans Medium"/>
              <a:sym typeface="DM Sans Medium"/>
            </a:endParaRPr>
          </a:p>
        </p:txBody>
      </p:sp>
      <p:sp>
        <p:nvSpPr>
          <p:cNvPr id="1942" name="Google Shape;1942;p69"/>
          <p:cNvSpPr/>
          <p:nvPr/>
        </p:nvSpPr>
        <p:spPr>
          <a:xfrm>
            <a:off x="9617738" y="5230185"/>
            <a:ext cx="687600" cy="320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000">
                <a:solidFill>
                  <a:srgbClr val="505050"/>
                </a:solidFill>
                <a:latin typeface="DM Sans Medium"/>
                <a:ea typeface="DM Sans Medium"/>
                <a:cs typeface="DM Sans Medium"/>
                <a:sym typeface="DM Sans Medium"/>
              </a:rPr>
              <a:t>Cloud </a:t>
            </a:r>
            <a:br>
              <a:rPr lang="en" sz="1000">
                <a:solidFill>
                  <a:srgbClr val="505050"/>
                </a:solidFill>
                <a:latin typeface="DM Sans Medium"/>
                <a:ea typeface="DM Sans Medium"/>
                <a:cs typeface="DM Sans Medium"/>
                <a:sym typeface="DM Sans Medium"/>
              </a:rPr>
            </a:br>
            <a:r>
              <a:rPr lang="en" sz="1000">
                <a:solidFill>
                  <a:srgbClr val="505050"/>
                </a:solidFill>
                <a:latin typeface="DM Sans Medium"/>
                <a:ea typeface="DM Sans Medium"/>
                <a:cs typeface="DM Sans Medium"/>
                <a:sym typeface="DM Sans Medium"/>
              </a:rPr>
              <a:t>NAT</a:t>
            </a:r>
            <a:endParaRPr i="0" sz="1000" u="none" cap="none" strike="noStrike">
              <a:solidFill>
                <a:srgbClr val="505050"/>
              </a:solidFill>
              <a:latin typeface="DM Sans Medium"/>
              <a:ea typeface="DM Sans Medium"/>
              <a:cs typeface="DM Sans Medium"/>
              <a:sym typeface="DM Sans Medium"/>
            </a:endParaRPr>
          </a:p>
        </p:txBody>
      </p:sp>
      <p:grpSp>
        <p:nvGrpSpPr>
          <p:cNvPr id="1943" name="Google Shape;1943;p69"/>
          <p:cNvGrpSpPr/>
          <p:nvPr/>
        </p:nvGrpSpPr>
        <p:grpSpPr>
          <a:xfrm>
            <a:off x="1642350" y="4822761"/>
            <a:ext cx="687600" cy="731711"/>
            <a:chOff x="1642350" y="4822761"/>
            <a:chExt cx="687600" cy="731711"/>
          </a:xfrm>
        </p:grpSpPr>
        <p:sp>
          <p:nvSpPr>
            <p:cNvPr id="1944" name="Google Shape;1944;p69"/>
            <p:cNvSpPr/>
            <p:nvPr/>
          </p:nvSpPr>
          <p:spPr>
            <a:xfrm>
              <a:off x="1642350" y="5234372"/>
              <a:ext cx="687600" cy="320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000">
                  <a:solidFill>
                    <a:srgbClr val="505050"/>
                  </a:solidFill>
                  <a:latin typeface="DM Sans Medium"/>
                  <a:ea typeface="DM Sans Medium"/>
                  <a:cs typeface="DM Sans Medium"/>
                  <a:sym typeface="DM Sans Medium"/>
                </a:rPr>
                <a:t>Cloud </a:t>
              </a:r>
              <a:br>
                <a:rPr lang="en" sz="1000">
                  <a:solidFill>
                    <a:srgbClr val="505050"/>
                  </a:solidFill>
                  <a:latin typeface="DM Sans Medium"/>
                  <a:ea typeface="DM Sans Medium"/>
                  <a:cs typeface="DM Sans Medium"/>
                  <a:sym typeface="DM Sans Medium"/>
                </a:rPr>
              </a:br>
              <a:r>
                <a:rPr lang="en" sz="1000">
                  <a:solidFill>
                    <a:srgbClr val="505050"/>
                  </a:solidFill>
                  <a:latin typeface="DM Sans Medium"/>
                  <a:ea typeface="DM Sans Medium"/>
                  <a:cs typeface="DM Sans Medium"/>
                  <a:sym typeface="DM Sans Medium"/>
                </a:rPr>
                <a:t>IoT Core</a:t>
              </a:r>
              <a:endParaRPr i="0" sz="1000" u="none" cap="none" strike="noStrike">
                <a:solidFill>
                  <a:srgbClr val="505050"/>
                </a:solidFill>
                <a:latin typeface="DM Sans Medium"/>
                <a:ea typeface="DM Sans Medium"/>
                <a:cs typeface="DM Sans Medium"/>
                <a:sym typeface="DM Sans Medium"/>
              </a:endParaRPr>
            </a:p>
          </p:txBody>
        </p:sp>
        <p:pic>
          <p:nvPicPr>
            <p:cNvPr id="1945" name="Google Shape;1945;p69"/>
            <p:cNvPicPr preferRelativeResize="0"/>
            <p:nvPr/>
          </p:nvPicPr>
          <p:blipFill>
            <a:blip r:embed="rId34">
              <a:alphaModFix/>
            </a:blip>
            <a:stretch>
              <a:fillRect/>
            </a:stretch>
          </p:blipFill>
          <p:spPr>
            <a:xfrm>
              <a:off x="1786718" y="4822761"/>
              <a:ext cx="405550" cy="405575"/>
            </a:xfrm>
            <a:prstGeom prst="rect">
              <a:avLst/>
            </a:prstGeom>
            <a:noFill/>
            <a:ln>
              <a:noFill/>
            </a:ln>
          </p:spPr>
        </p:pic>
      </p:grpSp>
      <p:grpSp>
        <p:nvGrpSpPr>
          <p:cNvPr id="1946" name="Google Shape;1946;p69"/>
          <p:cNvGrpSpPr/>
          <p:nvPr/>
        </p:nvGrpSpPr>
        <p:grpSpPr>
          <a:xfrm>
            <a:off x="3227175" y="4807900"/>
            <a:ext cx="1011900" cy="746569"/>
            <a:chOff x="3227175" y="4807900"/>
            <a:chExt cx="1011900" cy="746569"/>
          </a:xfrm>
        </p:grpSpPr>
        <p:sp>
          <p:nvSpPr>
            <p:cNvPr id="1947" name="Google Shape;1947;p69"/>
            <p:cNvSpPr/>
            <p:nvPr/>
          </p:nvSpPr>
          <p:spPr>
            <a:xfrm>
              <a:off x="3227175" y="5234369"/>
              <a:ext cx="1011900" cy="320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000">
                  <a:solidFill>
                    <a:srgbClr val="505050"/>
                  </a:solidFill>
                  <a:latin typeface="DM Sans Medium"/>
                  <a:ea typeface="DM Sans Medium"/>
                  <a:cs typeface="DM Sans Medium"/>
                  <a:sym typeface="DM Sans Medium"/>
                </a:rPr>
                <a:t>Datastream</a:t>
              </a:r>
              <a:endParaRPr i="0" sz="1000" u="none" cap="none" strike="noStrike">
                <a:solidFill>
                  <a:srgbClr val="505050"/>
                </a:solidFill>
                <a:latin typeface="DM Sans Medium"/>
                <a:ea typeface="DM Sans Medium"/>
                <a:cs typeface="DM Sans Medium"/>
                <a:sym typeface="DM Sans Medium"/>
              </a:endParaRPr>
            </a:p>
          </p:txBody>
        </p:sp>
        <p:pic>
          <p:nvPicPr>
            <p:cNvPr id="1948" name="Google Shape;1948;p69"/>
            <p:cNvPicPr preferRelativeResize="0"/>
            <p:nvPr/>
          </p:nvPicPr>
          <p:blipFill>
            <a:blip r:embed="rId35">
              <a:alphaModFix/>
            </a:blip>
            <a:stretch>
              <a:fillRect/>
            </a:stretch>
          </p:blipFill>
          <p:spPr>
            <a:xfrm>
              <a:off x="3545425" y="4807900"/>
              <a:ext cx="425750" cy="425750"/>
            </a:xfrm>
            <a:prstGeom prst="rect">
              <a:avLst/>
            </a:prstGeom>
            <a:noFill/>
            <a:ln>
              <a:noFill/>
            </a:ln>
          </p:spPr>
        </p:pic>
      </p:grpSp>
      <p:grpSp>
        <p:nvGrpSpPr>
          <p:cNvPr id="1949" name="Google Shape;1949;p69"/>
          <p:cNvGrpSpPr/>
          <p:nvPr/>
        </p:nvGrpSpPr>
        <p:grpSpPr>
          <a:xfrm>
            <a:off x="2315588" y="5657875"/>
            <a:ext cx="1209300" cy="645249"/>
            <a:chOff x="2315588" y="5657875"/>
            <a:chExt cx="1209300" cy="645249"/>
          </a:xfrm>
        </p:grpSpPr>
        <p:sp>
          <p:nvSpPr>
            <p:cNvPr id="1950" name="Google Shape;1950;p69"/>
            <p:cNvSpPr/>
            <p:nvPr/>
          </p:nvSpPr>
          <p:spPr>
            <a:xfrm>
              <a:off x="2315588" y="6038224"/>
              <a:ext cx="1209300" cy="264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lang="en" sz="1000">
                  <a:solidFill>
                    <a:srgbClr val="505050"/>
                  </a:solidFill>
                  <a:latin typeface="DM Sans Medium"/>
                  <a:ea typeface="DM Sans Medium"/>
                  <a:cs typeface="DM Sans Medium"/>
                  <a:sym typeface="DM Sans Medium"/>
                </a:rPr>
                <a:t>Storage Transfer Service</a:t>
              </a:r>
              <a:endParaRPr i="0" sz="1000" u="none" cap="none" strike="noStrike">
                <a:solidFill>
                  <a:srgbClr val="505050"/>
                </a:solidFill>
                <a:latin typeface="DM Sans Medium"/>
                <a:ea typeface="DM Sans Medium"/>
                <a:cs typeface="DM Sans Medium"/>
                <a:sym typeface="DM Sans Medium"/>
              </a:endParaRPr>
            </a:p>
          </p:txBody>
        </p:sp>
        <p:pic>
          <p:nvPicPr>
            <p:cNvPr id="1951" name="Google Shape;1951;p69"/>
            <p:cNvPicPr preferRelativeResize="0"/>
            <p:nvPr/>
          </p:nvPicPr>
          <p:blipFill>
            <a:blip r:embed="rId36">
              <a:alphaModFix/>
            </a:blip>
            <a:stretch>
              <a:fillRect/>
            </a:stretch>
          </p:blipFill>
          <p:spPr>
            <a:xfrm>
              <a:off x="2752888" y="5657875"/>
              <a:ext cx="375425" cy="375425"/>
            </a:xfrm>
            <a:prstGeom prst="rect">
              <a:avLst/>
            </a:prstGeom>
            <a:noFill/>
            <a:ln>
              <a:noFill/>
            </a:ln>
          </p:spPr>
        </p:pic>
      </p:grpSp>
      <p:grpSp>
        <p:nvGrpSpPr>
          <p:cNvPr id="1952" name="Google Shape;1952;p69"/>
          <p:cNvGrpSpPr/>
          <p:nvPr/>
        </p:nvGrpSpPr>
        <p:grpSpPr>
          <a:xfrm>
            <a:off x="8441600" y="1706082"/>
            <a:ext cx="626100" cy="691418"/>
            <a:chOff x="8441600" y="1706082"/>
            <a:chExt cx="626100" cy="691418"/>
          </a:xfrm>
        </p:grpSpPr>
        <p:sp>
          <p:nvSpPr>
            <p:cNvPr id="1953" name="Google Shape;1953;p69"/>
            <p:cNvSpPr/>
            <p:nvPr/>
          </p:nvSpPr>
          <p:spPr>
            <a:xfrm>
              <a:off x="8441600" y="2077400"/>
              <a:ext cx="626100" cy="3201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i="0" lang="en" sz="1000" u="none" cap="none" strike="noStrike">
                  <a:solidFill>
                    <a:srgbClr val="0078D4"/>
                  </a:solidFill>
                  <a:latin typeface="DM Sans Medium"/>
                  <a:ea typeface="DM Sans Medium"/>
                  <a:cs typeface="DM Sans Medium"/>
                  <a:sym typeface="DM Sans Medium"/>
                </a:rPr>
                <a:t>Power BI</a:t>
              </a:r>
              <a:endParaRPr i="0" sz="1000" u="none" cap="none" strike="noStrike">
                <a:solidFill>
                  <a:srgbClr val="0078D4"/>
                </a:solidFill>
                <a:latin typeface="DM Sans Medium"/>
                <a:ea typeface="DM Sans Medium"/>
                <a:cs typeface="DM Sans Medium"/>
                <a:sym typeface="DM Sans Medium"/>
              </a:endParaRPr>
            </a:p>
          </p:txBody>
        </p:sp>
        <p:pic>
          <p:nvPicPr>
            <p:cNvPr id="1954" name="Google Shape;1954;p69"/>
            <p:cNvPicPr preferRelativeResize="0"/>
            <p:nvPr/>
          </p:nvPicPr>
          <p:blipFill rotWithShape="1">
            <a:blip r:embed="rId37">
              <a:alphaModFix/>
            </a:blip>
            <a:srcRect b="0" l="0" r="72353" t="0"/>
            <a:stretch/>
          </p:blipFill>
          <p:spPr>
            <a:xfrm>
              <a:off x="8542152" y="1706082"/>
              <a:ext cx="412015" cy="338700"/>
            </a:xfrm>
            <a:prstGeom prst="rect">
              <a:avLst/>
            </a:prstGeom>
            <a:noFill/>
            <a:ln>
              <a:noFill/>
            </a:ln>
          </p:spPr>
        </p:pic>
      </p:grpSp>
      <p:grpSp>
        <p:nvGrpSpPr>
          <p:cNvPr id="1955" name="Google Shape;1955;p69"/>
          <p:cNvGrpSpPr/>
          <p:nvPr/>
        </p:nvGrpSpPr>
        <p:grpSpPr>
          <a:xfrm>
            <a:off x="1673100" y="1743662"/>
            <a:ext cx="626100" cy="653838"/>
            <a:chOff x="1673100" y="1743662"/>
            <a:chExt cx="626100" cy="653838"/>
          </a:xfrm>
        </p:grpSpPr>
        <p:sp>
          <p:nvSpPr>
            <p:cNvPr id="1956" name="Google Shape;1956;p69"/>
            <p:cNvSpPr/>
            <p:nvPr/>
          </p:nvSpPr>
          <p:spPr>
            <a:xfrm>
              <a:off x="1673100" y="2077400"/>
              <a:ext cx="626100" cy="3201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i="0" lang="en" sz="1000" u="none" cap="none" strike="noStrike">
                  <a:solidFill>
                    <a:srgbClr val="0078D4"/>
                  </a:solidFill>
                  <a:latin typeface="DM Sans Medium"/>
                  <a:ea typeface="DM Sans Medium"/>
                  <a:cs typeface="DM Sans Medium"/>
                  <a:sym typeface="DM Sans Medium"/>
                </a:rPr>
                <a:t>Azure </a:t>
              </a:r>
              <a:br>
                <a:rPr i="0" lang="en" sz="1000" u="none" cap="none" strike="noStrike">
                  <a:solidFill>
                    <a:srgbClr val="0078D4"/>
                  </a:solidFill>
                  <a:latin typeface="DM Sans Medium"/>
                  <a:ea typeface="DM Sans Medium"/>
                  <a:cs typeface="DM Sans Medium"/>
                  <a:sym typeface="DM Sans Medium"/>
                </a:rPr>
              </a:br>
              <a:r>
                <a:rPr lang="en" sz="1000">
                  <a:solidFill>
                    <a:srgbClr val="0078D4"/>
                  </a:solidFill>
                  <a:latin typeface="DM Sans Medium"/>
                  <a:ea typeface="DM Sans Medium"/>
                  <a:cs typeface="DM Sans Medium"/>
                  <a:sym typeface="DM Sans Medium"/>
                </a:rPr>
                <a:t>IoT Hub</a:t>
              </a:r>
              <a:endParaRPr i="0" sz="1000" u="none" cap="none" strike="noStrike">
                <a:solidFill>
                  <a:srgbClr val="0078D4"/>
                </a:solidFill>
                <a:latin typeface="DM Sans Medium"/>
                <a:ea typeface="DM Sans Medium"/>
                <a:cs typeface="DM Sans Medium"/>
                <a:sym typeface="DM Sans Medium"/>
              </a:endParaRPr>
            </a:p>
          </p:txBody>
        </p:sp>
        <p:pic>
          <p:nvPicPr>
            <p:cNvPr id="1957" name="Google Shape;1957;p69"/>
            <p:cNvPicPr preferRelativeResize="0"/>
            <p:nvPr/>
          </p:nvPicPr>
          <p:blipFill>
            <a:blip r:embed="rId38">
              <a:alphaModFix/>
            </a:blip>
            <a:stretch>
              <a:fillRect/>
            </a:stretch>
          </p:blipFill>
          <p:spPr>
            <a:xfrm>
              <a:off x="1844050" y="1743662"/>
              <a:ext cx="284175" cy="284175"/>
            </a:xfrm>
            <a:prstGeom prst="rect">
              <a:avLst/>
            </a:prstGeom>
            <a:noFill/>
            <a:ln>
              <a:noFill/>
            </a:ln>
          </p:spPr>
        </p:pic>
      </p:grpSp>
      <p:grpSp>
        <p:nvGrpSpPr>
          <p:cNvPr id="1958" name="Google Shape;1958;p69"/>
          <p:cNvGrpSpPr/>
          <p:nvPr/>
        </p:nvGrpSpPr>
        <p:grpSpPr>
          <a:xfrm>
            <a:off x="2522138" y="1743662"/>
            <a:ext cx="796200" cy="653838"/>
            <a:chOff x="2522138" y="1743662"/>
            <a:chExt cx="796200" cy="653838"/>
          </a:xfrm>
        </p:grpSpPr>
        <p:sp>
          <p:nvSpPr>
            <p:cNvPr id="1959" name="Google Shape;1959;p69"/>
            <p:cNvSpPr/>
            <p:nvPr/>
          </p:nvSpPr>
          <p:spPr>
            <a:xfrm>
              <a:off x="2522138" y="2077400"/>
              <a:ext cx="796200" cy="3201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i="0" lang="en" sz="1000" u="none" cap="none" strike="noStrike">
                  <a:solidFill>
                    <a:srgbClr val="0078D4"/>
                  </a:solidFill>
                  <a:latin typeface="DM Sans Medium"/>
                  <a:ea typeface="DM Sans Medium"/>
                  <a:cs typeface="DM Sans Medium"/>
                  <a:sym typeface="DM Sans Medium"/>
                </a:rPr>
                <a:t>Azure </a:t>
              </a:r>
              <a:br>
                <a:rPr i="0" lang="en" sz="1000" u="none" cap="none" strike="noStrike">
                  <a:solidFill>
                    <a:srgbClr val="0078D4"/>
                  </a:solidFill>
                  <a:latin typeface="DM Sans Medium"/>
                  <a:ea typeface="DM Sans Medium"/>
                  <a:cs typeface="DM Sans Medium"/>
                  <a:sym typeface="DM Sans Medium"/>
                </a:rPr>
              </a:br>
              <a:r>
                <a:rPr lang="en" sz="1000">
                  <a:solidFill>
                    <a:srgbClr val="0078D4"/>
                  </a:solidFill>
                  <a:latin typeface="DM Sans Medium"/>
                  <a:ea typeface="DM Sans Medium"/>
                  <a:cs typeface="DM Sans Medium"/>
                  <a:sym typeface="DM Sans Medium"/>
                </a:rPr>
                <a:t>Event Hub</a:t>
              </a:r>
              <a:endParaRPr i="0" sz="1000" u="none" cap="none" strike="noStrike">
                <a:solidFill>
                  <a:srgbClr val="0078D4"/>
                </a:solidFill>
                <a:latin typeface="DM Sans Medium"/>
                <a:ea typeface="DM Sans Medium"/>
                <a:cs typeface="DM Sans Medium"/>
                <a:sym typeface="DM Sans Medium"/>
              </a:endParaRPr>
            </a:p>
          </p:txBody>
        </p:sp>
        <p:pic>
          <p:nvPicPr>
            <p:cNvPr id="1960" name="Google Shape;1960;p69"/>
            <p:cNvPicPr preferRelativeResize="0"/>
            <p:nvPr/>
          </p:nvPicPr>
          <p:blipFill>
            <a:blip r:embed="rId39">
              <a:alphaModFix/>
            </a:blip>
            <a:stretch>
              <a:fillRect/>
            </a:stretch>
          </p:blipFill>
          <p:spPr>
            <a:xfrm>
              <a:off x="2778163" y="1743662"/>
              <a:ext cx="284175" cy="284175"/>
            </a:xfrm>
            <a:prstGeom prst="rect">
              <a:avLst/>
            </a:prstGeom>
            <a:noFill/>
            <a:ln>
              <a:noFill/>
            </a:ln>
          </p:spPr>
        </p:pic>
      </p:grpSp>
      <p:grpSp>
        <p:nvGrpSpPr>
          <p:cNvPr id="1961" name="Google Shape;1961;p69"/>
          <p:cNvGrpSpPr/>
          <p:nvPr/>
        </p:nvGrpSpPr>
        <p:grpSpPr>
          <a:xfrm>
            <a:off x="3306075" y="1743662"/>
            <a:ext cx="854100" cy="653838"/>
            <a:chOff x="3306075" y="1743662"/>
            <a:chExt cx="854100" cy="653838"/>
          </a:xfrm>
        </p:grpSpPr>
        <p:sp>
          <p:nvSpPr>
            <p:cNvPr id="1962" name="Google Shape;1962;p69"/>
            <p:cNvSpPr/>
            <p:nvPr/>
          </p:nvSpPr>
          <p:spPr>
            <a:xfrm>
              <a:off x="3306075" y="2077400"/>
              <a:ext cx="854100" cy="3201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i="0" lang="en" sz="1000" u="none" cap="none" strike="noStrike">
                  <a:solidFill>
                    <a:srgbClr val="0078D4"/>
                  </a:solidFill>
                  <a:latin typeface="DM Sans Medium"/>
                  <a:ea typeface="DM Sans Medium"/>
                  <a:cs typeface="DM Sans Medium"/>
                  <a:sym typeface="DM Sans Medium"/>
                </a:rPr>
                <a:t>Azure </a:t>
              </a:r>
              <a:br>
                <a:rPr i="0" lang="en" sz="1000" u="none" cap="none" strike="noStrike">
                  <a:solidFill>
                    <a:srgbClr val="0078D4"/>
                  </a:solidFill>
                  <a:latin typeface="DM Sans Medium"/>
                  <a:ea typeface="DM Sans Medium"/>
                  <a:cs typeface="DM Sans Medium"/>
                  <a:sym typeface="DM Sans Medium"/>
                </a:rPr>
              </a:br>
              <a:r>
                <a:rPr i="0" lang="en" sz="1000" u="none" cap="none" strike="noStrike">
                  <a:solidFill>
                    <a:srgbClr val="0078D4"/>
                  </a:solidFill>
                  <a:latin typeface="DM Sans Medium"/>
                  <a:ea typeface="DM Sans Medium"/>
                  <a:cs typeface="DM Sans Medium"/>
                  <a:sym typeface="DM Sans Medium"/>
                </a:rPr>
                <a:t>Data Factory  </a:t>
              </a:r>
              <a:endParaRPr i="0" sz="1000" u="none" cap="none" strike="noStrike">
                <a:solidFill>
                  <a:srgbClr val="0078D4"/>
                </a:solidFill>
                <a:latin typeface="DM Sans Medium"/>
                <a:ea typeface="DM Sans Medium"/>
                <a:cs typeface="DM Sans Medium"/>
                <a:sym typeface="DM Sans Medium"/>
              </a:endParaRPr>
            </a:p>
          </p:txBody>
        </p:sp>
        <p:pic>
          <p:nvPicPr>
            <p:cNvPr id="1963" name="Google Shape;1963;p69"/>
            <p:cNvPicPr preferRelativeResize="0"/>
            <p:nvPr/>
          </p:nvPicPr>
          <p:blipFill>
            <a:blip r:embed="rId40">
              <a:alphaModFix/>
            </a:blip>
            <a:stretch>
              <a:fillRect/>
            </a:stretch>
          </p:blipFill>
          <p:spPr>
            <a:xfrm>
              <a:off x="3591038" y="1743662"/>
              <a:ext cx="284175" cy="284175"/>
            </a:xfrm>
            <a:prstGeom prst="rect">
              <a:avLst/>
            </a:prstGeom>
            <a:noFill/>
            <a:ln>
              <a:noFill/>
            </a:ln>
          </p:spPr>
        </p:pic>
      </p:grpSp>
      <p:grpSp>
        <p:nvGrpSpPr>
          <p:cNvPr id="1964" name="Google Shape;1964;p69"/>
          <p:cNvGrpSpPr/>
          <p:nvPr/>
        </p:nvGrpSpPr>
        <p:grpSpPr>
          <a:xfrm>
            <a:off x="4361300" y="1743662"/>
            <a:ext cx="919200" cy="653838"/>
            <a:chOff x="4361300" y="1743662"/>
            <a:chExt cx="919200" cy="653838"/>
          </a:xfrm>
        </p:grpSpPr>
        <p:sp>
          <p:nvSpPr>
            <p:cNvPr id="1965" name="Google Shape;1965;p69"/>
            <p:cNvSpPr/>
            <p:nvPr/>
          </p:nvSpPr>
          <p:spPr>
            <a:xfrm>
              <a:off x="4361300" y="2077400"/>
              <a:ext cx="919200" cy="3201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lang="en" sz="1000">
                  <a:solidFill>
                    <a:srgbClr val="0078D4"/>
                  </a:solidFill>
                  <a:latin typeface="DM Sans Medium"/>
                  <a:ea typeface="DM Sans Medium"/>
                  <a:cs typeface="DM Sans Medium"/>
                  <a:sym typeface="DM Sans Medium"/>
                </a:rPr>
                <a:t>Azure Data </a:t>
              </a:r>
              <a:br>
                <a:rPr lang="en" sz="1000">
                  <a:solidFill>
                    <a:srgbClr val="0078D4"/>
                  </a:solidFill>
                  <a:latin typeface="DM Sans Medium"/>
                  <a:ea typeface="DM Sans Medium"/>
                  <a:cs typeface="DM Sans Medium"/>
                  <a:sym typeface="DM Sans Medium"/>
                </a:rPr>
              </a:br>
              <a:r>
                <a:rPr lang="en" sz="1000">
                  <a:solidFill>
                    <a:srgbClr val="0078D4"/>
                  </a:solidFill>
                  <a:latin typeface="DM Sans Medium"/>
                  <a:ea typeface="DM Sans Medium"/>
                  <a:cs typeface="DM Sans Medium"/>
                  <a:sym typeface="DM Sans Medium"/>
                </a:rPr>
                <a:t>Lake Storage</a:t>
              </a:r>
              <a:endParaRPr sz="1000">
                <a:solidFill>
                  <a:srgbClr val="0078D4"/>
                </a:solidFill>
                <a:latin typeface="DM Sans Medium"/>
                <a:ea typeface="DM Sans Medium"/>
                <a:cs typeface="DM Sans Medium"/>
                <a:sym typeface="DM Sans Medium"/>
              </a:endParaRPr>
            </a:p>
          </p:txBody>
        </p:sp>
        <p:pic>
          <p:nvPicPr>
            <p:cNvPr id="1966" name="Google Shape;1966;p69"/>
            <p:cNvPicPr preferRelativeResize="0"/>
            <p:nvPr/>
          </p:nvPicPr>
          <p:blipFill>
            <a:blip r:embed="rId41">
              <a:alphaModFix/>
            </a:blip>
            <a:stretch>
              <a:fillRect/>
            </a:stretch>
          </p:blipFill>
          <p:spPr>
            <a:xfrm>
              <a:off x="4678813" y="1743662"/>
              <a:ext cx="284175" cy="284175"/>
            </a:xfrm>
            <a:prstGeom prst="rect">
              <a:avLst/>
            </a:prstGeom>
            <a:noFill/>
            <a:ln>
              <a:noFill/>
            </a:ln>
          </p:spPr>
        </p:pic>
      </p:grpSp>
      <p:grpSp>
        <p:nvGrpSpPr>
          <p:cNvPr id="1967" name="Google Shape;1967;p69"/>
          <p:cNvGrpSpPr/>
          <p:nvPr/>
        </p:nvGrpSpPr>
        <p:grpSpPr>
          <a:xfrm>
            <a:off x="6345288" y="1743662"/>
            <a:ext cx="568200" cy="653838"/>
            <a:chOff x="6345288" y="1743662"/>
            <a:chExt cx="568200" cy="653838"/>
          </a:xfrm>
        </p:grpSpPr>
        <p:sp>
          <p:nvSpPr>
            <p:cNvPr id="1968" name="Google Shape;1968;p69"/>
            <p:cNvSpPr txBox="1"/>
            <p:nvPr/>
          </p:nvSpPr>
          <p:spPr>
            <a:xfrm>
              <a:off x="6345288" y="2077400"/>
              <a:ext cx="568200" cy="3201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000"/>
                <a:buFont typeface="Arial"/>
                <a:buNone/>
              </a:pPr>
              <a:r>
                <a:rPr i="0" lang="en" sz="1000" u="none" cap="none" strike="noStrike">
                  <a:solidFill>
                    <a:srgbClr val="0078D4"/>
                  </a:solidFill>
                  <a:latin typeface="DM Sans Medium"/>
                  <a:ea typeface="DM Sans Medium"/>
                  <a:cs typeface="DM Sans Medium"/>
                  <a:sym typeface="DM Sans Medium"/>
                </a:rPr>
                <a:t>Cosmos </a:t>
              </a:r>
              <a:br>
                <a:rPr i="0" lang="en" sz="1000" u="none" cap="none" strike="noStrike">
                  <a:solidFill>
                    <a:srgbClr val="0078D4"/>
                  </a:solidFill>
                  <a:latin typeface="DM Sans Medium"/>
                  <a:ea typeface="DM Sans Medium"/>
                  <a:cs typeface="DM Sans Medium"/>
                  <a:sym typeface="DM Sans Medium"/>
                </a:rPr>
              </a:br>
              <a:r>
                <a:rPr i="0" lang="en" sz="1000" u="none" cap="none" strike="noStrike">
                  <a:solidFill>
                    <a:srgbClr val="0078D4"/>
                  </a:solidFill>
                  <a:latin typeface="DM Sans Medium"/>
                  <a:ea typeface="DM Sans Medium"/>
                  <a:cs typeface="DM Sans Medium"/>
                  <a:sym typeface="DM Sans Medium"/>
                </a:rPr>
                <a:t>DB</a:t>
              </a:r>
              <a:endParaRPr i="0" sz="1000" u="none" cap="none" strike="noStrike">
                <a:solidFill>
                  <a:srgbClr val="0078D4"/>
                </a:solidFill>
                <a:latin typeface="DM Sans Medium"/>
                <a:ea typeface="DM Sans Medium"/>
                <a:cs typeface="DM Sans Medium"/>
                <a:sym typeface="DM Sans Medium"/>
              </a:endParaRPr>
            </a:p>
          </p:txBody>
        </p:sp>
        <p:pic>
          <p:nvPicPr>
            <p:cNvPr id="1969" name="Google Shape;1969;p69"/>
            <p:cNvPicPr preferRelativeResize="0"/>
            <p:nvPr/>
          </p:nvPicPr>
          <p:blipFill>
            <a:blip r:embed="rId42">
              <a:alphaModFix/>
            </a:blip>
            <a:stretch>
              <a:fillRect/>
            </a:stretch>
          </p:blipFill>
          <p:spPr>
            <a:xfrm>
              <a:off x="6487300" y="1743662"/>
              <a:ext cx="284175" cy="284175"/>
            </a:xfrm>
            <a:prstGeom prst="rect">
              <a:avLst/>
            </a:prstGeom>
            <a:noFill/>
            <a:ln>
              <a:noFill/>
            </a:ln>
          </p:spPr>
        </p:pic>
      </p:grpSp>
      <p:grpSp>
        <p:nvGrpSpPr>
          <p:cNvPr id="1970" name="Google Shape;1970;p69"/>
          <p:cNvGrpSpPr/>
          <p:nvPr/>
        </p:nvGrpSpPr>
        <p:grpSpPr>
          <a:xfrm>
            <a:off x="6949950" y="1743662"/>
            <a:ext cx="996000" cy="653838"/>
            <a:chOff x="6949950" y="1743662"/>
            <a:chExt cx="996000" cy="653838"/>
          </a:xfrm>
        </p:grpSpPr>
        <p:sp>
          <p:nvSpPr>
            <p:cNvPr id="1971" name="Google Shape;1971;p69"/>
            <p:cNvSpPr/>
            <p:nvPr/>
          </p:nvSpPr>
          <p:spPr>
            <a:xfrm>
              <a:off x="6949950" y="2077400"/>
              <a:ext cx="996000" cy="3201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i="0" lang="en" sz="1000" u="none" cap="none" strike="noStrike">
                  <a:solidFill>
                    <a:srgbClr val="0078D4"/>
                  </a:solidFill>
                  <a:latin typeface="DM Sans Medium"/>
                  <a:ea typeface="DM Sans Medium"/>
                  <a:cs typeface="DM Sans Medium"/>
                  <a:sym typeface="DM Sans Medium"/>
                </a:rPr>
                <a:t>Azure Synapse </a:t>
              </a:r>
              <a:r>
                <a:rPr lang="en" sz="1000">
                  <a:solidFill>
                    <a:srgbClr val="0078D4"/>
                  </a:solidFill>
                  <a:latin typeface="DM Sans Medium"/>
                  <a:ea typeface="DM Sans Medium"/>
                  <a:cs typeface="DM Sans Medium"/>
                  <a:sym typeface="DM Sans Medium"/>
                </a:rPr>
                <a:t>Analytics</a:t>
              </a:r>
              <a:endParaRPr i="0" sz="1000" u="none" cap="none" strike="noStrike">
                <a:solidFill>
                  <a:srgbClr val="0078D4"/>
                </a:solidFill>
                <a:latin typeface="DM Sans Medium"/>
                <a:ea typeface="DM Sans Medium"/>
                <a:cs typeface="DM Sans Medium"/>
                <a:sym typeface="DM Sans Medium"/>
              </a:endParaRPr>
            </a:p>
          </p:txBody>
        </p:sp>
        <p:pic>
          <p:nvPicPr>
            <p:cNvPr id="1972" name="Google Shape;1972;p69"/>
            <p:cNvPicPr preferRelativeResize="0"/>
            <p:nvPr/>
          </p:nvPicPr>
          <p:blipFill>
            <a:blip r:embed="rId43">
              <a:alphaModFix/>
            </a:blip>
            <a:stretch>
              <a:fillRect/>
            </a:stretch>
          </p:blipFill>
          <p:spPr>
            <a:xfrm>
              <a:off x="7305863" y="1743662"/>
              <a:ext cx="284175" cy="284175"/>
            </a:xfrm>
            <a:prstGeom prst="rect">
              <a:avLst/>
            </a:prstGeom>
            <a:noFill/>
            <a:ln>
              <a:noFill/>
            </a:ln>
          </p:spPr>
        </p:pic>
      </p:grpSp>
      <p:grpSp>
        <p:nvGrpSpPr>
          <p:cNvPr id="1973" name="Google Shape;1973;p69"/>
          <p:cNvGrpSpPr/>
          <p:nvPr/>
        </p:nvGrpSpPr>
        <p:grpSpPr>
          <a:xfrm>
            <a:off x="10238720" y="2383307"/>
            <a:ext cx="884100" cy="620544"/>
            <a:chOff x="10238720" y="2383307"/>
            <a:chExt cx="884100" cy="620544"/>
          </a:xfrm>
        </p:grpSpPr>
        <p:sp>
          <p:nvSpPr>
            <p:cNvPr id="1974" name="Google Shape;1974;p69"/>
            <p:cNvSpPr/>
            <p:nvPr/>
          </p:nvSpPr>
          <p:spPr>
            <a:xfrm>
              <a:off x="10238720" y="2683752"/>
              <a:ext cx="884100" cy="3201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000">
                  <a:solidFill>
                    <a:srgbClr val="0078D4"/>
                  </a:solidFill>
                  <a:latin typeface="DM Sans Medium"/>
                  <a:ea typeface="DM Sans Medium"/>
                  <a:cs typeface="DM Sans Medium"/>
                  <a:sym typeface="DM Sans Medium"/>
                </a:rPr>
                <a:t>ExpressRoute Gateway</a:t>
              </a:r>
              <a:endParaRPr i="0" sz="1000" u="none" cap="none" strike="noStrike">
                <a:solidFill>
                  <a:srgbClr val="0078D4"/>
                </a:solidFill>
                <a:latin typeface="DM Sans Medium"/>
                <a:ea typeface="DM Sans Medium"/>
                <a:cs typeface="DM Sans Medium"/>
                <a:sym typeface="DM Sans Medium"/>
              </a:endParaRPr>
            </a:p>
          </p:txBody>
        </p:sp>
        <p:pic>
          <p:nvPicPr>
            <p:cNvPr id="1975" name="Google Shape;1975;p69"/>
            <p:cNvPicPr preferRelativeResize="0"/>
            <p:nvPr/>
          </p:nvPicPr>
          <p:blipFill>
            <a:blip r:embed="rId44">
              <a:alphaModFix/>
            </a:blip>
            <a:stretch>
              <a:fillRect/>
            </a:stretch>
          </p:blipFill>
          <p:spPr>
            <a:xfrm>
              <a:off x="10538682" y="2383307"/>
              <a:ext cx="284175" cy="284175"/>
            </a:xfrm>
            <a:prstGeom prst="rect">
              <a:avLst/>
            </a:prstGeom>
            <a:noFill/>
            <a:ln>
              <a:noFill/>
            </a:ln>
          </p:spPr>
        </p:pic>
      </p:grpSp>
      <p:grpSp>
        <p:nvGrpSpPr>
          <p:cNvPr id="1976" name="Google Shape;1976;p69"/>
          <p:cNvGrpSpPr/>
          <p:nvPr/>
        </p:nvGrpSpPr>
        <p:grpSpPr>
          <a:xfrm>
            <a:off x="9612219" y="2383300"/>
            <a:ext cx="626100" cy="620552"/>
            <a:chOff x="9612219" y="2383300"/>
            <a:chExt cx="626100" cy="620552"/>
          </a:xfrm>
        </p:grpSpPr>
        <p:sp>
          <p:nvSpPr>
            <p:cNvPr id="1977" name="Google Shape;1977;p69"/>
            <p:cNvSpPr/>
            <p:nvPr/>
          </p:nvSpPr>
          <p:spPr>
            <a:xfrm>
              <a:off x="9612219" y="2683752"/>
              <a:ext cx="626100" cy="3201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000">
                  <a:solidFill>
                    <a:srgbClr val="0078D4"/>
                  </a:solidFill>
                  <a:latin typeface="DM Sans Medium"/>
                  <a:ea typeface="DM Sans Medium"/>
                  <a:cs typeface="DM Sans Medium"/>
                  <a:sym typeface="DM Sans Medium"/>
                </a:rPr>
                <a:t>Express Route</a:t>
              </a:r>
              <a:endParaRPr i="0" sz="1000" u="none" cap="none" strike="noStrike">
                <a:solidFill>
                  <a:srgbClr val="0078D4"/>
                </a:solidFill>
                <a:latin typeface="DM Sans Medium"/>
                <a:ea typeface="DM Sans Medium"/>
                <a:cs typeface="DM Sans Medium"/>
                <a:sym typeface="DM Sans Medium"/>
              </a:endParaRPr>
            </a:p>
          </p:txBody>
        </p:sp>
        <p:pic>
          <p:nvPicPr>
            <p:cNvPr id="1978" name="Google Shape;1978;p69"/>
            <p:cNvPicPr preferRelativeResize="0"/>
            <p:nvPr/>
          </p:nvPicPr>
          <p:blipFill>
            <a:blip r:embed="rId45">
              <a:alphaModFix/>
            </a:blip>
            <a:stretch>
              <a:fillRect/>
            </a:stretch>
          </p:blipFill>
          <p:spPr>
            <a:xfrm>
              <a:off x="9783182" y="2383300"/>
              <a:ext cx="284175" cy="284175"/>
            </a:xfrm>
            <a:prstGeom prst="rect">
              <a:avLst/>
            </a:prstGeom>
            <a:noFill/>
            <a:ln>
              <a:noFill/>
            </a:ln>
          </p:spPr>
        </p:pic>
      </p:grpSp>
      <p:grpSp>
        <p:nvGrpSpPr>
          <p:cNvPr id="1979" name="Google Shape;1979;p69"/>
          <p:cNvGrpSpPr/>
          <p:nvPr/>
        </p:nvGrpSpPr>
        <p:grpSpPr>
          <a:xfrm>
            <a:off x="10367720" y="1725353"/>
            <a:ext cx="626100" cy="641671"/>
            <a:chOff x="10367720" y="1725353"/>
            <a:chExt cx="626100" cy="641671"/>
          </a:xfrm>
        </p:grpSpPr>
        <p:sp>
          <p:nvSpPr>
            <p:cNvPr id="1980" name="Google Shape;1980;p69"/>
            <p:cNvSpPr/>
            <p:nvPr/>
          </p:nvSpPr>
          <p:spPr>
            <a:xfrm>
              <a:off x="10367720" y="2046924"/>
              <a:ext cx="626100" cy="3201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000">
                  <a:solidFill>
                    <a:srgbClr val="0078D4"/>
                  </a:solidFill>
                  <a:latin typeface="DM Sans Medium"/>
                  <a:ea typeface="DM Sans Medium"/>
                  <a:cs typeface="DM Sans Medium"/>
                  <a:sym typeface="DM Sans Medium"/>
                </a:rPr>
                <a:t>Firewall</a:t>
              </a:r>
              <a:endParaRPr i="0" sz="1000" u="none" cap="none" strike="noStrike">
                <a:solidFill>
                  <a:srgbClr val="0078D4"/>
                </a:solidFill>
                <a:latin typeface="DM Sans Medium"/>
                <a:ea typeface="DM Sans Medium"/>
                <a:cs typeface="DM Sans Medium"/>
                <a:sym typeface="DM Sans Medium"/>
              </a:endParaRPr>
            </a:p>
          </p:txBody>
        </p:sp>
        <p:pic>
          <p:nvPicPr>
            <p:cNvPr id="1981" name="Google Shape;1981;p69"/>
            <p:cNvPicPr preferRelativeResize="0"/>
            <p:nvPr/>
          </p:nvPicPr>
          <p:blipFill>
            <a:blip r:embed="rId46">
              <a:alphaModFix/>
            </a:blip>
            <a:stretch>
              <a:fillRect/>
            </a:stretch>
          </p:blipFill>
          <p:spPr>
            <a:xfrm>
              <a:off x="10538682" y="1725353"/>
              <a:ext cx="284175" cy="284175"/>
            </a:xfrm>
            <a:prstGeom prst="rect">
              <a:avLst/>
            </a:prstGeom>
            <a:noFill/>
            <a:ln>
              <a:noFill/>
            </a:ln>
          </p:spPr>
        </p:pic>
      </p:grpSp>
      <p:grpSp>
        <p:nvGrpSpPr>
          <p:cNvPr id="1982" name="Google Shape;1982;p69"/>
          <p:cNvGrpSpPr/>
          <p:nvPr/>
        </p:nvGrpSpPr>
        <p:grpSpPr>
          <a:xfrm>
            <a:off x="9612219" y="1726900"/>
            <a:ext cx="626100" cy="640124"/>
            <a:chOff x="9612219" y="1726900"/>
            <a:chExt cx="626100" cy="640124"/>
          </a:xfrm>
        </p:grpSpPr>
        <p:sp>
          <p:nvSpPr>
            <p:cNvPr id="1983" name="Google Shape;1983;p69"/>
            <p:cNvSpPr/>
            <p:nvPr/>
          </p:nvSpPr>
          <p:spPr>
            <a:xfrm>
              <a:off x="9612219" y="2046924"/>
              <a:ext cx="626100" cy="3201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lang="en" sz="1000">
                  <a:solidFill>
                    <a:srgbClr val="0078D4"/>
                  </a:solidFill>
                  <a:latin typeface="DM Sans Medium"/>
                  <a:ea typeface="DM Sans Medium"/>
                  <a:cs typeface="DM Sans Medium"/>
                  <a:sym typeface="DM Sans Medium"/>
                </a:rPr>
                <a:t>Private Link</a:t>
              </a:r>
              <a:endParaRPr i="0" sz="1000" u="none" cap="none" strike="noStrike">
                <a:solidFill>
                  <a:srgbClr val="0078D4"/>
                </a:solidFill>
                <a:latin typeface="DM Sans Medium"/>
                <a:ea typeface="DM Sans Medium"/>
                <a:cs typeface="DM Sans Medium"/>
                <a:sym typeface="DM Sans Medium"/>
              </a:endParaRPr>
            </a:p>
          </p:txBody>
        </p:sp>
        <p:pic>
          <p:nvPicPr>
            <p:cNvPr id="1984" name="Google Shape;1984;p69"/>
            <p:cNvPicPr preferRelativeResize="0"/>
            <p:nvPr/>
          </p:nvPicPr>
          <p:blipFill>
            <a:blip r:embed="rId47">
              <a:alphaModFix/>
            </a:blip>
            <a:stretch>
              <a:fillRect/>
            </a:stretch>
          </p:blipFill>
          <p:spPr>
            <a:xfrm>
              <a:off x="9783182" y="1726900"/>
              <a:ext cx="284175" cy="284175"/>
            </a:xfrm>
            <a:prstGeom prst="rect">
              <a:avLst/>
            </a:prstGeom>
            <a:noFill/>
            <a:ln>
              <a:noFill/>
            </a:ln>
          </p:spPr>
        </p:pic>
      </p:grpSp>
      <p:grpSp>
        <p:nvGrpSpPr>
          <p:cNvPr id="1985" name="Google Shape;1985;p69"/>
          <p:cNvGrpSpPr/>
          <p:nvPr/>
        </p:nvGrpSpPr>
        <p:grpSpPr>
          <a:xfrm>
            <a:off x="5538852" y="1718800"/>
            <a:ext cx="568200" cy="678700"/>
            <a:chOff x="5538852" y="1718800"/>
            <a:chExt cx="568200" cy="678700"/>
          </a:xfrm>
        </p:grpSpPr>
        <p:sp>
          <p:nvSpPr>
            <p:cNvPr id="1986" name="Google Shape;1986;p69"/>
            <p:cNvSpPr txBox="1"/>
            <p:nvPr/>
          </p:nvSpPr>
          <p:spPr>
            <a:xfrm>
              <a:off x="5538852" y="2077400"/>
              <a:ext cx="568200" cy="3201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rgbClr val="000000"/>
                </a:buClr>
                <a:buSzPts val="1000"/>
                <a:buFont typeface="Arial"/>
                <a:buNone/>
              </a:pPr>
              <a:r>
                <a:rPr lang="en" sz="1000">
                  <a:solidFill>
                    <a:srgbClr val="0078D4"/>
                  </a:solidFill>
                  <a:latin typeface="DM Sans Medium"/>
                  <a:ea typeface="DM Sans Medium"/>
                  <a:cs typeface="DM Sans Medium"/>
                  <a:sym typeface="DM Sans Medium"/>
                </a:rPr>
                <a:t>SQL DB</a:t>
              </a:r>
              <a:endParaRPr sz="1000">
                <a:solidFill>
                  <a:srgbClr val="0078D4"/>
                </a:solidFill>
                <a:latin typeface="DM Sans Medium"/>
                <a:ea typeface="DM Sans Medium"/>
                <a:cs typeface="DM Sans Medium"/>
                <a:sym typeface="DM Sans Medium"/>
              </a:endParaRPr>
            </a:p>
            <a:p>
              <a:pPr indent="0" lvl="0" marL="0" marR="0" rtl="0" algn="ctr">
                <a:lnSpc>
                  <a:spcPct val="90000"/>
                </a:lnSpc>
                <a:spcBef>
                  <a:spcPts val="0"/>
                </a:spcBef>
                <a:spcAft>
                  <a:spcPts val="0"/>
                </a:spcAft>
                <a:buClr>
                  <a:srgbClr val="000000"/>
                </a:buClr>
                <a:buSzPts val="1000"/>
                <a:buFont typeface="Arial"/>
                <a:buNone/>
              </a:pPr>
              <a:r>
                <a:t/>
              </a:r>
              <a:endParaRPr sz="1000">
                <a:solidFill>
                  <a:srgbClr val="0078D4"/>
                </a:solidFill>
                <a:latin typeface="DM Sans Medium"/>
                <a:ea typeface="DM Sans Medium"/>
                <a:cs typeface="DM Sans Medium"/>
                <a:sym typeface="DM Sans Medium"/>
              </a:endParaRPr>
            </a:p>
          </p:txBody>
        </p:sp>
        <p:pic>
          <p:nvPicPr>
            <p:cNvPr id="1987" name="Google Shape;1987;p69"/>
            <p:cNvPicPr preferRelativeResize="0"/>
            <p:nvPr/>
          </p:nvPicPr>
          <p:blipFill>
            <a:blip r:embed="rId48">
              <a:alphaModFix/>
            </a:blip>
            <a:stretch>
              <a:fillRect/>
            </a:stretch>
          </p:blipFill>
          <p:spPr>
            <a:xfrm>
              <a:off x="5662726" y="1718800"/>
              <a:ext cx="300375" cy="300375"/>
            </a:xfrm>
            <a:prstGeom prst="rect">
              <a:avLst/>
            </a:prstGeom>
            <a:noFill/>
            <a:ln>
              <a:noFill/>
            </a:ln>
          </p:spPr>
        </p:pic>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91" name="Shape 1991"/>
        <p:cNvGrpSpPr/>
        <p:nvPr/>
      </p:nvGrpSpPr>
      <p:grpSpPr>
        <a:xfrm>
          <a:off x="0" y="0"/>
          <a:ext cx="0" cy="0"/>
          <a:chOff x="0" y="0"/>
          <a:chExt cx="0" cy="0"/>
        </a:xfrm>
      </p:grpSpPr>
      <p:sp>
        <p:nvSpPr>
          <p:cNvPr id="1992" name="Google Shape;1992;p70"/>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993" name="Google Shape;1993;p70"/>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Partner Logos</a:t>
            </a:r>
            <a:endParaRPr/>
          </a:p>
        </p:txBody>
      </p:sp>
      <p:pic>
        <p:nvPicPr>
          <p:cNvPr descr="A picture containing flower&#10;&#10;Description automatically generated" id="1994" name="Google Shape;1994;p70"/>
          <p:cNvPicPr preferRelativeResize="0"/>
          <p:nvPr/>
        </p:nvPicPr>
        <p:blipFill rotWithShape="1">
          <a:blip r:embed="rId3">
            <a:alphaModFix/>
          </a:blip>
          <a:srcRect b="0" l="0" r="0" t="0"/>
          <a:stretch/>
        </p:blipFill>
        <p:spPr>
          <a:xfrm>
            <a:off x="993401" y="4055915"/>
            <a:ext cx="982991" cy="587825"/>
          </a:xfrm>
          <a:prstGeom prst="rect">
            <a:avLst/>
          </a:prstGeom>
          <a:noFill/>
          <a:ln>
            <a:noFill/>
          </a:ln>
        </p:spPr>
      </p:pic>
      <p:pic>
        <p:nvPicPr>
          <p:cNvPr descr="A picture containing drawing, sign&#10;&#10;Description automatically generated" id="1995" name="Google Shape;1995;p70"/>
          <p:cNvPicPr preferRelativeResize="0"/>
          <p:nvPr/>
        </p:nvPicPr>
        <p:blipFill rotWithShape="1">
          <a:blip r:embed="rId4">
            <a:alphaModFix/>
          </a:blip>
          <a:srcRect b="0" l="0" r="0" t="0"/>
          <a:stretch/>
        </p:blipFill>
        <p:spPr>
          <a:xfrm>
            <a:off x="7382537" y="2006991"/>
            <a:ext cx="1671875" cy="321517"/>
          </a:xfrm>
          <a:prstGeom prst="rect">
            <a:avLst/>
          </a:prstGeom>
          <a:noFill/>
          <a:ln>
            <a:noFill/>
          </a:ln>
        </p:spPr>
      </p:pic>
      <p:pic>
        <p:nvPicPr>
          <p:cNvPr descr="A picture containing room, drawing&#10;&#10;Description automatically generated" id="1996" name="Google Shape;1996;p70"/>
          <p:cNvPicPr preferRelativeResize="0"/>
          <p:nvPr/>
        </p:nvPicPr>
        <p:blipFill rotWithShape="1">
          <a:blip r:embed="rId5">
            <a:alphaModFix/>
          </a:blip>
          <a:srcRect b="0" l="0" r="0" t="0"/>
          <a:stretch/>
        </p:blipFill>
        <p:spPr>
          <a:xfrm>
            <a:off x="2806811" y="4208966"/>
            <a:ext cx="1671875" cy="200919"/>
          </a:xfrm>
          <a:prstGeom prst="rect">
            <a:avLst/>
          </a:prstGeom>
          <a:noFill/>
          <a:ln>
            <a:noFill/>
          </a:ln>
        </p:spPr>
      </p:pic>
      <p:pic>
        <p:nvPicPr>
          <p:cNvPr descr="A picture containing light, hat, drawing&#10;&#10;Description automatically generated" id="1997" name="Google Shape;1997;p70"/>
          <p:cNvPicPr preferRelativeResize="0"/>
          <p:nvPr/>
        </p:nvPicPr>
        <p:blipFill rotWithShape="1">
          <a:blip r:embed="rId6">
            <a:alphaModFix/>
          </a:blip>
          <a:srcRect b="0" l="0" r="0" t="0"/>
          <a:stretch/>
        </p:blipFill>
        <p:spPr>
          <a:xfrm>
            <a:off x="7633663" y="2645061"/>
            <a:ext cx="1169625" cy="454847"/>
          </a:xfrm>
          <a:prstGeom prst="rect">
            <a:avLst/>
          </a:prstGeom>
          <a:noFill/>
          <a:ln>
            <a:noFill/>
          </a:ln>
        </p:spPr>
      </p:pic>
      <p:pic>
        <p:nvPicPr>
          <p:cNvPr descr="A close up of a sign&#10;&#10;Description automatically generated" id="1998" name="Google Shape;1998;p70"/>
          <p:cNvPicPr preferRelativeResize="0"/>
          <p:nvPr/>
        </p:nvPicPr>
        <p:blipFill rotWithShape="1">
          <a:blip r:embed="rId7">
            <a:alphaModFix/>
          </a:blip>
          <a:srcRect b="0" l="0" r="0" t="0"/>
          <a:stretch/>
        </p:blipFill>
        <p:spPr>
          <a:xfrm>
            <a:off x="5257569" y="2687378"/>
            <a:ext cx="1324857" cy="370214"/>
          </a:xfrm>
          <a:prstGeom prst="rect">
            <a:avLst/>
          </a:prstGeom>
          <a:noFill/>
          <a:ln>
            <a:noFill/>
          </a:ln>
        </p:spPr>
      </p:pic>
      <p:pic>
        <p:nvPicPr>
          <p:cNvPr descr="A picture containing fish&#10;&#10;Description automatically generated" id="1999" name="Google Shape;1999;p70"/>
          <p:cNvPicPr preferRelativeResize="0"/>
          <p:nvPr/>
        </p:nvPicPr>
        <p:blipFill rotWithShape="1">
          <a:blip r:embed="rId8">
            <a:alphaModFix/>
          </a:blip>
          <a:srcRect b="0" l="0" r="0" t="0"/>
          <a:stretch/>
        </p:blipFill>
        <p:spPr>
          <a:xfrm>
            <a:off x="5289860" y="5616688"/>
            <a:ext cx="1260275" cy="684736"/>
          </a:xfrm>
          <a:prstGeom prst="rect">
            <a:avLst/>
          </a:prstGeom>
          <a:noFill/>
          <a:ln>
            <a:noFill/>
          </a:ln>
        </p:spPr>
      </p:pic>
      <p:pic>
        <p:nvPicPr>
          <p:cNvPr descr="A picture containing light, table&#10;&#10;Description automatically generated" id="2000" name="Google Shape;2000;p70"/>
          <p:cNvPicPr preferRelativeResize="0"/>
          <p:nvPr/>
        </p:nvPicPr>
        <p:blipFill rotWithShape="1">
          <a:blip r:embed="rId9">
            <a:alphaModFix/>
          </a:blip>
          <a:srcRect b="0" l="0" r="0" t="0"/>
          <a:stretch/>
        </p:blipFill>
        <p:spPr>
          <a:xfrm>
            <a:off x="5084060" y="3415129"/>
            <a:ext cx="1671876" cy="410614"/>
          </a:xfrm>
          <a:prstGeom prst="rect">
            <a:avLst/>
          </a:prstGeom>
          <a:noFill/>
          <a:ln>
            <a:noFill/>
          </a:ln>
        </p:spPr>
      </p:pic>
      <p:pic>
        <p:nvPicPr>
          <p:cNvPr descr="A picture containing drawing, food&#10;&#10;Description automatically generated" id="2001" name="Google Shape;2001;p70"/>
          <p:cNvPicPr preferRelativeResize="0"/>
          <p:nvPr/>
        </p:nvPicPr>
        <p:blipFill rotWithShape="1">
          <a:blip r:embed="rId10">
            <a:alphaModFix/>
          </a:blip>
          <a:srcRect b="0" l="0" r="0" t="0"/>
          <a:stretch/>
        </p:blipFill>
        <p:spPr>
          <a:xfrm>
            <a:off x="2805011" y="3500639"/>
            <a:ext cx="1675475" cy="239594"/>
          </a:xfrm>
          <a:prstGeom prst="rect">
            <a:avLst/>
          </a:prstGeom>
          <a:noFill/>
          <a:ln>
            <a:noFill/>
          </a:ln>
        </p:spPr>
      </p:pic>
      <p:pic>
        <p:nvPicPr>
          <p:cNvPr id="2002" name="Google Shape;2002;p70"/>
          <p:cNvPicPr preferRelativeResize="0"/>
          <p:nvPr/>
        </p:nvPicPr>
        <p:blipFill>
          <a:blip r:embed="rId11">
            <a:alphaModFix/>
          </a:blip>
          <a:stretch>
            <a:fillRect/>
          </a:stretch>
        </p:blipFill>
        <p:spPr>
          <a:xfrm>
            <a:off x="2806812" y="2021216"/>
            <a:ext cx="1671875" cy="293067"/>
          </a:xfrm>
          <a:prstGeom prst="rect">
            <a:avLst/>
          </a:prstGeom>
          <a:noFill/>
          <a:ln>
            <a:noFill/>
          </a:ln>
        </p:spPr>
      </p:pic>
      <p:pic>
        <p:nvPicPr>
          <p:cNvPr id="2003" name="Google Shape;2003;p70"/>
          <p:cNvPicPr preferRelativeResize="0"/>
          <p:nvPr/>
        </p:nvPicPr>
        <p:blipFill>
          <a:blip r:embed="rId12">
            <a:alphaModFix/>
          </a:blip>
          <a:stretch>
            <a:fillRect/>
          </a:stretch>
        </p:blipFill>
        <p:spPr>
          <a:xfrm>
            <a:off x="1073269" y="1957281"/>
            <a:ext cx="823260" cy="662909"/>
          </a:xfrm>
          <a:prstGeom prst="rect">
            <a:avLst/>
          </a:prstGeom>
          <a:noFill/>
          <a:ln>
            <a:noFill/>
          </a:ln>
        </p:spPr>
      </p:pic>
      <p:pic>
        <p:nvPicPr>
          <p:cNvPr id="2004" name="Google Shape;2004;p70"/>
          <p:cNvPicPr preferRelativeResize="0"/>
          <p:nvPr/>
        </p:nvPicPr>
        <p:blipFill>
          <a:blip r:embed="rId13">
            <a:alphaModFix/>
          </a:blip>
          <a:stretch>
            <a:fillRect/>
          </a:stretch>
        </p:blipFill>
        <p:spPr>
          <a:xfrm>
            <a:off x="1082707" y="2859664"/>
            <a:ext cx="804377" cy="804376"/>
          </a:xfrm>
          <a:prstGeom prst="rect">
            <a:avLst/>
          </a:prstGeom>
          <a:noFill/>
          <a:ln>
            <a:noFill/>
          </a:ln>
        </p:spPr>
      </p:pic>
      <p:pic>
        <p:nvPicPr>
          <p:cNvPr id="2005" name="Google Shape;2005;p70"/>
          <p:cNvPicPr preferRelativeResize="0"/>
          <p:nvPr/>
        </p:nvPicPr>
        <p:blipFill>
          <a:blip r:embed="rId14">
            <a:alphaModFix/>
          </a:blip>
          <a:stretch>
            <a:fillRect/>
          </a:stretch>
        </p:blipFill>
        <p:spPr>
          <a:xfrm>
            <a:off x="5289860" y="4984455"/>
            <a:ext cx="1260275" cy="369570"/>
          </a:xfrm>
          <a:prstGeom prst="rect">
            <a:avLst/>
          </a:prstGeom>
          <a:noFill/>
          <a:ln>
            <a:noFill/>
          </a:ln>
        </p:spPr>
      </p:pic>
      <p:pic>
        <p:nvPicPr>
          <p:cNvPr id="2006" name="Google Shape;2006;p70"/>
          <p:cNvPicPr preferRelativeResize="0"/>
          <p:nvPr/>
        </p:nvPicPr>
        <p:blipFill>
          <a:blip r:embed="rId15">
            <a:alphaModFix/>
          </a:blip>
          <a:stretch>
            <a:fillRect/>
          </a:stretch>
        </p:blipFill>
        <p:spPr>
          <a:xfrm>
            <a:off x="9822828" y="1935521"/>
            <a:ext cx="1324875" cy="464458"/>
          </a:xfrm>
          <a:prstGeom prst="rect">
            <a:avLst/>
          </a:prstGeom>
          <a:noFill/>
          <a:ln>
            <a:noFill/>
          </a:ln>
        </p:spPr>
      </p:pic>
      <p:pic>
        <p:nvPicPr>
          <p:cNvPr id="2007" name="Google Shape;2007;p70"/>
          <p:cNvPicPr preferRelativeResize="0"/>
          <p:nvPr/>
        </p:nvPicPr>
        <p:blipFill>
          <a:blip r:embed="rId16">
            <a:alphaModFix/>
          </a:blip>
          <a:stretch>
            <a:fillRect/>
          </a:stretch>
        </p:blipFill>
        <p:spPr>
          <a:xfrm>
            <a:off x="5289861" y="4173025"/>
            <a:ext cx="1260272" cy="321500"/>
          </a:xfrm>
          <a:prstGeom prst="rect">
            <a:avLst/>
          </a:prstGeom>
          <a:noFill/>
          <a:ln>
            <a:noFill/>
          </a:ln>
        </p:spPr>
      </p:pic>
      <p:pic>
        <p:nvPicPr>
          <p:cNvPr id="2008" name="Google Shape;2008;p70"/>
          <p:cNvPicPr preferRelativeResize="0"/>
          <p:nvPr/>
        </p:nvPicPr>
        <p:blipFill>
          <a:blip r:embed="rId17">
            <a:alphaModFix/>
          </a:blip>
          <a:stretch>
            <a:fillRect/>
          </a:stretch>
        </p:blipFill>
        <p:spPr>
          <a:xfrm>
            <a:off x="2805012" y="2599329"/>
            <a:ext cx="1675475" cy="546312"/>
          </a:xfrm>
          <a:prstGeom prst="rect">
            <a:avLst/>
          </a:prstGeom>
          <a:noFill/>
          <a:ln>
            <a:noFill/>
          </a:ln>
        </p:spPr>
      </p:pic>
      <p:pic>
        <p:nvPicPr>
          <p:cNvPr id="2009" name="Google Shape;2009;p70"/>
          <p:cNvPicPr preferRelativeResize="0"/>
          <p:nvPr/>
        </p:nvPicPr>
        <p:blipFill>
          <a:blip r:embed="rId18">
            <a:alphaModFix/>
          </a:blip>
          <a:stretch>
            <a:fillRect/>
          </a:stretch>
        </p:blipFill>
        <p:spPr>
          <a:xfrm>
            <a:off x="7315100" y="3415123"/>
            <a:ext cx="1806750" cy="410625"/>
          </a:xfrm>
          <a:prstGeom prst="rect">
            <a:avLst/>
          </a:prstGeom>
          <a:noFill/>
          <a:ln>
            <a:noFill/>
          </a:ln>
        </p:spPr>
      </p:pic>
      <p:pic>
        <p:nvPicPr>
          <p:cNvPr id="2010" name="Google Shape;2010;p70"/>
          <p:cNvPicPr preferRelativeResize="0"/>
          <p:nvPr/>
        </p:nvPicPr>
        <p:blipFill>
          <a:blip r:embed="rId19">
            <a:alphaModFix/>
          </a:blip>
          <a:stretch>
            <a:fillRect/>
          </a:stretch>
        </p:blipFill>
        <p:spPr>
          <a:xfrm>
            <a:off x="5152935" y="1993416"/>
            <a:ext cx="1534125" cy="348668"/>
          </a:xfrm>
          <a:prstGeom prst="rect">
            <a:avLst/>
          </a:prstGeom>
          <a:noFill/>
          <a:ln>
            <a:noFill/>
          </a:ln>
        </p:spPr>
      </p:pic>
      <p:grpSp>
        <p:nvGrpSpPr>
          <p:cNvPr id="2011" name="Google Shape;2011;p70"/>
          <p:cNvGrpSpPr/>
          <p:nvPr/>
        </p:nvGrpSpPr>
        <p:grpSpPr>
          <a:xfrm>
            <a:off x="10129753" y="2546009"/>
            <a:ext cx="711000" cy="652938"/>
            <a:chOff x="10129766" y="2645047"/>
            <a:chExt cx="711000" cy="652938"/>
          </a:xfrm>
        </p:grpSpPr>
        <p:pic>
          <p:nvPicPr>
            <p:cNvPr id="2012" name="Google Shape;2012;p70"/>
            <p:cNvPicPr preferRelativeResize="0"/>
            <p:nvPr/>
          </p:nvPicPr>
          <p:blipFill rotWithShape="1">
            <a:blip r:embed="rId20">
              <a:alphaModFix/>
            </a:blip>
            <a:srcRect b="0" l="0" r="0" t="0"/>
            <a:stretch/>
          </p:blipFill>
          <p:spPr>
            <a:xfrm>
              <a:off x="10300153" y="2645047"/>
              <a:ext cx="370225" cy="370225"/>
            </a:xfrm>
            <a:prstGeom prst="rect">
              <a:avLst/>
            </a:prstGeom>
            <a:noFill/>
            <a:ln>
              <a:noFill/>
            </a:ln>
          </p:spPr>
        </p:pic>
        <p:sp>
          <p:nvSpPr>
            <p:cNvPr id="2013" name="Google Shape;2013;p70"/>
            <p:cNvSpPr txBox="1"/>
            <p:nvPr/>
          </p:nvSpPr>
          <p:spPr>
            <a:xfrm>
              <a:off x="10129766" y="2928685"/>
              <a:ext cx="711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latin typeface="DM Sans"/>
                  <a:ea typeface="DM Sans"/>
                  <a:cs typeface="DM Sans"/>
                  <a:sym typeface="DM Sans"/>
                </a:rPr>
                <a:t>Python</a:t>
              </a:r>
              <a:endParaRPr b="1" sz="1200">
                <a:latin typeface="DM Sans"/>
                <a:ea typeface="DM Sans"/>
                <a:cs typeface="DM Sans"/>
                <a:sym typeface="DM Sans"/>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7" name="Shape 2017"/>
        <p:cNvGrpSpPr/>
        <p:nvPr/>
      </p:nvGrpSpPr>
      <p:grpSpPr>
        <a:xfrm>
          <a:off x="0" y="0"/>
          <a:ext cx="0" cy="0"/>
          <a:chOff x="0" y="0"/>
          <a:chExt cx="0" cy="0"/>
        </a:xfrm>
      </p:grpSpPr>
      <p:sp>
        <p:nvSpPr>
          <p:cNvPr id="2018" name="Google Shape;2018;p71"/>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019" name="Google Shape;2019;p71"/>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Some tricks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3" name="Shape 2023"/>
        <p:cNvGrpSpPr/>
        <p:nvPr/>
      </p:nvGrpSpPr>
      <p:grpSpPr>
        <a:xfrm>
          <a:off x="0" y="0"/>
          <a:ext cx="0" cy="0"/>
          <a:chOff x="0" y="0"/>
          <a:chExt cx="0" cy="0"/>
        </a:xfrm>
      </p:grpSpPr>
      <p:grpSp>
        <p:nvGrpSpPr>
          <p:cNvPr id="2024" name="Google Shape;2024;p72"/>
          <p:cNvGrpSpPr/>
          <p:nvPr/>
        </p:nvGrpSpPr>
        <p:grpSpPr>
          <a:xfrm>
            <a:off x="7530825" y="2129700"/>
            <a:ext cx="1557900" cy="506700"/>
            <a:chOff x="8157600" y="3316200"/>
            <a:chExt cx="1557900" cy="506700"/>
          </a:xfrm>
        </p:grpSpPr>
        <p:sp>
          <p:nvSpPr>
            <p:cNvPr id="2025" name="Google Shape;2025;p72"/>
            <p:cNvSpPr/>
            <p:nvPr/>
          </p:nvSpPr>
          <p:spPr>
            <a:xfrm>
              <a:off x="8157600" y="3316200"/>
              <a:ext cx="1557900" cy="5067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200"/>
                <a:t>Unity Catalog</a:t>
              </a:r>
              <a:endParaRPr sz="1200"/>
            </a:p>
          </p:txBody>
        </p:sp>
        <p:sp>
          <p:nvSpPr>
            <p:cNvPr id="2026" name="Google Shape;2026;p72"/>
            <p:cNvSpPr/>
            <p:nvPr/>
          </p:nvSpPr>
          <p:spPr>
            <a:xfrm>
              <a:off x="8419300" y="3688807"/>
              <a:ext cx="131700" cy="131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72"/>
            <p:cNvSpPr/>
            <p:nvPr/>
          </p:nvSpPr>
          <p:spPr>
            <a:xfrm>
              <a:off x="9333700" y="3688807"/>
              <a:ext cx="131700" cy="131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28" name="Google Shape;2028;p72"/>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029" name="Google Shape;2029;p72"/>
          <p:cNvSpPr/>
          <p:nvPr/>
        </p:nvSpPr>
        <p:spPr>
          <a:xfrm>
            <a:off x="1175800" y="2041800"/>
            <a:ext cx="1557900" cy="5067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200"/>
              <a:t>Unity Catalog</a:t>
            </a:r>
            <a:endParaRPr sz="1200"/>
          </a:p>
        </p:txBody>
      </p:sp>
      <p:sp>
        <p:nvSpPr>
          <p:cNvPr id="2030" name="Google Shape;2030;p72"/>
          <p:cNvSpPr/>
          <p:nvPr/>
        </p:nvSpPr>
        <p:spPr>
          <a:xfrm>
            <a:off x="1175800" y="1151650"/>
            <a:ext cx="1557900" cy="5067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1" name="Google Shape;2031;p72"/>
          <p:cNvSpPr txBox="1"/>
          <p:nvPr/>
        </p:nvSpPr>
        <p:spPr>
          <a:xfrm>
            <a:off x="896950" y="1204900"/>
            <a:ext cx="2115600" cy="369300"/>
          </a:xfrm>
          <a:prstGeom prst="rect">
            <a:avLst/>
          </a:prstGeom>
          <a:noFill/>
          <a:ln cap="flat" cmpd="sng" w="9525">
            <a:solidFill>
              <a:schemeClr val="dk2"/>
            </a:solidFill>
            <a:prstDash val="dot"/>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200"/>
              <a:t>Unity Catalog</a:t>
            </a:r>
            <a:endParaRPr sz="1200"/>
          </a:p>
        </p:txBody>
      </p:sp>
      <p:sp>
        <p:nvSpPr>
          <p:cNvPr id="2032" name="Google Shape;2032;p72"/>
          <p:cNvSpPr txBox="1"/>
          <p:nvPr/>
        </p:nvSpPr>
        <p:spPr>
          <a:xfrm>
            <a:off x="382150" y="465150"/>
            <a:ext cx="3145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2"/>
                </a:solidFill>
                <a:latin typeface="DM Sans"/>
                <a:ea typeface="DM Sans"/>
                <a:cs typeface="DM Sans"/>
                <a:sym typeface="DM Sans"/>
              </a:rPr>
              <a:t>1</a:t>
            </a:r>
            <a:r>
              <a:rPr lang="en" sz="1200">
                <a:latin typeface="DM Sans"/>
                <a:ea typeface="DM Sans"/>
                <a:cs typeface="DM Sans"/>
                <a:sym typeface="DM Sans"/>
              </a:rPr>
              <a:t> Add texts to boxes instead of having (larger) text elements placed upon a box</a:t>
            </a:r>
            <a:endParaRPr sz="1200">
              <a:latin typeface="DM Sans"/>
              <a:ea typeface="DM Sans"/>
              <a:cs typeface="DM Sans"/>
              <a:sym typeface="DM Sans"/>
            </a:endParaRPr>
          </a:p>
        </p:txBody>
      </p:sp>
      <p:pic>
        <p:nvPicPr>
          <p:cNvPr id="2033" name="Google Shape;2033;p72"/>
          <p:cNvPicPr preferRelativeResize="0"/>
          <p:nvPr/>
        </p:nvPicPr>
        <p:blipFill>
          <a:blip r:embed="rId3">
            <a:alphaModFix/>
          </a:blip>
          <a:stretch>
            <a:fillRect/>
          </a:stretch>
        </p:blipFill>
        <p:spPr>
          <a:xfrm>
            <a:off x="4127950" y="2020930"/>
            <a:ext cx="1790400" cy="4411370"/>
          </a:xfrm>
          <a:prstGeom prst="rect">
            <a:avLst/>
          </a:prstGeom>
          <a:noFill/>
          <a:ln>
            <a:noFill/>
          </a:ln>
          <a:effectLst>
            <a:outerShdw blurRad="57150" rotWithShape="0" algn="bl" dir="5400000" dist="19050">
              <a:srgbClr val="000000">
                <a:alpha val="50000"/>
              </a:srgbClr>
            </a:outerShdw>
          </a:effectLst>
        </p:spPr>
      </p:pic>
      <p:sp>
        <p:nvSpPr>
          <p:cNvPr id="2034" name="Google Shape;2034;p72"/>
          <p:cNvSpPr txBox="1"/>
          <p:nvPr/>
        </p:nvSpPr>
        <p:spPr>
          <a:xfrm>
            <a:off x="1588175" y="3824850"/>
            <a:ext cx="2257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2"/>
                </a:solidFill>
                <a:latin typeface="DM Sans"/>
                <a:ea typeface="DM Sans"/>
                <a:cs typeface="DM Sans"/>
                <a:sym typeface="DM Sans"/>
              </a:rPr>
              <a:t>2</a:t>
            </a:r>
            <a:r>
              <a:rPr b="1" lang="en" sz="1200">
                <a:latin typeface="DM Sans"/>
                <a:ea typeface="DM Sans"/>
                <a:cs typeface="DM Sans"/>
                <a:sym typeface="DM Sans"/>
              </a:rPr>
              <a:t> </a:t>
            </a:r>
            <a:r>
              <a:rPr lang="en" sz="1200">
                <a:latin typeface="DM Sans"/>
                <a:ea typeface="DM Sans"/>
                <a:cs typeface="DM Sans"/>
                <a:sym typeface="DM Sans"/>
              </a:rPr>
              <a:t>Change padding if text is slightly too large</a:t>
            </a:r>
            <a:endParaRPr sz="1200">
              <a:latin typeface="DM Sans"/>
              <a:ea typeface="DM Sans"/>
              <a:cs typeface="DM Sans"/>
              <a:sym typeface="DM Sans"/>
            </a:endParaRPr>
          </a:p>
        </p:txBody>
      </p:sp>
      <p:sp>
        <p:nvSpPr>
          <p:cNvPr id="2035" name="Google Shape;2035;p72"/>
          <p:cNvSpPr/>
          <p:nvPr/>
        </p:nvSpPr>
        <p:spPr>
          <a:xfrm>
            <a:off x="2235700" y="4516400"/>
            <a:ext cx="962100" cy="268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Unity Catalog</a:t>
            </a:r>
            <a:endParaRPr sz="1200"/>
          </a:p>
        </p:txBody>
      </p:sp>
      <p:sp>
        <p:nvSpPr>
          <p:cNvPr id="2036" name="Google Shape;2036;p72"/>
          <p:cNvSpPr/>
          <p:nvPr/>
        </p:nvSpPr>
        <p:spPr>
          <a:xfrm>
            <a:off x="2235700" y="5119475"/>
            <a:ext cx="962100" cy="268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200"/>
              <a:t>Unity Catalog</a:t>
            </a:r>
            <a:endParaRPr sz="1200"/>
          </a:p>
        </p:txBody>
      </p:sp>
      <p:sp>
        <p:nvSpPr>
          <p:cNvPr id="2037" name="Google Shape;2037;p72"/>
          <p:cNvSpPr/>
          <p:nvPr/>
        </p:nvSpPr>
        <p:spPr>
          <a:xfrm>
            <a:off x="4248275" y="6034650"/>
            <a:ext cx="1240200" cy="369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72"/>
          <p:cNvSpPr/>
          <p:nvPr/>
        </p:nvSpPr>
        <p:spPr>
          <a:xfrm>
            <a:off x="1878250" y="1782325"/>
            <a:ext cx="153000" cy="186600"/>
          </a:xfrm>
          <a:prstGeom prst="downArrow">
            <a:avLst>
              <a:gd fmla="val 50000" name="adj1"/>
              <a:gd fmla="val 50000" name="adj2"/>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72"/>
          <p:cNvSpPr/>
          <p:nvPr/>
        </p:nvSpPr>
        <p:spPr>
          <a:xfrm>
            <a:off x="2640250" y="4872792"/>
            <a:ext cx="153000" cy="186600"/>
          </a:xfrm>
          <a:prstGeom prst="downArrow">
            <a:avLst>
              <a:gd fmla="val 50000" name="adj1"/>
              <a:gd fmla="val 50000" name="adj2"/>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72"/>
          <p:cNvSpPr/>
          <p:nvPr/>
        </p:nvSpPr>
        <p:spPr>
          <a:xfrm rot="-5400000">
            <a:off x="3859473" y="3958460"/>
            <a:ext cx="153000" cy="186600"/>
          </a:xfrm>
          <a:prstGeom prst="downArrow">
            <a:avLst>
              <a:gd fmla="val 50000" name="adj1"/>
              <a:gd fmla="val 50000" name="adj2"/>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72"/>
          <p:cNvSpPr/>
          <p:nvPr/>
        </p:nvSpPr>
        <p:spPr>
          <a:xfrm>
            <a:off x="7530825" y="1324050"/>
            <a:ext cx="1557900" cy="506700"/>
          </a:xfrm>
          <a:prstGeom prst="rect">
            <a:avLst/>
          </a:prstGeom>
          <a:solidFill>
            <a:srgbClr val="FFFFFF"/>
          </a:solidFill>
          <a:ln cap="flat" cmpd="sng" w="952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200"/>
              <a:t>Unity Catalog</a:t>
            </a:r>
            <a:endParaRPr sz="1200"/>
          </a:p>
        </p:txBody>
      </p:sp>
      <p:sp>
        <p:nvSpPr>
          <p:cNvPr id="2042" name="Google Shape;2042;p72"/>
          <p:cNvSpPr/>
          <p:nvPr/>
        </p:nvSpPr>
        <p:spPr>
          <a:xfrm>
            <a:off x="7792525" y="1696657"/>
            <a:ext cx="131700" cy="131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72"/>
          <p:cNvSpPr/>
          <p:nvPr/>
        </p:nvSpPr>
        <p:spPr>
          <a:xfrm>
            <a:off x="8706925" y="1696657"/>
            <a:ext cx="131700" cy="131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72"/>
          <p:cNvSpPr/>
          <p:nvPr/>
        </p:nvSpPr>
        <p:spPr>
          <a:xfrm>
            <a:off x="7169425" y="2886775"/>
            <a:ext cx="615900" cy="26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1</a:t>
            </a:r>
            <a:endParaRPr sz="1200"/>
          </a:p>
        </p:txBody>
      </p:sp>
      <p:sp>
        <p:nvSpPr>
          <p:cNvPr id="2045" name="Google Shape;2045;p72"/>
          <p:cNvSpPr/>
          <p:nvPr/>
        </p:nvSpPr>
        <p:spPr>
          <a:xfrm>
            <a:off x="8007625" y="2886775"/>
            <a:ext cx="615900" cy="26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2</a:t>
            </a:r>
            <a:endParaRPr sz="1200"/>
          </a:p>
        </p:txBody>
      </p:sp>
      <p:sp>
        <p:nvSpPr>
          <p:cNvPr id="2046" name="Google Shape;2046;p72"/>
          <p:cNvSpPr/>
          <p:nvPr/>
        </p:nvSpPr>
        <p:spPr>
          <a:xfrm>
            <a:off x="8845825" y="2886775"/>
            <a:ext cx="615900" cy="26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3</a:t>
            </a:r>
            <a:endParaRPr sz="1200"/>
          </a:p>
        </p:txBody>
      </p:sp>
      <p:cxnSp>
        <p:nvCxnSpPr>
          <p:cNvPr id="2047" name="Google Shape;2047;p72"/>
          <p:cNvCxnSpPr>
            <a:stCxn id="2044" idx="0"/>
            <a:endCxn id="2026" idx="2"/>
          </p:cNvCxnSpPr>
          <p:nvPr/>
        </p:nvCxnSpPr>
        <p:spPr>
          <a:xfrm rot="-5400000">
            <a:off x="7541425" y="2569825"/>
            <a:ext cx="252900" cy="381000"/>
          </a:xfrm>
          <a:prstGeom prst="curvedConnector3">
            <a:avLst>
              <a:gd fmla="val 49974" name="adj1"/>
            </a:avLst>
          </a:prstGeom>
          <a:noFill/>
          <a:ln cap="flat" cmpd="sng" w="9525">
            <a:solidFill>
              <a:schemeClr val="dk2"/>
            </a:solidFill>
            <a:prstDash val="solid"/>
            <a:round/>
            <a:headEnd len="med" w="med" type="none"/>
            <a:tailEnd len="med" w="med" type="none"/>
          </a:ln>
        </p:spPr>
      </p:cxnSp>
      <p:cxnSp>
        <p:nvCxnSpPr>
          <p:cNvPr id="2048" name="Google Shape;2048;p72"/>
          <p:cNvCxnSpPr>
            <a:stCxn id="2045" idx="0"/>
            <a:endCxn id="2025" idx="2"/>
          </p:cNvCxnSpPr>
          <p:nvPr/>
        </p:nvCxnSpPr>
        <p:spPr>
          <a:xfrm flipH="1" rot="5400000">
            <a:off x="8187475" y="2758675"/>
            <a:ext cx="250500" cy="5700"/>
          </a:xfrm>
          <a:prstGeom prst="curvedConnector3">
            <a:avLst>
              <a:gd fmla="val 49975" name="adj1"/>
            </a:avLst>
          </a:prstGeom>
          <a:noFill/>
          <a:ln cap="flat" cmpd="sng" w="9525">
            <a:solidFill>
              <a:schemeClr val="dk2"/>
            </a:solidFill>
            <a:prstDash val="solid"/>
            <a:round/>
            <a:headEnd len="med" w="med" type="none"/>
            <a:tailEnd len="med" w="med" type="none"/>
          </a:ln>
        </p:spPr>
      </p:cxnSp>
      <p:cxnSp>
        <p:nvCxnSpPr>
          <p:cNvPr id="2049" name="Google Shape;2049;p72"/>
          <p:cNvCxnSpPr>
            <a:stCxn id="2046" idx="0"/>
            <a:endCxn id="2027" idx="2"/>
          </p:cNvCxnSpPr>
          <p:nvPr/>
        </p:nvCxnSpPr>
        <p:spPr>
          <a:xfrm flipH="1" rot="5400000">
            <a:off x="8836825" y="2569825"/>
            <a:ext cx="252900" cy="381000"/>
          </a:xfrm>
          <a:prstGeom prst="curvedConnector3">
            <a:avLst>
              <a:gd fmla="val 49974" name="adj1"/>
            </a:avLst>
          </a:prstGeom>
          <a:noFill/>
          <a:ln cap="flat" cmpd="sng" w="9525">
            <a:solidFill>
              <a:schemeClr val="dk2"/>
            </a:solidFill>
            <a:prstDash val="solid"/>
            <a:round/>
            <a:headEnd len="med" w="med" type="none"/>
            <a:tailEnd len="med" w="med" type="none"/>
          </a:ln>
        </p:spPr>
      </p:cxnSp>
      <p:sp>
        <p:nvSpPr>
          <p:cNvPr id="2050" name="Google Shape;2050;p72"/>
          <p:cNvSpPr txBox="1"/>
          <p:nvPr/>
        </p:nvSpPr>
        <p:spPr>
          <a:xfrm>
            <a:off x="6598050" y="465150"/>
            <a:ext cx="47397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2"/>
                </a:solidFill>
                <a:latin typeface="DM Sans"/>
                <a:ea typeface="DM Sans"/>
                <a:cs typeface="DM Sans"/>
                <a:sym typeface="DM Sans"/>
              </a:rPr>
              <a:t>3</a:t>
            </a:r>
            <a:r>
              <a:rPr b="1" lang="en" sz="1200">
                <a:latin typeface="DM Sans"/>
                <a:ea typeface="DM Sans"/>
                <a:cs typeface="DM Sans"/>
                <a:sym typeface="DM Sans"/>
              </a:rPr>
              <a:t> </a:t>
            </a:r>
            <a:r>
              <a:rPr lang="en" sz="1200">
                <a:latin typeface="DM Sans"/>
                <a:ea typeface="DM Sans"/>
                <a:cs typeface="DM Sans"/>
                <a:sym typeface="DM Sans"/>
              </a:rPr>
              <a:t>Use small transparent boxes and group them with the parent shape when you need more connectors to glue shapes together before dragging them, around</a:t>
            </a:r>
            <a:endParaRPr sz="1200">
              <a:latin typeface="DM Sans"/>
              <a:ea typeface="DM Sans"/>
              <a:cs typeface="DM Sans"/>
              <a:sym typeface="DM Sans"/>
            </a:endParaRPr>
          </a:p>
        </p:txBody>
      </p:sp>
      <p:sp>
        <p:nvSpPr>
          <p:cNvPr id="2051" name="Google Shape;2051;p72"/>
          <p:cNvSpPr/>
          <p:nvPr/>
        </p:nvSpPr>
        <p:spPr>
          <a:xfrm>
            <a:off x="8233275" y="1886917"/>
            <a:ext cx="153000" cy="186600"/>
          </a:xfrm>
          <a:prstGeom prst="downArrow">
            <a:avLst>
              <a:gd fmla="val 50000" name="adj1"/>
              <a:gd fmla="val 50000" name="adj2"/>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2" name="Google Shape;2052;p72"/>
          <p:cNvPicPr preferRelativeResize="0"/>
          <p:nvPr/>
        </p:nvPicPr>
        <p:blipFill>
          <a:blip r:embed="rId4">
            <a:alphaModFix/>
          </a:blip>
          <a:stretch>
            <a:fillRect/>
          </a:stretch>
        </p:blipFill>
        <p:spPr>
          <a:xfrm>
            <a:off x="9610987" y="2099007"/>
            <a:ext cx="1726725" cy="748700"/>
          </a:xfrm>
          <a:prstGeom prst="rect">
            <a:avLst/>
          </a:prstGeom>
          <a:noFill/>
          <a:ln>
            <a:noFill/>
          </a:ln>
          <a:effectLst>
            <a:outerShdw blurRad="57150" rotWithShape="0" algn="bl" dir="5400000" dist="19050">
              <a:srgbClr val="000000">
                <a:alpha val="50000"/>
              </a:srgbClr>
            </a:outerShdw>
          </a:effectLst>
        </p:spPr>
      </p:pic>
      <p:sp>
        <p:nvSpPr>
          <p:cNvPr id="2053" name="Google Shape;2053;p72"/>
          <p:cNvSpPr/>
          <p:nvPr/>
        </p:nvSpPr>
        <p:spPr>
          <a:xfrm rot="-5400000">
            <a:off x="9235098" y="2289760"/>
            <a:ext cx="153000" cy="186600"/>
          </a:xfrm>
          <a:prstGeom prst="downArrow">
            <a:avLst>
              <a:gd fmla="val 50000" name="adj1"/>
              <a:gd fmla="val 50000" name="adj2"/>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72"/>
          <p:cNvSpPr txBox="1"/>
          <p:nvPr/>
        </p:nvSpPr>
        <p:spPr>
          <a:xfrm>
            <a:off x="7524875" y="3845550"/>
            <a:ext cx="3145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2"/>
                </a:solidFill>
                <a:latin typeface="DM Sans"/>
                <a:ea typeface="DM Sans"/>
                <a:cs typeface="DM Sans"/>
                <a:sym typeface="DM Sans"/>
              </a:rPr>
              <a:t>4</a:t>
            </a:r>
            <a:r>
              <a:rPr b="1" lang="en" sz="1200">
                <a:latin typeface="DM Sans"/>
                <a:ea typeface="DM Sans"/>
                <a:cs typeface="DM Sans"/>
                <a:sym typeface="DM Sans"/>
              </a:rPr>
              <a:t> </a:t>
            </a:r>
            <a:r>
              <a:rPr lang="en" sz="1200">
                <a:latin typeface="DM Sans"/>
                <a:ea typeface="DM Sans"/>
                <a:cs typeface="DM Sans"/>
                <a:sym typeface="DM Sans"/>
              </a:rPr>
              <a:t>Use Menus “Arrange → Align” and </a:t>
            </a:r>
            <a:br>
              <a:rPr lang="en" sz="1200">
                <a:latin typeface="DM Sans"/>
                <a:ea typeface="DM Sans"/>
                <a:cs typeface="DM Sans"/>
                <a:sym typeface="DM Sans"/>
              </a:rPr>
            </a:br>
            <a:r>
              <a:rPr lang="en" sz="1200">
                <a:latin typeface="DM Sans"/>
                <a:ea typeface="DM Sans"/>
                <a:cs typeface="DM Sans"/>
                <a:sym typeface="DM Sans"/>
              </a:rPr>
              <a:t>“Arrange → Distribute” to place shapes</a:t>
            </a:r>
            <a:endParaRPr sz="1200">
              <a:latin typeface="DM Sans"/>
              <a:ea typeface="DM Sans"/>
              <a:cs typeface="DM Sans"/>
              <a:sym typeface="DM Sans"/>
            </a:endParaRPr>
          </a:p>
        </p:txBody>
      </p:sp>
      <p:sp>
        <p:nvSpPr>
          <p:cNvPr id="2055" name="Google Shape;2055;p72"/>
          <p:cNvSpPr/>
          <p:nvPr/>
        </p:nvSpPr>
        <p:spPr>
          <a:xfrm>
            <a:off x="7570325" y="4513100"/>
            <a:ext cx="615900" cy="26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1</a:t>
            </a:r>
            <a:endParaRPr sz="1200"/>
          </a:p>
        </p:txBody>
      </p:sp>
      <p:sp>
        <p:nvSpPr>
          <p:cNvPr id="2056" name="Google Shape;2056;p72"/>
          <p:cNvSpPr/>
          <p:nvPr/>
        </p:nvSpPr>
        <p:spPr>
          <a:xfrm>
            <a:off x="7817125" y="4945025"/>
            <a:ext cx="615900" cy="26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2</a:t>
            </a:r>
            <a:endParaRPr sz="1200"/>
          </a:p>
        </p:txBody>
      </p:sp>
      <p:sp>
        <p:nvSpPr>
          <p:cNvPr id="2057" name="Google Shape;2057;p72"/>
          <p:cNvSpPr/>
          <p:nvPr/>
        </p:nvSpPr>
        <p:spPr>
          <a:xfrm>
            <a:off x="7699675" y="5253495"/>
            <a:ext cx="615900" cy="26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3</a:t>
            </a:r>
            <a:endParaRPr sz="1200"/>
          </a:p>
        </p:txBody>
      </p:sp>
      <p:sp>
        <p:nvSpPr>
          <p:cNvPr id="2058" name="Google Shape;2058;p72"/>
          <p:cNvSpPr/>
          <p:nvPr/>
        </p:nvSpPr>
        <p:spPr>
          <a:xfrm>
            <a:off x="8989125" y="4513100"/>
            <a:ext cx="615900" cy="26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1</a:t>
            </a:r>
            <a:endParaRPr sz="1200"/>
          </a:p>
        </p:txBody>
      </p:sp>
      <p:sp>
        <p:nvSpPr>
          <p:cNvPr id="2059" name="Google Shape;2059;p72"/>
          <p:cNvSpPr/>
          <p:nvPr/>
        </p:nvSpPr>
        <p:spPr>
          <a:xfrm>
            <a:off x="8989125" y="4945025"/>
            <a:ext cx="615900" cy="26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2</a:t>
            </a:r>
            <a:endParaRPr sz="1200"/>
          </a:p>
        </p:txBody>
      </p:sp>
      <p:sp>
        <p:nvSpPr>
          <p:cNvPr id="2060" name="Google Shape;2060;p72"/>
          <p:cNvSpPr/>
          <p:nvPr/>
        </p:nvSpPr>
        <p:spPr>
          <a:xfrm>
            <a:off x="8989125" y="5253495"/>
            <a:ext cx="615900" cy="26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3</a:t>
            </a:r>
            <a:endParaRPr sz="1200"/>
          </a:p>
        </p:txBody>
      </p:sp>
      <p:sp>
        <p:nvSpPr>
          <p:cNvPr id="2061" name="Google Shape;2061;p72"/>
          <p:cNvSpPr/>
          <p:nvPr/>
        </p:nvSpPr>
        <p:spPr>
          <a:xfrm>
            <a:off x="10208325" y="4513100"/>
            <a:ext cx="615900" cy="26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1</a:t>
            </a:r>
            <a:endParaRPr sz="1200"/>
          </a:p>
        </p:txBody>
      </p:sp>
      <p:sp>
        <p:nvSpPr>
          <p:cNvPr id="2062" name="Google Shape;2062;p72"/>
          <p:cNvSpPr/>
          <p:nvPr/>
        </p:nvSpPr>
        <p:spPr>
          <a:xfrm>
            <a:off x="10208325" y="4883297"/>
            <a:ext cx="615900" cy="26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2</a:t>
            </a:r>
            <a:endParaRPr sz="1200"/>
          </a:p>
        </p:txBody>
      </p:sp>
      <p:sp>
        <p:nvSpPr>
          <p:cNvPr id="2063" name="Google Shape;2063;p72"/>
          <p:cNvSpPr/>
          <p:nvPr/>
        </p:nvSpPr>
        <p:spPr>
          <a:xfrm>
            <a:off x="10208325" y="5253495"/>
            <a:ext cx="615900" cy="26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3</a:t>
            </a:r>
            <a:endParaRPr sz="1200"/>
          </a:p>
        </p:txBody>
      </p:sp>
      <p:sp>
        <p:nvSpPr>
          <p:cNvPr id="2064" name="Google Shape;2064;p72"/>
          <p:cNvSpPr/>
          <p:nvPr/>
        </p:nvSpPr>
        <p:spPr>
          <a:xfrm rot="-5400000">
            <a:off x="8634573" y="4924410"/>
            <a:ext cx="153000" cy="186600"/>
          </a:xfrm>
          <a:prstGeom prst="downArrow">
            <a:avLst>
              <a:gd fmla="val 50000" name="adj1"/>
              <a:gd fmla="val 50000" name="adj2"/>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72"/>
          <p:cNvSpPr/>
          <p:nvPr/>
        </p:nvSpPr>
        <p:spPr>
          <a:xfrm rot="-5400000">
            <a:off x="9853773" y="4924410"/>
            <a:ext cx="153000" cy="186600"/>
          </a:xfrm>
          <a:prstGeom prst="downArrow">
            <a:avLst>
              <a:gd fmla="val 50000" name="adj1"/>
              <a:gd fmla="val 50000" name="adj2"/>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66" name="Google Shape;2066;p72"/>
          <p:cNvPicPr preferRelativeResize="0"/>
          <p:nvPr/>
        </p:nvPicPr>
        <p:blipFill>
          <a:blip r:embed="rId5">
            <a:alphaModFix/>
          </a:blip>
          <a:stretch>
            <a:fillRect/>
          </a:stretch>
        </p:blipFill>
        <p:spPr>
          <a:xfrm>
            <a:off x="7323400" y="5706374"/>
            <a:ext cx="1984351" cy="624417"/>
          </a:xfrm>
          <a:prstGeom prst="rect">
            <a:avLst/>
          </a:prstGeom>
          <a:noFill/>
          <a:ln>
            <a:noFill/>
          </a:ln>
          <a:effectLst>
            <a:outerShdw blurRad="57150" rotWithShape="0" algn="bl" dir="5400000" dist="19050">
              <a:srgbClr val="000000">
                <a:alpha val="50000"/>
              </a:srgbClr>
            </a:outerShdw>
          </a:effectLst>
        </p:spPr>
      </p:pic>
      <p:pic>
        <p:nvPicPr>
          <p:cNvPr id="2067" name="Google Shape;2067;p72"/>
          <p:cNvPicPr preferRelativeResize="0"/>
          <p:nvPr/>
        </p:nvPicPr>
        <p:blipFill>
          <a:blip r:embed="rId6">
            <a:alphaModFix/>
          </a:blip>
          <a:stretch>
            <a:fillRect/>
          </a:stretch>
        </p:blipFill>
        <p:spPr>
          <a:xfrm>
            <a:off x="9684575" y="5647500"/>
            <a:ext cx="2314500" cy="700603"/>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atabricks Theme">
  <a:themeElements>
    <a:clrScheme name="Office">
      <a:dk1>
        <a:srgbClr val="1B3139"/>
      </a:dk1>
      <a:lt1>
        <a:srgbClr val="F9F7F4"/>
      </a:lt1>
      <a:dk2>
        <a:srgbClr val="FF5F46"/>
      </a:dk2>
      <a:lt2>
        <a:srgbClr val="EEEDE9"/>
      </a:lt2>
      <a:accent1>
        <a:srgbClr val="1B5162"/>
      </a:accent1>
      <a:accent2>
        <a:srgbClr val="00A972"/>
      </a:accent2>
      <a:accent3>
        <a:srgbClr val="98102A"/>
      </a:accent3>
      <a:accent4>
        <a:srgbClr val="FFAB00"/>
      </a:accent4>
      <a:accent5>
        <a:srgbClr val="618794"/>
      </a:accent5>
      <a:accent6>
        <a:srgbClr val="4359FF"/>
      </a:accent6>
      <a:hlink>
        <a:srgbClr val="FF362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